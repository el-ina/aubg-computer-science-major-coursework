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so far has run top to bottom, one line after another. Today the program starts making choices. Thursday it starts repeating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them what should happen for a negative radius before showing the right-hand column. Some will say 'print an error', some 'use the absolute value', some 'ask again'. All three are defensible — the point is that the program has to decide, and up to now it could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for the class: in maths we write 0 &lt;= x &lt;= 10. Java does not allow that — you need two comparisons joined by &amp;&amp;, which is coming up in the third part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false arrow: nothing at all happens on that path. That is the difference between a one-way if and the two-way if-else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stressing the difference between the SimpleIfDemo pair of one-way ifs and a single if-else: with two ifs, 10 satisfies both conditions and both lines print. With if-else only one could ever 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twice in front of them so they see two different questions. Liang's SubtractionQuiz is the same program with the extra twist that number1 must be the larger of the two — that is the exercise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Mistake 2 middle line: if (even = true) assigns true to even and then tests it, so the branch always runs. Java only permits this when the variable is boolean — which is exactly when it is most dangerous. IDEs flag it as a warning; heed the warning.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Q1: The first comparison 0 &lt;= score produces a boolean, and Java cannot then compare a boolean with the int 100 using &lt;=. You write (score &gt;= 0) &amp;&amp; (score &lt;= 100), which we meet in Part 02. Q2: It prints 'Valid radius'. The semicolon ends the if statement, so its body is an empty statement; the println is an ordinary line that follows the if and runs unconditionally. It is a logic error — the compiler sees nothing wrong. Q3: Math.random() returns a double below 1.0. Casting first gives (int) of something between 0.0 and 0.999…, which is always 0, and 0 * 10 is 0. The multiplication has to happen while the value is still a double.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happens if the ladder is written in ascending order — 60 first. Answer: every passing score prints D, because the first condition that is true wins and nothing below it is ever examined.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slides animated this across five frames. The point of all five is the single idea on this slide: an else-if ladder is evaluated top to bottom and stops at the first true condition. Walk down the numbered list out loud rather than clicking.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argument for always bracing. The compiler's rule is unambiguous and it is not the rule your eyes apply when reading indentation.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%.4f in printf fixes the output to four decimal places; %n is the platform-independent newline. Verified: 95.5 / (1.75 * 1.75) is 31.183673469387756, printed as 31.1837.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System.exit(1) ends the program immediately with a non-zero status code, which is how a command-line program signals failure. Mention that a switch, coming in Part 03, is a better fit than an if-ladder for the four discrete status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Q1: Because that branch is only reached when the two conditions above it were false, so score &lt; 80.0 is already guaranteed. The ladder carries the upper bound implicitly. Q2: It prints nothing. The else attaches to the inner if (i &gt; k), not the outer one, but the outer condition 1 &gt; 2 is false, so the entire statement — inner if and else together — is skipped. Braces around the outer branch would make it print B. Q3: Because input you did not anticipate would otherwise fall through every branch and produce no output and no error, which is indistinguishable from a correct run that happened to print nothing. The final else is where you report the impossible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&amp;&amp; and || rows here were checked by running them: with age = 24 and weight = 140, (age &gt; 18) &amp;&amp; (weight &gt;= 140) is true, and (age &gt; 34) &amp;&amp; (weight &lt;= 140) is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exclusive-or is the one students meet least often. The plain-English reading is 'one or the other, but not both'. It is also how you express 'exactly one of these two things is true' without writing (a &amp;&amp; !b) || (!a &amp;&amp;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outputs on this slide were produced by running the code. The rule of thumb for the class: use &amp;&amp; and || always; reach for &amp; and | only on int operands, where they mean bitwise AND and OR — a different job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row of the table was verified by running the expression. 2100 is the one that surprises people — it is divisible by 4 and by 100 but not by 400, so it is not a leap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before revealing: what happens if the three rules are written in the opposite order? A jackpot guess would win $1,000. It is a good illustration that a correct set of conditions in the wrong order is still a broken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Q1: false. (age &gt; 34) is false and (weight &gt; 140) is false — 140 is not greater than 140. Exclusive-or is true only when the two operands differ, so two falses give false. This row was wrong on last year's slide. Q2: x is 2. The &amp; operator evaluates both sides regardless, so x++ runs even though the left side already made the result false. With &amp;&amp; the right side would be skipped and x would still be 1. The value of r is false either way. Q3: Because century years are the exception. 1900 and 2100 are divisible by 4 but are not leap years; 2000 is, because it is divisible by 400. The simple test gets one year in every four centuries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Spring slides said the selector 'must yield a value of char, byte, short or int'. That has been out of date since Java 5, which added enum, and Java 7, which added String. Rule 1 here is the current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deck spent seven animation frames on this trace. The five numbered steps say the same thing and stay on one slide, so you can point back at step 4 while answering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versions on this slide were compiled and run; day = 2 gives Weekday either way. Switch expressions were previewed in Java 12 and 13 and became a permanent part of the language in Java 14 — so everything here works on the JDK 25 the class installed in Lab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 box was produced by running the method on a JDK. Keep this slide brief — about two minutes. The examinable content is the enum-exhaustiveness rule and the fact that String and enum selectors are allowed; pattern matching is signposting so that the code they meet online does not look alien.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deck had a slide labelling ?: 'ternary operator' alongside binary and unary — worth the aside that the name just means three operands, and it is the only one in the language. Note also that ?: is right-associative and sits just above assignment in precedence, which is why the brackets in the println are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conditional operator ?: was missing from last year's precedence list; it sits between || and assignment. The worked evaluation was confirmed by running the expression — it is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Q1: String, since Java 7, and enum types, since Java 5 — plus the wrapper classes Character, Byte, Short and Integer. Since Java 21 a case label can also be a type pattern. Still not allowed: double, float, long and boolean. Q2: It prints Tuesday and then Wednesday. There is no break after case 2, so execution falls through into case 3. Adding break after the first println gives Tuesday alone — or rewrite it with arrow labels, which never fall through. Q3: Because the cases cover all of the enum's constants, so the compiler can prove the switch is exhaustive. It is better than adding a default because if someone adds a new constant later the code stops compiling and you are forced to decide what it should do — a default would silently absorb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five minutes of live demo if the room allows: set a breakpoint inside the grade ladder, run it with score = 70, and step through so they see the two false conditions being skipped. It makes slide 13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five appear as worked examples in Liang Chapter 3 with solutions on the companion site. Encourage them to write their own first. Zodiac: year % 12 gives 0 for monkey, 1 rooster, 2 dog, 3 pig, 4 rat, 5 ox, 6 tiger, 7 rabbit, 8 dragon, 9 snake, 10 horse, 11 sheep.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F2F7"/>
        </a:solidFill>
      </p:bgPr>
    </p:bg>
    <p:spTree>
      <p:nvGrpSpPr>
        <p:cNvPr id="1" name=""/>
        <p:cNvGrpSpPr/>
        <p:nvPr/>
      </p:nvGrpSpPr>
      <p:grpSpPr>
        <a:xfrm>
          <a:off x="0" y="0"/>
          <a:ext cx="0" cy="0"/>
          <a:chOff x="0" y="0"/>
          <a:chExt cx="0" cy="0"/>
        </a:xfrm>
      </p:grpSpPr>
      <p:sp>
        <p:nvSpPr>
          <p:cNvPr id="2" name="Shape 0"/>
          <p:cNvSpPr/>
          <p:nvPr/>
        </p:nvSpPr>
        <p:spPr>
          <a:xfrm>
            <a:off x="566928" y="1417320"/>
            <a:ext cx="566928" cy="566928"/>
          </a:xfrm>
          <a:prstGeom prst="roundRect">
            <a:avLst>
              <a:gd name="adj" fmla="val 16129"/>
            </a:avLst>
          </a:prstGeom>
          <a:solidFill>
            <a:srgbClr val="C4560C"/>
          </a:solidFill>
          <a:ln w="12700">
            <a:solidFill>
              <a:srgbClr val="C4560C"/>
            </a:solidFill>
            <a:prstDash val="solid"/>
          </a:ln>
        </p:spPr>
      </p:sp>
      <p:sp>
        <p:nvSpPr>
          <p:cNvPr id="3" name="Text 1"/>
          <p:cNvSpPr txBox="1"/>
          <p:nvPr/>
        </p:nvSpPr>
        <p:spPr>
          <a:xfrm>
            <a:off x="566928" y="1417320"/>
            <a:ext cx="566928" cy="566928"/>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J</a:t>
            </a:r>
            <a:endParaRPr lang="en-US" sz="3000" dirty="0"/>
          </a:p>
        </p:txBody>
      </p:sp>
      <p:sp>
        <p:nvSpPr>
          <p:cNvPr id="4" name="Text 2"/>
          <p:cNvSpPr txBox="1"/>
          <p:nvPr/>
        </p:nvSpPr>
        <p:spPr>
          <a:xfrm>
            <a:off x="566928" y="822960"/>
            <a:ext cx="11057839" cy="256032"/>
          </a:xfrm>
          <a:prstGeom prst="rect">
            <a:avLst/>
          </a:prstGeom>
          <a:noFill/>
          <a:ln/>
        </p:spPr>
        <p:txBody>
          <a:bodyPr wrap="square" lIns="0" tIns="0" rIns="0" bIns="0" rtlCol="0" anchor="ctr"/>
          <a:lstStyle/>
          <a:p>
            <a:pPr indent="0" marL="0">
              <a:buNone/>
            </a:pPr>
            <a:r>
              <a:rPr lang="en-US" sz="1100" b="1" spc="180" kern="0" dirty="0">
                <a:solidFill>
                  <a:srgbClr val="9A430A"/>
                </a:solidFill>
                <a:latin typeface="Calibri" pitchFamily="34" charset="0"/>
                <a:ea typeface="Calibri" pitchFamily="34" charset="-122"/>
                <a:cs typeface="Calibri" pitchFamily="34" charset="-120"/>
              </a:rPr>
              <a:t>AMERICAN UNIVERSITY IN BULGARIA  ·  DEPARTMENT OF COMPUTER SCIENCE</a:t>
            </a:r>
            <a:endParaRPr lang="en-US" sz="1100" dirty="0"/>
          </a:p>
        </p:txBody>
      </p:sp>
      <p:sp>
        <p:nvSpPr>
          <p:cNvPr id="5" name="Text 3"/>
          <p:cNvSpPr txBox="1"/>
          <p:nvPr/>
        </p:nvSpPr>
        <p:spPr>
          <a:xfrm>
            <a:off x="566928" y="2212848"/>
            <a:ext cx="11057839" cy="713232"/>
          </a:xfrm>
          <a:prstGeom prst="rect">
            <a:avLst/>
          </a:prstGeom>
          <a:noFill/>
          <a:ln/>
        </p:spPr>
        <p:txBody>
          <a:bodyPr wrap="square" lIns="0" tIns="0" rIns="0" bIns="0" rtlCol="0" anchor="ctr"/>
          <a:lstStyle/>
          <a:p>
            <a:pPr indent="0" marL="0">
              <a:buNone/>
            </a:pPr>
            <a:r>
              <a:rPr lang="en-US" sz="5800" b="1" dirty="0">
                <a:solidFill>
                  <a:srgbClr val="0F2942"/>
                </a:solidFill>
                <a:latin typeface="Cambria" pitchFamily="34" charset="0"/>
                <a:ea typeface="Cambria" pitchFamily="34" charset="-122"/>
                <a:cs typeface="Cambria" pitchFamily="34" charset="-120"/>
              </a:rPr>
              <a:t>COS 2030</a:t>
            </a:r>
            <a:endParaRPr lang="en-US" sz="5800" dirty="0"/>
          </a:p>
        </p:txBody>
      </p:sp>
      <p:sp>
        <p:nvSpPr>
          <p:cNvPr id="6" name="Text 4"/>
          <p:cNvSpPr txBox="1"/>
          <p:nvPr/>
        </p:nvSpPr>
        <p:spPr>
          <a:xfrm>
            <a:off x="566928" y="2944368"/>
            <a:ext cx="11057839" cy="566928"/>
          </a:xfrm>
          <a:prstGeom prst="rect">
            <a:avLst/>
          </a:prstGeom>
          <a:noFill/>
          <a:ln/>
        </p:spPr>
        <p:txBody>
          <a:bodyPr wrap="square" lIns="0" tIns="0" rIns="0" bIns="0" rtlCol="0" anchor="ctr"/>
          <a:lstStyle/>
          <a:p>
            <a:pPr indent="0" marL="0">
              <a:buNone/>
            </a:pPr>
            <a:r>
              <a:rPr lang="en-US" sz="3400" dirty="0">
                <a:solidFill>
                  <a:srgbClr val="3A536B"/>
                </a:solidFill>
                <a:latin typeface="Cambria" pitchFamily="34" charset="0"/>
                <a:ea typeface="Cambria" pitchFamily="34" charset="-122"/>
                <a:cs typeface="Cambria" pitchFamily="34" charset="-120"/>
              </a:rPr>
              <a:t>Control Flow, Part 1 — Selection</a:t>
            </a:r>
            <a:endParaRPr lang="en-US" sz="3400" dirty="0"/>
          </a:p>
        </p:txBody>
      </p:sp>
      <p:sp>
        <p:nvSpPr>
          <p:cNvPr id="7" name="Text 5"/>
          <p:cNvSpPr txBox="1"/>
          <p:nvPr/>
        </p:nvSpPr>
        <p:spPr>
          <a:xfrm>
            <a:off x="566928" y="3703320"/>
            <a:ext cx="11057839" cy="310896"/>
          </a:xfrm>
          <a:prstGeom prst="rect">
            <a:avLst/>
          </a:prstGeom>
          <a:noFill/>
          <a:ln/>
        </p:spPr>
        <p:txBody>
          <a:bodyPr wrap="square" lIns="0" tIns="0" rIns="0" bIns="0" rtlCol="0" anchor="ctr"/>
          <a:lstStyle/>
          <a:p>
            <a:pPr indent="0" marL="0">
              <a:buNone/>
            </a:pPr>
            <a:r>
              <a:rPr lang="en-US" sz="1600" dirty="0">
                <a:solidFill>
                  <a:srgbClr val="9A430A"/>
                </a:solidFill>
                <a:latin typeface="Calibri" pitchFamily="34" charset="0"/>
                <a:ea typeface="Calibri" pitchFamily="34" charset="-122"/>
                <a:cs typeface="Calibri" pitchFamily="34" charset="-120"/>
              </a:rPr>
              <a:t>Lecture 3  ·  Booleans, if / else, logical operators, switch, the conditional operator</a:t>
            </a:r>
            <a:endParaRPr lang="en-US" sz="1600" dirty="0"/>
          </a:p>
        </p:txBody>
      </p:sp>
      <p:sp>
        <p:nvSpPr>
          <p:cNvPr id="8" name="Text 6"/>
          <p:cNvSpPr txBox="1"/>
          <p:nvPr/>
        </p:nvSpPr>
        <p:spPr>
          <a:xfrm>
            <a:off x="566928" y="5074920"/>
            <a:ext cx="7315200" cy="640080"/>
          </a:xfrm>
          <a:prstGeom prst="rect">
            <a:avLst/>
          </a:prstGeom>
          <a:noFill/>
          <a:ln/>
        </p:spPr>
        <p:txBody>
          <a:bodyPr wrap="square" lIns="0" tIns="0" rIns="0" bIns="0" rtlCol="0" anchor="ctr"/>
          <a:lstStyle/>
          <a:p>
            <a:pPr indent="0" marL="0">
              <a:lnSpc>
                <a:spcPct val="125000"/>
              </a:lnSpc>
              <a:buNone/>
            </a:pPr>
            <a:r>
              <a:rPr lang="en-US" sz="1400" b="1" dirty="0">
                <a:solidFill>
                  <a:srgbClr val="0F2942"/>
                </a:solidFill>
                <a:latin typeface="Calibri" pitchFamily="34" charset="0"/>
                <a:ea typeface="Calibri" pitchFamily="34" charset="-122"/>
                <a:cs typeface="Calibri" pitchFamily="34" charset="-120"/>
              </a:rPr>
              <a:t>Dr. Narasimha Rao Vajjhala</a:t>
            </a:r>
            <a:endParaRPr lang="en-US" sz="1400" dirty="0"/>
          </a:p>
          <a:p>
            <a:pPr indent="0" marL="0">
              <a:lnSpc>
                <a:spcPct val="125000"/>
              </a:lnSpc>
              <a:buNone/>
            </a:pPr>
            <a:r>
              <a:rPr lang="en-US" sz="1400" dirty="0">
                <a:solidFill>
                  <a:srgbClr val="3A536B"/>
                </a:solidFill>
                <a:latin typeface="Calibri" pitchFamily="34" charset="0"/>
                <a:ea typeface="Calibri" pitchFamily="34" charset="-122"/>
                <a:cs typeface="Calibri" pitchFamily="34" charset="-120"/>
              </a:rPr>
              <a:t>Tuesday 15 September 2026  ·  17:45–19:05  ·  Room MB 2</a:t>
            </a:r>
            <a:endParaRPr lang="en-US" sz="1400" dirty="0"/>
          </a:p>
        </p:txBody>
      </p:sp>
      <p:sp>
        <p:nvSpPr>
          <p:cNvPr id="9" name="Text 7"/>
          <p:cNvSpPr txBox="1"/>
          <p:nvPr/>
        </p:nvSpPr>
        <p:spPr>
          <a:xfrm>
            <a:off x="7967167" y="5074920"/>
            <a:ext cx="3657600" cy="310896"/>
          </a:xfrm>
          <a:prstGeom prst="rect">
            <a:avLst/>
          </a:prstGeom>
          <a:noFill/>
          <a:ln/>
        </p:spPr>
        <p:txBody>
          <a:bodyPr wrap="square" lIns="0" tIns="0" rIns="0" bIns="0" rtlCol="0" anchor="ctr"/>
          <a:lstStyle/>
          <a:p>
            <a:pPr algn="r" indent="0" marL="0">
              <a:buNone/>
            </a:pPr>
            <a:r>
              <a:rPr lang="en-US" sz="1300" dirty="0">
                <a:solidFill>
                  <a:srgbClr val="4B6377"/>
                </a:solidFill>
                <a:latin typeface="Calibri" pitchFamily="34" charset="0"/>
                <a:ea typeface="Calibri" pitchFamily="34" charset="-122"/>
                <a:cs typeface="Calibri" pitchFamily="34" charset="-120"/>
              </a:rPr>
              <a:t>Week 2, session 1 of 2</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LECTURE 3</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How We Will Spend the Next 75 Minutes</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66928" y="1353312"/>
            <a:ext cx="11057839" cy="713232"/>
          </a:xfrm>
          <a:prstGeom prst="roundRect">
            <a:avLst>
              <a:gd name="adj" fmla="val 11538"/>
            </a:avLst>
          </a:prstGeom>
          <a:solidFill>
            <a:srgbClr val="F1F5F9"/>
          </a:solidFill>
          <a:ln w="12700">
            <a:solidFill>
              <a:srgbClr val="F1F5F9"/>
            </a:solidFill>
            <a:prstDash val="solid"/>
          </a:ln>
        </p:spPr>
      </p:sp>
      <p:sp>
        <p:nvSpPr>
          <p:cNvPr id="7" name="Text 5"/>
          <p:cNvSpPr txBox="1"/>
          <p:nvPr/>
        </p:nvSpPr>
        <p:spPr>
          <a:xfrm>
            <a:off x="804672" y="1408176"/>
            <a:ext cx="1234440" cy="603504"/>
          </a:xfrm>
          <a:prstGeom prst="rect">
            <a:avLst/>
          </a:prstGeom>
          <a:noFill/>
          <a:ln/>
        </p:spPr>
        <p:txBody>
          <a:bodyPr wrap="square" lIns="0" tIns="0" rIns="0" bIns="0" rtlCol="0" anchor="ctr"/>
          <a:lstStyle/>
          <a:p>
            <a:pPr indent="0" marL="0">
              <a:buNone/>
            </a:pPr>
            <a:r>
              <a:rPr lang="en-US" sz="1300" b="1" dirty="0">
                <a:solidFill>
                  <a:srgbClr val="9A430A"/>
                </a:solidFill>
                <a:latin typeface="Courier New" pitchFamily="34" charset="0"/>
                <a:ea typeface="Courier New" pitchFamily="34" charset="-122"/>
                <a:cs typeface="Courier New" pitchFamily="34" charset="-120"/>
              </a:rPr>
              <a:t>00–15 min</a:t>
            </a:r>
            <a:endParaRPr lang="en-US" sz="1300" dirty="0"/>
          </a:p>
        </p:txBody>
      </p:sp>
      <p:sp>
        <p:nvSpPr>
          <p:cNvPr id="8" name="Text 6"/>
          <p:cNvSpPr txBox="1"/>
          <p:nvPr/>
        </p:nvSpPr>
        <p:spPr>
          <a:xfrm>
            <a:off x="2121408" y="1408176"/>
            <a:ext cx="4572000" cy="603504"/>
          </a:xfrm>
          <a:prstGeom prst="rect">
            <a:avLst/>
          </a:prstGeom>
          <a:noFill/>
          <a:ln/>
        </p:spPr>
        <p:txBody>
          <a:bodyPr wrap="square" lIns="0" tIns="0" rIns="0" bIns="0" rtlCol="0" anchor="ctr"/>
          <a:lstStyle/>
          <a:p>
            <a:pPr indent="0" marL="0">
              <a:buNone/>
            </a:pPr>
            <a:r>
              <a:rPr lang="en-US" sz="1450" b="1" dirty="0">
                <a:solidFill>
                  <a:srgbClr val="0F2942"/>
                </a:solidFill>
                <a:latin typeface="Calibri" pitchFamily="34" charset="0"/>
                <a:ea typeface="Calibri" pitchFamily="34" charset="-122"/>
                <a:cs typeface="Calibri" pitchFamily="34" charset="-120"/>
              </a:rPr>
              <a:t>Booleans and the if statement</a:t>
            </a:r>
            <a:endParaRPr lang="en-US" sz="1450" dirty="0"/>
          </a:p>
        </p:txBody>
      </p:sp>
      <p:sp>
        <p:nvSpPr>
          <p:cNvPr id="9" name="Text 7"/>
          <p:cNvSpPr txBox="1"/>
          <p:nvPr/>
        </p:nvSpPr>
        <p:spPr>
          <a:xfrm>
            <a:off x="6784848" y="1408176"/>
            <a:ext cx="4657039" cy="603504"/>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Relational operators, one-way if, two-way if-else</a:t>
            </a:r>
            <a:endParaRPr lang="en-US" sz="1250" dirty="0"/>
          </a:p>
        </p:txBody>
      </p:sp>
      <p:sp>
        <p:nvSpPr>
          <p:cNvPr id="10" name="Shape 8"/>
          <p:cNvSpPr/>
          <p:nvPr/>
        </p:nvSpPr>
        <p:spPr>
          <a:xfrm>
            <a:off x="566928" y="2139696"/>
            <a:ext cx="11057839" cy="713232"/>
          </a:xfrm>
          <a:prstGeom prst="roundRect">
            <a:avLst>
              <a:gd name="adj" fmla="val 11538"/>
            </a:avLst>
          </a:prstGeom>
          <a:solidFill>
            <a:srgbClr val="FFFFFF"/>
          </a:solidFill>
          <a:ln w="12700">
            <a:solidFill>
              <a:srgbClr val="D3DEE7"/>
            </a:solidFill>
            <a:prstDash val="solid"/>
          </a:ln>
        </p:spPr>
      </p:sp>
      <p:sp>
        <p:nvSpPr>
          <p:cNvPr id="11" name="Text 9"/>
          <p:cNvSpPr txBox="1"/>
          <p:nvPr/>
        </p:nvSpPr>
        <p:spPr>
          <a:xfrm>
            <a:off x="804672" y="2194560"/>
            <a:ext cx="1234440" cy="603504"/>
          </a:xfrm>
          <a:prstGeom prst="rect">
            <a:avLst/>
          </a:prstGeom>
          <a:noFill/>
          <a:ln/>
        </p:spPr>
        <p:txBody>
          <a:bodyPr wrap="square" lIns="0" tIns="0" rIns="0" bIns="0" rtlCol="0" anchor="ctr"/>
          <a:lstStyle/>
          <a:p>
            <a:pPr indent="0" marL="0">
              <a:buNone/>
            </a:pPr>
            <a:r>
              <a:rPr lang="en-US" sz="1300" b="1" dirty="0">
                <a:solidFill>
                  <a:srgbClr val="9A430A"/>
                </a:solidFill>
                <a:latin typeface="Courier New" pitchFamily="34" charset="0"/>
                <a:ea typeface="Courier New" pitchFamily="34" charset="-122"/>
                <a:cs typeface="Courier New" pitchFamily="34" charset="-120"/>
              </a:rPr>
              <a:t>15–32 min</a:t>
            </a:r>
            <a:endParaRPr lang="en-US" sz="1300" dirty="0"/>
          </a:p>
        </p:txBody>
      </p:sp>
      <p:sp>
        <p:nvSpPr>
          <p:cNvPr id="12" name="Text 10"/>
          <p:cNvSpPr txBox="1"/>
          <p:nvPr/>
        </p:nvSpPr>
        <p:spPr>
          <a:xfrm>
            <a:off x="2121408" y="2194560"/>
            <a:ext cx="4572000" cy="603504"/>
          </a:xfrm>
          <a:prstGeom prst="rect">
            <a:avLst/>
          </a:prstGeom>
          <a:noFill/>
          <a:ln/>
        </p:spPr>
        <p:txBody>
          <a:bodyPr wrap="square" lIns="0" tIns="0" rIns="0" bIns="0" rtlCol="0" anchor="ctr"/>
          <a:lstStyle/>
          <a:p>
            <a:pPr indent="0" marL="0">
              <a:buNone/>
            </a:pPr>
            <a:r>
              <a:rPr lang="en-US" sz="1450" b="1" dirty="0">
                <a:solidFill>
                  <a:srgbClr val="0F2942"/>
                </a:solidFill>
                <a:latin typeface="Calibri" pitchFamily="34" charset="0"/>
                <a:ea typeface="Calibri" pitchFamily="34" charset="-122"/>
                <a:cs typeface="Calibri" pitchFamily="34" charset="-120"/>
              </a:rPr>
              <a:t>Multi-way decisions</a:t>
            </a:r>
            <a:endParaRPr lang="en-US" sz="1450" dirty="0"/>
          </a:p>
        </p:txBody>
      </p:sp>
      <p:sp>
        <p:nvSpPr>
          <p:cNvPr id="13" name="Text 11"/>
          <p:cNvSpPr txBox="1"/>
          <p:nvPr/>
        </p:nvSpPr>
        <p:spPr>
          <a:xfrm>
            <a:off x="6784848" y="2194560"/>
            <a:ext cx="4657039" cy="603504"/>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Nested if, the else-if ladder, the dangling else, BMI and tax</a:t>
            </a:r>
            <a:endParaRPr lang="en-US" sz="1250" dirty="0"/>
          </a:p>
        </p:txBody>
      </p:sp>
      <p:sp>
        <p:nvSpPr>
          <p:cNvPr id="14" name="Shape 12"/>
          <p:cNvSpPr/>
          <p:nvPr/>
        </p:nvSpPr>
        <p:spPr>
          <a:xfrm>
            <a:off x="566928" y="2926080"/>
            <a:ext cx="11057839" cy="713232"/>
          </a:xfrm>
          <a:prstGeom prst="roundRect">
            <a:avLst>
              <a:gd name="adj" fmla="val 11538"/>
            </a:avLst>
          </a:prstGeom>
          <a:solidFill>
            <a:srgbClr val="F1F5F9"/>
          </a:solidFill>
          <a:ln w="12700">
            <a:solidFill>
              <a:srgbClr val="F1F5F9"/>
            </a:solidFill>
            <a:prstDash val="solid"/>
          </a:ln>
        </p:spPr>
      </p:sp>
      <p:sp>
        <p:nvSpPr>
          <p:cNvPr id="15" name="Text 13"/>
          <p:cNvSpPr txBox="1"/>
          <p:nvPr/>
        </p:nvSpPr>
        <p:spPr>
          <a:xfrm>
            <a:off x="804672" y="2980944"/>
            <a:ext cx="1234440" cy="603504"/>
          </a:xfrm>
          <a:prstGeom prst="rect">
            <a:avLst/>
          </a:prstGeom>
          <a:noFill/>
          <a:ln/>
        </p:spPr>
        <p:txBody>
          <a:bodyPr wrap="square" lIns="0" tIns="0" rIns="0" bIns="0" rtlCol="0" anchor="ctr"/>
          <a:lstStyle/>
          <a:p>
            <a:pPr indent="0" marL="0">
              <a:buNone/>
            </a:pPr>
            <a:r>
              <a:rPr lang="en-US" sz="1300" b="1" dirty="0">
                <a:solidFill>
                  <a:srgbClr val="9A430A"/>
                </a:solidFill>
                <a:latin typeface="Courier New" pitchFamily="34" charset="0"/>
                <a:ea typeface="Courier New" pitchFamily="34" charset="-122"/>
                <a:cs typeface="Courier New" pitchFamily="34" charset="-120"/>
              </a:rPr>
              <a:t>32–50 min</a:t>
            </a:r>
            <a:endParaRPr lang="en-US" sz="1300" dirty="0"/>
          </a:p>
        </p:txBody>
      </p:sp>
      <p:sp>
        <p:nvSpPr>
          <p:cNvPr id="16" name="Text 14"/>
          <p:cNvSpPr txBox="1"/>
          <p:nvPr/>
        </p:nvSpPr>
        <p:spPr>
          <a:xfrm>
            <a:off x="2121408" y="2980944"/>
            <a:ext cx="4572000" cy="603504"/>
          </a:xfrm>
          <a:prstGeom prst="rect">
            <a:avLst/>
          </a:prstGeom>
          <a:noFill/>
          <a:ln/>
        </p:spPr>
        <p:txBody>
          <a:bodyPr wrap="square" lIns="0" tIns="0" rIns="0" bIns="0" rtlCol="0" anchor="ctr"/>
          <a:lstStyle/>
          <a:p>
            <a:pPr indent="0" marL="0">
              <a:buNone/>
            </a:pPr>
            <a:r>
              <a:rPr lang="en-US" sz="1450" b="1" dirty="0">
                <a:solidFill>
                  <a:srgbClr val="0F2942"/>
                </a:solidFill>
                <a:latin typeface="Calibri" pitchFamily="34" charset="0"/>
                <a:ea typeface="Calibri" pitchFamily="34" charset="-122"/>
                <a:cs typeface="Calibri" pitchFamily="34" charset="-120"/>
              </a:rPr>
              <a:t>Combining conditions</a:t>
            </a:r>
            <a:endParaRPr lang="en-US" sz="1450" dirty="0"/>
          </a:p>
        </p:txBody>
      </p:sp>
      <p:sp>
        <p:nvSpPr>
          <p:cNvPr id="17" name="Text 15"/>
          <p:cNvSpPr txBox="1"/>
          <p:nvPr/>
        </p:nvSpPr>
        <p:spPr>
          <a:xfrm>
            <a:off x="6784848" y="2980944"/>
            <a:ext cx="4657039" cy="603504"/>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&amp;&amp;, ||, !, ^ — and why &amp;&amp; is not the same as &amp;</a:t>
            </a:r>
            <a:endParaRPr lang="en-US" sz="1250" dirty="0"/>
          </a:p>
        </p:txBody>
      </p:sp>
      <p:sp>
        <p:nvSpPr>
          <p:cNvPr id="18" name="Shape 16"/>
          <p:cNvSpPr/>
          <p:nvPr/>
        </p:nvSpPr>
        <p:spPr>
          <a:xfrm>
            <a:off x="566928" y="3712464"/>
            <a:ext cx="11057839" cy="713232"/>
          </a:xfrm>
          <a:prstGeom prst="roundRect">
            <a:avLst>
              <a:gd name="adj" fmla="val 11538"/>
            </a:avLst>
          </a:prstGeom>
          <a:solidFill>
            <a:srgbClr val="FFFFFF"/>
          </a:solidFill>
          <a:ln w="12700">
            <a:solidFill>
              <a:srgbClr val="D3DEE7"/>
            </a:solidFill>
            <a:prstDash val="solid"/>
          </a:ln>
        </p:spPr>
      </p:sp>
      <p:sp>
        <p:nvSpPr>
          <p:cNvPr id="19" name="Text 17"/>
          <p:cNvSpPr txBox="1"/>
          <p:nvPr/>
        </p:nvSpPr>
        <p:spPr>
          <a:xfrm>
            <a:off x="804672" y="3767328"/>
            <a:ext cx="1234440" cy="603504"/>
          </a:xfrm>
          <a:prstGeom prst="rect">
            <a:avLst/>
          </a:prstGeom>
          <a:noFill/>
          <a:ln/>
        </p:spPr>
        <p:txBody>
          <a:bodyPr wrap="square" lIns="0" tIns="0" rIns="0" bIns="0" rtlCol="0" anchor="ctr"/>
          <a:lstStyle/>
          <a:p>
            <a:pPr indent="0" marL="0">
              <a:buNone/>
            </a:pPr>
            <a:r>
              <a:rPr lang="en-US" sz="1300" b="1" dirty="0">
                <a:solidFill>
                  <a:srgbClr val="9A430A"/>
                </a:solidFill>
                <a:latin typeface="Courier New" pitchFamily="34" charset="0"/>
                <a:ea typeface="Courier New" pitchFamily="34" charset="-122"/>
                <a:cs typeface="Courier New" pitchFamily="34" charset="-120"/>
              </a:rPr>
              <a:t>50–68 min</a:t>
            </a:r>
            <a:endParaRPr lang="en-US" sz="1300" dirty="0"/>
          </a:p>
        </p:txBody>
      </p:sp>
      <p:sp>
        <p:nvSpPr>
          <p:cNvPr id="20" name="Text 18"/>
          <p:cNvSpPr txBox="1"/>
          <p:nvPr/>
        </p:nvSpPr>
        <p:spPr>
          <a:xfrm>
            <a:off x="2121408" y="3767328"/>
            <a:ext cx="4572000" cy="603504"/>
          </a:xfrm>
          <a:prstGeom prst="rect">
            <a:avLst/>
          </a:prstGeom>
          <a:noFill/>
          <a:ln/>
        </p:spPr>
        <p:txBody>
          <a:bodyPr wrap="square" lIns="0" tIns="0" rIns="0" bIns="0" rtlCol="0" anchor="ctr"/>
          <a:lstStyle/>
          <a:p>
            <a:pPr indent="0" marL="0">
              <a:buNone/>
            </a:pPr>
            <a:r>
              <a:rPr lang="en-US" sz="1450" b="1" dirty="0">
                <a:solidFill>
                  <a:srgbClr val="0F2942"/>
                </a:solidFill>
                <a:latin typeface="Calibri" pitchFamily="34" charset="0"/>
                <a:ea typeface="Calibri" pitchFamily="34" charset="-122"/>
                <a:cs typeface="Calibri" pitchFamily="34" charset="-120"/>
              </a:rPr>
              <a:t>switch and the conditional operator</a:t>
            </a:r>
            <a:endParaRPr lang="en-US" sz="1450" dirty="0"/>
          </a:p>
        </p:txBody>
      </p:sp>
      <p:sp>
        <p:nvSpPr>
          <p:cNvPr id="21" name="Text 19"/>
          <p:cNvSpPr txBox="1"/>
          <p:nvPr/>
        </p:nvSpPr>
        <p:spPr>
          <a:xfrm>
            <a:off x="6784848" y="3767328"/>
            <a:ext cx="4657039" cy="603504"/>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The classic statement, switch expressions, ?:, precedence</a:t>
            </a:r>
            <a:endParaRPr lang="en-US" sz="1250" dirty="0"/>
          </a:p>
        </p:txBody>
      </p:sp>
      <p:sp>
        <p:nvSpPr>
          <p:cNvPr id="22" name="Shape 20"/>
          <p:cNvSpPr/>
          <p:nvPr/>
        </p:nvSpPr>
        <p:spPr>
          <a:xfrm>
            <a:off x="566928" y="4498848"/>
            <a:ext cx="11057839" cy="713232"/>
          </a:xfrm>
          <a:prstGeom prst="roundRect">
            <a:avLst>
              <a:gd name="adj" fmla="val 11538"/>
            </a:avLst>
          </a:prstGeom>
          <a:solidFill>
            <a:srgbClr val="F1F5F9"/>
          </a:solidFill>
          <a:ln w="12700">
            <a:solidFill>
              <a:srgbClr val="F1F5F9"/>
            </a:solidFill>
            <a:prstDash val="solid"/>
          </a:ln>
        </p:spPr>
      </p:sp>
      <p:sp>
        <p:nvSpPr>
          <p:cNvPr id="23" name="Text 21"/>
          <p:cNvSpPr txBox="1"/>
          <p:nvPr/>
        </p:nvSpPr>
        <p:spPr>
          <a:xfrm>
            <a:off x="804672" y="4553712"/>
            <a:ext cx="1234440" cy="603504"/>
          </a:xfrm>
          <a:prstGeom prst="rect">
            <a:avLst/>
          </a:prstGeom>
          <a:noFill/>
          <a:ln/>
        </p:spPr>
        <p:txBody>
          <a:bodyPr wrap="square" lIns="0" tIns="0" rIns="0" bIns="0" rtlCol="0" anchor="ctr"/>
          <a:lstStyle/>
          <a:p>
            <a:pPr indent="0" marL="0">
              <a:buNone/>
            </a:pPr>
            <a:r>
              <a:rPr lang="en-US" sz="1300" b="1" dirty="0">
                <a:solidFill>
                  <a:srgbClr val="9A430A"/>
                </a:solidFill>
                <a:latin typeface="Courier New" pitchFamily="34" charset="0"/>
                <a:ea typeface="Courier New" pitchFamily="34" charset="-122"/>
                <a:cs typeface="Courier New" pitchFamily="34" charset="-120"/>
              </a:rPr>
              <a:t>68–75 min</a:t>
            </a:r>
            <a:endParaRPr lang="en-US" sz="1300" dirty="0"/>
          </a:p>
        </p:txBody>
      </p:sp>
      <p:sp>
        <p:nvSpPr>
          <p:cNvPr id="24" name="Text 22"/>
          <p:cNvSpPr txBox="1"/>
          <p:nvPr/>
        </p:nvSpPr>
        <p:spPr>
          <a:xfrm>
            <a:off x="2121408" y="4553712"/>
            <a:ext cx="4572000" cy="603504"/>
          </a:xfrm>
          <a:prstGeom prst="rect">
            <a:avLst/>
          </a:prstGeom>
          <a:noFill/>
          <a:ln/>
        </p:spPr>
        <p:txBody>
          <a:bodyPr wrap="square" lIns="0" tIns="0" rIns="0" bIns="0" rtlCol="0" anchor="ctr"/>
          <a:lstStyle/>
          <a:p>
            <a:pPr indent="0" marL="0">
              <a:buNone/>
            </a:pPr>
            <a:r>
              <a:rPr lang="en-US" sz="1450" b="1" dirty="0">
                <a:solidFill>
                  <a:srgbClr val="0F2942"/>
                </a:solidFill>
                <a:latin typeface="Calibri" pitchFamily="34" charset="0"/>
                <a:ea typeface="Calibri" pitchFamily="34" charset="-122"/>
                <a:cs typeface="Calibri" pitchFamily="34" charset="-120"/>
              </a:rPr>
              <a:t>Practice and questions</a:t>
            </a:r>
            <a:endParaRPr lang="en-US" sz="1450" dirty="0"/>
          </a:p>
        </p:txBody>
      </p:sp>
      <p:sp>
        <p:nvSpPr>
          <p:cNvPr id="25" name="Text 23"/>
          <p:cNvSpPr txBox="1"/>
          <p:nvPr/>
        </p:nvSpPr>
        <p:spPr>
          <a:xfrm>
            <a:off x="6784848" y="4553712"/>
            <a:ext cx="4657039" cy="603504"/>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Five problems to work on before Thursday</a:t>
            </a:r>
            <a:endParaRPr lang="en-US" sz="1250" dirty="0"/>
          </a:p>
        </p:txBody>
      </p:sp>
      <p:sp>
        <p:nvSpPr>
          <p:cNvPr id="26" name="Text 24"/>
          <p:cNvSpPr txBox="1"/>
          <p:nvPr/>
        </p:nvSpPr>
        <p:spPr>
          <a:xfrm>
            <a:off x="566928" y="5394960"/>
            <a:ext cx="11057839" cy="274320"/>
          </a:xfrm>
          <a:prstGeom prst="rect">
            <a:avLst/>
          </a:prstGeom>
          <a:noFill/>
          <a:ln/>
        </p:spPr>
        <p:txBody>
          <a:bodyPr wrap="square" lIns="0" tIns="0" rIns="0" bIns="0" rtlCol="0" anchor="ctr"/>
          <a:lstStyle/>
          <a:p>
            <a:pPr indent="0" marL="0">
              <a:buNone/>
            </a:pPr>
            <a:r>
              <a:rPr lang="en-US" sz="1300" i="1" dirty="0">
                <a:solidFill>
                  <a:srgbClr val="9A430A"/>
                </a:solidFill>
                <a:latin typeface="Calibri" pitchFamily="34" charset="0"/>
                <a:ea typeface="Calibri" pitchFamily="34" charset="-122"/>
                <a:cs typeface="Calibri" pitchFamily="34" charset="-120"/>
              </a:rPr>
              <a:t>Four short checkpoints are built into the slides — I will ask, you answer.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CHAPTER 3</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What You Will Be Able to Do by 19:05</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Liang, Introduction to Java Programming, 13th edition — Chapter 3, Selections.</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566928" y="1581912"/>
            <a:ext cx="2613584" cy="3977640"/>
          </a:xfrm>
          <a:prstGeom prst="roundRect">
            <a:avLst>
              <a:gd name="adj" fmla="val 3149"/>
            </a:avLst>
          </a:prstGeom>
          <a:solidFill>
            <a:srgbClr val="F1F5F9"/>
          </a:solidFill>
          <a:ln w="12700">
            <a:solidFill>
              <a:srgbClr val="F1F5F9"/>
            </a:solidFill>
            <a:prstDash val="solid"/>
          </a:ln>
        </p:spPr>
      </p:sp>
      <p:sp>
        <p:nvSpPr>
          <p:cNvPr id="8" name="Shape 6"/>
          <p:cNvSpPr/>
          <p:nvPr/>
        </p:nvSpPr>
        <p:spPr>
          <a:xfrm>
            <a:off x="804672" y="1837944"/>
            <a:ext cx="384048" cy="384048"/>
          </a:xfrm>
          <a:prstGeom prst="ellipse">
            <a:avLst/>
          </a:prstGeom>
          <a:solidFill>
            <a:srgbClr val="C4560C"/>
          </a:solidFill>
          <a:ln w="12700">
            <a:solidFill>
              <a:srgbClr val="C4560C"/>
            </a:solidFill>
            <a:prstDash val="solid"/>
          </a:ln>
        </p:spPr>
      </p:sp>
      <p:sp>
        <p:nvSpPr>
          <p:cNvPr id="9" name="Text 7"/>
          <p:cNvSpPr txBox="1"/>
          <p:nvPr/>
        </p:nvSpPr>
        <p:spPr>
          <a:xfrm>
            <a:off x="804672" y="1837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804672" y="2359152"/>
            <a:ext cx="2138096" cy="548640"/>
          </a:xfrm>
          <a:prstGeom prst="rect">
            <a:avLst/>
          </a:prstGeom>
          <a:noFill/>
          <a:ln/>
        </p:spPr>
        <p:txBody>
          <a:bodyPr wrap="square" lIns="0" tIns="0" rIns="0" bIns="0" rtlCol="0" anchor="t"/>
          <a:lstStyle/>
          <a:p>
            <a:pPr indent="0" marL="0">
              <a:lnSpc>
                <a:spcPct val="105000"/>
              </a:lnSpc>
              <a:buNone/>
            </a:pPr>
            <a:r>
              <a:rPr lang="en-US" sz="1700" b="1" dirty="0">
                <a:solidFill>
                  <a:srgbClr val="0F2942"/>
                </a:solidFill>
                <a:latin typeface="Cambria" pitchFamily="34" charset="0"/>
                <a:ea typeface="Cambria" pitchFamily="34" charset="-122"/>
                <a:cs typeface="Cambria" pitchFamily="34" charset="-120"/>
              </a:rPr>
              <a:t>Express a condition</a:t>
            </a:r>
            <a:endParaRPr lang="en-US" sz="1700" dirty="0"/>
          </a:p>
        </p:txBody>
      </p:sp>
      <p:sp>
        <p:nvSpPr>
          <p:cNvPr id="11" name="Text 9"/>
          <p:cNvSpPr txBox="1"/>
          <p:nvPr/>
        </p:nvSpPr>
        <p:spPr>
          <a:xfrm>
            <a:off x="822960" y="2999232"/>
            <a:ext cx="2101520" cy="2423160"/>
          </a:xfrm>
          <a:prstGeom prst="rect">
            <a:avLst/>
          </a:prstGeom>
          <a:noFill/>
          <a:ln/>
        </p:spPr>
        <p:txBody>
          <a:bodyPr wrap="square" lIns="0" tIns="0" rIns="0" bIns="0" rtlCol="0" anchor="t"/>
          <a:lstStyle/>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Declare boolean variables.</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Write Boolean expressions with the six relational operators.</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Generate random values with Math.random().</a:t>
            </a:r>
            <a:endParaRPr lang="en-US" sz="1200" dirty="0"/>
          </a:p>
        </p:txBody>
      </p:sp>
      <p:sp>
        <p:nvSpPr>
          <p:cNvPr id="12" name="Shape 10"/>
          <p:cNvSpPr/>
          <p:nvPr/>
        </p:nvSpPr>
        <p:spPr>
          <a:xfrm>
            <a:off x="3381680" y="1581912"/>
            <a:ext cx="2613584" cy="3977640"/>
          </a:xfrm>
          <a:prstGeom prst="roundRect">
            <a:avLst>
              <a:gd name="adj" fmla="val 3149"/>
            </a:avLst>
          </a:prstGeom>
          <a:solidFill>
            <a:srgbClr val="FFFFFF"/>
          </a:solidFill>
          <a:ln w="12700">
            <a:solidFill>
              <a:srgbClr val="D3DEE7"/>
            </a:solidFill>
            <a:prstDash val="solid"/>
          </a:ln>
        </p:spPr>
      </p:sp>
      <p:sp>
        <p:nvSpPr>
          <p:cNvPr id="13" name="Shape 11"/>
          <p:cNvSpPr/>
          <p:nvPr/>
        </p:nvSpPr>
        <p:spPr>
          <a:xfrm>
            <a:off x="3619424" y="1837944"/>
            <a:ext cx="384048" cy="384048"/>
          </a:xfrm>
          <a:prstGeom prst="ellipse">
            <a:avLst/>
          </a:prstGeom>
          <a:solidFill>
            <a:srgbClr val="C4560C"/>
          </a:solidFill>
          <a:ln w="12700">
            <a:solidFill>
              <a:srgbClr val="C4560C"/>
            </a:solidFill>
            <a:prstDash val="solid"/>
          </a:ln>
        </p:spPr>
      </p:sp>
      <p:sp>
        <p:nvSpPr>
          <p:cNvPr id="14" name="Text 12"/>
          <p:cNvSpPr txBox="1"/>
          <p:nvPr/>
        </p:nvSpPr>
        <p:spPr>
          <a:xfrm>
            <a:off x="3619424" y="1837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3619424" y="2359152"/>
            <a:ext cx="2138096" cy="548640"/>
          </a:xfrm>
          <a:prstGeom prst="rect">
            <a:avLst/>
          </a:prstGeom>
          <a:noFill/>
          <a:ln/>
        </p:spPr>
        <p:txBody>
          <a:bodyPr wrap="square" lIns="0" tIns="0" rIns="0" bIns="0" rtlCol="0" anchor="t"/>
          <a:lstStyle/>
          <a:p>
            <a:pPr indent="0" marL="0">
              <a:lnSpc>
                <a:spcPct val="105000"/>
              </a:lnSpc>
              <a:buNone/>
            </a:pPr>
            <a:r>
              <a:rPr lang="en-US" sz="1700" b="1" dirty="0">
                <a:solidFill>
                  <a:srgbClr val="0F2942"/>
                </a:solidFill>
                <a:latin typeface="Cambria" pitchFamily="34" charset="0"/>
                <a:ea typeface="Cambria" pitchFamily="34" charset="-122"/>
                <a:cs typeface="Cambria" pitchFamily="34" charset="-120"/>
              </a:rPr>
              <a:t>Choose a path</a:t>
            </a:r>
            <a:endParaRPr lang="en-US" sz="1700" dirty="0"/>
          </a:p>
        </p:txBody>
      </p:sp>
      <p:sp>
        <p:nvSpPr>
          <p:cNvPr id="16" name="Text 14"/>
          <p:cNvSpPr txBox="1"/>
          <p:nvPr/>
        </p:nvSpPr>
        <p:spPr>
          <a:xfrm>
            <a:off x="3637712" y="2999232"/>
            <a:ext cx="2101520" cy="2423160"/>
          </a:xfrm>
          <a:prstGeom prst="rect">
            <a:avLst/>
          </a:prstGeom>
          <a:noFill/>
          <a:ln/>
        </p:spPr>
        <p:txBody>
          <a:bodyPr wrap="square" lIns="0" tIns="0" rIns="0" bIns="0" rtlCol="0" anchor="t"/>
          <a:lstStyle/>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One-way if, two-way if-else.</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Nested if and the else-if ladder.</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Avoid the classic pitfalls: the stray semicolon, the dangling else.</a:t>
            </a:r>
            <a:endParaRPr lang="en-US" sz="1200" dirty="0"/>
          </a:p>
        </p:txBody>
      </p:sp>
      <p:sp>
        <p:nvSpPr>
          <p:cNvPr id="17" name="Shape 15"/>
          <p:cNvSpPr/>
          <p:nvPr/>
        </p:nvSpPr>
        <p:spPr>
          <a:xfrm>
            <a:off x="6196432" y="1581912"/>
            <a:ext cx="2613584" cy="3977640"/>
          </a:xfrm>
          <a:prstGeom prst="roundRect">
            <a:avLst>
              <a:gd name="adj" fmla="val 3149"/>
            </a:avLst>
          </a:prstGeom>
          <a:solidFill>
            <a:srgbClr val="F1F5F9"/>
          </a:solidFill>
          <a:ln w="12700">
            <a:solidFill>
              <a:srgbClr val="F1F5F9"/>
            </a:solidFill>
            <a:prstDash val="solid"/>
          </a:ln>
        </p:spPr>
      </p:sp>
      <p:sp>
        <p:nvSpPr>
          <p:cNvPr id="18" name="Shape 16"/>
          <p:cNvSpPr/>
          <p:nvPr/>
        </p:nvSpPr>
        <p:spPr>
          <a:xfrm>
            <a:off x="6434176" y="1837944"/>
            <a:ext cx="384048" cy="384048"/>
          </a:xfrm>
          <a:prstGeom prst="ellipse">
            <a:avLst/>
          </a:prstGeom>
          <a:solidFill>
            <a:srgbClr val="C4560C"/>
          </a:solidFill>
          <a:ln w="12700">
            <a:solidFill>
              <a:srgbClr val="C4560C"/>
            </a:solidFill>
            <a:prstDash val="solid"/>
          </a:ln>
        </p:spPr>
      </p:sp>
      <p:sp>
        <p:nvSpPr>
          <p:cNvPr id="19" name="Text 17"/>
          <p:cNvSpPr txBox="1"/>
          <p:nvPr/>
        </p:nvSpPr>
        <p:spPr>
          <a:xfrm>
            <a:off x="6434176" y="1837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6434176" y="2359152"/>
            <a:ext cx="2138096" cy="548640"/>
          </a:xfrm>
          <a:prstGeom prst="rect">
            <a:avLst/>
          </a:prstGeom>
          <a:noFill/>
          <a:ln/>
        </p:spPr>
        <p:txBody>
          <a:bodyPr wrap="square" lIns="0" tIns="0" rIns="0" bIns="0" rtlCol="0" anchor="t"/>
          <a:lstStyle/>
          <a:p>
            <a:pPr indent="0" marL="0">
              <a:lnSpc>
                <a:spcPct val="105000"/>
              </a:lnSpc>
              <a:buNone/>
            </a:pPr>
            <a:r>
              <a:rPr lang="en-US" sz="1700" b="1" dirty="0">
                <a:solidFill>
                  <a:srgbClr val="0F2942"/>
                </a:solidFill>
                <a:latin typeface="Cambria" pitchFamily="34" charset="0"/>
                <a:ea typeface="Cambria" pitchFamily="34" charset="-122"/>
                <a:cs typeface="Cambria" pitchFamily="34" charset="-120"/>
              </a:rPr>
              <a:t>Combine conditions</a:t>
            </a:r>
            <a:endParaRPr lang="en-US" sz="1700" dirty="0"/>
          </a:p>
        </p:txBody>
      </p:sp>
      <p:sp>
        <p:nvSpPr>
          <p:cNvPr id="21" name="Text 19"/>
          <p:cNvSpPr txBox="1"/>
          <p:nvPr/>
        </p:nvSpPr>
        <p:spPr>
          <a:xfrm>
            <a:off x="6452464" y="2999232"/>
            <a:ext cx="2101520" cy="2423160"/>
          </a:xfrm>
          <a:prstGeom prst="rect">
            <a:avLst/>
          </a:prstGeom>
          <a:noFill/>
          <a:ln/>
        </p:spPr>
        <p:txBody>
          <a:bodyPr wrap="square" lIns="0" tIns="0" rIns="0" bIns="0" rtlCol="0" anchor="t"/>
          <a:lstStyle/>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&amp;&amp;, ||, ! and ^ and their truth tables.</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Short-circuit evaluation, and why &amp; and | are different.</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Worked problems: leap year, lottery.</a:t>
            </a:r>
            <a:endParaRPr lang="en-US" sz="1200" dirty="0"/>
          </a:p>
        </p:txBody>
      </p:sp>
      <p:sp>
        <p:nvSpPr>
          <p:cNvPr id="22" name="Shape 20"/>
          <p:cNvSpPr/>
          <p:nvPr/>
        </p:nvSpPr>
        <p:spPr>
          <a:xfrm>
            <a:off x="9011183" y="1581912"/>
            <a:ext cx="2613584" cy="3977640"/>
          </a:xfrm>
          <a:prstGeom prst="roundRect">
            <a:avLst>
              <a:gd name="adj" fmla="val 3149"/>
            </a:avLst>
          </a:prstGeom>
          <a:solidFill>
            <a:srgbClr val="FFFFFF"/>
          </a:solidFill>
          <a:ln w="12700">
            <a:solidFill>
              <a:srgbClr val="D3DEE7"/>
            </a:solidFill>
            <a:prstDash val="solid"/>
          </a:ln>
        </p:spPr>
      </p:sp>
      <p:sp>
        <p:nvSpPr>
          <p:cNvPr id="23" name="Shape 21"/>
          <p:cNvSpPr/>
          <p:nvPr/>
        </p:nvSpPr>
        <p:spPr>
          <a:xfrm>
            <a:off x="9248927" y="1837944"/>
            <a:ext cx="384048" cy="384048"/>
          </a:xfrm>
          <a:prstGeom prst="ellipse">
            <a:avLst/>
          </a:prstGeom>
          <a:solidFill>
            <a:srgbClr val="C4560C"/>
          </a:solidFill>
          <a:ln w="12700">
            <a:solidFill>
              <a:srgbClr val="C4560C"/>
            </a:solidFill>
            <a:prstDash val="solid"/>
          </a:ln>
        </p:spPr>
      </p:sp>
      <p:sp>
        <p:nvSpPr>
          <p:cNvPr id="24" name="Text 22"/>
          <p:cNvSpPr txBox="1"/>
          <p:nvPr/>
        </p:nvSpPr>
        <p:spPr>
          <a:xfrm>
            <a:off x="9248927" y="1837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txBox="1"/>
          <p:nvPr/>
        </p:nvSpPr>
        <p:spPr>
          <a:xfrm>
            <a:off x="9248927" y="2359152"/>
            <a:ext cx="2138096" cy="548640"/>
          </a:xfrm>
          <a:prstGeom prst="rect">
            <a:avLst/>
          </a:prstGeom>
          <a:noFill/>
          <a:ln/>
        </p:spPr>
        <p:txBody>
          <a:bodyPr wrap="square" lIns="0" tIns="0" rIns="0" bIns="0" rtlCol="0" anchor="t"/>
          <a:lstStyle/>
          <a:p>
            <a:pPr indent="0" marL="0">
              <a:lnSpc>
                <a:spcPct val="105000"/>
              </a:lnSpc>
              <a:buNone/>
            </a:pPr>
            <a:r>
              <a:rPr lang="en-US" sz="1700" b="1" dirty="0">
                <a:solidFill>
                  <a:srgbClr val="0F2942"/>
                </a:solidFill>
                <a:latin typeface="Cambria" pitchFamily="34" charset="0"/>
                <a:ea typeface="Cambria" pitchFamily="34" charset="-122"/>
                <a:cs typeface="Cambria" pitchFamily="34" charset="-120"/>
              </a:rPr>
              <a:t>Pick from a set</a:t>
            </a:r>
            <a:endParaRPr lang="en-US" sz="1700" dirty="0"/>
          </a:p>
        </p:txBody>
      </p:sp>
      <p:sp>
        <p:nvSpPr>
          <p:cNvPr id="26" name="Text 24"/>
          <p:cNvSpPr txBox="1"/>
          <p:nvPr/>
        </p:nvSpPr>
        <p:spPr>
          <a:xfrm>
            <a:off x="9267215" y="2999232"/>
            <a:ext cx="2101520" cy="2423160"/>
          </a:xfrm>
          <a:prstGeom prst="rect">
            <a:avLst/>
          </a:prstGeom>
          <a:noFill/>
          <a:ln/>
        </p:spPr>
        <p:txBody>
          <a:bodyPr wrap="square" lIns="0" tIns="0" rIns="0" bIns="0" rtlCol="0" anchor="t"/>
          <a:lstStyle/>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The switch statement and fall-through.</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switch expressions with -&gt; and yield.</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The conditional operator ?:, precedence and associativity.</a:t>
            </a:r>
            <a:endParaRPr lang="en-US" sz="1200" dirty="0"/>
          </a:p>
        </p:txBody>
      </p:sp>
      <p:sp>
        <p:nvSpPr>
          <p:cNvPr id="27" name="Text 25"/>
          <p:cNvSpPr txBox="1"/>
          <p:nvPr/>
        </p:nvSpPr>
        <p:spPr>
          <a:xfrm>
            <a:off x="566928" y="5715000"/>
            <a:ext cx="11057839" cy="274320"/>
          </a:xfrm>
          <a:prstGeom prst="rect">
            <a:avLst/>
          </a:prstGeom>
          <a:noFill/>
          <a:ln/>
        </p:spPr>
        <p:txBody>
          <a:bodyPr wrap="square" lIns="0" tIns="0" rIns="0" bIns="0" rtlCol="0" anchor="ctr"/>
          <a:lstStyle/>
          <a:p>
            <a:pPr indent="0" marL="0">
              <a:buNone/>
            </a:pPr>
            <a:r>
              <a:rPr lang="en-US" sz="1250" i="1" dirty="0">
                <a:solidFill>
                  <a:srgbClr val="9A430A"/>
                </a:solidFill>
                <a:latin typeface="Calibri" pitchFamily="34" charset="0"/>
                <a:ea typeface="Calibri" pitchFamily="34" charset="-122"/>
                <a:cs typeface="Calibri" pitchFamily="34" charset="-120"/>
              </a:rPr>
              <a:t>These are the learning outcomes the Week 1–3 quiz on 01.10 will test.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WHY</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Your Program Needs to Be Able to Say No</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Last week's ComputeArea will happily compute the area of a circle with a negative radius.</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566928" y="1581912"/>
            <a:ext cx="5346040" cy="1202436"/>
          </a:xfrm>
          <a:prstGeom prst="roundRect">
            <a:avLst>
              <a:gd name="adj" fmla="val 5323"/>
            </a:avLst>
          </a:prstGeom>
          <a:solidFill>
            <a:srgbClr val="EDF2F7"/>
          </a:solidFill>
          <a:ln w="12700">
            <a:solidFill>
              <a:srgbClr val="CFDBE5"/>
            </a:solidFill>
            <a:prstDash val="solid"/>
          </a:ln>
        </p:spPr>
      </p:sp>
      <p:sp>
        <p:nvSpPr>
          <p:cNvPr id="8" name="Text 6"/>
          <p:cNvSpPr txBox="1"/>
          <p:nvPr/>
        </p:nvSpPr>
        <p:spPr>
          <a:xfrm>
            <a:off x="713232" y="1627632"/>
            <a:ext cx="505343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WHAT WE HAVE NOW</a:t>
            </a:r>
            <a:endParaRPr lang="en-US" sz="950" dirty="0"/>
          </a:p>
        </p:txBody>
      </p:sp>
      <p:sp>
        <p:nvSpPr>
          <p:cNvPr id="9" name="Text 7"/>
          <p:cNvSpPr txBox="1"/>
          <p:nvPr/>
        </p:nvSpPr>
        <p:spPr>
          <a:xfrm>
            <a:off x="731520" y="1856232"/>
            <a:ext cx="5016856" cy="873252"/>
          </a:xfrm>
          <a:prstGeom prst="rect">
            <a:avLst/>
          </a:prstGeom>
          <a:noFill/>
          <a:ln/>
        </p:spPr>
        <p:txBody>
          <a:bodyPr wrap="square" lIns="0" tIns="0" rIns="0" bIns="0" rtlCol="0" anchor="t"/>
          <a:lstStyle/>
          <a:p>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area</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568A"/>
                </a:solidFill>
                <a:latin typeface="Courier New" pitchFamily="34" charset="0"/>
                <a:ea typeface="Courier New" pitchFamily="34" charset="-122"/>
                <a:cs typeface="Courier New" pitchFamily="34" charset="-120"/>
              </a:rPr>
              <a:t>Math</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PI</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614A"/>
                </a:solidFill>
                <a:latin typeface="Courier New" pitchFamily="34" charset="0"/>
                <a:ea typeface="Courier New" pitchFamily="34" charset="-122"/>
                <a:cs typeface="Courier New" pitchFamily="34" charset="-120"/>
              </a:rPr>
              <a:t>"The area is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area</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p:txBody>
      </p:sp>
      <p:sp>
        <p:nvSpPr>
          <p:cNvPr id="10" name="Shape 8"/>
          <p:cNvSpPr/>
          <p:nvPr/>
        </p:nvSpPr>
        <p:spPr>
          <a:xfrm>
            <a:off x="566928" y="3003804"/>
            <a:ext cx="5346040" cy="691515"/>
          </a:xfrm>
          <a:prstGeom prst="roundRect">
            <a:avLst>
              <a:gd name="adj" fmla="val 9256"/>
            </a:avLst>
          </a:prstGeom>
          <a:solidFill>
            <a:srgbClr val="FFFFFF"/>
          </a:solidFill>
          <a:ln w="12700">
            <a:solidFill>
              <a:srgbClr val="4B6377"/>
            </a:solidFill>
            <a:prstDash val="solid"/>
          </a:ln>
        </p:spPr>
      </p:sp>
      <p:sp>
        <p:nvSpPr>
          <p:cNvPr id="11" name="Text 9"/>
          <p:cNvSpPr txBox="1"/>
          <p:nvPr/>
        </p:nvSpPr>
        <p:spPr>
          <a:xfrm>
            <a:off x="713232" y="3076956"/>
            <a:ext cx="505343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2" name="Text 10"/>
          <p:cNvSpPr txBox="1"/>
          <p:nvPr/>
        </p:nvSpPr>
        <p:spPr>
          <a:xfrm>
            <a:off x="713232" y="3278124"/>
            <a:ext cx="5053432" cy="325755"/>
          </a:xfrm>
          <a:prstGeom prst="rect">
            <a:avLst/>
          </a:prstGeom>
          <a:noFill/>
          <a:ln/>
        </p:spPr>
        <p:txBody>
          <a:bodyPr wrap="square" lIns="0" tIns="0" rIns="0" bIns="0" rtlCol="0" anchor="t"/>
          <a:lstStyle/>
          <a:p>
            <a:pPr indent="0" marL="0">
              <a:lnSpc>
                <a:spcPct val="110000"/>
              </a:lnSpc>
              <a:buNone/>
            </a:pPr>
            <a:r>
              <a:rPr lang="en-US" sz="1250" dirty="0">
                <a:solidFill>
                  <a:srgbClr val="0F2942"/>
                </a:solidFill>
                <a:latin typeface="Courier New" pitchFamily="34" charset="0"/>
                <a:ea typeface="Courier New" pitchFamily="34" charset="-122"/>
                <a:cs typeface="Courier New" pitchFamily="34" charset="-120"/>
              </a:rPr>
              <a:t>The area is 78.53981633974483</a:t>
            </a:r>
            <a:endParaRPr lang="en-US" sz="1250" dirty="0"/>
          </a:p>
        </p:txBody>
      </p:sp>
      <p:sp>
        <p:nvSpPr>
          <p:cNvPr id="13" name="Shape 11"/>
          <p:cNvSpPr/>
          <p:nvPr/>
        </p:nvSpPr>
        <p:spPr>
          <a:xfrm>
            <a:off x="566928" y="3933063"/>
            <a:ext cx="5346040" cy="960120"/>
          </a:xfrm>
          <a:prstGeom prst="roundRect">
            <a:avLst>
              <a:gd name="adj" fmla="val 8571"/>
            </a:avLst>
          </a:prstGeom>
          <a:solidFill>
            <a:srgbClr val="FBEAE8"/>
          </a:solidFill>
          <a:ln w="12700">
            <a:solidFill>
              <a:srgbClr val="FBEAE8"/>
            </a:solidFill>
            <a:prstDash val="solid"/>
          </a:ln>
        </p:spPr>
      </p:sp>
      <p:sp>
        <p:nvSpPr>
          <p:cNvPr id="14" name="Text 12"/>
          <p:cNvSpPr txBox="1"/>
          <p:nvPr/>
        </p:nvSpPr>
        <p:spPr>
          <a:xfrm>
            <a:off x="841248" y="3933063"/>
            <a:ext cx="4797400" cy="960120"/>
          </a:xfrm>
          <a:prstGeom prst="rect">
            <a:avLst/>
          </a:prstGeom>
          <a:noFill/>
          <a:ln/>
        </p:spPr>
        <p:txBody>
          <a:bodyPr wrap="square" lIns="0" tIns="0" rIns="0" bIns="0" rtlCol="0" anchor="ctr"/>
          <a:lstStyle/>
          <a:p>
            <a:pPr indent="0" marL="0">
              <a:lnSpc>
                <a:spcPct val="112000"/>
              </a:lnSpc>
              <a:buNone/>
            </a:pPr>
            <a:r>
              <a:rPr lang="en-US" sz="1300" b="1" dirty="0">
                <a:solidFill>
                  <a:srgbClr val="9C241C"/>
                </a:solidFill>
                <a:latin typeface="Calibri" pitchFamily="34" charset="0"/>
                <a:ea typeface="Calibri" pitchFamily="34" charset="-122"/>
                <a:cs typeface="Calibri" pitchFamily="34" charset="-120"/>
              </a:rPr>
              <a:t>A circle of radius −5 does not exist.  </a:t>
            </a:r>
            <a:pPr indent="0" marL="0">
              <a:lnSpc>
                <a:spcPct val="112000"/>
              </a:lnSpc>
              <a:buNone/>
            </a:pPr>
            <a:r>
              <a:rPr lang="en-US" sz="1300" dirty="0">
                <a:solidFill>
                  <a:srgbClr val="3A536B"/>
                </a:solidFill>
                <a:latin typeface="Calibri" pitchFamily="34" charset="0"/>
                <a:ea typeface="Calibri" pitchFamily="34" charset="-122"/>
                <a:cs typeface="Calibri" pitchFamily="34" charset="-120"/>
              </a:rPr>
              <a:t>The program is arithmetically correct and completely wrong.</a:t>
            </a:r>
            <a:endParaRPr lang="en-US" sz="1300" dirty="0"/>
          </a:p>
        </p:txBody>
      </p:sp>
      <p:sp>
        <p:nvSpPr>
          <p:cNvPr id="15" name="Shape 13"/>
          <p:cNvSpPr/>
          <p:nvPr/>
        </p:nvSpPr>
        <p:spPr>
          <a:xfrm>
            <a:off x="6278728" y="1581912"/>
            <a:ext cx="5346040" cy="1929384"/>
          </a:xfrm>
          <a:prstGeom prst="roundRect">
            <a:avLst>
              <a:gd name="adj" fmla="val 3318"/>
            </a:avLst>
          </a:prstGeom>
          <a:solidFill>
            <a:srgbClr val="EDF2F7"/>
          </a:solidFill>
          <a:ln w="12700">
            <a:solidFill>
              <a:srgbClr val="CFDBE5"/>
            </a:solidFill>
            <a:prstDash val="solid"/>
          </a:ln>
        </p:spPr>
      </p:sp>
      <p:sp>
        <p:nvSpPr>
          <p:cNvPr id="16" name="Text 14"/>
          <p:cNvSpPr txBox="1"/>
          <p:nvPr/>
        </p:nvSpPr>
        <p:spPr>
          <a:xfrm>
            <a:off x="6425032" y="1627632"/>
            <a:ext cx="505343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WHAT WE WANT</a:t>
            </a:r>
            <a:endParaRPr lang="en-US" sz="950" dirty="0"/>
          </a:p>
        </p:txBody>
      </p:sp>
      <p:sp>
        <p:nvSpPr>
          <p:cNvPr id="17" name="Text 15"/>
          <p:cNvSpPr txBox="1"/>
          <p:nvPr/>
        </p:nvSpPr>
        <p:spPr>
          <a:xfrm>
            <a:off x="6443320" y="1856232"/>
            <a:ext cx="5016856" cy="1600200"/>
          </a:xfrm>
          <a:prstGeom prst="rect">
            <a:avLst/>
          </a:prstGeom>
          <a:noFill/>
          <a:ln/>
        </p:spPr>
        <p:txBody>
          <a:bodyPr wrap="square" lIns="0" tIns="0" rIns="0" bIns="0" rtlCol="0" anchor="t"/>
          <a:lstStyle/>
          <a:p>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area</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568A"/>
                </a:solidFill>
                <a:latin typeface="Courier New" pitchFamily="34" charset="0"/>
                <a:ea typeface="Courier New" pitchFamily="34" charset="-122"/>
                <a:cs typeface="Courier New" pitchFamily="34" charset="-120"/>
              </a:rPr>
              <a:t>Math</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PI</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614A"/>
                </a:solidFill>
                <a:latin typeface="Courier New" pitchFamily="34" charset="0"/>
                <a:ea typeface="Courier New" pitchFamily="34" charset="-122"/>
                <a:cs typeface="Courier New" pitchFamily="34" charset="-120"/>
              </a:rPr>
              <a:t>"The area is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area</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else</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614A"/>
                </a:solidFill>
                <a:latin typeface="Courier New" pitchFamily="34" charset="0"/>
                <a:ea typeface="Courier New" pitchFamily="34" charset="-122"/>
                <a:cs typeface="Courier New" pitchFamily="34" charset="-120"/>
              </a:rPr>
              <a:t>"Negative radius"</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p:txBody>
      </p:sp>
      <p:sp>
        <p:nvSpPr>
          <p:cNvPr id="18" name="Shape 16"/>
          <p:cNvSpPr/>
          <p:nvPr/>
        </p:nvSpPr>
        <p:spPr>
          <a:xfrm>
            <a:off x="6278728" y="3730752"/>
            <a:ext cx="5346040" cy="691515"/>
          </a:xfrm>
          <a:prstGeom prst="roundRect">
            <a:avLst>
              <a:gd name="adj" fmla="val 9256"/>
            </a:avLst>
          </a:prstGeom>
          <a:solidFill>
            <a:srgbClr val="FFFFFF"/>
          </a:solidFill>
          <a:ln w="12700">
            <a:solidFill>
              <a:srgbClr val="4B6377"/>
            </a:solidFill>
            <a:prstDash val="solid"/>
          </a:ln>
        </p:spPr>
      </p:sp>
      <p:sp>
        <p:nvSpPr>
          <p:cNvPr id="19" name="Text 17"/>
          <p:cNvSpPr txBox="1"/>
          <p:nvPr/>
        </p:nvSpPr>
        <p:spPr>
          <a:xfrm>
            <a:off x="6425032" y="3803904"/>
            <a:ext cx="505343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20" name="Text 18"/>
          <p:cNvSpPr txBox="1"/>
          <p:nvPr/>
        </p:nvSpPr>
        <p:spPr>
          <a:xfrm>
            <a:off x="6425032" y="4005072"/>
            <a:ext cx="5053432" cy="325755"/>
          </a:xfrm>
          <a:prstGeom prst="rect">
            <a:avLst/>
          </a:prstGeom>
          <a:noFill/>
          <a:ln/>
        </p:spPr>
        <p:txBody>
          <a:bodyPr wrap="square" lIns="0" tIns="0" rIns="0" bIns="0" rtlCol="0" anchor="t"/>
          <a:lstStyle/>
          <a:p>
            <a:pPr indent="0" marL="0">
              <a:lnSpc>
                <a:spcPct val="110000"/>
              </a:lnSpc>
              <a:buNone/>
            </a:pPr>
            <a:r>
              <a:rPr lang="en-US" sz="1250" dirty="0">
                <a:solidFill>
                  <a:srgbClr val="0F2942"/>
                </a:solidFill>
                <a:latin typeface="Courier New" pitchFamily="34" charset="0"/>
                <a:ea typeface="Courier New" pitchFamily="34" charset="-122"/>
                <a:cs typeface="Courier New" pitchFamily="34" charset="-120"/>
              </a:rPr>
              <a:t>Negative radius</a:t>
            </a:r>
            <a:endParaRPr lang="en-US" sz="1250" dirty="0"/>
          </a:p>
        </p:txBody>
      </p:sp>
      <p:sp>
        <p:nvSpPr>
          <p:cNvPr id="21" name="Shape 19"/>
          <p:cNvSpPr/>
          <p:nvPr/>
        </p:nvSpPr>
        <p:spPr>
          <a:xfrm>
            <a:off x="6278728" y="4660011"/>
            <a:ext cx="5346040" cy="960120"/>
          </a:xfrm>
          <a:prstGeom prst="roundRect">
            <a:avLst>
              <a:gd name="adj" fmla="val 8571"/>
            </a:avLst>
          </a:prstGeom>
          <a:solidFill>
            <a:srgbClr val="E6F2EC"/>
          </a:solidFill>
          <a:ln w="12700">
            <a:solidFill>
              <a:srgbClr val="E6F2EC"/>
            </a:solidFill>
            <a:prstDash val="solid"/>
          </a:ln>
        </p:spPr>
      </p:sp>
      <p:sp>
        <p:nvSpPr>
          <p:cNvPr id="22" name="Text 20"/>
          <p:cNvSpPr txBox="1"/>
          <p:nvPr/>
        </p:nvSpPr>
        <p:spPr>
          <a:xfrm>
            <a:off x="6553048" y="4660011"/>
            <a:ext cx="4797400" cy="960120"/>
          </a:xfrm>
          <a:prstGeom prst="rect">
            <a:avLst/>
          </a:prstGeom>
          <a:noFill/>
          <a:ln/>
        </p:spPr>
        <p:txBody>
          <a:bodyPr wrap="square" lIns="0" tIns="0" rIns="0" bIns="0" rtlCol="0" anchor="ctr"/>
          <a:lstStyle/>
          <a:p>
            <a:pPr indent="0" marL="0">
              <a:lnSpc>
                <a:spcPct val="112000"/>
              </a:lnSpc>
              <a:buNone/>
            </a:pPr>
            <a:r>
              <a:rPr lang="en-US" sz="1300" b="1" dirty="0">
                <a:solidFill>
                  <a:srgbClr val="176240"/>
                </a:solidFill>
                <a:latin typeface="Calibri" pitchFamily="34" charset="0"/>
                <a:ea typeface="Calibri" pitchFamily="34" charset="-122"/>
                <a:cs typeface="Calibri" pitchFamily="34" charset="-120"/>
              </a:rPr>
              <a:t>A selection statement  </a:t>
            </a:r>
            <a:pPr indent="0" marL="0">
              <a:lnSpc>
                <a:spcPct val="112000"/>
              </a:lnSpc>
              <a:buNone/>
            </a:pPr>
            <a:r>
              <a:rPr lang="en-US" sz="1300" dirty="0">
                <a:solidFill>
                  <a:srgbClr val="3A536B"/>
                </a:solidFill>
                <a:latin typeface="Calibri" pitchFamily="34" charset="0"/>
                <a:ea typeface="Calibri" pitchFamily="34" charset="-122"/>
                <a:cs typeface="Calibri" pitchFamily="34" charset="-120"/>
              </a:rPr>
              <a:t>lets one run of the program take a different path from the next.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CONDITIONS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The boolean Type and the Six Relational Operators</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A Boolean expression evaluates to exactly one of two values: true or false. Both are Java keywords.</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5</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7498080" cy="914400"/>
        </p:xfrm>
        <a:graphic>
          <a:graphicData uri="http://schemas.openxmlformats.org/drawingml/2006/table">
            <a:tbl>
              <a:tblPr/>
              <a:tblGrid>
                <a:gridCol w="777240"/>
                <a:gridCol w="777240"/>
                <a:gridCol w="2194560"/>
                <a:gridCol w="2286000"/>
                <a:gridCol w="1463040"/>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Java</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Maths</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Name</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Example (radius is 5)</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347472">
                <a:tc>
                  <a:txBody>
                    <a:bodyPr/>
                    <a:lstStyle/>
                    <a:p>
                      <a:pPr indent="0" marL="0">
                        <a:buNone/>
                      </a:pPr>
                      <a:r>
                        <a:rPr lang="en-US" sz="1100" b="1" dirty="0">
                          <a:solidFill>
                            <a:srgbClr val="9A430A"/>
                          </a:solidFill>
                          <a:latin typeface="Courier New" pitchFamily="34" charset="0"/>
                          <a:ea typeface="Courier New" pitchFamily="34" charset="-122"/>
                          <a:cs typeface="Courier New" pitchFamily="34" charset="-120"/>
                        </a:rPr>
                        <a:t>&lt;</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&lt;</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less than</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radius &lt; 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b="1" dirty="0">
                          <a:solidFill>
                            <a:srgbClr val="9C241C"/>
                          </a:solidFill>
                          <a:latin typeface="Courier New" pitchFamily="34" charset="0"/>
                          <a:ea typeface="Courier New" pitchFamily="34" charset="-122"/>
                          <a:cs typeface="Courier New" pitchFamily="34" charset="-120"/>
                        </a:rPr>
                        <a:t>false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47472">
                <a:tc>
                  <a:txBody>
                    <a:bodyPr/>
                    <a:lstStyle/>
                    <a:p>
                      <a:pPr indent="0" marL="0">
                        <a:buNone/>
                      </a:pPr>
                      <a:r>
                        <a:rPr lang="en-US" sz="1100" b="1" dirty="0">
                          <a:solidFill>
                            <a:srgbClr val="9A430A"/>
                          </a:solidFill>
                          <a:latin typeface="Courier New" pitchFamily="34" charset="0"/>
                          <a:ea typeface="Courier New" pitchFamily="34" charset="-122"/>
                          <a:cs typeface="Courier New" pitchFamily="34" charset="-120"/>
                        </a:rPr>
                        <a:t>&lt;=</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less than or equal to</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radius &lt;= 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b="1" dirty="0">
                          <a:solidFill>
                            <a:srgbClr val="9C241C"/>
                          </a:solidFill>
                          <a:latin typeface="Courier New" pitchFamily="34" charset="0"/>
                          <a:ea typeface="Courier New" pitchFamily="34" charset="-122"/>
                          <a:cs typeface="Courier New" pitchFamily="34" charset="-120"/>
                        </a:rPr>
                        <a:t>false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rgbClr val="9A430A"/>
                          </a:solidFill>
                          <a:latin typeface="Courier New" pitchFamily="34" charset="0"/>
                          <a:ea typeface="Courier New" pitchFamily="34" charset="-122"/>
                          <a:cs typeface="Courier New" pitchFamily="34" charset="-120"/>
                        </a:rPr>
                        <a:t>&gt;</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&gt;</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greater than</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radius &gt; 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b="1" dirty="0">
                          <a:solidFill>
                            <a:srgbClr val="176240"/>
                          </a:solidFill>
                          <a:latin typeface="Courier New" pitchFamily="34" charset="0"/>
                          <a:ea typeface="Courier New" pitchFamily="34" charset="-122"/>
                          <a:cs typeface="Courier New" pitchFamily="34" charset="-120"/>
                        </a:rPr>
                        <a:t>true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47472">
                <a:tc>
                  <a:txBody>
                    <a:bodyPr/>
                    <a:lstStyle/>
                    <a:p>
                      <a:pPr indent="0" marL="0">
                        <a:buNone/>
                      </a:pPr>
                      <a:r>
                        <a:rPr lang="en-US" sz="1100" b="1" dirty="0">
                          <a:solidFill>
                            <a:srgbClr val="9A430A"/>
                          </a:solidFill>
                          <a:latin typeface="Courier New" pitchFamily="34" charset="0"/>
                          <a:ea typeface="Courier New" pitchFamily="34" charset="-122"/>
                          <a:cs typeface="Courier New" pitchFamily="34" charset="-120"/>
                        </a:rPr>
                        <a:t>&gt;=</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greater than or equal to</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radius &gt;= 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b="1" dirty="0">
                          <a:solidFill>
                            <a:srgbClr val="176240"/>
                          </a:solidFill>
                          <a:latin typeface="Courier New" pitchFamily="34" charset="0"/>
                          <a:ea typeface="Courier New" pitchFamily="34" charset="-122"/>
                          <a:cs typeface="Courier New" pitchFamily="34" charset="-120"/>
                        </a:rPr>
                        <a:t>true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rgbClr val="9A430A"/>
                          </a:solidFill>
                          <a:latin typeface="Courier New" pitchFamily="34" charset="0"/>
                          <a:ea typeface="Courier New" pitchFamily="34" charset="-122"/>
                          <a:cs typeface="Courier New" pitchFamily="34" charset="-120"/>
                        </a:rPr>
                        <a:t>==</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equal to</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radius == 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b="1" dirty="0">
                          <a:solidFill>
                            <a:srgbClr val="9C241C"/>
                          </a:solidFill>
                          <a:latin typeface="Courier New" pitchFamily="34" charset="0"/>
                          <a:ea typeface="Courier New" pitchFamily="34" charset="-122"/>
                          <a:cs typeface="Courier New" pitchFamily="34" charset="-120"/>
                        </a:rPr>
                        <a:t>false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47472">
                <a:tc>
                  <a:txBody>
                    <a:bodyPr/>
                    <a:lstStyle/>
                    <a:p>
                      <a:pPr indent="0" marL="0">
                        <a:buNone/>
                      </a:pPr>
                      <a:r>
                        <a:rPr lang="en-US" sz="1100" b="1" dirty="0">
                          <a:solidFill>
                            <a:srgbClr val="9A430A"/>
                          </a:solidFill>
                          <a:latin typeface="Courier New" pitchFamily="34" charset="0"/>
                          <a:ea typeface="Courier New" pitchFamily="34" charset="-122"/>
                          <a:cs typeface="Courier New" pitchFamily="34" charset="-120"/>
                        </a:rPr>
                        <a:t>!=</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not equal to</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radius != 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b="1" dirty="0">
                          <a:solidFill>
                            <a:srgbClr val="176240"/>
                          </a:solidFill>
                          <a:latin typeface="Courier New" pitchFamily="34" charset="0"/>
                          <a:ea typeface="Courier New" pitchFamily="34" charset="-122"/>
                          <a:cs typeface="Courier New" pitchFamily="34" charset="-120"/>
                        </a:rPr>
                        <a:t>true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bl>
          </a:graphicData>
        </a:graphic>
      </p:graphicFrame>
      <p:sp>
        <p:nvSpPr>
          <p:cNvPr id="8" name="Shape 5"/>
          <p:cNvSpPr/>
          <p:nvPr/>
        </p:nvSpPr>
        <p:spPr>
          <a:xfrm>
            <a:off x="8385048" y="1536192"/>
            <a:ext cx="3239719" cy="1405981"/>
          </a:xfrm>
          <a:prstGeom prst="roundRect">
            <a:avLst>
              <a:gd name="adj" fmla="val 4553"/>
            </a:avLst>
          </a:prstGeom>
          <a:solidFill>
            <a:srgbClr val="EDF2F7"/>
          </a:solidFill>
          <a:ln w="12700">
            <a:solidFill>
              <a:srgbClr val="CFDBE5"/>
            </a:solidFill>
            <a:prstDash val="solid"/>
          </a:ln>
        </p:spPr>
      </p:sp>
      <p:sp>
        <p:nvSpPr>
          <p:cNvPr id="9" name="Text 6"/>
          <p:cNvSpPr txBox="1"/>
          <p:nvPr/>
        </p:nvSpPr>
        <p:spPr>
          <a:xfrm>
            <a:off x="8531352" y="1581912"/>
            <a:ext cx="294711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STORE IT LIKE ANY OTHER VALUE</a:t>
            </a:r>
            <a:endParaRPr lang="en-US" sz="950" dirty="0"/>
          </a:p>
        </p:txBody>
      </p:sp>
      <p:sp>
        <p:nvSpPr>
          <p:cNvPr id="10" name="Text 7"/>
          <p:cNvSpPr txBox="1"/>
          <p:nvPr/>
        </p:nvSpPr>
        <p:spPr>
          <a:xfrm>
            <a:off x="8549640" y="1810512"/>
            <a:ext cx="2910535" cy="1076797"/>
          </a:xfrm>
          <a:prstGeom prst="rect">
            <a:avLst/>
          </a:prstGeom>
          <a:noFill/>
          <a:ln/>
        </p:spPr>
        <p:txBody>
          <a:bodyPr wrap="square" lIns="0" tIns="0" rIns="0" bIns="0" rtlCol="0" anchor="t"/>
          <a:lstStyle/>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boolean</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isEven</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boolean</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valid</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endParaRPr lang="en-US" sz="1200" dirty="0"/>
          </a:p>
          <a:p>
            <a:pPr indent="0" marL="0">
              <a:lnSpc>
                <a:spcPct val="112000"/>
              </a:lnSpc>
              <a:buNone/>
            </a:pPr>
            <a:r>
              <a:rPr lang="en-US" sz="12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p:txBody>
      </p:sp>
      <p:sp>
        <p:nvSpPr>
          <p:cNvPr id="11" name="Shape 8"/>
          <p:cNvSpPr/>
          <p:nvPr/>
        </p:nvSpPr>
        <p:spPr>
          <a:xfrm>
            <a:off x="8385048" y="3143341"/>
            <a:ext cx="3239719" cy="682142"/>
          </a:xfrm>
          <a:prstGeom prst="roundRect">
            <a:avLst>
              <a:gd name="adj" fmla="val 9383"/>
            </a:avLst>
          </a:prstGeom>
          <a:solidFill>
            <a:srgbClr val="FFFFFF"/>
          </a:solidFill>
          <a:ln w="12700">
            <a:solidFill>
              <a:srgbClr val="4B6377"/>
            </a:solidFill>
            <a:prstDash val="solid"/>
          </a:ln>
        </p:spPr>
      </p:sp>
      <p:sp>
        <p:nvSpPr>
          <p:cNvPr id="12" name="Text 9"/>
          <p:cNvSpPr txBox="1"/>
          <p:nvPr/>
        </p:nvSpPr>
        <p:spPr>
          <a:xfrm>
            <a:off x="8531352" y="3216493"/>
            <a:ext cx="294711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3" name="Text 10"/>
          <p:cNvSpPr txBox="1"/>
          <p:nvPr/>
        </p:nvSpPr>
        <p:spPr>
          <a:xfrm>
            <a:off x="8531352" y="3417661"/>
            <a:ext cx="2947111" cy="316382"/>
          </a:xfrm>
          <a:prstGeom prst="rect">
            <a:avLst/>
          </a:prstGeom>
          <a:noFill/>
          <a:ln/>
        </p:spPr>
        <p:txBody>
          <a:bodyPr wrap="square" lIns="0" tIns="0" rIns="0" bIns="0" rtlCol="0" anchor="t"/>
          <a:lstStyle/>
          <a:p>
            <a:pPr indent="0" marL="0">
              <a:lnSpc>
                <a:spcPct val="110000"/>
              </a:lnSpc>
              <a:buNone/>
            </a:pPr>
            <a:r>
              <a:rPr lang="en-US" sz="1200" dirty="0">
                <a:solidFill>
                  <a:srgbClr val="0F2942"/>
                </a:solidFill>
                <a:latin typeface="Courier New" pitchFamily="34" charset="0"/>
                <a:ea typeface="Courier New" pitchFamily="34" charset="-122"/>
                <a:cs typeface="Courier New" pitchFamily="34" charset="-120"/>
              </a:rPr>
              <a:t>false</a:t>
            </a:r>
            <a:endParaRPr lang="en-US" sz="1200" dirty="0"/>
          </a:p>
        </p:txBody>
      </p:sp>
      <p:sp>
        <p:nvSpPr>
          <p:cNvPr id="14" name="Shape 11"/>
          <p:cNvSpPr/>
          <p:nvPr/>
        </p:nvSpPr>
        <p:spPr>
          <a:xfrm>
            <a:off x="8385048" y="4063228"/>
            <a:ext cx="3239719" cy="1371600"/>
          </a:xfrm>
          <a:prstGeom prst="roundRect">
            <a:avLst>
              <a:gd name="adj" fmla="val 6000"/>
            </a:avLst>
          </a:prstGeom>
          <a:solidFill>
            <a:srgbClr val="FBEAE8"/>
          </a:solidFill>
          <a:ln w="12700">
            <a:solidFill>
              <a:srgbClr val="FBEAE8"/>
            </a:solidFill>
            <a:prstDash val="solid"/>
          </a:ln>
        </p:spPr>
      </p:sp>
      <p:sp>
        <p:nvSpPr>
          <p:cNvPr id="15" name="Text 12"/>
          <p:cNvSpPr txBox="1"/>
          <p:nvPr/>
        </p:nvSpPr>
        <p:spPr>
          <a:xfrm>
            <a:off x="8622792" y="4209532"/>
            <a:ext cx="2764231" cy="292608"/>
          </a:xfrm>
          <a:prstGeom prst="rect">
            <a:avLst/>
          </a:prstGeom>
          <a:noFill/>
          <a:ln/>
        </p:spPr>
        <p:txBody>
          <a:bodyPr wrap="square" lIns="0" tIns="0" rIns="0" bIns="0" rtlCol="0" anchor="ctr"/>
          <a:lstStyle/>
          <a:p>
            <a:pPr indent="0" marL="0">
              <a:buNone/>
            </a:pPr>
            <a:r>
              <a:rPr lang="en-US" sz="1400" b="1" dirty="0">
                <a:solidFill>
                  <a:srgbClr val="9C241C"/>
                </a:solidFill>
                <a:latin typeface="Calibri" pitchFamily="34" charset="0"/>
                <a:ea typeface="Calibri" pitchFamily="34" charset="-122"/>
                <a:cs typeface="Calibri" pitchFamily="34" charset="-120"/>
              </a:rPr>
              <a:t>= is not ==</a:t>
            </a:r>
            <a:endParaRPr lang="en-US" sz="1400" dirty="0"/>
          </a:p>
        </p:txBody>
      </p:sp>
      <p:sp>
        <p:nvSpPr>
          <p:cNvPr id="16" name="Text 13"/>
          <p:cNvSpPr txBox="1"/>
          <p:nvPr/>
        </p:nvSpPr>
        <p:spPr>
          <a:xfrm>
            <a:off x="8622792" y="4520428"/>
            <a:ext cx="2764231" cy="822960"/>
          </a:xfrm>
          <a:prstGeom prst="rect">
            <a:avLst/>
          </a:prstGeom>
          <a:noFill/>
          <a:ln/>
        </p:spPr>
        <p:txBody>
          <a:bodyPr wrap="square" lIns="0" tIns="0" rIns="0" bIns="0" rtlCol="0" anchor="t"/>
          <a:lstStyle/>
          <a:p>
            <a:pPr indent="0" marL="0">
              <a:lnSpc>
                <a:spcPct val="110000"/>
              </a:lnSpc>
              <a:buNone/>
            </a:pPr>
            <a:r>
              <a:rPr lang="en-US" sz="1150" dirty="0">
                <a:solidFill>
                  <a:srgbClr val="3A536B"/>
                </a:solidFill>
                <a:latin typeface="Calibri" pitchFamily="34" charset="0"/>
                <a:ea typeface="Calibri" pitchFamily="34" charset="-122"/>
                <a:cs typeface="Calibri" pitchFamily="34" charset="-120"/>
              </a:rPr>
              <a:t>One equals sign assigns. Two compare. Java will not let you write if (x = 1) unless x is boolean — which is precisely why that one case bites.</a:t>
            </a:r>
            <a:endParaRPr lang="en-US" sz="1150" dirty="0"/>
          </a:p>
        </p:txBody>
      </p:sp>
      <p:sp>
        <p:nvSpPr>
          <p:cNvPr id="17" name="Shape 14"/>
          <p:cNvSpPr/>
          <p:nvPr/>
        </p:nvSpPr>
        <p:spPr>
          <a:xfrm>
            <a:off x="566928" y="4050792"/>
            <a:ext cx="7498080" cy="1463040"/>
          </a:xfrm>
          <a:prstGeom prst="roundRect">
            <a:avLst>
              <a:gd name="adj" fmla="val 5625"/>
            </a:avLst>
          </a:prstGeom>
          <a:solidFill>
            <a:srgbClr val="E4ECF4"/>
          </a:solidFill>
          <a:ln w="12700">
            <a:solidFill>
              <a:srgbClr val="E4ECF4"/>
            </a:solidFill>
            <a:prstDash val="solid"/>
          </a:ln>
        </p:spPr>
      </p:sp>
      <p:sp>
        <p:nvSpPr>
          <p:cNvPr id="18" name="Text 15"/>
          <p:cNvSpPr txBox="1"/>
          <p:nvPr/>
        </p:nvSpPr>
        <p:spPr>
          <a:xfrm>
            <a:off x="841248" y="4215384"/>
            <a:ext cx="6949440" cy="292608"/>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Careful with &lt;= and &gt;=</a:t>
            </a:r>
            <a:endParaRPr lang="en-US" sz="1400" dirty="0"/>
          </a:p>
        </p:txBody>
      </p:sp>
      <p:sp>
        <p:nvSpPr>
          <p:cNvPr id="19" name="Text 16"/>
          <p:cNvSpPr txBox="1"/>
          <p:nvPr/>
        </p:nvSpPr>
        <p:spPr>
          <a:xfrm>
            <a:off x="841248" y="4535424"/>
            <a:ext cx="6949440" cy="868680"/>
          </a:xfrm>
          <a:prstGeom prst="rect">
            <a:avLst/>
          </a:prstGeom>
          <a:noFill/>
          <a:ln/>
        </p:spPr>
        <p:txBody>
          <a:bodyPr wrap="square" lIns="0" tIns="0" rIns="0" bIns="0" rtlCol="0" anchor="t"/>
          <a:lstStyle/>
          <a:p>
            <a:pPr indent="0" marL="0">
              <a:lnSpc>
                <a:spcPct val="112000"/>
              </a:lnSpc>
              <a:buNone/>
            </a:pPr>
            <a:r>
              <a:rPr lang="en-US" sz="1250" b="1" dirty="0">
                <a:solidFill>
                  <a:srgbClr val="9C241C"/>
                </a:solidFill>
                <a:latin typeface="Courier New" pitchFamily="34" charset="0"/>
                <a:ea typeface="Courier New" pitchFamily="34" charset="-122"/>
                <a:cs typeface="Courier New" pitchFamily="34" charset="-120"/>
              </a:rPr>
              <a:t>=&lt;</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 and </a:t>
            </a:r>
            <a:pPr indent="0" marL="0">
              <a:lnSpc>
                <a:spcPct val="112000"/>
              </a:lnSpc>
              <a:buNone/>
            </a:pPr>
            <a:r>
              <a:rPr lang="en-US" sz="1250" b="1" dirty="0">
                <a:solidFill>
                  <a:srgbClr val="9C241C"/>
                </a:solidFill>
                <a:latin typeface="Courier New" pitchFamily="34" charset="0"/>
                <a:ea typeface="Courier New" pitchFamily="34" charset="-122"/>
                <a:cs typeface="Courier New" pitchFamily="34" charset="-120"/>
              </a:rPr>
              <a:t>=&gt;</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 are not Java. The equals sign goes second. And </a:t>
            </a:r>
            <a:pPr indent="0" marL="0">
              <a:lnSpc>
                <a:spcPct val="112000"/>
              </a:lnSpc>
              <a:buNone/>
            </a:pPr>
            <a:r>
              <a:rPr lang="en-US" sz="1250" b="1" dirty="0">
                <a:solidFill>
                  <a:srgbClr val="9A430A"/>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 compares primitives by value — for Strings you need </a:t>
            </a:r>
            <a:pPr indent="0" marL="0">
              <a:lnSpc>
                <a:spcPct val="112000"/>
              </a:lnSpc>
              <a:buNone/>
            </a:pPr>
            <a:r>
              <a:rPr lang="en-US" sz="1250" b="1" dirty="0">
                <a:solidFill>
                  <a:srgbClr val="9A430A"/>
                </a:solidFill>
                <a:latin typeface="Courier New" pitchFamily="34" charset="0"/>
                <a:ea typeface="Courier New" pitchFamily="34" charset="-122"/>
                <a:cs typeface="Courier New" pitchFamily="34" charset="-120"/>
              </a:rPr>
              <a:t>.equals()</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 which we will meet properly in Chapter 4.</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SELECTION 01</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The One-Way if Statement</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Run a block of statements only when a condition holds. Otherwise skip it entirely.</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6</a:t>
            </a:r>
            <a:endParaRPr lang="en-US" sz="900" dirty="0"/>
          </a:p>
        </p:txBody>
      </p:sp>
      <p:sp>
        <p:nvSpPr>
          <p:cNvPr id="7" name="Shape 5"/>
          <p:cNvSpPr/>
          <p:nvPr/>
        </p:nvSpPr>
        <p:spPr>
          <a:xfrm>
            <a:off x="566928" y="1536192"/>
            <a:ext cx="4937760" cy="1289670"/>
          </a:xfrm>
          <a:prstGeom prst="roundRect">
            <a:avLst>
              <a:gd name="adj" fmla="val 4963"/>
            </a:avLst>
          </a:prstGeom>
          <a:solidFill>
            <a:srgbClr val="EDF2F7"/>
          </a:solidFill>
          <a:ln w="12700">
            <a:solidFill>
              <a:srgbClr val="CFDBE5"/>
            </a:solidFill>
            <a:prstDash val="solid"/>
          </a:ln>
        </p:spPr>
      </p:sp>
      <p:sp>
        <p:nvSpPr>
          <p:cNvPr id="8" name="Text 6"/>
          <p:cNvSpPr txBox="1"/>
          <p:nvPr/>
        </p:nvSpPr>
        <p:spPr>
          <a:xfrm>
            <a:off x="713232" y="1581912"/>
            <a:ext cx="464515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SYNTAX</a:t>
            </a:r>
            <a:endParaRPr lang="en-US" sz="950" dirty="0"/>
          </a:p>
        </p:txBody>
      </p:sp>
      <p:sp>
        <p:nvSpPr>
          <p:cNvPr id="9" name="Text 7"/>
          <p:cNvSpPr txBox="1"/>
          <p:nvPr/>
        </p:nvSpPr>
        <p:spPr>
          <a:xfrm>
            <a:off x="731520" y="1810512"/>
            <a:ext cx="4608576" cy="960486"/>
          </a:xfrm>
          <a:prstGeom prst="rect">
            <a:avLst/>
          </a:prstGeom>
          <a:noFill/>
          <a:ln/>
        </p:spPr>
        <p:txBody>
          <a:bodyPr wrap="square" lIns="0" tIns="0" rIns="0" bIns="0" rtlCol="0" anchor="t"/>
          <a:lstStyle/>
          <a:p>
            <a:pPr indent="0" marL="0">
              <a:lnSpc>
                <a:spcPct val="112000"/>
              </a:lnSpc>
              <a:buNone/>
            </a:pPr>
            <a:r>
              <a:rPr lang="en-US" sz="14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4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4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400" dirty="0">
                <a:solidFill>
                  <a:srgbClr val="9A3412"/>
                </a:solidFill>
                <a:latin typeface="Courier New" pitchFamily="34" charset="0"/>
                <a:ea typeface="Courier New" pitchFamily="34" charset="-122"/>
                <a:cs typeface="Courier New" pitchFamily="34" charset="-120"/>
              </a:rPr>
              <a:t>boolean</a:t>
            </a:r>
            <a:pPr indent="0" marL="0">
              <a:lnSpc>
                <a:spcPct val="112000"/>
              </a:lnSpc>
              <a:buNone/>
            </a:pPr>
            <a:r>
              <a:rPr lang="en-US" sz="14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400" dirty="0">
                <a:solidFill>
                  <a:srgbClr val="14293C"/>
                </a:solidFill>
                <a:latin typeface="Courier New" pitchFamily="34" charset="0"/>
                <a:ea typeface="Courier New" pitchFamily="34" charset="-122"/>
                <a:cs typeface="Courier New" pitchFamily="34" charset="-120"/>
              </a:rPr>
              <a:t>expression</a:t>
            </a:r>
            <a:pPr indent="0" marL="0">
              <a:lnSpc>
                <a:spcPct val="112000"/>
              </a:lnSpc>
              <a:buNone/>
            </a:pPr>
            <a:r>
              <a:rPr lang="en-US" sz="14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4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400" dirty="0">
                <a:solidFill>
                  <a:srgbClr val="33485C"/>
                </a:solidFill>
                <a:latin typeface="Courier New" pitchFamily="34" charset="0"/>
                <a:ea typeface="Courier New" pitchFamily="34" charset="-122"/>
                <a:cs typeface="Courier New" pitchFamily="34" charset="-120"/>
              </a:rPr>
              <a:t>{</a:t>
            </a:r>
            <a:endParaRPr lang="en-US" sz="1400" dirty="0"/>
          </a:p>
          <a:p>
            <a:pPr indent="0" marL="0">
              <a:lnSpc>
                <a:spcPct val="112000"/>
              </a:lnSpc>
              <a:buNone/>
            </a:pPr>
            <a:r>
              <a:rPr lang="en-US" sz="14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4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400" dirty="0">
                <a:solidFill>
                  <a:srgbClr val="14293C"/>
                </a:solidFill>
                <a:latin typeface="Courier New" pitchFamily="34" charset="0"/>
                <a:ea typeface="Courier New" pitchFamily="34" charset="-122"/>
                <a:cs typeface="Courier New" pitchFamily="34" charset="-120"/>
              </a:rPr>
              <a:t>statement</a:t>
            </a:r>
            <a:pPr indent="0" marL="0">
              <a:lnSpc>
                <a:spcPct val="112000"/>
              </a:lnSpc>
              <a:buNone/>
            </a:pPr>
            <a:r>
              <a:rPr lang="en-US" sz="14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400" dirty="0">
                <a:solidFill>
                  <a:srgbClr val="14293C"/>
                </a:solidFill>
                <a:latin typeface="Courier New" pitchFamily="34" charset="0"/>
                <a:ea typeface="Courier New" pitchFamily="34" charset="-122"/>
                <a:cs typeface="Courier New" pitchFamily="34" charset="-120"/>
              </a:rPr>
              <a:t>s</a:t>
            </a:r>
            <a:pPr indent="0" marL="0">
              <a:lnSpc>
                <a:spcPct val="112000"/>
              </a:lnSpc>
              <a:buNone/>
            </a:pPr>
            <a:r>
              <a:rPr lang="en-US" sz="14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400" dirty="0">
                <a:solidFill>
                  <a:srgbClr val="33485C"/>
                </a:solidFill>
                <a:latin typeface="Courier New" pitchFamily="34" charset="0"/>
                <a:ea typeface="Courier New" pitchFamily="34" charset="-122"/>
                <a:cs typeface="Courier New" pitchFamily="34" charset="-120"/>
              </a:rPr>
              <a:t>;</a:t>
            </a:r>
            <a:endParaRPr lang="en-US" sz="1400" dirty="0"/>
          </a:p>
          <a:p>
            <a:pPr indent="0" marL="0">
              <a:lnSpc>
                <a:spcPct val="112000"/>
              </a:lnSpc>
              <a:buNone/>
            </a:pPr>
            <a:r>
              <a:rPr lang="en-US" sz="1400" dirty="0">
                <a:solidFill>
                  <a:srgbClr val="33485C"/>
                </a:solidFill>
                <a:latin typeface="Courier New" pitchFamily="34" charset="0"/>
                <a:ea typeface="Courier New" pitchFamily="34" charset="-122"/>
                <a:cs typeface="Courier New" pitchFamily="34" charset="-120"/>
              </a:rPr>
              <a:t>}</a:t>
            </a:r>
            <a:endParaRPr lang="en-US" sz="1400" dirty="0"/>
          </a:p>
        </p:txBody>
      </p:sp>
      <p:sp>
        <p:nvSpPr>
          <p:cNvPr id="10" name="Shape 8"/>
          <p:cNvSpPr/>
          <p:nvPr/>
        </p:nvSpPr>
        <p:spPr>
          <a:xfrm>
            <a:off x="566928" y="3100182"/>
            <a:ext cx="4937760" cy="1638605"/>
          </a:xfrm>
          <a:prstGeom prst="roundRect">
            <a:avLst>
              <a:gd name="adj" fmla="val 3906"/>
            </a:avLst>
          </a:prstGeom>
          <a:solidFill>
            <a:srgbClr val="EDF2F7"/>
          </a:solidFill>
          <a:ln w="12700">
            <a:solidFill>
              <a:srgbClr val="CFDBE5"/>
            </a:solidFill>
            <a:prstDash val="solid"/>
          </a:ln>
        </p:spPr>
      </p:sp>
      <p:sp>
        <p:nvSpPr>
          <p:cNvPr id="11" name="Text 9"/>
          <p:cNvSpPr txBox="1"/>
          <p:nvPr/>
        </p:nvSpPr>
        <p:spPr>
          <a:xfrm>
            <a:off x="713232" y="3145902"/>
            <a:ext cx="464515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EXAMPLE</a:t>
            </a:r>
            <a:endParaRPr lang="en-US" sz="950" dirty="0"/>
          </a:p>
        </p:txBody>
      </p:sp>
      <p:sp>
        <p:nvSpPr>
          <p:cNvPr id="12" name="Text 10"/>
          <p:cNvSpPr txBox="1"/>
          <p:nvPr/>
        </p:nvSpPr>
        <p:spPr>
          <a:xfrm>
            <a:off x="731520" y="3374502"/>
            <a:ext cx="4608576" cy="1309421"/>
          </a:xfrm>
          <a:prstGeom prst="rect">
            <a:avLst/>
          </a:prstGeom>
          <a:noFill/>
          <a:ln/>
        </p:spPr>
        <p:txBody>
          <a:bodyPr wrap="square" lIns="0" tIns="0" rIns="0" bIns="0" rtlCol="0" anchor="t"/>
          <a:lstStyle/>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area</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568A"/>
                </a:solidFill>
                <a:latin typeface="Courier New" pitchFamily="34" charset="0"/>
                <a:ea typeface="Courier New" pitchFamily="34" charset="-122"/>
                <a:cs typeface="Courier New" pitchFamily="34" charset="-120"/>
              </a:rPr>
              <a:t>Math</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PI</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614A"/>
                </a:solidFill>
                <a:latin typeface="Courier New" pitchFamily="34" charset="0"/>
                <a:ea typeface="Courier New" pitchFamily="34" charset="-122"/>
                <a:cs typeface="Courier New" pitchFamily="34" charset="-120"/>
              </a:rPr>
              <a:t>"The area for the circle"</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614A"/>
                </a:solidFill>
                <a:latin typeface="Courier New" pitchFamily="34" charset="0"/>
                <a:ea typeface="Courier New" pitchFamily="34" charset="-122"/>
                <a:cs typeface="Courier New" pitchFamily="34" charset="-120"/>
              </a:rPr>
              <a:t>" of radius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614A"/>
                </a:solidFill>
                <a:latin typeface="Courier New" pitchFamily="34" charset="0"/>
                <a:ea typeface="Courier New" pitchFamily="34" charset="-122"/>
                <a:cs typeface="Courier New" pitchFamily="34" charset="-120"/>
              </a:rPr>
              <a:t>" is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area</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566928" y="5013107"/>
            <a:ext cx="4937760" cy="1325880"/>
          </a:xfrm>
          <a:prstGeom prst="roundRect">
            <a:avLst>
              <a:gd name="adj" fmla="val 6207"/>
            </a:avLst>
          </a:prstGeom>
          <a:solidFill>
            <a:srgbClr val="FBEEE0"/>
          </a:solidFill>
          <a:ln w="12700">
            <a:solidFill>
              <a:srgbClr val="FBEEE0"/>
            </a:solidFill>
            <a:prstDash val="solid"/>
          </a:ln>
        </p:spPr>
      </p:sp>
      <p:sp>
        <p:nvSpPr>
          <p:cNvPr id="14" name="Text 12"/>
          <p:cNvSpPr txBox="1"/>
          <p:nvPr/>
        </p:nvSpPr>
        <p:spPr>
          <a:xfrm>
            <a:off x="822960" y="5159411"/>
            <a:ext cx="4425696" cy="274320"/>
          </a:xfrm>
          <a:prstGeom prst="rect">
            <a:avLst/>
          </a:prstGeom>
          <a:noFill/>
          <a:ln/>
        </p:spPr>
        <p:txBody>
          <a:bodyPr wrap="square" lIns="0" tIns="0" rIns="0" bIns="0" rtlCol="0" anchor="ctr"/>
          <a:lstStyle/>
          <a:p>
            <a:pPr indent="0" marL="0">
              <a:buNone/>
            </a:pPr>
            <a:r>
              <a:rPr lang="en-US" sz="1350" b="1" dirty="0">
                <a:solidFill>
                  <a:srgbClr val="9A430A"/>
                </a:solidFill>
                <a:latin typeface="Calibri" pitchFamily="34" charset="0"/>
                <a:ea typeface="Calibri" pitchFamily="34" charset="-122"/>
                <a:cs typeface="Calibri" pitchFamily="34" charset="-120"/>
              </a:rPr>
              <a:t>Always use the braces</a:t>
            </a:r>
            <a:endParaRPr lang="en-US" sz="1350" dirty="0"/>
          </a:p>
        </p:txBody>
      </p:sp>
      <p:sp>
        <p:nvSpPr>
          <p:cNvPr id="15" name="Text 13"/>
          <p:cNvSpPr txBox="1"/>
          <p:nvPr/>
        </p:nvSpPr>
        <p:spPr>
          <a:xfrm>
            <a:off x="822960" y="5452019"/>
            <a:ext cx="4425696" cy="77724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They are optional for a single statement, but writing them every time removes a whole family of bugs — including the one on slide 9.</a:t>
            </a:r>
            <a:endParaRPr lang="en-US" sz="1200" dirty="0"/>
          </a:p>
        </p:txBody>
      </p:sp>
      <p:sp>
        <p:nvSpPr>
          <p:cNvPr id="16" name="Text 14"/>
          <p:cNvSpPr txBox="1"/>
          <p:nvPr/>
        </p:nvSpPr>
        <p:spPr>
          <a:xfrm>
            <a:off x="6007608" y="1536192"/>
            <a:ext cx="5617159" cy="219456"/>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HOW IT EXECUTES</a:t>
            </a:r>
            <a:endParaRPr lang="en-US" sz="950" dirty="0"/>
          </a:p>
        </p:txBody>
      </p:sp>
      <p:sp>
        <p:nvSpPr>
          <p:cNvPr id="17" name="Shape 15"/>
          <p:cNvSpPr/>
          <p:nvPr/>
        </p:nvSpPr>
        <p:spPr>
          <a:xfrm>
            <a:off x="7170268" y="1883664"/>
            <a:ext cx="3291840" cy="566928"/>
          </a:xfrm>
          <a:prstGeom prst="roundRect">
            <a:avLst>
              <a:gd name="adj" fmla="val 48387"/>
            </a:avLst>
          </a:prstGeom>
          <a:solidFill>
            <a:srgbClr val="FFFFFF"/>
          </a:solidFill>
          <a:ln w="19050">
            <a:solidFill>
              <a:srgbClr val="D3DEE7"/>
            </a:solidFill>
            <a:prstDash val="solid"/>
          </a:ln>
        </p:spPr>
      </p:sp>
      <p:sp>
        <p:nvSpPr>
          <p:cNvPr id="18" name="Text 16"/>
          <p:cNvSpPr txBox="1"/>
          <p:nvPr/>
        </p:nvSpPr>
        <p:spPr>
          <a:xfrm>
            <a:off x="7170268" y="1883664"/>
            <a:ext cx="3291840" cy="566928"/>
          </a:xfrm>
          <a:prstGeom prst="rect">
            <a:avLst/>
          </a:prstGeom>
          <a:noFill/>
          <a:ln/>
        </p:spPr>
        <p:txBody>
          <a:bodyPr wrap="square" lIns="0" tIns="0" rIns="0" bIns="0" rtlCol="0" anchor="ctr"/>
          <a:lstStyle/>
          <a:p>
            <a:pPr algn="ctr" indent="0" marL="0">
              <a:buNone/>
            </a:pPr>
            <a:r>
              <a:rPr lang="en-US" sz="1200" dirty="0">
                <a:solidFill>
                  <a:srgbClr val="3A536B"/>
                </a:solidFill>
                <a:latin typeface="Calibri" pitchFamily="34" charset="0"/>
                <a:ea typeface="Calibri" pitchFamily="34" charset="-122"/>
                <a:cs typeface="Calibri" pitchFamily="34" charset="-120"/>
              </a:rPr>
              <a:t>enter the if statement</a:t>
            </a:r>
            <a:endParaRPr lang="en-US" sz="1200" dirty="0"/>
          </a:p>
        </p:txBody>
      </p:sp>
      <p:sp>
        <p:nvSpPr>
          <p:cNvPr id="19" name="Shape 17"/>
          <p:cNvSpPr/>
          <p:nvPr/>
        </p:nvSpPr>
        <p:spPr>
          <a:xfrm>
            <a:off x="7444588" y="2615184"/>
            <a:ext cx="2743200" cy="1143000"/>
          </a:xfrm>
          <a:prstGeom prst="diamond">
            <a:avLst/>
          </a:prstGeom>
          <a:solidFill>
            <a:srgbClr val="E4ECF4"/>
          </a:solidFill>
          <a:ln w="19050">
            <a:solidFill>
              <a:srgbClr val="1D4468"/>
            </a:solidFill>
            <a:prstDash val="solid"/>
          </a:ln>
        </p:spPr>
      </p:sp>
      <p:sp>
        <p:nvSpPr>
          <p:cNvPr id="20" name="Text 18"/>
          <p:cNvSpPr txBox="1"/>
          <p:nvPr/>
        </p:nvSpPr>
        <p:spPr>
          <a:xfrm>
            <a:off x="7444588" y="2615184"/>
            <a:ext cx="2743200" cy="1143000"/>
          </a:xfrm>
          <a:prstGeom prst="rect">
            <a:avLst/>
          </a:prstGeom>
          <a:noFill/>
          <a:ln/>
        </p:spPr>
        <p:txBody>
          <a:bodyPr wrap="square" lIns="0" tIns="0" rIns="0" bIns="0" rtlCol="0" anchor="ctr"/>
          <a:lstStyle/>
          <a:p>
            <a:pPr algn="ctr" indent="0" marL="0">
              <a:lnSpc>
                <a:spcPct val="100000"/>
              </a:lnSpc>
              <a:buNone/>
            </a:pPr>
            <a:r>
              <a:rPr lang="en-US" sz="1100" b="1" dirty="0">
                <a:solidFill>
                  <a:srgbClr val="0F2942"/>
                </a:solidFill>
                <a:latin typeface="Courier New" pitchFamily="34" charset="0"/>
                <a:ea typeface="Courier New" pitchFamily="34" charset="-122"/>
                <a:cs typeface="Courier New" pitchFamily="34" charset="-120"/>
              </a:rPr>
              <a:t>boolean-</a:t>
            </a:r>
            <a:endParaRPr lang="en-US" sz="1100" dirty="0"/>
          </a:p>
          <a:p>
            <a:pPr algn="ctr" indent="0" marL="0">
              <a:lnSpc>
                <a:spcPct val="100000"/>
              </a:lnSpc>
              <a:buNone/>
            </a:pPr>
            <a:r>
              <a:rPr lang="en-US" sz="1100" b="1" dirty="0">
                <a:solidFill>
                  <a:srgbClr val="0F2942"/>
                </a:solidFill>
                <a:latin typeface="Courier New" pitchFamily="34" charset="0"/>
                <a:ea typeface="Courier New" pitchFamily="34" charset="-122"/>
                <a:cs typeface="Courier New" pitchFamily="34" charset="-120"/>
              </a:rPr>
              <a:t>expression</a:t>
            </a:r>
            <a:endParaRPr lang="en-US" sz="1100" dirty="0"/>
          </a:p>
        </p:txBody>
      </p:sp>
      <p:sp>
        <p:nvSpPr>
          <p:cNvPr id="21" name="Text 19"/>
          <p:cNvSpPr txBox="1"/>
          <p:nvPr/>
        </p:nvSpPr>
        <p:spPr>
          <a:xfrm>
            <a:off x="7170268" y="3822192"/>
            <a:ext cx="1188720" cy="237744"/>
          </a:xfrm>
          <a:prstGeom prst="rect">
            <a:avLst/>
          </a:prstGeom>
          <a:noFill/>
          <a:ln/>
        </p:spPr>
        <p:txBody>
          <a:bodyPr wrap="square" lIns="0" tIns="0" rIns="0" bIns="0" rtlCol="0" anchor="ctr"/>
          <a:lstStyle/>
          <a:p>
            <a:pPr algn="ctr" indent="0" marL="0">
              <a:buNone/>
            </a:pPr>
            <a:r>
              <a:rPr lang="en-US" sz="1100" b="1" dirty="0">
                <a:solidFill>
                  <a:srgbClr val="176240"/>
                </a:solidFill>
                <a:latin typeface="Calibri" pitchFamily="34" charset="0"/>
                <a:ea typeface="Calibri" pitchFamily="34" charset="-122"/>
                <a:cs typeface="Calibri" pitchFamily="34" charset="-120"/>
              </a:rPr>
              <a:t>true</a:t>
            </a:r>
            <a:endParaRPr lang="en-US" sz="1100" dirty="0"/>
          </a:p>
        </p:txBody>
      </p:sp>
      <p:sp>
        <p:nvSpPr>
          <p:cNvPr id="22" name="Text 20"/>
          <p:cNvSpPr txBox="1"/>
          <p:nvPr/>
        </p:nvSpPr>
        <p:spPr>
          <a:xfrm>
            <a:off x="9273388" y="2907792"/>
            <a:ext cx="1188720" cy="237744"/>
          </a:xfrm>
          <a:prstGeom prst="rect">
            <a:avLst/>
          </a:prstGeom>
          <a:noFill/>
          <a:ln/>
        </p:spPr>
        <p:txBody>
          <a:bodyPr wrap="square" lIns="0" tIns="0" rIns="0" bIns="0" rtlCol="0" anchor="ctr"/>
          <a:lstStyle/>
          <a:p>
            <a:pPr algn="r" indent="0" marL="0">
              <a:buNone/>
            </a:pPr>
            <a:r>
              <a:rPr lang="en-US" sz="1100" b="1" dirty="0">
                <a:solidFill>
                  <a:srgbClr val="9A430A"/>
                </a:solidFill>
                <a:latin typeface="Calibri" pitchFamily="34" charset="0"/>
                <a:ea typeface="Calibri" pitchFamily="34" charset="-122"/>
                <a:cs typeface="Calibri" pitchFamily="34" charset="-120"/>
              </a:rPr>
              <a:t>false</a:t>
            </a:r>
            <a:endParaRPr lang="en-US" sz="1100" dirty="0"/>
          </a:p>
        </p:txBody>
      </p:sp>
      <p:sp>
        <p:nvSpPr>
          <p:cNvPr id="23" name="Shape 21"/>
          <p:cNvSpPr/>
          <p:nvPr/>
        </p:nvSpPr>
        <p:spPr>
          <a:xfrm>
            <a:off x="7444588" y="4114800"/>
            <a:ext cx="2743200" cy="621792"/>
          </a:xfrm>
          <a:prstGeom prst="roundRect">
            <a:avLst>
              <a:gd name="adj" fmla="val 11765"/>
            </a:avLst>
          </a:prstGeom>
          <a:solidFill>
            <a:srgbClr val="E6F2EC"/>
          </a:solidFill>
          <a:ln w="19050">
            <a:solidFill>
              <a:srgbClr val="176240"/>
            </a:solidFill>
            <a:prstDash val="solid"/>
          </a:ln>
        </p:spPr>
      </p:sp>
      <p:sp>
        <p:nvSpPr>
          <p:cNvPr id="24" name="Text 22"/>
          <p:cNvSpPr txBox="1"/>
          <p:nvPr/>
        </p:nvSpPr>
        <p:spPr>
          <a:xfrm>
            <a:off x="7444588" y="4114800"/>
            <a:ext cx="2743200" cy="621792"/>
          </a:xfrm>
          <a:prstGeom prst="rect">
            <a:avLst/>
          </a:prstGeom>
          <a:noFill/>
          <a:ln/>
        </p:spPr>
        <p:txBody>
          <a:bodyPr wrap="square" lIns="0" tIns="0" rIns="0" bIns="0" rtlCol="0" anchor="ctr"/>
          <a:lstStyle/>
          <a:p>
            <a:pPr algn="ctr" indent="0" marL="0">
              <a:buNone/>
            </a:pPr>
            <a:r>
              <a:rPr lang="en-US" sz="1200" b="1" dirty="0">
                <a:solidFill>
                  <a:srgbClr val="176240"/>
                </a:solidFill>
                <a:latin typeface="Courier New" pitchFamily="34" charset="0"/>
                <a:ea typeface="Courier New" pitchFamily="34" charset="-122"/>
                <a:cs typeface="Courier New" pitchFamily="34" charset="-120"/>
              </a:rPr>
              <a:t>statement(s)</a:t>
            </a:r>
            <a:endParaRPr lang="en-US" sz="1200" dirty="0"/>
          </a:p>
        </p:txBody>
      </p:sp>
      <p:sp>
        <p:nvSpPr>
          <p:cNvPr id="25" name="Shape 23"/>
          <p:cNvSpPr/>
          <p:nvPr/>
        </p:nvSpPr>
        <p:spPr>
          <a:xfrm>
            <a:off x="7170268" y="4919472"/>
            <a:ext cx="3291840" cy="566928"/>
          </a:xfrm>
          <a:prstGeom prst="roundRect">
            <a:avLst>
              <a:gd name="adj" fmla="val 48387"/>
            </a:avLst>
          </a:prstGeom>
          <a:solidFill>
            <a:srgbClr val="FFFFFF"/>
          </a:solidFill>
          <a:ln w="19050">
            <a:solidFill>
              <a:srgbClr val="D3DEE7"/>
            </a:solidFill>
            <a:prstDash val="solid"/>
          </a:ln>
        </p:spPr>
      </p:sp>
      <p:sp>
        <p:nvSpPr>
          <p:cNvPr id="26" name="Text 24"/>
          <p:cNvSpPr txBox="1"/>
          <p:nvPr/>
        </p:nvSpPr>
        <p:spPr>
          <a:xfrm>
            <a:off x="7170268" y="4919472"/>
            <a:ext cx="3291840" cy="566928"/>
          </a:xfrm>
          <a:prstGeom prst="rect">
            <a:avLst/>
          </a:prstGeom>
          <a:noFill/>
          <a:ln/>
        </p:spPr>
        <p:txBody>
          <a:bodyPr wrap="square" lIns="0" tIns="0" rIns="0" bIns="0" rtlCol="0" anchor="ctr"/>
          <a:lstStyle/>
          <a:p>
            <a:pPr algn="ctr" indent="0" marL="0">
              <a:buNone/>
            </a:pPr>
            <a:r>
              <a:rPr lang="en-US" sz="1200" dirty="0">
                <a:solidFill>
                  <a:srgbClr val="3A536B"/>
                </a:solidFill>
                <a:latin typeface="Calibri" pitchFamily="34" charset="0"/>
                <a:ea typeface="Calibri" pitchFamily="34" charset="-122"/>
                <a:cs typeface="Calibri" pitchFamily="34" charset="-120"/>
              </a:rPr>
              <a:t>carry on after the if</a:t>
            </a:r>
            <a:endParaRPr lang="en-US" sz="1200" dirty="0"/>
          </a:p>
        </p:txBody>
      </p:sp>
      <p:sp>
        <p:nvSpPr>
          <p:cNvPr id="27" name="Shape 25"/>
          <p:cNvSpPr/>
          <p:nvPr/>
        </p:nvSpPr>
        <p:spPr>
          <a:xfrm>
            <a:off x="8816188" y="2450592"/>
            <a:ext cx="0" cy="164592"/>
          </a:xfrm>
          <a:prstGeom prst="line">
            <a:avLst/>
          </a:prstGeom>
          <a:noFill/>
          <a:ln w="19050">
            <a:solidFill>
              <a:srgbClr val="1D4468"/>
            </a:solidFill>
            <a:prstDash val="solid"/>
            <a:tailEnd type="triangle"/>
          </a:ln>
        </p:spPr>
      </p:sp>
      <p:sp>
        <p:nvSpPr>
          <p:cNvPr id="28" name="Shape 26"/>
          <p:cNvSpPr/>
          <p:nvPr/>
        </p:nvSpPr>
        <p:spPr>
          <a:xfrm>
            <a:off x="8816188" y="3758184"/>
            <a:ext cx="0" cy="356616"/>
          </a:xfrm>
          <a:prstGeom prst="line">
            <a:avLst/>
          </a:prstGeom>
          <a:noFill/>
          <a:ln w="19050">
            <a:solidFill>
              <a:srgbClr val="1D4468"/>
            </a:solidFill>
            <a:prstDash val="solid"/>
            <a:tailEnd type="triangle"/>
          </a:ln>
        </p:spPr>
      </p:sp>
      <p:sp>
        <p:nvSpPr>
          <p:cNvPr id="29" name="Shape 27"/>
          <p:cNvSpPr/>
          <p:nvPr/>
        </p:nvSpPr>
        <p:spPr>
          <a:xfrm>
            <a:off x="8816188" y="4736592"/>
            <a:ext cx="0" cy="182880"/>
          </a:xfrm>
          <a:prstGeom prst="line">
            <a:avLst/>
          </a:prstGeom>
          <a:noFill/>
          <a:ln w="19050">
            <a:solidFill>
              <a:srgbClr val="1D4468"/>
            </a:solidFill>
            <a:prstDash val="solid"/>
            <a:tailEnd type="triangle"/>
          </a:ln>
        </p:spPr>
      </p:sp>
      <p:sp>
        <p:nvSpPr>
          <p:cNvPr id="30" name="Shape 28"/>
          <p:cNvSpPr/>
          <p:nvPr/>
        </p:nvSpPr>
        <p:spPr>
          <a:xfrm>
            <a:off x="10187788" y="3182112"/>
            <a:ext cx="384048" cy="0"/>
          </a:xfrm>
          <a:prstGeom prst="line">
            <a:avLst/>
          </a:prstGeom>
          <a:noFill/>
          <a:ln w="19050">
            <a:solidFill>
              <a:srgbClr val="C4560C"/>
            </a:solidFill>
            <a:prstDash val="solid"/>
          </a:ln>
        </p:spPr>
      </p:sp>
      <p:sp>
        <p:nvSpPr>
          <p:cNvPr id="31" name="Shape 29"/>
          <p:cNvSpPr/>
          <p:nvPr/>
        </p:nvSpPr>
        <p:spPr>
          <a:xfrm>
            <a:off x="10571836" y="3182112"/>
            <a:ext cx="0" cy="2020824"/>
          </a:xfrm>
          <a:prstGeom prst="line">
            <a:avLst/>
          </a:prstGeom>
          <a:noFill/>
          <a:ln w="19050">
            <a:solidFill>
              <a:srgbClr val="C4560C"/>
            </a:solidFill>
            <a:prstDash val="solid"/>
          </a:ln>
        </p:spPr>
      </p:sp>
      <p:sp>
        <p:nvSpPr>
          <p:cNvPr id="32" name="Shape 30"/>
          <p:cNvSpPr/>
          <p:nvPr/>
        </p:nvSpPr>
        <p:spPr>
          <a:xfrm>
            <a:off x="10462108" y="5202936"/>
            <a:ext cx="109728" cy="0"/>
          </a:xfrm>
          <a:prstGeom prst="line">
            <a:avLst/>
          </a:prstGeom>
          <a:noFill/>
          <a:ln w="19050">
            <a:solidFill>
              <a:srgbClr val="C4560C"/>
            </a:solidFill>
            <a:prstDash val="solid"/>
            <a:headEnd type="triangle"/>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SELECTION 02</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The Two-Way if-else Statement</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Exactly one of the two blocks runs — never both, never neither.</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7</a:t>
            </a:r>
            <a:endParaRPr lang="en-US" sz="900" dirty="0"/>
          </a:p>
        </p:txBody>
      </p:sp>
      <p:sp>
        <p:nvSpPr>
          <p:cNvPr id="7" name="Shape 5"/>
          <p:cNvSpPr/>
          <p:nvPr/>
        </p:nvSpPr>
        <p:spPr>
          <a:xfrm>
            <a:off x="566928" y="1536192"/>
            <a:ext cx="5336896" cy="1735531"/>
          </a:xfrm>
          <a:prstGeom prst="roundRect">
            <a:avLst>
              <a:gd name="adj" fmla="val 3688"/>
            </a:avLst>
          </a:prstGeom>
          <a:solidFill>
            <a:srgbClr val="EDF2F7"/>
          </a:solidFill>
          <a:ln w="12700">
            <a:solidFill>
              <a:srgbClr val="CFDBE5"/>
            </a:solidFill>
            <a:prstDash val="solid"/>
          </a:ln>
        </p:spPr>
      </p:sp>
      <p:sp>
        <p:nvSpPr>
          <p:cNvPr id="8" name="Text 6"/>
          <p:cNvSpPr txBox="1"/>
          <p:nvPr/>
        </p:nvSpPr>
        <p:spPr>
          <a:xfrm>
            <a:off x="713232" y="1581912"/>
            <a:ext cx="5044288"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SYNTAX</a:t>
            </a:r>
            <a:endParaRPr lang="en-US" sz="950" dirty="0"/>
          </a:p>
        </p:txBody>
      </p:sp>
      <p:sp>
        <p:nvSpPr>
          <p:cNvPr id="9" name="Text 7"/>
          <p:cNvSpPr txBox="1"/>
          <p:nvPr/>
        </p:nvSpPr>
        <p:spPr>
          <a:xfrm>
            <a:off x="731520" y="1810512"/>
            <a:ext cx="5007712" cy="1406347"/>
          </a:xfrm>
          <a:prstGeom prst="rect">
            <a:avLst/>
          </a:prstGeom>
          <a:noFill/>
          <a:ln/>
        </p:spPr>
        <p:txBody>
          <a:bodyPr wrap="square" lIns="0" tIns="0" rIns="0" bIns="0" rtlCol="0" anchor="t"/>
          <a:lstStyle/>
          <a:p>
            <a:pPr indent="0" marL="0">
              <a:lnSpc>
                <a:spcPct val="112000"/>
              </a:lnSpc>
              <a:buNone/>
            </a:pPr>
            <a:r>
              <a:rPr lang="en-US" sz="13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9A3412"/>
                </a:solidFill>
                <a:latin typeface="Courier New" pitchFamily="34" charset="0"/>
                <a:ea typeface="Courier New" pitchFamily="34" charset="-122"/>
                <a:cs typeface="Courier New" pitchFamily="34" charset="-120"/>
              </a:rPr>
              <a:t>boolean</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expression</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endParaRPr lang="en-US" sz="1300" dirty="0"/>
          </a:p>
          <a:p>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statement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s</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the</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9A3412"/>
                </a:solidFill>
                <a:latin typeface="Courier New" pitchFamily="34" charset="0"/>
                <a:ea typeface="Courier New" pitchFamily="34" charset="-122"/>
                <a:cs typeface="Courier New" pitchFamily="34" charset="-120"/>
              </a:rPr>
              <a:t>true</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endParaRPr lang="en-US" sz="1300" dirty="0"/>
          </a:p>
          <a:p>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9A3412"/>
                </a:solidFill>
                <a:latin typeface="Courier New" pitchFamily="34" charset="0"/>
                <a:ea typeface="Courier New" pitchFamily="34" charset="-122"/>
                <a:cs typeface="Courier New" pitchFamily="34" charset="-120"/>
              </a:rPr>
              <a:t>else</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endParaRPr lang="en-US" sz="1300" dirty="0"/>
          </a:p>
          <a:p>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statement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s</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the</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9A3412"/>
                </a:solidFill>
                <a:latin typeface="Courier New" pitchFamily="34" charset="0"/>
                <a:ea typeface="Courier New" pitchFamily="34" charset="-122"/>
                <a:cs typeface="Courier New" pitchFamily="34" charset="-120"/>
              </a:rPr>
              <a:t>false</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endParaRPr lang="en-US" sz="1300" dirty="0"/>
          </a:p>
          <a:p>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endParaRPr lang="en-US" sz="1300" dirty="0"/>
          </a:p>
        </p:txBody>
      </p:sp>
      <p:sp>
        <p:nvSpPr>
          <p:cNvPr id="10" name="Shape 8"/>
          <p:cNvSpPr/>
          <p:nvPr/>
        </p:nvSpPr>
        <p:spPr>
          <a:xfrm>
            <a:off x="566928" y="3546043"/>
            <a:ext cx="5336896" cy="2036003"/>
          </a:xfrm>
          <a:prstGeom prst="roundRect">
            <a:avLst>
              <a:gd name="adj" fmla="val 3144"/>
            </a:avLst>
          </a:prstGeom>
          <a:solidFill>
            <a:srgbClr val="EDF2F7"/>
          </a:solidFill>
          <a:ln w="12700">
            <a:solidFill>
              <a:srgbClr val="CFDBE5"/>
            </a:solidFill>
            <a:prstDash val="solid"/>
          </a:ln>
        </p:spPr>
      </p:sp>
      <p:sp>
        <p:nvSpPr>
          <p:cNvPr id="11" name="Text 9"/>
          <p:cNvSpPr txBox="1"/>
          <p:nvPr/>
        </p:nvSpPr>
        <p:spPr>
          <a:xfrm>
            <a:off x="713232" y="3591763"/>
            <a:ext cx="5044288"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EXAMPLE</a:t>
            </a:r>
            <a:endParaRPr lang="en-US" sz="950" dirty="0"/>
          </a:p>
        </p:txBody>
      </p:sp>
      <p:sp>
        <p:nvSpPr>
          <p:cNvPr id="12" name="Text 10"/>
          <p:cNvSpPr txBox="1"/>
          <p:nvPr/>
        </p:nvSpPr>
        <p:spPr>
          <a:xfrm>
            <a:off x="731520" y="3820363"/>
            <a:ext cx="5007712" cy="1706819"/>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area</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Math</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PI</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"The area for the circle "</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"of radius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 is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area</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else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"Negative input"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3" name="Shape 11"/>
          <p:cNvSpPr/>
          <p:nvPr/>
        </p:nvSpPr>
        <p:spPr>
          <a:xfrm>
            <a:off x="6287872" y="1536192"/>
            <a:ext cx="5336896" cy="1367211"/>
          </a:xfrm>
          <a:prstGeom prst="roundRect">
            <a:avLst>
              <a:gd name="adj" fmla="val 4682"/>
            </a:avLst>
          </a:prstGeom>
          <a:solidFill>
            <a:srgbClr val="EDF2F7"/>
          </a:solidFill>
          <a:ln w="12700">
            <a:solidFill>
              <a:srgbClr val="CFDBE5"/>
            </a:solidFill>
            <a:prstDash val="solid"/>
          </a:ln>
        </p:spPr>
      </p:sp>
      <p:sp>
        <p:nvSpPr>
          <p:cNvPr id="14" name="Text 12"/>
          <p:cNvSpPr txBox="1"/>
          <p:nvPr/>
        </p:nvSpPr>
        <p:spPr>
          <a:xfrm>
            <a:off x="6434176" y="1581912"/>
            <a:ext cx="5044288"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BRACES ARE OPTIONAL FOR A SINGLE STATEMENT</a:t>
            </a:r>
            <a:endParaRPr lang="en-US" sz="950" dirty="0"/>
          </a:p>
        </p:txBody>
      </p:sp>
      <p:sp>
        <p:nvSpPr>
          <p:cNvPr id="15" name="Text 13"/>
          <p:cNvSpPr txBox="1"/>
          <p:nvPr/>
        </p:nvSpPr>
        <p:spPr>
          <a:xfrm>
            <a:off x="6452464" y="1810512"/>
            <a:ext cx="5007712" cy="1038027"/>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 is even."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else</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 is odd."</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6" name="Shape 14"/>
          <p:cNvSpPr/>
          <p:nvPr/>
        </p:nvSpPr>
        <p:spPr>
          <a:xfrm>
            <a:off x="6287872" y="3159435"/>
            <a:ext cx="5336896" cy="1234440"/>
          </a:xfrm>
          <a:prstGeom prst="roundRect">
            <a:avLst>
              <a:gd name="adj" fmla="val 6667"/>
            </a:avLst>
          </a:prstGeom>
          <a:solidFill>
            <a:srgbClr val="FBEAE8"/>
          </a:solidFill>
          <a:ln w="12700">
            <a:solidFill>
              <a:srgbClr val="FBEAE8"/>
            </a:solidFill>
            <a:prstDash val="solid"/>
          </a:ln>
        </p:spPr>
      </p:sp>
      <p:sp>
        <p:nvSpPr>
          <p:cNvPr id="17" name="Text 15"/>
          <p:cNvSpPr txBox="1"/>
          <p:nvPr/>
        </p:nvSpPr>
        <p:spPr>
          <a:xfrm>
            <a:off x="6543904" y="3287451"/>
            <a:ext cx="4824832" cy="274320"/>
          </a:xfrm>
          <a:prstGeom prst="rect">
            <a:avLst/>
          </a:prstGeom>
          <a:noFill/>
          <a:ln/>
        </p:spPr>
        <p:txBody>
          <a:bodyPr wrap="square" lIns="0" tIns="0" rIns="0" bIns="0" rtlCol="0" anchor="ctr"/>
          <a:lstStyle/>
          <a:p>
            <a:pPr indent="0" marL="0">
              <a:buNone/>
            </a:pPr>
            <a:r>
              <a:rPr lang="en-US" sz="1350" b="1" dirty="0">
                <a:solidFill>
                  <a:srgbClr val="9C241C"/>
                </a:solidFill>
                <a:latin typeface="Calibri" pitchFamily="34" charset="0"/>
                <a:ea typeface="Calibri" pitchFamily="34" charset="-122"/>
                <a:cs typeface="Calibri" pitchFamily="34" charset="-120"/>
              </a:rPr>
              <a:t>but leave them out and this happens</a:t>
            </a:r>
            <a:endParaRPr lang="en-US" sz="1350" dirty="0"/>
          </a:p>
        </p:txBody>
      </p:sp>
      <p:sp>
        <p:nvSpPr>
          <p:cNvPr id="18" name="Text 16"/>
          <p:cNvSpPr txBox="1"/>
          <p:nvPr/>
        </p:nvSpPr>
        <p:spPr>
          <a:xfrm>
            <a:off x="6543904" y="3598347"/>
            <a:ext cx="4824832" cy="749808"/>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Add a second line to the true branch without adding braces and it runs unconditionally. Java does not read indentation.</a:t>
            </a:r>
            <a:endParaRPr lang="en-US" sz="1200" dirty="0"/>
          </a:p>
        </p:txBody>
      </p:sp>
      <p:sp>
        <p:nvSpPr>
          <p:cNvPr id="19" name="Shape 17"/>
          <p:cNvSpPr/>
          <p:nvPr/>
        </p:nvSpPr>
        <p:spPr>
          <a:xfrm>
            <a:off x="6287872" y="4595043"/>
            <a:ext cx="5336896" cy="1367211"/>
          </a:xfrm>
          <a:prstGeom prst="roundRect">
            <a:avLst>
              <a:gd name="adj" fmla="val 4682"/>
            </a:avLst>
          </a:prstGeom>
          <a:solidFill>
            <a:srgbClr val="EDF2F7"/>
          </a:solidFill>
          <a:ln w="12700">
            <a:solidFill>
              <a:srgbClr val="CFDBE5"/>
            </a:solidFill>
            <a:prstDash val="solid"/>
          </a:ln>
        </p:spPr>
      </p:sp>
      <p:sp>
        <p:nvSpPr>
          <p:cNvPr id="20" name="Text 18"/>
          <p:cNvSpPr txBox="1"/>
          <p:nvPr/>
        </p:nvSpPr>
        <p:spPr>
          <a:xfrm>
            <a:off x="6434176" y="4640763"/>
            <a:ext cx="5044288"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SimpleIfDemo — TWO SEPARATE ONE-WAY ifs</a:t>
            </a:r>
            <a:endParaRPr lang="en-US" sz="950" dirty="0"/>
          </a:p>
        </p:txBody>
      </p:sp>
      <p:sp>
        <p:nvSpPr>
          <p:cNvPr id="21" name="Text 19"/>
          <p:cNvSpPr txBox="1"/>
          <p:nvPr/>
        </p:nvSpPr>
        <p:spPr>
          <a:xfrm>
            <a:off x="6452464" y="4869363"/>
            <a:ext cx="5007712" cy="1038027"/>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"HiFive"</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"HiEven"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22" name="Text 20"/>
          <p:cNvSpPr txBox="1"/>
          <p:nvPr/>
        </p:nvSpPr>
        <p:spPr>
          <a:xfrm>
            <a:off x="6287872" y="6035406"/>
            <a:ext cx="5336896" cy="274320"/>
          </a:xfrm>
          <a:prstGeom prst="rect">
            <a:avLst/>
          </a:prstGeom>
          <a:noFill/>
          <a:ln/>
        </p:spPr>
        <p:txBody>
          <a:bodyPr wrap="square" lIns="0" tIns="0" rIns="0" bIns="0" rtlCol="0" anchor="ctr"/>
          <a:lstStyle/>
          <a:p>
            <a:pPr indent="0" marL="0">
              <a:buNone/>
            </a:pPr>
            <a:r>
              <a:rPr lang="en-US" sz="1150" i="1" dirty="0">
                <a:solidFill>
                  <a:srgbClr val="9A430A"/>
                </a:solidFill>
                <a:latin typeface="Calibri" pitchFamily="34" charset="0"/>
                <a:ea typeface="Calibri" pitchFamily="34" charset="-122"/>
                <a:cs typeface="Calibri" pitchFamily="34" charset="-120"/>
              </a:rPr>
              <a:t>Two independent tests, so an input of 10 prints both lines.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WORKED EXAMPLE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A Program That Asks a Different Question Every Time</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AdditionQuiz — Math.random() gives you the unpredictability; if-else grades the answer.</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8</a:t>
            </a:r>
            <a:endParaRPr lang="en-US" sz="900" dirty="0"/>
          </a:p>
        </p:txBody>
      </p:sp>
      <p:sp>
        <p:nvSpPr>
          <p:cNvPr id="7" name="Shape 5"/>
          <p:cNvSpPr/>
          <p:nvPr/>
        </p:nvSpPr>
        <p:spPr>
          <a:xfrm>
            <a:off x="566928" y="1536192"/>
            <a:ext cx="5943600" cy="4265310"/>
          </a:xfrm>
          <a:prstGeom prst="roundRect">
            <a:avLst>
              <a:gd name="adj" fmla="val 1501"/>
            </a:avLst>
          </a:prstGeom>
          <a:solidFill>
            <a:srgbClr val="EDF2F7"/>
          </a:solidFill>
          <a:ln w="12700">
            <a:solidFill>
              <a:srgbClr val="CFDBE5"/>
            </a:solidFill>
            <a:prstDash val="solid"/>
          </a:ln>
        </p:spPr>
      </p:sp>
      <p:sp>
        <p:nvSpPr>
          <p:cNvPr id="8" name="Text 6"/>
          <p:cNvSpPr txBox="1"/>
          <p:nvPr/>
        </p:nvSpPr>
        <p:spPr>
          <a:xfrm>
            <a:off x="713232" y="1581912"/>
            <a:ext cx="565099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AdditionQuiz.java</a:t>
            </a:r>
            <a:endParaRPr lang="en-US" sz="950" dirty="0"/>
          </a:p>
        </p:txBody>
      </p:sp>
      <p:sp>
        <p:nvSpPr>
          <p:cNvPr id="9" name="Text 7"/>
          <p:cNvSpPr txBox="1"/>
          <p:nvPr/>
        </p:nvSpPr>
        <p:spPr>
          <a:xfrm>
            <a:off x="731520" y="1810512"/>
            <a:ext cx="5614416" cy="3936126"/>
          </a:xfrm>
          <a:prstGeom prst="rect">
            <a:avLst/>
          </a:prstGeom>
          <a:noFill/>
          <a:ln/>
        </p:spPr>
        <p:txBody>
          <a:bodyPr wrap="square" lIns="0" tIns="0" rIns="0" bIns="0" rtlCol="0" anchor="t"/>
          <a:lstStyle/>
          <a:p>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1. two single-digit numbers, 0 to 9</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number1</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Math</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random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number2</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Math</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random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2. ask the question</a:t>
            </a:r>
            <a:endParaRPr lang="en-US" sz="1150" dirty="0"/>
          </a:p>
          <a:p>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Scanner</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Scanner</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"What is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number1</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 + "</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number2</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answer</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nextInt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3. grade it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number1</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number2</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answer</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"You are correct!"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else</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"Your answer is wrong.\n"</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number1</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 +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number2</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 should be "</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number1</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number2</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0" name="Shape 8"/>
          <p:cNvSpPr/>
          <p:nvPr/>
        </p:nvSpPr>
        <p:spPr>
          <a:xfrm>
            <a:off x="6922008" y="1536192"/>
            <a:ext cx="4702759" cy="907085"/>
          </a:xfrm>
          <a:prstGeom prst="roundRect">
            <a:avLst>
              <a:gd name="adj" fmla="val 7056"/>
            </a:avLst>
          </a:prstGeom>
          <a:solidFill>
            <a:srgbClr val="FFFFFF"/>
          </a:solidFill>
          <a:ln w="12700">
            <a:solidFill>
              <a:srgbClr val="4B6377"/>
            </a:solidFill>
            <a:prstDash val="solid"/>
          </a:ln>
        </p:spPr>
      </p:sp>
      <p:sp>
        <p:nvSpPr>
          <p:cNvPr id="11" name="Text 9"/>
          <p:cNvSpPr txBox="1"/>
          <p:nvPr/>
        </p:nvSpPr>
        <p:spPr>
          <a:xfrm>
            <a:off x="7068312" y="1609344"/>
            <a:ext cx="441015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2" name="Text 10"/>
          <p:cNvSpPr txBox="1"/>
          <p:nvPr/>
        </p:nvSpPr>
        <p:spPr>
          <a:xfrm>
            <a:off x="7068312" y="1810512"/>
            <a:ext cx="4410151" cy="541325"/>
          </a:xfrm>
          <a:prstGeom prst="rect">
            <a:avLst/>
          </a:prstGeom>
          <a:noFill/>
          <a:ln/>
        </p:spPr>
        <p:txBody>
          <a:bodyPr wrap="square" lIns="0" tIns="0" rIns="0" bIns="0" rtlCol="0" anchor="t"/>
          <a:lstStyle/>
          <a:p>
            <a:pPr indent="0" marL="0">
              <a:lnSpc>
                <a:spcPct val="110000"/>
              </a:lnSpc>
              <a:buNone/>
            </a:pPr>
            <a:r>
              <a:rPr lang="en-US" sz="1200" dirty="0">
                <a:solidFill>
                  <a:srgbClr val="0F2942"/>
                </a:solidFill>
                <a:latin typeface="Courier New" pitchFamily="34" charset="0"/>
                <a:ea typeface="Courier New" pitchFamily="34" charset="-122"/>
                <a:cs typeface="Courier New" pitchFamily="34" charset="-120"/>
              </a:rPr>
              <a:t>What is 1 + 7? 8</a:t>
            </a:r>
            <a:endParaRPr lang="en-US" sz="1200" dirty="0"/>
          </a:p>
          <a:p>
            <a:pPr indent="0" marL="0">
              <a:lnSpc>
                <a:spcPct val="110000"/>
              </a:lnSpc>
              <a:buNone/>
            </a:pPr>
            <a:r>
              <a:rPr lang="en-US" sz="1200" dirty="0">
                <a:solidFill>
                  <a:srgbClr val="0F2942"/>
                </a:solidFill>
                <a:latin typeface="Courier New" pitchFamily="34" charset="0"/>
                <a:ea typeface="Courier New" pitchFamily="34" charset="-122"/>
                <a:cs typeface="Courier New" pitchFamily="34" charset="-120"/>
              </a:rPr>
              <a:t>You are correct!</a:t>
            </a:r>
            <a:endParaRPr lang="en-US" sz="1200" dirty="0"/>
          </a:p>
        </p:txBody>
      </p:sp>
      <p:sp>
        <p:nvSpPr>
          <p:cNvPr id="13" name="Shape 11"/>
          <p:cNvSpPr/>
          <p:nvPr/>
        </p:nvSpPr>
        <p:spPr>
          <a:xfrm>
            <a:off x="6922008" y="2699309"/>
            <a:ext cx="4702759" cy="1325880"/>
          </a:xfrm>
          <a:prstGeom prst="roundRect">
            <a:avLst>
              <a:gd name="adj" fmla="val 6207"/>
            </a:avLst>
          </a:prstGeom>
          <a:solidFill>
            <a:srgbClr val="F1F5F9"/>
          </a:solidFill>
          <a:ln w="12700">
            <a:solidFill>
              <a:srgbClr val="F1F5F9"/>
            </a:solidFill>
            <a:prstDash val="solid"/>
          </a:ln>
        </p:spPr>
      </p:sp>
      <p:sp>
        <p:nvSpPr>
          <p:cNvPr id="14" name="Text 12"/>
          <p:cNvSpPr txBox="1"/>
          <p:nvPr/>
        </p:nvSpPr>
        <p:spPr>
          <a:xfrm>
            <a:off x="7141464" y="2863901"/>
            <a:ext cx="426384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Math.random() — read the brackets carefully</a:t>
            </a:r>
            <a:endParaRPr lang="en-US" sz="1450" dirty="0"/>
          </a:p>
        </p:txBody>
      </p:sp>
      <p:sp>
        <p:nvSpPr>
          <p:cNvPr id="15" name="Text 13"/>
          <p:cNvSpPr txBox="1"/>
          <p:nvPr/>
        </p:nvSpPr>
        <p:spPr>
          <a:xfrm>
            <a:off x="7141464" y="3193085"/>
            <a:ext cx="4263847" cy="70408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Returns a double d with 0.0 ≤ d &lt; 1.0. Multiply by 10 and you get 0.0 up to but never including 10.0; cast to int and the fraction is discarded, leaving a whole number from 0 to 9.</a:t>
            </a:r>
            <a:endParaRPr lang="en-US" sz="1200" dirty="0"/>
          </a:p>
        </p:txBody>
      </p:sp>
      <p:sp>
        <p:nvSpPr>
          <p:cNvPr id="16" name="Shape 14"/>
          <p:cNvSpPr/>
          <p:nvPr/>
        </p:nvSpPr>
        <p:spPr>
          <a:xfrm>
            <a:off x="6922008" y="4253789"/>
            <a:ext cx="4702759" cy="1115202"/>
          </a:xfrm>
          <a:prstGeom prst="roundRect">
            <a:avLst>
              <a:gd name="adj" fmla="val 5740"/>
            </a:avLst>
          </a:prstGeom>
          <a:solidFill>
            <a:srgbClr val="EDF2F7"/>
          </a:solidFill>
          <a:ln w="12700">
            <a:solidFill>
              <a:srgbClr val="CFDBE5"/>
            </a:solidFill>
            <a:prstDash val="solid"/>
          </a:ln>
        </p:spPr>
      </p:sp>
      <p:sp>
        <p:nvSpPr>
          <p:cNvPr id="17" name="Text 15"/>
          <p:cNvSpPr txBox="1"/>
          <p:nvPr/>
        </p:nvSpPr>
        <p:spPr>
          <a:xfrm>
            <a:off x="7068312" y="4299509"/>
            <a:ext cx="441015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THE GENERAL RECIPE: a + (int)(Math.random() * n)</a:t>
            </a:r>
            <a:endParaRPr lang="en-US" sz="950" dirty="0"/>
          </a:p>
        </p:txBody>
      </p:sp>
      <p:sp>
        <p:nvSpPr>
          <p:cNvPr id="18" name="Text 16"/>
          <p:cNvSpPr txBox="1"/>
          <p:nvPr/>
        </p:nvSpPr>
        <p:spPr>
          <a:xfrm>
            <a:off x="7086600" y="4528109"/>
            <a:ext cx="4373575" cy="786018"/>
          </a:xfrm>
          <a:prstGeom prst="rect">
            <a:avLst/>
          </a:prstGeom>
          <a:noFill/>
          <a:ln/>
        </p:spPr>
        <p:txBody>
          <a:bodyPr wrap="square" lIns="0" tIns="0" rIns="0" bIns="0" rtlCol="0" anchor="t"/>
          <a:lstStyle/>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Math</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random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0 .. 9</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Math</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random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6</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1 .. 6</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Math</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random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50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50</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50 .. 99</a:t>
            </a:r>
            <a:endParaRPr lang="en-US" sz="1100" dirty="0"/>
          </a:p>
        </p:txBody>
      </p:sp>
      <p:sp>
        <p:nvSpPr>
          <p:cNvPr id="19" name="Shape 17"/>
          <p:cNvSpPr/>
          <p:nvPr/>
        </p:nvSpPr>
        <p:spPr>
          <a:xfrm>
            <a:off x="6922008" y="5588447"/>
            <a:ext cx="4702759" cy="804672"/>
          </a:xfrm>
          <a:prstGeom prst="roundRect">
            <a:avLst>
              <a:gd name="adj" fmla="val 10227"/>
            </a:avLst>
          </a:prstGeom>
          <a:solidFill>
            <a:srgbClr val="FBEEE0"/>
          </a:solidFill>
          <a:ln w="12700">
            <a:solidFill>
              <a:srgbClr val="FBEEE0"/>
            </a:solidFill>
            <a:prstDash val="solid"/>
          </a:ln>
        </p:spPr>
      </p:sp>
      <p:sp>
        <p:nvSpPr>
          <p:cNvPr id="20" name="Text 18"/>
          <p:cNvSpPr txBox="1"/>
          <p:nvPr/>
        </p:nvSpPr>
        <p:spPr>
          <a:xfrm>
            <a:off x="7178040" y="5588447"/>
            <a:ext cx="4190695" cy="804672"/>
          </a:xfrm>
          <a:prstGeom prst="rect">
            <a:avLst/>
          </a:prstGeom>
          <a:noFill/>
          <a:ln/>
        </p:spPr>
        <p:txBody>
          <a:bodyPr wrap="square" lIns="0" tIns="0" rIns="0" bIns="0" rtlCol="0" anchor="ctr"/>
          <a:lstStyle/>
          <a:p>
            <a:pPr indent="0" marL="0">
              <a:lnSpc>
                <a:spcPct val="112000"/>
              </a:lnSpc>
              <a:buNone/>
            </a:pPr>
            <a:r>
              <a:rPr lang="en-US" sz="1200" b="1" dirty="0">
                <a:solidFill>
                  <a:srgbClr val="9A430A"/>
                </a:solidFill>
                <a:latin typeface="Calibri" pitchFamily="34" charset="0"/>
                <a:ea typeface="Calibri" pitchFamily="34" charset="-122"/>
                <a:cs typeface="Calibri" pitchFamily="34" charset="-120"/>
              </a:rPr>
              <a:t>The cast has to be outside.  </a:t>
            </a:r>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(int)Math.random() * 10 casts first, and is therefore always 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PITFALLS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Three Mistakes That Compile Perfectly and Still Go Wrong</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None of these is a syntax error. The compiler is happy; the program is not.</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9</a:t>
            </a:r>
            <a:endParaRPr lang="en-US" sz="900" dirty="0"/>
          </a:p>
        </p:txBody>
      </p:sp>
      <p:sp>
        <p:nvSpPr>
          <p:cNvPr id="7" name="Shape 5"/>
          <p:cNvSpPr/>
          <p:nvPr/>
        </p:nvSpPr>
        <p:spPr>
          <a:xfrm>
            <a:off x="566928" y="1536192"/>
            <a:ext cx="384048" cy="384048"/>
          </a:xfrm>
          <a:prstGeom prst="ellipse">
            <a:avLst/>
          </a:prstGeom>
          <a:solidFill>
            <a:srgbClr val="9C241C"/>
          </a:solidFill>
          <a:ln w="12700">
            <a:solidFill>
              <a:srgbClr val="9C241C"/>
            </a:solidFill>
            <a:prstDash val="solid"/>
          </a:ln>
        </p:spPr>
      </p:sp>
      <p:sp>
        <p:nvSpPr>
          <p:cNvPr id="8" name="Text 6"/>
          <p:cNvSpPr txBox="1"/>
          <p:nvPr/>
        </p:nvSpPr>
        <p:spPr>
          <a:xfrm>
            <a:off x="566928" y="15361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097280" y="1536192"/>
            <a:ext cx="4751680" cy="384048"/>
          </a:xfrm>
          <a:prstGeom prst="rect">
            <a:avLst/>
          </a:prstGeom>
          <a:noFill/>
          <a:ln/>
        </p:spPr>
        <p:txBody>
          <a:bodyPr wrap="square" lIns="0" tIns="0" rIns="0" bIns="0" rtlCol="0" anchor="ctr"/>
          <a:lstStyle/>
          <a:p>
            <a:pPr indent="0" marL="0">
              <a:buNone/>
            </a:pPr>
            <a:r>
              <a:rPr lang="en-US" sz="1500" b="1" dirty="0">
                <a:solidFill>
                  <a:srgbClr val="0F2942"/>
                </a:solidFill>
                <a:latin typeface="Calibri" pitchFamily="34" charset="0"/>
                <a:ea typeface="Calibri" pitchFamily="34" charset="-122"/>
                <a:cs typeface="Calibri" pitchFamily="34" charset="-120"/>
              </a:rPr>
              <a:t>The semicolon after if (...)</a:t>
            </a:r>
            <a:endParaRPr lang="en-US" sz="1500" dirty="0"/>
          </a:p>
        </p:txBody>
      </p:sp>
      <p:sp>
        <p:nvSpPr>
          <p:cNvPr id="10" name="Shape 8"/>
          <p:cNvSpPr/>
          <p:nvPr/>
        </p:nvSpPr>
        <p:spPr>
          <a:xfrm>
            <a:off x="566928" y="2039112"/>
            <a:ext cx="5300320" cy="1443838"/>
          </a:xfrm>
          <a:prstGeom prst="roundRect">
            <a:avLst>
              <a:gd name="adj" fmla="val 4433"/>
            </a:avLst>
          </a:prstGeom>
          <a:solidFill>
            <a:srgbClr val="EDF2F7"/>
          </a:solidFill>
          <a:ln w="12700">
            <a:solidFill>
              <a:srgbClr val="CFDBE5"/>
            </a:solidFill>
            <a:prstDash val="solid"/>
          </a:ln>
        </p:spPr>
      </p:sp>
      <p:sp>
        <p:nvSpPr>
          <p:cNvPr id="11" name="Text 9"/>
          <p:cNvSpPr txBox="1"/>
          <p:nvPr/>
        </p:nvSpPr>
        <p:spPr>
          <a:xfrm>
            <a:off x="731520" y="2176272"/>
            <a:ext cx="4971136" cy="1242670"/>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&lt;-- wrong</a:t>
            </a:r>
            <a:endParaRPr lang="en-US" sz="1150" dirty="0"/>
          </a:p>
          <a:p>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area</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Math</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PI</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"Area is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area</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2" name="Shape 10"/>
          <p:cNvSpPr/>
          <p:nvPr/>
        </p:nvSpPr>
        <p:spPr>
          <a:xfrm>
            <a:off x="566928" y="3684118"/>
            <a:ext cx="5300320" cy="1097280"/>
          </a:xfrm>
          <a:prstGeom prst="roundRect">
            <a:avLst>
              <a:gd name="adj" fmla="val 7500"/>
            </a:avLst>
          </a:prstGeom>
          <a:solidFill>
            <a:srgbClr val="FBEAE8"/>
          </a:solidFill>
          <a:ln w="12700">
            <a:solidFill>
              <a:srgbClr val="FBEAE8"/>
            </a:solidFill>
            <a:prstDash val="solid"/>
          </a:ln>
        </p:spPr>
      </p:sp>
      <p:sp>
        <p:nvSpPr>
          <p:cNvPr id="13" name="Text 11"/>
          <p:cNvSpPr txBox="1"/>
          <p:nvPr/>
        </p:nvSpPr>
        <p:spPr>
          <a:xfrm>
            <a:off x="822960" y="3684118"/>
            <a:ext cx="4788256" cy="1097280"/>
          </a:xfrm>
          <a:prstGeom prst="rect">
            <a:avLst/>
          </a:prstGeom>
          <a:noFill/>
          <a:ln/>
        </p:spPr>
        <p:txBody>
          <a:bodyPr wrap="square" lIns="0" tIns="0" rIns="0" bIns="0" rtlCol="0" anchor="ctr"/>
          <a:lstStyle/>
          <a:p>
            <a:pPr indent="0" marL="0">
              <a:lnSpc>
                <a:spcPct val="110000"/>
              </a:lnSpc>
              <a:buNone/>
            </a:pPr>
            <a:r>
              <a:rPr lang="en-US" sz="1150" dirty="0">
                <a:solidFill>
                  <a:srgbClr val="3A536B"/>
                </a:solidFill>
                <a:latin typeface="Calibri" pitchFamily="34" charset="0"/>
                <a:ea typeface="Calibri" pitchFamily="34" charset="-122"/>
                <a:cs typeface="Calibri" pitchFamily="34" charset="-120"/>
              </a:rPr>
              <a:t>The semicolon is the entire body of the if — an empty statement. The block below it then runs every single time, whatever the radius. A logic error, not a compile error, and it survives testing until the day someone enters a negative number.</a:t>
            </a:r>
            <a:endParaRPr lang="en-US" sz="1150" dirty="0"/>
          </a:p>
        </p:txBody>
      </p:sp>
      <p:sp>
        <p:nvSpPr>
          <p:cNvPr id="14" name="Shape 12"/>
          <p:cNvSpPr/>
          <p:nvPr/>
        </p:nvSpPr>
        <p:spPr>
          <a:xfrm>
            <a:off x="566928" y="4900270"/>
            <a:ext cx="384048" cy="384048"/>
          </a:xfrm>
          <a:prstGeom prst="ellipse">
            <a:avLst/>
          </a:prstGeom>
          <a:solidFill>
            <a:srgbClr val="9C241C"/>
          </a:solidFill>
          <a:ln w="12700">
            <a:solidFill>
              <a:srgbClr val="9C241C"/>
            </a:solidFill>
            <a:prstDash val="solid"/>
          </a:ln>
        </p:spPr>
      </p:sp>
      <p:sp>
        <p:nvSpPr>
          <p:cNvPr id="15" name="Text 13"/>
          <p:cNvSpPr txBox="1"/>
          <p:nvPr/>
        </p:nvSpPr>
        <p:spPr>
          <a:xfrm>
            <a:off x="566928" y="490027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txBox="1"/>
          <p:nvPr/>
        </p:nvSpPr>
        <p:spPr>
          <a:xfrm>
            <a:off x="1097280" y="4900270"/>
            <a:ext cx="4751680" cy="384048"/>
          </a:xfrm>
          <a:prstGeom prst="rect">
            <a:avLst/>
          </a:prstGeom>
          <a:noFill/>
          <a:ln/>
        </p:spPr>
        <p:txBody>
          <a:bodyPr wrap="square" lIns="0" tIns="0" rIns="0" bIns="0" rtlCol="0" anchor="ctr"/>
          <a:lstStyle/>
          <a:p>
            <a:pPr indent="0" marL="0">
              <a:buNone/>
            </a:pPr>
            <a:r>
              <a:rPr lang="en-US" sz="1500" b="1" dirty="0">
                <a:solidFill>
                  <a:srgbClr val="0F2942"/>
                </a:solidFill>
                <a:latin typeface="Calibri" pitchFamily="34" charset="0"/>
                <a:ea typeface="Calibri" pitchFamily="34" charset="-122"/>
                <a:cs typeface="Calibri" pitchFamily="34" charset="-120"/>
              </a:rPr>
              <a:t>Comparing a boolean with true</a:t>
            </a:r>
            <a:endParaRPr lang="en-US" sz="1500" dirty="0"/>
          </a:p>
        </p:txBody>
      </p:sp>
      <p:sp>
        <p:nvSpPr>
          <p:cNvPr id="17" name="Shape 15"/>
          <p:cNvSpPr/>
          <p:nvPr/>
        </p:nvSpPr>
        <p:spPr>
          <a:xfrm>
            <a:off x="566928" y="5384902"/>
            <a:ext cx="5300320" cy="997976"/>
          </a:xfrm>
          <a:prstGeom prst="roundRect">
            <a:avLst>
              <a:gd name="adj" fmla="val 6414"/>
            </a:avLst>
          </a:prstGeom>
          <a:solidFill>
            <a:srgbClr val="EDF2F7"/>
          </a:solidFill>
          <a:ln w="12700">
            <a:solidFill>
              <a:srgbClr val="CFDBE5"/>
            </a:solidFill>
            <a:prstDash val="solid"/>
          </a:ln>
        </p:spPr>
      </p:sp>
      <p:sp>
        <p:nvSpPr>
          <p:cNvPr id="18" name="Text 16"/>
          <p:cNvSpPr txBox="1"/>
          <p:nvPr/>
        </p:nvSpPr>
        <p:spPr>
          <a:xfrm>
            <a:off x="731520" y="5522062"/>
            <a:ext cx="4971136" cy="796808"/>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even</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true</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works, but noisy</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even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say what you mean</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even</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true</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assigns! always true</a:t>
            </a:r>
            <a:endParaRPr lang="en-US" sz="1150" dirty="0"/>
          </a:p>
        </p:txBody>
      </p:sp>
      <p:sp>
        <p:nvSpPr>
          <p:cNvPr id="19" name="Shape 17"/>
          <p:cNvSpPr/>
          <p:nvPr/>
        </p:nvSpPr>
        <p:spPr>
          <a:xfrm>
            <a:off x="6324448" y="1536192"/>
            <a:ext cx="384048" cy="384048"/>
          </a:xfrm>
          <a:prstGeom prst="ellipse">
            <a:avLst/>
          </a:prstGeom>
          <a:solidFill>
            <a:srgbClr val="9C241C"/>
          </a:solidFill>
          <a:ln w="12700">
            <a:solidFill>
              <a:srgbClr val="9C241C"/>
            </a:solidFill>
            <a:prstDash val="solid"/>
          </a:ln>
        </p:spPr>
      </p:sp>
      <p:sp>
        <p:nvSpPr>
          <p:cNvPr id="20" name="Text 18"/>
          <p:cNvSpPr txBox="1"/>
          <p:nvPr/>
        </p:nvSpPr>
        <p:spPr>
          <a:xfrm>
            <a:off x="6324448" y="15361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txBox="1"/>
          <p:nvPr/>
        </p:nvSpPr>
        <p:spPr>
          <a:xfrm>
            <a:off x="6854800" y="1536192"/>
            <a:ext cx="4751680" cy="384048"/>
          </a:xfrm>
          <a:prstGeom prst="rect">
            <a:avLst/>
          </a:prstGeom>
          <a:noFill/>
          <a:ln/>
        </p:spPr>
        <p:txBody>
          <a:bodyPr wrap="square" lIns="0" tIns="0" rIns="0" bIns="0" rtlCol="0" anchor="ctr"/>
          <a:lstStyle/>
          <a:p>
            <a:pPr indent="0" marL="0">
              <a:buNone/>
            </a:pPr>
            <a:r>
              <a:rPr lang="en-US" sz="1500" b="1" dirty="0">
                <a:solidFill>
                  <a:srgbClr val="0F2942"/>
                </a:solidFill>
                <a:latin typeface="Calibri" pitchFamily="34" charset="0"/>
                <a:ea typeface="Calibri" pitchFamily="34" charset="-122"/>
                <a:cs typeface="Calibri" pitchFamily="34" charset="-120"/>
              </a:rPr>
              <a:t>Duplicating the shared statement</a:t>
            </a:r>
            <a:endParaRPr lang="en-US" sz="1500" dirty="0"/>
          </a:p>
        </p:txBody>
      </p:sp>
      <p:sp>
        <p:nvSpPr>
          <p:cNvPr id="22" name="Shape 20"/>
          <p:cNvSpPr/>
          <p:nvPr/>
        </p:nvSpPr>
        <p:spPr>
          <a:xfrm>
            <a:off x="6324448" y="2039112"/>
            <a:ext cx="5300320" cy="1889699"/>
          </a:xfrm>
          <a:prstGeom prst="roundRect">
            <a:avLst>
              <a:gd name="adj" fmla="val 3387"/>
            </a:avLst>
          </a:prstGeom>
          <a:solidFill>
            <a:srgbClr val="EDF2F7"/>
          </a:solidFill>
          <a:ln w="12700">
            <a:solidFill>
              <a:srgbClr val="CFDBE5"/>
            </a:solidFill>
            <a:prstDash val="solid"/>
          </a:ln>
        </p:spPr>
      </p:sp>
      <p:sp>
        <p:nvSpPr>
          <p:cNvPr id="23" name="Text 21"/>
          <p:cNvSpPr txBox="1"/>
          <p:nvPr/>
        </p:nvSpPr>
        <p:spPr>
          <a:xfrm>
            <a:off x="6489040" y="2176272"/>
            <a:ext cx="4971136" cy="1688531"/>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"A"</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count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in both branches</a:t>
            </a:r>
            <a:endParaRPr lang="en-US" sz="1150" dirty="0"/>
          </a:p>
          <a:p>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else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"B"</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count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move it out</a:t>
            </a:r>
            <a:endParaRPr lang="en-US" sz="1150" dirty="0"/>
          </a:p>
          <a:p>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24" name="Shape 22"/>
          <p:cNvSpPr/>
          <p:nvPr/>
        </p:nvSpPr>
        <p:spPr>
          <a:xfrm>
            <a:off x="6324448" y="4129979"/>
            <a:ext cx="5300320" cy="1097280"/>
          </a:xfrm>
          <a:prstGeom prst="roundRect">
            <a:avLst>
              <a:gd name="adj" fmla="val 7500"/>
            </a:avLst>
          </a:prstGeom>
          <a:solidFill>
            <a:srgbClr val="FBEEE0"/>
          </a:solidFill>
          <a:ln w="12700">
            <a:solidFill>
              <a:srgbClr val="FBEEE0"/>
            </a:solidFill>
            <a:prstDash val="solid"/>
          </a:ln>
        </p:spPr>
      </p:sp>
      <p:sp>
        <p:nvSpPr>
          <p:cNvPr id="25" name="Text 23"/>
          <p:cNvSpPr txBox="1"/>
          <p:nvPr/>
        </p:nvSpPr>
        <p:spPr>
          <a:xfrm>
            <a:off x="6580480" y="4129979"/>
            <a:ext cx="4788256" cy="1097280"/>
          </a:xfrm>
          <a:prstGeom prst="rect">
            <a:avLst/>
          </a:prstGeom>
          <a:noFill/>
          <a:ln/>
        </p:spPr>
        <p:txBody>
          <a:bodyPr wrap="square" lIns="0" tIns="0" rIns="0" bIns="0" rtlCol="0" anchor="ctr"/>
          <a:lstStyle/>
          <a:p>
            <a:pPr indent="0" marL="0">
              <a:lnSpc>
                <a:spcPct val="110000"/>
              </a:lnSpc>
              <a:buNone/>
            </a:pPr>
            <a:r>
              <a:rPr lang="en-US" sz="1150" dirty="0">
                <a:solidFill>
                  <a:srgbClr val="3A536B"/>
                </a:solidFill>
                <a:latin typeface="Calibri" pitchFamily="34" charset="0"/>
                <a:ea typeface="Calibri" pitchFamily="34" charset="-122"/>
                <a:cs typeface="Calibri" pitchFamily="34" charset="-120"/>
              </a:rPr>
              <a:t>If a statement appears in every branch it does not belong in any of them. Lift it out below the if. One copy means one place to fix it when it changes.</a:t>
            </a:r>
            <a:endParaRPr lang="en-US" sz="1150" dirty="0"/>
          </a:p>
        </p:txBody>
      </p:sp>
      <p:sp>
        <p:nvSpPr>
          <p:cNvPr id="26" name="Shape 24"/>
          <p:cNvSpPr/>
          <p:nvPr/>
        </p:nvSpPr>
        <p:spPr>
          <a:xfrm>
            <a:off x="6324448" y="5355275"/>
            <a:ext cx="5300320" cy="1051560"/>
          </a:xfrm>
          <a:prstGeom prst="roundRect">
            <a:avLst>
              <a:gd name="adj" fmla="val 7826"/>
            </a:avLst>
          </a:prstGeom>
          <a:solidFill>
            <a:srgbClr val="E4ECF4"/>
          </a:solidFill>
          <a:ln w="12700">
            <a:solidFill>
              <a:srgbClr val="E4ECF4"/>
            </a:solidFill>
            <a:prstDash val="solid"/>
          </a:ln>
        </p:spPr>
      </p:sp>
      <p:sp>
        <p:nvSpPr>
          <p:cNvPr id="27" name="Text 25"/>
          <p:cNvSpPr txBox="1"/>
          <p:nvPr/>
        </p:nvSpPr>
        <p:spPr>
          <a:xfrm>
            <a:off x="6580480" y="5483291"/>
            <a:ext cx="4788256"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A habit worth forming now</a:t>
            </a:r>
            <a:endParaRPr lang="en-US" sz="1350" dirty="0"/>
          </a:p>
        </p:txBody>
      </p:sp>
      <p:sp>
        <p:nvSpPr>
          <p:cNvPr id="28" name="Text 26"/>
          <p:cNvSpPr txBox="1"/>
          <p:nvPr/>
        </p:nvSpPr>
        <p:spPr>
          <a:xfrm>
            <a:off x="6580480" y="5775899"/>
            <a:ext cx="4788256" cy="566928"/>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Put the opening brace at the end of the if line. In the next-line style, mistake 1 is almost invisible.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1E5"/>
        </a:solidFill>
      </p:bgPr>
    </p:bg>
    <p:spTree>
      <p:nvGrpSpPr>
        <p:cNvPr id="1" name=""/>
        <p:cNvGrpSpPr/>
        <p:nvPr/>
      </p:nvGrpSpPr>
      <p:grpSpPr>
        <a:xfrm>
          <a:off x="0" y="0"/>
          <a:ext cx="0" cy="0"/>
          <a:chOff x="0" y="0"/>
          <a:chExt cx="0" cy="0"/>
        </a:xfrm>
      </p:grpSpPr>
      <p:sp>
        <p:nvSpPr>
          <p:cNvPr id="2" name="Text 0"/>
          <p:cNvSpPr txBox="1"/>
          <p:nvPr/>
        </p:nvSpPr>
        <p:spPr>
          <a:xfrm>
            <a:off x="566928" y="566928"/>
            <a:ext cx="5486400" cy="274320"/>
          </a:xfrm>
          <a:prstGeom prst="rect">
            <a:avLst/>
          </a:prstGeom>
          <a:noFill/>
          <a:ln/>
        </p:spPr>
        <p:txBody>
          <a:bodyPr wrap="square" lIns="0" tIns="0" rIns="0" bIns="0" rtlCol="0" anchor="ctr"/>
          <a:lstStyle/>
          <a:p>
            <a:pPr indent="0" marL="0">
              <a:buNone/>
            </a:pPr>
            <a:r>
              <a:rPr lang="en-US" sz="1200" b="1" spc="200" kern="0" dirty="0">
                <a:solidFill>
                  <a:srgbClr val="9A430A"/>
                </a:solidFill>
                <a:latin typeface="Calibri" pitchFamily="34" charset="0"/>
                <a:ea typeface="Calibri" pitchFamily="34" charset="-122"/>
                <a:cs typeface="Calibri" pitchFamily="34" charset="-120"/>
              </a:rPr>
              <a:t>CHECKPOINT 1</a:t>
            </a:r>
            <a:endParaRPr lang="en-US" sz="1200" dirty="0"/>
          </a:p>
        </p:txBody>
      </p:sp>
      <p:sp>
        <p:nvSpPr>
          <p:cNvPr id="3" name="Text 1"/>
          <p:cNvSpPr txBox="1"/>
          <p:nvPr/>
        </p:nvSpPr>
        <p:spPr>
          <a:xfrm>
            <a:off x="566928" y="841248"/>
            <a:ext cx="7315200" cy="566928"/>
          </a:xfrm>
          <a:prstGeom prst="rect">
            <a:avLst/>
          </a:prstGeom>
          <a:noFill/>
          <a:ln/>
        </p:spPr>
        <p:txBody>
          <a:bodyPr wrap="square" lIns="0" tIns="0" rIns="0" bIns="0" rtlCol="0" anchor="ctr"/>
          <a:lstStyle/>
          <a:p>
            <a:pPr indent="0" marL="0">
              <a:buNone/>
            </a:pPr>
            <a:r>
              <a:rPr lang="en-US" sz="3400" b="1" dirty="0">
                <a:solidFill>
                  <a:srgbClr val="0F2942"/>
                </a:solidFill>
                <a:latin typeface="Cambria" pitchFamily="34" charset="0"/>
                <a:ea typeface="Cambria" pitchFamily="34" charset="-122"/>
                <a:cs typeface="Cambria" pitchFamily="34" charset="-120"/>
              </a:rPr>
              <a:t>Over to You</a:t>
            </a:r>
            <a:endParaRPr lang="en-US" sz="3400" dirty="0"/>
          </a:p>
        </p:txBody>
      </p:sp>
      <p:sp>
        <p:nvSpPr>
          <p:cNvPr id="4" name="Text 2"/>
          <p:cNvSpPr txBox="1"/>
          <p:nvPr/>
        </p:nvSpPr>
        <p:spPr>
          <a:xfrm>
            <a:off x="6687007" y="960120"/>
            <a:ext cx="4937760" cy="365760"/>
          </a:xfrm>
          <a:prstGeom prst="rect">
            <a:avLst/>
          </a:prstGeom>
          <a:noFill/>
          <a:ln/>
        </p:spPr>
        <p:txBody>
          <a:bodyPr wrap="square" lIns="0" tIns="0" rIns="0" bIns="0" rtlCol="0" anchor="ctr"/>
          <a:lstStyle/>
          <a:p>
            <a:pPr algn="r" indent="0" marL="0">
              <a:buNone/>
            </a:pPr>
            <a:r>
              <a:rPr lang="en-US" sz="1250" dirty="0">
                <a:solidFill>
                  <a:srgbClr val="4B6377"/>
                </a:solidFill>
                <a:latin typeface="Calibri" pitchFamily="34" charset="0"/>
                <a:ea typeface="Calibri" pitchFamily="34" charset="-122"/>
                <a:cs typeface="Calibri" pitchFamily="34" charset="-120"/>
              </a:rPr>
              <a:t>Covering slides 4–9</a:t>
            </a:r>
            <a:endParaRPr lang="en-US" sz="1250" dirty="0"/>
          </a:p>
        </p:txBody>
      </p:sp>
      <p:sp>
        <p:nvSpPr>
          <p:cNvPr id="5" name="Shape 3"/>
          <p:cNvSpPr/>
          <p:nvPr/>
        </p:nvSpPr>
        <p:spPr>
          <a:xfrm>
            <a:off x="566928" y="1775582"/>
            <a:ext cx="11057839" cy="960120"/>
          </a:xfrm>
          <a:prstGeom prst="roundRect">
            <a:avLst>
              <a:gd name="adj" fmla="val 8571"/>
            </a:avLst>
          </a:prstGeom>
          <a:solidFill>
            <a:srgbClr val="FFFFFF"/>
          </a:solidFill>
          <a:ln w="12700">
            <a:solidFill>
              <a:srgbClr val="D3DEE7"/>
            </a:solidFill>
            <a:prstDash val="solid"/>
          </a:ln>
        </p:spPr>
      </p:sp>
      <p:sp>
        <p:nvSpPr>
          <p:cNvPr id="6" name="Shape 4"/>
          <p:cNvSpPr/>
          <p:nvPr/>
        </p:nvSpPr>
        <p:spPr>
          <a:xfrm>
            <a:off x="841248" y="2013326"/>
            <a:ext cx="402336" cy="402336"/>
          </a:xfrm>
          <a:prstGeom prst="ellipse">
            <a:avLst/>
          </a:prstGeom>
          <a:solidFill>
            <a:srgbClr val="C4560C"/>
          </a:solidFill>
          <a:ln w="12700">
            <a:solidFill>
              <a:srgbClr val="C4560C"/>
            </a:solidFill>
            <a:prstDash val="solid"/>
          </a:ln>
        </p:spPr>
      </p:sp>
      <p:sp>
        <p:nvSpPr>
          <p:cNvPr id="7" name="Text 5"/>
          <p:cNvSpPr txBox="1"/>
          <p:nvPr/>
        </p:nvSpPr>
        <p:spPr>
          <a:xfrm>
            <a:off x="841248" y="201332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8" name="Text 6"/>
          <p:cNvSpPr txBox="1"/>
          <p:nvPr/>
        </p:nvSpPr>
        <p:spPr>
          <a:xfrm>
            <a:off x="1435608" y="1940174"/>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Java will not let you write 0 &lt;= score &lt;= 100. Why not, and what do you write instead?</a:t>
            </a:r>
            <a:endParaRPr lang="en-US" sz="1550" dirty="0"/>
          </a:p>
        </p:txBody>
      </p:sp>
      <p:sp>
        <p:nvSpPr>
          <p:cNvPr id="9" name="Shape 7"/>
          <p:cNvSpPr/>
          <p:nvPr/>
        </p:nvSpPr>
        <p:spPr>
          <a:xfrm>
            <a:off x="566928" y="2955158"/>
            <a:ext cx="11057839" cy="1916948"/>
          </a:xfrm>
          <a:prstGeom prst="roundRect">
            <a:avLst>
              <a:gd name="adj" fmla="val 4293"/>
            </a:avLst>
          </a:prstGeom>
          <a:solidFill>
            <a:srgbClr val="FFFFFF"/>
          </a:solidFill>
          <a:ln w="12700">
            <a:solidFill>
              <a:srgbClr val="D3DEE7"/>
            </a:solidFill>
            <a:prstDash val="solid"/>
          </a:ln>
        </p:spPr>
      </p:sp>
      <p:sp>
        <p:nvSpPr>
          <p:cNvPr id="10" name="Shape 8"/>
          <p:cNvSpPr/>
          <p:nvPr/>
        </p:nvSpPr>
        <p:spPr>
          <a:xfrm>
            <a:off x="841248" y="3192902"/>
            <a:ext cx="402336" cy="402336"/>
          </a:xfrm>
          <a:prstGeom prst="ellipse">
            <a:avLst/>
          </a:prstGeom>
          <a:solidFill>
            <a:srgbClr val="C4560C"/>
          </a:solidFill>
          <a:ln w="12700">
            <a:solidFill>
              <a:srgbClr val="C4560C"/>
            </a:solidFill>
            <a:prstDash val="solid"/>
          </a:ln>
        </p:spPr>
      </p:sp>
      <p:sp>
        <p:nvSpPr>
          <p:cNvPr id="11" name="Text 9"/>
          <p:cNvSpPr txBox="1"/>
          <p:nvPr/>
        </p:nvSpPr>
        <p:spPr>
          <a:xfrm>
            <a:off x="841248" y="319290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2" name="Text 10"/>
          <p:cNvSpPr txBox="1"/>
          <p:nvPr/>
        </p:nvSpPr>
        <p:spPr>
          <a:xfrm>
            <a:off x="1435608" y="3119750"/>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What does this print when radius is −5, and what is the bug called?</a:t>
            </a:r>
            <a:endParaRPr lang="en-US" sz="1550" dirty="0"/>
          </a:p>
        </p:txBody>
      </p:sp>
      <p:sp>
        <p:nvSpPr>
          <p:cNvPr id="13" name="Shape 11"/>
          <p:cNvSpPr/>
          <p:nvPr/>
        </p:nvSpPr>
        <p:spPr>
          <a:xfrm>
            <a:off x="1435608" y="3595238"/>
            <a:ext cx="6949440" cy="755660"/>
          </a:xfrm>
          <a:prstGeom prst="roundRect">
            <a:avLst>
              <a:gd name="adj" fmla="val 8470"/>
            </a:avLst>
          </a:prstGeom>
          <a:solidFill>
            <a:srgbClr val="EDF2F7"/>
          </a:solidFill>
          <a:ln w="12700">
            <a:solidFill>
              <a:srgbClr val="CFDBE5"/>
            </a:solidFill>
            <a:prstDash val="solid"/>
          </a:ln>
        </p:spPr>
      </p:sp>
      <p:sp>
        <p:nvSpPr>
          <p:cNvPr id="14" name="Text 12"/>
          <p:cNvSpPr txBox="1"/>
          <p:nvPr/>
        </p:nvSpPr>
        <p:spPr>
          <a:xfrm>
            <a:off x="1600200" y="3732398"/>
            <a:ext cx="6620256" cy="554492"/>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"Valid radius"</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5" name="Shape 13"/>
          <p:cNvSpPr/>
          <p:nvPr/>
        </p:nvSpPr>
        <p:spPr>
          <a:xfrm>
            <a:off x="566928" y="5091562"/>
            <a:ext cx="11057839" cy="960120"/>
          </a:xfrm>
          <a:prstGeom prst="roundRect">
            <a:avLst>
              <a:gd name="adj" fmla="val 8571"/>
            </a:avLst>
          </a:prstGeom>
          <a:solidFill>
            <a:srgbClr val="FFFFFF"/>
          </a:solidFill>
          <a:ln w="12700">
            <a:solidFill>
              <a:srgbClr val="D3DEE7"/>
            </a:solidFill>
            <a:prstDash val="solid"/>
          </a:ln>
        </p:spPr>
      </p:sp>
      <p:sp>
        <p:nvSpPr>
          <p:cNvPr id="16" name="Shape 14"/>
          <p:cNvSpPr/>
          <p:nvPr/>
        </p:nvSpPr>
        <p:spPr>
          <a:xfrm>
            <a:off x="841248" y="5329306"/>
            <a:ext cx="402336" cy="402336"/>
          </a:xfrm>
          <a:prstGeom prst="ellipse">
            <a:avLst/>
          </a:prstGeom>
          <a:solidFill>
            <a:srgbClr val="C4560C"/>
          </a:solidFill>
          <a:ln w="12700">
            <a:solidFill>
              <a:srgbClr val="C4560C"/>
            </a:solidFill>
            <a:prstDash val="solid"/>
          </a:ln>
        </p:spPr>
      </p:sp>
      <p:sp>
        <p:nvSpPr>
          <p:cNvPr id="17" name="Text 15"/>
          <p:cNvSpPr txBox="1"/>
          <p:nvPr/>
        </p:nvSpPr>
        <p:spPr>
          <a:xfrm>
            <a:off x="841248" y="532930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8" name="Text 16"/>
          <p:cNvSpPr txBox="1"/>
          <p:nvPr/>
        </p:nvSpPr>
        <p:spPr>
          <a:xfrm>
            <a:off x="1435608" y="5256154"/>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Why must the cast be outside the brackets in (int)(Math.random() * 10)?</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DF2F7"/>
        </a:solidFill>
      </p:bgPr>
    </p:bg>
    <p:spTree>
      <p:nvGrpSpPr>
        <p:cNvPr id="1" name=""/>
        <p:cNvGrpSpPr/>
        <p:nvPr/>
      </p:nvGrpSpPr>
      <p:grpSpPr>
        <a:xfrm>
          <a:off x="0" y="0"/>
          <a:ext cx="0" cy="0"/>
          <a:chOff x="0" y="0"/>
          <a:chExt cx="0" cy="0"/>
        </a:xfrm>
      </p:grpSpPr>
      <p:sp>
        <p:nvSpPr>
          <p:cNvPr id="2" name="Text 0"/>
          <p:cNvSpPr txBox="1"/>
          <p:nvPr/>
        </p:nvSpPr>
        <p:spPr>
          <a:xfrm>
            <a:off x="566928" y="2286000"/>
            <a:ext cx="5486400" cy="310896"/>
          </a:xfrm>
          <a:prstGeom prst="rect">
            <a:avLst/>
          </a:prstGeom>
          <a:noFill/>
          <a:ln/>
        </p:spPr>
        <p:txBody>
          <a:bodyPr wrap="square" lIns="0" tIns="0" rIns="0" bIns="0" rtlCol="0" anchor="ctr"/>
          <a:lstStyle/>
          <a:p>
            <a:pPr indent="0" marL="0">
              <a:buNone/>
            </a:pPr>
            <a:r>
              <a:rPr lang="en-US" sz="1300" b="1" spc="240" kern="0" dirty="0">
                <a:solidFill>
                  <a:srgbClr val="9A430A"/>
                </a:solidFill>
                <a:latin typeface="Calibri" pitchFamily="34" charset="0"/>
                <a:ea typeface="Calibri" pitchFamily="34" charset="-122"/>
                <a:cs typeface="Calibri" pitchFamily="34" charset="-120"/>
              </a:rPr>
              <a:t>PART 01</a:t>
            </a:r>
            <a:endParaRPr lang="en-US" sz="1300" dirty="0"/>
          </a:p>
        </p:txBody>
      </p:sp>
      <p:sp>
        <p:nvSpPr>
          <p:cNvPr id="3" name="Text 1"/>
          <p:cNvSpPr txBox="1"/>
          <p:nvPr/>
        </p:nvSpPr>
        <p:spPr>
          <a:xfrm>
            <a:off x="566928" y="2697480"/>
            <a:ext cx="8046720" cy="1737360"/>
          </a:xfrm>
          <a:prstGeom prst="rect">
            <a:avLst/>
          </a:prstGeom>
          <a:noFill/>
          <a:ln/>
        </p:spPr>
        <p:txBody>
          <a:bodyPr wrap="square" lIns="0" tIns="0" rIns="0" bIns="0" rtlCol="0" anchor="ctr"/>
          <a:lstStyle/>
          <a:p>
            <a:pPr indent="0" marL="0">
              <a:lnSpc>
                <a:spcPct val="105000"/>
              </a:lnSpc>
              <a:buNone/>
            </a:pPr>
            <a:r>
              <a:rPr lang="en-US" sz="4400" b="1" dirty="0">
                <a:solidFill>
                  <a:srgbClr val="0F2942"/>
                </a:solidFill>
                <a:latin typeface="Cambria" pitchFamily="34" charset="0"/>
                <a:ea typeface="Cambria" pitchFamily="34" charset="-122"/>
                <a:cs typeface="Cambria" pitchFamily="34" charset="-120"/>
              </a:rPr>
              <a:t>Multi-Way</a:t>
            </a:r>
            <a:endParaRPr lang="en-US" sz="4400" dirty="0"/>
          </a:p>
          <a:p>
            <a:pPr indent="0" marL="0">
              <a:lnSpc>
                <a:spcPct val="105000"/>
              </a:lnSpc>
              <a:buNone/>
            </a:pPr>
            <a:r>
              <a:rPr lang="en-US" sz="4400" b="1" dirty="0">
                <a:solidFill>
                  <a:srgbClr val="0F2942"/>
                </a:solidFill>
                <a:latin typeface="Cambria" pitchFamily="34" charset="0"/>
                <a:ea typeface="Cambria" pitchFamily="34" charset="-122"/>
                <a:cs typeface="Cambria" pitchFamily="34" charset="-120"/>
              </a:rPr>
              <a:t>Decisions</a:t>
            </a:r>
            <a:endParaRPr lang="en-US" sz="4400" dirty="0"/>
          </a:p>
        </p:txBody>
      </p:sp>
      <p:sp>
        <p:nvSpPr>
          <p:cNvPr id="4" name="Text 2"/>
          <p:cNvSpPr txBox="1"/>
          <p:nvPr/>
        </p:nvSpPr>
        <p:spPr>
          <a:xfrm>
            <a:off x="566928" y="4526280"/>
            <a:ext cx="8686800" cy="365760"/>
          </a:xfrm>
          <a:prstGeom prst="rect">
            <a:avLst/>
          </a:prstGeom>
          <a:noFill/>
          <a:ln/>
        </p:spPr>
        <p:txBody>
          <a:bodyPr wrap="square" lIns="0" tIns="0" rIns="0" bIns="0" rtlCol="0" anchor="ctr"/>
          <a:lstStyle/>
          <a:p>
            <a:pPr indent="0" marL="0">
              <a:buNone/>
            </a:pPr>
            <a:r>
              <a:rPr lang="en-US" sz="1500" dirty="0">
                <a:solidFill>
                  <a:srgbClr val="3A536B"/>
                </a:solidFill>
                <a:latin typeface="Calibri" pitchFamily="34" charset="0"/>
                <a:ea typeface="Calibri" pitchFamily="34" charset="-122"/>
                <a:cs typeface="Calibri" pitchFamily="34" charset="-120"/>
              </a:rPr>
              <a:t>When there are more than two possible answers — and the traps that come with them.</a:t>
            </a:r>
            <a:endParaRPr lang="en-US" sz="1500" dirty="0"/>
          </a:p>
        </p:txBody>
      </p:sp>
      <p:sp>
        <p:nvSpPr>
          <p:cNvPr id="5" name="Text 3"/>
          <p:cNvSpPr txBox="1"/>
          <p:nvPr/>
        </p:nvSpPr>
        <p:spPr>
          <a:xfrm>
            <a:off x="9247327" y="2011680"/>
            <a:ext cx="2377440" cy="2194560"/>
          </a:xfrm>
          <a:prstGeom prst="rect">
            <a:avLst/>
          </a:prstGeom>
          <a:noFill/>
          <a:ln/>
        </p:spPr>
        <p:txBody>
          <a:bodyPr wrap="square" lIns="0" tIns="0" rIns="0" bIns="0" rtlCol="0" anchor="ctr"/>
          <a:lstStyle/>
          <a:p>
            <a:pPr algn="r" indent="0" marL="0">
              <a:buNone/>
            </a:pPr>
            <a:r>
              <a:rPr lang="en-US" sz="13000" b="1" dirty="0">
                <a:solidFill>
                  <a:srgbClr val="CFDCE8"/>
                </a:solidFill>
                <a:latin typeface="Cambria" pitchFamily="34" charset="0"/>
                <a:ea typeface="Cambria" pitchFamily="34" charset="-122"/>
                <a:cs typeface="Cambria" pitchFamily="34" charset="-120"/>
              </a:rPr>
              <a:t>01</a:t>
            </a:r>
            <a:endParaRPr lang="en-US" sz="13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SELECTION 03</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Nested if and the else-if Ladder</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An if statement can contain another. Chain them and you get as many branches as you need.</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12</a:t>
            </a:r>
            <a:endParaRPr lang="en-US" sz="900" dirty="0"/>
          </a:p>
        </p:txBody>
      </p:sp>
      <p:sp>
        <p:nvSpPr>
          <p:cNvPr id="7" name="Shape 5"/>
          <p:cNvSpPr/>
          <p:nvPr/>
        </p:nvSpPr>
        <p:spPr>
          <a:xfrm>
            <a:off x="566928" y="1536192"/>
            <a:ext cx="5323180" cy="3887297"/>
          </a:xfrm>
          <a:prstGeom prst="roundRect">
            <a:avLst>
              <a:gd name="adj" fmla="val 1647"/>
            </a:avLst>
          </a:prstGeom>
          <a:solidFill>
            <a:srgbClr val="EDF2F7"/>
          </a:solidFill>
          <a:ln w="12700">
            <a:solidFill>
              <a:srgbClr val="CFDBE5"/>
            </a:solidFill>
            <a:prstDash val="solid"/>
          </a:ln>
        </p:spPr>
      </p:sp>
      <p:sp>
        <p:nvSpPr>
          <p:cNvPr id="8" name="Text 6"/>
          <p:cNvSpPr txBox="1"/>
          <p:nvPr/>
        </p:nvSpPr>
        <p:spPr>
          <a:xfrm>
            <a:off x="71323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NESTED — CORRECT, AND UNREADABLE</a:t>
            </a:r>
            <a:endParaRPr lang="en-US" sz="950" dirty="0"/>
          </a:p>
        </p:txBody>
      </p:sp>
      <p:sp>
        <p:nvSpPr>
          <p:cNvPr id="9" name="Text 7"/>
          <p:cNvSpPr txBox="1"/>
          <p:nvPr/>
        </p:nvSpPr>
        <p:spPr>
          <a:xfrm>
            <a:off x="731520" y="1810512"/>
            <a:ext cx="4993996" cy="3558113"/>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score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90.0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"A"</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else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score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80.0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"B"</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else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score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70.0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"C"</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else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score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60.0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"D"</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else</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"F"</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0" name="Shape 8"/>
          <p:cNvSpPr/>
          <p:nvPr/>
        </p:nvSpPr>
        <p:spPr>
          <a:xfrm>
            <a:off x="6301588" y="1536192"/>
            <a:ext cx="5323180" cy="2704795"/>
          </a:xfrm>
          <a:prstGeom prst="roundRect">
            <a:avLst>
              <a:gd name="adj" fmla="val 2366"/>
            </a:avLst>
          </a:prstGeom>
          <a:solidFill>
            <a:srgbClr val="EDF2F7"/>
          </a:solidFill>
          <a:ln w="12700">
            <a:solidFill>
              <a:srgbClr val="CFDBE5"/>
            </a:solidFill>
            <a:prstDash val="solid"/>
          </a:ln>
        </p:spPr>
      </p:sp>
      <p:sp>
        <p:nvSpPr>
          <p:cNvPr id="11" name="Text 9"/>
          <p:cNvSpPr txBox="1"/>
          <p:nvPr/>
        </p:nvSpPr>
        <p:spPr>
          <a:xfrm>
            <a:off x="644789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ELSE-IF LADDER — THE SAME PROGRAM</a:t>
            </a:r>
            <a:endParaRPr lang="en-US" sz="950" dirty="0"/>
          </a:p>
        </p:txBody>
      </p:sp>
      <p:sp>
        <p:nvSpPr>
          <p:cNvPr id="12" name="Text 10"/>
          <p:cNvSpPr txBox="1"/>
          <p:nvPr/>
        </p:nvSpPr>
        <p:spPr>
          <a:xfrm>
            <a:off x="6466180" y="1810512"/>
            <a:ext cx="4993996" cy="2375611"/>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score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90.0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"A"</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else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score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80.0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"B"</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else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score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70.0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"C"</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else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score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60.0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"D"</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else</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"F"</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3" name="Shape 11"/>
          <p:cNvSpPr/>
          <p:nvPr/>
        </p:nvSpPr>
        <p:spPr>
          <a:xfrm>
            <a:off x="6301588" y="4478731"/>
            <a:ext cx="5323180" cy="868680"/>
          </a:xfrm>
          <a:prstGeom prst="roundRect">
            <a:avLst>
              <a:gd name="adj" fmla="val 9474"/>
            </a:avLst>
          </a:prstGeom>
          <a:solidFill>
            <a:srgbClr val="E6F2EC"/>
          </a:solidFill>
          <a:ln w="12700">
            <a:solidFill>
              <a:srgbClr val="E6F2EC"/>
            </a:solidFill>
            <a:prstDash val="solid"/>
          </a:ln>
        </p:spPr>
      </p:sp>
      <p:sp>
        <p:nvSpPr>
          <p:cNvPr id="14" name="Text 12"/>
          <p:cNvSpPr txBox="1"/>
          <p:nvPr/>
        </p:nvSpPr>
        <p:spPr>
          <a:xfrm>
            <a:off x="6575908" y="4478731"/>
            <a:ext cx="4774540" cy="868680"/>
          </a:xfrm>
          <a:prstGeom prst="rect">
            <a:avLst/>
          </a:prstGeom>
          <a:noFill/>
          <a:ln/>
        </p:spPr>
        <p:txBody>
          <a:bodyPr wrap="square" lIns="0" tIns="0" rIns="0" bIns="0" rtlCol="0" anchor="ctr"/>
          <a:lstStyle/>
          <a:p>
            <a:pPr indent="0" marL="0">
              <a:lnSpc>
                <a:spcPct val="112000"/>
              </a:lnSpc>
              <a:buNone/>
            </a:pPr>
            <a:r>
              <a:rPr lang="en-US" sz="1200" b="1" dirty="0">
                <a:solidFill>
                  <a:srgbClr val="176240"/>
                </a:solidFill>
                <a:latin typeface="Calibri" pitchFamily="34" charset="0"/>
                <a:ea typeface="Calibri" pitchFamily="34" charset="-122"/>
                <a:cs typeface="Calibri" pitchFamily="34" charset="-120"/>
              </a:rPr>
              <a:t>Identical to the compiler.  </a:t>
            </a:r>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The ladder is preferred: it reads as what it is — a list of cases tried in order.</a:t>
            </a:r>
            <a:endParaRPr lang="en-US" sz="1200" dirty="0"/>
          </a:p>
        </p:txBody>
      </p:sp>
      <p:sp>
        <p:nvSpPr>
          <p:cNvPr id="15" name="Shape 13"/>
          <p:cNvSpPr/>
          <p:nvPr/>
        </p:nvSpPr>
        <p:spPr>
          <a:xfrm>
            <a:off x="6301588" y="5484571"/>
            <a:ext cx="5323180" cy="868680"/>
          </a:xfrm>
          <a:prstGeom prst="roundRect">
            <a:avLst>
              <a:gd name="adj" fmla="val 9474"/>
            </a:avLst>
          </a:prstGeom>
          <a:solidFill>
            <a:srgbClr val="FBEEE0"/>
          </a:solidFill>
          <a:ln w="12700">
            <a:solidFill>
              <a:srgbClr val="FBEEE0"/>
            </a:solidFill>
            <a:prstDash val="solid"/>
          </a:ln>
        </p:spPr>
      </p:sp>
      <p:sp>
        <p:nvSpPr>
          <p:cNvPr id="16" name="Text 14"/>
          <p:cNvSpPr txBox="1"/>
          <p:nvPr/>
        </p:nvSpPr>
        <p:spPr>
          <a:xfrm>
            <a:off x="6575908" y="5484571"/>
            <a:ext cx="4774540" cy="868680"/>
          </a:xfrm>
          <a:prstGeom prst="rect">
            <a:avLst/>
          </a:prstGeom>
          <a:noFill/>
          <a:ln/>
        </p:spPr>
        <p:txBody>
          <a:bodyPr wrap="square" lIns="0" tIns="0" rIns="0" bIns="0" rtlCol="0" anchor="ctr"/>
          <a:lstStyle/>
          <a:p>
            <a:pPr indent="0" marL="0">
              <a:lnSpc>
                <a:spcPct val="110000"/>
              </a:lnSpc>
              <a:buNone/>
            </a:pPr>
            <a:r>
              <a:rPr lang="en-US" sz="1200" b="1" dirty="0">
                <a:solidFill>
                  <a:srgbClr val="9A430A"/>
                </a:solidFill>
                <a:latin typeface="Calibri" pitchFamily="34" charset="0"/>
                <a:ea typeface="Calibri" pitchFamily="34" charset="-122"/>
                <a:cs typeface="Calibri" pitchFamily="34" charset="-120"/>
              </a:rPr>
              <a:t>Order is part of the logic.  </a:t>
            </a:r>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Reverse the rungs and every score above 60 gets a 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TRACE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Following the Ladder with score = 70.0</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Only one branch can execute. Java stops at the first condition that is true and skips the rest.</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13</a:t>
            </a:r>
            <a:endParaRPr lang="en-US" sz="900" dirty="0"/>
          </a:p>
        </p:txBody>
      </p:sp>
      <p:sp>
        <p:nvSpPr>
          <p:cNvPr id="7" name="Shape 5"/>
          <p:cNvSpPr/>
          <p:nvPr/>
        </p:nvSpPr>
        <p:spPr>
          <a:xfrm>
            <a:off x="566928" y="1536192"/>
            <a:ext cx="5394960" cy="2995574"/>
          </a:xfrm>
          <a:prstGeom prst="roundRect">
            <a:avLst>
              <a:gd name="adj" fmla="val 2137"/>
            </a:avLst>
          </a:prstGeom>
          <a:solidFill>
            <a:srgbClr val="EDF2F7"/>
          </a:solidFill>
          <a:ln w="12700">
            <a:solidFill>
              <a:srgbClr val="CFDBE5"/>
            </a:solidFill>
            <a:prstDash val="solid"/>
          </a:ln>
        </p:spPr>
      </p:sp>
      <p:sp>
        <p:nvSpPr>
          <p:cNvPr id="8" name="Text 6"/>
          <p:cNvSpPr txBox="1"/>
          <p:nvPr/>
        </p:nvSpPr>
        <p:spPr>
          <a:xfrm>
            <a:off x="713232" y="1581912"/>
            <a:ext cx="510235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double score = 70.0;</a:t>
            </a:r>
            <a:endParaRPr lang="en-US" sz="950" dirty="0"/>
          </a:p>
        </p:txBody>
      </p:sp>
      <p:sp>
        <p:nvSpPr>
          <p:cNvPr id="9" name="Text 7"/>
          <p:cNvSpPr txBox="1"/>
          <p:nvPr/>
        </p:nvSpPr>
        <p:spPr>
          <a:xfrm>
            <a:off x="731520" y="1810512"/>
            <a:ext cx="5065776" cy="2666390"/>
          </a:xfrm>
          <a:prstGeom prst="rect">
            <a:avLst/>
          </a:prstGeom>
          <a:noFill/>
          <a:ln/>
        </p:spPr>
        <p:txBody>
          <a:bodyPr wrap="square" lIns="0" tIns="0" rIns="0" bIns="0" rtlCol="0" anchor="t"/>
          <a:lstStyle/>
          <a:p>
            <a:pPr indent="0" marL="0">
              <a:lnSpc>
                <a:spcPct val="112000"/>
              </a:lnSpc>
              <a:buNone/>
            </a:pPr>
            <a:r>
              <a:rPr lang="en-US" sz="13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score</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6B3FA0"/>
                </a:solidFill>
                <a:latin typeface="Courier New" pitchFamily="34" charset="0"/>
                <a:ea typeface="Courier New" pitchFamily="34" charset="-122"/>
                <a:cs typeface="Courier New" pitchFamily="34" charset="-120"/>
              </a:rPr>
              <a:t>90.0</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endParaRPr lang="en-US" sz="1300" dirty="0"/>
          </a:p>
          <a:p>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614A"/>
                </a:solidFill>
                <a:latin typeface="Courier New" pitchFamily="34" charset="0"/>
                <a:ea typeface="Courier New" pitchFamily="34" charset="-122"/>
                <a:cs typeface="Courier New" pitchFamily="34" charset="-120"/>
              </a:rPr>
              <a:t>"A"</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endParaRPr lang="en-US" sz="1300" dirty="0"/>
          </a:p>
          <a:p>
            <a:pPr indent="0" marL="0">
              <a:lnSpc>
                <a:spcPct val="112000"/>
              </a:lnSpc>
              <a:buNone/>
            </a:pPr>
            <a:r>
              <a:rPr lang="en-US" sz="1300" dirty="0">
                <a:solidFill>
                  <a:srgbClr val="9A3412"/>
                </a:solidFill>
                <a:latin typeface="Courier New" pitchFamily="34" charset="0"/>
                <a:ea typeface="Courier New" pitchFamily="34" charset="-122"/>
                <a:cs typeface="Courier New" pitchFamily="34" charset="-120"/>
              </a:rPr>
              <a:t>else</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score</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6B3FA0"/>
                </a:solidFill>
                <a:latin typeface="Courier New" pitchFamily="34" charset="0"/>
                <a:ea typeface="Courier New" pitchFamily="34" charset="-122"/>
                <a:cs typeface="Courier New" pitchFamily="34" charset="-120"/>
              </a:rPr>
              <a:t>80.0</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endParaRPr lang="en-US" sz="1300" dirty="0"/>
          </a:p>
          <a:p>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614A"/>
                </a:solidFill>
                <a:latin typeface="Courier New" pitchFamily="34" charset="0"/>
                <a:ea typeface="Courier New" pitchFamily="34" charset="-122"/>
                <a:cs typeface="Courier New" pitchFamily="34" charset="-120"/>
              </a:rPr>
              <a:t>"B"</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endParaRPr lang="en-US" sz="1300" dirty="0"/>
          </a:p>
          <a:p>
            <a:pPr indent="0" marL="0">
              <a:lnSpc>
                <a:spcPct val="112000"/>
              </a:lnSpc>
              <a:buNone/>
            </a:pPr>
            <a:r>
              <a:rPr lang="en-US" sz="1300" dirty="0">
                <a:solidFill>
                  <a:srgbClr val="9A3412"/>
                </a:solidFill>
                <a:latin typeface="Courier New" pitchFamily="34" charset="0"/>
                <a:ea typeface="Courier New" pitchFamily="34" charset="-122"/>
                <a:cs typeface="Courier New" pitchFamily="34" charset="-120"/>
              </a:rPr>
              <a:t>else</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score</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6B3FA0"/>
                </a:solidFill>
                <a:latin typeface="Courier New" pitchFamily="34" charset="0"/>
                <a:ea typeface="Courier New" pitchFamily="34" charset="-122"/>
                <a:cs typeface="Courier New" pitchFamily="34" charset="-120"/>
              </a:rPr>
              <a:t>70.0</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endParaRPr lang="en-US" sz="1300" dirty="0"/>
          </a:p>
          <a:p>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614A"/>
                </a:solidFill>
                <a:latin typeface="Courier New" pitchFamily="34" charset="0"/>
                <a:ea typeface="Courier New" pitchFamily="34" charset="-122"/>
                <a:cs typeface="Courier New" pitchFamily="34" charset="-120"/>
              </a:rPr>
              <a:t>"C"</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endParaRPr lang="en-US" sz="1300" dirty="0"/>
          </a:p>
          <a:p>
            <a:pPr indent="0" marL="0">
              <a:lnSpc>
                <a:spcPct val="112000"/>
              </a:lnSpc>
              <a:buNone/>
            </a:pPr>
            <a:r>
              <a:rPr lang="en-US" sz="1300" dirty="0">
                <a:solidFill>
                  <a:srgbClr val="9A3412"/>
                </a:solidFill>
                <a:latin typeface="Courier New" pitchFamily="34" charset="0"/>
                <a:ea typeface="Courier New" pitchFamily="34" charset="-122"/>
                <a:cs typeface="Courier New" pitchFamily="34" charset="-120"/>
              </a:rPr>
              <a:t>else</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score</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6B3FA0"/>
                </a:solidFill>
                <a:latin typeface="Courier New" pitchFamily="34" charset="0"/>
                <a:ea typeface="Courier New" pitchFamily="34" charset="-122"/>
                <a:cs typeface="Courier New" pitchFamily="34" charset="-120"/>
              </a:rPr>
              <a:t>60.0</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endParaRPr lang="en-US" sz="1300" dirty="0"/>
          </a:p>
          <a:p>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614A"/>
                </a:solidFill>
                <a:latin typeface="Courier New" pitchFamily="34" charset="0"/>
                <a:ea typeface="Courier New" pitchFamily="34" charset="-122"/>
                <a:cs typeface="Courier New" pitchFamily="34" charset="-120"/>
              </a:rPr>
              <a:t>"D"</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endParaRPr lang="en-US" sz="1300" dirty="0"/>
          </a:p>
          <a:p>
            <a:pPr indent="0" marL="0">
              <a:lnSpc>
                <a:spcPct val="112000"/>
              </a:lnSpc>
              <a:buNone/>
            </a:pPr>
            <a:r>
              <a:rPr lang="en-US" sz="1300" dirty="0">
                <a:solidFill>
                  <a:srgbClr val="9A3412"/>
                </a:solidFill>
                <a:latin typeface="Courier New" pitchFamily="34" charset="0"/>
                <a:ea typeface="Courier New" pitchFamily="34" charset="-122"/>
                <a:cs typeface="Courier New" pitchFamily="34" charset="-120"/>
              </a:rPr>
              <a:t>else</a:t>
            </a:r>
            <a:endParaRPr lang="en-US" sz="1300" dirty="0"/>
          </a:p>
          <a:p>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614A"/>
                </a:solidFill>
                <a:latin typeface="Courier New" pitchFamily="34" charset="0"/>
                <a:ea typeface="Courier New" pitchFamily="34" charset="-122"/>
                <a:cs typeface="Courier New" pitchFamily="34" charset="-120"/>
              </a:rPr>
              <a:t>"F"</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endParaRPr lang="en-US" sz="1300" dirty="0"/>
          </a:p>
        </p:txBody>
      </p:sp>
      <p:sp>
        <p:nvSpPr>
          <p:cNvPr id="10" name="Shape 8"/>
          <p:cNvSpPr/>
          <p:nvPr/>
        </p:nvSpPr>
        <p:spPr>
          <a:xfrm>
            <a:off x="566928" y="4599432"/>
            <a:ext cx="5394960" cy="1143000"/>
          </a:xfrm>
          <a:prstGeom prst="roundRect">
            <a:avLst>
              <a:gd name="adj" fmla="val 7200"/>
            </a:avLst>
          </a:prstGeom>
          <a:solidFill>
            <a:srgbClr val="E6F2EC"/>
          </a:solidFill>
          <a:ln w="12700">
            <a:solidFill>
              <a:srgbClr val="E6F2EC"/>
            </a:solidFill>
            <a:prstDash val="solid"/>
          </a:ln>
        </p:spPr>
      </p:sp>
      <p:sp>
        <p:nvSpPr>
          <p:cNvPr id="11" name="Text 9"/>
          <p:cNvSpPr txBox="1"/>
          <p:nvPr/>
        </p:nvSpPr>
        <p:spPr>
          <a:xfrm>
            <a:off x="841248" y="4599432"/>
            <a:ext cx="4846320" cy="1143000"/>
          </a:xfrm>
          <a:prstGeom prst="rect">
            <a:avLst/>
          </a:prstGeom>
          <a:noFill/>
          <a:ln/>
        </p:spPr>
        <p:txBody>
          <a:bodyPr wrap="square" lIns="0" tIns="0" rIns="0" bIns="0" rtlCol="0" anchor="ctr"/>
          <a:lstStyle/>
          <a:p>
            <a:pPr indent="0" marL="0">
              <a:lnSpc>
                <a:spcPct val="125000"/>
              </a:lnSpc>
              <a:buNone/>
            </a:pPr>
            <a:r>
              <a:rPr lang="en-US" sz="1300" b="1" dirty="0">
                <a:solidFill>
                  <a:srgbClr val="176240"/>
                </a:solidFill>
                <a:latin typeface="Calibri" pitchFamily="34" charset="0"/>
                <a:ea typeface="Calibri" pitchFamily="34" charset="-122"/>
                <a:cs typeface="Calibri" pitchFamily="34" charset="-120"/>
              </a:rPr>
              <a:t>Output:  </a:t>
            </a:r>
            <a:pPr indent="0" marL="0">
              <a:lnSpc>
                <a:spcPct val="125000"/>
              </a:lnSpc>
              <a:buNone/>
            </a:pPr>
            <a:r>
              <a:rPr lang="en-US" sz="1800" b="1" dirty="0">
                <a:solidFill>
                  <a:srgbClr val="176240"/>
                </a:solidFill>
                <a:latin typeface="Courier New" pitchFamily="34" charset="0"/>
                <a:ea typeface="Courier New" pitchFamily="34" charset="-122"/>
                <a:cs typeface="Courier New" pitchFamily="34" charset="-120"/>
              </a:rPr>
              <a:t>C</a:t>
            </a:r>
            <a:pPr indent="0" marL="0">
              <a:lnSpc>
                <a:spcPct val="125000"/>
              </a:lnSpc>
              <a:buNone/>
            </a:pPr>
            <a:endParaRPr lang="en-US" sz="1300" dirty="0"/>
          </a:p>
          <a:p>
            <a:pPr indent="0" marL="0">
              <a:lnSpc>
                <a:spcPct val="125000"/>
              </a:lnSpc>
              <a:buNone/>
            </a:pPr>
            <a:r>
              <a:rPr lang="en-US" sz="1300" dirty="0">
                <a:solidFill>
                  <a:srgbClr val="3A536B"/>
                </a:solidFill>
                <a:latin typeface="Calibri" pitchFamily="34" charset="0"/>
                <a:ea typeface="Calibri" pitchFamily="34" charset="-122"/>
                <a:cs typeface="Calibri" pitchFamily="34" charset="-120"/>
              </a:rPr>
              <a:t>The two conditions below the match are never even evaluated.</a:t>
            </a:r>
            <a:endParaRPr lang="en-US" sz="1300" dirty="0"/>
          </a:p>
        </p:txBody>
      </p:sp>
      <p:sp>
        <p:nvSpPr>
          <p:cNvPr id="12" name="Text 10"/>
          <p:cNvSpPr txBox="1"/>
          <p:nvPr/>
        </p:nvSpPr>
        <p:spPr>
          <a:xfrm>
            <a:off x="6419088" y="1536192"/>
            <a:ext cx="5205679" cy="219456"/>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STEP BY STEP</a:t>
            </a:r>
            <a:endParaRPr lang="en-US" sz="950" dirty="0"/>
          </a:p>
        </p:txBody>
      </p:sp>
      <p:sp>
        <p:nvSpPr>
          <p:cNvPr id="13" name="Shape 11"/>
          <p:cNvSpPr/>
          <p:nvPr/>
        </p:nvSpPr>
        <p:spPr>
          <a:xfrm>
            <a:off x="6419088" y="1810512"/>
            <a:ext cx="5205679" cy="658368"/>
          </a:xfrm>
          <a:prstGeom prst="roundRect">
            <a:avLst>
              <a:gd name="adj" fmla="val 12500"/>
            </a:avLst>
          </a:prstGeom>
          <a:solidFill>
            <a:srgbClr val="FFFFFF"/>
          </a:solidFill>
          <a:ln w="12700">
            <a:solidFill>
              <a:srgbClr val="D3DEE7"/>
            </a:solidFill>
            <a:prstDash val="solid"/>
          </a:ln>
        </p:spPr>
      </p:sp>
      <p:sp>
        <p:nvSpPr>
          <p:cNvPr id="14" name="Shape 12"/>
          <p:cNvSpPr/>
          <p:nvPr/>
        </p:nvSpPr>
        <p:spPr>
          <a:xfrm>
            <a:off x="6601968" y="1965960"/>
            <a:ext cx="347472" cy="347472"/>
          </a:xfrm>
          <a:prstGeom prst="ellipse">
            <a:avLst/>
          </a:prstGeom>
          <a:solidFill>
            <a:srgbClr val="1D4468"/>
          </a:solidFill>
          <a:ln w="12700">
            <a:solidFill>
              <a:srgbClr val="1D4468"/>
            </a:solidFill>
            <a:prstDash val="solid"/>
          </a:ln>
        </p:spPr>
      </p:sp>
      <p:sp>
        <p:nvSpPr>
          <p:cNvPr id="15" name="Text 13"/>
          <p:cNvSpPr txBox="1"/>
          <p:nvPr/>
        </p:nvSpPr>
        <p:spPr>
          <a:xfrm>
            <a:off x="6601968" y="1965960"/>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6" name="Text 14"/>
          <p:cNvSpPr txBox="1"/>
          <p:nvPr/>
        </p:nvSpPr>
        <p:spPr>
          <a:xfrm>
            <a:off x="7077456" y="1856232"/>
            <a:ext cx="4364431" cy="316017"/>
          </a:xfrm>
          <a:prstGeom prst="rect">
            <a:avLst/>
          </a:prstGeom>
          <a:noFill/>
          <a:ln/>
        </p:spPr>
        <p:txBody>
          <a:bodyPr wrap="square" lIns="0" tIns="0" rIns="0" bIns="0" rtlCol="0" anchor="ctr"/>
          <a:lstStyle/>
          <a:p>
            <a:pPr indent="0" marL="0">
              <a:buNone/>
            </a:pPr>
            <a:r>
              <a:rPr lang="en-US" sz="1150" b="1" dirty="0">
                <a:solidFill>
                  <a:srgbClr val="0F2942"/>
                </a:solidFill>
                <a:latin typeface="Courier New" pitchFamily="34" charset="0"/>
                <a:ea typeface="Courier New" pitchFamily="34" charset="-122"/>
                <a:cs typeface="Courier New" pitchFamily="34" charset="-120"/>
              </a:rPr>
              <a:t>score &gt;= 90.0</a:t>
            </a:r>
            <a:endParaRPr lang="en-US" sz="1150" dirty="0"/>
          </a:p>
        </p:txBody>
      </p:sp>
      <p:sp>
        <p:nvSpPr>
          <p:cNvPr id="17" name="Text 15"/>
          <p:cNvSpPr txBox="1"/>
          <p:nvPr/>
        </p:nvSpPr>
        <p:spPr>
          <a:xfrm>
            <a:off x="7077456" y="2113361"/>
            <a:ext cx="4364431" cy="329184"/>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70.0 is not ≥ 90.0 — false, move to the next else if</a:t>
            </a:r>
            <a:endParaRPr lang="en-US" sz="1100" dirty="0"/>
          </a:p>
        </p:txBody>
      </p:sp>
      <p:sp>
        <p:nvSpPr>
          <p:cNvPr id="18" name="Shape 16"/>
          <p:cNvSpPr/>
          <p:nvPr/>
        </p:nvSpPr>
        <p:spPr>
          <a:xfrm>
            <a:off x="6419088" y="2596896"/>
            <a:ext cx="5205679" cy="658368"/>
          </a:xfrm>
          <a:prstGeom prst="roundRect">
            <a:avLst>
              <a:gd name="adj" fmla="val 12500"/>
            </a:avLst>
          </a:prstGeom>
          <a:solidFill>
            <a:srgbClr val="FFFFFF"/>
          </a:solidFill>
          <a:ln w="12700">
            <a:solidFill>
              <a:srgbClr val="D3DEE7"/>
            </a:solidFill>
            <a:prstDash val="solid"/>
          </a:ln>
        </p:spPr>
      </p:sp>
      <p:sp>
        <p:nvSpPr>
          <p:cNvPr id="19" name="Shape 17"/>
          <p:cNvSpPr/>
          <p:nvPr/>
        </p:nvSpPr>
        <p:spPr>
          <a:xfrm>
            <a:off x="6601968" y="2752344"/>
            <a:ext cx="347472" cy="347472"/>
          </a:xfrm>
          <a:prstGeom prst="ellipse">
            <a:avLst/>
          </a:prstGeom>
          <a:solidFill>
            <a:srgbClr val="1D4468"/>
          </a:solidFill>
          <a:ln w="12700">
            <a:solidFill>
              <a:srgbClr val="1D4468"/>
            </a:solidFill>
            <a:prstDash val="solid"/>
          </a:ln>
        </p:spPr>
      </p:sp>
      <p:sp>
        <p:nvSpPr>
          <p:cNvPr id="20" name="Text 18"/>
          <p:cNvSpPr txBox="1"/>
          <p:nvPr/>
        </p:nvSpPr>
        <p:spPr>
          <a:xfrm>
            <a:off x="6601968" y="2752344"/>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21" name="Text 19"/>
          <p:cNvSpPr txBox="1"/>
          <p:nvPr/>
        </p:nvSpPr>
        <p:spPr>
          <a:xfrm>
            <a:off x="7077456" y="2642616"/>
            <a:ext cx="4364431" cy="316017"/>
          </a:xfrm>
          <a:prstGeom prst="rect">
            <a:avLst/>
          </a:prstGeom>
          <a:noFill/>
          <a:ln/>
        </p:spPr>
        <p:txBody>
          <a:bodyPr wrap="square" lIns="0" tIns="0" rIns="0" bIns="0" rtlCol="0" anchor="ctr"/>
          <a:lstStyle/>
          <a:p>
            <a:pPr indent="0" marL="0">
              <a:buNone/>
            </a:pPr>
            <a:r>
              <a:rPr lang="en-US" sz="1150" b="1" dirty="0">
                <a:solidFill>
                  <a:srgbClr val="0F2942"/>
                </a:solidFill>
                <a:latin typeface="Courier New" pitchFamily="34" charset="0"/>
                <a:ea typeface="Courier New" pitchFamily="34" charset="-122"/>
                <a:cs typeface="Courier New" pitchFamily="34" charset="-120"/>
              </a:rPr>
              <a:t>score &gt;= 80.0</a:t>
            </a:r>
            <a:endParaRPr lang="en-US" sz="1150" dirty="0"/>
          </a:p>
        </p:txBody>
      </p:sp>
      <p:sp>
        <p:nvSpPr>
          <p:cNvPr id="22" name="Text 20"/>
          <p:cNvSpPr txBox="1"/>
          <p:nvPr/>
        </p:nvSpPr>
        <p:spPr>
          <a:xfrm>
            <a:off x="7077456" y="2899745"/>
            <a:ext cx="4364431" cy="329184"/>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70.0 is not ≥ 80.0 — false, move on again</a:t>
            </a:r>
            <a:endParaRPr lang="en-US" sz="1100" dirty="0"/>
          </a:p>
        </p:txBody>
      </p:sp>
      <p:sp>
        <p:nvSpPr>
          <p:cNvPr id="23" name="Shape 21"/>
          <p:cNvSpPr/>
          <p:nvPr/>
        </p:nvSpPr>
        <p:spPr>
          <a:xfrm>
            <a:off x="6419088" y="3383280"/>
            <a:ext cx="5205679" cy="658368"/>
          </a:xfrm>
          <a:prstGeom prst="roundRect">
            <a:avLst>
              <a:gd name="adj" fmla="val 12500"/>
            </a:avLst>
          </a:prstGeom>
          <a:solidFill>
            <a:srgbClr val="E6F2EC"/>
          </a:solidFill>
          <a:ln w="12700">
            <a:solidFill>
              <a:srgbClr val="176240"/>
            </a:solidFill>
            <a:prstDash val="solid"/>
          </a:ln>
        </p:spPr>
      </p:sp>
      <p:sp>
        <p:nvSpPr>
          <p:cNvPr id="24" name="Shape 22"/>
          <p:cNvSpPr/>
          <p:nvPr/>
        </p:nvSpPr>
        <p:spPr>
          <a:xfrm>
            <a:off x="6601968" y="3538728"/>
            <a:ext cx="347472" cy="347472"/>
          </a:xfrm>
          <a:prstGeom prst="ellipse">
            <a:avLst/>
          </a:prstGeom>
          <a:solidFill>
            <a:srgbClr val="176240"/>
          </a:solidFill>
          <a:ln w="12700">
            <a:solidFill>
              <a:srgbClr val="176240"/>
            </a:solidFill>
            <a:prstDash val="solid"/>
          </a:ln>
        </p:spPr>
      </p:sp>
      <p:sp>
        <p:nvSpPr>
          <p:cNvPr id="25" name="Text 23"/>
          <p:cNvSpPr txBox="1"/>
          <p:nvPr/>
        </p:nvSpPr>
        <p:spPr>
          <a:xfrm>
            <a:off x="6601968" y="3538728"/>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6" name="Text 24"/>
          <p:cNvSpPr txBox="1"/>
          <p:nvPr/>
        </p:nvSpPr>
        <p:spPr>
          <a:xfrm>
            <a:off x="7077456" y="3429000"/>
            <a:ext cx="4364431" cy="316017"/>
          </a:xfrm>
          <a:prstGeom prst="rect">
            <a:avLst/>
          </a:prstGeom>
          <a:noFill/>
          <a:ln/>
        </p:spPr>
        <p:txBody>
          <a:bodyPr wrap="square" lIns="0" tIns="0" rIns="0" bIns="0" rtlCol="0" anchor="ctr"/>
          <a:lstStyle/>
          <a:p>
            <a:pPr indent="0" marL="0">
              <a:buNone/>
            </a:pPr>
            <a:r>
              <a:rPr lang="en-US" sz="1150" b="1" dirty="0">
                <a:solidFill>
                  <a:srgbClr val="176240"/>
                </a:solidFill>
                <a:latin typeface="Courier New" pitchFamily="34" charset="0"/>
                <a:ea typeface="Courier New" pitchFamily="34" charset="-122"/>
                <a:cs typeface="Courier New" pitchFamily="34" charset="-120"/>
              </a:rPr>
              <a:t>score &gt;= 70.0</a:t>
            </a:r>
            <a:endParaRPr lang="en-US" sz="1150" dirty="0"/>
          </a:p>
        </p:txBody>
      </p:sp>
      <p:sp>
        <p:nvSpPr>
          <p:cNvPr id="27" name="Text 25"/>
          <p:cNvSpPr txBox="1"/>
          <p:nvPr/>
        </p:nvSpPr>
        <p:spPr>
          <a:xfrm>
            <a:off x="7077456" y="3686129"/>
            <a:ext cx="4364431" cy="329184"/>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70.0 is ≥ 70.0 — TRUE, this branch runs</a:t>
            </a:r>
            <a:endParaRPr lang="en-US" sz="1100" dirty="0"/>
          </a:p>
        </p:txBody>
      </p:sp>
      <p:sp>
        <p:nvSpPr>
          <p:cNvPr id="28" name="Shape 26"/>
          <p:cNvSpPr/>
          <p:nvPr/>
        </p:nvSpPr>
        <p:spPr>
          <a:xfrm>
            <a:off x="6419088" y="4169664"/>
            <a:ext cx="5205679" cy="658368"/>
          </a:xfrm>
          <a:prstGeom prst="roundRect">
            <a:avLst>
              <a:gd name="adj" fmla="val 12500"/>
            </a:avLst>
          </a:prstGeom>
          <a:solidFill>
            <a:srgbClr val="E6F2EC"/>
          </a:solidFill>
          <a:ln w="12700">
            <a:solidFill>
              <a:srgbClr val="176240"/>
            </a:solidFill>
            <a:prstDash val="solid"/>
          </a:ln>
        </p:spPr>
      </p:sp>
      <p:sp>
        <p:nvSpPr>
          <p:cNvPr id="29" name="Shape 27"/>
          <p:cNvSpPr/>
          <p:nvPr/>
        </p:nvSpPr>
        <p:spPr>
          <a:xfrm>
            <a:off x="6601968" y="4325112"/>
            <a:ext cx="347472" cy="347472"/>
          </a:xfrm>
          <a:prstGeom prst="ellipse">
            <a:avLst/>
          </a:prstGeom>
          <a:solidFill>
            <a:srgbClr val="176240"/>
          </a:solidFill>
          <a:ln w="12700">
            <a:solidFill>
              <a:srgbClr val="176240"/>
            </a:solidFill>
            <a:prstDash val="solid"/>
          </a:ln>
        </p:spPr>
      </p:sp>
      <p:sp>
        <p:nvSpPr>
          <p:cNvPr id="30" name="Text 28"/>
          <p:cNvSpPr txBox="1"/>
          <p:nvPr/>
        </p:nvSpPr>
        <p:spPr>
          <a:xfrm>
            <a:off x="6601968" y="432511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31" name="Text 29"/>
          <p:cNvSpPr txBox="1"/>
          <p:nvPr/>
        </p:nvSpPr>
        <p:spPr>
          <a:xfrm>
            <a:off x="7077456" y="4215384"/>
            <a:ext cx="4364431" cy="316017"/>
          </a:xfrm>
          <a:prstGeom prst="rect">
            <a:avLst/>
          </a:prstGeom>
          <a:noFill/>
          <a:ln/>
        </p:spPr>
        <p:txBody>
          <a:bodyPr wrap="square" lIns="0" tIns="0" rIns="0" bIns="0" rtlCol="0" anchor="ctr"/>
          <a:lstStyle/>
          <a:p>
            <a:pPr indent="0" marL="0">
              <a:buNone/>
            </a:pPr>
            <a:r>
              <a:rPr lang="en-US" sz="1150" b="1" dirty="0">
                <a:solidFill>
                  <a:srgbClr val="176240"/>
                </a:solidFill>
                <a:latin typeface="Courier New" pitchFamily="34" charset="0"/>
                <a:ea typeface="Courier New" pitchFamily="34" charset="-122"/>
                <a:cs typeface="Courier New" pitchFamily="34" charset="-120"/>
              </a:rPr>
              <a:t>System.out.print("C")</a:t>
            </a:r>
            <a:endParaRPr lang="en-US" sz="1150" dirty="0"/>
          </a:p>
        </p:txBody>
      </p:sp>
      <p:sp>
        <p:nvSpPr>
          <p:cNvPr id="32" name="Text 30"/>
          <p:cNvSpPr txBox="1"/>
          <p:nvPr/>
        </p:nvSpPr>
        <p:spPr>
          <a:xfrm>
            <a:off x="7077456" y="4472513"/>
            <a:ext cx="4364431" cy="329184"/>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prints C</a:t>
            </a:r>
            <a:endParaRPr lang="en-US" sz="1100" dirty="0"/>
          </a:p>
        </p:txBody>
      </p:sp>
      <p:sp>
        <p:nvSpPr>
          <p:cNvPr id="33" name="Shape 31"/>
          <p:cNvSpPr/>
          <p:nvPr/>
        </p:nvSpPr>
        <p:spPr>
          <a:xfrm>
            <a:off x="6419088" y="4956048"/>
            <a:ext cx="5205679" cy="658368"/>
          </a:xfrm>
          <a:prstGeom prst="roundRect">
            <a:avLst>
              <a:gd name="adj" fmla="val 12500"/>
            </a:avLst>
          </a:prstGeom>
          <a:solidFill>
            <a:srgbClr val="FBEEE0"/>
          </a:solidFill>
          <a:ln w="12700">
            <a:solidFill>
              <a:srgbClr val="C4560C"/>
            </a:solidFill>
            <a:prstDash val="solid"/>
          </a:ln>
        </p:spPr>
      </p:sp>
      <p:sp>
        <p:nvSpPr>
          <p:cNvPr id="34" name="Shape 32"/>
          <p:cNvSpPr/>
          <p:nvPr/>
        </p:nvSpPr>
        <p:spPr>
          <a:xfrm>
            <a:off x="6601968" y="5111496"/>
            <a:ext cx="347472" cy="347472"/>
          </a:xfrm>
          <a:prstGeom prst="ellipse">
            <a:avLst/>
          </a:prstGeom>
          <a:solidFill>
            <a:srgbClr val="C4560C"/>
          </a:solidFill>
          <a:ln w="12700">
            <a:solidFill>
              <a:srgbClr val="C4560C"/>
            </a:solidFill>
            <a:prstDash val="solid"/>
          </a:ln>
        </p:spPr>
      </p:sp>
      <p:sp>
        <p:nvSpPr>
          <p:cNvPr id="35" name="Text 33"/>
          <p:cNvSpPr txBox="1"/>
          <p:nvPr/>
        </p:nvSpPr>
        <p:spPr>
          <a:xfrm>
            <a:off x="6601968" y="5111496"/>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36" name="Text 34"/>
          <p:cNvSpPr txBox="1"/>
          <p:nvPr/>
        </p:nvSpPr>
        <p:spPr>
          <a:xfrm>
            <a:off x="7077456" y="5001768"/>
            <a:ext cx="4364431" cy="316017"/>
          </a:xfrm>
          <a:prstGeom prst="rect">
            <a:avLst/>
          </a:prstGeom>
          <a:noFill/>
          <a:ln/>
        </p:spPr>
        <p:txBody>
          <a:bodyPr wrap="square" lIns="0" tIns="0" rIns="0" bIns="0" rtlCol="0" anchor="ctr"/>
          <a:lstStyle/>
          <a:p>
            <a:pPr indent="0" marL="0">
              <a:buNone/>
            </a:pPr>
            <a:r>
              <a:rPr lang="en-US" sz="1150" b="1" dirty="0">
                <a:solidFill>
                  <a:srgbClr val="0F2942"/>
                </a:solidFill>
                <a:latin typeface="Courier New" pitchFamily="34" charset="0"/>
                <a:ea typeface="Courier New" pitchFamily="34" charset="-122"/>
                <a:cs typeface="Courier New" pitchFamily="34" charset="-120"/>
              </a:rPr>
              <a:t>skip the rest</a:t>
            </a:r>
            <a:endParaRPr lang="en-US" sz="1150" dirty="0"/>
          </a:p>
        </p:txBody>
      </p:sp>
      <p:sp>
        <p:nvSpPr>
          <p:cNvPr id="37" name="Text 35"/>
          <p:cNvSpPr txBox="1"/>
          <p:nvPr/>
        </p:nvSpPr>
        <p:spPr>
          <a:xfrm>
            <a:off x="7077456" y="5258897"/>
            <a:ext cx="4364431" cy="329184"/>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the remaining else if and else are not tested at all</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PITFALL</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The Dangling else</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An else belongs to the most recent unmatched if in the same block — whatever your indentation suggests.</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14</a:t>
            </a:r>
            <a:endParaRPr lang="en-US" sz="900" dirty="0"/>
          </a:p>
        </p:txBody>
      </p:sp>
      <p:sp>
        <p:nvSpPr>
          <p:cNvPr id="7" name="Shape 5"/>
          <p:cNvSpPr/>
          <p:nvPr/>
        </p:nvSpPr>
        <p:spPr>
          <a:xfrm>
            <a:off x="566928" y="1536192"/>
            <a:ext cx="5323180" cy="1871228"/>
          </a:xfrm>
          <a:prstGeom prst="roundRect">
            <a:avLst>
              <a:gd name="adj" fmla="val 3421"/>
            </a:avLst>
          </a:prstGeom>
          <a:solidFill>
            <a:srgbClr val="EDF2F7"/>
          </a:solidFill>
          <a:ln w="12700">
            <a:solidFill>
              <a:srgbClr val="CFDBE5"/>
            </a:solidFill>
            <a:prstDash val="solid"/>
          </a:ln>
        </p:spPr>
      </p:sp>
      <p:sp>
        <p:nvSpPr>
          <p:cNvPr id="8" name="Text 6"/>
          <p:cNvSpPr txBox="1"/>
          <p:nvPr/>
        </p:nvSpPr>
        <p:spPr>
          <a:xfrm>
            <a:off x="71323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WHAT YOU MEANT TO WRITE</a:t>
            </a:r>
            <a:endParaRPr lang="en-US" sz="950" dirty="0"/>
          </a:p>
        </p:txBody>
      </p:sp>
      <p:sp>
        <p:nvSpPr>
          <p:cNvPr id="9" name="Text 7"/>
          <p:cNvSpPr txBox="1"/>
          <p:nvPr/>
        </p:nvSpPr>
        <p:spPr>
          <a:xfrm>
            <a:off x="731520" y="1810512"/>
            <a:ext cx="4993996" cy="1542044"/>
          </a:xfrm>
          <a:prstGeom prst="rect">
            <a:avLst/>
          </a:prstGeom>
          <a:noFill/>
          <a:ln/>
        </p:spPr>
        <p:txBody>
          <a:bodyPr wrap="square" lIns="0" tIns="0" rIns="0" bIns="0" rtlCol="0" anchor="t"/>
          <a:lstStyle/>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614A"/>
                </a:solidFill>
                <a:latin typeface="Courier New" pitchFamily="34" charset="0"/>
                <a:ea typeface="Courier New" pitchFamily="34" charset="-122"/>
                <a:cs typeface="Courier New" pitchFamily="34" charset="-120"/>
              </a:rPr>
              <a:t>"A"</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else</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614A"/>
                </a:solidFill>
                <a:latin typeface="Courier New" pitchFamily="34" charset="0"/>
                <a:ea typeface="Courier New" pitchFamily="34" charset="-122"/>
                <a:cs typeface="Courier New" pitchFamily="34" charset="-120"/>
              </a:rPr>
              <a:t>"B"</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p:txBody>
      </p:sp>
      <p:sp>
        <p:nvSpPr>
          <p:cNvPr id="10" name="Shape 8"/>
          <p:cNvSpPr/>
          <p:nvPr/>
        </p:nvSpPr>
        <p:spPr>
          <a:xfrm>
            <a:off x="6301588" y="1536192"/>
            <a:ext cx="5323180" cy="1871228"/>
          </a:xfrm>
          <a:prstGeom prst="roundRect">
            <a:avLst>
              <a:gd name="adj" fmla="val 3421"/>
            </a:avLst>
          </a:prstGeom>
          <a:solidFill>
            <a:srgbClr val="EDF2F7"/>
          </a:solidFill>
          <a:ln w="12700">
            <a:solidFill>
              <a:srgbClr val="CFDBE5"/>
            </a:solidFill>
            <a:prstDash val="solid"/>
          </a:ln>
        </p:spPr>
      </p:sp>
      <p:sp>
        <p:nvSpPr>
          <p:cNvPr id="11" name="Text 9"/>
          <p:cNvSpPr txBox="1"/>
          <p:nvPr/>
        </p:nvSpPr>
        <p:spPr>
          <a:xfrm>
            <a:off x="644789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WHAT THE COMPILER READS</a:t>
            </a:r>
            <a:endParaRPr lang="en-US" sz="950" dirty="0"/>
          </a:p>
        </p:txBody>
      </p:sp>
      <p:sp>
        <p:nvSpPr>
          <p:cNvPr id="12" name="Text 10"/>
          <p:cNvSpPr txBox="1"/>
          <p:nvPr/>
        </p:nvSpPr>
        <p:spPr>
          <a:xfrm>
            <a:off x="6466180" y="1810512"/>
            <a:ext cx="4993996" cy="1542044"/>
          </a:xfrm>
          <a:prstGeom prst="rect">
            <a:avLst/>
          </a:prstGeom>
          <a:noFill/>
          <a:ln/>
        </p:spPr>
        <p:txBody>
          <a:bodyPr wrap="square" lIns="0" tIns="0" rIns="0" bIns="0" rtlCol="0" anchor="t"/>
          <a:lstStyle/>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614A"/>
                </a:solidFill>
                <a:latin typeface="Courier New" pitchFamily="34" charset="0"/>
                <a:ea typeface="Courier New" pitchFamily="34" charset="-122"/>
                <a:cs typeface="Courier New" pitchFamily="34" charset="-120"/>
              </a:rPr>
              <a:t>"A"</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else</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415C6E"/>
                </a:solidFill>
                <a:latin typeface="Courier New" pitchFamily="34" charset="0"/>
                <a:ea typeface="Courier New" pitchFamily="34" charset="-122"/>
                <a:cs typeface="Courier New" pitchFamily="34" charset="-120"/>
              </a:rPr>
              <a:t>// belongs to the</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614A"/>
                </a:solidFill>
                <a:latin typeface="Courier New" pitchFamily="34" charset="0"/>
                <a:ea typeface="Courier New" pitchFamily="34" charset="-122"/>
                <a:cs typeface="Courier New" pitchFamily="34" charset="-120"/>
              </a:rPr>
              <a:t>"B"</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415C6E"/>
                </a:solidFill>
                <a:latin typeface="Courier New" pitchFamily="34" charset="0"/>
                <a:ea typeface="Courier New" pitchFamily="34" charset="-122"/>
                <a:cs typeface="Courier New" pitchFamily="34" charset="-120"/>
              </a:rPr>
              <a:t>// inner if</a:t>
            </a:r>
            <a:endParaRPr lang="en-US" sz="1200" dirty="0"/>
          </a:p>
        </p:txBody>
      </p:sp>
      <p:sp>
        <p:nvSpPr>
          <p:cNvPr id="13" name="Shape 11"/>
          <p:cNvSpPr/>
          <p:nvPr/>
        </p:nvSpPr>
        <p:spPr>
          <a:xfrm>
            <a:off x="566928" y="3645164"/>
            <a:ext cx="5323180" cy="914400"/>
          </a:xfrm>
          <a:prstGeom prst="roundRect">
            <a:avLst>
              <a:gd name="adj" fmla="val 9000"/>
            </a:avLst>
          </a:prstGeom>
          <a:solidFill>
            <a:srgbClr val="FBEAE8"/>
          </a:solidFill>
          <a:ln w="12700">
            <a:solidFill>
              <a:srgbClr val="FBEAE8"/>
            </a:solidFill>
            <a:prstDash val="solid"/>
          </a:ln>
        </p:spPr>
      </p:sp>
      <p:sp>
        <p:nvSpPr>
          <p:cNvPr id="14" name="Text 12"/>
          <p:cNvSpPr txBox="1"/>
          <p:nvPr/>
        </p:nvSpPr>
        <p:spPr>
          <a:xfrm>
            <a:off x="841248" y="3645164"/>
            <a:ext cx="4774540" cy="914400"/>
          </a:xfrm>
          <a:prstGeom prst="rect">
            <a:avLst/>
          </a:prstGeom>
          <a:noFill/>
          <a:ln/>
        </p:spPr>
        <p:txBody>
          <a:bodyPr wrap="square" lIns="0" tIns="0" rIns="0" bIns="0" rtlCol="0" anchor="ctr"/>
          <a:lstStyle/>
          <a:p>
            <a:pPr indent="0" marL="0">
              <a:lnSpc>
                <a:spcPct val="112000"/>
              </a:lnSpc>
              <a:buNone/>
            </a:pPr>
            <a:r>
              <a:rPr lang="en-US" sz="1250" b="1" dirty="0">
                <a:solidFill>
                  <a:srgbClr val="9C241C"/>
                </a:solidFill>
                <a:latin typeface="Calibri" pitchFamily="34" charset="0"/>
                <a:ea typeface="Calibri" pitchFamily="34" charset="-122"/>
                <a:cs typeface="Calibri" pitchFamily="34" charset="-120"/>
              </a:rPr>
              <a:t>Nothing is printed.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i &gt; j is 1 &gt; 2, which is false, so the whole statement is skipped — else included.</a:t>
            </a:r>
            <a:endParaRPr lang="en-US" sz="1250" dirty="0"/>
          </a:p>
        </p:txBody>
      </p:sp>
      <p:sp>
        <p:nvSpPr>
          <p:cNvPr id="15" name="Shape 13"/>
          <p:cNvSpPr/>
          <p:nvPr/>
        </p:nvSpPr>
        <p:spPr>
          <a:xfrm>
            <a:off x="6301588" y="3645164"/>
            <a:ext cx="5323180" cy="914400"/>
          </a:xfrm>
          <a:prstGeom prst="roundRect">
            <a:avLst>
              <a:gd name="adj" fmla="val 9000"/>
            </a:avLst>
          </a:prstGeom>
          <a:solidFill>
            <a:srgbClr val="E4ECF4"/>
          </a:solidFill>
          <a:ln w="12700">
            <a:solidFill>
              <a:srgbClr val="E4ECF4"/>
            </a:solidFill>
            <a:prstDash val="solid"/>
          </a:ln>
        </p:spPr>
      </p:sp>
      <p:sp>
        <p:nvSpPr>
          <p:cNvPr id="16" name="Text 14"/>
          <p:cNvSpPr txBox="1"/>
          <p:nvPr/>
        </p:nvSpPr>
        <p:spPr>
          <a:xfrm>
            <a:off x="6575908" y="3645164"/>
            <a:ext cx="4774540" cy="914400"/>
          </a:xfrm>
          <a:prstGeom prst="rect">
            <a:avLst/>
          </a:prstGeom>
          <a:noFill/>
          <a:ln/>
        </p:spPr>
        <p:txBody>
          <a:bodyPr wrap="square" lIns="0" tIns="0" rIns="0" bIns="0" rtlCol="0" anchor="ctr"/>
          <a:lstStyle/>
          <a:p>
            <a:pPr indent="0" marL="0">
              <a:lnSpc>
                <a:spcPct val="112000"/>
              </a:lnSpc>
              <a:buNone/>
            </a:pPr>
            <a:r>
              <a:rPr lang="en-US" sz="1250" b="1" dirty="0">
                <a:solidFill>
                  <a:srgbClr val="0F2942"/>
                </a:solidFill>
                <a:latin typeface="Calibri" pitchFamily="34" charset="0"/>
                <a:ea typeface="Calibri" pitchFamily="34" charset="-122"/>
                <a:cs typeface="Calibri" pitchFamily="34" charset="-120"/>
              </a:rPr>
              <a:t>Same code, re-indented honestly.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Java ignores whitespace entirely; only the braces and the rule above decide.</a:t>
            </a:r>
            <a:endParaRPr lang="en-US" sz="1250" dirty="0"/>
          </a:p>
        </p:txBody>
      </p:sp>
      <p:sp>
        <p:nvSpPr>
          <p:cNvPr id="17" name="Text 15"/>
          <p:cNvSpPr txBox="1"/>
          <p:nvPr/>
        </p:nvSpPr>
        <p:spPr>
          <a:xfrm>
            <a:off x="566928" y="4724156"/>
            <a:ext cx="11057839" cy="237744"/>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THE FIX — ONE PAIR OF BRACES</a:t>
            </a:r>
            <a:endParaRPr lang="en-US" sz="950" dirty="0"/>
          </a:p>
        </p:txBody>
      </p:sp>
      <p:sp>
        <p:nvSpPr>
          <p:cNvPr id="18" name="Shape 16"/>
          <p:cNvSpPr/>
          <p:nvPr/>
        </p:nvSpPr>
        <p:spPr>
          <a:xfrm>
            <a:off x="566928" y="4998476"/>
            <a:ext cx="5323180" cy="1259677"/>
          </a:xfrm>
          <a:prstGeom prst="roundRect">
            <a:avLst>
              <a:gd name="adj" fmla="val 5081"/>
            </a:avLst>
          </a:prstGeom>
          <a:solidFill>
            <a:srgbClr val="EDF2F7"/>
          </a:solidFill>
          <a:ln w="12700">
            <a:solidFill>
              <a:srgbClr val="CFDBE5"/>
            </a:solidFill>
            <a:prstDash val="solid"/>
          </a:ln>
        </p:spPr>
      </p:sp>
      <p:sp>
        <p:nvSpPr>
          <p:cNvPr id="19" name="Text 17"/>
          <p:cNvSpPr txBox="1"/>
          <p:nvPr/>
        </p:nvSpPr>
        <p:spPr>
          <a:xfrm>
            <a:off x="731520" y="5135636"/>
            <a:ext cx="4993996" cy="1058509"/>
          </a:xfrm>
          <a:prstGeom prst="rect">
            <a:avLst/>
          </a:prstGeom>
          <a:noFill/>
          <a:ln/>
        </p:spPr>
        <p:txBody>
          <a:bodyPr wrap="square" lIns="0" tIns="0" rIns="0" bIns="0" rtlCol="0" anchor="t"/>
          <a:lstStyle/>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614A"/>
                </a:solidFill>
                <a:latin typeface="Courier New" pitchFamily="34" charset="0"/>
                <a:ea typeface="Courier New" pitchFamily="34" charset="-122"/>
                <a:cs typeface="Courier New" pitchFamily="34" charset="-120"/>
              </a:rPr>
              <a:t>"A"</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else</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614A"/>
                </a:solidFill>
                <a:latin typeface="Courier New" pitchFamily="34" charset="0"/>
                <a:ea typeface="Courier New" pitchFamily="34" charset="-122"/>
                <a:cs typeface="Courier New" pitchFamily="34" charset="-120"/>
              </a:rPr>
              <a:t>"B"</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p:txBody>
      </p:sp>
      <p:sp>
        <p:nvSpPr>
          <p:cNvPr id="20" name="Shape 18"/>
          <p:cNvSpPr/>
          <p:nvPr/>
        </p:nvSpPr>
        <p:spPr>
          <a:xfrm>
            <a:off x="6301588" y="4998476"/>
            <a:ext cx="5323180" cy="1259677"/>
          </a:xfrm>
          <a:prstGeom prst="roundRect">
            <a:avLst>
              <a:gd name="adj" fmla="val 6533"/>
            </a:avLst>
          </a:prstGeom>
          <a:solidFill>
            <a:srgbClr val="E6F2EC"/>
          </a:solidFill>
          <a:ln w="12700">
            <a:solidFill>
              <a:srgbClr val="E6F2EC"/>
            </a:solidFill>
            <a:prstDash val="solid"/>
          </a:ln>
        </p:spPr>
      </p:sp>
      <p:sp>
        <p:nvSpPr>
          <p:cNvPr id="21" name="Text 19"/>
          <p:cNvSpPr txBox="1"/>
          <p:nvPr/>
        </p:nvSpPr>
        <p:spPr>
          <a:xfrm>
            <a:off x="6575908" y="5126492"/>
            <a:ext cx="4774540" cy="292608"/>
          </a:xfrm>
          <a:prstGeom prst="rect">
            <a:avLst/>
          </a:prstGeom>
          <a:noFill/>
          <a:ln/>
        </p:spPr>
        <p:txBody>
          <a:bodyPr wrap="square" lIns="0" tIns="0" rIns="0" bIns="0" rtlCol="0" anchor="ctr"/>
          <a:lstStyle/>
          <a:p>
            <a:pPr indent="0" marL="0">
              <a:buNone/>
            </a:pPr>
            <a:r>
              <a:rPr lang="en-US" sz="1400" b="1" dirty="0">
                <a:solidFill>
                  <a:srgbClr val="176240"/>
                </a:solidFill>
                <a:latin typeface="Calibri" pitchFamily="34" charset="0"/>
                <a:ea typeface="Calibri" pitchFamily="34" charset="-122"/>
                <a:cs typeface="Calibri" pitchFamily="34" charset="-120"/>
              </a:rPr>
              <a:t>This prints B</a:t>
            </a:r>
            <a:endParaRPr lang="en-US" sz="1400" dirty="0"/>
          </a:p>
        </p:txBody>
      </p:sp>
      <p:sp>
        <p:nvSpPr>
          <p:cNvPr id="22" name="Text 20"/>
          <p:cNvSpPr txBox="1"/>
          <p:nvPr/>
        </p:nvSpPr>
        <p:spPr>
          <a:xfrm>
            <a:off x="6575908" y="5437388"/>
            <a:ext cx="4774540" cy="692749"/>
          </a:xfrm>
          <a:prstGeom prst="rect">
            <a:avLst/>
          </a:prstGeom>
          <a:noFill/>
          <a:ln/>
        </p:spPr>
        <p:txBody>
          <a:bodyPr wrap="square" lIns="0" tIns="0" rIns="0" bIns="0" rtlCol="0" anchor="t"/>
          <a:lstStyle/>
          <a:p>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The braces close the outer if's true branch, so the else has nothing left to attach to except the outer if. Brace every branch and you never have to think about this rule again.</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WORKED EXAMPLE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ComputeBMI — a Ladder with Four Bands</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Body mass index is weight in kilograms divided by the square of height in metres.</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15</a:t>
            </a:r>
            <a:endParaRPr lang="en-US" sz="900" dirty="0"/>
          </a:p>
        </p:txBody>
      </p:sp>
      <p:sp>
        <p:nvSpPr>
          <p:cNvPr id="7" name="Shape 5"/>
          <p:cNvSpPr/>
          <p:nvPr/>
        </p:nvSpPr>
        <p:spPr>
          <a:xfrm>
            <a:off x="566928" y="1536192"/>
            <a:ext cx="5760720" cy="3596518"/>
          </a:xfrm>
          <a:prstGeom prst="roundRect">
            <a:avLst>
              <a:gd name="adj" fmla="val 1780"/>
            </a:avLst>
          </a:prstGeom>
          <a:solidFill>
            <a:srgbClr val="EDF2F7"/>
          </a:solidFill>
          <a:ln w="12700">
            <a:solidFill>
              <a:srgbClr val="CFDBE5"/>
            </a:solidFill>
            <a:prstDash val="solid"/>
          </a:ln>
        </p:spPr>
      </p:sp>
      <p:sp>
        <p:nvSpPr>
          <p:cNvPr id="8" name="Text 6"/>
          <p:cNvSpPr txBox="1"/>
          <p:nvPr/>
        </p:nvSpPr>
        <p:spPr>
          <a:xfrm>
            <a:off x="713232" y="1581912"/>
            <a:ext cx="546811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ComputeBMI.java</a:t>
            </a:r>
            <a:endParaRPr lang="en-US" sz="950" dirty="0"/>
          </a:p>
        </p:txBody>
      </p:sp>
      <p:sp>
        <p:nvSpPr>
          <p:cNvPr id="9" name="Text 7"/>
          <p:cNvSpPr txBox="1"/>
          <p:nvPr/>
        </p:nvSpPr>
        <p:spPr>
          <a:xfrm>
            <a:off x="731520" y="1810512"/>
            <a:ext cx="5431536" cy="3267334"/>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weight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95.5</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kilograms</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height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1.75</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metres</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bmi</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weight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height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height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printf</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"BMI is %.4f%n"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bmi</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bmi</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18.5</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"Underweight"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else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bmi</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25</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"Normal"</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else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bmi</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30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"Overweight"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else</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"Obese"</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0" name="Shape 8"/>
          <p:cNvSpPr/>
          <p:nvPr/>
        </p:nvSpPr>
        <p:spPr>
          <a:xfrm>
            <a:off x="566928" y="5370454"/>
            <a:ext cx="5760720" cy="907085"/>
          </a:xfrm>
          <a:prstGeom prst="roundRect">
            <a:avLst>
              <a:gd name="adj" fmla="val 7056"/>
            </a:avLst>
          </a:prstGeom>
          <a:solidFill>
            <a:srgbClr val="FFFFFF"/>
          </a:solidFill>
          <a:ln w="12700">
            <a:solidFill>
              <a:srgbClr val="4B6377"/>
            </a:solidFill>
            <a:prstDash val="solid"/>
          </a:ln>
        </p:spPr>
      </p:sp>
      <p:sp>
        <p:nvSpPr>
          <p:cNvPr id="11" name="Text 9"/>
          <p:cNvSpPr txBox="1"/>
          <p:nvPr/>
        </p:nvSpPr>
        <p:spPr>
          <a:xfrm>
            <a:off x="713232" y="5443606"/>
            <a:ext cx="546811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2" name="Text 10"/>
          <p:cNvSpPr txBox="1"/>
          <p:nvPr/>
        </p:nvSpPr>
        <p:spPr>
          <a:xfrm>
            <a:off x="713232" y="5644774"/>
            <a:ext cx="5468112" cy="541325"/>
          </a:xfrm>
          <a:prstGeom prst="rect">
            <a:avLst/>
          </a:prstGeom>
          <a:noFill/>
          <a:ln/>
        </p:spPr>
        <p:txBody>
          <a:bodyPr wrap="square" lIns="0" tIns="0" rIns="0" bIns="0" rtlCol="0" anchor="t"/>
          <a:lstStyle/>
          <a:p>
            <a:pPr indent="0" marL="0">
              <a:lnSpc>
                <a:spcPct val="110000"/>
              </a:lnSpc>
              <a:buNone/>
            </a:pPr>
            <a:r>
              <a:rPr lang="en-US" sz="1200" dirty="0">
                <a:solidFill>
                  <a:srgbClr val="0F2942"/>
                </a:solidFill>
                <a:latin typeface="Courier New" pitchFamily="34" charset="0"/>
                <a:ea typeface="Courier New" pitchFamily="34" charset="-122"/>
                <a:cs typeface="Courier New" pitchFamily="34" charset="-120"/>
              </a:rPr>
              <a:t>BMI is 31.1837</a:t>
            </a:r>
            <a:endParaRPr lang="en-US" sz="1200" dirty="0"/>
          </a:p>
          <a:p>
            <a:pPr indent="0" marL="0">
              <a:lnSpc>
                <a:spcPct val="110000"/>
              </a:lnSpc>
              <a:buNone/>
            </a:pPr>
            <a:r>
              <a:rPr lang="en-US" sz="1200" dirty="0">
                <a:solidFill>
                  <a:srgbClr val="0F2942"/>
                </a:solidFill>
                <a:latin typeface="Courier New" pitchFamily="34" charset="0"/>
                <a:ea typeface="Courier New" pitchFamily="34" charset="-122"/>
                <a:cs typeface="Courier New" pitchFamily="34" charset="-120"/>
              </a:rPr>
              <a:t>Obese</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784848" y="1536192"/>
          <a:ext cx="4839919" cy="914400"/>
        </p:xfrm>
        <a:graphic>
          <a:graphicData uri="http://schemas.openxmlformats.org/drawingml/2006/table">
            <a:tbl>
              <a:tblPr/>
              <a:tblGrid>
                <a:gridCol w="2516758"/>
                <a:gridCol w="2323161"/>
              </a:tblGrid>
              <a:tr h="36576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BMI</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Interpretation</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365760">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BMI &lt; 18.5</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Underweight</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65760">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18.5 ≤ BMI &lt; 25.0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Normal</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25.0 ≤ BMI &lt; 30.0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Overweight</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65760">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30.0 ≤ BMI</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Obese</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bl>
          </a:graphicData>
        </a:graphic>
      </p:graphicFrame>
      <p:sp>
        <p:nvSpPr>
          <p:cNvPr id="14" name="Shape 11"/>
          <p:cNvSpPr/>
          <p:nvPr/>
        </p:nvSpPr>
        <p:spPr>
          <a:xfrm>
            <a:off x="6784848" y="3776472"/>
            <a:ext cx="4839919" cy="1417320"/>
          </a:xfrm>
          <a:prstGeom prst="roundRect">
            <a:avLst>
              <a:gd name="adj" fmla="val 5806"/>
            </a:avLst>
          </a:prstGeom>
          <a:solidFill>
            <a:srgbClr val="E4ECF4"/>
          </a:solidFill>
          <a:ln w="12700">
            <a:solidFill>
              <a:srgbClr val="E4ECF4"/>
            </a:solidFill>
            <a:prstDash val="solid"/>
          </a:ln>
        </p:spPr>
      </p:sp>
      <p:sp>
        <p:nvSpPr>
          <p:cNvPr id="15" name="Text 12"/>
          <p:cNvSpPr txBox="1"/>
          <p:nvPr/>
        </p:nvSpPr>
        <p:spPr>
          <a:xfrm>
            <a:off x="7004304" y="3941064"/>
            <a:ext cx="440100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Notice what the ladder saves you</a:t>
            </a:r>
            <a:endParaRPr lang="en-US" sz="1450" dirty="0"/>
          </a:p>
        </p:txBody>
      </p:sp>
      <p:sp>
        <p:nvSpPr>
          <p:cNvPr id="13" name="Text 13"/>
          <p:cNvSpPr txBox="1"/>
          <p:nvPr/>
        </p:nvSpPr>
        <p:spPr>
          <a:xfrm>
            <a:off x="7004304" y="4270248"/>
            <a:ext cx="4401007" cy="79552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The second test is written bmi &lt; 25, not 18.5 &lt;= bmi &amp;&amp; bmi &lt; 25. It is only reached when bmi &lt; 18.5 was false, so the lower bound is already guaranteed.</a:t>
            </a:r>
            <a:endParaRPr lang="en-US" sz="1200" dirty="0"/>
          </a:p>
        </p:txBody>
      </p:sp>
      <p:sp>
        <p:nvSpPr>
          <p:cNvPr id="17" name="Shape 14"/>
          <p:cNvSpPr/>
          <p:nvPr/>
        </p:nvSpPr>
        <p:spPr>
          <a:xfrm>
            <a:off x="6784848" y="5330952"/>
            <a:ext cx="4839919" cy="1005840"/>
          </a:xfrm>
          <a:prstGeom prst="roundRect">
            <a:avLst>
              <a:gd name="adj" fmla="val 8182"/>
            </a:avLst>
          </a:prstGeom>
          <a:solidFill>
            <a:srgbClr val="FBEEE0"/>
          </a:solidFill>
          <a:ln w="12700">
            <a:solidFill>
              <a:srgbClr val="FBEEE0"/>
            </a:solidFill>
            <a:prstDash val="solid"/>
          </a:ln>
        </p:spPr>
      </p:sp>
      <p:sp>
        <p:nvSpPr>
          <p:cNvPr id="18" name="Text 15"/>
          <p:cNvSpPr txBox="1"/>
          <p:nvPr/>
        </p:nvSpPr>
        <p:spPr>
          <a:xfrm>
            <a:off x="7059168" y="5330952"/>
            <a:ext cx="4291279" cy="1005840"/>
          </a:xfrm>
          <a:prstGeom prst="rect">
            <a:avLst/>
          </a:prstGeom>
          <a:noFill/>
          <a:ln/>
        </p:spPr>
        <p:txBody>
          <a:bodyPr wrap="square" lIns="0" tIns="0" rIns="0" bIns="0" rtlCol="0" anchor="ctr"/>
          <a:lstStyle/>
          <a:p>
            <a:pPr indent="0" marL="0">
              <a:lnSpc>
                <a:spcPct val="110000"/>
              </a:lnSpc>
              <a:buNone/>
            </a:pPr>
            <a:r>
              <a:rPr lang="en-US" sz="1200" b="1" dirty="0">
                <a:solidFill>
                  <a:srgbClr val="9A430A"/>
                </a:solidFill>
                <a:latin typeface="Calibri" pitchFamily="34" charset="0"/>
                <a:ea typeface="Calibri" pitchFamily="34" charset="-122"/>
                <a:cs typeface="Calibri" pitchFamily="34" charset="-120"/>
              </a:rPr>
              <a:t>This interpretation applies to people 16 and older.  </a:t>
            </a:r>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A realistic program would test the age first — one more rung on the same ladder.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WORKED EXAMPLE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ComputeTax — Two Dimensions at Once</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Tax depends on filing status and on taxable income. A ladder inside a ladder.</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16</a:t>
            </a:r>
            <a:endParaRPr lang="en-US" sz="900" dirty="0"/>
          </a:p>
        </p:txBody>
      </p:sp>
      <p:sp>
        <p:nvSpPr>
          <p:cNvPr id="7" name="Shape 5"/>
          <p:cNvSpPr/>
          <p:nvPr/>
        </p:nvSpPr>
        <p:spPr>
          <a:xfrm>
            <a:off x="566928" y="1536192"/>
            <a:ext cx="5623560" cy="3247583"/>
          </a:xfrm>
          <a:prstGeom prst="roundRect">
            <a:avLst>
              <a:gd name="adj" fmla="val 1971"/>
            </a:avLst>
          </a:prstGeom>
          <a:solidFill>
            <a:srgbClr val="EDF2F7"/>
          </a:solidFill>
          <a:ln w="12700">
            <a:solidFill>
              <a:srgbClr val="CFDBE5"/>
            </a:solidFill>
            <a:prstDash val="solid"/>
          </a:ln>
        </p:spPr>
      </p:sp>
      <p:sp>
        <p:nvSpPr>
          <p:cNvPr id="8" name="Text 6"/>
          <p:cNvSpPr txBox="1"/>
          <p:nvPr/>
        </p:nvSpPr>
        <p:spPr>
          <a:xfrm>
            <a:off x="713232" y="1581912"/>
            <a:ext cx="533095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THE OUTER STRUCTURE</a:t>
            </a:r>
            <a:endParaRPr lang="en-US" sz="950" dirty="0"/>
          </a:p>
        </p:txBody>
      </p:sp>
      <p:sp>
        <p:nvSpPr>
          <p:cNvPr id="9" name="Text 7"/>
          <p:cNvSpPr txBox="1"/>
          <p:nvPr/>
        </p:nvSpPr>
        <p:spPr>
          <a:xfrm>
            <a:off x="731520" y="1810512"/>
            <a:ext cx="5294376" cy="2918399"/>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status</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single filer: another ladder in here</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else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status</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married jointly</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else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status</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separately</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else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status</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head of house</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else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"Error: bad status"</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exit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0" name="Shape 8"/>
          <p:cNvSpPr/>
          <p:nvPr/>
        </p:nvSpPr>
        <p:spPr>
          <a:xfrm>
            <a:off x="566928" y="5039807"/>
            <a:ext cx="5623560" cy="1328440"/>
          </a:xfrm>
          <a:prstGeom prst="roundRect">
            <a:avLst>
              <a:gd name="adj" fmla="val 4818"/>
            </a:avLst>
          </a:prstGeom>
          <a:solidFill>
            <a:srgbClr val="EDF2F7"/>
          </a:solidFill>
          <a:ln w="12700">
            <a:solidFill>
              <a:srgbClr val="CFDBE5"/>
            </a:solidFill>
            <a:prstDash val="solid"/>
          </a:ln>
        </p:spPr>
      </p:sp>
      <p:sp>
        <p:nvSpPr>
          <p:cNvPr id="11" name="Text 9"/>
          <p:cNvSpPr txBox="1"/>
          <p:nvPr/>
        </p:nvSpPr>
        <p:spPr>
          <a:xfrm>
            <a:off x="713232" y="5085527"/>
            <a:ext cx="533095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THE INNER LADDER FOR status == 0 — EACH BRACKET TAXED AT ITS OWN RATE</a:t>
            </a:r>
            <a:endParaRPr lang="en-US" sz="950" dirty="0"/>
          </a:p>
        </p:txBody>
      </p:sp>
      <p:sp>
        <p:nvSpPr>
          <p:cNvPr id="12" name="Text 10"/>
          <p:cNvSpPr txBox="1"/>
          <p:nvPr/>
        </p:nvSpPr>
        <p:spPr>
          <a:xfrm>
            <a:off x="731520" y="5314127"/>
            <a:ext cx="5294376" cy="999256"/>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income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12400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tax</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income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0.10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else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income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50400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tax</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12400</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0.10</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income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12400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0.12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47688" y="1536192"/>
          <a:ext cx="4977079" cy="914400"/>
        </p:xfrm>
        <a:graphic>
          <a:graphicData uri="http://schemas.openxmlformats.org/drawingml/2006/table">
            <a:tbl>
              <a:tblPr/>
              <a:tblGrid>
                <a:gridCol w="1194499"/>
                <a:gridCol w="378258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Rate</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Taxable income — single filer</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292608">
                <a:tc>
                  <a:txBody>
                    <a:bodyPr/>
                    <a:lstStyle/>
                    <a:p>
                      <a:pPr indent="0" marL="0">
                        <a:buNone/>
                      </a:pPr>
                      <a:r>
                        <a:rPr lang="en-US" sz="1100" b="1" dirty="0">
                          <a:solidFill>
                            <a:srgbClr val="9A430A"/>
                          </a:solidFill>
                          <a:latin typeface="Courier New" pitchFamily="34" charset="0"/>
                          <a:ea typeface="Courier New" pitchFamily="34" charset="-122"/>
                          <a:cs typeface="Courier New" pitchFamily="34" charset="-120"/>
                        </a:rPr>
                        <a:t>10%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$0 – $12,400</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292608">
                <a:tc>
                  <a:txBody>
                    <a:bodyPr/>
                    <a:lstStyle/>
                    <a:p>
                      <a:pPr indent="0" marL="0">
                        <a:buNone/>
                      </a:pPr>
                      <a:r>
                        <a:rPr lang="en-US" sz="1100" b="1" dirty="0">
                          <a:solidFill>
                            <a:srgbClr val="9A430A"/>
                          </a:solidFill>
                          <a:latin typeface="Courier New" pitchFamily="34" charset="0"/>
                          <a:ea typeface="Courier New" pitchFamily="34" charset="-122"/>
                          <a:cs typeface="Courier New" pitchFamily="34" charset="-120"/>
                        </a:rPr>
                        <a:t>12%</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$12,401 – $50,400</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9A430A"/>
                          </a:solidFill>
                          <a:latin typeface="Courier New" pitchFamily="34" charset="0"/>
                          <a:ea typeface="Courier New" pitchFamily="34" charset="-122"/>
                          <a:cs typeface="Courier New" pitchFamily="34" charset="-120"/>
                        </a:rPr>
                        <a:t>22%</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$50,401 – $105,700</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292608">
                <a:tc>
                  <a:txBody>
                    <a:bodyPr/>
                    <a:lstStyle/>
                    <a:p>
                      <a:pPr indent="0" marL="0">
                        <a:buNone/>
                      </a:pPr>
                      <a:r>
                        <a:rPr lang="en-US" sz="1100" b="1" dirty="0">
                          <a:solidFill>
                            <a:srgbClr val="9A430A"/>
                          </a:solidFill>
                          <a:latin typeface="Courier New" pitchFamily="34" charset="0"/>
                          <a:ea typeface="Courier New" pitchFamily="34" charset="-122"/>
                          <a:cs typeface="Courier New" pitchFamily="34" charset="-120"/>
                        </a:rPr>
                        <a:t>24%</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$105,701 – $201,775</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9A430A"/>
                          </a:solidFill>
                          <a:latin typeface="Courier New" pitchFamily="34" charset="0"/>
                          <a:ea typeface="Courier New" pitchFamily="34" charset="-122"/>
                          <a:cs typeface="Courier New" pitchFamily="34" charset="-120"/>
                        </a:rPr>
                        <a:t>32%</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$201,776 – $256,225</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292608">
                <a:tc>
                  <a:txBody>
                    <a:bodyPr/>
                    <a:lstStyle/>
                    <a:p>
                      <a:pPr indent="0" marL="0">
                        <a:buNone/>
                      </a:pPr>
                      <a:r>
                        <a:rPr lang="en-US" sz="1100" b="1" dirty="0">
                          <a:solidFill>
                            <a:srgbClr val="9A430A"/>
                          </a:solidFill>
                          <a:latin typeface="Courier New" pitchFamily="34" charset="0"/>
                          <a:ea typeface="Courier New" pitchFamily="34" charset="-122"/>
                          <a:cs typeface="Courier New" pitchFamily="34" charset="-120"/>
                        </a:rPr>
                        <a:t>35%</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$256,226 – $640,600</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9A430A"/>
                          </a:solidFill>
                          <a:latin typeface="Courier New" pitchFamily="34" charset="0"/>
                          <a:ea typeface="Courier New" pitchFamily="34" charset="-122"/>
                          <a:cs typeface="Courier New" pitchFamily="34" charset="-120"/>
                        </a:rPr>
                        <a:t>37%</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$640,601 and above</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bl>
          </a:graphicData>
        </a:graphic>
      </p:graphicFrame>
      <p:sp>
        <p:nvSpPr>
          <p:cNvPr id="14" name="Text 11"/>
          <p:cNvSpPr txBox="1"/>
          <p:nvPr/>
        </p:nvSpPr>
        <p:spPr>
          <a:xfrm>
            <a:off x="6647688" y="4416552"/>
            <a:ext cx="4977079" cy="685800"/>
          </a:xfrm>
          <a:prstGeom prst="rect">
            <a:avLst/>
          </a:prstGeom>
          <a:noFill/>
          <a:ln/>
        </p:spPr>
        <p:txBody>
          <a:bodyPr wrap="square" lIns="0" tIns="0" rIns="0" bIns="0" rtlCol="0" anchor="t"/>
          <a:lstStyle/>
          <a:p>
            <a:pPr indent="0" marL="0">
              <a:lnSpc>
                <a:spcPct val="110000"/>
              </a:lnSpc>
              <a:buNone/>
            </a:pPr>
            <a:r>
              <a:rPr lang="en-US" sz="1100" i="1" dirty="0">
                <a:solidFill>
                  <a:srgbClr val="4B6377"/>
                </a:solidFill>
                <a:latin typeface="Calibri" pitchFamily="34" charset="0"/>
                <a:ea typeface="Calibri" pitchFamily="34" charset="-122"/>
                <a:cs typeface="Calibri" pitchFamily="34" charset="-120"/>
              </a:rPr>
              <a:t>US federal brackets for tax year 2026. Last year's slide still quoted 2009 — the shape of the problem is what matters, but stale numbers in a worked example teach the wrong lesson.</a:t>
            </a:r>
            <a:endParaRPr lang="en-US" sz="1100" dirty="0"/>
          </a:p>
        </p:txBody>
      </p:sp>
      <p:sp>
        <p:nvSpPr>
          <p:cNvPr id="15" name="Shape 12"/>
          <p:cNvSpPr/>
          <p:nvPr/>
        </p:nvSpPr>
        <p:spPr>
          <a:xfrm>
            <a:off x="6647688" y="5239512"/>
            <a:ext cx="4977079" cy="1234440"/>
          </a:xfrm>
          <a:prstGeom prst="roundRect">
            <a:avLst>
              <a:gd name="adj" fmla="val 6667"/>
            </a:avLst>
          </a:prstGeom>
          <a:solidFill>
            <a:srgbClr val="E4ECF4"/>
          </a:solidFill>
          <a:ln w="12700">
            <a:solidFill>
              <a:srgbClr val="E4ECF4"/>
            </a:solidFill>
            <a:prstDash val="solid"/>
          </a:ln>
        </p:spPr>
      </p:sp>
      <p:sp>
        <p:nvSpPr>
          <p:cNvPr id="16" name="Text 13"/>
          <p:cNvSpPr txBox="1"/>
          <p:nvPr/>
        </p:nvSpPr>
        <p:spPr>
          <a:xfrm>
            <a:off x="6903720" y="5376672"/>
            <a:ext cx="4465015"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Always give the ladder a final else</a:t>
            </a:r>
            <a:endParaRPr lang="en-US" sz="1350" dirty="0"/>
          </a:p>
        </p:txBody>
      </p:sp>
      <p:sp>
        <p:nvSpPr>
          <p:cNvPr id="13" name="Text 14"/>
          <p:cNvSpPr txBox="1"/>
          <p:nvPr/>
        </p:nvSpPr>
        <p:spPr>
          <a:xfrm>
            <a:off x="6903720" y="5687568"/>
            <a:ext cx="4465015" cy="73152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Without it, an invalid status silently computes no tax at all and the program reports zero — which looks exactly like an answer.</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1E5"/>
        </a:solidFill>
      </p:bgPr>
    </p:bg>
    <p:spTree>
      <p:nvGrpSpPr>
        <p:cNvPr id="1" name=""/>
        <p:cNvGrpSpPr/>
        <p:nvPr/>
      </p:nvGrpSpPr>
      <p:grpSpPr>
        <a:xfrm>
          <a:off x="0" y="0"/>
          <a:ext cx="0" cy="0"/>
          <a:chOff x="0" y="0"/>
          <a:chExt cx="0" cy="0"/>
        </a:xfrm>
      </p:grpSpPr>
      <p:sp>
        <p:nvSpPr>
          <p:cNvPr id="2" name="Text 0"/>
          <p:cNvSpPr txBox="1"/>
          <p:nvPr/>
        </p:nvSpPr>
        <p:spPr>
          <a:xfrm>
            <a:off x="566928" y="566928"/>
            <a:ext cx="5486400" cy="274320"/>
          </a:xfrm>
          <a:prstGeom prst="rect">
            <a:avLst/>
          </a:prstGeom>
          <a:noFill/>
          <a:ln/>
        </p:spPr>
        <p:txBody>
          <a:bodyPr wrap="square" lIns="0" tIns="0" rIns="0" bIns="0" rtlCol="0" anchor="ctr"/>
          <a:lstStyle/>
          <a:p>
            <a:pPr indent="0" marL="0">
              <a:buNone/>
            </a:pPr>
            <a:r>
              <a:rPr lang="en-US" sz="1200" b="1" spc="200" kern="0" dirty="0">
                <a:solidFill>
                  <a:srgbClr val="9A430A"/>
                </a:solidFill>
                <a:latin typeface="Calibri" pitchFamily="34" charset="0"/>
                <a:ea typeface="Calibri" pitchFamily="34" charset="-122"/>
                <a:cs typeface="Calibri" pitchFamily="34" charset="-120"/>
              </a:rPr>
              <a:t>CHECKPOINT 2</a:t>
            </a:r>
            <a:endParaRPr lang="en-US" sz="1200" dirty="0"/>
          </a:p>
        </p:txBody>
      </p:sp>
      <p:sp>
        <p:nvSpPr>
          <p:cNvPr id="3" name="Text 1"/>
          <p:cNvSpPr txBox="1"/>
          <p:nvPr/>
        </p:nvSpPr>
        <p:spPr>
          <a:xfrm>
            <a:off x="566928" y="841248"/>
            <a:ext cx="7315200" cy="566928"/>
          </a:xfrm>
          <a:prstGeom prst="rect">
            <a:avLst/>
          </a:prstGeom>
          <a:noFill/>
          <a:ln/>
        </p:spPr>
        <p:txBody>
          <a:bodyPr wrap="square" lIns="0" tIns="0" rIns="0" bIns="0" rtlCol="0" anchor="ctr"/>
          <a:lstStyle/>
          <a:p>
            <a:pPr indent="0" marL="0">
              <a:buNone/>
            </a:pPr>
            <a:r>
              <a:rPr lang="en-US" sz="3400" b="1" dirty="0">
                <a:solidFill>
                  <a:srgbClr val="0F2942"/>
                </a:solidFill>
                <a:latin typeface="Cambria" pitchFamily="34" charset="0"/>
                <a:ea typeface="Cambria" pitchFamily="34" charset="-122"/>
                <a:cs typeface="Cambria" pitchFamily="34" charset="-120"/>
              </a:rPr>
              <a:t>Over to You</a:t>
            </a:r>
            <a:endParaRPr lang="en-US" sz="3400" dirty="0"/>
          </a:p>
        </p:txBody>
      </p:sp>
      <p:sp>
        <p:nvSpPr>
          <p:cNvPr id="4" name="Text 2"/>
          <p:cNvSpPr txBox="1"/>
          <p:nvPr/>
        </p:nvSpPr>
        <p:spPr>
          <a:xfrm>
            <a:off x="6687007" y="960120"/>
            <a:ext cx="4937760" cy="365760"/>
          </a:xfrm>
          <a:prstGeom prst="rect">
            <a:avLst/>
          </a:prstGeom>
          <a:noFill/>
          <a:ln/>
        </p:spPr>
        <p:txBody>
          <a:bodyPr wrap="square" lIns="0" tIns="0" rIns="0" bIns="0" rtlCol="0" anchor="ctr"/>
          <a:lstStyle/>
          <a:p>
            <a:pPr algn="r" indent="0" marL="0">
              <a:buNone/>
            </a:pPr>
            <a:r>
              <a:rPr lang="en-US" sz="1250" dirty="0">
                <a:solidFill>
                  <a:srgbClr val="4B6377"/>
                </a:solidFill>
                <a:latin typeface="Calibri" pitchFamily="34" charset="0"/>
                <a:ea typeface="Calibri" pitchFamily="34" charset="-122"/>
                <a:cs typeface="Calibri" pitchFamily="34" charset="-120"/>
              </a:rPr>
              <a:t>Covering slides 12–16</a:t>
            </a:r>
            <a:endParaRPr lang="en-US" sz="1250" dirty="0"/>
          </a:p>
        </p:txBody>
      </p:sp>
      <p:sp>
        <p:nvSpPr>
          <p:cNvPr id="5" name="Shape 3"/>
          <p:cNvSpPr/>
          <p:nvPr/>
        </p:nvSpPr>
        <p:spPr>
          <a:xfrm>
            <a:off x="566928" y="1562344"/>
            <a:ext cx="11057839" cy="960120"/>
          </a:xfrm>
          <a:prstGeom prst="roundRect">
            <a:avLst>
              <a:gd name="adj" fmla="val 8571"/>
            </a:avLst>
          </a:prstGeom>
          <a:solidFill>
            <a:srgbClr val="FFFFFF"/>
          </a:solidFill>
          <a:ln w="12700">
            <a:solidFill>
              <a:srgbClr val="D3DEE7"/>
            </a:solidFill>
            <a:prstDash val="solid"/>
          </a:ln>
        </p:spPr>
      </p:sp>
      <p:sp>
        <p:nvSpPr>
          <p:cNvPr id="6" name="Shape 4"/>
          <p:cNvSpPr/>
          <p:nvPr/>
        </p:nvSpPr>
        <p:spPr>
          <a:xfrm>
            <a:off x="841248" y="1800088"/>
            <a:ext cx="402336" cy="402336"/>
          </a:xfrm>
          <a:prstGeom prst="ellipse">
            <a:avLst/>
          </a:prstGeom>
          <a:solidFill>
            <a:srgbClr val="C4560C"/>
          </a:solidFill>
          <a:ln w="12700">
            <a:solidFill>
              <a:srgbClr val="C4560C"/>
            </a:solidFill>
            <a:prstDash val="solid"/>
          </a:ln>
        </p:spPr>
      </p:sp>
      <p:sp>
        <p:nvSpPr>
          <p:cNvPr id="7" name="Text 5"/>
          <p:cNvSpPr txBox="1"/>
          <p:nvPr/>
        </p:nvSpPr>
        <p:spPr>
          <a:xfrm>
            <a:off x="841248" y="180008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8" name="Text 6"/>
          <p:cNvSpPr txBox="1"/>
          <p:nvPr/>
        </p:nvSpPr>
        <p:spPr>
          <a:xfrm>
            <a:off x="1435608" y="1726936"/>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In the grade ladder, why is it enough to write else if (score &gt;= 70.0) with no upper bound?</a:t>
            </a:r>
            <a:endParaRPr lang="en-US" sz="1550" dirty="0"/>
          </a:p>
        </p:txBody>
      </p:sp>
      <p:sp>
        <p:nvSpPr>
          <p:cNvPr id="9" name="Shape 7"/>
          <p:cNvSpPr/>
          <p:nvPr/>
        </p:nvSpPr>
        <p:spPr>
          <a:xfrm>
            <a:off x="566928" y="2741920"/>
            <a:ext cx="11057839" cy="2343424"/>
          </a:xfrm>
          <a:prstGeom prst="roundRect">
            <a:avLst>
              <a:gd name="adj" fmla="val 3512"/>
            </a:avLst>
          </a:prstGeom>
          <a:solidFill>
            <a:srgbClr val="FFFFFF"/>
          </a:solidFill>
          <a:ln w="12700">
            <a:solidFill>
              <a:srgbClr val="D3DEE7"/>
            </a:solidFill>
            <a:prstDash val="solid"/>
          </a:ln>
        </p:spPr>
      </p:sp>
      <p:sp>
        <p:nvSpPr>
          <p:cNvPr id="10" name="Shape 8"/>
          <p:cNvSpPr/>
          <p:nvPr/>
        </p:nvSpPr>
        <p:spPr>
          <a:xfrm>
            <a:off x="841248" y="2979664"/>
            <a:ext cx="402336" cy="402336"/>
          </a:xfrm>
          <a:prstGeom prst="ellipse">
            <a:avLst/>
          </a:prstGeom>
          <a:solidFill>
            <a:srgbClr val="C4560C"/>
          </a:solidFill>
          <a:ln w="12700">
            <a:solidFill>
              <a:srgbClr val="C4560C"/>
            </a:solidFill>
            <a:prstDash val="solid"/>
          </a:ln>
        </p:spPr>
      </p:sp>
      <p:sp>
        <p:nvSpPr>
          <p:cNvPr id="11" name="Text 9"/>
          <p:cNvSpPr txBox="1"/>
          <p:nvPr/>
        </p:nvSpPr>
        <p:spPr>
          <a:xfrm>
            <a:off x="841248" y="2979664"/>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2" name="Text 10"/>
          <p:cNvSpPr txBox="1"/>
          <p:nvPr/>
        </p:nvSpPr>
        <p:spPr>
          <a:xfrm>
            <a:off x="1435608" y="2906512"/>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With i = 1, j = 2, k = 3, what does this print — and which if does the else belong to?</a:t>
            </a:r>
            <a:endParaRPr lang="en-US" sz="1550" dirty="0"/>
          </a:p>
        </p:txBody>
      </p:sp>
      <p:sp>
        <p:nvSpPr>
          <p:cNvPr id="13" name="Shape 11"/>
          <p:cNvSpPr/>
          <p:nvPr/>
        </p:nvSpPr>
        <p:spPr>
          <a:xfrm>
            <a:off x="1435608" y="3382000"/>
            <a:ext cx="6949440" cy="1182136"/>
          </a:xfrm>
          <a:prstGeom prst="roundRect">
            <a:avLst>
              <a:gd name="adj" fmla="val 5415"/>
            </a:avLst>
          </a:prstGeom>
          <a:solidFill>
            <a:srgbClr val="EDF2F7"/>
          </a:solidFill>
          <a:ln w="12700">
            <a:solidFill>
              <a:srgbClr val="CFDBE5"/>
            </a:solidFill>
            <a:prstDash val="solid"/>
          </a:ln>
        </p:spPr>
      </p:sp>
      <p:sp>
        <p:nvSpPr>
          <p:cNvPr id="14" name="Text 12"/>
          <p:cNvSpPr txBox="1"/>
          <p:nvPr/>
        </p:nvSpPr>
        <p:spPr>
          <a:xfrm>
            <a:off x="1600200" y="3519160"/>
            <a:ext cx="6620256" cy="980968"/>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"A"</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else</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"B"</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5" name="Shape 13"/>
          <p:cNvSpPr/>
          <p:nvPr/>
        </p:nvSpPr>
        <p:spPr>
          <a:xfrm>
            <a:off x="566928" y="5304800"/>
            <a:ext cx="11057839" cy="960120"/>
          </a:xfrm>
          <a:prstGeom prst="roundRect">
            <a:avLst>
              <a:gd name="adj" fmla="val 8571"/>
            </a:avLst>
          </a:prstGeom>
          <a:solidFill>
            <a:srgbClr val="FFFFFF"/>
          </a:solidFill>
          <a:ln w="12700">
            <a:solidFill>
              <a:srgbClr val="D3DEE7"/>
            </a:solidFill>
            <a:prstDash val="solid"/>
          </a:ln>
        </p:spPr>
      </p:sp>
      <p:sp>
        <p:nvSpPr>
          <p:cNvPr id="16" name="Shape 14"/>
          <p:cNvSpPr/>
          <p:nvPr/>
        </p:nvSpPr>
        <p:spPr>
          <a:xfrm>
            <a:off x="841248" y="5542544"/>
            <a:ext cx="402336" cy="402336"/>
          </a:xfrm>
          <a:prstGeom prst="ellipse">
            <a:avLst/>
          </a:prstGeom>
          <a:solidFill>
            <a:srgbClr val="C4560C"/>
          </a:solidFill>
          <a:ln w="12700">
            <a:solidFill>
              <a:srgbClr val="C4560C"/>
            </a:solidFill>
            <a:prstDash val="solid"/>
          </a:ln>
        </p:spPr>
      </p:sp>
      <p:sp>
        <p:nvSpPr>
          <p:cNvPr id="17" name="Text 15"/>
          <p:cNvSpPr txBox="1"/>
          <p:nvPr/>
        </p:nvSpPr>
        <p:spPr>
          <a:xfrm>
            <a:off x="841248" y="5542544"/>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8" name="Text 16"/>
          <p:cNvSpPr txBox="1"/>
          <p:nvPr/>
        </p:nvSpPr>
        <p:spPr>
          <a:xfrm>
            <a:off x="1435608" y="5469392"/>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Why should every else-if ladder that classifies user input end with a plain else?</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DF2F7"/>
        </a:solidFill>
      </p:bgPr>
    </p:bg>
    <p:spTree>
      <p:nvGrpSpPr>
        <p:cNvPr id="1" name=""/>
        <p:cNvGrpSpPr/>
        <p:nvPr/>
      </p:nvGrpSpPr>
      <p:grpSpPr>
        <a:xfrm>
          <a:off x="0" y="0"/>
          <a:ext cx="0" cy="0"/>
          <a:chOff x="0" y="0"/>
          <a:chExt cx="0" cy="0"/>
        </a:xfrm>
      </p:grpSpPr>
      <p:sp>
        <p:nvSpPr>
          <p:cNvPr id="2" name="Text 0"/>
          <p:cNvSpPr txBox="1"/>
          <p:nvPr/>
        </p:nvSpPr>
        <p:spPr>
          <a:xfrm>
            <a:off x="566928" y="2286000"/>
            <a:ext cx="5486400" cy="310896"/>
          </a:xfrm>
          <a:prstGeom prst="rect">
            <a:avLst/>
          </a:prstGeom>
          <a:noFill/>
          <a:ln/>
        </p:spPr>
        <p:txBody>
          <a:bodyPr wrap="square" lIns="0" tIns="0" rIns="0" bIns="0" rtlCol="0" anchor="ctr"/>
          <a:lstStyle/>
          <a:p>
            <a:pPr indent="0" marL="0">
              <a:buNone/>
            </a:pPr>
            <a:r>
              <a:rPr lang="en-US" sz="1300" b="1" spc="240" kern="0" dirty="0">
                <a:solidFill>
                  <a:srgbClr val="9A430A"/>
                </a:solidFill>
                <a:latin typeface="Calibri" pitchFamily="34" charset="0"/>
                <a:ea typeface="Calibri" pitchFamily="34" charset="-122"/>
                <a:cs typeface="Calibri" pitchFamily="34" charset="-120"/>
              </a:rPr>
              <a:t>PART 02</a:t>
            </a:r>
            <a:endParaRPr lang="en-US" sz="1300" dirty="0"/>
          </a:p>
        </p:txBody>
      </p:sp>
      <p:sp>
        <p:nvSpPr>
          <p:cNvPr id="3" name="Text 1"/>
          <p:cNvSpPr txBox="1"/>
          <p:nvPr/>
        </p:nvSpPr>
        <p:spPr>
          <a:xfrm>
            <a:off x="566928" y="2697480"/>
            <a:ext cx="8046720" cy="1737360"/>
          </a:xfrm>
          <a:prstGeom prst="rect">
            <a:avLst/>
          </a:prstGeom>
          <a:noFill/>
          <a:ln/>
        </p:spPr>
        <p:txBody>
          <a:bodyPr wrap="square" lIns="0" tIns="0" rIns="0" bIns="0" rtlCol="0" anchor="ctr"/>
          <a:lstStyle/>
          <a:p>
            <a:pPr indent="0" marL="0">
              <a:lnSpc>
                <a:spcPct val="105000"/>
              </a:lnSpc>
              <a:buNone/>
            </a:pPr>
            <a:r>
              <a:rPr lang="en-US" sz="4400" b="1" dirty="0">
                <a:solidFill>
                  <a:srgbClr val="0F2942"/>
                </a:solidFill>
                <a:latin typeface="Cambria" pitchFamily="34" charset="0"/>
                <a:ea typeface="Cambria" pitchFamily="34" charset="-122"/>
                <a:cs typeface="Cambria" pitchFamily="34" charset="-120"/>
              </a:rPr>
              <a:t>Combining</a:t>
            </a:r>
            <a:endParaRPr lang="en-US" sz="4400" dirty="0"/>
          </a:p>
          <a:p>
            <a:pPr indent="0" marL="0">
              <a:lnSpc>
                <a:spcPct val="105000"/>
              </a:lnSpc>
              <a:buNone/>
            </a:pPr>
            <a:r>
              <a:rPr lang="en-US" sz="4400" b="1" dirty="0">
                <a:solidFill>
                  <a:srgbClr val="0F2942"/>
                </a:solidFill>
                <a:latin typeface="Cambria" pitchFamily="34" charset="0"/>
                <a:ea typeface="Cambria" pitchFamily="34" charset="-122"/>
                <a:cs typeface="Cambria" pitchFamily="34" charset="-120"/>
              </a:rPr>
              <a:t>Conditions</a:t>
            </a:r>
            <a:endParaRPr lang="en-US" sz="4400" dirty="0"/>
          </a:p>
        </p:txBody>
      </p:sp>
      <p:sp>
        <p:nvSpPr>
          <p:cNvPr id="4" name="Text 2"/>
          <p:cNvSpPr txBox="1"/>
          <p:nvPr/>
        </p:nvSpPr>
        <p:spPr>
          <a:xfrm>
            <a:off x="566928" y="4526280"/>
            <a:ext cx="8686800" cy="365760"/>
          </a:xfrm>
          <a:prstGeom prst="rect">
            <a:avLst/>
          </a:prstGeom>
          <a:noFill/>
          <a:ln/>
        </p:spPr>
        <p:txBody>
          <a:bodyPr wrap="square" lIns="0" tIns="0" rIns="0" bIns="0" rtlCol="0" anchor="ctr"/>
          <a:lstStyle/>
          <a:p>
            <a:pPr indent="0" marL="0">
              <a:buNone/>
            </a:pPr>
            <a:r>
              <a:rPr lang="en-US" sz="1500" dirty="0">
                <a:solidFill>
                  <a:srgbClr val="3A536B"/>
                </a:solidFill>
                <a:latin typeface="Calibri" pitchFamily="34" charset="0"/>
                <a:ea typeface="Calibri" pitchFamily="34" charset="-122"/>
                <a:cs typeface="Calibri" pitchFamily="34" charset="-120"/>
              </a:rPr>
              <a:t>Boolean operators — and the difference between &amp;&amp; and &amp; that catches everyone once.</a:t>
            </a:r>
            <a:endParaRPr lang="en-US" sz="1500" dirty="0"/>
          </a:p>
        </p:txBody>
      </p:sp>
      <p:sp>
        <p:nvSpPr>
          <p:cNvPr id="5" name="Text 3"/>
          <p:cNvSpPr txBox="1"/>
          <p:nvPr/>
        </p:nvSpPr>
        <p:spPr>
          <a:xfrm>
            <a:off x="9247327" y="2011680"/>
            <a:ext cx="2377440" cy="2194560"/>
          </a:xfrm>
          <a:prstGeom prst="rect">
            <a:avLst/>
          </a:prstGeom>
          <a:noFill/>
          <a:ln/>
        </p:spPr>
        <p:txBody>
          <a:bodyPr wrap="square" lIns="0" tIns="0" rIns="0" bIns="0" rtlCol="0" anchor="ctr"/>
          <a:lstStyle/>
          <a:p>
            <a:pPr algn="r" indent="0" marL="0">
              <a:buNone/>
            </a:pPr>
            <a:r>
              <a:rPr lang="en-US" sz="13000" b="1" dirty="0">
                <a:solidFill>
                  <a:srgbClr val="CFDCE8"/>
                </a:solidFill>
                <a:latin typeface="Cambria" pitchFamily="34" charset="0"/>
                <a:ea typeface="Cambria" pitchFamily="34" charset="-122"/>
                <a:cs typeface="Cambria" pitchFamily="34" charset="-120"/>
              </a:rPr>
              <a:t>02</a:t>
            </a:r>
            <a:endParaRPr lang="en-US" sz="13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BOOLEAN LOGIC</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The Four Logical Operators</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They take Boolean operands and produce a Boolean result, so they combine conditions into bigger conditions.</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19</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5486400" cy="914400"/>
        </p:xfrm>
        <a:graphic>
          <a:graphicData uri="http://schemas.openxmlformats.org/drawingml/2006/table">
            <a:tbl>
              <a:tblPr/>
              <a:tblGrid>
                <a:gridCol w="1097280"/>
                <a:gridCol w="1371600"/>
                <a:gridCol w="3017520"/>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Operator</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Name</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Meaning</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384048">
                <a:tc>
                  <a:txBody>
                    <a:bodyPr/>
                    <a:lstStyle/>
                    <a:p>
                      <a:pPr indent="0" marL="0">
                        <a:buNone/>
                      </a:pPr>
                      <a:r>
                        <a:rPr lang="en-US" sz="1300" b="1" dirty="0">
                          <a:solidFill>
                            <a:srgbClr val="9A430A"/>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b="1" dirty="0">
                          <a:solidFill>
                            <a:srgbClr val="0F2942"/>
                          </a:solidFill>
                          <a:latin typeface="Calibri" pitchFamily="34" charset="0"/>
                          <a:ea typeface="Calibri" pitchFamily="34" charset="-122"/>
                          <a:cs typeface="Calibri" pitchFamily="34" charset="-120"/>
                        </a:rPr>
                        <a:t>not</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logical negation — flips true to false</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84048">
                <a:tc>
                  <a:txBody>
                    <a:bodyPr/>
                    <a:lstStyle/>
                    <a:p>
                      <a:pPr indent="0" marL="0">
                        <a:buNone/>
                      </a:pPr>
                      <a:r>
                        <a:rPr lang="en-US" sz="1300" b="1" dirty="0">
                          <a:solidFill>
                            <a:srgbClr val="9A430A"/>
                          </a:solidFill>
                          <a:latin typeface="Courier New" pitchFamily="34" charset="0"/>
                          <a:ea typeface="Courier New" pitchFamily="34" charset="-122"/>
                          <a:cs typeface="Courier New" pitchFamily="34" charset="-120"/>
                        </a:rPr>
                        <a:t>&amp;&amp;</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b="1" dirty="0">
                          <a:solidFill>
                            <a:srgbClr val="0F2942"/>
                          </a:solidFill>
                          <a:latin typeface="Calibri" pitchFamily="34" charset="0"/>
                          <a:ea typeface="Calibri" pitchFamily="34" charset="-122"/>
                          <a:cs typeface="Calibri" pitchFamily="34" charset="-120"/>
                        </a:rPr>
                        <a:t>and</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true only when both operands are true</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9A430A"/>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b="1" dirty="0">
                          <a:solidFill>
                            <a:srgbClr val="0F2942"/>
                          </a:solidFill>
                          <a:latin typeface="Calibri" pitchFamily="34" charset="0"/>
                          <a:ea typeface="Calibri" pitchFamily="34" charset="-122"/>
                          <a:cs typeface="Calibri" pitchFamily="34" charset="-120"/>
                        </a:rPr>
                        <a:t>or</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true when at least one operand is true</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84048">
                <a:tc>
                  <a:txBody>
                    <a:bodyPr/>
                    <a:lstStyle/>
                    <a:p>
                      <a:pPr indent="0" marL="0">
                        <a:buNone/>
                      </a:pPr>
                      <a:r>
                        <a:rPr lang="en-US" sz="1300" b="1" dirty="0">
                          <a:solidFill>
                            <a:srgbClr val="9A430A"/>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b="1" dirty="0">
                          <a:solidFill>
                            <a:srgbClr val="0F2942"/>
                          </a:solidFill>
                          <a:latin typeface="Calibri" pitchFamily="34" charset="0"/>
                          <a:ea typeface="Calibri" pitchFamily="34" charset="-122"/>
                          <a:cs typeface="Calibri" pitchFamily="34" charset="-120"/>
                        </a:rPr>
                        <a:t>exclusive or</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true when the operands differ</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bl>
          </a:graphicData>
        </a:graphic>
      </p:graphicFrame>
      <p:sp>
        <p:nvSpPr>
          <p:cNvPr id="8" name="Shape 5"/>
          <p:cNvSpPr/>
          <p:nvPr/>
        </p:nvSpPr>
        <p:spPr>
          <a:xfrm>
            <a:off x="566928" y="3913632"/>
            <a:ext cx="5486400" cy="2036003"/>
          </a:xfrm>
          <a:prstGeom prst="roundRect">
            <a:avLst>
              <a:gd name="adj" fmla="val 3144"/>
            </a:avLst>
          </a:prstGeom>
          <a:solidFill>
            <a:srgbClr val="EDF2F7"/>
          </a:solidFill>
          <a:ln w="12700">
            <a:solidFill>
              <a:srgbClr val="CFDBE5"/>
            </a:solidFill>
            <a:prstDash val="solid"/>
          </a:ln>
        </p:spPr>
      </p:sp>
      <p:sp>
        <p:nvSpPr>
          <p:cNvPr id="9" name="Text 6"/>
          <p:cNvSpPr txBox="1"/>
          <p:nvPr/>
        </p:nvSpPr>
        <p:spPr>
          <a:xfrm>
            <a:off x="713232" y="3959352"/>
            <a:ext cx="519379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IN USE</a:t>
            </a:r>
            <a:endParaRPr lang="en-US" sz="950" dirty="0"/>
          </a:p>
        </p:txBody>
      </p:sp>
      <p:sp>
        <p:nvSpPr>
          <p:cNvPr id="10" name="Text 7"/>
          <p:cNvSpPr txBox="1"/>
          <p:nvPr/>
        </p:nvSpPr>
        <p:spPr>
          <a:xfrm>
            <a:off x="731520" y="4187952"/>
            <a:ext cx="5157216" cy="1706819"/>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boolean</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adult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age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18</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boolean</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student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role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adult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&amp;</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&amp;</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student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both</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adult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student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either</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adult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neither</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adult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student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exactly one</a:t>
            </a:r>
            <a:endParaRPr lang="en-US" sz="1150" dirty="0"/>
          </a:p>
        </p:txBody>
      </p:sp>
      <p:sp>
        <p:nvSpPr>
          <p:cNvPr id="11" name="Text 8"/>
          <p:cNvSpPr txBox="1"/>
          <p:nvPr/>
        </p:nvSpPr>
        <p:spPr>
          <a:xfrm>
            <a:off x="6373368" y="1536192"/>
            <a:ext cx="5251399" cy="237744"/>
          </a:xfrm>
          <a:prstGeom prst="rect">
            <a:avLst/>
          </a:prstGeom>
          <a:noFill/>
          <a:ln/>
        </p:spPr>
        <p:txBody>
          <a:bodyPr wrap="square" lIns="0" tIns="0" rIns="0" bIns="0" rtlCol="0" anchor="ctr"/>
          <a:lstStyle/>
          <a:p>
            <a:pPr indent="0" marL="0">
              <a:buNone/>
            </a:pPr>
            <a:r>
              <a:rPr lang="en-US" sz="1150" b="1" dirty="0">
                <a:solidFill>
                  <a:srgbClr val="0F2942"/>
                </a:solidFill>
                <a:latin typeface="Calibri" pitchFamily="34" charset="0"/>
                <a:ea typeface="Calibri" pitchFamily="34" charset="-122"/>
                <a:cs typeface="Calibri" pitchFamily="34" charset="-120"/>
              </a:rPr>
              <a:t>!p — NOT</a:t>
            </a:r>
            <a:endParaRPr lang="en-US" sz="1150" dirty="0"/>
          </a:p>
        </p:txBody>
      </p:sp>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6373368" y="1810512"/>
          <a:ext cx="5251399" cy="914400"/>
        </p:xfrm>
        <a:graphic>
          <a:graphicData uri="http://schemas.openxmlformats.org/drawingml/2006/table">
            <a:tbl>
              <a:tblPr/>
              <a:tblGrid>
                <a:gridCol w="707797"/>
                <a:gridCol w="821958"/>
                <a:gridCol w="3721644"/>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Example — age is 24</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347472">
                <a:tc>
                  <a:txBody>
                    <a:bodyPr/>
                    <a:lstStyle/>
                    <a:p>
                      <a:pPr indent="0" marL="0">
                        <a:buNone/>
                      </a:pPr>
                      <a:r>
                        <a:rPr lang="en-US" sz="1100" b="1" dirty="0">
                          <a:solidFill>
                            <a:srgbClr val="176240"/>
                          </a:solidFill>
                          <a:latin typeface="Courier New" pitchFamily="34" charset="0"/>
                          <a:ea typeface="Courier New" pitchFamily="34" charset="-122"/>
                          <a:cs typeface="Courier New" pitchFamily="34" charset="-120"/>
                        </a:rPr>
                        <a:t>true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b="1" dirty="0">
                          <a:solidFill>
                            <a:srgbClr val="9C241C"/>
                          </a:solidFill>
                          <a:latin typeface="Courier New" pitchFamily="34" charset="0"/>
                          <a:ea typeface="Courier New" pitchFamily="34" charset="-122"/>
                          <a:cs typeface="Courier New" pitchFamily="34" charset="-120"/>
                        </a:rPr>
                        <a:t>false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050" dirty="0">
                          <a:solidFill>
                            <a:srgbClr val="3A536B"/>
                          </a:solidFill>
                          <a:latin typeface="Calibri" pitchFamily="34" charset="0"/>
                          <a:ea typeface="Calibri" pitchFamily="34" charset="-122"/>
                          <a:cs typeface="Calibri" pitchFamily="34" charset="-120"/>
                        </a:rPr>
                        <a:t>!(age &gt; 18) is false, because (age &gt; 18) is true</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47472">
                <a:tc>
                  <a:txBody>
                    <a:bodyPr/>
                    <a:lstStyle/>
                    <a:p>
                      <a:pPr indent="0" marL="0">
                        <a:buNone/>
                      </a:pPr>
                      <a:r>
                        <a:rPr lang="en-US" sz="1100" b="1" dirty="0">
                          <a:solidFill>
                            <a:srgbClr val="9C241C"/>
                          </a:solidFill>
                          <a:latin typeface="Courier New" pitchFamily="34" charset="0"/>
                          <a:ea typeface="Courier New" pitchFamily="34" charset="-122"/>
                          <a:cs typeface="Courier New" pitchFamily="34" charset="-120"/>
                        </a:rPr>
                        <a:t>false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b="1" dirty="0">
                          <a:solidFill>
                            <a:srgbClr val="176240"/>
                          </a:solidFill>
                          <a:latin typeface="Courier New" pitchFamily="34" charset="0"/>
                          <a:ea typeface="Courier New" pitchFamily="34" charset="-122"/>
                          <a:cs typeface="Courier New" pitchFamily="34" charset="-120"/>
                        </a:rPr>
                        <a:t>true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050" dirty="0">
                          <a:solidFill>
                            <a:srgbClr val="3A536B"/>
                          </a:solidFill>
                          <a:latin typeface="Calibri" pitchFamily="34" charset="0"/>
                          <a:ea typeface="Calibri" pitchFamily="34" charset="-122"/>
                          <a:cs typeface="Calibri" pitchFamily="34" charset="-120"/>
                        </a:rPr>
                        <a:t>!(age &gt; 30) is true, because (age &gt; 30) is false</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bl>
          </a:graphicData>
        </a:graphic>
      </p:graphicFrame>
      <p:sp>
        <p:nvSpPr>
          <p:cNvPr id="13" name="Text 9"/>
          <p:cNvSpPr txBox="1"/>
          <p:nvPr/>
        </p:nvSpPr>
        <p:spPr>
          <a:xfrm>
            <a:off x="6373368" y="3108960"/>
            <a:ext cx="5251399" cy="237744"/>
          </a:xfrm>
          <a:prstGeom prst="rect">
            <a:avLst/>
          </a:prstGeom>
          <a:noFill/>
          <a:ln/>
        </p:spPr>
        <p:txBody>
          <a:bodyPr wrap="square" lIns="0" tIns="0" rIns="0" bIns="0" rtlCol="0" anchor="ctr"/>
          <a:lstStyle/>
          <a:p>
            <a:pPr indent="0" marL="0">
              <a:buNone/>
            </a:pPr>
            <a:r>
              <a:rPr lang="en-US" sz="1150" b="1" dirty="0">
                <a:solidFill>
                  <a:srgbClr val="0F2942"/>
                </a:solidFill>
                <a:latin typeface="Calibri" pitchFamily="34" charset="0"/>
                <a:ea typeface="Calibri" pitchFamily="34" charset="-122"/>
                <a:cs typeface="Calibri" pitchFamily="34" charset="-120"/>
              </a:rPr>
              <a:t>p₁ &amp;&amp; p₂ — AND</a:t>
            </a:r>
            <a:endParaRPr lang="en-US" sz="1150" dirty="0"/>
          </a:p>
        </p:txBody>
      </p:sp>
      <p:graphicFrame>
        <p:nvGraphicFramePr>
          <p:cNvPr id="58" name="Table 2"/>
          <p:cNvGraphicFramePr>
            <a:graphicFrameLocks noGrp="1"/>
          </p:cNvGraphicFramePr>
          <p:nvPr>
            <p:extLst>
              <p:ext uri="{D42A27DB-BD31-4B8C-83A1-F6EECF244321}">
                <p14:modId xmlns:p14="http://schemas.microsoft.com/office/powerpoint/2010/main" val="1579011935"/>
              </p:ext>
            </p:extLst>
          </p:nvPr>
        </p:nvGraphicFramePr>
        <p:xfrm>
          <a:off x="6373368" y="3383280"/>
          <a:ext cx="5251399" cy="914400"/>
        </p:xfrm>
        <a:graphic>
          <a:graphicData uri="http://schemas.openxmlformats.org/drawingml/2006/table">
            <a:tbl>
              <a:tblPr/>
              <a:tblGrid>
                <a:gridCol w="707797"/>
                <a:gridCol w="707797"/>
                <a:gridCol w="821958"/>
                <a:gridCol w="3013846"/>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p₁</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p₂</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Example — age is 24, weight is 140</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329184">
                <a:tc>
                  <a:txBody>
                    <a:bodyPr/>
                    <a:lstStyle/>
                    <a:p>
                      <a:pPr indent="0" marL="0">
                        <a:buNone/>
                      </a:pPr>
                      <a:r>
                        <a:rPr lang="en-US" sz="1100" b="1" dirty="0">
                          <a:solidFill>
                            <a:srgbClr val="9C241C"/>
                          </a:solidFill>
                          <a:latin typeface="Courier New" pitchFamily="34" charset="0"/>
                          <a:ea typeface="Courier New" pitchFamily="34" charset="-122"/>
                          <a:cs typeface="Courier New" pitchFamily="34" charset="-120"/>
                        </a:rPr>
                        <a:t>false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b="1" dirty="0">
                          <a:solidFill>
                            <a:srgbClr val="9C241C"/>
                          </a:solidFill>
                          <a:latin typeface="Courier New" pitchFamily="34" charset="0"/>
                          <a:ea typeface="Courier New" pitchFamily="34" charset="-122"/>
                          <a:cs typeface="Courier New" pitchFamily="34" charset="-120"/>
                        </a:rPr>
                        <a:t>false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b="1" dirty="0">
                          <a:solidFill>
                            <a:srgbClr val="9C241C"/>
                          </a:solidFill>
                          <a:latin typeface="Courier New" pitchFamily="34" charset="0"/>
                          <a:ea typeface="Courier New" pitchFamily="34" charset="-122"/>
                          <a:cs typeface="Courier New" pitchFamily="34" charset="-120"/>
                        </a:rPr>
                        <a:t>false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000" dirty="0">
                          <a:solidFill>
                            <a:srgbClr val="3A536B"/>
                          </a:solidFill>
                          <a:latin typeface="Calibri" pitchFamily="34" charset="0"/>
                          <a:ea typeface="Calibri" pitchFamily="34" charset="-122"/>
                          <a:cs typeface="Calibri" pitchFamily="34" charset="-120"/>
                        </a:rPr>
                        <a:t>(age &gt; 34) &amp;&amp; (weight &gt; 140) is false — neither holds</a:t>
                      </a:r>
                      <a:endParaRPr lang="en-US" sz="10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29184">
                <a:tc>
                  <a:txBody>
                    <a:bodyPr/>
                    <a:lstStyle/>
                    <a:p>
                      <a:pPr indent="0" marL="0">
                        <a:buNone/>
                      </a:pPr>
                      <a:r>
                        <a:rPr lang="en-US" sz="1100" b="1" dirty="0">
                          <a:solidFill>
                            <a:srgbClr val="9C241C"/>
                          </a:solidFill>
                          <a:latin typeface="Courier New" pitchFamily="34" charset="0"/>
                          <a:ea typeface="Courier New" pitchFamily="34" charset="-122"/>
                          <a:cs typeface="Courier New" pitchFamily="34" charset="-120"/>
                        </a:rPr>
                        <a:t>false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b="1" dirty="0">
                          <a:solidFill>
                            <a:srgbClr val="176240"/>
                          </a:solidFill>
                          <a:latin typeface="Courier New" pitchFamily="34" charset="0"/>
                          <a:ea typeface="Courier New" pitchFamily="34" charset="-122"/>
                          <a:cs typeface="Courier New" pitchFamily="34" charset="-120"/>
                        </a:rPr>
                        <a:t>true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b="1" dirty="0">
                          <a:solidFill>
                            <a:srgbClr val="9C241C"/>
                          </a:solidFill>
                          <a:latin typeface="Courier New" pitchFamily="34" charset="0"/>
                          <a:ea typeface="Courier New" pitchFamily="34" charset="-122"/>
                          <a:cs typeface="Courier New" pitchFamily="34" charset="-120"/>
                        </a:rPr>
                        <a:t>false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000" dirty="0">
                          <a:solidFill>
                            <a:srgbClr val="3A536B"/>
                          </a:solidFill>
                          <a:latin typeface="Calibri" pitchFamily="34" charset="0"/>
                          <a:ea typeface="Calibri" pitchFamily="34" charset="-122"/>
                          <a:cs typeface="Calibri" pitchFamily="34" charset="-120"/>
                        </a:rPr>
                        <a:t>(age &gt; 34) &amp;&amp; (weight &lt;= 140) is false, because (age &gt; 34) is false</a:t>
                      </a:r>
                      <a:endParaRPr lang="en-US" sz="10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76240"/>
                          </a:solidFill>
                          <a:latin typeface="Courier New" pitchFamily="34" charset="0"/>
                          <a:ea typeface="Courier New" pitchFamily="34" charset="-122"/>
                          <a:cs typeface="Courier New" pitchFamily="34" charset="-120"/>
                        </a:rPr>
                        <a:t>true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b="1" dirty="0">
                          <a:solidFill>
                            <a:srgbClr val="9C241C"/>
                          </a:solidFill>
                          <a:latin typeface="Courier New" pitchFamily="34" charset="0"/>
                          <a:ea typeface="Courier New" pitchFamily="34" charset="-122"/>
                          <a:cs typeface="Courier New" pitchFamily="34" charset="-120"/>
                        </a:rPr>
                        <a:t>false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b="1" dirty="0">
                          <a:solidFill>
                            <a:srgbClr val="9C241C"/>
                          </a:solidFill>
                          <a:latin typeface="Courier New" pitchFamily="34" charset="0"/>
                          <a:ea typeface="Courier New" pitchFamily="34" charset="-122"/>
                          <a:cs typeface="Courier New" pitchFamily="34" charset="-120"/>
                        </a:rPr>
                        <a:t>false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000" dirty="0">
                          <a:solidFill>
                            <a:srgbClr val="3A536B"/>
                          </a:solidFill>
                          <a:latin typeface="Calibri" pitchFamily="34" charset="0"/>
                          <a:ea typeface="Calibri" pitchFamily="34" charset="-122"/>
                          <a:cs typeface="Calibri" pitchFamily="34" charset="-120"/>
                        </a:rPr>
                        <a:t>(age &gt; 18) &amp;&amp; (weight &gt; 140) is false, because (weight &gt; 140) is false</a:t>
                      </a:r>
                      <a:endParaRPr lang="en-US" sz="10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29184">
                <a:tc>
                  <a:txBody>
                    <a:bodyPr/>
                    <a:lstStyle/>
                    <a:p>
                      <a:pPr indent="0" marL="0">
                        <a:buNone/>
                      </a:pPr>
                      <a:r>
                        <a:rPr lang="en-US" sz="1100" b="1" dirty="0">
                          <a:solidFill>
                            <a:srgbClr val="176240"/>
                          </a:solidFill>
                          <a:latin typeface="Courier New" pitchFamily="34" charset="0"/>
                          <a:ea typeface="Courier New" pitchFamily="34" charset="-122"/>
                          <a:cs typeface="Courier New" pitchFamily="34" charset="-120"/>
                        </a:rPr>
                        <a:t>true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b="1" dirty="0">
                          <a:solidFill>
                            <a:srgbClr val="176240"/>
                          </a:solidFill>
                          <a:latin typeface="Courier New" pitchFamily="34" charset="0"/>
                          <a:ea typeface="Courier New" pitchFamily="34" charset="-122"/>
                          <a:cs typeface="Courier New" pitchFamily="34" charset="-120"/>
                        </a:rPr>
                        <a:t>true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b="1" dirty="0">
                          <a:solidFill>
                            <a:srgbClr val="176240"/>
                          </a:solidFill>
                          <a:latin typeface="Courier New" pitchFamily="34" charset="0"/>
                          <a:ea typeface="Courier New" pitchFamily="34" charset="-122"/>
                          <a:cs typeface="Courier New" pitchFamily="34" charset="-120"/>
                        </a:rPr>
                        <a:t>true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000" dirty="0">
                          <a:solidFill>
                            <a:srgbClr val="3A536B"/>
                          </a:solidFill>
                          <a:latin typeface="Calibri" pitchFamily="34" charset="0"/>
                          <a:ea typeface="Calibri" pitchFamily="34" charset="-122"/>
                          <a:cs typeface="Calibri" pitchFamily="34" charset="-120"/>
                        </a:rPr>
                        <a:t>(age &gt; 18) &amp;&amp; (weight &gt;= 140) is true — both hold</a:t>
                      </a:r>
                      <a:endParaRPr lang="en-US" sz="10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BOOLEAN LOGIC</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Truth Tables for || and ^</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Throughout: age is 24 and weight is 140. Work each example out before reading the third column.</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20</a:t>
            </a:r>
            <a:endParaRPr lang="en-US" sz="900" dirty="0"/>
          </a:p>
        </p:txBody>
      </p:sp>
      <p:sp>
        <p:nvSpPr>
          <p:cNvPr id="7" name="Text 5"/>
          <p:cNvSpPr txBox="1"/>
          <p:nvPr/>
        </p:nvSpPr>
        <p:spPr>
          <a:xfrm>
            <a:off x="566928" y="1536192"/>
            <a:ext cx="11057839" cy="274320"/>
          </a:xfrm>
          <a:prstGeom prst="rect">
            <a:avLst/>
          </a:prstGeom>
          <a:noFill/>
          <a:ln/>
        </p:spPr>
        <p:txBody>
          <a:bodyPr wrap="square" lIns="0" tIns="0" rIns="0" bIns="0" rtlCol="0" anchor="ctr"/>
          <a:lstStyle/>
          <a:p>
            <a:pPr indent="0" marL="0">
              <a:buNone/>
            </a:pPr>
            <a:r>
              <a:rPr lang="en-US" sz="1500" b="1" dirty="0">
                <a:solidFill>
                  <a:srgbClr val="0F2942"/>
                </a:solidFill>
                <a:latin typeface="Calibri" pitchFamily="34" charset="0"/>
                <a:ea typeface="Calibri" pitchFamily="34" charset="-122"/>
                <a:cs typeface="Calibri" pitchFamily="34" charset="-120"/>
              </a:rPr>
              <a:t>p₁ || p₂ — inclusive OR</a:t>
            </a:r>
            <a:endParaRPr lang="en-US" sz="15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847088"/>
          <a:ext cx="11057839" cy="914400"/>
        </p:xfrm>
        <a:graphic>
          <a:graphicData uri="http://schemas.openxmlformats.org/drawingml/2006/table">
            <a:tbl>
              <a:tblPr/>
              <a:tblGrid>
                <a:gridCol w="960120"/>
                <a:gridCol w="960120"/>
                <a:gridCol w="1104138"/>
                <a:gridCol w="8033461"/>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p₁</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p₂</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p₁ || p₂</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Example — age is 24, weight is 140</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347472">
                <a:tc>
                  <a:txBody>
                    <a:bodyPr/>
                    <a:lstStyle/>
                    <a:p>
                      <a:pPr indent="0" marL="0">
                        <a:buNone/>
                      </a:pPr>
                      <a:r>
                        <a:rPr lang="en-US" sz="1100" b="1" dirty="0">
                          <a:solidFill>
                            <a:srgbClr val="9C241C"/>
                          </a:solidFill>
                          <a:latin typeface="Courier New" pitchFamily="34" charset="0"/>
                          <a:ea typeface="Courier New" pitchFamily="34" charset="-122"/>
                          <a:cs typeface="Courier New" pitchFamily="34" charset="-120"/>
                        </a:rPr>
                        <a:t>false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b="1" dirty="0">
                          <a:solidFill>
                            <a:srgbClr val="9C241C"/>
                          </a:solidFill>
                          <a:latin typeface="Courier New" pitchFamily="34" charset="0"/>
                          <a:ea typeface="Courier New" pitchFamily="34" charset="-122"/>
                          <a:cs typeface="Courier New" pitchFamily="34" charset="-120"/>
                        </a:rPr>
                        <a:t>false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b="1" dirty="0">
                          <a:solidFill>
                            <a:srgbClr val="9C241C"/>
                          </a:solidFill>
                          <a:latin typeface="Courier New" pitchFamily="34" charset="0"/>
                          <a:ea typeface="Courier New" pitchFamily="34" charset="-122"/>
                          <a:cs typeface="Courier New" pitchFamily="34" charset="-120"/>
                        </a:rPr>
                        <a:t>false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(age &gt; 34) || (weight &gt; 140) is false — neither holds</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47472">
                <a:tc>
                  <a:txBody>
                    <a:bodyPr/>
                    <a:lstStyle/>
                    <a:p>
                      <a:pPr indent="0" marL="0">
                        <a:buNone/>
                      </a:pPr>
                      <a:r>
                        <a:rPr lang="en-US" sz="1100" b="1" dirty="0">
                          <a:solidFill>
                            <a:srgbClr val="9C241C"/>
                          </a:solidFill>
                          <a:latin typeface="Courier New" pitchFamily="34" charset="0"/>
                          <a:ea typeface="Courier New" pitchFamily="34" charset="-122"/>
                          <a:cs typeface="Courier New" pitchFamily="34" charset="-120"/>
                        </a:rPr>
                        <a:t>false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b="1" dirty="0">
                          <a:solidFill>
                            <a:srgbClr val="176240"/>
                          </a:solidFill>
                          <a:latin typeface="Courier New" pitchFamily="34" charset="0"/>
                          <a:ea typeface="Courier New" pitchFamily="34" charset="-122"/>
                          <a:cs typeface="Courier New" pitchFamily="34" charset="-120"/>
                        </a:rPr>
                        <a:t>true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b="1" dirty="0">
                          <a:solidFill>
                            <a:srgbClr val="176240"/>
                          </a:solidFill>
                          <a:latin typeface="Courier New" pitchFamily="34" charset="0"/>
                          <a:ea typeface="Courier New" pitchFamily="34" charset="-122"/>
                          <a:cs typeface="Courier New" pitchFamily="34" charset="-120"/>
                        </a:rPr>
                        <a:t>true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(age &gt; 34) || (weight &lt;= 140) is true, because (weight &lt;= 140) is true</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rgbClr val="176240"/>
                          </a:solidFill>
                          <a:latin typeface="Courier New" pitchFamily="34" charset="0"/>
                          <a:ea typeface="Courier New" pitchFamily="34" charset="-122"/>
                          <a:cs typeface="Courier New" pitchFamily="34" charset="-120"/>
                        </a:rPr>
                        <a:t>true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b="1" dirty="0">
                          <a:solidFill>
                            <a:srgbClr val="9C241C"/>
                          </a:solidFill>
                          <a:latin typeface="Courier New" pitchFamily="34" charset="0"/>
                          <a:ea typeface="Courier New" pitchFamily="34" charset="-122"/>
                          <a:cs typeface="Courier New" pitchFamily="34" charset="-120"/>
                        </a:rPr>
                        <a:t>false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b="1" dirty="0">
                          <a:solidFill>
                            <a:srgbClr val="176240"/>
                          </a:solidFill>
                          <a:latin typeface="Courier New" pitchFamily="34" charset="0"/>
                          <a:ea typeface="Courier New" pitchFamily="34" charset="-122"/>
                          <a:cs typeface="Courier New" pitchFamily="34" charset="-120"/>
                        </a:rPr>
                        <a:t>true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(age &gt; 14) || (weight &gt;= 150) is true, because (age &gt; 14) is true</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47472">
                <a:tc>
                  <a:txBody>
                    <a:bodyPr/>
                    <a:lstStyle/>
                    <a:p>
                      <a:pPr indent="0" marL="0">
                        <a:buNone/>
                      </a:pPr>
                      <a:r>
                        <a:rPr lang="en-US" sz="1100" b="1" dirty="0">
                          <a:solidFill>
                            <a:srgbClr val="176240"/>
                          </a:solidFill>
                          <a:latin typeface="Courier New" pitchFamily="34" charset="0"/>
                          <a:ea typeface="Courier New" pitchFamily="34" charset="-122"/>
                          <a:cs typeface="Courier New" pitchFamily="34" charset="-120"/>
                        </a:rPr>
                        <a:t>true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b="1" dirty="0">
                          <a:solidFill>
                            <a:srgbClr val="176240"/>
                          </a:solidFill>
                          <a:latin typeface="Courier New" pitchFamily="34" charset="0"/>
                          <a:ea typeface="Courier New" pitchFamily="34" charset="-122"/>
                          <a:cs typeface="Courier New" pitchFamily="34" charset="-120"/>
                        </a:rPr>
                        <a:t>true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b="1" dirty="0">
                          <a:solidFill>
                            <a:srgbClr val="176240"/>
                          </a:solidFill>
                          <a:latin typeface="Courier New" pitchFamily="34" charset="0"/>
                          <a:ea typeface="Courier New" pitchFamily="34" charset="-122"/>
                          <a:cs typeface="Courier New" pitchFamily="34" charset="-120"/>
                        </a:rPr>
                        <a:t>true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(age &gt; 14) || (weight &gt;= 140) is true — both hold</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566928" y="3776472"/>
            <a:ext cx="11057839" cy="274320"/>
          </a:xfrm>
          <a:prstGeom prst="rect">
            <a:avLst/>
          </a:prstGeom>
          <a:noFill/>
          <a:ln/>
        </p:spPr>
        <p:txBody>
          <a:bodyPr wrap="square" lIns="0" tIns="0" rIns="0" bIns="0" rtlCol="0" anchor="ctr"/>
          <a:lstStyle/>
          <a:p>
            <a:pPr indent="0" marL="0">
              <a:buNone/>
            </a:pPr>
            <a:r>
              <a:rPr lang="en-US" sz="1500" b="1" dirty="0">
                <a:solidFill>
                  <a:srgbClr val="0F2942"/>
                </a:solidFill>
                <a:latin typeface="Calibri" pitchFamily="34" charset="0"/>
                <a:ea typeface="Calibri" pitchFamily="34" charset="-122"/>
                <a:cs typeface="Calibri" pitchFamily="34" charset="-120"/>
              </a:rPr>
              <a:t>p₁ ^ p₂ — exclusive OR</a:t>
            </a:r>
            <a:endParaRPr lang="en-US" sz="1500" dirty="0"/>
          </a:p>
        </p:txBody>
      </p:sp>
      <p:graphicFrame>
        <p:nvGraphicFramePr>
          <p:cNvPr id="41" name="Table 1"/>
          <p:cNvGraphicFramePr>
            <a:graphicFrameLocks noGrp="1"/>
          </p:cNvGraphicFramePr>
          <p:nvPr>
            <p:extLst>
              <p:ext uri="{D42A27DB-BD31-4B8C-83A1-F6EECF244321}">
                <p14:modId xmlns:p14="http://schemas.microsoft.com/office/powerpoint/2010/main" val="1579011935"/>
              </p:ext>
            </p:extLst>
          </p:nvPr>
        </p:nvGraphicFramePr>
        <p:xfrm>
          <a:off x="566928" y="4087368"/>
          <a:ext cx="11057839" cy="914400"/>
        </p:xfrm>
        <a:graphic>
          <a:graphicData uri="http://schemas.openxmlformats.org/drawingml/2006/table">
            <a:tbl>
              <a:tblPr/>
              <a:tblGrid>
                <a:gridCol w="960120"/>
                <a:gridCol w="960120"/>
                <a:gridCol w="1104138"/>
                <a:gridCol w="8033461"/>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p₁</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p₂</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p₁ ^ p₂</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Example — age is 24, weight is 140</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347472">
                <a:tc>
                  <a:txBody>
                    <a:bodyPr/>
                    <a:lstStyle/>
                    <a:p>
                      <a:pPr indent="0" marL="0">
                        <a:buNone/>
                      </a:pPr>
                      <a:r>
                        <a:rPr lang="en-US" sz="1100" b="1" dirty="0">
                          <a:solidFill>
                            <a:srgbClr val="9C241C"/>
                          </a:solidFill>
                          <a:latin typeface="Courier New" pitchFamily="34" charset="0"/>
                          <a:ea typeface="Courier New" pitchFamily="34" charset="-122"/>
                          <a:cs typeface="Courier New" pitchFamily="34" charset="-120"/>
                        </a:rPr>
                        <a:t>false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b="1" dirty="0">
                          <a:solidFill>
                            <a:srgbClr val="9C241C"/>
                          </a:solidFill>
                          <a:latin typeface="Courier New" pitchFamily="34" charset="0"/>
                          <a:ea typeface="Courier New" pitchFamily="34" charset="-122"/>
                          <a:cs typeface="Courier New" pitchFamily="34" charset="-120"/>
                        </a:rPr>
                        <a:t>false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b="1" dirty="0">
                          <a:solidFill>
                            <a:srgbClr val="9C241C"/>
                          </a:solidFill>
                          <a:latin typeface="Courier New" pitchFamily="34" charset="0"/>
                          <a:ea typeface="Courier New" pitchFamily="34" charset="-122"/>
                          <a:cs typeface="Courier New" pitchFamily="34" charset="-120"/>
                        </a:rPr>
                        <a:t>false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(age &gt; 34) ^ (weight &gt; 140) is false — both operands are false</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47472">
                <a:tc>
                  <a:txBody>
                    <a:bodyPr/>
                    <a:lstStyle/>
                    <a:p>
                      <a:pPr indent="0" marL="0">
                        <a:buNone/>
                      </a:pPr>
                      <a:r>
                        <a:rPr lang="en-US" sz="1100" b="1" dirty="0">
                          <a:solidFill>
                            <a:srgbClr val="9C241C"/>
                          </a:solidFill>
                          <a:latin typeface="Courier New" pitchFamily="34" charset="0"/>
                          <a:ea typeface="Courier New" pitchFamily="34" charset="-122"/>
                          <a:cs typeface="Courier New" pitchFamily="34" charset="-120"/>
                        </a:rPr>
                        <a:t>false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b="1" dirty="0">
                          <a:solidFill>
                            <a:srgbClr val="176240"/>
                          </a:solidFill>
                          <a:latin typeface="Courier New" pitchFamily="34" charset="0"/>
                          <a:ea typeface="Courier New" pitchFamily="34" charset="-122"/>
                          <a:cs typeface="Courier New" pitchFamily="34" charset="-120"/>
                        </a:rPr>
                        <a:t>true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b="1" dirty="0">
                          <a:solidFill>
                            <a:srgbClr val="176240"/>
                          </a:solidFill>
                          <a:latin typeface="Courier New" pitchFamily="34" charset="0"/>
                          <a:ea typeface="Courier New" pitchFamily="34" charset="-122"/>
                          <a:cs typeface="Courier New" pitchFamily="34" charset="-120"/>
                        </a:rPr>
                        <a:t>true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(age &gt; 34) ^ (weight &gt;= 140) is true, because they differ</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rgbClr val="176240"/>
                          </a:solidFill>
                          <a:latin typeface="Courier New" pitchFamily="34" charset="0"/>
                          <a:ea typeface="Courier New" pitchFamily="34" charset="-122"/>
                          <a:cs typeface="Courier New" pitchFamily="34" charset="-120"/>
                        </a:rPr>
                        <a:t>true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b="1" dirty="0">
                          <a:solidFill>
                            <a:srgbClr val="9C241C"/>
                          </a:solidFill>
                          <a:latin typeface="Courier New" pitchFamily="34" charset="0"/>
                          <a:ea typeface="Courier New" pitchFamily="34" charset="-122"/>
                          <a:cs typeface="Courier New" pitchFamily="34" charset="-120"/>
                        </a:rPr>
                        <a:t>false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b="1" dirty="0">
                          <a:solidFill>
                            <a:srgbClr val="176240"/>
                          </a:solidFill>
                          <a:latin typeface="Courier New" pitchFamily="34" charset="0"/>
                          <a:ea typeface="Courier New" pitchFamily="34" charset="-122"/>
                          <a:cs typeface="Courier New" pitchFamily="34" charset="-120"/>
                        </a:rPr>
                        <a:t>true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(age &gt; 14) ^ (weight &gt; 140) is true, because they differ</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47472">
                <a:tc>
                  <a:txBody>
                    <a:bodyPr/>
                    <a:lstStyle/>
                    <a:p>
                      <a:pPr indent="0" marL="0">
                        <a:buNone/>
                      </a:pPr>
                      <a:r>
                        <a:rPr lang="en-US" sz="1100" b="1" dirty="0">
                          <a:solidFill>
                            <a:srgbClr val="176240"/>
                          </a:solidFill>
                          <a:latin typeface="Courier New" pitchFamily="34" charset="0"/>
                          <a:ea typeface="Courier New" pitchFamily="34" charset="-122"/>
                          <a:cs typeface="Courier New" pitchFamily="34" charset="-120"/>
                        </a:rPr>
                        <a:t>true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b="1" dirty="0">
                          <a:solidFill>
                            <a:srgbClr val="176240"/>
                          </a:solidFill>
                          <a:latin typeface="Courier New" pitchFamily="34" charset="0"/>
                          <a:ea typeface="Courier New" pitchFamily="34" charset="-122"/>
                          <a:cs typeface="Courier New" pitchFamily="34" charset="-120"/>
                        </a:rPr>
                        <a:t>true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b="1" dirty="0">
                          <a:solidFill>
                            <a:srgbClr val="9C241C"/>
                          </a:solidFill>
                          <a:latin typeface="Courier New" pitchFamily="34" charset="0"/>
                          <a:ea typeface="Courier New" pitchFamily="34" charset="-122"/>
                          <a:cs typeface="Courier New" pitchFamily="34" charset="-120"/>
                        </a:rPr>
                        <a:t>false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(age &gt; 14) ^ (weight &gt;= 140) is false, because both are true</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bl>
          </a:graphicData>
        </a:graphic>
      </p:graphicFrame>
      <p:sp>
        <p:nvSpPr>
          <p:cNvPr id="11" name="Text 7"/>
          <p:cNvSpPr txBox="1"/>
          <p:nvPr/>
        </p:nvSpPr>
        <p:spPr>
          <a:xfrm>
            <a:off x="566928" y="5971032"/>
            <a:ext cx="11057839" cy="292608"/>
          </a:xfrm>
          <a:prstGeom prst="rect">
            <a:avLst/>
          </a:prstGeom>
          <a:noFill/>
          <a:ln/>
        </p:spPr>
        <p:txBody>
          <a:bodyPr wrap="square" lIns="0" tIns="0" rIns="0" bIns="0" rtlCol="0" anchor="ctr"/>
          <a:lstStyle/>
          <a:p>
            <a:pPr indent="0" marL="0">
              <a:buNone/>
            </a:pPr>
            <a:r>
              <a:rPr lang="en-US" sz="1250" b="1" i="1" dirty="0">
                <a:solidFill>
                  <a:srgbClr val="9A430A"/>
                </a:solidFill>
                <a:latin typeface="Calibri" pitchFamily="34" charset="0"/>
                <a:ea typeface="Calibri" pitchFamily="34" charset="-122"/>
                <a:cs typeface="Calibri" pitchFamily="34" charset="-120"/>
              </a:rPr>
              <a:t>Two corrections to last year's slides:  </a:t>
            </a:r>
            <a:pPr indent="0" marL="0">
              <a:buNone/>
            </a:pPr>
            <a:r>
              <a:rPr lang="en-US" sz="1250" i="1" dirty="0">
                <a:solidFill>
                  <a:srgbClr val="3A536B"/>
                </a:solidFill>
                <a:latin typeface="Calibri" pitchFamily="34" charset="0"/>
                <a:ea typeface="Calibri" pitchFamily="34" charset="-122"/>
                <a:cs typeface="Calibri" pitchFamily="34" charset="-120"/>
              </a:rPr>
              <a:t>row 3 of || and row 1 of ^ both gave the wrong result. Every row above was re-checked by running it.</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EVALUATION</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&amp;&amp; and || Stop Early. &amp; and | Do Not.</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Java has two ANDs and two ORs. They agree on the answer and disagree on how much work they do getting there.</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21</a:t>
            </a:r>
            <a:endParaRPr lang="en-US" sz="900" dirty="0"/>
          </a:p>
        </p:txBody>
      </p:sp>
      <p:sp>
        <p:nvSpPr>
          <p:cNvPr id="7" name="Shape 5"/>
          <p:cNvSpPr/>
          <p:nvPr/>
        </p:nvSpPr>
        <p:spPr>
          <a:xfrm>
            <a:off x="566928" y="1536192"/>
            <a:ext cx="5323180" cy="1417320"/>
          </a:xfrm>
          <a:prstGeom prst="roundRect">
            <a:avLst>
              <a:gd name="adj" fmla="val 5806"/>
            </a:avLst>
          </a:prstGeom>
          <a:solidFill>
            <a:srgbClr val="E6F2EC"/>
          </a:solidFill>
          <a:ln w="12700">
            <a:solidFill>
              <a:srgbClr val="E6F2EC"/>
            </a:solidFill>
            <a:prstDash val="solid"/>
          </a:ln>
        </p:spPr>
      </p:sp>
      <p:sp>
        <p:nvSpPr>
          <p:cNvPr id="8" name="Text 6"/>
          <p:cNvSpPr txBox="1"/>
          <p:nvPr/>
        </p:nvSpPr>
        <p:spPr>
          <a:xfrm>
            <a:off x="786384" y="1700784"/>
            <a:ext cx="4884268" cy="310896"/>
          </a:xfrm>
          <a:prstGeom prst="rect">
            <a:avLst/>
          </a:prstGeom>
          <a:noFill/>
          <a:ln/>
        </p:spPr>
        <p:txBody>
          <a:bodyPr wrap="square" lIns="0" tIns="0" rIns="0" bIns="0" rtlCol="0" anchor="t"/>
          <a:lstStyle/>
          <a:p>
            <a:pPr indent="0" marL="0">
              <a:buNone/>
            </a:pPr>
            <a:r>
              <a:rPr lang="en-US" sz="1500" b="1" dirty="0">
                <a:solidFill>
                  <a:srgbClr val="0F2942"/>
                </a:solidFill>
                <a:latin typeface="Calibri" pitchFamily="34" charset="0"/>
                <a:ea typeface="Calibri" pitchFamily="34" charset="-122"/>
                <a:cs typeface="Calibri" pitchFamily="34" charset="-120"/>
              </a:rPr>
              <a:t>&amp;&amp;  and  ||  — short-circuit (conditional)</a:t>
            </a:r>
            <a:endParaRPr lang="en-US" sz="1500" dirty="0"/>
          </a:p>
        </p:txBody>
      </p:sp>
      <p:sp>
        <p:nvSpPr>
          <p:cNvPr id="9" name="Text 7"/>
          <p:cNvSpPr txBox="1"/>
          <p:nvPr/>
        </p:nvSpPr>
        <p:spPr>
          <a:xfrm>
            <a:off x="786384" y="2029968"/>
            <a:ext cx="4884268" cy="795528"/>
          </a:xfrm>
          <a:prstGeom prst="rect">
            <a:avLst/>
          </a:prstGeom>
          <a:noFill/>
          <a:ln/>
        </p:spPr>
        <p:txBody>
          <a:bodyPr wrap="square" lIns="0" tIns="0" rIns="0" bIns="0" rtlCol="0" anchor="t"/>
          <a:lstStyle/>
          <a:p>
            <a:pPr indent="0" marL="0">
              <a:lnSpc>
                <a:spcPct val="108000"/>
              </a:lnSpc>
              <a:buNone/>
            </a:pPr>
            <a:r>
              <a:rPr lang="en-US" sz="1250" dirty="0">
                <a:solidFill>
                  <a:srgbClr val="3A536B"/>
                </a:solidFill>
                <a:latin typeface="Calibri" pitchFamily="34" charset="0"/>
                <a:ea typeface="Calibri" pitchFamily="34" charset="-122"/>
                <a:cs typeface="Calibri" pitchFamily="34" charset="-120"/>
              </a:rPr>
              <a:t>If the left operand settles the answer, the right operand is never evaluated. false &amp;&amp; anything is false; true || anything is true. These are what you should use.</a:t>
            </a:r>
            <a:endParaRPr lang="en-US" sz="1250" dirty="0"/>
          </a:p>
        </p:txBody>
      </p:sp>
      <p:sp>
        <p:nvSpPr>
          <p:cNvPr id="10" name="Shape 8"/>
          <p:cNvSpPr/>
          <p:nvPr/>
        </p:nvSpPr>
        <p:spPr>
          <a:xfrm>
            <a:off x="6301588" y="1536192"/>
            <a:ext cx="5323180" cy="1417320"/>
          </a:xfrm>
          <a:prstGeom prst="roundRect">
            <a:avLst>
              <a:gd name="adj" fmla="val 5806"/>
            </a:avLst>
          </a:prstGeom>
          <a:solidFill>
            <a:srgbClr val="E7F0F7"/>
          </a:solidFill>
          <a:ln w="12700">
            <a:solidFill>
              <a:srgbClr val="E7F0F7"/>
            </a:solidFill>
            <a:prstDash val="solid"/>
          </a:ln>
        </p:spPr>
      </p:sp>
      <p:sp>
        <p:nvSpPr>
          <p:cNvPr id="11" name="Text 9"/>
          <p:cNvSpPr txBox="1"/>
          <p:nvPr/>
        </p:nvSpPr>
        <p:spPr>
          <a:xfrm>
            <a:off x="6521044" y="1700784"/>
            <a:ext cx="4884268" cy="310896"/>
          </a:xfrm>
          <a:prstGeom prst="rect">
            <a:avLst/>
          </a:prstGeom>
          <a:noFill/>
          <a:ln/>
        </p:spPr>
        <p:txBody>
          <a:bodyPr wrap="square" lIns="0" tIns="0" rIns="0" bIns="0" rtlCol="0" anchor="t"/>
          <a:lstStyle/>
          <a:p>
            <a:pPr indent="0" marL="0">
              <a:buNone/>
            </a:pPr>
            <a:r>
              <a:rPr lang="en-US" sz="1500" b="1" dirty="0">
                <a:solidFill>
                  <a:srgbClr val="0F2942"/>
                </a:solidFill>
                <a:latin typeface="Calibri" pitchFamily="34" charset="0"/>
                <a:ea typeface="Calibri" pitchFamily="34" charset="-122"/>
                <a:cs typeface="Calibri" pitchFamily="34" charset="-120"/>
              </a:rPr>
              <a:t>&amp;  and  |  — always evaluate both sides</a:t>
            </a:r>
            <a:endParaRPr lang="en-US" sz="1500" dirty="0"/>
          </a:p>
        </p:txBody>
      </p:sp>
      <p:sp>
        <p:nvSpPr>
          <p:cNvPr id="12" name="Text 10"/>
          <p:cNvSpPr txBox="1"/>
          <p:nvPr/>
        </p:nvSpPr>
        <p:spPr>
          <a:xfrm>
            <a:off x="6521044" y="2029968"/>
            <a:ext cx="4884268" cy="795528"/>
          </a:xfrm>
          <a:prstGeom prst="rect">
            <a:avLst/>
          </a:prstGeom>
          <a:noFill/>
          <a:ln/>
        </p:spPr>
        <p:txBody>
          <a:bodyPr wrap="square" lIns="0" tIns="0" rIns="0" bIns="0" rtlCol="0" anchor="t"/>
          <a:lstStyle/>
          <a:p>
            <a:pPr indent="0" marL="0">
              <a:lnSpc>
                <a:spcPct val="108000"/>
              </a:lnSpc>
              <a:buNone/>
            </a:pPr>
            <a:r>
              <a:rPr lang="en-US" sz="1250" dirty="0">
                <a:solidFill>
                  <a:srgbClr val="3A536B"/>
                </a:solidFill>
                <a:latin typeface="Calibri" pitchFamily="34" charset="0"/>
                <a:ea typeface="Calibri" pitchFamily="34" charset="-122"/>
                <a:cs typeface="Calibri" pitchFamily="34" charset="-120"/>
              </a:rPr>
              <a:t>Both operands are evaluated no matter what. Same result, more work — and if the right-hand side has a side effect, a different program.</a:t>
            </a:r>
            <a:endParaRPr lang="en-US" sz="1250" dirty="0"/>
          </a:p>
        </p:txBody>
      </p:sp>
      <p:sp>
        <p:nvSpPr>
          <p:cNvPr id="13" name="Shape 11"/>
          <p:cNvSpPr/>
          <p:nvPr/>
        </p:nvSpPr>
        <p:spPr>
          <a:xfrm>
            <a:off x="566928" y="3182112"/>
            <a:ext cx="5323180" cy="1367211"/>
          </a:xfrm>
          <a:prstGeom prst="roundRect">
            <a:avLst>
              <a:gd name="adj" fmla="val 4682"/>
            </a:avLst>
          </a:prstGeom>
          <a:solidFill>
            <a:srgbClr val="EDF2F7"/>
          </a:solidFill>
          <a:ln w="12700">
            <a:solidFill>
              <a:srgbClr val="CFDBE5"/>
            </a:solidFill>
            <a:prstDash val="solid"/>
          </a:ln>
        </p:spPr>
      </p:sp>
      <p:sp>
        <p:nvSpPr>
          <p:cNvPr id="14" name="Text 12"/>
          <p:cNvSpPr txBox="1"/>
          <p:nvPr/>
        </p:nvSpPr>
        <p:spPr>
          <a:xfrm>
            <a:off x="713232" y="322783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SHORT-CIRCUIT</a:t>
            </a:r>
            <a:endParaRPr lang="en-US" sz="950" dirty="0"/>
          </a:p>
        </p:txBody>
      </p:sp>
      <p:sp>
        <p:nvSpPr>
          <p:cNvPr id="15" name="Text 13"/>
          <p:cNvSpPr txBox="1"/>
          <p:nvPr/>
        </p:nvSpPr>
        <p:spPr>
          <a:xfrm>
            <a:off x="731520" y="3456432"/>
            <a:ext cx="4993996" cy="1038027"/>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boolean</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&amp;</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&amp;</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(1 &gt; 1) is false, so the right side</a:t>
            </a:r>
            <a:endParaRPr lang="en-US" sz="1150" dirty="0"/>
          </a:p>
          <a:p>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is never reached and x++ never runs</a:t>
            </a:r>
            <a:endParaRPr lang="en-US" sz="1150" dirty="0"/>
          </a:p>
        </p:txBody>
      </p:sp>
      <p:sp>
        <p:nvSpPr>
          <p:cNvPr id="16" name="Shape 14"/>
          <p:cNvSpPr/>
          <p:nvPr/>
        </p:nvSpPr>
        <p:spPr>
          <a:xfrm>
            <a:off x="566928" y="4768779"/>
            <a:ext cx="5323180" cy="682142"/>
          </a:xfrm>
          <a:prstGeom prst="roundRect">
            <a:avLst>
              <a:gd name="adj" fmla="val 9383"/>
            </a:avLst>
          </a:prstGeom>
          <a:solidFill>
            <a:srgbClr val="FFFFFF"/>
          </a:solidFill>
          <a:ln w="12700">
            <a:solidFill>
              <a:srgbClr val="4B6377"/>
            </a:solidFill>
            <a:prstDash val="solid"/>
          </a:ln>
        </p:spPr>
      </p:sp>
      <p:sp>
        <p:nvSpPr>
          <p:cNvPr id="17" name="Text 15"/>
          <p:cNvSpPr txBox="1"/>
          <p:nvPr/>
        </p:nvSpPr>
        <p:spPr>
          <a:xfrm>
            <a:off x="713232" y="4841931"/>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8" name="Text 16"/>
          <p:cNvSpPr txBox="1"/>
          <p:nvPr/>
        </p:nvSpPr>
        <p:spPr>
          <a:xfrm>
            <a:off x="713232" y="5043099"/>
            <a:ext cx="5030572" cy="316382"/>
          </a:xfrm>
          <a:prstGeom prst="rect">
            <a:avLst/>
          </a:prstGeom>
          <a:noFill/>
          <a:ln/>
        </p:spPr>
        <p:txBody>
          <a:bodyPr wrap="square" lIns="0" tIns="0" rIns="0" bIns="0" rtlCol="0" anchor="t"/>
          <a:lstStyle/>
          <a:p>
            <a:pPr indent="0" marL="0">
              <a:lnSpc>
                <a:spcPct val="110000"/>
              </a:lnSpc>
              <a:buNone/>
            </a:pPr>
            <a:r>
              <a:rPr lang="en-US" sz="1200" dirty="0">
                <a:solidFill>
                  <a:srgbClr val="0F2942"/>
                </a:solidFill>
                <a:latin typeface="Courier New" pitchFamily="34" charset="0"/>
                <a:ea typeface="Courier New" pitchFamily="34" charset="-122"/>
                <a:cs typeface="Courier New" pitchFamily="34" charset="-120"/>
              </a:rPr>
              <a:t>r is false, x is still 1</a:t>
            </a:r>
            <a:endParaRPr lang="en-US" sz="1200" dirty="0"/>
          </a:p>
        </p:txBody>
      </p:sp>
      <p:sp>
        <p:nvSpPr>
          <p:cNvPr id="19" name="Shape 17"/>
          <p:cNvSpPr/>
          <p:nvPr/>
        </p:nvSpPr>
        <p:spPr>
          <a:xfrm>
            <a:off x="6301588" y="3182112"/>
            <a:ext cx="5323180" cy="1367211"/>
          </a:xfrm>
          <a:prstGeom prst="roundRect">
            <a:avLst>
              <a:gd name="adj" fmla="val 4682"/>
            </a:avLst>
          </a:prstGeom>
          <a:solidFill>
            <a:srgbClr val="EDF2F7"/>
          </a:solidFill>
          <a:ln w="12700">
            <a:solidFill>
              <a:srgbClr val="CFDBE5"/>
            </a:solidFill>
            <a:prstDash val="solid"/>
          </a:ln>
        </p:spPr>
      </p:sp>
      <p:sp>
        <p:nvSpPr>
          <p:cNvPr id="20" name="Text 18"/>
          <p:cNvSpPr txBox="1"/>
          <p:nvPr/>
        </p:nvSpPr>
        <p:spPr>
          <a:xfrm>
            <a:off x="6447892" y="322783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NO SHORT-CIRCUIT</a:t>
            </a:r>
            <a:endParaRPr lang="en-US" sz="950" dirty="0"/>
          </a:p>
        </p:txBody>
      </p:sp>
      <p:sp>
        <p:nvSpPr>
          <p:cNvPr id="21" name="Text 19"/>
          <p:cNvSpPr txBox="1"/>
          <p:nvPr/>
        </p:nvSpPr>
        <p:spPr>
          <a:xfrm>
            <a:off x="6466180" y="3456432"/>
            <a:ext cx="4993996" cy="1038027"/>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boolean</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&amp;</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(1 &gt; 1) is false, but &amp; evaluates</a:t>
            </a:r>
            <a:endParaRPr lang="en-US" sz="1150" dirty="0"/>
          </a:p>
          <a:p>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the right side anyway — so x++ runs</a:t>
            </a:r>
            <a:endParaRPr lang="en-US" sz="1150" dirty="0"/>
          </a:p>
        </p:txBody>
      </p:sp>
      <p:sp>
        <p:nvSpPr>
          <p:cNvPr id="22" name="Shape 20"/>
          <p:cNvSpPr/>
          <p:nvPr/>
        </p:nvSpPr>
        <p:spPr>
          <a:xfrm>
            <a:off x="6301588" y="4768779"/>
            <a:ext cx="5323180" cy="682142"/>
          </a:xfrm>
          <a:prstGeom prst="roundRect">
            <a:avLst>
              <a:gd name="adj" fmla="val 9383"/>
            </a:avLst>
          </a:prstGeom>
          <a:solidFill>
            <a:srgbClr val="FFFFFF"/>
          </a:solidFill>
          <a:ln w="12700">
            <a:solidFill>
              <a:srgbClr val="4B6377"/>
            </a:solidFill>
            <a:prstDash val="solid"/>
          </a:ln>
        </p:spPr>
      </p:sp>
      <p:sp>
        <p:nvSpPr>
          <p:cNvPr id="23" name="Text 21"/>
          <p:cNvSpPr txBox="1"/>
          <p:nvPr/>
        </p:nvSpPr>
        <p:spPr>
          <a:xfrm>
            <a:off x="6447892" y="4841931"/>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24" name="Text 22"/>
          <p:cNvSpPr txBox="1"/>
          <p:nvPr/>
        </p:nvSpPr>
        <p:spPr>
          <a:xfrm>
            <a:off x="6447892" y="5043099"/>
            <a:ext cx="5030572" cy="316382"/>
          </a:xfrm>
          <a:prstGeom prst="rect">
            <a:avLst/>
          </a:prstGeom>
          <a:noFill/>
          <a:ln/>
        </p:spPr>
        <p:txBody>
          <a:bodyPr wrap="square" lIns="0" tIns="0" rIns="0" bIns="0" rtlCol="0" anchor="t"/>
          <a:lstStyle/>
          <a:p>
            <a:pPr indent="0" marL="0">
              <a:lnSpc>
                <a:spcPct val="110000"/>
              </a:lnSpc>
              <a:buNone/>
            </a:pPr>
            <a:r>
              <a:rPr lang="en-US" sz="1200" dirty="0">
                <a:solidFill>
                  <a:srgbClr val="0F2942"/>
                </a:solidFill>
                <a:latin typeface="Courier New" pitchFamily="34" charset="0"/>
                <a:ea typeface="Courier New" pitchFamily="34" charset="-122"/>
                <a:cs typeface="Courier New" pitchFamily="34" charset="-120"/>
              </a:rPr>
              <a:t>r is false, x is now 2</a:t>
            </a:r>
            <a:endParaRPr lang="en-US" sz="1200" dirty="0"/>
          </a:p>
        </p:txBody>
      </p:sp>
      <p:sp>
        <p:nvSpPr>
          <p:cNvPr id="25" name="Shape 23"/>
          <p:cNvSpPr/>
          <p:nvPr/>
        </p:nvSpPr>
        <p:spPr>
          <a:xfrm>
            <a:off x="566928" y="5468112"/>
            <a:ext cx="11057839" cy="960120"/>
          </a:xfrm>
          <a:prstGeom prst="roundRect">
            <a:avLst>
              <a:gd name="adj" fmla="val 8571"/>
            </a:avLst>
          </a:prstGeom>
          <a:solidFill>
            <a:srgbClr val="E4ECF4"/>
          </a:solidFill>
          <a:ln w="12700">
            <a:solidFill>
              <a:srgbClr val="E4ECF4"/>
            </a:solidFill>
            <a:prstDash val="solid"/>
          </a:ln>
        </p:spPr>
      </p:sp>
      <p:sp>
        <p:nvSpPr>
          <p:cNvPr id="26" name="Text 24"/>
          <p:cNvSpPr txBox="1"/>
          <p:nvPr/>
        </p:nvSpPr>
        <p:spPr>
          <a:xfrm>
            <a:off x="859536" y="5577840"/>
            <a:ext cx="10472623" cy="274320"/>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Why this matters beyond puzzles</a:t>
            </a:r>
            <a:endParaRPr lang="en-US" sz="1400" dirty="0"/>
          </a:p>
        </p:txBody>
      </p:sp>
      <p:sp>
        <p:nvSpPr>
          <p:cNvPr id="27" name="Text 25"/>
          <p:cNvSpPr txBox="1"/>
          <p:nvPr/>
        </p:nvSpPr>
        <p:spPr>
          <a:xfrm>
            <a:off x="859536" y="5870448"/>
            <a:ext cx="10472623" cy="502920"/>
          </a:xfrm>
          <a:prstGeom prst="rect">
            <a:avLst/>
          </a:prstGeom>
          <a:noFill/>
          <a:ln/>
        </p:spPr>
        <p:txBody>
          <a:bodyPr wrap="square" lIns="0" tIns="0" rIns="0" bIns="0" rtlCol="0" anchor="t"/>
          <a:lstStyle/>
          <a:p>
            <a:pPr indent="0" marL="0">
              <a:lnSpc>
                <a:spcPct val="112000"/>
              </a:lnSpc>
              <a:buNone/>
            </a:pPr>
            <a:r>
              <a:rPr lang="en-US" sz="1250" b="1" dirty="0">
                <a:solidFill>
                  <a:srgbClr val="9A430A"/>
                </a:solidFill>
                <a:latin typeface="Courier New" pitchFamily="34" charset="0"/>
                <a:ea typeface="Courier New" pitchFamily="34" charset="-122"/>
                <a:cs typeface="Courier New" pitchFamily="34" charset="-120"/>
              </a:rPr>
              <a:t>if (count != 0 &amp;&amp; total / count &gt; 10)</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  is safe: when count is zero the division is never performed. Write it with a single </a:t>
            </a:r>
            <a:pPr indent="0" marL="0">
              <a:lnSpc>
                <a:spcPct val="112000"/>
              </a:lnSpc>
              <a:buNone/>
            </a:pPr>
            <a:r>
              <a:rPr lang="en-US" sz="1250" b="1" dirty="0">
                <a:solidFill>
                  <a:srgbClr val="9C241C"/>
                </a:solidFill>
                <a:latin typeface="Courier New" pitchFamily="34" charset="0"/>
                <a:ea typeface="Courier New" pitchFamily="34" charset="-122"/>
                <a:cs typeface="Courier New" pitchFamily="34" charset="-120"/>
              </a:rPr>
              <a:t>&amp;</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 and it divides by zero. Short-circuiting is how you guard a dangerous operation with a cheap test.</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WORKED EXAMPLE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LeapYear — Three Conditions, One Expression</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A year is a leap year if it is divisible by 4 but not by 100, or if it is divisible by 400.</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22</a:t>
            </a:r>
            <a:endParaRPr lang="en-US" sz="900" dirty="0"/>
          </a:p>
        </p:txBody>
      </p:sp>
      <p:sp>
        <p:nvSpPr>
          <p:cNvPr id="7" name="Shape 5"/>
          <p:cNvSpPr/>
          <p:nvPr/>
        </p:nvSpPr>
        <p:spPr>
          <a:xfrm>
            <a:off x="566928" y="1536192"/>
            <a:ext cx="6035040" cy="2801722"/>
          </a:xfrm>
          <a:prstGeom prst="roundRect">
            <a:avLst>
              <a:gd name="adj" fmla="val 2285"/>
            </a:avLst>
          </a:prstGeom>
          <a:solidFill>
            <a:srgbClr val="EDF2F7"/>
          </a:solidFill>
          <a:ln w="12700">
            <a:solidFill>
              <a:srgbClr val="CFDBE5"/>
            </a:solidFill>
            <a:prstDash val="solid"/>
          </a:ln>
        </p:spPr>
      </p:sp>
      <p:sp>
        <p:nvSpPr>
          <p:cNvPr id="8" name="Text 6"/>
          <p:cNvSpPr txBox="1"/>
          <p:nvPr/>
        </p:nvSpPr>
        <p:spPr>
          <a:xfrm>
            <a:off x="713232" y="1581912"/>
            <a:ext cx="574243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LeapYear.java</a:t>
            </a:r>
            <a:endParaRPr lang="en-US" sz="950" dirty="0"/>
          </a:p>
        </p:txBody>
      </p:sp>
      <p:sp>
        <p:nvSpPr>
          <p:cNvPr id="9" name="Text 7"/>
          <p:cNvSpPr txBox="1"/>
          <p:nvPr/>
        </p:nvSpPr>
        <p:spPr>
          <a:xfrm>
            <a:off x="731520" y="1810512"/>
            <a:ext cx="5705856" cy="2472538"/>
          </a:xfrm>
          <a:prstGeom prst="rect">
            <a:avLst/>
          </a:prstGeom>
          <a:noFill/>
          <a:ln/>
        </p:spPr>
        <p:txBody>
          <a:bodyPr wrap="square" lIns="0" tIns="0" rIns="0" bIns="0" rtlCol="0" anchor="t"/>
          <a:lstStyle/>
          <a:p>
            <a:pPr indent="0" marL="0">
              <a:lnSpc>
                <a:spcPct val="112000"/>
              </a:lnSpc>
              <a:buNone/>
            </a:pPr>
            <a:r>
              <a:rPr lang="en-US" sz="1200" dirty="0">
                <a:solidFill>
                  <a:srgbClr val="14568A"/>
                </a:solidFill>
                <a:latin typeface="Courier New" pitchFamily="34" charset="0"/>
                <a:ea typeface="Courier New" pitchFamily="34" charset="-122"/>
                <a:cs typeface="Courier New" pitchFamily="34" charset="-120"/>
              </a:rPr>
              <a:t>Scanner</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568A"/>
                </a:solidFill>
                <a:latin typeface="Courier New" pitchFamily="34" charset="0"/>
                <a:ea typeface="Courier New" pitchFamily="34" charset="-122"/>
                <a:cs typeface="Courier New" pitchFamily="34" charset="-120"/>
              </a:rPr>
              <a:t>Scanner</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in</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614A"/>
                </a:solidFill>
                <a:latin typeface="Courier New" pitchFamily="34" charset="0"/>
                <a:ea typeface="Courier New" pitchFamily="34" charset="-122"/>
                <a:cs typeface="Courier New" pitchFamily="34" charset="-120"/>
              </a:rPr>
              <a:t>"Enter a year: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year</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nextInt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endParaRPr lang="en-US" sz="1200" dirty="0"/>
          </a:p>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boolean</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isLeapYear</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year</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&amp;</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&amp;</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year</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100</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year</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400</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endParaRPr lang="en-US" sz="1200" dirty="0"/>
          </a:p>
          <a:p>
            <a:pPr indent="0" marL="0">
              <a:lnSpc>
                <a:spcPct val="112000"/>
              </a:lnSpc>
              <a:buNone/>
            </a:pPr>
            <a:r>
              <a:rPr lang="en-US" sz="12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year</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614A"/>
                </a:solidFill>
                <a:latin typeface="Courier New" pitchFamily="34" charset="0"/>
                <a:ea typeface="Courier New" pitchFamily="34" charset="-122"/>
                <a:cs typeface="Courier New" pitchFamily="34" charset="-120"/>
              </a:rPr>
              <a:t>" is a leap year? "</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isLeapYear</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p:txBody>
      </p:sp>
      <p:sp>
        <p:nvSpPr>
          <p:cNvPr id="10" name="Shape 8"/>
          <p:cNvSpPr/>
          <p:nvPr/>
        </p:nvSpPr>
        <p:spPr>
          <a:xfrm>
            <a:off x="566928" y="4612234"/>
            <a:ext cx="6035040" cy="1691640"/>
          </a:xfrm>
          <a:prstGeom prst="roundRect">
            <a:avLst>
              <a:gd name="adj" fmla="val 4865"/>
            </a:avLst>
          </a:prstGeom>
          <a:solidFill>
            <a:srgbClr val="F1F5F9"/>
          </a:solidFill>
          <a:ln w="12700">
            <a:solidFill>
              <a:srgbClr val="F1F5F9"/>
            </a:solidFill>
            <a:prstDash val="solid"/>
          </a:ln>
        </p:spPr>
      </p:sp>
      <p:sp>
        <p:nvSpPr>
          <p:cNvPr id="11" name="Text 9"/>
          <p:cNvSpPr txBox="1"/>
          <p:nvPr/>
        </p:nvSpPr>
        <p:spPr>
          <a:xfrm>
            <a:off x="786384" y="4776826"/>
            <a:ext cx="5596128"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Read the expression in two halves</a:t>
            </a:r>
            <a:endParaRPr lang="en-US" sz="1450" dirty="0"/>
          </a:p>
        </p:txBody>
      </p:sp>
      <p:sp>
        <p:nvSpPr>
          <p:cNvPr id="12" name="Text 10"/>
          <p:cNvSpPr txBox="1"/>
          <p:nvPr/>
        </p:nvSpPr>
        <p:spPr>
          <a:xfrm>
            <a:off x="786384" y="5106010"/>
            <a:ext cx="5596128" cy="106984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The &amp;&amp; half catches the ordinary leap years: divisible by 4 and not a century. The || half puts back the centuries that are divisible by 400. Brackets are not strictly required — &amp;&amp; binds tighter than || — but write them anyway, because the reader should not have to know that.</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059168" y="1536192"/>
          <a:ext cx="4565599" cy="914400"/>
        </p:xfrm>
        <a:graphic>
          <a:graphicData uri="http://schemas.openxmlformats.org/drawingml/2006/table">
            <a:tbl>
              <a:tblPr/>
              <a:tblGrid>
                <a:gridCol w="1004432"/>
                <a:gridCol w="730496"/>
                <a:gridCol w="821808"/>
                <a:gridCol w="821808"/>
                <a:gridCol w="1187056"/>
              </a:tblGrid>
              <a:tr h="36576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Year</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÷400</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Leap?</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365760">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2024</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b="1" dirty="0">
                          <a:solidFill>
                            <a:srgbClr val="176240"/>
                          </a:solidFill>
                          <a:latin typeface="Courier New" pitchFamily="34" charset="0"/>
                          <a:ea typeface="Courier New" pitchFamily="34" charset="-122"/>
                          <a:cs typeface="Courier New" pitchFamily="34" charset="-120"/>
                        </a:rPr>
                        <a:t>true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65760">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2026</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b="1" dirty="0">
                          <a:solidFill>
                            <a:srgbClr val="9C241C"/>
                          </a:solidFill>
                          <a:latin typeface="Courier New" pitchFamily="34" charset="0"/>
                          <a:ea typeface="Courier New" pitchFamily="34" charset="-122"/>
                          <a:cs typeface="Courier New" pitchFamily="34" charset="-120"/>
                        </a:rPr>
                        <a:t>false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1900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b="1" dirty="0">
                          <a:solidFill>
                            <a:srgbClr val="9C241C"/>
                          </a:solidFill>
                          <a:latin typeface="Courier New" pitchFamily="34" charset="0"/>
                          <a:ea typeface="Courier New" pitchFamily="34" charset="-122"/>
                          <a:cs typeface="Courier New" pitchFamily="34" charset="-120"/>
                        </a:rPr>
                        <a:t>false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65760">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2000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b="1" dirty="0">
                          <a:solidFill>
                            <a:srgbClr val="176240"/>
                          </a:solidFill>
                          <a:latin typeface="Courier New" pitchFamily="34" charset="0"/>
                          <a:ea typeface="Courier New" pitchFamily="34" charset="-122"/>
                          <a:cs typeface="Courier New" pitchFamily="34" charset="-120"/>
                        </a:rPr>
                        <a:t>true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2100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b="1" dirty="0">
                          <a:solidFill>
                            <a:srgbClr val="9C241C"/>
                          </a:solidFill>
                          <a:latin typeface="Courier New" pitchFamily="34" charset="0"/>
                          <a:ea typeface="Courier New" pitchFamily="34" charset="-122"/>
                          <a:cs typeface="Courier New" pitchFamily="34" charset="-120"/>
                        </a:rPr>
                        <a:t>false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bl>
          </a:graphicData>
        </a:graphic>
      </p:graphicFrame>
      <p:sp>
        <p:nvSpPr>
          <p:cNvPr id="14" name="Shape 11"/>
          <p:cNvSpPr/>
          <p:nvPr/>
        </p:nvSpPr>
        <p:spPr>
          <a:xfrm>
            <a:off x="7059168" y="4233672"/>
            <a:ext cx="4565599" cy="1234440"/>
          </a:xfrm>
          <a:prstGeom prst="roundRect">
            <a:avLst>
              <a:gd name="adj" fmla="val 6667"/>
            </a:avLst>
          </a:prstGeom>
          <a:solidFill>
            <a:srgbClr val="FBEEE0"/>
          </a:solidFill>
          <a:ln w="12700">
            <a:solidFill>
              <a:srgbClr val="FBEEE0"/>
            </a:solidFill>
            <a:prstDash val="solid"/>
          </a:ln>
        </p:spPr>
      </p:sp>
      <p:sp>
        <p:nvSpPr>
          <p:cNvPr id="15" name="Text 12"/>
          <p:cNvSpPr txBox="1"/>
          <p:nvPr/>
        </p:nvSpPr>
        <p:spPr>
          <a:xfrm>
            <a:off x="7315200" y="4361688"/>
            <a:ext cx="4053535" cy="274320"/>
          </a:xfrm>
          <a:prstGeom prst="rect">
            <a:avLst/>
          </a:prstGeom>
          <a:noFill/>
          <a:ln/>
        </p:spPr>
        <p:txBody>
          <a:bodyPr wrap="square" lIns="0" tIns="0" rIns="0" bIns="0" rtlCol="0" anchor="ctr"/>
          <a:lstStyle/>
          <a:p>
            <a:pPr indent="0" marL="0">
              <a:buNone/>
            </a:pPr>
            <a:r>
              <a:rPr lang="en-US" sz="1350" b="1" dirty="0">
                <a:solidFill>
                  <a:srgbClr val="9A430A"/>
                </a:solidFill>
                <a:latin typeface="Calibri" pitchFamily="34" charset="0"/>
                <a:ea typeface="Calibri" pitchFamily="34" charset="-122"/>
                <a:cs typeface="Calibri" pitchFamily="34" charset="-120"/>
              </a:rPr>
              <a:t>1900 and 2100 are the test cases</a:t>
            </a:r>
            <a:endParaRPr lang="en-US" sz="1350" dirty="0"/>
          </a:p>
        </p:txBody>
      </p:sp>
      <p:sp>
        <p:nvSpPr>
          <p:cNvPr id="16" name="Text 13"/>
          <p:cNvSpPr txBox="1"/>
          <p:nvPr/>
        </p:nvSpPr>
        <p:spPr>
          <a:xfrm>
            <a:off x="7315200" y="4672584"/>
            <a:ext cx="4053535" cy="749808"/>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Anyone can get 2024 right. A program that only tests year % 4 == 0 gets 1900 and 2100 wrong and nobody notices for a century. Choose test data that can fail.</a:t>
            </a:r>
            <a:endParaRPr lang="en-US" sz="1200" dirty="0"/>
          </a:p>
        </p:txBody>
      </p:sp>
      <p:sp>
        <p:nvSpPr>
          <p:cNvPr id="17" name="Shape 14"/>
          <p:cNvSpPr/>
          <p:nvPr/>
        </p:nvSpPr>
        <p:spPr>
          <a:xfrm>
            <a:off x="7059168" y="5605272"/>
            <a:ext cx="4565599" cy="804672"/>
          </a:xfrm>
          <a:prstGeom prst="roundRect">
            <a:avLst>
              <a:gd name="adj" fmla="val 10227"/>
            </a:avLst>
          </a:prstGeom>
          <a:solidFill>
            <a:srgbClr val="E4ECF4"/>
          </a:solidFill>
          <a:ln w="12700">
            <a:solidFill>
              <a:srgbClr val="E4ECF4"/>
            </a:solidFill>
            <a:prstDash val="solid"/>
          </a:ln>
        </p:spPr>
      </p:sp>
      <p:sp>
        <p:nvSpPr>
          <p:cNvPr id="18" name="Text 15"/>
          <p:cNvSpPr txBox="1"/>
          <p:nvPr/>
        </p:nvSpPr>
        <p:spPr>
          <a:xfrm>
            <a:off x="7333488" y="5605272"/>
            <a:ext cx="4016959" cy="804672"/>
          </a:xfrm>
          <a:prstGeom prst="rect">
            <a:avLst/>
          </a:prstGeom>
          <a:noFill/>
          <a:ln/>
        </p:spPr>
        <p:txBody>
          <a:bodyPr wrap="square" lIns="0" tIns="0" rIns="0" bIns="0" rtlCol="0" anchor="ctr"/>
          <a:lstStyle/>
          <a:p>
            <a:pPr indent="0" marL="0">
              <a:lnSpc>
                <a:spcPct val="112000"/>
              </a:lnSpc>
              <a:buNone/>
            </a:pPr>
            <a:r>
              <a:rPr lang="en-US" sz="1250" b="1" dirty="0">
                <a:solidFill>
                  <a:srgbClr val="0F2942"/>
                </a:solidFill>
                <a:latin typeface="Calibri" pitchFamily="34" charset="0"/>
                <a:ea typeface="Calibri" pitchFamily="34" charset="-122"/>
                <a:cs typeface="Calibri" pitchFamily="34" charset="-120"/>
              </a:rPr>
              <a:t>In production: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Year.isLeap(year) from java.time already knows this rule.</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WORKED EXAMPLE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Lottery — Conditions Tried in the Right Order</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Generate a two-digit number, read a guess, and award the largest prize the guess qualifies for.</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23</a:t>
            </a:r>
            <a:endParaRPr lang="en-US" sz="900" dirty="0"/>
          </a:p>
        </p:txBody>
      </p:sp>
      <p:sp>
        <p:nvSpPr>
          <p:cNvPr id="7" name="Shape 5"/>
          <p:cNvSpPr/>
          <p:nvPr/>
        </p:nvSpPr>
        <p:spPr>
          <a:xfrm>
            <a:off x="566928" y="1536192"/>
            <a:ext cx="6126480" cy="4740250"/>
          </a:xfrm>
          <a:prstGeom prst="roundRect">
            <a:avLst>
              <a:gd name="adj" fmla="val 1350"/>
            </a:avLst>
          </a:prstGeom>
          <a:solidFill>
            <a:srgbClr val="EDF2F7"/>
          </a:solidFill>
          <a:ln w="12700">
            <a:solidFill>
              <a:srgbClr val="CFDBE5"/>
            </a:solidFill>
            <a:prstDash val="solid"/>
          </a:ln>
        </p:spPr>
      </p:sp>
      <p:sp>
        <p:nvSpPr>
          <p:cNvPr id="8" name="Text 6"/>
          <p:cNvSpPr txBox="1"/>
          <p:nvPr/>
        </p:nvSpPr>
        <p:spPr>
          <a:xfrm>
            <a:off x="713232" y="1581912"/>
            <a:ext cx="58338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Lottery.java</a:t>
            </a:r>
            <a:endParaRPr lang="en-US" sz="950" dirty="0"/>
          </a:p>
        </p:txBody>
      </p:sp>
      <p:sp>
        <p:nvSpPr>
          <p:cNvPr id="9" name="Text 7"/>
          <p:cNvSpPr txBox="1"/>
          <p:nvPr/>
        </p:nvSpPr>
        <p:spPr>
          <a:xfrm>
            <a:off x="731520" y="1810512"/>
            <a:ext cx="5797296" cy="4411066"/>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lottery</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Math</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random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100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guess</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nextInt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lotteryDigit1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lottery</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lotteryDigit2</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lottery</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guessDigit1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guess</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guessDigit2</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guess</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guess</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lottery</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"Exact match: $10,000"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else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guessDigit2</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lotteryDigit1</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&amp;</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&amp;</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guessDigit1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lotteryDigit2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"Both digits: $3,000"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else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guessDigit1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lotteryDigit1</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guessDigit1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lotteryDigit2</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guessDigit2</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lotteryDigit1</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guessDigit2</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lotteryDigit2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"One digit: $1,000"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else</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"Sorry, no match"</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7150608" y="1536192"/>
          <a:ext cx="4474159" cy="914400"/>
        </p:xfrm>
        <a:graphic>
          <a:graphicData uri="http://schemas.openxmlformats.org/drawingml/2006/table">
            <a:tbl>
              <a:tblPr/>
              <a:tblGrid>
                <a:gridCol w="2863462"/>
                <a:gridCol w="1610697"/>
              </a:tblGrid>
              <a:tr h="43891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Rule</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Award</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438912">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The guess matches in exact order</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b="1" dirty="0">
                          <a:solidFill>
                            <a:srgbClr val="9A430A"/>
                          </a:solidFill>
                          <a:latin typeface="Courier New" pitchFamily="34" charset="0"/>
                          <a:ea typeface="Courier New" pitchFamily="34" charset="-122"/>
                          <a:cs typeface="Courier New" pitchFamily="34" charset="-120"/>
                        </a:rPr>
                        <a:t>$10,000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438912">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Both digits match, order reversed</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b="1" dirty="0">
                          <a:solidFill>
                            <a:srgbClr val="9A430A"/>
                          </a:solidFill>
                          <a:latin typeface="Courier New" pitchFamily="34" charset="0"/>
                          <a:ea typeface="Courier New" pitchFamily="34" charset="-122"/>
                          <a:cs typeface="Courier New" pitchFamily="34" charset="-120"/>
                        </a:rPr>
                        <a:t>$3,000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One digit of the guess appears in the lottery</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b="1" dirty="0">
                          <a:solidFill>
                            <a:srgbClr val="9A430A"/>
                          </a:solidFill>
                          <a:latin typeface="Courier New" pitchFamily="34" charset="0"/>
                          <a:ea typeface="Courier New" pitchFamily="34" charset="-122"/>
                          <a:cs typeface="Courier New" pitchFamily="34" charset="-120"/>
                        </a:rPr>
                        <a:t>$1,000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438912">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Nothing matches</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b="1" dirty="0">
                          <a:solidFill>
                            <a:srgbClr val="9A430A"/>
                          </a:solidFill>
                          <a:latin typeface="Courier New" pitchFamily="34" charset="0"/>
                          <a:ea typeface="Courier New" pitchFamily="34" charset="-122"/>
                          <a:cs typeface="Courier New" pitchFamily="34" charset="-120"/>
                        </a:rPr>
                        <a:t>nothing</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bl>
          </a:graphicData>
        </a:graphic>
      </p:graphicFrame>
      <p:sp>
        <p:nvSpPr>
          <p:cNvPr id="11" name="Shape 8"/>
          <p:cNvSpPr/>
          <p:nvPr/>
        </p:nvSpPr>
        <p:spPr>
          <a:xfrm>
            <a:off x="7150608" y="4187952"/>
            <a:ext cx="4474159" cy="1417320"/>
          </a:xfrm>
          <a:prstGeom prst="roundRect">
            <a:avLst>
              <a:gd name="adj" fmla="val 5806"/>
            </a:avLst>
          </a:prstGeom>
          <a:solidFill>
            <a:srgbClr val="FBEEE0"/>
          </a:solidFill>
          <a:ln w="12700">
            <a:solidFill>
              <a:srgbClr val="FBEEE0"/>
            </a:solidFill>
            <a:prstDash val="solid"/>
          </a:ln>
        </p:spPr>
      </p:sp>
      <p:sp>
        <p:nvSpPr>
          <p:cNvPr id="12" name="Text 9"/>
          <p:cNvSpPr txBox="1"/>
          <p:nvPr/>
        </p:nvSpPr>
        <p:spPr>
          <a:xfrm>
            <a:off x="7370064" y="4352544"/>
            <a:ext cx="4035247" cy="310896"/>
          </a:xfrm>
          <a:prstGeom prst="rect">
            <a:avLst/>
          </a:prstGeom>
          <a:noFill/>
          <a:ln/>
        </p:spPr>
        <p:txBody>
          <a:bodyPr wrap="square" lIns="0" tIns="0" rIns="0" bIns="0" rtlCol="0" anchor="t"/>
          <a:lstStyle/>
          <a:p>
            <a:pPr indent="0" marL="0">
              <a:buNone/>
            </a:pPr>
            <a:r>
              <a:rPr lang="en-US" sz="1450" b="1" dirty="0">
                <a:solidFill>
                  <a:srgbClr val="9A430A"/>
                </a:solidFill>
                <a:latin typeface="Calibri" pitchFamily="34" charset="0"/>
                <a:ea typeface="Calibri" pitchFamily="34" charset="-122"/>
                <a:cs typeface="Calibri" pitchFamily="34" charset="-120"/>
              </a:rPr>
              <a:t>The order of the rungs is the whole design</a:t>
            </a:r>
            <a:endParaRPr lang="en-US" sz="1450" dirty="0"/>
          </a:p>
        </p:txBody>
      </p:sp>
      <p:sp>
        <p:nvSpPr>
          <p:cNvPr id="13" name="Text 10"/>
          <p:cNvSpPr txBox="1"/>
          <p:nvPr/>
        </p:nvSpPr>
        <p:spPr>
          <a:xfrm>
            <a:off x="7370064" y="4681728"/>
            <a:ext cx="4035247" cy="79552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An exact match also satisfies rules 2 and 3. Because the ladder stops at the first true condition, the largest prize is awarded and the cheaper rules never get a chance.</a:t>
            </a:r>
            <a:endParaRPr lang="en-US" sz="1200" dirty="0"/>
          </a:p>
        </p:txBody>
      </p:sp>
      <p:sp>
        <p:nvSpPr>
          <p:cNvPr id="14" name="Shape 11"/>
          <p:cNvSpPr/>
          <p:nvPr/>
        </p:nvSpPr>
        <p:spPr>
          <a:xfrm>
            <a:off x="7150608" y="5742432"/>
            <a:ext cx="4474159" cy="621792"/>
          </a:xfrm>
          <a:prstGeom prst="roundRect">
            <a:avLst>
              <a:gd name="adj" fmla="val 13235"/>
            </a:avLst>
          </a:prstGeom>
          <a:solidFill>
            <a:srgbClr val="E4ECF4"/>
          </a:solidFill>
          <a:ln w="12700">
            <a:solidFill>
              <a:srgbClr val="E4ECF4"/>
            </a:solidFill>
            <a:prstDash val="solid"/>
          </a:ln>
        </p:spPr>
      </p:sp>
      <p:sp>
        <p:nvSpPr>
          <p:cNvPr id="15" name="Text 12"/>
          <p:cNvSpPr txBox="1"/>
          <p:nvPr/>
        </p:nvSpPr>
        <p:spPr>
          <a:xfrm>
            <a:off x="7424928" y="5742432"/>
            <a:ext cx="3925519" cy="621792"/>
          </a:xfrm>
          <a:prstGeom prst="rect">
            <a:avLst/>
          </a:prstGeom>
          <a:noFill/>
          <a:ln/>
        </p:spPr>
        <p:txBody>
          <a:bodyPr wrap="square" lIns="0" tIns="0" rIns="0" bIns="0" rtlCol="0" anchor="ctr"/>
          <a:lstStyle/>
          <a:p>
            <a:pPr indent="0" marL="0">
              <a:buNone/>
            </a:pPr>
            <a:r>
              <a:rPr lang="en-US" sz="1200" b="1" dirty="0">
                <a:solidFill>
                  <a:srgbClr val="9A430A"/>
                </a:solidFill>
                <a:latin typeface="Courier New" pitchFamily="34" charset="0"/>
                <a:ea typeface="Courier New" pitchFamily="34" charset="-122"/>
                <a:cs typeface="Courier New" pitchFamily="34" charset="-120"/>
              </a:rPr>
              <a:t>n / 10</a:t>
            </a:r>
            <a:pPr indent="0" marL="0">
              <a:buNone/>
            </a:pPr>
            <a:r>
              <a:rPr lang="en-US" sz="1200" dirty="0">
                <a:solidFill>
                  <a:srgbClr val="3A536B"/>
                </a:solidFill>
                <a:latin typeface="Calibri" pitchFamily="34" charset="0"/>
                <a:ea typeface="Calibri" pitchFamily="34" charset="-122"/>
                <a:cs typeface="Calibri" pitchFamily="34" charset="-120"/>
              </a:rPr>
              <a:t> is the tens digit, </a:t>
            </a:r>
            <a:pPr indent="0" marL="0">
              <a:buNone/>
            </a:pPr>
            <a:r>
              <a:rPr lang="en-US" sz="1200" b="1" dirty="0">
                <a:solidFill>
                  <a:srgbClr val="9A430A"/>
                </a:solidFill>
                <a:latin typeface="Courier New" pitchFamily="34" charset="0"/>
                <a:ea typeface="Courier New" pitchFamily="34" charset="-122"/>
                <a:cs typeface="Courier New" pitchFamily="34" charset="-120"/>
              </a:rPr>
              <a:t>n % 10</a:t>
            </a:r>
            <a:pPr indent="0" marL="0">
              <a:buNone/>
            </a:pPr>
            <a:r>
              <a:rPr lang="en-US" sz="1200" dirty="0">
                <a:solidFill>
                  <a:srgbClr val="3A536B"/>
                </a:solidFill>
                <a:latin typeface="Calibri" pitchFamily="34" charset="0"/>
                <a:ea typeface="Calibri" pitchFamily="34" charset="-122"/>
                <a:cs typeface="Calibri" pitchFamily="34" charset="-120"/>
              </a:rPr>
              <a:t> the units.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CF1E5"/>
        </a:solidFill>
      </p:bgPr>
    </p:bg>
    <p:spTree>
      <p:nvGrpSpPr>
        <p:cNvPr id="1" name=""/>
        <p:cNvGrpSpPr/>
        <p:nvPr/>
      </p:nvGrpSpPr>
      <p:grpSpPr>
        <a:xfrm>
          <a:off x="0" y="0"/>
          <a:ext cx="0" cy="0"/>
          <a:chOff x="0" y="0"/>
          <a:chExt cx="0" cy="0"/>
        </a:xfrm>
      </p:grpSpPr>
      <p:sp>
        <p:nvSpPr>
          <p:cNvPr id="2" name="Text 0"/>
          <p:cNvSpPr txBox="1"/>
          <p:nvPr/>
        </p:nvSpPr>
        <p:spPr>
          <a:xfrm>
            <a:off x="566928" y="566928"/>
            <a:ext cx="5486400" cy="274320"/>
          </a:xfrm>
          <a:prstGeom prst="rect">
            <a:avLst/>
          </a:prstGeom>
          <a:noFill/>
          <a:ln/>
        </p:spPr>
        <p:txBody>
          <a:bodyPr wrap="square" lIns="0" tIns="0" rIns="0" bIns="0" rtlCol="0" anchor="ctr"/>
          <a:lstStyle/>
          <a:p>
            <a:pPr indent="0" marL="0">
              <a:buNone/>
            </a:pPr>
            <a:r>
              <a:rPr lang="en-US" sz="1200" b="1" spc="200" kern="0" dirty="0">
                <a:solidFill>
                  <a:srgbClr val="9A430A"/>
                </a:solidFill>
                <a:latin typeface="Calibri" pitchFamily="34" charset="0"/>
                <a:ea typeface="Calibri" pitchFamily="34" charset="-122"/>
                <a:cs typeface="Calibri" pitchFamily="34" charset="-120"/>
              </a:rPr>
              <a:t>CHECKPOINT 3</a:t>
            </a:r>
            <a:endParaRPr lang="en-US" sz="1200" dirty="0"/>
          </a:p>
        </p:txBody>
      </p:sp>
      <p:sp>
        <p:nvSpPr>
          <p:cNvPr id="3" name="Text 1"/>
          <p:cNvSpPr txBox="1"/>
          <p:nvPr/>
        </p:nvSpPr>
        <p:spPr>
          <a:xfrm>
            <a:off x="566928" y="841248"/>
            <a:ext cx="7315200" cy="566928"/>
          </a:xfrm>
          <a:prstGeom prst="rect">
            <a:avLst/>
          </a:prstGeom>
          <a:noFill/>
          <a:ln/>
        </p:spPr>
        <p:txBody>
          <a:bodyPr wrap="square" lIns="0" tIns="0" rIns="0" bIns="0" rtlCol="0" anchor="ctr"/>
          <a:lstStyle/>
          <a:p>
            <a:pPr indent="0" marL="0">
              <a:buNone/>
            </a:pPr>
            <a:r>
              <a:rPr lang="en-US" sz="3400" b="1" dirty="0">
                <a:solidFill>
                  <a:srgbClr val="0F2942"/>
                </a:solidFill>
                <a:latin typeface="Cambria" pitchFamily="34" charset="0"/>
                <a:ea typeface="Cambria" pitchFamily="34" charset="-122"/>
                <a:cs typeface="Cambria" pitchFamily="34" charset="-120"/>
              </a:rPr>
              <a:t>Over to You</a:t>
            </a:r>
            <a:endParaRPr lang="en-US" sz="3400" dirty="0"/>
          </a:p>
        </p:txBody>
      </p:sp>
      <p:sp>
        <p:nvSpPr>
          <p:cNvPr id="4" name="Text 2"/>
          <p:cNvSpPr txBox="1"/>
          <p:nvPr/>
        </p:nvSpPr>
        <p:spPr>
          <a:xfrm>
            <a:off x="6687007" y="960120"/>
            <a:ext cx="4937760" cy="365760"/>
          </a:xfrm>
          <a:prstGeom prst="rect">
            <a:avLst/>
          </a:prstGeom>
          <a:noFill/>
          <a:ln/>
        </p:spPr>
        <p:txBody>
          <a:bodyPr wrap="square" lIns="0" tIns="0" rIns="0" bIns="0" rtlCol="0" anchor="ctr"/>
          <a:lstStyle/>
          <a:p>
            <a:pPr algn="r" indent="0" marL="0">
              <a:buNone/>
            </a:pPr>
            <a:r>
              <a:rPr lang="en-US" sz="1250" dirty="0">
                <a:solidFill>
                  <a:srgbClr val="4B6377"/>
                </a:solidFill>
                <a:latin typeface="Calibri" pitchFamily="34" charset="0"/>
                <a:ea typeface="Calibri" pitchFamily="34" charset="-122"/>
                <a:cs typeface="Calibri" pitchFamily="34" charset="-120"/>
              </a:rPr>
              <a:t>Covering slides 19–23</a:t>
            </a:r>
            <a:endParaRPr lang="en-US" sz="1250" dirty="0"/>
          </a:p>
        </p:txBody>
      </p:sp>
      <p:sp>
        <p:nvSpPr>
          <p:cNvPr id="5" name="Shape 3"/>
          <p:cNvSpPr/>
          <p:nvPr/>
        </p:nvSpPr>
        <p:spPr>
          <a:xfrm>
            <a:off x="566928" y="1775582"/>
            <a:ext cx="11057839" cy="960120"/>
          </a:xfrm>
          <a:prstGeom prst="roundRect">
            <a:avLst>
              <a:gd name="adj" fmla="val 8571"/>
            </a:avLst>
          </a:prstGeom>
          <a:solidFill>
            <a:srgbClr val="FFFFFF"/>
          </a:solidFill>
          <a:ln w="12700">
            <a:solidFill>
              <a:srgbClr val="D3DEE7"/>
            </a:solidFill>
            <a:prstDash val="solid"/>
          </a:ln>
        </p:spPr>
      </p:sp>
      <p:sp>
        <p:nvSpPr>
          <p:cNvPr id="6" name="Shape 4"/>
          <p:cNvSpPr/>
          <p:nvPr/>
        </p:nvSpPr>
        <p:spPr>
          <a:xfrm>
            <a:off x="841248" y="2013326"/>
            <a:ext cx="402336" cy="402336"/>
          </a:xfrm>
          <a:prstGeom prst="ellipse">
            <a:avLst/>
          </a:prstGeom>
          <a:solidFill>
            <a:srgbClr val="C4560C"/>
          </a:solidFill>
          <a:ln w="12700">
            <a:solidFill>
              <a:srgbClr val="C4560C"/>
            </a:solidFill>
            <a:prstDash val="solid"/>
          </a:ln>
        </p:spPr>
      </p:sp>
      <p:sp>
        <p:nvSpPr>
          <p:cNvPr id="7" name="Text 5"/>
          <p:cNvSpPr txBox="1"/>
          <p:nvPr/>
        </p:nvSpPr>
        <p:spPr>
          <a:xfrm>
            <a:off x="841248" y="201332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8" name="Text 6"/>
          <p:cNvSpPr txBox="1"/>
          <p:nvPr/>
        </p:nvSpPr>
        <p:spPr>
          <a:xfrm>
            <a:off x="1435608" y="1940174"/>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With age = 24 and weight = 140, what is (age &gt; 34) ^ (weight &gt; 140), and why?</a:t>
            </a:r>
            <a:endParaRPr lang="en-US" sz="1550" dirty="0"/>
          </a:p>
        </p:txBody>
      </p:sp>
      <p:sp>
        <p:nvSpPr>
          <p:cNvPr id="9" name="Shape 7"/>
          <p:cNvSpPr/>
          <p:nvPr/>
        </p:nvSpPr>
        <p:spPr>
          <a:xfrm>
            <a:off x="566928" y="2955158"/>
            <a:ext cx="11057839" cy="1916948"/>
          </a:xfrm>
          <a:prstGeom prst="roundRect">
            <a:avLst>
              <a:gd name="adj" fmla="val 4293"/>
            </a:avLst>
          </a:prstGeom>
          <a:solidFill>
            <a:srgbClr val="FFFFFF"/>
          </a:solidFill>
          <a:ln w="12700">
            <a:solidFill>
              <a:srgbClr val="D3DEE7"/>
            </a:solidFill>
            <a:prstDash val="solid"/>
          </a:ln>
        </p:spPr>
      </p:sp>
      <p:sp>
        <p:nvSpPr>
          <p:cNvPr id="10" name="Shape 8"/>
          <p:cNvSpPr/>
          <p:nvPr/>
        </p:nvSpPr>
        <p:spPr>
          <a:xfrm>
            <a:off x="841248" y="3192902"/>
            <a:ext cx="402336" cy="402336"/>
          </a:xfrm>
          <a:prstGeom prst="ellipse">
            <a:avLst/>
          </a:prstGeom>
          <a:solidFill>
            <a:srgbClr val="C4560C"/>
          </a:solidFill>
          <a:ln w="12700">
            <a:solidFill>
              <a:srgbClr val="C4560C"/>
            </a:solidFill>
            <a:prstDash val="solid"/>
          </a:ln>
        </p:spPr>
      </p:sp>
      <p:sp>
        <p:nvSpPr>
          <p:cNvPr id="11" name="Text 9"/>
          <p:cNvSpPr txBox="1"/>
          <p:nvPr/>
        </p:nvSpPr>
        <p:spPr>
          <a:xfrm>
            <a:off x="841248" y="319290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2" name="Text 10"/>
          <p:cNvSpPr txBox="1"/>
          <p:nvPr/>
        </p:nvSpPr>
        <p:spPr>
          <a:xfrm>
            <a:off x="1435608" y="3119750"/>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After this runs, what is x — and what would it be if the &amp; were &amp;&amp;?</a:t>
            </a:r>
            <a:endParaRPr lang="en-US" sz="1550" dirty="0"/>
          </a:p>
        </p:txBody>
      </p:sp>
      <p:sp>
        <p:nvSpPr>
          <p:cNvPr id="13" name="Shape 11"/>
          <p:cNvSpPr/>
          <p:nvPr/>
        </p:nvSpPr>
        <p:spPr>
          <a:xfrm>
            <a:off x="1435608" y="3595238"/>
            <a:ext cx="6949440" cy="755660"/>
          </a:xfrm>
          <a:prstGeom prst="roundRect">
            <a:avLst>
              <a:gd name="adj" fmla="val 8470"/>
            </a:avLst>
          </a:prstGeom>
          <a:solidFill>
            <a:srgbClr val="EDF2F7"/>
          </a:solidFill>
          <a:ln w="12700">
            <a:solidFill>
              <a:srgbClr val="CFDBE5"/>
            </a:solidFill>
            <a:prstDash val="solid"/>
          </a:ln>
        </p:spPr>
      </p:sp>
      <p:sp>
        <p:nvSpPr>
          <p:cNvPr id="14" name="Text 12"/>
          <p:cNvSpPr txBox="1"/>
          <p:nvPr/>
        </p:nvSpPr>
        <p:spPr>
          <a:xfrm>
            <a:off x="1600200" y="3732398"/>
            <a:ext cx="6620256" cy="554492"/>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boolean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&amp;</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5" name="Shape 13"/>
          <p:cNvSpPr/>
          <p:nvPr/>
        </p:nvSpPr>
        <p:spPr>
          <a:xfrm>
            <a:off x="566928" y="5091562"/>
            <a:ext cx="11057839" cy="960120"/>
          </a:xfrm>
          <a:prstGeom prst="roundRect">
            <a:avLst>
              <a:gd name="adj" fmla="val 8571"/>
            </a:avLst>
          </a:prstGeom>
          <a:solidFill>
            <a:srgbClr val="FFFFFF"/>
          </a:solidFill>
          <a:ln w="12700">
            <a:solidFill>
              <a:srgbClr val="D3DEE7"/>
            </a:solidFill>
            <a:prstDash val="solid"/>
          </a:ln>
        </p:spPr>
      </p:sp>
      <p:sp>
        <p:nvSpPr>
          <p:cNvPr id="16" name="Shape 14"/>
          <p:cNvSpPr/>
          <p:nvPr/>
        </p:nvSpPr>
        <p:spPr>
          <a:xfrm>
            <a:off x="841248" y="5329306"/>
            <a:ext cx="402336" cy="402336"/>
          </a:xfrm>
          <a:prstGeom prst="ellipse">
            <a:avLst/>
          </a:prstGeom>
          <a:solidFill>
            <a:srgbClr val="C4560C"/>
          </a:solidFill>
          <a:ln w="12700">
            <a:solidFill>
              <a:srgbClr val="C4560C"/>
            </a:solidFill>
            <a:prstDash val="solid"/>
          </a:ln>
        </p:spPr>
      </p:sp>
      <p:sp>
        <p:nvSpPr>
          <p:cNvPr id="17" name="Text 15"/>
          <p:cNvSpPr txBox="1"/>
          <p:nvPr/>
        </p:nvSpPr>
        <p:spPr>
          <a:xfrm>
            <a:off x="841248" y="532930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8" name="Text 16"/>
          <p:cNvSpPr txBox="1"/>
          <p:nvPr/>
        </p:nvSpPr>
        <p:spPr>
          <a:xfrm>
            <a:off x="1435608" y="5256154"/>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Why is (year % 4 == 0 &amp;&amp; year % 100 != 0) || (year % 400 == 0) not the same as year % 4 == 0?</a:t>
            </a:r>
            <a:endParaRPr lang="en-US" sz="15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DF2F7"/>
        </a:solidFill>
      </p:bgPr>
    </p:bg>
    <p:spTree>
      <p:nvGrpSpPr>
        <p:cNvPr id="1" name=""/>
        <p:cNvGrpSpPr/>
        <p:nvPr/>
      </p:nvGrpSpPr>
      <p:grpSpPr>
        <a:xfrm>
          <a:off x="0" y="0"/>
          <a:ext cx="0" cy="0"/>
          <a:chOff x="0" y="0"/>
          <a:chExt cx="0" cy="0"/>
        </a:xfrm>
      </p:grpSpPr>
      <p:sp>
        <p:nvSpPr>
          <p:cNvPr id="2" name="Text 0"/>
          <p:cNvSpPr txBox="1"/>
          <p:nvPr/>
        </p:nvSpPr>
        <p:spPr>
          <a:xfrm>
            <a:off x="566928" y="2286000"/>
            <a:ext cx="5486400" cy="310896"/>
          </a:xfrm>
          <a:prstGeom prst="rect">
            <a:avLst/>
          </a:prstGeom>
          <a:noFill/>
          <a:ln/>
        </p:spPr>
        <p:txBody>
          <a:bodyPr wrap="square" lIns="0" tIns="0" rIns="0" bIns="0" rtlCol="0" anchor="ctr"/>
          <a:lstStyle/>
          <a:p>
            <a:pPr indent="0" marL="0">
              <a:buNone/>
            </a:pPr>
            <a:r>
              <a:rPr lang="en-US" sz="1300" b="1" spc="240" kern="0" dirty="0">
                <a:solidFill>
                  <a:srgbClr val="9A430A"/>
                </a:solidFill>
                <a:latin typeface="Calibri" pitchFamily="34" charset="0"/>
                <a:ea typeface="Calibri" pitchFamily="34" charset="-122"/>
                <a:cs typeface="Calibri" pitchFamily="34" charset="-120"/>
              </a:rPr>
              <a:t>PART 03</a:t>
            </a:r>
            <a:endParaRPr lang="en-US" sz="1300" dirty="0"/>
          </a:p>
        </p:txBody>
      </p:sp>
      <p:sp>
        <p:nvSpPr>
          <p:cNvPr id="3" name="Text 1"/>
          <p:cNvSpPr txBox="1"/>
          <p:nvPr/>
        </p:nvSpPr>
        <p:spPr>
          <a:xfrm>
            <a:off x="566928" y="2697480"/>
            <a:ext cx="8046720" cy="1737360"/>
          </a:xfrm>
          <a:prstGeom prst="rect">
            <a:avLst/>
          </a:prstGeom>
          <a:noFill/>
          <a:ln/>
        </p:spPr>
        <p:txBody>
          <a:bodyPr wrap="square" lIns="0" tIns="0" rIns="0" bIns="0" rtlCol="0" anchor="ctr"/>
          <a:lstStyle/>
          <a:p>
            <a:pPr indent="0" marL="0">
              <a:lnSpc>
                <a:spcPct val="105000"/>
              </a:lnSpc>
              <a:buNone/>
            </a:pPr>
            <a:r>
              <a:rPr lang="en-US" sz="4400" b="1" dirty="0">
                <a:solidFill>
                  <a:srgbClr val="0F2942"/>
                </a:solidFill>
                <a:latin typeface="Cambria" pitchFamily="34" charset="0"/>
                <a:ea typeface="Cambria" pitchFamily="34" charset="-122"/>
                <a:cs typeface="Cambria" pitchFamily="34" charset="-120"/>
              </a:rPr>
              <a:t>switch and the</a:t>
            </a:r>
            <a:endParaRPr lang="en-US" sz="4400" dirty="0"/>
          </a:p>
          <a:p>
            <a:pPr indent="0" marL="0">
              <a:lnSpc>
                <a:spcPct val="105000"/>
              </a:lnSpc>
              <a:buNone/>
            </a:pPr>
            <a:r>
              <a:rPr lang="en-US" sz="4400" b="1" dirty="0">
                <a:solidFill>
                  <a:srgbClr val="0F2942"/>
                </a:solidFill>
                <a:latin typeface="Cambria" pitchFamily="34" charset="0"/>
                <a:ea typeface="Cambria" pitchFamily="34" charset="-122"/>
                <a:cs typeface="Cambria" pitchFamily="34" charset="-120"/>
              </a:rPr>
              <a:t>Conditional Operator</a:t>
            </a:r>
            <a:endParaRPr lang="en-US" sz="4400" dirty="0"/>
          </a:p>
        </p:txBody>
      </p:sp>
      <p:sp>
        <p:nvSpPr>
          <p:cNvPr id="4" name="Text 2"/>
          <p:cNvSpPr txBox="1"/>
          <p:nvPr/>
        </p:nvSpPr>
        <p:spPr>
          <a:xfrm>
            <a:off x="566928" y="4526280"/>
            <a:ext cx="8686800" cy="365760"/>
          </a:xfrm>
          <a:prstGeom prst="rect">
            <a:avLst/>
          </a:prstGeom>
          <a:noFill/>
          <a:ln/>
        </p:spPr>
        <p:txBody>
          <a:bodyPr wrap="square" lIns="0" tIns="0" rIns="0" bIns="0" rtlCol="0" anchor="ctr"/>
          <a:lstStyle/>
          <a:p>
            <a:pPr indent="0" marL="0">
              <a:buNone/>
            </a:pPr>
            <a:r>
              <a:rPr lang="en-US" sz="1500" dirty="0">
                <a:solidFill>
                  <a:srgbClr val="3A536B"/>
                </a:solidFill>
                <a:latin typeface="Calibri" pitchFamily="34" charset="0"/>
                <a:ea typeface="Calibri" pitchFamily="34" charset="-122"/>
                <a:cs typeface="Calibri" pitchFamily="34" charset="-120"/>
              </a:rPr>
              <a:t>Choosing from a fixed set of values — the old way, the modern way, and the one-liner.</a:t>
            </a:r>
            <a:endParaRPr lang="en-US" sz="1500" dirty="0"/>
          </a:p>
        </p:txBody>
      </p:sp>
      <p:sp>
        <p:nvSpPr>
          <p:cNvPr id="5" name="Text 3"/>
          <p:cNvSpPr txBox="1"/>
          <p:nvPr/>
        </p:nvSpPr>
        <p:spPr>
          <a:xfrm>
            <a:off x="9247327" y="2011680"/>
            <a:ext cx="2377440" cy="2194560"/>
          </a:xfrm>
          <a:prstGeom prst="rect">
            <a:avLst/>
          </a:prstGeom>
          <a:noFill/>
          <a:ln/>
        </p:spPr>
        <p:txBody>
          <a:bodyPr wrap="square" lIns="0" tIns="0" rIns="0" bIns="0" rtlCol="0" anchor="ctr"/>
          <a:lstStyle/>
          <a:p>
            <a:pPr algn="r" indent="0" marL="0">
              <a:buNone/>
            </a:pPr>
            <a:r>
              <a:rPr lang="en-US" sz="13000" b="1" dirty="0">
                <a:solidFill>
                  <a:srgbClr val="CFDCE8"/>
                </a:solidFill>
                <a:latin typeface="Cambria" pitchFamily="34" charset="0"/>
                <a:ea typeface="Cambria" pitchFamily="34" charset="-122"/>
                <a:cs typeface="Cambria" pitchFamily="34" charset="-120"/>
              </a:rPr>
              <a:t>03</a:t>
            </a:r>
            <a:endParaRPr lang="en-US" sz="13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SELECTION 04</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The switch Statement</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When one variable is compared against a list of constant values, a switch says so more plainly than a ladder.</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26</a:t>
            </a:r>
            <a:endParaRPr lang="en-US" sz="900" dirty="0"/>
          </a:p>
        </p:txBody>
      </p:sp>
      <p:sp>
        <p:nvSpPr>
          <p:cNvPr id="7" name="Shape 5"/>
          <p:cNvSpPr/>
          <p:nvPr/>
        </p:nvSpPr>
        <p:spPr>
          <a:xfrm>
            <a:off x="566928" y="1536192"/>
            <a:ext cx="5852160" cy="3150657"/>
          </a:xfrm>
          <a:prstGeom prst="roundRect">
            <a:avLst>
              <a:gd name="adj" fmla="val 2032"/>
            </a:avLst>
          </a:prstGeom>
          <a:solidFill>
            <a:srgbClr val="EDF2F7"/>
          </a:solidFill>
          <a:ln w="12700">
            <a:solidFill>
              <a:srgbClr val="CFDBE5"/>
            </a:solidFill>
            <a:prstDash val="solid"/>
          </a:ln>
        </p:spPr>
      </p:sp>
      <p:sp>
        <p:nvSpPr>
          <p:cNvPr id="8" name="Text 6"/>
          <p:cNvSpPr txBox="1"/>
          <p:nvPr/>
        </p:nvSpPr>
        <p:spPr>
          <a:xfrm>
            <a:off x="713232" y="1581912"/>
            <a:ext cx="555955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THE CLASSIC (COLON) FORM</a:t>
            </a:r>
            <a:endParaRPr lang="en-US" sz="950" dirty="0"/>
          </a:p>
        </p:txBody>
      </p:sp>
      <p:sp>
        <p:nvSpPr>
          <p:cNvPr id="9" name="Text 7"/>
          <p:cNvSpPr txBox="1"/>
          <p:nvPr/>
        </p:nvSpPr>
        <p:spPr>
          <a:xfrm>
            <a:off x="731520" y="1810512"/>
            <a:ext cx="5522976" cy="2821473"/>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switch</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status</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computeSingleFiler</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break</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computeMarriedJointly</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break</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computeMarriedSeparately</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break</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computeHeadOfHousehold</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break</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default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"Invalid status"</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exit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0" name="Shape 8"/>
          <p:cNvSpPr/>
          <p:nvPr/>
        </p:nvSpPr>
        <p:spPr>
          <a:xfrm>
            <a:off x="566928" y="4942881"/>
            <a:ext cx="5852160" cy="1371600"/>
          </a:xfrm>
          <a:prstGeom prst="roundRect">
            <a:avLst>
              <a:gd name="adj" fmla="val 6000"/>
            </a:avLst>
          </a:prstGeom>
          <a:solidFill>
            <a:srgbClr val="E4ECF4"/>
          </a:solidFill>
          <a:ln w="12700">
            <a:solidFill>
              <a:srgbClr val="E4ECF4"/>
            </a:solidFill>
            <a:prstDash val="solid"/>
          </a:ln>
        </p:spPr>
      </p:sp>
      <p:sp>
        <p:nvSpPr>
          <p:cNvPr id="11" name="Text 9"/>
          <p:cNvSpPr txBox="1"/>
          <p:nvPr/>
        </p:nvSpPr>
        <p:spPr>
          <a:xfrm>
            <a:off x="841248" y="5089185"/>
            <a:ext cx="5303520"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The same four-way choice as the tax ladder</a:t>
            </a:r>
            <a:endParaRPr lang="en-US" sz="1350" dirty="0"/>
          </a:p>
        </p:txBody>
      </p:sp>
      <p:sp>
        <p:nvSpPr>
          <p:cNvPr id="12" name="Text 10"/>
          <p:cNvSpPr txBox="1"/>
          <p:nvPr/>
        </p:nvSpPr>
        <p:spPr>
          <a:xfrm>
            <a:off x="841248" y="5400081"/>
            <a:ext cx="5303520" cy="82296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The ladder repeated status == on every rung. Here the variable is named once and the cases line up underneath it, which is easier both to read and to check for gaps.</a:t>
            </a:r>
            <a:endParaRPr lang="en-US" sz="1200" dirty="0"/>
          </a:p>
        </p:txBody>
      </p:sp>
      <p:sp>
        <p:nvSpPr>
          <p:cNvPr id="13" name="Text 11"/>
          <p:cNvSpPr txBox="1"/>
          <p:nvPr/>
        </p:nvSpPr>
        <p:spPr>
          <a:xfrm>
            <a:off x="6876288" y="1536192"/>
            <a:ext cx="4748479" cy="219456"/>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THE FIVE RULES</a:t>
            </a:r>
            <a:endParaRPr lang="en-US" sz="950" dirty="0"/>
          </a:p>
        </p:txBody>
      </p:sp>
      <p:sp>
        <p:nvSpPr>
          <p:cNvPr id="14" name="Shape 12"/>
          <p:cNvSpPr/>
          <p:nvPr/>
        </p:nvSpPr>
        <p:spPr>
          <a:xfrm>
            <a:off x="6876288" y="1810512"/>
            <a:ext cx="4748479" cy="859536"/>
          </a:xfrm>
          <a:prstGeom prst="roundRect">
            <a:avLst>
              <a:gd name="adj" fmla="val 9574"/>
            </a:avLst>
          </a:prstGeom>
          <a:solidFill>
            <a:srgbClr val="F1F5F9"/>
          </a:solidFill>
          <a:ln w="12700">
            <a:solidFill>
              <a:srgbClr val="F1F5F9"/>
            </a:solidFill>
            <a:prstDash val="solid"/>
          </a:ln>
        </p:spPr>
      </p:sp>
      <p:sp>
        <p:nvSpPr>
          <p:cNvPr id="15" name="Shape 13"/>
          <p:cNvSpPr/>
          <p:nvPr/>
        </p:nvSpPr>
        <p:spPr>
          <a:xfrm>
            <a:off x="7077456" y="2048256"/>
            <a:ext cx="384048" cy="384048"/>
          </a:xfrm>
          <a:prstGeom prst="ellipse">
            <a:avLst/>
          </a:prstGeom>
          <a:solidFill>
            <a:srgbClr val="C4560C"/>
          </a:solidFill>
          <a:ln w="12700">
            <a:solidFill>
              <a:srgbClr val="C4560C"/>
            </a:solidFill>
            <a:prstDash val="solid"/>
          </a:ln>
        </p:spPr>
      </p:sp>
      <p:sp>
        <p:nvSpPr>
          <p:cNvPr id="16" name="Text 14"/>
          <p:cNvSpPr txBox="1"/>
          <p:nvPr/>
        </p:nvSpPr>
        <p:spPr>
          <a:xfrm>
            <a:off x="7077456" y="20482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7" name="Text 15"/>
          <p:cNvSpPr txBox="1"/>
          <p:nvPr/>
        </p:nvSpPr>
        <p:spPr>
          <a:xfrm>
            <a:off x="7607808" y="1901952"/>
            <a:ext cx="3788359" cy="274320"/>
          </a:xfrm>
          <a:prstGeom prst="rect">
            <a:avLst/>
          </a:prstGeom>
          <a:noFill/>
          <a:ln/>
        </p:spPr>
        <p:txBody>
          <a:bodyPr wrap="square" lIns="0" tIns="0" rIns="0" bIns="0" rtlCol="0" anchor="ctr"/>
          <a:lstStyle/>
          <a:p>
            <a:pPr indent="0" marL="0">
              <a:buNone/>
            </a:pPr>
            <a:r>
              <a:rPr lang="en-US" sz="1300" b="1" dirty="0">
                <a:solidFill>
                  <a:srgbClr val="0F2942"/>
                </a:solidFill>
                <a:latin typeface="Calibri" pitchFamily="34" charset="0"/>
                <a:ea typeface="Calibri" pitchFamily="34" charset="-122"/>
                <a:cs typeface="Calibri" pitchFamily="34" charset="-120"/>
              </a:rPr>
              <a:t>The selector must have a type switch understands</a:t>
            </a:r>
            <a:endParaRPr lang="en-US" sz="1300" dirty="0"/>
          </a:p>
        </p:txBody>
      </p:sp>
      <p:sp>
        <p:nvSpPr>
          <p:cNvPr id="18" name="Text 16"/>
          <p:cNvSpPr txBox="1"/>
          <p:nvPr/>
        </p:nvSpPr>
        <p:spPr>
          <a:xfrm>
            <a:off x="7607808" y="2185416"/>
            <a:ext cx="3788359" cy="438912"/>
          </a:xfrm>
          <a:prstGeom prst="rect">
            <a:avLst/>
          </a:prstGeom>
          <a:noFill/>
          <a:ln/>
        </p:spPr>
        <p:txBody>
          <a:bodyPr wrap="square" lIns="0" tIns="0" rIns="0" bIns="0" rtlCol="0" anchor="t"/>
          <a:lstStyle/>
          <a:p>
            <a:pPr indent="0" marL="0">
              <a:lnSpc>
                <a:spcPct val="108000"/>
              </a:lnSpc>
              <a:buNone/>
            </a:pPr>
            <a:r>
              <a:rPr lang="en-US" sz="1150" dirty="0">
                <a:solidFill>
                  <a:srgbClr val="3A536B"/>
                </a:solidFill>
                <a:latin typeface="Calibri" pitchFamily="34" charset="0"/>
                <a:ea typeface="Calibri" pitchFamily="34" charset="-122"/>
                <a:cs typeface="Calibri" pitchFamily="34" charset="-120"/>
              </a:rPr>
              <a:t>char, byte, short, int and their wrapper classes, String, or an enum type. Not double, not long, not boolean.</a:t>
            </a:r>
            <a:endParaRPr lang="en-US" sz="1150" dirty="0"/>
          </a:p>
        </p:txBody>
      </p:sp>
      <p:sp>
        <p:nvSpPr>
          <p:cNvPr id="19" name="Shape 17"/>
          <p:cNvSpPr/>
          <p:nvPr/>
        </p:nvSpPr>
        <p:spPr>
          <a:xfrm>
            <a:off x="6876288" y="2724912"/>
            <a:ext cx="4748479" cy="859536"/>
          </a:xfrm>
          <a:prstGeom prst="roundRect">
            <a:avLst>
              <a:gd name="adj" fmla="val 9574"/>
            </a:avLst>
          </a:prstGeom>
          <a:solidFill>
            <a:srgbClr val="FFFFFF"/>
          </a:solidFill>
          <a:ln w="12700">
            <a:solidFill>
              <a:srgbClr val="D3DEE7"/>
            </a:solidFill>
            <a:prstDash val="solid"/>
          </a:ln>
        </p:spPr>
      </p:sp>
      <p:sp>
        <p:nvSpPr>
          <p:cNvPr id="20" name="Shape 18"/>
          <p:cNvSpPr/>
          <p:nvPr/>
        </p:nvSpPr>
        <p:spPr>
          <a:xfrm>
            <a:off x="7077456" y="2962656"/>
            <a:ext cx="384048" cy="384048"/>
          </a:xfrm>
          <a:prstGeom prst="ellipse">
            <a:avLst/>
          </a:prstGeom>
          <a:solidFill>
            <a:srgbClr val="C4560C"/>
          </a:solidFill>
          <a:ln w="12700">
            <a:solidFill>
              <a:srgbClr val="C4560C"/>
            </a:solidFill>
            <a:prstDash val="solid"/>
          </a:ln>
        </p:spPr>
      </p:sp>
      <p:sp>
        <p:nvSpPr>
          <p:cNvPr id="21" name="Text 19"/>
          <p:cNvSpPr txBox="1"/>
          <p:nvPr/>
        </p:nvSpPr>
        <p:spPr>
          <a:xfrm>
            <a:off x="7077456" y="2962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2" name="Text 20"/>
          <p:cNvSpPr txBox="1"/>
          <p:nvPr/>
        </p:nvSpPr>
        <p:spPr>
          <a:xfrm>
            <a:off x="7607808" y="2816352"/>
            <a:ext cx="3788359" cy="274320"/>
          </a:xfrm>
          <a:prstGeom prst="rect">
            <a:avLst/>
          </a:prstGeom>
          <a:noFill/>
          <a:ln/>
        </p:spPr>
        <p:txBody>
          <a:bodyPr wrap="square" lIns="0" tIns="0" rIns="0" bIns="0" rtlCol="0" anchor="ctr"/>
          <a:lstStyle/>
          <a:p>
            <a:pPr indent="0" marL="0">
              <a:buNone/>
            </a:pPr>
            <a:r>
              <a:rPr lang="en-US" sz="1300" b="1" dirty="0">
                <a:solidFill>
                  <a:srgbClr val="0F2942"/>
                </a:solidFill>
                <a:latin typeface="Calibri" pitchFamily="34" charset="0"/>
                <a:ea typeface="Calibri" pitchFamily="34" charset="-122"/>
                <a:cs typeface="Calibri" pitchFamily="34" charset="-120"/>
              </a:rPr>
              <a:t>Every case value must be a constant</a:t>
            </a:r>
            <a:endParaRPr lang="en-US" sz="1300" dirty="0"/>
          </a:p>
        </p:txBody>
      </p:sp>
      <p:sp>
        <p:nvSpPr>
          <p:cNvPr id="23" name="Text 21"/>
          <p:cNvSpPr txBox="1"/>
          <p:nvPr/>
        </p:nvSpPr>
        <p:spPr>
          <a:xfrm>
            <a:off x="7607808" y="3099816"/>
            <a:ext cx="3788359" cy="438912"/>
          </a:xfrm>
          <a:prstGeom prst="rect">
            <a:avLst/>
          </a:prstGeom>
          <a:noFill/>
          <a:ln/>
        </p:spPr>
        <p:txBody>
          <a:bodyPr wrap="square" lIns="0" tIns="0" rIns="0" bIns="0" rtlCol="0" anchor="t"/>
          <a:lstStyle/>
          <a:p>
            <a:pPr indent="0" marL="0">
              <a:lnSpc>
                <a:spcPct val="108000"/>
              </a:lnSpc>
              <a:buNone/>
            </a:pPr>
            <a:r>
              <a:rPr lang="en-US" sz="1150" dirty="0">
                <a:solidFill>
                  <a:srgbClr val="3A536B"/>
                </a:solidFill>
                <a:latin typeface="Calibri" pitchFamily="34" charset="0"/>
                <a:ea typeface="Calibri" pitchFamily="34" charset="-122"/>
                <a:cs typeface="Calibri" pitchFamily="34" charset="-120"/>
              </a:rPr>
              <a:t>A literal or a final constant of the same type as the selector — never a variable or a range.</a:t>
            </a:r>
            <a:endParaRPr lang="en-US" sz="1150" dirty="0"/>
          </a:p>
        </p:txBody>
      </p:sp>
      <p:sp>
        <p:nvSpPr>
          <p:cNvPr id="24" name="Shape 22"/>
          <p:cNvSpPr/>
          <p:nvPr/>
        </p:nvSpPr>
        <p:spPr>
          <a:xfrm>
            <a:off x="6876288" y="3639312"/>
            <a:ext cx="4748479" cy="859536"/>
          </a:xfrm>
          <a:prstGeom prst="roundRect">
            <a:avLst>
              <a:gd name="adj" fmla="val 9574"/>
            </a:avLst>
          </a:prstGeom>
          <a:solidFill>
            <a:srgbClr val="F1F5F9"/>
          </a:solidFill>
          <a:ln w="12700">
            <a:solidFill>
              <a:srgbClr val="F1F5F9"/>
            </a:solidFill>
            <a:prstDash val="solid"/>
          </a:ln>
        </p:spPr>
      </p:sp>
      <p:sp>
        <p:nvSpPr>
          <p:cNvPr id="25" name="Shape 23"/>
          <p:cNvSpPr/>
          <p:nvPr/>
        </p:nvSpPr>
        <p:spPr>
          <a:xfrm>
            <a:off x="7077456" y="3877056"/>
            <a:ext cx="384048" cy="384048"/>
          </a:xfrm>
          <a:prstGeom prst="ellipse">
            <a:avLst/>
          </a:prstGeom>
          <a:solidFill>
            <a:srgbClr val="C4560C"/>
          </a:solidFill>
          <a:ln w="12700">
            <a:solidFill>
              <a:srgbClr val="C4560C"/>
            </a:solidFill>
            <a:prstDash val="solid"/>
          </a:ln>
        </p:spPr>
      </p:sp>
      <p:sp>
        <p:nvSpPr>
          <p:cNvPr id="26" name="Text 24"/>
          <p:cNvSpPr txBox="1"/>
          <p:nvPr/>
        </p:nvSpPr>
        <p:spPr>
          <a:xfrm>
            <a:off x="7077456" y="38770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7" name="Text 25"/>
          <p:cNvSpPr txBox="1"/>
          <p:nvPr/>
        </p:nvSpPr>
        <p:spPr>
          <a:xfrm>
            <a:off x="7607808" y="3730752"/>
            <a:ext cx="3788359" cy="274320"/>
          </a:xfrm>
          <a:prstGeom prst="rect">
            <a:avLst/>
          </a:prstGeom>
          <a:noFill/>
          <a:ln/>
        </p:spPr>
        <p:txBody>
          <a:bodyPr wrap="square" lIns="0" tIns="0" rIns="0" bIns="0" rtlCol="0" anchor="ctr"/>
          <a:lstStyle/>
          <a:p>
            <a:pPr indent="0" marL="0">
              <a:buNone/>
            </a:pPr>
            <a:r>
              <a:rPr lang="en-US" sz="1300" b="1" dirty="0">
                <a:solidFill>
                  <a:srgbClr val="0F2942"/>
                </a:solidFill>
                <a:latin typeface="Calibri" pitchFamily="34" charset="0"/>
                <a:ea typeface="Calibri" pitchFamily="34" charset="-122"/>
                <a:cs typeface="Calibri" pitchFamily="34" charset="-120"/>
              </a:rPr>
              <a:t>Case values must be unique</a:t>
            </a:r>
            <a:endParaRPr lang="en-US" sz="1300" dirty="0"/>
          </a:p>
        </p:txBody>
      </p:sp>
      <p:sp>
        <p:nvSpPr>
          <p:cNvPr id="28" name="Text 26"/>
          <p:cNvSpPr txBox="1"/>
          <p:nvPr/>
        </p:nvSpPr>
        <p:spPr>
          <a:xfrm>
            <a:off x="7607808" y="4014216"/>
            <a:ext cx="3788359" cy="438912"/>
          </a:xfrm>
          <a:prstGeom prst="rect">
            <a:avLst/>
          </a:prstGeom>
          <a:noFill/>
          <a:ln/>
        </p:spPr>
        <p:txBody>
          <a:bodyPr wrap="square" lIns="0" tIns="0" rIns="0" bIns="0" rtlCol="0" anchor="t"/>
          <a:lstStyle/>
          <a:p>
            <a:pPr indent="0" marL="0">
              <a:lnSpc>
                <a:spcPct val="108000"/>
              </a:lnSpc>
              <a:buNone/>
            </a:pPr>
            <a:r>
              <a:rPr lang="en-US" sz="1150" dirty="0">
                <a:solidFill>
                  <a:srgbClr val="3A536B"/>
                </a:solidFill>
                <a:latin typeface="Calibri" pitchFamily="34" charset="0"/>
                <a:ea typeface="Calibri" pitchFamily="34" charset="-122"/>
                <a:cs typeface="Calibri" pitchFamily="34" charset="-120"/>
              </a:rPr>
              <a:t>Two cases with the same value is a compile error, not a silent winner.</a:t>
            </a:r>
            <a:endParaRPr lang="en-US" sz="1150" dirty="0"/>
          </a:p>
        </p:txBody>
      </p:sp>
      <p:sp>
        <p:nvSpPr>
          <p:cNvPr id="29" name="Shape 27"/>
          <p:cNvSpPr/>
          <p:nvPr/>
        </p:nvSpPr>
        <p:spPr>
          <a:xfrm>
            <a:off x="6876288" y="4553712"/>
            <a:ext cx="4748479" cy="859536"/>
          </a:xfrm>
          <a:prstGeom prst="roundRect">
            <a:avLst>
              <a:gd name="adj" fmla="val 9574"/>
            </a:avLst>
          </a:prstGeom>
          <a:solidFill>
            <a:srgbClr val="FFFFFF"/>
          </a:solidFill>
          <a:ln w="12700">
            <a:solidFill>
              <a:srgbClr val="D3DEE7"/>
            </a:solidFill>
            <a:prstDash val="solid"/>
          </a:ln>
        </p:spPr>
      </p:sp>
      <p:sp>
        <p:nvSpPr>
          <p:cNvPr id="30" name="Shape 28"/>
          <p:cNvSpPr/>
          <p:nvPr/>
        </p:nvSpPr>
        <p:spPr>
          <a:xfrm>
            <a:off x="7077456" y="4791456"/>
            <a:ext cx="384048" cy="384048"/>
          </a:xfrm>
          <a:prstGeom prst="ellipse">
            <a:avLst/>
          </a:prstGeom>
          <a:solidFill>
            <a:srgbClr val="C4560C"/>
          </a:solidFill>
          <a:ln w="12700">
            <a:solidFill>
              <a:srgbClr val="C4560C"/>
            </a:solidFill>
            <a:prstDash val="solid"/>
          </a:ln>
        </p:spPr>
      </p:sp>
      <p:sp>
        <p:nvSpPr>
          <p:cNvPr id="31" name="Text 29"/>
          <p:cNvSpPr txBox="1"/>
          <p:nvPr/>
        </p:nvSpPr>
        <p:spPr>
          <a:xfrm>
            <a:off x="7077456" y="4791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30"/>
          <p:cNvSpPr txBox="1"/>
          <p:nvPr/>
        </p:nvSpPr>
        <p:spPr>
          <a:xfrm>
            <a:off x="7607808" y="4645152"/>
            <a:ext cx="3788359" cy="274320"/>
          </a:xfrm>
          <a:prstGeom prst="rect">
            <a:avLst/>
          </a:prstGeom>
          <a:noFill/>
          <a:ln/>
        </p:spPr>
        <p:txBody>
          <a:bodyPr wrap="square" lIns="0" tIns="0" rIns="0" bIns="0" rtlCol="0" anchor="ctr"/>
          <a:lstStyle/>
          <a:p>
            <a:pPr indent="0" marL="0">
              <a:buNone/>
            </a:pPr>
            <a:r>
              <a:rPr lang="en-US" sz="1300" b="1" dirty="0">
                <a:solidFill>
                  <a:srgbClr val="0F2942"/>
                </a:solidFill>
                <a:latin typeface="Calibri" pitchFamily="34" charset="0"/>
                <a:ea typeface="Calibri" pitchFamily="34" charset="-122"/>
                <a:cs typeface="Calibri" pitchFamily="34" charset="-120"/>
              </a:rPr>
              <a:t>break ends the case</a:t>
            </a:r>
            <a:endParaRPr lang="en-US" sz="1300" dirty="0"/>
          </a:p>
        </p:txBody>
      </p:sp>
      <p:sp>
        <p:nvSpPr>
          <p:cNvPr id="33" name="Text 31"/>
          <p:cNvSpPr txBox="1"/>
          <p:nvPr/>
        </p:nvSpPr>
        <p:spPr>
          <a:xfrm>
            <a:off x="7607808" y="4928616"/>
            <a:ext cx="3788359" cy="438912"/>
          </a:xfrm>
          <a:prstGeom prst="rect">
            <a:avLst/>
          </a:prstGeom>
          <a:noFill/>
          <a:ln/>
        </p:spPr>
        <p:txBody>
          <a:bodyPr wrap="square" lIns="0" tIns="0" rIns="0" bIns="0" rtlCol="0" anchor="t"/>
          <a:lstStyle/>
          <a:p>
            <a:pPr indent="0" marL="0">
              <a:lnSpc>
                <a:spcPct val="108000"/>
              </a:lnSpc>
              <a:buNone/>
            </a:pPr>
            <a:r>
              <a:rPr lang="en-US" sz="1150" dirty="0">
                <a:solidFill>
                  <a:srgbClr val="3A536B"/>
                </a:solidFill>
                <a:latin typeface="Calibri" pitchFamily="34" charset="0"/>
                <a:ea typeface="Calibri" pitchFamily="34" charset="-122"/>
                <a:cs typeface="Calibri" pitchFamily="34" charset="-120"/>
              </a:rPr>
              <a:t>Without it, execution falls straight through into the next case — see the next slide.</a:t>
            </a:r>
            <a:endParaRPr lang="en-US" sz="1150" dirty="0"/>
          </a:p>
        </p:txBody>
      </p:sp>
      <p:sp>
        <p:nvSpPr>
          <p:cNvPr id="34" name="Shape 32"/>
          <p:cNvSpPr/>
          <p:nvPr/>
        </p:nvSpPr>
        <p:spPr>
          <a:xfrm>
            <a:off x="6876288" y="5468112"/>
            <a:ext cx="4748479" cy="859536"/>
          </a:xfrm>
          <a:prstGeom prst="roundRect">
            <a:avLst>
              <a:gd name="adj" fmla="val 9574"/>
            </a:avLst>
          </a:prstGeom>
          <a:solidFill>
            <a:srgbClr val="F1F5F9"/>
          </a:solidFill>
          <a:ln w="12700">
            <a:solidFill>
              <a:srgbClr val="F1F5F9"/>
            </a:solidFill>
            <a:prstDash val="solid"/>
          </a:ln>
        </p:spPr>
      </p:sp>
      <p:sp>
        <p:nvSpPr>
          <p:cNvPr id="35" name="Shape 33"/>
          <p:cNvSpPr/>
          <p:nvPr/>
        </p:nvSpPr>
        <p:spPr>
          <a:xfrm>
            <a:off x="7077456" y="5705856"/>
            <a:ext cx="384048" cy="384048"/>
          </a:xfrm>
          <a:prstGeom prst="ellipse">
            <a:avLst/>
          </a:prstGeom>
          <a:solidFill>
            <a:srgbClr val="C4560C"/>
          </a:solidFill>
          <a:ln w="12700">
            <a:solidFill>
              <a:srgbClr val="C4560C"/>
            </a:solidFill>
            <a:prstDash val="solid"/>
          </a:ln>
        </p:spPr>
      </p:sp>
      <p:sp>
        <p:nvSpPr>
          <p:cNvPr id="36" name="Text 34"/>
          <p:cNvSpPr txBox="1"/>
          <p:nvPr/>
        </p:nvSpPr>
        <p:spPr>
          <a:xfrm>
            <a:off x="7077456" y="57058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7" name="Text 35"/>
          <p:cNvSpPr txBox="1"/>
          <p:nvPr/>
        </p:nvSpPr>
        <p:spPr>
          <a:xfrm>
            <a:off x="7607808" y="5559552"/>
            <a:ext cx="3788359" cy="274320"/>
          </a:xfrm>
          <a:prstGeom prst="rect">
            <a:avLst/>
          </a:prstGeom>
          <a:noFill/>
          <a:ln/>
        </p:spPr>
        <p:txBody>
          <a:bodyPr wrap="square" lIns="0" tIns="0" rIns="0" bIns="0" rtlCol="0" anchor="ctr"/>
          <a:lstStyle/>
          <a:p>
            <a:pPr indent="0" marL="0">
              <a:buNone/>
            </a:pPr>
            <a:r>
              <a:rPr lang="en-US" sz="1300" b="1" dirty="0">
                <a:solidFill>
                  <a:srgbClr val="0F2942"/>
                </a:solidFill>
                <a:latin typeface="Calibri" pitchFamily="34" charset="0"/>
                <a:ea typeface="Calibri" pitchFamily="34" charset="-122"/>
                <a:cs typeface="Calibri" pitchFamily="34" charset="-120"/>
              </a:rPr>
              <a:t>default is optional but wanted</a:t>
            </a:r>
            <a:endParaRPr lang="en-US" sz="1300" dirty="0"/>
          </a:p>
        </p:txBody>
      </p:sp>
      <p:sp>
        <p:nvSpPr>
          <p:cNvPr id="38" name="Text 36"/>
          <p:cNvSpPr txBox="1"/>
          <p:nvPr/>
        </p:nvSpPr>
        <p:spPr>
          <a:xfrm>
            <a:off x="7607808" y="5843016"/>
            <a:ext cx="3788359" cy="438912"/>
          </a:xfrm>
          <a:prstGeom prst="rect">
            <a:avLst/>
          </a:prstGeom>
          <a:noFill/>
          <a:ln/>
        </p:spPr>
        <p:txBody>
          <a:bodyPr wrap="square" lIns="0" tIns="0" rIns="0" bIns="0" rtlCol="0" anchor="t"/>
          <a:lstStyle/>
          <a:p>
            <a:pPr indent="0" marL="0">
              <a:lnSpc>
                <a:spcPct val="108000"/>
              </a:lnSpc>
              <a:buNone/>
            </a:pPr>
            <a:r>
              <a:rPr lang="en-US" sz="1150" dirty="0">
                <a:solidFill>
                  <a:srgbClr val="3A536B"/>
                </a:solidFill>
                <a:latin typeface="Calibri" pitchFamily="34" charset="0"/>
                <a:ea typeface="Calibri" pitchFamily="34" charset="-122"/>
                <a:cs typeface="Calibri" pitchFamily="34" charset="-120"/>
              </a:rPr>
              <a:t>It catches everything you did not list. Put it last, even though the language does not insist.</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TRACE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Fall-Through: What break Is Actually For</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Execution enters at the matching case and then keeps going until it meets a break or the closing brace.</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27</a:t>
            </a:r>
            <a:endParaRPr lang="en-US" sz="900" dirty="0"/>
          </a:p>
        </p:txBody>
      </p:sp>
      <p:sp>
        <p:nvSpPr>
          <p:cNvPr id="7" name="Shape 5"/>
          <p:cNvSpPr/>
          <p:nvPr/>
        </p:nvSpPr>
        <p:spPr>
          <a:xfrm>
            <a:off x="566928" y="1536192"/>
            <a:ext cx="5577840" cy="3140964"/>
          </a:xfrm>
          <a:prstGeom prst="roundRect">
            <a:avLst>
              <a:gd name="adj" fmla="val 2038"/>
            </a:avLst>
          </a:prstGeom>
          <a:solidFill>
            <a:srgbClr val="EDF2F7"/>
          </a:solidFill>
          <a:ln w="12700">
            <a:solidFill>
              <a:srgbClr val="CFDBE5"/>
            </a:solidFill>
            <a:prstDash val="solid"/>
          </a:ln>
        </p:spPr>
      </p:sp>
      <p:sp>
        <p:nvSpPr>
          <p:cNvPr id="8" name="Text 6"/>
          <p:cNvSpPr txBox="1"/>
          <p:nvPr/>
        </p:nvSpPr>
        <p:spPr>
          <a:xfrm>
            <a:off x="713232" y="1581912"/>
            <a:ext cx="528523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TRACING A FALL-THROUGH</a:t>
            </a:r>
            <a:endParaRPr lang="en-US" sz="950" dirty="0"/>
          </a:p>
        </p:txBody>
      </p:sp>
      <p:sp>
        <p:nvSpPr>
          <p:cNvPr id="9" name="Text 7"/>
          <p:cNvSpPr txBox="1"/>
          <p:nvPr/>
        </p:nvSpPr>
        <p:spPr>
          <a:xfrm>
            <a:off x="731520" y="1810512"/>
            <a:ext cx="5248656" cy="2811780"/>
          </a:xfrm>
          <a:prstGeom prst="rect">
            <a:avLst/>
          </a:prstGeom>
          <a:noFill/>
          <a:ln/>
        </p:spPr>
        <p:txBody>
          <a:bodyPr wrap="square" lIns="0" tIns="0" rIns="0" bIns="0" rtlCol="0" anchor="t"/>
          <a:lstStyle/>
          <a:p>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day</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switch</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day</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614A"/>
                </a:solidFill>
                <a:latin typeface="Courier New" pitchFamily="34" charset="0"/>
                <a:ea typeface="Courier New" pitchFamily="34" charset="-122"/>
                <a:cs typeface="Courier New" pitchFamily="34" charset="-120"/>
              </a:rPr>
              <a:t>"Weekday"</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break</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6B3FA0"/>
                </a:solidFill>
                <a:latin typeface="Courier New" pitchFamily="34" charset="0"/>
                <a:ea typeface="Courier New" pitchFamily="34" charset="-122"/>
                <a:cs typeface="Courier New" pitchFamily="34" charset="-120"/>
              </a:rPr>
              <a:t>6</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614A"/>
                </a:solidFill>
                <a:latin typeface="Courier New" pitchFamily="34" charset="0"/>
                <a:ea typeface="Courier New" pitchFamily="34" charset="-122"/>
                <a:cs typeface="Courier New" pitchFamily="34" charset="-120"/>
              </a:rPr>
              <a:t>"Weekend"</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p:txBody>
      </p:sp>
      <p:sp>
        <p:nvSpPr>
          <p:cNvPr id="10" name="Shape 8"/>
          <p:cNvSpPr/>
          <p:nvPr/>
        </p:nvSpPr>
        <p:spPr>
          <a:xfrm>
            <a:off x="566928" y="4690872"/>
            <a:ext cx="5577840" cy="1600200"/>
          </a:xfrm>
          <a:prstGeom prst="roundRect">
            <a:avLst>
              <a:gd name="adj" fmla="val 5143"/>
            </a:avLst>
          </a:prstGeom>
          <a:solidFill>
            <a:srgbClr val="E6F2EC"/>
          </a:solidFill>
          <a:ln w="12700">
            <a:solidFill>
              <a:srgbClr val="E6F2EC"/>
            </a:solidFill>
            <a:prstDash val="solid"/>
          </a:ln>
        </p:spPr>
      </p:sp>
      <p:sp>
        <p:nvSpPr>
          <p:cNvPr id="11" name="Text 9"/>
          <p:cNvSpPr txBox="1"/>
          <p:nvPr/>
        </p:nvSpPr>
        <p:spPr>
          <a:xfrm>
            <a:off x="841248" y="4690872"/>
            <a:ext cx="5029200" cy="1600200"/>
          </a:xfrm>
          <a:prstGeom prst="rect">
            <a:avLst/>
          </a:prstGeom>
          <a:noFill/>
          <a:ln/>
        </p:spPr>
        <p:txBody>
          <a:bodyPr wrap="square" lIns="0" tIns="0" rIns="0" bIns="0" rtlCol="0" anchor="ctr"/>
          <a:lstStyle/>
          <a:p>
            <a:pPr indent="0" marL="0">
              <a:lnSpc>
                <a:spcPct val="120000"/>
              </a:lnSpc>
              <a:buNone/>
            </a:pPr>
            <a:r>
              <a:rPr lang="en-US" sz="1250" b="1" dirty="0">
                <a:solidFill>
                  <a:srgbClr val="176240"/>
                </a:solidFill>
                <a:latin typeface="Calibri" pitchFamily="34" charset="0"/>
                <a:ea typeface="Calibri" pitchFamily="34" charset="-122"/>
                <a:cs typeface="Calibri" pitchFamily="34" charset="-120"/>
              </a:rPr>
              <a:t>Output:  </a:t>
            </a:r>
            <a:pPr indent="0" marL="0">
              <a:lnSpc>
                <a:spcPct val="120000"/>
              </a:lnSpc>
              <a:buNone/>
            </a:pPr>
            <a:r>
              <a:rPr lang="en-US" sz="1600" b="1" dirty="0">
                <a:solidFill>
                  <a:srgbClr val="176240"/>
                </a:solidFill>
                <a:latin typeface="Courier New" pitchFamily="34" charset="0"/>
                <a:ea typeface="Courier New" pitchFamily="34" charset="-122"/>
                <a:cs typeface="Courier New" pitchFamily="34" charset="-120"/>
              </a:rPr>
              <a:t>Weekday</a:t>
            </a:r>
            <a:pPr indent="0" marL="0">
              <a:lnSpc>
                <a:spcPct val="120000"/>
              </a:lnSpc>
              <a:buNone/>
            </a:pPr>
            <a:endParaRPr lang="en-US" sz="1250" dirty="0"/>
          </a:p>
          <a:p>
            <a:pPr indent="0" marL="0">
              <a:lnSpc>
                <a:spcPct val="120000"/>
              </a:lnSpc>
              <a:buNone/>
            </a:pPr>
            <a:endParaRPr lang="en-US" sz="1250" dirty="0"/>
          </a:p>
          <a:p>
            <a:pPr indent="0" marL="0">
              <a:lnSpc>
                <a:spcPct val="120000"/>
              </a:lnSpc>
              <a:buNone/>
            </a:pPr>
            <a:r>
              <a:rPr lang="en-US" sz="1250" dirty="0">
                <a:solidFill>
                  <a:srgbClr val="3A536B"/>
                </a:solidFill>
                <a:latin typeface="Calibri" pitchFamily="34" charset="0"/>
                <a:ea typeface="Calibri" pitchFamily="34" charset="-122"/>
                <a:cs typeface="Calibri" pitchFamily="34" charset="-120"/>
              </a:rPr>
              <a:t>Empty cases 1 to 4 are not a mistake here — deliberate fall-through is how you group values that share one action. Cases 0 and 6 do the same for the weekend.</a:t>
            </a:r>
            <a:endParaRPr lang="en-US" sz="1250" dirty="0"/>
          </a:p>
        </p:txBody>
      </p:sp>
      <p:sp>
        <p:nvSpPr>
          <p:cNvPr id="12" name="Text 10"/>
          <p:cNvSpPr txBox="1"/>
          <p:nvPr/>
        </p:nvSpPr>
        <p:spPr>
          <a:xfrm>
            <a:off x="6601968" y="1536192"/>
            <a:ext cx="5022799" cy="219456"/>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STEP BY STEP</a:t>
            </a:r>
            <a:endParaRPr lang="en-US" sz="950" dirty="0"/>
          </a:p>
        </p:txBody>
      </p:sp>
      <p:sp>
        <p:nvSpPr>
          <p:cNvPr id="13" name="Shape 11"/>
          <p:cNvSpPr/>
          <p:nvPr/>
        </p:nvSpPr>
        <p:spPr>
          <a:xfrm>
            <a:off x="6601968" y="1810512"/>
            <a:ext cx="5022799" cy="548640"/>
          </a:xfrm>
          <a:prstGeom prst="roundRect">
            <a:avLst>
              <a:gd name="adj" fmla="val 15000"/>
            </a:avLst>
          </a:prstGeom>
          <a:solidFill>
            <a:srgbClr val="FFFFFF"/>
          </a:solidFill>
          <a:ln w="12700">
            <a:solidFill>
              <a:srgbClr val="D3DEE7"/>
            </a:solidFill>
            <a:prstDash val="solid"/>
          </a:ln>
        </p:spPr>
      </p:sp>
      <p:sp>
        <p:nvSpPr>
          <p:cNvPr id="14" name="Shape 12"/>
          <p:cNvSpPr/>
          <p:nvPr/>
        </p:nvSpPr>
        <p:spPr>
          <a:xfrm>
            <a:off x="6784848" y="1911096"/>
            <a:ext cx="347472" cy="347472"/>
          </a:xfrm>
          <a:prstGeom prst="ellipse">
            <a:avLst/>
          </a:prstGeom>
          <a:solidFill>
            <a:srgbClr val="1D4468"/>
          </a:solidFill>
          <a:ln w="12700">
            <a:solidFill>
              <a:srgbClr val="1D4468"/>
            </a:solidFill>
            <a:prstDash val="solid"/>
          </a:ln>
        </p:spPr>
      </p:sp>
      <p:sp>
        <p:nvSpPr>
          <p:cNvPr id="15" name="Text 13"/>
          <p:cNvSpPr txBox="1"/>
          <p:nvPr/>
        </p:nvSpPr>
        <p:spPr>
          <a:xfrm>
            <a:off x="6784848" y="1911096"/>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6" name="Text 14"/>
          <p:cNvSpPr txBox="1"/>
          <p:nvPr/>
        </p:nvSpPr>
        <p:spPr>
          <a:xfrm>
            <a:off x="7260336" y="1856232"/>
            <a:ext cx="4181551" cy="263347"/>
          </a:xfrm>
          <a:prstGeom prst="rect">
            <a:avLst/>
          </a:prstGeom>
          <a:noFill/>
          <a:ln/>
        </p:spPr>
        <p:txBody>
          <a:bodyPr wrap="square" lIns="0" tIns="0" rIns="0" bIns="0" rtlCol="0" anchor="ctr"/>
          <a:lstStyle/>
          <a:p>
            <a:pPr indent="0" marL="0">
              <a:buNone/>
            </a:pPr>
            <a:r>
              <a:rPr lang="en-US" sz="1150" b="1" dirty="0">
                <a:solidFill>
                  <a:srgbClr val="0F2942"/>
                </a:solidFill>
                <a:latin typeface="Courier New" pitchFamily="34" charset="0"/>
                <a:ea typeface="Courier New" pitchFamily="34" charset="-122"/>
                <a:cs typeface="Courier New" pitchFamily="34" charset="-120"/>
              </a:rPr>
              <a:t>match case 2</a:t>
            </a:r>
            <a:endParaRPr lang="en-US" sz="1150" dirty="0"/>
          </a:p>
        </p:txBody>
      </p:sp>
      <p:sp>
        <p:nvSpPr>
          <p:cNvPr id="17" name="Text 15"/>
          <p:cNvSpPr txBox="1"/>
          <p:nvPr/>
        </p:nvSpPr>
        <p:spPr>
          <a:xfrm>
            <a:off x="7260336" y="2062886"/>
            <a:ext cx="4181551" cy="274320"/>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day is 2 — execution enters here</a:t>
            </a:r>
            <a:endParaRPr lang="en-US" sz="1100" dirty="0"/>
          </a:p>
        </p:txBody>
      </p:sp>
      <p:sp>
        <p:nvSpPr>
          <p:cNvPr id="18" name="Shape 16"/>
          <p:cNvSpPr/>
          <p:nvPr/>
        </p:nvSpPr>
        <p:spPr>
          <a:xfrm>
            <a:off x="6601968" y="2459736"/>
            <a:ext cx="5022799" cy="548640"/>
          </a:xfrm>
          <a:prstGeom prst="roundRect">
            <a:avLst>
              <a:gd name="adj" fmla="val 15000"/>
            </a:avLst>
          </a:prstGeom>
          <a:solidFill>
            <a:srgbClr val="FFFFFF"/>
          </a:solidFill>
          <a:ln w="12700">
            <a:solidFill>
              <a:srgbClr val="D3DEE7"/>
            </a:solidFill>
            <a:prstDash val="solid"/>
          </a:ln>
        </p:spPr>
      </p:sp>
      <p:sp>
        <p:nvSpPr>
          <p:cNvPr id="19" name="Shape 17"/>
          <p:cNvSpPr/>
          <p:nvPr/>
        </p:nvSpPr>
        <p:spPr>
          <a:xfrm>
            <a:off x="6784848" y="2560320"/>
            <a:ext cx="347472" cy="347472"/>
          </a:xfrm>
          <a:prstGeom prst="ellipse">
            <a:avLst/>
          </a:prstGeom>
          <a:solidFill>
            <a:srgbClr val="1D4468"/>
          </a:solidFill>
          <a:ln w="12700">
            <a:solidFill>
              <a:srgbClr val="1D4468"/>
            </a:solidFill>
            <a:prstDash val="solid"/>
          </a:ln>
        </p:spPr>
      </p:sp>
      <p:sp>
        <p:nvSpPr>
          <p:cNvPr id="20" name="Text 18"/>
          <p:cNvSpPr txBox="1"/>
          <p:nvPr/>
        </p:nvSpPr>
        <p:spPr>
          <a:xfrm>
            <a:off x="6784848" y="2560320"/>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21" name="Text 19"/>
          <p:cNvSpPr txBox="1"/>
          <p:nvPr/>
        </p:nvSpPr>
        <p:spPr>
          <a:xfrm>
            <a:off x="7260336" y="2505456"/>
            <a:ext cx="4181551" cy="263347"/>
          </a:xfrm>
          <a:prstGeom prst="rect">
            <a:avLst/>
          </a:prstGeom>
          <a:noFill/>
          <a:ln/>
        </p:spPr>
        <p:txBody>
          <a:bodyPr wrap="square" lIns="0" tIns="0" rIns="0" bIns="0" rtlCol="0" anchor="ctr"/>
          <a:lstStyle/>
          <a:p>
            <a:pPr indent="0" marL="0">
              <a:buNone/>
            </a:pPr>
            <a:r>
              <a:rPr lang="en-US" sz="1150" b="1" dirty="0">
                <a:solidFill>
                  <a:srgbClr val="0F2942"/>
                </a:solidFill>
                <a:latin typeface="Courier New" pitchFamily="34" charset="0"/>
                <a:ea typeface="Courier New" pitchFamily="34" charset="-122"/>
                <a:cs typeface="Courier New" pitchFamily="34" charset="-120"/>
              </a:rPr>
              <a:t>fall through case 3</a:t>
            </a:r>
            <a:endParaRPr lang="en-US" sz="1150" dirty="0"/>
          </a:p>
        </p:txBody>
      </p:sp>
      <p:sp>
        <p:nvSpPr>
          <p:cNvPr id="22" name="Text 20"/>
          <p:cNvSpPr txBox="1"/>
          <p:nvPr/>
        </p:nvSpPr>
        <p:spPr>
          <a:xfrm>
            <a:off x="7260336" y="2712110"/>
            <a:ext cx="4181551" cy="274320"/>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no break, so control simply continues</a:t>
            </a:r>
            <a:endParaRPr lang="en-US" sz="1100" dirty="0"/>
          </a:p>
        </p:txBody>
      </p:sp>
      <p:sp>
        <p:nvSpPr>
          <p:cNvPr id="23" name="Shape 21"/>
          <p:cNvSpPr/>
          <p:nvPr/>
        </p:nvSpPr>
        <p:spPr>
          <a:xfrm>
            <a:off x="6601968" y="3108960"/>
            <a:ext cx="5022799" cy="548640"/>
          </a:xfrm>
          <a:prstGeom prst="roundRect">
            <a:avLst>
              <a:gd name="adj" fmla="val 15000"/>
            </a:avLst>
          </a:prstGeom>
          <a:solidFill>
            <a:srgbClr val="FFFFFF"/>
          </a:solidFill>
          <a:ln w="12700">
            <a:solidFill>
              <a:srgbClr val="D3DEE7"/>
            </a:solidFill>
            <a:prstDash val="solid"/>
          </a:ln>
        </p:spPr>
      </p:sp>
      <p:sp>
        <p:nvSpPr>
          <p:cNvPr id="24" name="Shape 22"/>
          <p:cNvSpPr/>
          <p:nvPr/>
        </p:nvSpPr>
        <p:spPr>
          <a:xfrm>
            <a:off x="6784848" y="3209544"/>
            <a:ext cx="347472" cy="347472"/>
          </a:xfrm>
          <a:prstGeom prst="ellipse">
            <a:avLst/>
          </a:prstGeom>
          <a:solidFill>
            <a:srgbClr val="1D4468"/>
          </a:solidFill>
          <a:ln w="12700">
            <a:solidFill>
              <a:srgbClr val="1D4468"/>
            </a:solidFill>
            <a:prstDash val="solid"/>
          </a:ln>
        </p:spPr>
      </p:sp>
      <p:sp>
        <p:nvSpPr>
          <p:cNvPr id="25" name="Text 23"/>
          <p:cNvSpPr txBox="1"/>
          <p:nvPr/>
        </p:nvSpPr>
        <p:spPr>
          <a:xfrm>
            <a:off x="6784848" y="3209544"/>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6" name="Text 24"/>
          <p:cNvSpPr txBox="1"/>
          <p:nvPr/>
        </p:nvSpPr>
        <p:spPr>
          <a:xfrm>
            <a:off x="7260336" y="3154680"/>
            <a:ext cx="4181551" cy="263347"/>
          </a:xfrm>
          <a:prstGeom prst="rect">
            <a:avLst/>
          </a:prstGeom>
          <a:noFill/>
          <a:ln/>
        </p:spPr>
        <p:txBody>
          <a:bodyPr wrap="square" lIns="0" tIns="0" rIns="0" bIns="0" rtlCol="0" anchor="ctr"/>
          <a:lstStyle/>
          <a:p>
            <a:pPr indent="0" marL="0">
              <a:buNone/>
            </a:pPr>
            <a:r>
              <a:rPr lang="en-US" sz="1150" b="1" dirty="0">
                <a:solidFill>
                  <a:srgbClr val="0F2942"/>
                </a:solidFill>
                <a:latin typeface="Courier New" pitchFamily="34" charset="0"/>
                <a:ea typeface="Courier New" pitchFamily="34" charset="-122"/>
                <a:cs typeface="Courier New" pitchFamily="34" charset="-120"/>
              </a:rPr>
              <a:t>fall through case 4</a:t>
            </a:r>
            <a:endParaRPr lang="en-US" sz="1150" dirty="0"/>
          </a:p>
        </p:txBody>
      </p:sp>
      <p:sp>
        <p:nvSpPr>
          <p:cNvPr id="27" name="Text 25"/>
          <p:cNvSpPr txBox="1"/>
          <p:nvPr/>
        </p:nvSpPr>
        <p:spPr>
          <a:xfrm>
            <a:off x="7260336" y="3361334"/>
            <a:ext cx="4181551" cy="274320"/>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still no break</a:t>
            </a:r>
            <a:endParaRPr lang="en-US" sz="1100" dirty="0"/>
          </a:p>
        </p:txBody>
      </p:sp>
      <p:sp>
        <p:nvSpPr>
          <p:cNvPr id="28" name="Shape 26"/>
          <p:cNvSpPr/>
          <p:nvPr/>
        </p:nvSpPr>
        <p:spPr>
          <a:xfrm>
            <a:off x="6601968" y="3758184"/>
            <a:ext cx="5022799" cy="548640"/>
          </a:xfrm>
          <a:prstGeom prst="roundRect">
            <a:avLst>
              <a:gd name="adj" fmla="val 15000"/>
            </a:avLst>
          </a:prstGeom>
          <a:solidFill>
            <a:srgbClr val="E6F2EC"/>
          </a:solidFill>
          <a:ln w="12700">
            <a:solidFill>
              <a:srgbClr val="176240"/>
            </a:solidFill>
            <a:prstDash val="solid"/>
          </a:ln>
        </p:spPr>
      </p:sp>
      <p:sp>
        <p:nvSpPr>
          <p:cNvPr id="29" name="Shape 27"/>
          <p:cNvSpPr/>
          <p:nvPr/>
        </p:nvSpPr>
        <p:spPr>
          <a:xfrm>
            <a:off x="6784848" y="3858768"/>
            <a:ext cx="347472" cy="347472"/>
          </a:xfrm>
          <a:prstGeom prst="ellipse">
            <a:avLst/>
          </a:prstGeom>
          <a:solidFill>
            <a:srgbClr val="176240"/>
          </a:solidFill>
          <a:ln w="12700">
            <a:solidFill>
              <a:srgbClr val="176240"/>
            </a:solidFill>
            <a:prstDash val="solid"/>
          </a:ln>
        </p:spPr>
      </p:sp>
      <p:sp>
        <p:nvSpPr>
          <p:cNvPr id="30" name="Text 28"/>
          <p:cNvSpPr txBox="1"/>
          <p:nvPr/>
        </p:nvSpPr>
        <p:spPr>
          <a:xfrm>
            <a:off x="6784848" y="3858768"/>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31" name="Text 29"/>
          <p:cNvSpPr txBox="1"/>
          <p:nvPr/>
        </p:nvSpPr>
        <p:spPr>
          <a:xfrm>
            <a:off x="7260336" y="3803904"/>
            <a:ext cx="4181551" cy="263347"/>
          </a:xfrm>
          <a:prstGeom prst="rect">
            <a:avLst/>
          </a:prstGeom>
          <a:noFill/>
          <a:ln/>
        </p:spPr>
        <p:txBody>
          <a:bodyPr wrap="square" lIns="0" tIns="0" rIns="0" bIns="0" rtlCol="0" anchor="ctr"/>
          <a:lstStyle/>
          <a:p>
            <a:pPr indent="0" marL="0">
              <a:buNone/>
            </a:pPr>
            <a:r>
              <a:rPr lang="en-US" sz="1150" b="1" dirty="0">
                <a:solidFill>
                  <a:srgbClr val="176240"/>
                </a:solidFill>
                <a:latin typeface="Courier New" pitchFamily="34" charset="0"/>
                <a:ea typeface="Courier New" pitchFamily="34" charset="-122"/>
                <a:cs typeface="Courier New" pitchFamily="34" charset="-120"/>
              </a:rPr>
              <a:t>case 5 → println("Weekday")</a:t>
            </a:r>
            <a:endParaRPr lang="en-US" sz="1150" dirty="0"/>
          </a:p>
        </p:txBody>
      </p:sp>
      <p:sp>
        <p:nvSpPr>
          <p:cNvPr id="32" name="Text 30"/>
          <p:cNvSpPr txBox="1"/>
          <p:nvPr/>
        </p:nvSpPr>
        <p:spPr>
          <a:xfrm>
            <a:off x="7260336" y="4010558"/>
            <a:ext cx="4181551" cy="274320"/>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the first statement reached — it runs</a:t>
            </a:r>
            <a:endParaRPr lang="en-US" sz="1100" dirty="0"/>
          </a:p>
        </p:txBody>
      </p:sp>
      <p:sp>
        <p:nvSpPr>
          <p:cNvPr id="33" name="Shape 31"/>
          <p:cNvSpPr/>
          <p:nvPr/>
        </p:nvSpPr>
        <p:spPr>
          <a:xfrm>
            <a:off x="6601968" y="4407408"/>
            <a:ext cx="5022799" cy="548640"/>
          </a:xfrm>
          <a:prstGeom prst="roundRect">
            <a:avLst>
              <a:gd name="adj" fmla="val 15000"/>
            </a:avLst>
          </a:prstGeom>
          <a:solidFill>
            <a:srgbClr val="FBEEE0"/>
          </a:solidFill>
          <a:ln w="12700">
            <a:solidFill>
              <a:srgbClr val="C4560C"/>
            </a:solidFill>
            <a:prstDash val="solid"/>
          </a:ln>
        </p:spPr>
      </p:sp>
      <p:sp>
        <p:nvSpPr>
          <p:cNvPr id="34" name="Shape 32"/>
          <p:cNvSpPr/>
          <p:nvPr/>
        </p:nvSpPr>
        <p:spPr>
          <a:xfrm>
            <a:off x="6784848" y="4507992"/>
            <a:ext cx="347472" cy="347472"/>
          </a:xfrm>
          <a:prstGeom prst="ellipse">
            <a:avLst/>
          </a:prstGeom>
          <a:solidFill>
            <a:srgbClr val="C4560C"/>
          </a:solidFill>
          <a:ln w="12700">
            <a:solidFill>
              <a:srgbClr val="C4560C"/>
            </a:solidFill>
            <a:prstDash val="solid"/>
          </a:ln>
        </p:spPr>
      </p:sp>
      <p:sp>
        <p:nvSpPr>
          <p:cNvPr id="35" name="Text 33"/>
          <p:cNvSpPr txBox="1"/>
          <p:nvPr/>
        </p:nvSpPr>
        <p:spPr>
          <a:xfrm>
            <a:off x="6784848" y="450799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36" name="Text 34"/>
          <p:cNvSpPr txBox="1"/>
          <p:nvPr/>
        </p:nvSpPr>
        <p:spPr>
          <a:xfrm>
            <a:off x="7260336" y="4453128"/>
            <a:ext cx="4181551" cy="263347"/>
          </a:xfrm>
          <a:prstGeom prst="rect">
            <a:avLst/>
          </a:prstGeom>
          <a:noFill/>
          <a:ln/>
        </p:spPr>
        <p:txBody>
          <a:bodyPr wrap="square" lIns="0" tIns="0" rIns="0" bIns="0" rtlCol="0" anchor="ctr"/>
          <a:lstStyle/>
          <a:p>
            <a:pPr indent="0" marL="0">
              <a:buNone/>
            </a:pPr>
            <a:r>
              <a:rPr lang="en-US" sz="1150" b="1" dirty="0">
                <a:solidFill>
                  <a:srgbClr val="0F2942"/>
                </a:solidFill>
                <a:latin typeface="Courier New" pitchFamily="34" charset="0"/>
                <a:ea typeface="Courier New" pitchFamily="34" charset="-122"/>
                <a:cs typeface="Courier New" pitchFamily="34" charset="-120"/>
              </a:rPr>
              <a:t>break</a:t>
            </a:r>
            <a:endParaRPr lang="en-US" sz="1150" dirty="0"/>
          </a:p>
        </p:txBody>
      </p:sp>
      <p:sp>
        <p:nvSpPr>
          <p:cNvPr id="37" name="Text 35"/>
          <p:cNvSpPr txBox="1"/>
          <p:nvPr/>
        </p:nvSpPr>
        <p:spPr>
          <a:xfrm>
            <a:off x="7260336" y="4659782"/>
            <a:ext cx="4181551" cy="274320"/>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jumps out of the switch entirely</a:t>
            </a:r>
            <a:endParaRPr lang="en-US" sz="1100" dirty="0"/>
          </a:p>
        </p:txBody>
      </p:sp>
      <p:sp>
        <p:nvSpPr>
          <p:cNvPr id="38" name="Shape 36"/>
          <p:cNvSpPr/>
          <p:nvPr/>
        </p:nvSpPr>
        <p:spPr>
          <a:xfrm>
            <a:off x="6601968" y="5212080"/>
            <a:ext cx="5022799" cy="1143000"/>
          </a:xfrm>
          <a:prstGeom prst="roundRect">
            <a:avLst>
              <a:gd name="adj" fmla="val 7200"/>
            </a:avLst>
          </a:prstGeom>
          <a:solidFill>
            <a:srgbClr val="FBEAE8"/>
          </a:solidFill>
          <a:ln w="12700">
            <a:solidFill>
              <a:srgbClr val="FBEAE8"/>
            </a:solidFill>
            <a:prstDash val="solid"/>
          </a:ln>
        </p:spPr>
      </p:sp>
      <p:sp>
        <p:nvSpPr>
          <p:cNvPr id="39" name="Text 37"/>
          <p:cNvSpPr txBox="1"/>
          <p:nvPr/>
        </p:nvSpPr>
        <p:spPr>
          <a:xfrm>
            <a:off x="6858000" y="5340096"/>
            <a:ext cx="4510735" cy="274320"/>
          </a:xfrm>
          <a:prstGeom prst="rect">
            <a:avLst/>
          </a:prstGeom>
          <a:noFill/>
          <a:ln/>
        </p:spPr>
        <p:txBody>
          <a:bodyPr wrap="square" lIns="0" tIns="0" rIns="0" bIns="0" rtlCol="0" anchor="ctr"/>
          <a:lstStyle/>
          <a:p>
            <a:pPr indent="0" marL="0">
              <a:buNone/>
            </a:pPr>
            <a:r>
              <a:rPr lang="en-US" sz="1350" b="1" dirty="0">
                <a:solidFill>
                  <a:srgbClr val="9C241C"/>
                </a:solidFill>
                <a:latin typeface="Calibri" pitchFamily="34" charset="0"/>
                <a:ea typeface="Calibri" pitchFamily="34" charset="-122"/>
                <a:cs typeface="Calibri" pitchFamily="34" charset="-120"/>
              </a:rPr>
              <a:t>Forgetting break is the classic switch bug</a:t>
            </a:r>
            <a:endParaRPr lang="en-US" sz="1350" dirty="0"/>
          </a:p>
        </p:txBody>
      </p:sp>
      <p:sp>
        <p:nvSpPr>
          <p:cNvPr id="40" name="Text 38"/>
          <p:cNvSpPr txBox="1"/>
          <p:nvPr/>
        </p:nvSpPr>
        <p:spPr>
          <a:xfrm>
            <a:off x="6858000" y="5650992"/>
            <a:ext cx="4510735" cy="658368"/>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Delete the break above and day = 2 prints Weekday and then Weekend. The arrow form on the next slide removes this hazard entirely.</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MODERN JAVA</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switch Expressions — the Arrow Form</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Since Java 14, a switch can produce a value. No break, no fall-through, and the compiler checks you covered everything.</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28</a:t>
            </a:r>
            <a:endParaRPr lang="en-US" sz="900" dirty="0"/>
          </a:p>
        </p:txBody>
      </p:sp>
      <p:sp>
        <p:nvSpPr>
          <p:cNvPr id="7" name="Shape 5"/>
          <p:cNvSpPr/>
          <p:nvPr/>
        </p:nvSpPr>
        <p:spPr>
          <a:xfrm>
            <a:off x="566928" y="1536192"/>
            <a:ext cx="5323180" cy="3034345"/>
          </a:xfrm>
          <a:prstGeom prst="roundRect">
            <a:avLst>
              <a:gd name="adj" fmla="val 2109"/>
            </a:avLst>
          </a:prstGeom>
          <a:solidFill>
            <a:srgbClr val="EDF2F7"/>
          </a:solidFill>
          <a:ln w="12700">
            <a:solidFill>
              <a:srgbClr val="CFDBE5"/>
            </a:solidFill>
            <a:prstDash val="solid"/>
          </a:ln>
        </p:spPr>
      </p:sp>
      <p:sp>
        <p:nvSpPr>
          <p:cNvPr id="8" name="Text 6"/>
          <p:cNvSpPr txBox="1"/>
          <p:nvPr/>
        </p:nvSpPr>
        <p:spPr>
          <a:xfrm>
            <a:off x="71323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STATEMENT — ASSIGN INTO A VARIABLE</a:t>
            </a:r>
            <a:endParaRPr lang="en-US" sz="950" dirty="0"/>
          </a:p>
        </p:txBody>
      </p:sp>
      <p:sp>
        <p:nvSpPr>
          <p:cNvPr id="9" name="Text 7"/>
          <p:cNvSpPr txBox="1"/>
          <p:nvPr/>
        </p:nvSpPr>
        <p:spPr>
          <a:xfrm>
            <a:off x="731520" y="1810512"/>
            <a:ext cx="4993996" cy="2705161"/>
          </a:xfrm>
          <a:prstGeom prst="rect">
            <a:avLst/>
          </a:prstGeom>
          <a:noFill/>
          <a:ln/>
        </p:spPr>
        <p:txBody>
          <a:bodyPr wrap="square" lIns="0" tIns="0" rIns="0" bIns="0" rtlCol="0" anchor="t"/>
          <a:lstStyle/>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String</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label</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switch</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day</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label</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"Weekday"</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break</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6</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label</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"Weekend"</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break</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default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label</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"Invalid"</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0" name="Shape 8"/>
          <p:cNvSpPr/>
          <p:nvPr/>
        </p:nvSpPr>
        <p:spPr>
          <a:xfrm>
            <a:off x="566928" y="4826569"/>
            <a:ext cx="5323180" cy="1463040"/>
          </a:xfrm>
          <a:prstGeom prst="roundRect">
            <a:avLst>
              <a:gd name="adj" fmla="val 5625"/>
            </a:avLst>
          </a:prstGeom>
          <a:solidFill>
            <a:srgbClr val="E4ECF4"/>
          </a:solidFill>
          <a:ln w="12700">
            <a:solidFill>
              <a:srgbClr val="E4ECF4"/>
            </a:solidFill>
            <a:prstDash val="solid"/>
          </a:ln>
        </p:spPr>
      </p:sp>
      <p:sp>
        <p:nvSpPr>
          <p:cNvPr id="11" name="Text 9"/>
          <p:cNvSpPr txBox="1"/>
          <p:nvPr/>
        </p:nvSpPr>
        <p:spPr>
          <a:xfrm>
            <a:off x="822960" y="4954585"/>
            <a:ext cx="4811116"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yield, and the semicolon</a:t>
            </a:r>
            <a:endParaRPr lang="en-US" sz="1350" dirty="0"/>
          </a:p>
        </p:txBody>
      </p:sp>
      <p:sp>
        <p:nvSpPr>
          <p:cNvPr id="12" name="Text 10"/>
          <p:cNvSpPr txBox="1"/>
          <p:nvPr/>
        </p:nvSpPr>
        <p:spPr>
          <a:xfrm>
            <a:off x="822960" y="5265481"/>
            <a:ext cx="4811116" cy="96012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An arrow branch may be a single expression, a throw, or a block. In a block you need yield to say which value the branch produces — return would try to leave the whole method. And because the switch is an expression inside a statement, it ends with a semicolon after the closing brace.</a:t>
            </a:r>
            <a:endParaRPr lang="en-US" sz="1200" dirty="0"/>
          </a:p>
        </p:txBody>
      </p:sp>
      <p:sp>
        <p:nvSpPr>
          <p:cNvPr id="13" name="Shape 11"/>
          <p:cNvSpPr/>
          <p:nvPr/>
        </p:nvSpPr>
        <p:spPr>
          <a:xfrm>
            <a:off x="6301588" y="1536192"/>
            <a:ext cx="5323180" cy="1638605"/>
          </a:xfrm>
          <a:prstGeom prst="roundRect">
            <a:avLst>
              <a:gd name="adj" fmla="val 3906"/>
            </a:avLst>
          </a:prstGeom>
          <a:solidFill>
            <a:srgbClr val="EDF2F7"/>
          </a:solidFill>
          <a:ln w="12700">
            <a:solidFill>
              <a:srgbClr val="CFDBE5"/>
            </a:solidFill>
            <a:prstDash val="solid"/>
          </a:ln>
        </p:spPr>
      </p:sp>
      <p:sp>
        <p:nvSpPr>
          <p:cNvPr id="14" name="Text 12"/>
          <p:cNvSpPr txBox="1"/>
          <p:nvPr/>
        </p:nvSpPr>
        <p:spPr>
          <a:xfrm>
            <a:off x="644789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EXPRESSION — THE SWITCH IS THE VALUE</a:t>
            </a:r>
            <a:endParaRPr lang="en-US" sz="950" dirty="0"/>
          </a:p>
        </p:txBody>
      </p:sp>
      <p:sp>
        <p:nvSpPr>
          <p:cNvPr id="15" name="Text 13"/>
          <p:cNvSpPr txBox="1"/>
          <p:nvPr/>
        </p:nvSpPr>
        <p:spPr>
          <a:xfrm>
            <a:off x="6466180" y="1810512"/>
            <a:ext cx="4993996" cy="1309421"/>
          </a:xfrm>
          <a:prstGeom prst="rect">
            <a:avLst/>
          </a:prstGeom>
          <a:noFill/>
          <a:ln/>
        </p:spPr>
        <p:txBody>
          <a:bodyPr wrap="square" lIns="0" tIns="0" rIns="0" bIns="0" rtlCol="0" anchor="t"/>
          <a:lstStyle/>
          <a:p>
            <a:pPr indent="0" marL="0">
              <a:lnSpc>
                <a:spcPct val="112000"/>
              </a:lnSpc>
              <a:buNone/>
            </a:pPr>
            <a:r>
              <a:rPr lang="en-US" sz="1200" dirty="0">
                <a:solidFill>
                  <a:srgbClr val="14568A"/>
                </a:solidFill>
                <a:latin typeface="Courier New" pitchFamily="34" charset="0"/>
                <a:ea typeface="Courier New" pitchFamily="34" charset="-122"/>
                <a:cs typeface="Courier New" pitchFamily="34" charset="-120"/>
              </a:rPr>
              <a:t>String</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label</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switch</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day</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614A"/>
                </a:solidFill>
                <a:latin typeface="Courier New" pitchFamily="34" charset="0"/>
                <a:ea typeface="Courier New" pitchFamily="34" charset="-122"/>
                <a:cs typeface="Courier New" pitchFamily="34" charset="-120"/>
              </a:rPr>
              <a:t>"Weekday"</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6</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614A"/>
                </a:solidFill>
                <a:latin typeface="Courier New" pitchFamily="34" charset="0"/>
                <a:ea typeface="Courier New" pitchFamily="34" charset="-122"/>
                <a:cs typeface="Courier New" pitchFamily="34" charset="-120"/>
              </a:rPr>
              <a:t>"Weekend"</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default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614A"/>
                </a:solidFill>
                <a:latin typeface="Courier New" pitchFamily="34" charset="0"/>
                <a:ea typeface="Courier New" pitchFamily="34" charset="-122"/>
                <a:cs typeface="Courier New" pitchFamily="34" charset="-120"/>
              </a:rPr>
              <a:t>"Invalid"</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p:txBody>
      </p:sp>
      <p:sp>
        <p:nvSpPr>
          <p:cNvPr id="16" name="Shape 14"/>
          <p:cNvSpPr/>
          <p:nvPr/>
        </p:nvSpPr>
        <p:spPr>
          <a:xfrm>
            <a:off x="6301588" y="3412541"/>
            <a:ext cx="5323180" cy="1188720"/>
          </a:xfrm>
          <a:prstGeom prst="roundRect">
            <a:avLst>
              <a:gd name="adj" fmla="val 6923"/>
            </a:avLst>
          </a:prstGeom>
          <a:solidFill>
            <a:srgbClr val="E6F2EC"/>
          </a:solidFill>
          <a:ln w="12700">
            <a:solidFill>
              <a:srgbClr val="E6F2EC"/>
            </a:solidFill>
            <a:prstDash val="solid"/>
          </a:ln>
        </p:spPr>
      </p:sp>
      <p:sp>
        <p:nvSpPr>
          <p:cNvPr id="17" name="Text 15"/>
          <p:cNvSpPr txBox="1"/>
          <p:nvPr/>
        </p:nvSpPr>
        <p:spPr>
          <a:xfrm>
            <a:off x="6557620" y="3522269"/>
            <a:ext cx="4811116" cy="274320"/>
          </a:xfrm>
          <a:prstGeom prst="rect">
            <a:avLst/>
          </a:prstGeom>
          <a:noFill/>
          <a:ln/>
        </p:spPr>
        <p:txBody>
          <a:bodyPr wrap="square" lIns="0" tIns="0" rIns="0" bIns="0" rtlCol="0" anchor="ctr"/>
          <a:lstStyle/>
          <a:p>
            <a:pPr indent="0" marL="0">
              <a:buNone/>
            </a:pPr>
            <a:r>
              <a:rPr lang="en-US" sz="1350" b="1" dirty="0">
                <a:solidFill>
                  <a:srgbClr val="176240"/>
                </a:solidFill>
                <a:latin typeface="Calibri" pitchFamily="34" charset="0"/>
                <a:ea typeface="Calibri" pitchFamily="34" charset="-122"/>
                <a:cs typeface="Calibri" pitchFamily="34" charset="-120"/>
              </a:rPr>
              <a:t>Three things changed</a:t>
            </a:r>
            <a:endParaRPr lang="en-US" sz="1350" dirty="0"/>
          </a:p>
        </p:txBody>
      </p:sp>
      <p:sp>
        <p:nvSpPr>
          <p:cNvPr id="18" name="Text 16"/>
          <p:cNvSpPr txBox="1"/>
          <p:nvPr/>
        </p:nvSpPr>
        <p:spPr>
          <a:xfrm>
            <a:off x="6594196" y="3814877"/>
            <a:ext cx="4756252" cy="777240"/>
          </a:xfrm>
          <a:prstGeom prst="rect">
            <a:avLst/>
          </a:prstGeom>
          <a:noFill/>
          <a:ln/>
        </p:spPr>
        <p:txBody>
          <a:bodyPr wrap="square" lIns="0" tIns="0" rIns="0" bIns="0" rtlCol="0" anchor="t"/>
          <a:lstStyle/>
          <a:p>
            <a:pPr marL="177800" indent="-177800">
              <a:spcAft>
                <a:spcPts val="200"/>
              </a:spcAft>
              <a:buSzPct val="100000"/>
              <a:buChar char="•"/>
            </a:pPr>
            <a:r>
              <a:rPr lang="en-US" sz="1100" dirty="0">
                <a:solidFill>
                  <a:srgbClr val="3A536B"/>
                </a:solidFill>
                <a:latin typeface="Calibri" pitchFamily="34" charset="0"/>
                <a:ea typeface="Calibri" pitchFamily="34" charset="-122"/>
                <a:cs typeface="Calibri" pitchFamily="34" charset="-120"/>
              </a:rPr>
              <a:t>The arrow means: run just this, then leave. No break, no fall-through, ever.</a:t>
            </a:r>
            <a:endParaRPr lang="en-US" sz="1100" dirty="0"/>
          </a:p>
          <a:p>
            <a:pPr marL="177800" indent="-177800">
              <a:spcAft>
                <a:spcPts val="200"/>
              </a:spcAft>
              <a:buSzPct val="100000"/>
              <a:buChar char="•"/>
            </a:pPr>
            <a:r>
              <a:rPr lang="en-US" sz="1100" dirty="0">
                <a:solidFill>
                  <a:srgbClr val="3A536B"/>
                </a:solidFill>
                <a:latin typeface="Calibri" pitchFamily="34" charset="0"/>
                <a:ea typeface="Calibri" pitchFamily="34" charset="-122"/>
                <a:cs typeface="Calibri" pitchFamily="34" charset="-120"/>
              </a:rPr>
              <a:t>One case can list several values, separated by commas.</a:t>
            </a:r>
            <a:endParaRPr lang="en-US" sz="1100" dirty="0"/>
          </a:p>
          <a:p>
            <a:pPr marL="177800" indent="-177800">
              <a:spcAft>
                <a:spcPts val="200"/>
              </a:spcAft>
              <a:buSzPct val="100000"/>
              <a:buChar char="•"/>
            </a:pPr>
            <a:r>
              <a:rPr lang="en-US" sz="1100" dirty="0">
                <a:solidFill>
                  <a:srgbClr val="3A536B"/>
                </a:solidFill>
                <a:latin typeface="Calibri" pitchFamily="34" charset="0"/>
                <a:ea typeface="Calibri" pitchFamily="34" charset="-122"/>
                <a:cs typeface="Calibri" pitchFamily="34" charset="-120"/>
              </a:rPr>
              <a:t>The switch yields a value, so label is assigned once and could be final.</a:t>
            </a:r>
            <a:endParaRPr lang="en-US" sz="1100" dirty="0"/>
          </a:p>
        </p:txBody>
      </p:sp>
      <p:sp>
        <p:nvSpPr>
          <p:cNvPr id="19" name="Shape 17"/>
          <p:cNvSpPr/>
          <p:nvPr/>
        </p:nvSpPr>
        <p:spPr>
          <a:xfrm>
            <a:off x="6301588" y="4820717"/>
            <a:ext cx="5323180" cy="1541678"/>
          </a:xfrm>
          <a:prstGeom prst="roundRect">
            <a:avLst>
              <a:gd name="adj" fmla="val 4152"/>
            </a:avLst>
          </a:prstGeom>
          <a:solidFill>
            <a:srgbClr val="EDF2F7"/>
          </a:solidFill>
          <a:ln w="12700">
            <a:solidFill>
              <a:srgbClr val="CFDBE5"/>
            </a:solidFill>
            <a:prstDash val="solid"/>
          </a:ln>
        </p:spPr>
      </p:sp>
      <p:sp>
        <p:nvSpPr>
          <p:cNvPr id="20" name="Text 18"/>
          <p:cNvSpPr txBox="1"/>
          <p:nvPr/>
        </p:nvSpPr>
        <p:spPr>
          <a:xfrm>
            <a:off x="6447892" y="4866437"/>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WHEN ONE EXPRESSION IS NOT ENOUGH</a:t>
            </a:r>
            <a:endParaRPr lang="en-US" sz="950" dirty="0"/>
          </a:p>
        </p:txBody>
      </p:sp>
      <p:sp>
        <p:nvSpPr>
          <p:cNvPr id="21" name="Text 19"/>
          <p:cNvSpPr txBox="1"/>
          <p:nvPr/>
        </p:nvSpPr>
        <p:spPr>
          <a:xfrm>
            <a:off x="6466180" y="5095037"/>
            <a:ext cx="4993996" cy="1212494"/>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String</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"Week"</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yield</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"day"</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a block must yield</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default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throw</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IllegalArgumentException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MODERN JAVA</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Exhaustiveness, and What Else a switch Can Match On</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A switch expression must cover every possible value. The compiler will not let you forget one.</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29</a:t>
            </a:r>
            <a:endParaRPr lang="en-US" sz="900" dirty="0"/>
          </a:p>
        </p:txBody>
      </p:sp>
      <p:sp>
        <p:nvSpPr>
          <p:cNvPr id="7" name="Shape 5"/>
          <p:cNvSpPr/>
          <p:nvPr/>
        </p:nvSpPr>
        <p:spPr>
          <a:xfrm>
            <a:off x="566928" y="1536192"/>
            <a:ext cx="5323180" cy="1754916"/>
          </a:xfrm>
          <a:prstGeom prst="roundRect">
            <a:avLst>
              <a:gd name="adj" fmla="val 3647"/>
            </a:avLst>
          </a:prstGeom>
          <a:solidFill>
            <a:srgbClr val="EDF2F7"/>
          </a:solidFill>
          <a:ln w="12700">
            <a:solidFill>
              <a:srgbClr val="CFDBE5"/>
            </a:solidFill>
            <a:prstDash val="solid"/>
          </a:ln>
        </p:spPr>
      </p:sp>
      <p:sp>
        <p:nvSpPr>
          <p:cNvPr id="8" name="Text 6"/>
          <p:cNvSpPr txBox="1"/>
          <p:nvPr/>
        </p:nvSpPr>
        <p:spPr>
          <a:xfrm>
            <a:off x="71323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AN ENUM SWITCH CAN BE EXHAUSTIVE WITHOUT default</a:t>
            </a:r>
            <a:endParaRPr lang="en-US" sz="950" dirty="0"/>
          </a:p>
        </p:txBody>
      </p:sp>
      <p:sp>
        <p:nvSpPr>
          <p:cNvPr id="9" name="Text 7"/>
          <p:cNvSpPr txBox="1"/>
          <p:nvPr/>
        </p:nvSpPr>
        <p:spPr>
          <a:xfrm>
            <a:off x="731520" y="1810512"/>
            <a:ext cx="4993996" cy="1425732"/>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enum</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Day</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MON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TUE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WED</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THU</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FRI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SUN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String</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kind</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switch</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d</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SUN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"Weekend"</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MON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TUE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WED</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THU</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FRI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"Weekday"</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no default needed: all 7 are covered</a:t>
            </a:r>
            <a:endParaRPr lang="en-US" sz="1100" dirty="0"/>
          </a:p>
        </p:txBody>
      </p:sp>
      <p:sp>
        <p:nvSpPr>
          <p:cNvPr id="10" name="Shape 8"/>
          <p:cNvSpPr/>
          <p:nvPr/>
        </p:nvSpPr>
        <p:spPr>
          <a:xfrm>
            <a:off x="566928" y="3528852"/>
            <a:ext cx="5323180" cy="1280160"/>
          </a:xfrm>
          <a:prstGeom prst="roundRect">
            <a:avLst>
              <a:gd name="adj" fmla="val 6429"/>
            </a:avLst>
          </a:prstGeom>
          <a:solidFill>
            <a:srgbClr val="E6F2EC"/>
          </a:solidFill>
          <a:ln w="12700">
            <a:solidFill>
              <a:srgbClr val="E6F2EC"/>
            </a:solidFill>
            <a:prstDash val="solid"/>
          </a:ln>
        </p:spPr>
      </p:sp>
      <p:sp>
        <p:nvSpPr>
          <p:cNvPr id="11" name="Text 9"/>
          <p:cNvSpPr txBox="1"/>
          <p:nvPr/>
        </p:nvSpPr>
        <p:spPr>
          <a:xfrm>
            <a:off x="822960" y="3656868"/>
            <a:ext cx="4811116" cy="274320"/>
          </a:xfrm>
          <a:prstGeom prst="rect">
            <a:avLst/>
          </a:prstGeom>
          <a:noFill/>
          <a:ln/>
        </p:spPr>
        <p:txBody>
          <a:bodyPr wrap="square" lIns="0" tIns="0" rIns="0" bIns="0" rtlCol="0" anchor="ctr"/>
          <a:lstStyle/>
          <a:p>
            <a:pPr indent="0" marL="0">
              <a:buNone/>
            </a:pPr>
            <a:r>
              <a:rPr lang="en-US" sz="1350" b="1" dirty="0">
                <a:solidFill>
                  <a:srgbClr val="176240"/>
                </a:solidFill>
                <a:latin typeface="Calibri" pitchFamily="34" charset="0"/>
                <a:ea typeface="Calibri" pitchFamily="34" charset="-122"/>
                <a:cs typeface="Calibri" pitchFamily="34" charset="-120"/>
              </a:rPr>
              <a:t>This is the feature, not a shortcut</a:t>
            </a:r>
            <a:endParaRPr lang="en-US" sz="1350" dirty="0"/>
          </a:p>
        </p:txBody>
      </p:sp>
      <p:sp>
        <p:nvSpPr>
          <p:cNvPr id="12" name="Text 10"/>
          <p:cNvSpPr txBox="1"/>
          <p:nvPr/>
        </p:nvSpPr>
        <p:spPr>
          <a:xfrm>
            <a:off x="822960" y="3967764"/>
            <a:ext cx="4811116" cy="77724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Add an eighth constant to Day next year and this switch stops compiling until you handle it. A default clause would have quietly swallowed the new value instead.</a:t>
            </a:r>
            <a:endParaRPr lang="en-US" sz="1200" dirty="0"/>
          </a:p>
        </p:txBody>
      </p:sp>
      <p:sp>
        <p:nvSpPr>
          <p:cNvPr id="13" name="Shape 11"/>
          <p:cNvSpPr/>
          <p:nvPr/>
        </p:nvSpPr>
        <p:spPr>
          <a:xfrm>
            <a:off x="566928" y="5028468"/>
            <a:ext cx="5323180" cy="1328440"/>
          </a:xfrm>
          <a:prstGeom prst="roundRect">
            <a:avLst>
              <a:gd name="adj" fmla="val 4818"/>
            </a:avLst>
          </a:prstGeom>
          <a:solidFill>
            <a:srgbClr val="EDF2F7"/>
          </a:solidFill>
          <a:ln w="12700">
            <a:solidFill>
              <a:srgbClr val="CFDBE5"/>
            </a:solidFill>
            <a:prstDash val="solid"/>
          </a:ln>
        </p:spPr>
      </p:sp>
      <p:sp>
        <p:nvSpPr>
          <p:cNvPr id="14" name="Text 12"/>
          <p:cNvSpPr txBox="1"/>
          <p:nvPr/>
        </p:nvSpPr>
        <p:spPr>
          <a:xfrm>
            <a:off x="713232" y="5074188"/>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STRINGS HAVE BEEN ALLOWED SINCE JAVA 7</a:t>
            </a:r>
            <a:endParaRPr lang="en-US" sz="950" dirty="0"/>
          </a:p>
        </p:txBody>
      </p:sp>
      <p:sp>
        <p:nvSpPr>
          <p:cNvPr id="15" name="Text 13"/>
          <p:cNvSpPr txBox="1"/>
          <p:nvPr/>
        </p:nvSpPr>
        <p:spPr>
          <a:xfrm>
            <a:off x="731520" y="5302788"/>
            <a:ext cx="4993996" cy="999256"/>
          </a:xfrm>
          <a:prstGeom prst="rect">
            <a:avLst/>
          </a:prstGeom>
          <a:noFill/>
          <a:ln/>
        </p:spPr>
        <p:txBody>
          <a:bodyPr wrap="square" lIns="0" tIns="0" rIns="0" bIns="0" rtlCol="0" anchor="t"/>
          <a:lstStyle/>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String</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cmd</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"stop"</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code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switch</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cmd</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"go"</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"stop"</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default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code is 0</a:t>
            </a:r>
            <a:endParaRPr lang="en-US" sz="1100" dirty="0"/>
          </a:p>
        </p:txBody>
      </p:sp>
      <p:sp>
        <p:nvSpPr>
          <p:cNvPr id="16" name="Shape 14"/>
          <p:cNvSpPr/>
          <p:nvPr/>
        </p:nvSpPr>
        <p:spPr>
          <a:xfrm>
            <a:off x="6301588" y="1536192"/>
            <a:ext cx="5323180" cy="2394631"/>
          </a:xfrm>
          <a:prstGeom prst="roundRect">
            <a:avLst>
              <a:gd name="adj" fmla="val 2673"/>
            </a:avLst>
          </a:prstGeom>
          <a:solidFill>
            <a:srgbClr val="EDF2F7"/>
          </a:solidFill>
          <a:ln w="12700">
            <a:solidFill>
              <a:srgbClr val="CFDBE5"/>
            </a:solidFill>
            <a:prstDash val="solid"/>
          </a:ln>
        </p:spPr>
      </p:sp>
      <p:sp>
        <p:nvSpPr>
          <p:cNvPr id="17" name="Text 15"/>
          <p:cNvSpPr txBox="1"/>
          <p:nvPr/>
        </p:nvSpPr>
        <p:spPr>
          <a:xfrm>
            <a:off x="644789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PATTERN MATCHING FOR switch — JAVA 21</a:t>
            </a:r>
            <a:endParaRPr lang="en-US" sz="950" dirty="0"/>
          </a:p>
        </p:txBody>
      </p:sp>
      <p:sp>
        <p:nvSpPr>
          <p:cNvPr id="18" name="Text 16"/>
          <p:cNvSpPr txBox="1"/>
          <p:nvPr/>
        </p:nvSpPr>
        <p:spPr>
          <a:xfrm>
            <a:off x="6466180" y="1810512"/>
            <a:ext cx="4993996" cy="2065447"/>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String</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describe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Object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return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switch</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null</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"nothing at all"</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Integer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when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"negative: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Integer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"an int: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String</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"length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length</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default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"something else"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9" name="Shape 17"/>
          <p:cNvSpPr/>
          <p:nvPr/>
        </p:nvSpPr>
        <p:spPr>
          <a:xfrm>
            <a:off x="6301588" y="4150279"/>
            <a:ext cx="5323180" cy="1047674"/>
          </a:xfrm>
          <a:prstGeom prst="roundRect">
            <a:avLst>
              <a:gd name="adj" fmla="val 6110"/>
            </a:avLst>
          </a:prstGeom>
          <a:solidFill>
            <a:srgbClr val="FFFFFF"/>
          </a:solidFill>
          <a:ln w="12700">
            <a:solidFill>
              <a:srgbClr val="4B6377"/>
            </a:solidFill>
            <a:prstDash val="solid"/>
          </a:ln>
        </p:spPr>
      </p:sp>
      <p:sp>
        <p:nvSpPr>
          <p:cNvPr id="20" name="Text 18"/>
          <p:cNvSpPr txBox="1"/>
          <p:nvPr/>
        </p:nvSpPr>
        <p:spPr>
          <a:xfrm>
            <a:off x="6447892" y="4223431"/>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21" name="Text 19"/>
          <p:cNvSpPr txBox="1"/>
          <p:nvPr/>
        </p:nvSpPr>
        <p:spPr>
          <a:xfrm>
            <a:off x="6447892" y="4424599"/>
            <a:ext cx="5030572" cy="681914"/>
          </a:xfrm>
          <a:prstGeom prst="rect">
            <a:avLst/>
          </a:prstGeom>
          <a:noFill/>
          <a:ln/>
        </p:spPr>
        <p:txBody>
          <a:bodyPr wrap="square" lIns="0" tIns="0" rIns="0" bIns="0" rtlCol="0" anchor="t"/>
          <a:lstStyle/>
          <a:p>
            <a:pPr indent="0" marL="0">
              <a:lnSpc>
                <a:spcPct val="110000"/>
              </a:lnSpc>
              <a:buNone/>
            </a:pPr>
            <a:r>
              <a:rPr lang="en-US" sz="1050" dirty="0">
                <a:solidFill>
                  <a:srgbClr val="0F2942"/>
                </a:solidFill>
                <a:latin typeface="Courier New" pitchFamily="34" charset="0"/>
                <a:ea typeface="Courier New" pitchFamily="34" charset="-122"/>
                <a:cs typeface="Courier New" pitchFamily="34" charset="-120"/>
              </a:rPr>
              <a:t>describe(42)      -&gt; an int: 42</a:t>
            </a:r>
            <a:endParaRPr lang="en-US" sz="1050" dirty="0"/>
          </a:p>
          <a:p>
            <a:pPr indent="0" marL="0">
              <a:lnSpc>
                <a:spcPct val="110000"/>
              </a:lnSpc>
              <a:buNone/>
            </a:pPr>
            <a:r>
              <a:rPr lang="en-US" sz="1050" dirty="0">
                <a:solidFill>
                  <a:srgbClr val="0F2942"/>
                </a:solidFill>
                <a:latin typeface="Courier New" pitchFamily="34" charset="0"/>
                <a:ea typeface="Courier New" pitchFamily="34" charset="-122"/>
                <a:cs typeface="Courier New" pitchFamily="34" charset="-120"/>
              </a:rPr>
              <a:t>describe("hello") -&gt; length 5</a:t>
            </a:r>
            <a:endParaRPr lang="en-US" sz="1050" dirty="0"/>
          </a:p>
          <a:p>
            <a:pPr indent="0" marL="0">
              <a:lnSpc>
                <a:spcPct val="110000"/>
              </a:lnSpc>
              <a:buNone/>
            </a:pPr>
            <a:r>
              <a:rPr lang="en-US" sz="1050" dirty="0">
                <a:solidFill>
                  <a:srgbClr val="0F2942"/>
                </a:solidFill>
                <a:latin typeface="Courier New" pitchFamily="34" charset="0"/>
                <a:ea typeface="Courier New" pitchFamily="34" charset="-122"/>
                <a:cs typeface="Courier New" pitchFamily="34" charset="-120"/>
              </a:rPr>
              <a:t>describe(null)    -&gt; nothing at all</a:t>
            </a:r>
            <a:endParaRPr lang="en-US" sz="1050" dirty="0"/>
          </a:p>
        </p:txBody>
      </p:sp>
      <p:sp>
        <p:nvSpPr>
          <p:cNvPr id="22" name="Shape 20"/>
          <p:cNvSpPr/>
          <p:nvPr/>
        </p:nvSpPr>
        <p:spPr>
          <a:xfrm>
            <a:off x="6301588" y="5417409"/>
            <a:ext cx="5323180" cy="914400"/>
          </a:xfrm>
          <a:prstGeom prst="roundRect">
            <a:avLst>
              <a:gd name="adj" fmla="val 9000"/>
            </a:avLst>
          </a:prstGeom>
          <a:solidFill>
            <a:srgbClr val="E4ECF4"/>
          </a:solidFill>
          <a:ln w="12700">
            <a:solidFill>
              <a:srgbClr val="E4ECF4"/>
            </a:solidFill>
            <a:prstDash val="solid"/>
          </a:ln>
        </p:spPr>
      </p:sp>
      <p:sp>
        <p:nvSpPr>
          <p:cNvPr id="23" name="Text 21"/>
          <p:cNvSpPr txBox="1"/>
          <p:nvPr/>
        </p:nvSpPr>
        <p:spPr>
          <a:xfrm>
            <a:off x="6557620" y="5527137"/>
            <a:ext cx="4811116" cy="274320"/>
          </a:xfrm>
          <a:prstGeom prst="rect">
            <a:avLst/>
          </a:prstGeom>
          <a:noFill/>
          <a:ln/>
        </p:spPr>
        <p:txBody>
          <a:bodyPr wrap="square" lIns="0" tIns="0" rIns="0" bIns="0" rtlCol="0" anchor="ctr"/>
          <a:lstStyle/>
          <a:p>
            <a:pPr indent="0" marL="0">
              <a:buNone/>
            </a:pPr>
            <a:r>
              <a:rPr lang="en-US" sz="1300" b="1" dirty="0">
                <a:solidFill>
                  <a:srgbClr val="0F2942"/>
                </a:solidFill>
                <a:latin typeface="Calibri" pitchFamily="34" charset="0"/>
                <a:ea typeface="Calibri" pitchFamily="34" charset="-122"/>
                <a:cs typeface="Calibri" pitchFamily="34" charset="-120"/>
              </a:rPr>
              <a:t>Not examinable this semester — but you will meet it</a:t>
            </a:r>
            <a:endParaRPr lang="en-US" sz="1300" dirty="0"/>
          </a:p>
        </p:txBody>
      </p:sp>
      <p:sp>
        <p:nvSpPr>
          <p:cNvPr id="24" name="Text 22"/>
          <p:cNvSpPr txBox="1"/>
          <p:nvPr/>
        </p:nvSpPr>
        <p:spPr>
          <a:xfrm>
            <a:off x="6557620" y="5819745"/>
            <a:ext cx="4811116" cy="45720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Since Java 21 a case label can be a type pattern, refined by a when clause. We return to it after classes.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SELECTION 05</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The Conditional Operator  ?:</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Java's only operator with three operands. It is an if-else that produces a value instead of running statements.</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30</a:t>
            </a:r>
            <a:endParaRPr lang="en-US" sz="900" dirty="0"/>
          </a:p>
        </p:txBody>
      </p:sp>
      <p:sp>
        <p:nvSpPr>
          <p:cNvPr id="7" name="Shape 5"/>
          <p:cNvSpPr/>
          <p:nvPr/>
        </p:nvSpPr>
        <p:spPr>
          <a:xfrm>
            <a:off x="566928" y="1536192"/>
            <a:ext cx="5323180" cy="1483523"/>
          </a:xfrm>
          <a:prstGeom prst="roundRect">
            <a:avLst>
              <a:gd name="adj" fmla="val 4315"/>
            </a:avLst>
          </a:prstGeom>
          <a:solidFill>
            <a:srgbClr val="EDF2F7"/>
          </a:solidFill>
          <a:ln w="12700">
            <a:solidFill>
              <a:srgbClr val="CFDBE5"/>
            </a:solidFill>
            <a:prstDash val="solid"/>
          </a:ln>
        </p:spPr>
      </p:sp>
      <p:sp>
        <p:nvSpPr>
          <p:cNvPr id="8" name="Text 6"/>
          <p:cNvSpPr txBox="1"/>
          <p:nvPr/>
        </p:nvSpPr>
        <p:spPr>
          <a:xfrm>
            <a:off x="71323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FOUR LINES</a:t>
            </a:r>
            <a:endParaRPr lang="en-US" sz="950" dirty="0"/>
          </a:p>
        </p:txBody>
      </p:sp>
      <p:sp>
        <p:nvSpPr>
          <p:cNvPr id="9" name="Text 7"/>
          <p:cNvSpPr txBox="1"/>
          <p:nvPr/>
        </p:nvSpPr>
        <p:spPr>
          <a:xfrm>
            <a:off x="731520" y="1810512"/>
            <a:ext cx="4993996" cy="1154339"/>
          </a:xfrm>
          <a:prstGeom prst="rect">
            <a:avLst/>
          </a:prstGeom>
          <a:noFill/>
          <a:ln/>
        </p:spPr>
        <p:txBody>
          <a:bodyPr wrap="square" lIns="0" tIns="0" rIns="0" bIns="0" rtlCol="0" anchor="t"/>
          <a:lstStyle/>
          <a:p>
            <a:pPr indent="0" marL="0">
              <a:lnSpc>
                <a:spcPct val="112000"/>
              </a:lnSpc>
              <a:buNone/>
            </a:pPr>
            <a:r>
              <a:rPr lang="en-US" sz="13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endParaRPr lang="en-US" sz="1300" dirty="0"/>
          </a:p>
          <a:p>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y</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endParaRPr lang="en-US" sz="1300" dirty="0"/>
          </a:p>
          <a:p>
            <a:pPr indent="0" marL="0">
              <a:lnSpc>
                <a:spcPct val="112000"/>
              </a:lnSpc>
              <a:buNone/>
            </a:pPr>
            <a:r>
              <a:rPr lang="en-US" sz="1300" dirty="0">
                <a:solidFill>
                  <a:srgbClr val="9A3412"/>
                </a:solidFill>
                <a:latin typeface="Courier New" pitchFamily="34" charset="0"/>
                <a:ea typeface="Courier New" pitchFamily="34" charset="-122"/>
                <a:cs typeface="Courier New" pitchFamily="34" charset="-120"/>
              </a:rPr>
              <a:t>else</a:t>
            </a:r>
            <a:endParaRPr lang="en-US" sz="1300" dirty="0"/>
          </a:p>
          <a:p>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y</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endParaRPr lang="en-US" sz="1300" dirty="0"/>
          </a:p>
        </p:txBody>
      </p:sp>
      <p:sp>
        <p:nvSpPr>
          <p:cNvPr id="10" name="Shape 8"/>
          <p:cNvSpPr/>
          <p:nvPr/>
        </p:nvSpPr>
        <p:spPr>
          <a:xfrm>
            <a:off x="6301588" y="1536192"/>
            <a:ext cx="5323180" cy="727497"/>
          </a:xfrm>
          <a:prstGeom prst="roundRect">
            <a:avLst>
              <a:gd name="adj" fmla="val 8798"/>
            </a:avLst>
          </a:prstGeom>
          <a:solidFill>
            <a:srgbClr val="EDF2F7"/>
          </a:solidFill>
          <a:ln w="12700">
            <a:solidFill>
              <a:srgbClr val="CFDBE5"/>
            </a:solidFill>
            <a:prstDash val="solid"/>
          </a:ln>
        </p:spPr>
      </p:sp>
      <p:sp>
        <p:nvSpPr>
          <p:cNvPr id="11" name="Text 9"/>
          <p:cNvSpPr txBox="1"/>
          <p:nvPr/>
        </p:nvSpPr>
        <p:spPr>
          <a:xfrm>
            <a:off x="644789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ONE LINE, IDENTICAL MEANING</a:t>
            </a:r>
            <a:endParaRPr lang="en-US" sz="950" dirty="0"/>
          </a:p>
        </p:txBody>
      </p:sp>
      <p:sp>
        <p:nvSpPr>
          <p:cNvPr id="12" name="Text 10"/>
          <p:cNvSpPr txBox="1"/>
          <p:nvPr/>
        </p:nvSpPr>
        <p:spPr>
          <a:xfrm>
            <a:off x="6466180" y="1810512"/>
            <a:ext cx="4993996" cy="398313"/>
          </a:xfrm>
          <a:prstGeom prst="rect">
            <a:avLst/>
          </a:prstGeom>
          <a:noFill/>
          <a:ln/>
        </p:spPr>
        <p:txBody>
          <a:bodyPr wrap="square" lIns="0" tIns="0" rIns="0" bIns="0" rtlCol="0" anchor="t"/>
          <a:lstStyle/>
          <a:p>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y</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endParaRPr lang="en-US" sz="1300" dirty="0"/>
          </a:p>
        </p:txBody>
      </p:sp>
      <p:sp>
        <p:nvSpPr>
          <p:cNvPr id="13" name="Shape 11"/>
          <p:cNvSpPr/>
          <p:nvPr/>
        </p:nvSpPr>
        <p:spPr>
          <a:xfrm>
            <a:off x="6301588" y="2464857"/>
            <a:ext cx="5323180" cy="1086124"/>
          </a:xfrm>
          <a:prstGeom prst="roundRect">
            <a:avLst>
              <a:gd name="adj" fmla="val 5893"/>
            </a:avLst>
          </a:prstGeom>
          <a:solidFill>
            <a:srgbClr val="EDF2F7"/>
          </a:solidFill>
          <a:ln w="12700">
            <a:solidFill>
              <a:srgbClr val="CFDBE5"/>
            </a:solidFill>
            <a:prstDash val="solid"/>
          </a:ln>
        </p:spPr>
      </p:sp>
      <p:sp>
        <p:nvSpPr>
          <p:cNvPr id="14" name="Text 12"/>
          <p:cNvSpPr txBox="1"/>
          <p:nvPr/>
        </p:nvSpPr>
        <p:spPr>
          <a:xfrm>
            <a:off x="6447892" y="2510577"/>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TWO MORE THAT EARN THEIR KEEP</a:t>
            </a:r>
            <a:endParaRPr lang="en-US" sz="950" dirty="0"/>
          </a:p>
        </p:txBody>
      </p:sp>
      <p:sp>
        <p:nvSpPr>
          <p:cNvPr id="15" name="Text 13"/>
          <p:cNvSpPr txBox="1"/>
          <p:nvPr/>
        </p:nvSpPr>
        <p:spPr>
          <a:xfrm>
            <a:off x="6466180" y="2739177"/>
            <a:ext cx="4993996" cy="756940"/>
          </a:xfrm>
          <a:prstGeom prst="rect">
            <a:avLst/>
          </a:prstGeom>
          <a:noFill/>
          <a:ln/>
        </p:spPr>
        <p:txBody>
          <a:bodyPr wrap="square" lIns="0" tIns="0" rIns="0" bIns="0" rtlCol="0" anchor="t"/>
          <a:lstStyle/>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max</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count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614A"/>
                </a:solidFill>
                <a:latin typeface="Courier New" pitchFamily="34" charset="0"/>
                <a:ea typeface="Courier New" pitchFamily="34" charset="-122"/>
                <a:cs typeface="Courier New" pitchFamily="34" charset="-120"/>
              </a:rPr>
              <a:t>"1 item"</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count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614A"/>
                </a:solidFill>
                <a:latin typeface="Courier New" pitchFamily="34" charset="0"/>
                <a:ea typeface="Courier New" pitchFamily="34" charset="-122"/>
                <a:cs typeface="Courier New" pitchFamily="34" charset="-120"/>
              </a:rPr>
              <a:t>" items"</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p:txBody>
      </p:sp>
      <p:sp>
        <p:nvSpPr>
          <p:cNvPr id="16" name="Text 14"/>
          <p:cNvSpPr txBox="1"/>
          <p:nvPr/>
        </p:nvSpPr>
        <p:spPr>
          <a:xfrm>
            <a:off x="566928" y="3623219"/>
            <a:ext cx="11057839" cy="347472"/>
          </a:xfrm>
          <a:prstGeom prst="rect">
            <a:avLst/>
          </a:prstGeom>
          <a:noFill/>
          <a:ln/>
        </p:spPr>
        <p:txBody>
          <a:bodyPr wrap="square" lIns="0" tIns="0" rIns="0" bIns="0" rtlCol="0" anchor="ctr"/>
          <a:lstStyle/>
          <a:p>
            <a:pPr algn="ctr" indent="0" marL="0">
              <a:buNone/>
            </a:pPr>
            <a:r>
              <a:rPr lang="en-US" sz="1600" b="1" dirty="0">
                <a:solidFill>
                  <a:srgbClr val="9A430A"/>
                </a:solidFill>
                <a:latin typeface="Courier New" pitchFamily="34" charset="0"/>
                <a:ea typeface="Courier New" pitchFamily="34" charset="-122"/>
                <a:cs typeface="Courier New" pitchFamily="34" charset="-120"/>
              </a:rPr>
              <a:t>boolean-expression  ?  value-if-true  :  value-if-false</a:t>
            </a:r>
            <a:endParaRPr lang="en-US" sz="1600" dirty="0"/>
          </a:p>
        </p:txBody>
      </p:sp>
      <p:sp>
        <p:nvSpPr>
          <p:cNvPr id="17" name="Shape 15"/>
          <p:cNvSpPr/>
          <p:nvPr/>
        </p:nvSpPr>
        <p:spPr>
          <a:xfrm>
            <a:off x="566928" y="4153571"/>
            <a:ext cx="5323180" cy="1968155"/>
          </a:xfrm>
          <a:prstGeom prst="roundRect">
            <a:avLst>
              <a:gd name="adj" fmla="val 3252"/>
            </a:avLst>
          </a:prstGeom>
          <a:solidFill>
            <a:srgbClr val="EDF2F7"/>
          </a:solidFill>
          <a:ln w="12700">
            <a:solidFill>
              <a:srgbClr val="CFDBE5"/>
            </a:solidFill>
            <a:prstDash val="solid"/>
          </a:ln>
        </p:spPr>
      </p:sp>
      <p:sp>
        <p:nvSpPr>
          <p:cNvPr id="18" name="Text 16"/>
          <p:cNvSpPr txBox="1"/>
          <p:nvPr/>
        </p:nvSpPr>
        <p:spPr>
          <a:xfrm>
            <a:off x="713232" y="4199291"/>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TYPICAL USE — CHOOSING PART OF A MESSAGE</a:t>
            </a:r>
            <a:endParaRPr lang="en-US" sz="950" dirty="0"/>
          </a:p>
        </p:txBody>
      </p:sp>
      <p:sp>
        <p:nvSpPr>
          <p:cNvPr id="19" name="Text 17"/>
          <p:cNvSpPr txBox="1"/>
          <p:nvPr/>
        </p:nvSpPr>
        <p:spPr>
          <a:xfrm>
            <a:off x="731520" y="4427891"/>
            <a:ext cx="4993996" cy="1638971"/>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 is even"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else</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 is odd"</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 is even"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 is odd"</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20" name="Text 18"/>
          <p:cNvSpPr txBox="1"/>
          <p:nvPr/>
        </p:nvSpPr>
        <p:spPr>
          <a:xfrm>
            <a:off x="566928" y="6176589"/>
            <a:ext cx="5323180" cy="256032"/>
          </a:xfrm>
          <a:prstGeom prst="rect">
            <a:avLst/>
          </a:prstGeom>
          <a:noFill/>
          <a:ln/>
        </p:spPr>
        <p:txBody>
          <a:bodyPr wrap="square" lIns="0" tIns="0" rIns="0" bIns="0" rtlCol="0" anchor="ctr"/>
          <a:lstStyle/>
          <a:p>
            <a:pPr indent="0" marL="0">
              <a:buNone/>
            </a:pPr>
            <a:r>
              <a:rPr lang="en-US" sz="1150" i="1" dirty="0">
                <a:solidFill>
                  <a:srgbClr val="9A430A"/>
                </a:solidFill>
                <a:latin typeface="Calibri" pitchFamily="34" charset="0"/>
                <a:ea typeface="Calibri" pitchFamily="34" charset="-122"/>
                <a:cs typeface="Calibri" pitchFamily="34" charset="-120"/>
              </a:rPr>
              <a:t>Both forms print  7 is odd  when num is 7.</a:t>
            </a:r>
            <a:endParaRPr lang="en-US" sz="1150" dirty="0"/>
          </a:p>
        </p:txBody>
      </p:sp>
      <p:sp>
        <p:nvSpPr>
          <p:cNvPr id="21" name="Shape 19"/>
          <p:cNvSpPr/>
          <p:nvPr/>
        </p:nvSpPr>
        <p:spPr>
          <a:xfrm>
            <a:off x="6301588" y="4153571"/>
            <a:ext cx="5323180" cy="1051560"/>
          </a:xfrm>
          <a:prstGeom prst="roundRect">
            <a:avLst>
              <a:gd name="adj" fmla="val 7826"/>
            </a:avLst>
          </a:prstGeom>
          <a:solidFill>
            <a:srgbClr val="E6F2EC"/>
          </a:solidFill>
          <a:ln w="12700">
            <a:solidFill>
              <a:srgbClr val="E6F2EC"/>
            </a:solidFill>
            <a:prstDash val="solid"/>
          </a:ln>
        </p:spPr>
      </p:sp>
      <p:sp>
        <p:nvSpPr>
          <p:cNvPr id="22" name="Text 20"/>
          <p:cNvSpPr txBox="1"/>
          <p:nvPr/>
        </p:nvSpPr>
        <p:spPr>
          <a:xfrm>
            <a:off x="6521044" y="4318163"/>
            <a:ext cx="4884268" cy="310896"/>
          </a:xfrm>
          <a:prstGeom prst="rect">
            <a:avLst/>
          </a:prstGeom>
          <a:noFill/>
          <a:ln/>
        </p:spPr>
        <p:txBody>
          <a:bodyPr wrap="square" lIns="0" tIns="0" rIns="0" bIns="0" rtlCol="0" anchor="t"/>
          <a:lstStyle/>
          <a:p>
            <a:pPr indent="0" marL="0">
              <a:buNone/>
            </a:pPr>
            <a:r>
              <a:rPr lang="en-US" sz="1400" b="1" dirty="0">
                <a:solidFill>
                  <a:srgbClr val="0F2942"/>
                </a:solidFill>
                <a:latin typeface="Calibri" pitchFamily="34" charset="0"/>
                <a:ea typeface="Calibri" pitchFamily="34" charset="-122"/>
                <a:cs typeface="Calibri" pitchFamily="34" charset="-120"/>
              </a:rPr>
              <a:t>Use it when both branches produce a value</a:t>
            </a:r>
            <a:endParaRPr lang="en-US" sz="1400" dirty="0"/>
          </a:p>
        </p:txBody>
      </p:sp>
      <p:sp>
        <p:nvSpPr>
          <p:cNvPr id="23" name="Text 21"/>
          <p:cNvSpPr txBox="1"/>
          <p:nvPr/>
        </p:nvSpPr>
        <p:spPr>
          <a:xfrm>
            <a:off x="6521044" y="4647347"/>
            <a:ext cx="4884268" cy="42976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Assigning to one variable, or picking a word inside a println. Shorter, and the intent is obvious.</a:t>
            </a:r>
            <a:endParaRPr lang="en-US" sz="1200" dirty="0"/>
          </a:p>
        </p:txBody>
      </p:sp>
      <p:sp>
        <p:nvSpPr>
          <p:cNvPr id="24" name="Shape 22"/>
          <p:cNvSpPr/>
          <p:nvPr/>
        </p:nvSpPr>
        <p:spPr>
          <a:xfrm>
            <a:off x="6301588" y="5314859"/>
            <a:ext cx="5323180" cy="1051560"/>
          </a:xfrm>
          <a:prstGeom prst="roundRect">
            <a:avLst>
              <a:gd name="adj" fmla="val 7826"/>
            </a:avLst>
          </a:prstGeom>
          <a:solidFill>
            <a:srgbClr val="FBEAE8"/>
          </a:solidFill>
          <a:ln w="12700">
            <a:solidFill>
              <a:srgbClr val="FBEAE8"/>
            </a:solidFill>
            <a:prstDash val="solid"/>
          </a:ln>
        </p:spPr>
      </p:sp>
      <p:sp>
        <p:nvSpPr>
          <p:cNvPr id="25" name="Text 23"/>
          <p:cNvSpPr txBox="1"/>
          <p:nvPr/>
        </p:nvSpPr>
        <p:spPr>
          <a:xfrm>
            <a:off x="6521044" y="5479451"/>
            <a:ext cx="4884268" cy="310896"/>
          </a:xfrm>
          <a:prstGeom prst="rect">
            <a:avLst/>
          </a:prstGeom>
          <a:noFill/>
          <a:ln/>
        </p:spPr>
        <p:txBody>
          <a:bodyPr wrap="square" lIns="0" tIns="0" rIns="0" bIns="0" rtlCol="0" anchor="t"/>
          <a:lstStyle/>
          <a:p>
            <a:pPr indent="0" marL="0">
              <a:buNone/>
            </a:pPr>
            <a:r>
              <a:rPr lang="en-US" sz="1400" b="1" dirty="0">
                <a:solidFill>
                  <a:srgbClr val="9C241C"/>
                </a:solidFill>
                <a:latin typeface="Calibri" pitchFamily="34" charset="0"/>
                <a:ea typeface="Calibri" pitchFamily="34" charset="-122"/>
                <a:cs typeface="Calibri" pitchFamily="34" charset="-120"/>
              </a:rPr>
              <a:t>Do not use it when the branches do things</a:t>
            </a:r>
            <a:endParaRPr lang="en-US" sz="1400" dirty="0"/>
          </a:p>
        </p:txBody>
      </p:sp>
      <p:sp>
        <p:nvSpPr>
          <p:cNvPr id="26" name="Text 24"/>
          <p:cNvSpPr txBox="1"/>
          <p:nvPr/>
        </p:nvSpPr>
        <p:spPr>
          <a:xfrm>
            <a:off x="6521044" y="5808635"/>
            <a:ext cx="4884268" cy="42976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If a branch prints, has side effects, or needs two statements, write if-else. Never nest one inside another.</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REFERENCE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Operator Precedence and Associativity</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Brackets first. Then this table, top to bottom. Then associativity decides ties.</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31</a:t>
            </a:r>
            <a:endParaRPr lang="en-US" sz="9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5029200" cy="914400"/>
        </p:xfrm>
        <a:graphic>
          <a:graphicData uri="http://schemas.openxmlformats.org/drawingml/2006/table">
            <a:tbl>
              <a:tblPr/>
              <a:tblGrid>
                <a:gridCol w="3218688"/>
                <a:gridCol w="1810512"/>
              </a:tblGrid>
              <a:tr h="274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Operators — highest precedence first</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Group</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274320">
                <a:tc>
                  <a:txBody>
                    <a:bodyPr/>
                    <a:lstStyle/>
                    <a:p>
                      <a:pPr indent="0" marL="0">
                        <a:buNone/>
                      </a:pPr>
                      <a:r>
                        <a:rPr lang="en-US" sz="1050" b="1" dirty="0">
                          <a:solidFill>
                            <a:srgbClr val="0F2942"/>
                          </a:solidFill>
                          <a:latin typeface="Courier New" pitchFamily="34" charset="0"/>
                          <a:ea typeface="Courier New" pitchFamily="34" charset="-122"/>
                          <a:cs typeface="Courier New" pitchFamily="34" charset="-120"/>
                        </a:rPr>
                        <a:t>var++, var--</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050" dirty="0">
                          <a:solidFill>
                            <a:srgbClr val="4B6377"/>
                          </a:solidFill>
                          <a:latin typeface="Calibri" pitchFamily="34" charset="0"/>
                          <a:ea typeface="Calibri" pitchFamily="34" charset="-122"/>
                          <a:cs typeface="Calibri" pitchFamily="34" charset="-120"/>
                        </a:rPr>
                        <a:t>postfix</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274320">
                <a:tc>
                  <a:txBody>
                    <a:bodyPr/>
                    <a:lstStyle/>
                    <a:p>
                      <a:pPr indent="0" marL="0">
                        <a:buNone/>
                      </a:pPr>
                      <a:r>
                        <a:rPr lang="en-US" sz="1050" b="1" dirty="0">
                          <a:solidFill>
                            <a:srgbClr val="0F2942"/>
                          </a:solidFill>
                          <a:latin typeface="Courier New" pitchFamily="34" charset="0"/>
                          <a:ea typeface="Courier New" pitchFamily="34" charset="-122"/>
                          <a:cs typeface="Courier New" pitchFamily="34" charset="-120"/>
                        </a:rPr>
                        <a:t>+, − (unary), ++var, --var, ! (not)</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050" dirty="0">
                          <a:solidFill>
                            <a:srgbClr val="4B6377"/>
                          </a:solidFill>
                          <a:latin typeface="Calibri" pitchFamily="34" charset="0"/>
                          <a:ea typeface="Calibri" pitchFamily="34" charset="-122"/>
                          <a:cs typeface="Calibri" pitchFamily="34" charset="-120"/>
                        </a:rPr>
                        <a:t>unary</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0F2942"/>
                          </a:solidFill>
                          <a:latin typeface="Courier New" pitchFamily="34" charset="0"/>
                          <a:ea typeface="Courier New" pitchFamily="34" charset="-122"/>
                          <a:cs typeface="Courier New" pitchFamily="34" charset="-120"/>
                        </a:rPr>
                        <a:t>(type) casting</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050" dirty="0">
                          <a:solidFill>
                            <a:srgbClr val="4B6377"/>
                          </a:solidFill>
                          <a:latin typeface="Calibri" pitchFamily="34" charset="0"/>
                          <a:ea typeface="Calibri" pitchFamily="34" charset="-122"/>
                          <a:cs typeface="Calibri" pitchFamily="34" charset="-120"/>
                        </a:rPr>
                        <a:t>unary</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274320">
                <a:tc>
                  <a:txBody>
                    <a:bodyPr/>
                    <a:lstStyle/>
                    <a:p>
                      <a:pPr indent="0" marL="0">
                        <a:buNone/>
                      </a:pPr>
                      <a:r>
                        <a:rPr lang="en-US" sz="1050" b="1" dirty="0">
                          <a:solidFill>
                            <a:srgbClr val="0F2942"/>
                          </a:solidFill>
                          <a:latin typeface="Courier New" pitchFamily="34" charset="0"/>
                          <a:ea typeface="Courier New" pitchFamily="34" charset="-122"/>
                          <a:cs typeface="Courier New" pitchFamily="34" charset="-120"/>
                        </a:rPr>
                        <a:t>*, /, %</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050" dirty="0">
                          <a:solidFill>
                            <a:srgbClr val="4B6377"/>
                          </a:solidFill>
                          <a:latin typeface="Calibri" pitchFamily="34" charset="0"/>
                          <a:ea typeface="Calibri" pitchFamily="34" charset="-122"/>
                          <a:cs typeface="Calibri" pitchFamily="34" charset="-120"/>
                        </a:rPr>
                        <a:t>multiplicative</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0F2942"/>
                          </a:solidFill>
                          <a:latin typeface="Courier New" pitchFamily="34" charset="0"/>
                          <a:ea typeface="Courier New" pitchFamily="34" charset="-122"/>
                          <a:cs typeface="Courier New" pitchFamily="34" charset="-120"/>
                        </a:rPr>
                        <a:t>+, − (binary)</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050" dirty="0">
                          <a:solidFill>
                            <a:srgbClr val="4B6377"/>
                          </a:solidFill>
                          <a:latin typeface="Calibri" pitchFamily="34" charset="0"/>
                          <a:ea typeface="Calibri" pitchFamily="34" charset="-122"/>
                          <a:cs typeface="Calibri" pitchFamily="34" charset="-120"/>
                        </a:rPr>
                        <a:t>additive</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274320">
                <a:tc>
                  <a:txBody>
                    <a:bodyPr/>
                    <a:lstStyle/>
                    <a:p>
                      <a:pPr indent="0" marL="0">
                        <a:buNone/>
                      </a:pPr>
                      <a:r>
                        <a:rPr lang="en-US" sz="1050" b="1" dirty="0">
                          <a:solidFill>
                            <a:srgbClr val="0F2942"/>
                          </a:solidFill>
                          <a:latin typeface="Courier New" pitchFamily="34" charset="0"/>
                          <a:ea typeface="Courier New" pitchFamily="34" charset="-122"/>
                          <a:cs typeface="Courier New" pitchFamily="34" charset="-120"/>
                        </a:rPr>
                        <a:t>&lt;, &lt;=, &gt;, &gt;=</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050" dirty="0">
                          <a:solidFill>
                            <a:srgbClr val="4B6377"/>
                          </a:solidFill>
                          <a:latin typeface="Calibri" pitchFamily="34" charset="0"/>
                          <a:ea typeface="Calibri" pitchFamily="34" charset="-122"/>
                          <a:cs typeface="Calibri" pitchFamily="34" charset="-120"/>
                        </a:rPr>
                        <a:t>relational</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0F2942"/>
                          </a:solidFill>
                          <a:latin typeface="Courier New" pitchFamily="34" charset="0"/>
                          <a:ea typeface="Courier New" pitchFamily="34" charset="-122"/>
                          <a:cs typeface="Courier New" pitchFamily="34" charset="-120"/>
                        </a:rPr>
                        <a:t>==, !=</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050" dirty="0">
                          <a:solidFill>
                            <a:srgbClr val="4B6377"/>
                          </a:solidFill>
                          <a:latin typeface="Calibri" pitchFamily="34" charset="0"/>
                          <a:ea typeface="Calibri" pitchFamily="34" charset="-122"/>
                          <a:cs typeface="Calibri" pitchFamily="34" charset="-120"/>
                        </a:rPr>
                        <a:t>equality</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274320">
                <a:tc>
                  <a:txBody>
                    <a:bodyPr/>
                    <a:lstStyle/>
                    <a:p>
                      <a:pPr indent="0" marL="0">
                        <a:buNone/>
                      </a:pPr>
                      <a:r>
                        <a:rPr lang="en-US" sz="1050" b="1" dirty="0">
                          <a:solidFill>
                            <a:srgbClr val="0F2942"/>
                          </a:solidFill>
                          <a:latin typeface="Courier New" pitchFamily="34" charset="0"/>
                          <a:ea typeface="Courier New" pitchFamily="34" charset="-122"/>
                          <a:cs typeface="Courier New" pitchFamily="34" charset="-120"/>
                        </a:rPr>
                        <a:t>&amp;</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050" dirty="0">
                          <a:solidFill>
                            <a:srgbClr val="4B6377"/>
                          </a:solidFill>
                          <a:latin typeface="Calibri" pitchFamily="34" charset="0"/>
                          <a:ea typeface="Calibri" pitchFamily="34" charset="-122"/>
                          <a:cs typeface="Calibri" pitchFamily="34" charset="-120"/>
                        </a:rPr>
                        <a:t>boolean / bitwise and</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0F2942"/>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050" dirty="0">
                          <a:solidFill>
                            <a:srgbClr val="4B6377"/>
                          </a:solidFill>
                          <a:latin typeface="Calibri" pitchFamily="34" charset="0"/>
                          <a:ea typeface="Calibri" pitchFamily="34" charset="-122"/>
                          <a:cs typeface="Calibri" pitchFamily="34" charset="-120"/>
                        </a:rPr>
                        <a:t>exclusive or</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274320">
                <a:tc>
                  <a:txBody>
                    <a:bodyPr/>
                    <a:lstStyle/>
                    <a:p>
                      <a:pPr indent="0" marL="0">
                        <a:buNone/>
                      </a:pPr>
                      <a:r>
                        <a:rPr lang="en-US" sz="1050" b="1" dirty="0">
                          <a:solidFill>
                            <a:srgbClr val="0F2942"/>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050" dirty="0">
                          <a:solidFill>
                            <a:srgbClr val="4B6377"/>
                          </a:solidFill>
                          <a:latin typeface="Calibri" pitchFamily="34" charset="0"/>
                          <a:ea typeface="Calibri" pitchFamily="34" charset="-122"/>
                          <a:cs typeface="Calibri" pitchFamily="34" charset="-120"/>
                        </a:rPr>
                        <a:t>boolean / bitwise or</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0F2942"/>
                          </a:solidFill>
                          <a:latin typeface="Courier New" pitchFamily="34" charset="0"/>
                          <a:ea typeface="Courier New" pitchFamily="34" charset="-122"/>
                          <a:cs typeface="Courier New" pitchFamily="34" charset="-120"/>
                        </a:rPr>
                        <a:t>&amp;&amp;</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050" dirty="0">
                          <a:solidFill>
                            <a:srgbClr val="4B6377"/>
                          </a:solidFill>
                          <a:latin typeface="Calibri" pitchFamily="34" charset="0"/>
                          <a:ea typeface="Calibri" pitchFamily="34" charset="-122"/>
                          <a:cs typeface="Calibri" pitchFamily="34" charset="-120"/>
                        </a:rPr>
                        <a:t>conditional and</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274320">
                <a:tc>
                  <a:txBody>
                    <a:bodyPr/>
                    <a:lstStyle/>
                    <a:p>
                      <a:pPr indent="0" marL="0">
                        <a:buNone/>
                      </a:pPr>
                      <a:r>
                        <a:rPr lang="en-US" sz="1050" b="1" dirty="0">
                          <a:solidFill>
                            <a:srgbClr val="0F2942"/>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050" dirty="0">
                          <a:solidFill>
                            <a:srgbClr val="4B6377"/>
                          </a:solidFill>
                          <a:latin typeface="Calibri" pitchFamily="34" charset="0"/>
                          <a:ea typeface="Calibri" pitchFamily="34" charset="-122"/>
                          <a:cs typeface="Calibri" pitchFamily="34" charset="-120"/>
                        </a:rPr>
                        <a:t>conditional or</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0F2942"/>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050" dirty="0">
                          <a:solidFill>
                            <a:srgbClr val="4B6377"/>
                          </a:solidFill>
                          <a:latin typeface="Calibri" pitchFamily="34" charset="0"/>
                          <a:ea typeface="Calibri" pitchFamily="34" charset="-122"/>
                          <a:cs typeface="Calibri" pitchFamily="34" charset="-120"/>
                        </a:rPr>
                        <a:t>conditional</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274320">
                <a:tc>
                  <a:txBody>
                    <a:bodyPr/>
                    <a:lstStyle/>
                    <a:p>
                      <a:pPr indent="0" marL="0">
                        <a:buNone/>
                      </a:pPr>
                      <a:r>
                        <a:rPr lang="en-US" sz="1050" b="1" dirty="0">
                          <a:solidFill>
                            <a:srgbClr val="0F2942"/>
                          </a:solidFill>
                          <a:latin typeface="Courier New" pitchFamily="34" charset="0"/>
                          <a:ea typeface="Courier New" pitchFamily="34" charset="-122"/>
                          <a:cs typeface="Courier New" pitchFamily="34" charset="-120"/>
                        </a:rPr>
                        <a:t>=, +=, −=, *=, /=, %=</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050" dirty="0">
                          <a:solidFill>
                            <a:srgbClr val="4B6377"/>
                          </a:solidFill>
                          <a:latin typeface="Calibri" pitchFamily="34" charset="0"/>
                          <a:ea typeface="Calibri" pitchFamily="34" charset="-122"/>
                          <a:cs typeface="Calibri" pitchFamily="34" charset="-120"/>
                        </a:rPr>
                        <a:t>assignment</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bl>
          </a:graphicData>
        </a:graphic>
      </p:graphicFrame>
      <p:sp>
        <p:nvSpPr>
          <p:cNvPr id="8" name="Shape 5"/>
          <p:cNvSpPr/>
          <p:nvPr/>
        </p:nvSpPr>
        <p:spPr>
          <a:xfrm>
            <a:off x="6053328" y="1536192"/>
            <a:ext cx="5571439" cy="1234440"/>
          </a:xfrm>
          <a:prstGeom prst="roundRect">
            <a:avLst>
              <a:gd name="adj" fmla="val 6667"/>
            </a:avLst>
          </a:prstGeom>
          <a:solidFill>
            <a:srgbClr val="E4ECF4"/>
          </a:solidFill>
          <a:ln w="12700">
            <a:solidFill>
              <a:srgbClr val="E4ECF4"/>
            </a:solidFill>
            <a:prstDash val="solid"/>
          </a:ln>
        </p:spPr>
      </p:sp>
      <p:sp>
        <p:nvSpPr>
          <p:cNvPr id="9" name="Text 6"/>
          <p:cNvSpPr txBox="1"/>
          <p:nvPr/>
        </p:nvSpPr>
        <p:spPr>
          <a:xfrm>
            <a:off x="6272784" y="1700784"/>
            <a:ext cx="513252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Associativity — which way ties are broken</a:t>
            </a:r>
            <a:endParaRPr lang="en-US" sz="1450" dirty="0"/>
          </a:p>
        </p:txBody>
      </p:sp>
      <p:sp>
        <p:nvSpPr>
          <p:cNvPr id="10" name="Text 7"/>
          <p:cNvSpPr txBox="1"/>
          <p:nvPr/>
        </p:nvSpPr>
        <p:spPr>
          <a:xfrm>
            <a:off x="6272784" y="2029968"/>
            <a:ext cx="5132527" cy="61264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All binary operators except assignment are left-associative: a − b + c − d means ((a − b) + c) − d. Assignment is right-associative: a = b += c = 5 means a = (b += (c = 5)).</a:t>
            </a:r>
            <a:endParaRPr lang="en-US" sz="1200" dirty="0"/>
          </a:p>
        </p:txBody>
      </p:sp>
      <p:sp>
        <p:nvSpPr>
          <p:cNvPr id="11" name="Shape 8"/>
          <p:cNvSpPr/>
          <p:nvPr/>
        </p:nvSpPr>
        <p:spPr>
          <a:xfrm>
            <a:off x="6053328" y="2953512"/>
            <a:ext cx="5571439" cy="2258934"/>
          </a:xfrm>
          <a:prstGeom prst="roundRect">
            <a:avLst>
              <a:gd name="adj" fmla="val 2834"/>
            </a:avLst>
          </a:prstGeom>
          <a:solidFill>
            <a:srgbClr val="EDF2F7"/>
          </a:solidFill>
          <a:ln w="12700">
            <a:solidFill>
              <a:srgbClr val="CFDBE5"/>
            </a:solidFill>
            <a:prstDash val="solid"/>
          </a:ln>
        </p:spPr>
      </p:sp>
      <p:sp>
        <p:nvSpPr>
          <p:cNvPr id="12" name="Text 9"/>
          <p:cNvSpPr txBox="1"/>
          <p:nvPr/>
        </p:nvSpPr>
        <p:spPr>
          <a:xfrm>
            <a:off x="6199632" y="2999232"/>
            <a:ext cx="527883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WORKED EVALUATION</a:t>
            </a:r>
            <a:endParaRPr lang="en-US" sz="950" dirty="0"/>
          </a:p>
        </p:txBody>
      </p:sp>
      <p:sp>
        <p:nvSpPr>
          <p:cNvPr id="13" name="Text 10"/>
          <p:cNvSpPr txBox="1"/>
          <p:nvPr/>
        </p:nvSpPr>
        <p:spPr>
          <a:xfrm>
            <a:off x="6217920" y="3227832"/>
            <a:ext cx="5242255" cy="1929750"/>
          </a:xfrm>
          <a:prstGeom prst="rect">
            <a:avLst/>
          </a:prstGeom>
          <a:noFill/>
          <a:ln/>
        </p:spPr>
        <p:txBody>
          <a:bodyPr wrap="square" lIns="0" tIns="0" rIns="0" bIns="0" rtlCol="0" anchor="t"/>
          <a:lstStyle/>
          <a:p>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7</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brackets</a:t>
            </a:r>
            <a:endParaRPr lang="en-US" sz="1150" dirty="0"/>
          </a:p>
          <a:p>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16</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7</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16</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35</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19</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35</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19</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34</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false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6</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&gt;</a:t>
            </a:r>
            <a:endParaRPr lang="en-US" sz="1150" dirty="0"/>
          </a:p>
        </p:txBody>
      </p:sp>
      <p:sp>
        <p:nvSpPr>
          <p:cNvPr id="14" name="Shape 11"/>
          <p:cNvSpPr/>
          <p:nvPr/>
        </p:nvSpPr>
        <p:spPr>
          <a:xfrm>
            <a:off x="6053328" y="5431902"/>
            <a:ext cx="5571439" cy="868680"/>
          </a:xfrm>
          <a:prstGeom prst="roundRect">
            <a:avLst>
              <a:gd name="adj" fmla="val 9474"/>
            </a:avLst>
          </a:prstGeom>
          <a:solidFill>
            <a:srgbClr val="FBEEE0"/>
          </a:solidFill>
          <a:ln w="12700">
            <a:solidFill>
              <a:srgbClr val="FBEEE0"/>
            </a:solidFill>
            <a:prstDash val="solid"/>
          </a:ln>
        </p:spPr>
      </p:sp>
      <p:sp>
        <p:nvSpPr>
          <p:cNvPr id="15" name="Text 12"/>
          <p:cNvSpPr txBox="1"/>
          <p:nvPr/>
        </p:nvSpPr>
        <p:spPr>
          <a:xfrm>
            <a:off x="6327648" y="5431902"/>
            <a:ext cx="5022799" cy="868680"/>
          </a:xfrm>
          <a:prstGeom prst="rect">
            <a:avLst/>
          </a:prstGeom>
          <a:noFill/>
          <a:ln/>
        </p:spPr>
        <p:txBody>
          <a:bodyPr wrap="square" lIns="0" tIns="0" rIns="0" bIns="0" rtlCol="0" anchor="ctr"/>
          <a:lstStyle/>
          <a:p>
            <a:pPr indent="0" marL="0">
              <a:lnSpc>
                <a:spcPct val="110000"/>
              </a:lnSpc>
              <a:buNone/>
            </a:pPr>
            <a:r>
              <a:rPr lang="en-US" sz="1200" b="1" dirty="0">
                <a:solidFill>
                  <a:srgbClr val="9A430A"/>
                </a:solidFill>
                <a:latin typeface="Calibri" pitchFamily="34" charset="0"/>
                <a:ea typeface="Calibri" pitchFamily="34" charset="-122"/>
                <a:cs typeface="Calibri" pitchFamily="34" charset="-120"/>
              </a:rPr>
              <a:t>The rule that covers almost everything:  </a:t>
            </a:r>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arithmetic binds tighter than comparison, and comparison tighter than the logical operators.</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CF1E5"/>
        </a:solidFill>
      </p:bgPr>
    </p:bg>
    <p:spTree>
      <p:nvGrpSpPr>
        <p:cNvPr id="1" name=""/>
        <p:cNvGrpSpPr/>
        <p:nvPr/>
      </p:nvGrpSpPr>
      <p:grpSpPr>
        <a:xfrm>
          <a:off x="0" y="0"/>
          <a:ext cx="0" cy="0"/>
          <a:chOff x="0" y="0"/>
          <a:chExt cx="0" cy="0"/>
        </a:xfrm>
      </p:grpSpPr>
      <p:sp>
        <p:nvSpPr>
          <p:cNvPr id="2" name="Text 0"/>
          <p:cNvSpPr txBox="1"/>
          <p:nvPr/>
        </p:nvSpPr>
        <p:spPr>
          <a:xfrm>
            <a:off x="566928" y="566928"/>
            <a:ext cx="5486400" cy="274320"/>
          </a:xfrm>
          <a:prstGeom prst="rect">
            <a:avLst/>
          </a:prstGeom>
          <a:noFill/>
          <a:ln/>
        </p:spPr>
        <p:txBody>
          <a:bodyPr wrap="square" lIns="0" tIns="0" rIns="0" bIns="0" rtlCol="0" anchor="ctr"/>
          <a:lstStyle/>
          <a:p>
            <a:pPr indent="0" marL="0">
              <a:buNone/>
            </a:pPr>
            <a:r>
              <a:rPr lang="en-US" sz="1200" b="1" spc="200" kern="0" dirty="0">
                <a:solidFill>
                  <a:srgbClr val="9A430A"/>
                </a:solidFill>
                <a:latin typeface="Calibri" pitchFamily="34" charset="0"/>
                <a:ea typeface="Calibri" pitchFamily="34" charset="-122"/>
                <a:cs typeface="Calibri" pitchFamily="34" charset="-120"/>
              </a:rPr>
              <a:t>CHECKPOINT 4</a:t>
            </a:r>
            <a:endParaRPr lang="en-US" sz="1200" dirty="0"/>
          </a:p>
        </p:txBody>
      </p:sp>
      <p:sp>
        <p:nvSpPr>
          <p:cNvPr id="3" name="Text 1"/>
          <p:cNvSpPr txBox="1"/>
          <p:nvPr/>
        </p:nvSpPr>
        <p:spPr>
          <a:xfrm>
            <a:off x="566928" y="841248"/>
            <a:ext cx="7315200" cy="566928"/>
          </a:xfrm>
          <a:prstGeom prst="rect">
            <a:avLst/>
          </a:prstGeom>
          <a:noFill/>
          <a:ln/>
        </p:spPr>
        <p:txBody>
          <a:bodyPr wrap="square" lIns="0" tIns="0" rIns="0" bIns="0" rtlCol="0" anchor="ctr"/>
          <a:lstStyle/>
          <a:p>
            <a:pPr indent="0" marL="0">
              <a:buNone/>
            </a:pPr>
            <a:r>
              <a:rPr lang="en-US" sz="3400" b="1" dirty="0">
                <a:solidFill>
                  <a:srgbClr val="0F2942"/>
                </a:solidFill>
                <a:latin typeface="Cambria" pitchFamily="34" charset="0"/>
                <a:ea typeface="Cambria" pitchFamily="34" charset="-122"/>
                <a:cs typeface="Cambria" pitchFamily="34" charset="-120"/>
              </a:rPr>
              <a:t>Over to You</a:t>
            </a:r>
            <a:endParaRPr lang="en-US" sz="3400" dirty="0"/>
          </a:p>
        </p:txBody>
      </p:sp>
      <p:sp>
        <p:nvSpPr>
          <p:cNvPr id="4" name="Text 2"/>
          <p:cNvSpPr txBox="1"/>
          <p:nvPr/>
        </p:nvSpPr>
        <p:spPr>
          <a:xfrm>
            <a:off x="6687007" y="960120"/>
            <a:ext cx="4937760" cy="365760"/>
          </a:xfrm>
          <a:prstGeom prst="rect">
            <a:avLst/>
          </a:prstGeom>
          <a:noFill/>
          <a:ln/>
        </p:spPr>
        <p:txBody>
          <a:bodyPr wrap="square" lIns="0" tIns="0" rIns="0" bIns="0" rtlCol="0" anchor="ctr"/>
          <a:lstStyle/>
          <a:p>
            <a:pPr algn="r" indent="0" marL="0">
              <a:buNone/>
            </a:pPr>
            <a:r>
              <a:rPr lang="en-US" sz="1250" dirty="0">
                <a:solidFill>
                  <a:srgbClr val="4B6377"/>
                </a:solidFill>
                <a:latin typeface="Calibri" pitchFamily="34" charset="0"/>
                <a:ea typeface="Calibri" pitchFamily="34" charset="-122"/>
                <a:cs typeface="Calibri" pitchFamily="34" charset="-120"/>
              </a:rPr>
              <a:t>Covering slides 26–31</a:t>
            </a:r>
            <a:endParaRPr lang="en-US" sz="1250" dirty="0"/>
          </a:p>
        </p:txBody>
      </p:sp>
      <p:sp>
        <p:nvSpPr>
          <p:cNvPr id="5" name="Shape 3"/>
          <p:cNvSpPr/>
          <p:nvPr/>
        </p:nvSpPr>
        <p:spPr>
          <a:xfrm>
            <a:off x="566928" y="1481328"/>
            <a:ext cx="11057839" cy="960120"/>
          </a:xfrm>
          <a:prstGeom prst="roundRect">
            <a:avLst>
              <a:gd name="adj" fmla="val 8571"/>
            </a:avLst>
          </a:prstGeom>
          <a:solidFill>
            <a:srgbClr val="FFFFFF"/>
          </a:solidFill>
          <a:ln w="12700">
            <a:solidFill>
              <a:srgbClr val="D3DEE7"/>
            </a:solidFill>
            <a:prstDash val="solid"/>
          </a:ln>
        </p:spPr>
      </p:sp>
      <p:sp>
        <p:nvSpPr>
          <p:cNvPr id="6" name="Shape 4"/>
          <p:cNvSpPr/>
          <p:nvPr/>
        </p:nvSpPr>
        <p:spPr>
          <a:xfrm>
            <a:off x="841248" y="1719072"/>
            <a:ext cx="402336" cy="402336"/>
          </a:xfrm>
          <a:prstGeom prst="ellipse">
            <a:avLst/>
          </a:prstGeom>
          <a:solidFill>
            <a:srgbClr val="C4560C"/>
          </a:solidFill>
          <a:ln w="12700">
            <a:solidFill>
              <a:srgbClr val="C4560C"/>
            </a:solidFill>
            <a:prstDash val="solid"/>
          </a:ln>
        </p:spPr>
      </p:sp>
      <p:sp>
        <p:nvSpPr>
          <p:cNvPr id="7" name="Text 5"/>
          <p:cNvSpPr txBox="1"/>
          <p:nvPr/>
        </p:nvSpPr>
        <p:spPr>
          <a:xfrm>
            <a:off x="841248" y="171907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8" name="Text 6"/>
          <p:cNvSpPr txBox="1"/>
          <p:nvPr/>
        </p:nvSpPr>
        <p:spPr>
          <a:xfrm>
            <a:off x="1435608" y="1645920"/>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Last year's slide said a switch selector must be char, byte, short or int. What else is legal?</a:t>
            </a:r>
            <a:endParaRPr lang="en-US" sz="1550" dirty="0"/>
          </a:p>
        </p:txBody>
      </p:sp>
      <p:sp>
        <p:nvSpPr>
          <p:cNvPr id="9" name="Shape 7"/>
          <p:cNvSpPr/>
          <p:nvPr/>
        </p:nvSpPr>
        <p:spPr>
          <a:xfrm>
            <a:off x="566928" y="2660904"/>
            <a:ext cx="11057839" cy="2343424"/>
          </a:xfrm>
          <a:prstGeom prst="roundRect">
            <a:avLst>
              <a:gd name="adj" fmla="val 3512"/>
            </a:avLst>
          </a:prstGeom>
          <a:solidFill>
            <a:srgbClr val="FFFFFF"/>
          </a:solidFill>
          <a:ln w="12700">
            <a:solidFill>
              <a:srgbClr val="D3DEE7"/>
            </a:solidFill>
            <a:prstDash val="solid"/>
          </a:ln>
        </p:spPr>
      </p:sp>
      <p:sp>
        <p:nvSpPr>
          <p:cNvPr id="10" name="Shape 8"/>
          <p:cNvSpPr/>
          <p:nvPr/>
        </p:nvSpPr>
        <p:spPr>
          <a:xfrm>
            <a:off x="841248" y="2898648"/>
            <a:ext cx="402336" cy="402336"/>
          </a:xfrm>
          <a:prstGeom prst="ellipse">
            <a:avLst/>
          </a:prstGeom>
          <a:solidFill>
            <a:srgbClr val="C4560C"/>
          </a:solidFill>
          <a:ln w="12700">
            <a:solidFill>
              <a:srgbClr val="C4560C"/>
            </a:solidFill>
            <a:prstDash val="solid"/>
          </a:ln>
        </p:spPr>
      </p:sp>
      <p:sp>
        <p:nvSpPr>
          <p:cNvPr id="11" name="Text 9"/>
          <p:cNvSpPr txBox="1"/>
          <p:nvPr/>
        </p:nvSpPr>
        <p:spPr>
          <a:xfrm>
            <a:off x="841248" y="289864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2" name="Text 10"/>
          <p:cNvSpPr txBox="1"/>
          <p:nvPr/>
        </p:nvSpPr>
        <p:spPr>
          <a:xfrm>
            <a:off x="1435608" y="2825496"/>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With day = 2, what does this print — and what single keyword would change the answer?</a:t>
            </a:r>
            <a:endParaRPr lang="en-US" sz="1550" dirty="0"/>
          </a:p>
        </p:txBody>
      </p:sp>
      <p:sp>
        <p:nvSpPr>
          <p:cNvPr id="13" name="Shape 11"/>
          <p:cNvSpPr/>
          <p:nvPr/>
        </p:nvSpPr>
        <p:spPr>
          <a:xfrm>
            <a:off x="1435608" y="3300984"/>
            <a:ext cx="6949440" cy="1182136"/>
          </a:xfrm>
          <a:prstGeom prst="roundRect">
            <a:avLst>
              <a:gd name="adj" fmla="val 5415"/>
            </a:avLst>
          </a:prstGeom>
          <a:solidFill>
            <a:srgbClr val="EDF2F7"/>
          </a:solidFill>
          <a:ln w="12700">
            <a:solidFill>
              <a:srgbClr val="CFDBE5"/>
            </a:solidFill>
            <a:prstDash val="solid"/>
          </a:ln>
        </p:spPr>
      </p:sp>
      <p:sp>
        <p:nvSpPr>
          <p:cNvPr id="14" name="Text 12"/>
          <p:cNvSpPr txBox="1"/>
          <p:nvPr/>
        </p:nvSpPr>
        <p:spPr>
          <a:xfrm>
            <a:off x="1600200" y="3438144"/>
            <a:ext cx="6620256" cy="980968"/>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switch</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day</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"Tuesday"</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case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"Wednesday"</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5" name="Shape 13"/>
          <p:cNvSpPr/>
          <p:nvPr/>
        </p:nvSpPr>
        <p:spPr>
          <a:xfrm>
            <a:off x="566928" y="5223784"/>
            <a:ext cx="11057839" cy="1188720"/>
          </a:xfrm>
          <a:prstGeom prst="roundRect">
            <a:avLst>
              <a:gd name="adj" fmla="val 6923"/>
            </a:avLst>
          </a:prstGeom>
          <a:solidFill>
            <a:srgbClr val="FFFFFF"/>
          </a:solidFill>
          <a:ln w="12700">
            <a:solidFill>
              <a:srgbClr val="D3DEE7"/>
            </a:solidFill>
            <a:prstDash val="solid"/>
          </a:ln>
        </p:spPr>
      </p:sp>
      <p:sp>
        <p:nvSpPr>
          <p:cNvPr id="16" name="Shape 14"/>
          <p:cNvSpPr/>
          <p:nvPr/>
        </p:nvSpPr>
        <p:spPr>
          <a:xfrm>
            <a:off x="841248" y="5461528"/>
            <a:ext cx="402336" cy="402336"/>
          </a:xfrm>
          <a:prstGeom prst="ellipse">
            <a:avLst/>
          </a:prstGeom>
          <a:solidFill>
            <a:srgbClr val="C4560C"/>
          </a:solidFill>
          <a:ln w="12700">
            <a:solidFill>
              <a:srgbClr val="C4560C"/>
            </a:solidFill>
            <a:prstDash val="solid"/>
          </a:ln>
        </p:spPr>
      </p:sp>
      <p:sp>
        <p:nvSpPr>
          <p:cNvPr id="17" name="Text 15"/>
          <p:cNvSpPr txBox="1"/>
          <p:nvPr/>
        </p:nvSpPr>
        <p:spPr>
          <a:xfrm>
            <a:off x="841248" y="546152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8" name="Text 16"/>
          <p:cNvSpPr txBox="1"/>
          <p:nvPr/>
        </p:nvSpPr>
        <p:spPr>
          <a:xfrm>
            <a:off x="1435608" y="5388376"/>
            <a:ext cx="9823399" cy="658368"/>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Why does an enum switch expression compile without a default clause, and why is that a good thing?</a:t>
            </a:r>
            <a:endParaRPr lang="en-US" sz="15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CRAFT</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When the Logic Is Wrong: Debugging</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Selection statements are where logic errors start. The compiler cannot help — it does not know what you meant.</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33</a:t>
            </a:r>
            <a:endParaRPr lang="en-US" sz="9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11057839" cy="914400"/>
        </p:xfrm>
        <a:graphic>
          <a:graphicData uri="http://schemas.openxmlformats.org/drawingml/2006/table">
            <a:tbl>
              <a:tblPr/>
              <a:tblGrid>
                <a:gridCol w="1828800"/>
                <a:gridCol w="2651760"/>
                <a:gridCol w="6577279"/>
              </a:tblGrid>
              <a:tr h="42062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Kind of error</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Who catches it</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Example from today</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420624">
                <a:tc>
                  <a:txBody>
                    <a:bodyPr/>
                    <a:lstStyle/>
                    <a:p>
                      <a:pPr indent="0" marL="0">
                        <a:buNone/>
                      </a:pPr>
                      <a:r>
                        <a:rPr lang="en-US" sz="1100" b="1" dirty="0">
                          <a:solidFill>
                            <a:srgbClr val="0F2942"/>
                          </a:solidFill>
                          <a:latin typeface="Calibri" pitchFamily="34" charset="0"/>
                          <a:ea typeface="Calibri" pitchFamily="34" charset="-122"/>
                          <a:cs typeface="Calibri" pitchFamily="34" charset="-120"/>
                        </a:rPr>
                        <a:t>Syntax</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The compiler, before it runs</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050" dirty="0">
                          <a:solidFill>
                            <a:srgbClr val="0F2942"/>
                          </a:solidFill>
                          <a:latin typeface="Courier New" pitchFamily="34" charset="0"/>
                          <a:ea typeface="Courier New" pitchFamily="34" charset="-122"/>
                          <a:cs typeface="Courier New" pitchFamily="34" charset="-120"/>
                        </a:rPr>
                        <a:t>if (x &gt; 0 {  — missing bracket</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420624">
                <a:tc>
                  <a:txBody>
                    <a:bodyPr/>
                    <a:lstStyle/>
                    <a:p>
                      <a:pPr indent="0" marL="0">
                        <a:buNone/>
                      </a:pPr>
                      <a:r>
                        <a:rPr lang="en-US" sz="1100" b="1" dirty="0">
                          <a:solidFill>
                            <a:srgbClr val="0F2942"/>
                          </a:solidFill>
                          <a:latin typeface="Calibri" pitchFamily="34" charset="0"/>
                          <a:ea typeface="Calibri" pitchFamily="34" charset="-122"/>
                          <a:cs typeface="Calibri" pitchFamily="34" charset="-120"/>
                        </a:rPr>
                        <a:t>Runtime</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The JVM, while it runs</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050" dirty="0">
                          <a:solidFill>
                            <a:srgbClr val="0F2942"/>
                          </a:solidFill>
                          <a:latin typeface="Courier New" pitchFamily="34" charset="0"/>
                          <a:ea typeface="Courier New" pitchFamily="34" charset="-122"/>
                          <a:cs typeface="Courier New" pitchFamily="34" charset="-120"/>
                        </a:rPr>
                        <a:t>total / count with count == 0</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rgbClr val="9C241C"/>
                          </a:solidFill>
                          <a:latin typeface="Calibri" pitchFamily="34" charset="0"/>
                          <a:ea typeface="Calibri" pitchFamily="34" charset="-122"/>
                          <a:cs typeface="Calibri" pitchFamily="34" charset="-120"/>
                        </a:rPr>
                        <a:t>Logic</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AE8"/>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Nobody. Only you.</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AE8"/>
                    </a:solidFill>
                  </a:tcPr>
                </a:tc>
                <a:tc>
                  <a:txBody>
                    <a:bodyPr/>
                    <a:lstStyle/>
                    <a:p>
                      <a:pPr indent="0" marL="0">
                        <a:buNone/>
                      </a:pPr>
                      <a:r>
                        <a:rPr lang="en-US" sz="1050" dirty="0">
                          <a:solidFill>
                            <a:srgbClr val="0F2942"/>
                          </a:solidFill>
                          <a:latin typeface="Courier New" pitchFamily="34" charset="0"/>
                          <a:ea typeface="Courier New" pitchFamily="34" charset="-122"/>
                          <a:cs typeface="Courier New" pitchFamily="34" charset="-120"/>
                        </a:rPr>
                        <a:t>if (radius &gt;= 0);  — the stray semicolon</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AE8"/>
                    </a:solidFill>
                  </a:tcPr>
                </a:tc>
              </a:tr>
            </a:tbl>
          </a:graphicData>
        </a:graphic>
      </p:graphicFrame>
      <p:sp>
        <p:nvSpPr>
          <p:cNvPr id="8" name="Shape 5"/>
          <p:cNvSpPr/>
          <p:nvPr/>
        </p:nvSpPr>
        <p:spPr>
          <a:xfrm>
            <a:off x="566928" y="3502152"/>
            <a:ext cx="5323180" cy="1783080"/>
          </a:xfrm>
          <a:prstGeom prst="roundRect">
            <a:avLst>
              <a:gd name="adj" fmla="val 4615"/>
            </a:avLst>
          </a:prstGeom>
          <a:solidFill>
            <a:srgbClr val="F1F5F9"/>
          </a:solidFill>
          <a:ln w="12700">
            <a:solidFill>
              <a:srgbClr val="F1F5F9"/>
            </a:solidFill>
            <a:prstDash val="solid"/>
          </a:ln>
        </p:spPr>
      </p:sp>
      <p:sp>
        <p:nvSpPr>
          <p:cNvPr id="9" name="Text 6"/>
          <p:cNvSpPr txBox="1"/>
          <p:nvPr/>
        </p:nvSpPr>
        <p:spPr>
          <a:xfrm>
            <a:off x="786384" y="3666744"/>
            <a:ext cx="4884268" cy="310896"/>
          </a:xfrm>
          <a:prstGeom prst="rect">
            <a:avLst/>
          </a:prstGeom>
          <a:noFill/>
          <a:ln/>
        </p:spPr>
        <p:txBody>
          <a:bodyPr wrap="square" lIns="0" tIns="0" rIns="0" bIns="0" rtlCol="0" anchor="t"/>
          <a:lstStyle/>
          <a:p>
            <a:pPr indent="0" marL="0">
              <a:buNone/>
            </a:pPr>
            <a:r>
              <a:rPr lang="en-US" sz="1500" b="1" dirty="0">
                <a:solidFill>
                  <a:srgbClr val="0F2942"/>
                </a:solidFill>
                <a:latin typeface="Calibri" pitchFamily="34" charset="0"/>
                <a:ea typeface="Calibri" pitchFamily="34" charset="-122"/>
                <a:cs typeface="Calibri" pitchFamily="34" charset="-120"/>
              </a:rPr>
              <a:t>For a short program: hand-trace it</a:t>
            </a:r>
            <a:endParaRPr lang="en-US" sz="1500" dirty="0"/>
          </a:p>
        </p:txBody>
      </p:sp>
      <p:sp>
        <p:nvSpPr>
          <p:cNvPr id="10" name="Text 7"/>
          <p:cNvSpPr txBox="1"/>
          <p:nvPr/>
        </p:nvSpPr>
        <p:spPr>
          <a:xfrm>
            <a:off x="822960" y="3995928"/>
            <a:ext cx="4865980" cy="1161288"/>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rgbClr val="3A536B"/>
                </a:solidFill>
                <a:latin typeface="Calibri" pitchFamily="34" charset="0"/>
                <a:ea typeface="Calibri" pitchFamily="34" charset="-122"/>
                <a:cs typeface="Calibri" pitchFamily="34" charset="-120"/>
              </a:rPr>
              <a:t>Read it as the machine would, not as you meant it.</a:t>
            </a:r>
            <a:endParaRPr lang="en-US" sz="1200" dirty="0"/>
          </a:p>
          <a:p>
            <a:pPr marL="177800" indent="-177800">
              <a:spcAft>
                <a:spcPts val="400"/>
              </a:spcAft>
              <a:buSzPct val="100000"/>
              <a:buChar char="•"/>
            </a:pPr>
            <a:r>
              <a:rPr lang="en-US" sz="1200" dirty="0">
                <a:solidFill>
                  <a:srgbClr val="3A536B"/>
                </a:solidFill>
                <a:latin typeface="Calibri" pitchFamily="34" charset="0"/>
                <a:ea typeface="Calibri" pitchFamily="34" charset="-122"/>
                <a:cs typeface="Calibri" pitchFamily="34" charset="-120"/>
              </a:rPr>
              <a:t>Write the value of each variable down the margin.</a:t>
            </a:r>
            <a:endParaRPr lang="en-US" sz="1200" dirty="0"/>
          </a:p>
          <a:p>
            <a:pPr marL="177800" indent="-177800">
              <a:spcAft>
                <a:spcPts val="400"/>
              </a:spcAft>
              <a:buSzPct val="100000"/>
              <a:buChar char="•"/>
            </a:pPr>
            <a:r>
              <a:rPr lang="en-US" sz="1200" dirty="0">
                <a:solidFill>
                  <a:srgbClr val="3A536B"/>
                </a:solidFill>
                <a:latin typeface="Calibri" pitchFamily="34" charset="0"/>
                <a:ea typeface="Calibri" pitchFamily="34" charset="-122"/>
                <a:cs typeface="Calibri" pitchFamily="34" charset="-120"/>
              </a:rPr>
              <a:t>Or drop in a temporary println of the condition itself — if (score &gt;= 70.0) is easier to judge when you can see what score is.</a:t>
            </a:r>
            <a:endParaRPr lang="en-US" sz="1200" dirty="0"/>
          </a:p>
        </p:txBody>
      </p:sp>
      <p:sp>
        <p:nvSpPr>
          <p:cNvPr id="11" name="Shape 8"/>
          <p:cNvSpPr/>
          <p:nvPr/>
        </p:nvSpPr>
        <p:spPr>
          <a:xfrm>
            <a:off x="6301588" y="3502152"/>
            <a:ext cx="5323180" cy="1783080"/>
          </a:xfrm>
          <a:prstGeom prst="roundRect">
            <a:avLst>
              <a:gd name="adj" fmla="val 4615"/>
            </a:avLst>
          </a:prstGeom>
          <a:solidFill>
            <a:srgbClr val="E4ECF4"/>
          </a:solidFill>
          <a:ln w="12700">
            <a:solidFill>
              <a:srgbClr val="E4ECF4"/>
            </a:solidFill>
            <a:prstDash val="solid"/>
          </a:ln>
        </p:spPr>
      </p:sp>
      <p:sp>
        <p:nvSpPr>
          <p:cNvPr id="12" name="Text 9"/>
          <p:cNvSpPr txBox="1"/>
          <p:nvPr/>
        </p:nvSpPr>
        <p:spPr>
          <a:xfrm>
            <a:off x="6521044" y="3666744"/>
            <a:ext cx="4884268" cy="310896"/>
          </a:xfrm>
          <a:prstGeom prst="rect">
            <a:avLst/>
          </a:prstGeom>
          <a:noFill/>
          <a:ln/>
        </p:spPr>
        <p:txBody>
          <a:bodyPr wrap="square" lIns="0" tIns="0" rIns="0" bIns="0" rtlCol="0" anchor="t"/>
          <a:lstStyle/>
          <a:p>
            <a:pPr indent="0" marL="0">
              <a:buNone/>
            </a:pPr>
            <a:r>
              <a:rPr lang="en-US" sz="1500" b="1" dirty="0">
                <a:solidFill>
                  <a:srgbClr val="0F2942"/>
                </a:solidFill>
                <a:latin typeface="Calibri" pitchFamily="34" charset="0"/>
                <a:ea typeface="Calibri" pitchFamily="34" charset="-122"/>
                <a:cs typeface="Calibri" pitchFamily="34" charset="-120"/>
              </a:rPr>
              <a:t>For anything longer: use the debugger</a:t>
            </a:r>
            <a:endParaRPr lang="en-US" sz="1500" dirty="0"/>
          </a:p>
        </p:txBody>
      </p:sp>
      <p:sp>
        <p:nvSpPr>
          <p:cNvPr id="13" name="Text 10"/>
          <p:cNvSpPr txBox="1"/>
          <p:nvPr/>
        </p:nvSpPr>
        <p:spPr>
          <a:xfrm>
            <a:off x="6557620" y="3995928"/>
            <a:ext cx="4865980" cy="1161288"/>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rgbClr val="3A536B"/>
                </a:solidFill>
                <a:latin typeface="Calibri" pitchFamily="34" charset="0"/>
                <a:ea typeface="Calibri" pitchFamily="34" charset="-122"/>
                <a:cs typeface="Calibri" pitchFamily="34" charset="-120"/>
              </a:rPr>
              <a:t>Set a breakpoint on the if and run to it.</a:t>
            </a:r>
            <a:endParaRPr lang="en-US" sz="1200" dirty="0"/>
          </a:p>
          <a:p>
            <a:pPr marL="177800" indent="-177800">
              <a:spcAft>
                <a:spcPts val="400"/>
              </a:spcAft>
              <a:buSzPct val="100000"/>
              <a:buChar char="•"/>
            </a:pPr>
            <a:r>
              <a:rPr lang="en-US" sz="1200" dirty="0">
                <a:solidFill>
                  <a:srgbClr val="3A536B"/>
                </a:solidFill>
                <a:latin typeface="Calibri" pitchFamily="34" charset="0"/>
                <a:ea typeface="Calibri" pitchFamily="34" charset="-122"/>
                <a:cs typeface="Calibri" pitchFamily="34" charset="-120"/>
              </a:rPr>
              <a:t>Step over one statement at a time, or step into a method.</a:t>
            </a:r>
            <a:endParaRPr lang="en-US" sz="1200" dirty="0"/>
          </a:p>
          <a:p>
            <a:pPr marL="177800" indent="-177800">
              <a:spcAft>
                <a:spcPts val="400"/>
              </a:spcAft>
              <a:buSzPct val="100000"/>
              <a:buChar char="•"/>
            </a:pPr>
            <a:r>
              <a:rPr lang="en-US" sz="1200" dirty="0">
                <a:solidFill>
                  <a:srgbClr val="3A536B"/>
                </a:solidFill>
                <a:latin typeface="Calibri" pitchFamily="34" charset="0"/>
                <a:ea typeface="Calibri" pitchFamily="34" charset="-122"/>
                <a:cs typeface="Calibri" pitchFamily="34" charset="-120"/>
              </a:rPr>
              <a:t>Watch the variables change — and change them yourself to test a branch.</a:t>
            </a:r>
            <a:endParaRPr lang="en-US" sz="1200" dirty="0"/>
          </a:p>
          <a:p>
            <a:pPr marL="177800" indent="-177800">
              <a:spcAft>
                <a:spcPts val="400"/>
              </a:spcAft>
              <a:buSzPct val="100000"/>
              <a:buChar char="•"/>
            </a:pPr>
            <a:r>
              <a:rPr lang="en-US" sz="1200" dirty="0">
                <a:solidFill>
                  <a:srgbClr val="3A536B"/>
                </a:solidFill>
                <a:latin typeface="Calibri" pitchFamily="34" charset="0"/>
                <a:ea typeface="Calibri" pitchFamily="34" charset="-122"/>
                <a:cs typeface="Calibri" pitchFamily="34" charset="-120"/>
              </a:rPr>
              <a:t>Read the call stack when something throws.</a:t>
            </a:r>
            <a:endParaRPr lang="en-US" sz="1200" dirty="0"/>
          </a:p>
        </p:txBody>
      </p:sp>
      <p:sp>
        <p:nvSpPr>
          <p:cNvPr id="14" name="Shape 11"/>
          <p:cNvSpPr/>
          <p:nvPr/>
        </p:nvSpPr>
        <p:spPr>
          <a:xfrm>
            <a:off x="566928" y="5422392"/>
            <a:ext cx="11057839" cy="868680"/>
          </a:xfrm>
          <a:prstGeom prst="roundRect">
            <a:avLst>
              <a:gd name="adj" fmla="val 9474"/>
            </a:avLst>
          </a:prstGeom>
          <a:solidFill>
            <a:srgbClr val="FBEEE0"/>
          </a:solidFill>
          <a:ln w="12700">
            <a:solidFill>
              <a:srgbClr val="FBEEE0"/>
            </a:solidFill>
            <a:prstDash val="solid"/>
          </a:ln>
        </p:spPr>
      </p:sp>
      <p:sp>
        <p:nvSpPr>
          <p:cNvPr id="15" name="Text 12"/>
          <p:cNvSpPr txBox="1"/>
          <p:nvPr/>
        </p:nvSpPr>
        <p:spPr>
          <a:xfrm>
            <a:off x="859536" y="5422392"/>
            <a:ext cx="10472623" cy="868680"/>
          </a:xfrm>
          <a:prstGeom prst="rect">
            <a:avLst/>
          </a:prstGeom>
          <a:noFill/>
          <a:ln/>
        </p:spPr>
        <p:txBody>
          <a:bodyPr wrap="square" lIns="0" tIns="0" rIns="0" bIns="0" rtlCol="0" anchor="ctr"/>
          <a:lstStyle/>
          <a:p>
            <a:pPr indent="0" marL="0">
              <a:lnSpc>
                <a:spcPct val="112000"/>
              </a:lnSpc>
              <a:buNone/>
            </a:pPr>
            <a:r>
              <a:rPr lang="en-US" sz="1250" b="1" dirty="0">
                <a:solidFill>
                  <a:srgbClr val="9A430A"/>
                </a:solidFill>
                <a:latin typeface="Calibri" pitchFamily="34" charset="0"/>
                <a:ea typeface="Calibri" pitchFamily="34" charset="-122"/>
                <a:cs typeface="Calibri" pitchFamily="34" charset="-120"/>
              </a:rPr>
              <a:t>In IntelliJ: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click the gutter beside a line number to set a breakpoint, then run with Shift+F9 instead of Shift+F10. F8 steps over, F7 steps into, F9 continues.</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PRACTICE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Five Programs to Write Before Thursday</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Each one is a selection problem and nothing more — no loops, no methods of your own, no arrays.</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34</a:t>
            </a:r>
            <a:endParaRPr lang="en-US" sz="900" dirty="0"/>
          </a:p>
        </p:txBody>
      </p:sp>
      <p:sp>
        <p:nvSpPr>
          <p:cNvPr id="7" name="Shape 5"/>
          <p:cNvSpPr/>
          <p:nvPr/>
        </p:nvSpPr>
        <p:spPr>
          <a:xfrm>
            <a:off x="566928" y="1536192"/>
            <a:ext cx="3551834" cy="2103120"/>
          </a:xfrm>
          <a:prstGeom prst="roundRect">
            <a:avLst>
              <a:gd name="adj" fmla="val 3913"/>
            </a:avLst>
          </a:prstGeom>
          <a:solidFill>
            <a:srgbClr val="F1F5F9"/>
          </a:solidFill>
          <a:ln w="12700">
            <a:solidFill>
              <a:srgbClr val="F1F5F9"/>
            </a:solidFill>
            <a:prstDash val="solid"/>
          </a:ln>
        </p:spPr>
      </p:sp>
      <p:sp>
        <p:nvSpPr>
          <p:cNvPr id="8" name="Shape 6"/>
          <p:cNvSpPr/>
          <p:nvPr/>
        </p:nvSpPr>
        <p:spPr>
          <a:xfrm>
            <a:off x="804672" y="1755648"/>
            <a:ext cx="402336" cy="402336"/>
          </a:xfrm>
          <a:prstGeom prst="ellipse">
            <a:avLst/>
          </a:prstGeom>
          <a:solidFill>
            <a:srgbClr val="C4560C"/>
          </a:solidFill>
          <a:ln w="12700">
            <a:solidFill>
              <a:srgbClr val="C4560C"/>
            </a:solidFill>
            <a:prstDash val="solid"/>
          </a:ln>
        </p:spPr>
      </p:sp>
      <p:sp>
        <p:nvSpPr>
          <p:cNvPr id="9" name="Text 7"/>
          <p:cNvSpPr txBox="1"/>
          <p:nvPr/>
        </p:nvSpPr>
        <p:spPr>
          <a:xfrm>
            <a:off x="804672" y="17556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txBox="1"/>
          <p:nvPr/>
        </p:nvSpPr>
        <p:spPr>
          <a:xfrm>
            <a:off x="1353312" y="1755648"/>
            <a:ext cx="2545994" cy="402336"/>
          </a:xfrm>
          <a:prstGeom prst="rect">
            <a:avLst/>
          </a:prstGeom>
          <a:noFill/>
          <a:ln/>
        </p:spPr>
        <p:txBody>
          <a:bodyPr wrap="square" lIns="0" tIns="0" rIns="0" bIns="0" rtlCol="0" anchor="ctr"/>
          <a:lstStyle/>
          <a:p>
            <a:pPr indent="0" marL="0">
              <a:buNone/>
            </a:pPr>
            <a:r>
              <a:rPr lang="en-US" sz="1350" b="1" dirty="0">
                <a:solidFill>
                  <a:srgbClr val="0F2942"/>
                </a:solidFill>
                <a:latin typeface="Courier New" pitchFamily="34" charset="0"/>
                <a:ea typeface="Courier New" pitchFamily="34" charset="-122"/>
                <a:cs typeface="Courier New" pitchFamily="34" charset="-120"/>
              </a:rPr>
              <a:t>SubtractionQuiz</a:t>
            </a:r>
            <a:endParaRPr lang="en-US" sz="1350" dirty="0"/>
          </a:p>
        </p:txBody>
      </p:sp>
      <p:sp>
        <p:nvSpPr>
          <p:cNvPr id="11" name="Text 9"/>
          <p:cNvSpPr txBox="1"/>
          <p:nvPr/>
        </p:nvSpPr>
        <p:spPr>
          <a:xfrm>
            <a:off x="822960" y="2304288"/>
            <a:ext cx="3039770" cy="96012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Generate two single-digit numbers with number1 ≥ number2, ask for the difference, and say whether the answer is right.</a:t>
            </a:r>
            <a:endParaRPr lang="en-US" sz="1200" dirty="0"/>
          </a:p>
        </p:txBody>
      </p:sp>
      <p:sp>
        <p:nvSpPr>
          <p:cNvPr id="12" name="Text 10"/>
          <p:cNvSpPr txBox="1"/>
          <p:nvPr/>
        </p:nvSpPr>
        <p:spPr>
          <a:xfrm>
            <a:off x="822960" y="3310128"/>
            <a:ext cx="3039770" cy="256032"/>
          </a:xfrm>
          <a:prstGeom prst="rect">
            <a:avLst/>
          </a:prstGeom>
          <a:noFill/>
          <a:ln/>
        </p:spPr>
        <p:txBody>
          <a:bodyPr wrap="square" lIns="0" tIns="0" rIns="0" bIns="0" rtlCol="0" anchor="ctr"/>
          <a:lstStyle/>
          <a:p>
            <a:pPr indent="0" marL="0">
              <a:buNone/>
            </a:pPr>
            <a:r>
              <a:rPr lang="en-US" sz="1100" i="1" dirty="0">
                <a:solidFill>
                  <a:srgbClr val="9A430A"/>
                </a:solidFill>
                <a:latin typeface="Calibri" pitchFamily="34" charset="0"/>
                <a:ea typeface="Calibri" pitchFamily="34" charset="-122"/>
                <a:cs typeface="Calibri" pitchFamily="34" charset="-120"/>
              </a:rPr>
              <a:t>if-else plus a swap</a:t>
            </a:r>
            <a:endParaRPr lang="en-US" sz="1100" dirty="0"/>
          </a:p>
        </p:txBody>
      </p:sp>
      <p:sp>
        <p:nvSpPr>
          <p:cNvPr id="13" name="Shape 11"/>
          <p:cNvSpPr/>
          <p:nvPr/>
        </p:nvSpPr>
        <p:spPr>
          <a:xfrm>
            <a:off x="4319930" y="1536192"/>
            <a:ext cx="3551834" cy="2103120"/>
          </a:xfrm>
          <a:prstGeom prst="roundRect">
            <a:avLst>
              <a:gd name="adj" fmla="val 3913"/>
            </a:avLst>
          </a:prstGeom>
          <a:solidFill>
            <a:srgbClr val="FFFFFF"/>
          </a:solidFill>
          <a:ln w="12700">
            <a:solidFill>
              <a:srgbClr val="D3DEE7"/>
            </a:solidFill>
            <a:prstDash val="solid"/>
          </a:ln>
        </p:spPr>
      </p:sp>
      <p:sp>
        <p:nvSpPr>
          <p:cNvPr id="14" name="Shape 12"/>
          <p:cNvSpPr/>
          <p:nvPr/>
        </p:nvSpPr>
        <p:spPr>
          <a:xfrm>
            <a:off x="4557674" y="1755648"/>
            <a:ext cx="402336" cy="402336"/>
          </a:xfrm>
          <a:prstGeom prst="ellipse">
            <a:avLst/>
          </a:prstGeom>
          <a:solidFill>
            <a:srgbClr val="C4560C"/>
          </a:solidFill>
          <a:ln w="12700">
            <a:solidFill>
              <a:srgbClr val="C4560C"/>
            </a:solidFill>
            <a:prstDash val="solid"/>
          </a:ln>
        </p:spPr>
      </p:sp>
      <p:sp>
        <p:nvSpPr>
          <p:cNvPr id="15" name="Text 13"/>
          <p:cNvSpPr txBox="1"/>
          <p:nvPr/>
        </p:nvSpPr>
        <p:spPr>
          <a:xfrm>
            <a:off x="4557674" y="17556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txBox="1"/>
          <p:nvPr/>
        </p:nvSpPr>
        <p:spPr>
          <a:xfrm>
            <a:off x="5106314" y="1755648"/>
            <a:ext cx="2545994" cy="402336"/>
          </a:xfrm>
          <a:prstGeom prst="rect">
            <a:avLst/>
          </a:prstGeom>
          <a:noFill/>
          <a:ln/>
        </p:spPr>
        <p:txBody>
          <a:bodyPr wrap="square" lIns="0" tIns="0" rIns="0" bIns="0" rtlCol="0" anchor="ctr"/>
          <a:lstStyle/>
          <a:p>
            <a:pPr indent="0" marL="0">
              <a:buNone/>
            </a:pPr>
            <a:r>
              <a:rPr lang="en-US" sz="1350" b="1" dirty="0">
                <a:solidFill>
                  <a:srgbClr val="0F2942"/>
                </a:solidFill>
                <a:latin typeface="Courier New" pitchFamily="34" charset="0"/>
                <a:ea typeface="Courier New" pitchFamily="34" charset="-122"/>
                <a:cs typeface="Courier New" pitchFamily="34" charset="-120"/>
              </a:rPr>
              <a:t>ComputeBMI</a:t>
            </a:r>
            <a:endParaRPr lang="en-US" sz="1350" dirty="0"/>
          </a:p>
        </p:txBody>
      </p:sp>
      <p:sp>
        <p:nvSpPr>
          <p:cNvPr id="17" name="Text 15"/>
          <p:cNvSpPr txBox="1"/>
          <p:nvPr/>
        </p:nvSpPr>
        <p:spPr>
          <a:xfrm>
            <a:off x="4575962" y="2304288"/>
            <a:ext cx="3039770" cy="96012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Read weight and height, compute the BMI and report the band — and refuse to classify anyone under 16.</a:t>
            </a:r>
            <a:endParaRPr lang="en-US" sz="1200" dirty="0"/>
          </a:p>
        </p:txBody>
      </p:sp>
      <p:sp>
        <p:nvSpPr>
          <p:cNvPr id="18" name="Text 16"/>
          <p:cNvSpPr txBox="1"/>
          <p:nvPr/>
        </p:nvSpPr>
        <p:spPr>
          <a:xfrm>
            <a:off x="4575962" y="3310128"/>
            <a:ext cx="3039770" cy="256032"/>
          </a:xfrm>
          <a:prstGeom prst="rect">
            <a:avLst/>
          </a:prstGeom>
          <a:noFill/>
          <a:ln/>
        </p:spPr>
        <p:txBody>
          <a:bodyPr wrap="square" lIns="0" tIns="0" rIns="0" bIns="0" rtlCol="0" anchor="ctr"/>
          <a:lstStyle/>
          <a:p>
            <a:pPr indent="0" marL="0">
              <a:buNone/>
            </a:pPr>
            <a:r>
              <a:rPr lang="en-US" sz="1100" i="1" dirty="0">
                <a:solidFill>
                  <a:srgbClr val="9A430A"/>
                </a:solidFill>
                <a:latin typeface="Calibri" pitchFamily="34" charset="0"/>
                <a:ea typeface="Calibri" pitchFamily="34" charset="-122"/>
                <a:cs typeface="Calibri" pitchFamily="34" charset="-120"/>
              </a:rPr>
              <a:t>an extra rung on the ladder</a:t>
            </a:r>
            <a:endParaRPr lang="en-US" sz="1100" dirty="0"/>
          </a:p>
        </p:txBody>
      </p:sp>
      <p:sp>
        <p:nvSpPr>
          <p:cNvPr id="19" name="Shape 17"/>
          <p:cNvSpPr/>
          <p:nvPr/>
        </p:nvSpPr>
        <p:spPr>
          <a:xfrm>
            <a:off x="8072933" y="1536192"/>
            <a:ext cx="3551834" cy="2103120"/>
          </a:xfrm>
          <a:prstGeom prst="roundRect">
            <a:avLst>
              <a:gd name="adj" fmla="val 3913"/>
            </a:avLst>
          </a:prstGeom>
          <a:solidFill>
            <a:srgbClr val="F1F5F9"/>
          </a:solidFill>
          <a:ln w="12700">
            <a:solidFill>
              <a:srgbClr val="F1F5F9"/>
            </a:solidFill>
            <a:prstDash val="solid"/>
          </a:ln>
        </p:spPr>
      </p:sp>
      <p:sp>
        <p:nvSpPr>
          <p:cNvPr id="20" name="Shape 18"/>
          <p:cNvSpPr/>
          <p:nvPr/>
        </p:nvSpPr>
        <p:spPr>
          <a:xfrm>
            <a:off x="8310677" y="1755648"/>
            <a:ext cx="402336" cy="402336"/>
          </a:xfrm>
          <a:prstGeom prst="ellipse">
            <a:avLst/>
          </a:prstGeom>
          <a:solidFill>
            <a:srgbClr val="C4560C"/>
          </a:solidFill>
          <a:ln w="12700">
            <a:solidFill>
              <a:srgbClr val="C4560C"/>
            </a:solidFill>
            <a:prstDash val="solid"/>
          </a:ln>
        </p:spPr>
      </p:sp>
      <p:sp>
        <p:nvSpPr>
          <p:cNvPr id="21" name="Text 19"/>
          <p:cNvSpPr txBox="1"/>
          <p:nvPr/>
        </p:nvSpPr>
        <p:spPr>
          <a:xfrm>
            <a:off x="8310677" y="17556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txBox="1"/>
          <p:nvPr/>
        </p:nvSpPr>
        <p:spPr>
          <a:xfrm>
            <a:off x="8859317" y="1755648"/>
            <a:ext cx="2545994" cy="402336"/>
          </a:xfrm>
          <a:prstGeom prst="rect">
            <a:avLst/>
          </a:prstGeom>
          <a:noFill/>
          <a:ln/>
        </p:spPr>
        <p:txBody>
          <a:bodyPr wrap="square" lIns="0" tIns="0" rIns="0" bIns="0" rtlCol="0" anchor="ctr"/>
          <a:lstStyle/>
          <a:p>
            <a:pPr indent="0" marL="0">
              <a:buNone/>
            </a:pPr>
            <a:r>
              <a:rPr lang="en-US" sz="1350" b="1" dirty="0">
                <a:solidFill>
                  <a:srgbClr val="0F2942"/>
                </a:solidFill>
                <a:latin typeface="Courier New" pitchFamily="34" charset="0"/>
                <a:ea typeface="Courier New" pitchFamily="34" charset="-122"/>
                <a:cs typeface="Courier New" pitchFamily="34" charset="-120"/>
              </a:rPr>
              <a:t>LeapYear</a:t>
            </a:r>
            <a:endParaRPr lang="en-US" sz="1350" dirty="0"/>
          </a:p>
        </p:txBody>
      </p:sp>
      <p:sp>
        <p:nvSpPr>
          <p:cNvPr id="23" name="Text 21"/>
          <p:cNvSpPr txBox="1"/>
          <p:nvPr/>
        </p:nvSpPr>
        <p:spPr>
          <a:xfrm>
            <a:off x="8328965" y="2304288"/>
            <a:ext cx="3039770" cy="96012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Read a year and say whether it is a leap year. Test it with 1900, 2000, 2024 and 2100.</a:t>
            </a:r>
            <a:endParaRPr lang="en-US" sz="1200" dirty="0"/>
          </a:p>
        </p:txBody>
      </p:sp>
      <p:sp>
        <p:nvSpPr>
          <p:cNvPr id="24" name="Text 22"/>
          <p:cNvSpPr txBox="1"/>
          <p:nvPr/>
        </p:nvSpPr>
        <p:spPr>
          <a:xfrm>
            <a:off x="8328965" y="3310128"/>
            <a:ext cx="3039770" cy="256032"/>
          </a:xfrm>
          <a:prstGeom prst="rect">
            <a:avLst/>
          </a:prstGeom>
          <a:noFill/>
          <a:ln/>
        </p:spPr>
        <p:txBody>
          <a:bodyPr wrap="square" lIns="0" tIns="0" rIns="0" bIns="0" rtlCol="0" anchor="ctr"/>
          <a:lstStyle/>
          <a:p>
            <a:pPr indent="0" marL="0">
              <a:buNone/>
            </a:pPr>
            <a:r>
              <a:rPr lang="en-US" sz="1100" i="1" dirty="0">
                <a:solidFill>
                  <a:srgbClr val="9A430A"/>
                </a:solidFill>
                <a:latin typeface="Calibri" pitchFamily="34" charset="0"/>
                <a:ea typeface="Calibri" pitchFamily="34" charset="-122"/>
                <a:cs typeface="Calibri" pitchFamily="34" charset="-120"/>
              </a:rPr>
              <a:t>&amp;&amp; and || in one expression</a:t>
            </a:r>
            <a:endParaRPr lang="en-US" sz="1100" dirty="0"/>
          </a:p>
        </p:txBody>
      </p:sp>
      <p:sp>
        <p:nvSpPr>
          <p:cNvPr id="25" name="Shape 23"/>
          <p:cNvSpPr/>
          <p:nvPr/>
        </p:nvSpPr>
        <p:spPr>
          <a:xfrm>
            <a:off x="566928" y="3822192"/>
            <a:ext cx="3551834" cy="2103120"/>
          </a:xfrm>
          <a:prstGeom prst="roundRect">
            <a:avLst>
              <a:gd name="adj" fmla="val 3913"/>
            </a:avLst>
          </a:prstGeom>
          <a:solidFill>
            <a:srgbClr val="FFFFFF"/>
          </a:solidFill>
          <a:ln w="12700">
            <a:solidFill>
              <a:srgbClr val="D3DEE7"/>
            </a:solidFill>
            <a:prstDash val="solid"/>
          </a:ln>
        </p:spPr>
      </p:sp>
      <p:sp>
        <p:nvSpPr>
          <p:cNvPr id="26" name="Shape 24"/>
          <p:cNvSpPr/>
          <p:nvPr/>
        </p:nvSpPr>
        <p:spPr>
          <a:xfrm>
            <a:off x="804672" y="4041648"/>
            <a:ext cx="402336" cy="402336"/>
          </a:xfrm>
          <a:prstGeom prst="ellipse">
            <a:avLst/>
          </a:prstGeom>
          <a:solidFill>
            <a:srgbClr val="C4560C"/>
          </a:solidFill>
          <a:ln w="12700">
            <a:solidFill>
              <a:srgbClr val="C4560C"/>
            </a:solidFill>
            <a:prstDash val="solid"/>
          </a:ln>
        </p:spPr>
      </p:sp>
      <p:sp>
        <p:nvSpPr>
          <p:cNvPr id="27" name="Text 25"/>
          <p:cNvSpPr txBox="1"/>
          <p:nvPr/>
        </p:nvSpPr>
        <p:spPr>
          <a:xfrm>
            <a:off x="804672" y="40416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8" name="Text 26"/>
          <p:cNvSpPr txBox="1"/>
          <p:nvPr/>
        </p:nvSpPr>
        <p:spPr>
          <a:xfrm>
            <a:off x="1353312" y="4041648"/>
            <a:ext cx="2545994" cy="402336"/>
          </a:xfrm>
          <a:prstGeom prst="rect">
            <a:avLst/>
          </a:prstGeom>
          <a:noFill/>
          <a:ln/>
        </p:spPr>
        <p:txBody>
          <a:bodyPr wrap="square" lIns="0" tIns="0" rIns="0" bIns="0" rtlCol="0" anchor="ctr"/>
          <a:lstStyle/>
          <a:p>
            <a:pPr indent="0" marL="0">
              <a:buNone/>
            </a:pPr>
            <a:r>
              <a:rPr lang="en-US" sz="1350" b="1" dirty="0">
                <a:solidFill>
                  <a:srgbClr val="0F2942"/>
                </a:solidFill>
                <a:latin typeface="Courier New" pitchFamily="34" charset="0"/>
                <a:ea typeface="Courier New" pitchFamily="34" charset="-122"/>
                <a:cs typeface="Courier New" pitchFamily="34" charset="-120"/>
              </a:rPr>
              <a:t>Lottery</a:t>
            </a:r>
            <a:endParaRPr lang="en-US" sz="1350" dirty="0"/>
          </a:p>
        </p:txBody>
      </p:sp>
      <p:sp>
        <p:nvSpPr>
          <p:cNvPr id="29" name="Text 27"/>
          <p:cNvSpPr txBox="1"/>
          <p:nvPr/>
        </p:nvSpPr>
        <p:spPr>
          <a:xfrm>
            <a:off x="822960" y="4590288"/>
            <a:ext cx="3039770" cy="96012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Two-digit lottery number, two-digit guess, four prize rules tried in the right order.</a:t>
            </a:r>
            <a:endParaRPr lang="en-US" sz="1200" dirty="0"/>
          </a:p>
        </p:txBody>
      </p:sp>
      <p:sp>
        <p:nvSpPr>
          <p:cNvPr id="30" name="Text 28"/>
          <p:cNvSpPr txBox="1"/>
          <p:nvPr/>
        </p:nvSpPr>
        <p:spPr>
          <a:xfrm>
            <a:off x="822960" y="5596128"/>
            <a:ext cx="3039770" cy="256032"/>
          </a:xfrm>
          <a:prstGeom prst="rect">
            <a:avLst/>
          </a:prstGeom>
          <a:noFill/>
          <a:ln/>
        </p:spPr>
        <p:txBody>
          <a:bodyPr wrap="square" lIns="0" tIns="0" rIns="0" bIns="0" rtlCol="0" anchor="ctr"/>
          <a:lstStyle/>
          <a:p>
            <a:pPr indent="0" marL="0">
              <a:buNone/>
            </a:pPr>
            <a:r>
              <a:rPr lang="en-US" sz="1100" i="1" dirty="0">
                <a:solidFill>
                  <a:srgbClr val="9A430A"/>
                </a:solidFill>
                <a:latin typeface="Calibri" pitchFamily="34" charset="0"/>
                <a:ea typeface="Calibri" pitchFamily="34" charset="-122"/>
                <a:cs typeface="Calibri" pitchFamily="34" charset="-120"/>
              </a:rPr>
              <a:t>/ and % to split the digits</a:t>
            </a:r>
            <a:endParaRPr lang="en-US" sz="1100" dirty="0"/>
          </a:p>
        </p:txBody>
      </p:sp>
      <p:sp>
        <p:nvSpPr>
          <p:cNvPr id="31" name="Shape 29"/>
          <p:cNvSpPr/>
          <p:nvPr/>
        </p:nvSpPr>
        <p:spPr>
          <a:xfrm>
            <a:off x="4319930" y="3822192"/>
            <a:ext cx="3551834" cy="2103120"/>
          </a:xfrm>
          <a:prstGeom prst="roundRect">
            <a:avLst>
              <a:gd name="adj" fmla="val 3913"/>
            </a:avLst>
          </a:prstGeom>
          <a:solidFill>
            <a:srgbClr val="F1F5F9"/>
          </a:solidFill>
          <a:ln w="12700">
            <a:solidFill>
              <a:srgbClr val="F1F5F9"/>
            </a:solidFill>
            <a:prstDash val="solid"/>
          </a:ln>
        </p:spPr>
      </p:sp>
      <p:sp>
        <p:nvSpPr>
          <p:cNvPr id="32" name="Shape 30"/>
          <p:cNvSpPr/>
          <p:nvPr/>
        </p:nvSpPr>
        <p:spPr>
          <a:xfrm>
            <a:off x="4557674" y="4041648"/>
            <a:ext cx="402336" cy="402336"/>
          </a:xfrm>
          <a:prstGeom prst="ellipse">
            <a:avLst/>
          </a:prstGeom>
          <a:solidFill>
            <a:srgbClr val="C4560C"/>
          </a:solidFill>
          <a:ln w="12700">
            <a:solidFill>
              <a:srgbClr val="C4560C"/>
            </a:solidFill>
            <a:prstDash val="solid"/>
          </a:ln>
        </p:spPr>
      </p:sp>
      <p:sp>
        <p:nvSpPr>
          <p:cNvPr id="33" name="Text 31"/>
          <p:cNvSpPr txBox="1"/>
          <p:nvPr/>
        </p:nvSpPr>
        <p:spPr>
          <a:xfrm>
            <a:off x="4557674" y="40416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4" name="Text 32"/>
          <p:cNvSpPr txBox="1"/>
          <p:nvPr/>
        </p:nvSpPr>
        <p:spPr>
          <a:xfrm>
            <a:off x="5106314" y="4041648"/>
            <a:ext cx="2545994" cy="402336"/>
          </a:xfrm>
          <a:prstGeom prst="rect">
            <a:avLst/>
          </a:prstGeom>
          <a:noFill/>
          <a:ln/>
        </p:spPr>
        <p:txBody>
          <a:bodyPr wrap="square" lIns="0" tIns="0" rIns="0" bIns="0" rtlCol="0" anchor="ctr"/>
          <a:lstStyle/>
          <a:p>
            <a:pPr indent="0" marL="0">
              <a:buNone/>
            </a:pPr>
            <a:r>
              <a:rPr lang="en-US" sz="1350" b="1" dirty="0">
                <a:solidFill>
                  <a:srgbClr val="0F2942"/>
                </a:solidFill>
                <a:latin typeface="Courier New" pitchFamily="34" charset="0"/>
                <a:ea typeface="Courier New" pitchFamily="34" charset="-122"/>
                <a:cs typeface="Courier New" pitchFamily="34" charset="-120"/>
              </a:rPr>
              <a:t>ChineseZodiac</a:t>
            </a:r>
            <a:endParaRPr lang="en-US" sz="1350" dirty="0"/>
          </a:p>
        </p:txBody>
      </p:sp>
      <p:sp>
        <p:nvSpPr>
          <p:cNvPr id="35" name="Text 33"/>
          <p:cNvSpPr txBox="1"/>
          <p:nvPr/>
        </p:nvSpPr>
        <p:spPr>
          <a:xfrm>
            <a:off x="4575962" y="4590288"/>
            <a:ext cx="3039770" cy="96012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Read a year and print its zodiac animal: rat, ox, tiger, rabbit, dragon, snake, horse, sheep, monkey, rooster, dog or pig.</a:t>
            </a:r>
            <a:endParaRPr lang="en-US" sz="1200" dirty="0"/>
          </a:p>
        </p:txBody>
      </p:sp>
      <p:sp>
        <p:nvSpPr>
          <p:cNvPr id="36" name="Text 34"/>
          <p:cNvSpPr txBox="1"/>
          <p:nvPr/>
        </p:nvSpPr>
        <p:spPr>
          <a:xfrm>
            <a:off x="4575962" y="5596128"/>
            <a:ext cx="3039770" cy="256032"/>
          </a:xfrm>
          <a:prstGeom prst="rect">
            <a:avLst/>
          </a:prstGeom>
          <a:noFill/>
          <a:ln/>
        </p:spPr>
        <p:txBody>
          <a:bodyPr wrap="square" lIns="0" tIns="0" rIns="0" bIns="0" rtlCol="0" anchor="ctr"/>
          <a:lstStyle/>
          <a:p>
            <a:pPr indent="0" marL="0">
              <a:buNone/>
            </a:pPr>
            <a:r>
              <a:rPr lang="en-US" sz="1100" i="1" dirty="0">
                <a:solidFill>
                  <a:srgbClr val="9A430A"/>
                </a:solidFill>
                <a:latin typeface="Calibri" pitchFamily="34" charset="0"/>
                <a:ea typeface="Calibri" pitchFamily="34" charset="-122"/>
                <a:cs typeface="Calibri" pitchFamily="34" charset="-120"/>
              </a:rPr>
              <a:t>year % 12, then a switch</a:t>
            </a:r>
            <a:endParaRPr lang="en-US" sz="1100" dirty="0"/>
          </a:p>
        </p:txBody>
      </p:sp>
      <p:sp>
        <p:nvSpPr>
          <p:cNvPr id="37" name="Shape 35"/>
          <p:cNvSpPr/>
          <p:nvPr/>
        </p:nvSpPr>
        <p:spPr>
          <a:xfrm>
            <a:off x="8072933" y="3822192"/>
            <a:ext cx="3551834" cy="2103120"/>
          </a:xfrm>
          <a:prstGeom prst="roundRect">
            <a:avLst>
              <a:gd name="adj" fmla="val 3913"/>
            </a:avLst>
          </a:prstGeom>
          <a:solidFill>
            <a:srgbClr val="FBEEE0"/>
          </a:solidFill>
          <a:ln w="12700">
            <a:solidFill>
              <a:srgbClr val="FBEEE0"/>
            </a:solidFill>
            <a:prstDash val="solid"/>
          </a:ln>
        </p:spPr>
      </p:sp>
      <p:sp>
        <p:nvSpPr>
          <p:cNvPr id="38" name="Text 36"/>
          <p:cNvSpPr txBox="1"/>
          <p:nvPr/>
        </p:nvSpPr>
        <p:spPr>
          <a:xfrm>
            <a:off x="8328965" y="4005072"/>
            <a:ext cx="3039770" cy="292608"/>
          </a:xfrm>
          <a:prstGeom prst="rect">
            <a:avLst/>
          </a:prstGeom>
          <a:noFill/>
          <a:ln/>
        </p:spPr>
        <p:txBody>
          <a:bodyPr wrap="square" lIns="0" tIns="0" rIns="0" bIns="0" rtlCol="0" anchor="ctr"/>
          <a:lstStyle/>
          <a:p>
            <a:pPr indent="0" marL="0">
              <a:buNone/>
            </a:pPr>
            <a:r>
              <a:rPr lang="en-US" sz="1350" b="1" dirty="0">
                <a:solidFill>
                  <a:srgbClr val="9A430A"/>
                </a:solidFill>
                <a:latin typeface="Calibri" pitchFamily="34" charset="0"/>
                <a:ea typeface="Calibri" pitchFamily="34" charset="-122"/>
                <a:cs typeface="Calibri" pitchFamily="34" charset="-120"/>
              </a:rPr>
              <a:t>Do number 5 twice</a:t>
            </a:r>
            <a:endParaRPr lang="en-US" sz="1350" dirty="0"/>
          </a:p>
        </p:txBody>
      </p:sp>
      <p:sp>
        <p:nvSpPr>
          <p:cNvPr id="39" name="Text 37"/>
          <p:cNvSpPr txBox="1"/>
          <p:nvPr/>
        </p:nvSpPr>
        <p:spPr>
          <a:xfrm>
            <a:off x="8328965" y="4370832"/>
            <a:ext cx="3039770" cy="137160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Once with a classic switch and break, once as a switch expression with arrow labels. Put them side by side and decide for yourself which one you would rather read in six months.</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WRAP-UP</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Six Things to Take Away from Today</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35</a:t>
            </a:r>
            <a:endParaRPr lang="en-US" sz="900" dirty="0"/>
          </a:p>
        </p:txBody>
      </p:sp>
      <p:sp>
        <p:nvSpPr>
          <p:cNvPr id="6" name="Shape 4"/>
          <p:cNvSpPr/>
          <p:nvPr/>
        </p:nvSpPr>
        <p:spPr>
          <a:xfrm>
            <a:off x="566928" y="1261872"/>
            <a:ext cx="5391760" cy="1444752"/>
          </a:xfrm>
          <a:prstGeom prst="roundRect">
            <a:avLst>
              <a:gd name="adj" fmla="val 5696"/>
            </a:avLst>
          </a:prstGeom>
          <a:solidFill>
            <a:srgbClr val="F1F5F9"/>
          </a:solidFill>
          <a:ln w="12700">
            <a:solidFill>
              <a:srgbClr val="F1F5F9"/>
            </a:solidFill>
            <a:prstDash val="solid"/>
          </a:ln>
        </p:spPr>
      </p:sp>
      <p:sp>
        <p:nvSpPr>
          <p:cNvPr id="7" name="Shape 5"/>
          <p:cNvSpPr/>
          <p:nvPr/>
        </p:nvSpPr>
        <p:spPr>
          <a:xfrm>
            <a:off x="804672" y="1517904"/>
            <a:ext cx="402336" cy="402336"/>
          </a:xfrm>
          <a:prstGeom prst="ellipse">
            <a:avLst/>
          </a:prstGeom>
          <a:solidFill>
            <a:srgbClr val="C4560C"/>
          </a:solidFill>
          <a:ln w="12700">
            <a:solidFill>
              <a:srgbClr val="C4560C"/>
            </a:solidFill>
            <a:prstDash val="solid"/>
          </a:ln>
        </p:spPr>
      </p:sp>
      <p:sp>
        <p:nvSpPr>
          <p:cNvPr id="8" name="Text 6"/>
          <p:cNvSpPr txBox="1"/>
          <p:nvPr/>
        </p:nvSpPr>
        <p:spPr>
          <a:xfrm>
            <a:off x="804672" y="15179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371600" y="1426464"/>
            <a:ext cx="4340200" cy="310896"/>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A condition is a value</a:t>
            </a:r>
            <a:endParaRPr lang="en-US" sz="1400" dirty="0"/>
          </a:p>
        </p:txBody>
      </p:sp>
      <p:sp>
        <p:nvSpPr>
          <p:cNvPr id="10" name="Text 8"/>
          <p:cNvSpPr txBox="1"/>
          <p:nvPr/>
        </p:nvSpPr>
        <p:spPr>
          <a:xfrm>
            <a:off x="1371600" y="1773936"/>
            <a:ext cx="4340200" cy="82296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Boolean expressions produce true or false, and you can store one in a boolean variable and pass it around.</a:t>
            </a:r>
            <a:endParaRPr lang="en-US" sz="1200" dirty="0"/>
          </a:p>
        </p:txBody>
      </p:sp>
      <p:sp>
        <p:nvSpPr>
          <p:cNvPr id="11" name="Shape 9"/>
          <p:cNvSpPr/>
          <p:nvPr/>
        </p:nvSpPr>
        <p:spPr>
          <a:xfrm>
            <a:off x="6233008" y="1261872"/>
            <a:ext cx="5391760" cy="1444752"/>
          </a:xfrm>
          <a:prstGeom prst="roundRect">
            <a:avLst>
              <a:gd name="adj" fmla="val 5696"/>
            </a:avLst>
          </a:prstGeom>
          <a:solidFill>
            <a:srgbClr val="FFFFFF"/>
          </a:solidFill>
          <a:ln w="12700">
            <a:solidFill>
              <a:srgbClr val="D3DEE7"/>
            </a:solidFill>
            <a:prstDash val="solid"/>
          </a:ln>
        </p:spPr>
      </p:sp>
      <p:sp>
        <p:nvSpPr>
          <p:cNvPr id="12" name="Shape 10"/>
          <p:cNvSpPr/>
          <p:nvPr/>
        </p:nvSpPr>
        <p:spPr>
          <a:xfrm>
            <a:off x="6470752" y="1517904"/>
            <a:ext cx="402336" cy="402336"/>
          </a:xfrm>
          <a:prstGeom prst="ellipse">
            <a:avLst/>
          </a:prstGeom>
          <a:solidFill>
            <a:srgbClr val="C4560C"/>
          </a:solidFill>
          <a:ln w="12700">
            <a:solidFill>
              <a:srgbClr val="C4560C"/>
            </a:solidFill>
            <a:prstDash val="solid"/>
          </a:ln>
        </p:spPr>
      </p:sp>
      <p:sp>
        <p:nvSpPr>
          <p:cNvPr id="13" name="Text 11"/>
          <p:cNvSpPr txBox="1"/>
          <p:nvPr/>
        </p:nvSpPr>
        <p:spPr>
          <a:xfrm>
            <a:off x="6470752" y="15179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7037680" y="1426464"/>
            <a:ext cx="4340200" cy="310896"/>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Brace every branch</a:t>
            </a:r>
            <a:endParaRPr lang="en-US" sz="1400" dirty="0"/>
          </a:p>
        </p:txBody>
      </p:sp>
      <p:sp>
        <p:nvSpPr>
          <p:cNvPr id="15" name="Text 13"/>
          <p:cNvSpPr txBox="1"/>
          <p:nvPr/>
        </p:nvSpPr>
        <p:spPr>
          <a:xfrm>
            <a:off x="7037680" y="1773936"/>
            <a:ext cx="4340200" cy="82296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The stray semicolon and the dangling else both stop being possible the moment you always use braces.</a:t>
            </a:r>
            <a:endParaRPr lang="en-US" sz="1200" dirty="0"/>
          </a:p>
        </p:txBody>
      </p:sp>
      <p:sp>
        <p:nvSpPr>
          <p:cNvPr id="16" name="Shape 14"/>
          <p:cNvSpPr/>
          <p:nvPr/>
        </p:nvSpPr>
        <p:spPr>
          <a:xfrm>
            <a:off x="566928" y="2862072"/>
            <a:ext cx="5391760" cy="1444752"/>
          </a:xfrm>
          <a:prstGeom prst="roundRect">
            <a:avLst>
              <a:gd name="adj" fmla="val 5696"/>
            </a:avLst>
          </a:prstGeom>
          <a:solidFill>
            <a:srgbClr val="F1F5F9"/>
          </a:solidFill>
          <a:ln w="12700">
            <a:solidFill>
              <a:srgbClr val="F1F5F9"/>
            </a:solidFill>
            <a:prstDash val="solid"/>
          </a:ln>
        </p:spPr>
      </p:sp>
      <p:sp>
        <p:nvSpPr>
          <p:cNvPr id="17" name="Shape 15"/>
          <p:cNvSpPr/>
          <p:nvPr/>
        </p:nvSpPr>
        <p:spPr>
          <a:xfrm>
            <a:off x="804672" y="3118104"/>
            <a:ext cx="402336" cy="402336"/>
          </a:xfrm>
          <a:prstGeom prst="ellipse">
            <a:avLst/>
          </a:prstGeom>
          <a:solidFill>
            <a:srgbClr val="C4560C"/>
          </a:solidFill>
          <a:ln w="12700">
            <a:solidFill>
              <a:srgbClr val="C4560C"/>
            </a:solidFill>
            <a:prstDash val="solid"/>
          </a:ln>
        </p:spPr>
      </p:sp>
      <p:sp>
        <p:nvSpPr>
          <p:cNvPr id="18" name="Text 16"/>
          <p:cNvSpPr txBox="1"/>
          <p:nvPr/>
        </p:nvSpPr>
        <p:spPr>
          <a:xfrm>
            <a:off x="804672" y="31181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1371600" y="3026664"/>
            <a:ext cx="4340200" cy="310896"/>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A ladder stops at the first true rung</a:t>
            </a:r>
            <a:endParaRPr lang="en-US" sz="1400" dirty="0"/>
          </a:p>
        </p:txBody>
      </p:sp>
      <p:sp>
        <p:nvSpPr>
          <p:cNvPr id="20" name="Text 18"/>
          <p:cNvSpPr txBox="1"/>
          <p:nvPr/>
        </p:nvSpPr>
        <p:spPr>
          <a:xfrm>
            <a:off x="1371600" y="3374136"/>
            <a:ext cx="4340200" cy="82296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Nothing below it is evaluated — which is why order is part of the logic, and why upper bounds write themselves.</a:t>
            </a:r>
            <a:endParaRPr lang="en-US" sz="1200" dirty="0"/>
          </a:p>
        </p:txBody>
      </p:sp>
      <p:sp>
        <p:nvSpPr>
          <p:cNvPr id="21" name="Shape 19"/>
          <p:cNvSpPr/>
          <p:nvPr/>
        </p:nvSpPr>
        <p:spPr>
          <a:xfrm>
            <a:off x="6233008" y="2862072"/>
            <a:ext cx="5391760" cy="1444752"/>
          </a:xfrm>
          <a:prstGeom prst="roundRect">
            <a:avLst>
              <a:gd name="adj" fmla="val 5696"/>
            </a:avLst>
          </a:prstGeom>
          <a:solidFill>
            <a:srgbClr val="FFFFFF"/>
          </a:solidFill>
          <a:ln w="12700">
            <a:solidFill>
              <a:srgbClr val="D3DEE7"/>
            </a:solidFill>
            <a:prstDash val="solid"/>
          </a:ln>
        </p:spPr>
      </p:sp>
      <p:sp>
        <p:nvSpPr>
          <p:cNvPr id="22" name="Shape 20"/>
          <p:cNvSpPr/>
          <p:nvPr/>
        </p:nvSpPr>
        <p:spPr>
          <a:xfrm>
            <a:off x="6470752" y="3118104"/>
            <a:ext cx="402336" cy="402336"/>
          </a:xfrm>
          <a:prstGeom prst="ellipse">
            <a:avLst/>
          </a:prstGeom>
          <a:solidFill>
            <a:srgbClr val="C4560C"/>
          </a:solidFill>
          <a:ln w="12700">
            <a:solidFill>
              <a:srgbClr val="C4560C"/>
            </a:solidFill>
            <a:prstDash val="solid"/>
          </a:ln>
        </p:spPr>
      </p:sp>
      <p:sp>
        <p:nvSpPr>
          <p:cNvPr id="23" name="Text 21"/>
          <p:cNvSpPr txBox="1"/>
          <p:nvPr/>
        </p:nvSpPr>
        <p:spPr>
          <a:xfrm>
            <a:off x="6470752" y="31181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7037680" y="3026664"/>
            <a:ext cx="4340200" cy="310896"/>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&amp;&amp; and || stop early; &amp; and | do not</a:t>
            </a:r>
            <a:endParaRPr lang="en-US" sz="1400" dirty="0"/>
          </a:p>
        </p:txBody>
      </p:sp>
      <p:sp>
        <p:nvSpPr>
          <p:cNvPr id="25" name="Text 23"/>
          <p:cNvSpPr txBox="1"/>
          <p:nvPr/>
        </p:nvSpPr>
        <p:spPr>
          <a:xfrm>
            <a:off x="7037680" y="3374136"/>
            <a:ext cx="4340200" cy="82296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Short-circuiting is how you guard a division by first testing the divisor.</a:t>
            </a:r>
            <a:endParaRPr lang="en-US" sz="1200" dirty="0"/>
          </a:p>
        </p:txBody>
      </p:sp>
      <p:sp>
        <p:nvSpPr>
          <p:cNvPr id="26" name="Shape 24"/>
          <p:cNvSpPr/>
          <p:nvPr/>
        </p:nvSpPr>
        <p:spPr>
          <a:xfrm>
            <a:off x="566928" y="4462272"/>
            <a:ext cx="5391760" cy="1444752"/>
          </a:xfrm>
          <a:prstGeom prst="roundRect">
            <a:avLst>
              <a:gd name="adj" fmla="val 5696"/>
            </a:avLst>
          </a:prstGeom>
          <a:solidFill>
            <a:srgbClr val="F1F5F9"/>
          </a:solidFill>
          <a:ln w="12700">
            <a:solidFill>
              <a:srgbClr val="F1F5F9"/>
            </a:solidFill>
            <a:prstDash val="solid"/>
          </a:ln>
        </p:spPr>
      </p:sp>
      <p:sp>
        <p:nvSpPr>
          <p:cNvPr id="27" name="Shape 25"/>
          <p:cNvSpPr/>
          <p:nvPr/>
        </p:nvSpPr>
        <p:spPr>
          <a:xfrm>
            <a:off x="804672" y="4718304"/>
            <a:ext cx="402336" cy="402336"/>
          </a:xfrm>
          <a:prstGeom prst="ellipse">
            <a:avLst/>
          </a:prstGeom>
          <a:solidFill>
            <a:srgbClr val="C4560C"/>
          </a:solidFill>
          <a:ln w="12700">
            <a:solidFill>
              <a:srgbClr val="C4560C"/>
            </a:solidFill>
            <a:prstDash val="solid"/>
          </a:ln>
        </p:spPr>
      </p:sp>
      <p:sp>
        <p:nvSpPr>
          <p:cNvPr id="28" name="Text 26"/>
          <p:cNvSpPr txBox="1"/>
          <p:nvPr/>
        </p:nvSpPr>
        <p:spPr>
          <a:xfrm>
            <a:off x="804672" y="47183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1371600" y="4626864"/>
            <a:ext cx="4340200" cy="310896"/>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switch says 'one variable, a list of values'</a:t>
            </a:r>
            <a:endParaRPr lang="en-US" sz="1400" dirty="0"/>
          </a:p>
        </p:txBody>
      </p:sp>
      <p:sp>
        <p:nvSpPr>
          <p:cNvPr id="30" name="Text 28"/>
          <p:cNvSpPr txBox="1"/>
          <p:nvPr/>
        </p:nvSpPr>
        <p:spPr>
          <a:xfrm>
            <a:off x="1371600" y="4974336"/>
            <a:ext cx="4340200" cy="82296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Arrow labels have no fall-through. An exhaustive enum switch needs no default — and that is a feature.</a:t>
            </a:r>
            <a:endParaRPr lang="en-US" sz="1200" dirty="0"/>
          </a:p>
        </p:txBody>
      </p:sp>
      <p:sp>
        <p:nvSpPr>
          <p:cNvPr id="31" name="Shape 29"/>
          <p:cNvSpPr/>
          <p:nvPr/>
        </p:nvSpPr>
        <p:spPr>
          <a:xfrm>
            <a:off x="6233008" y="4462272"/>
            <a:ext cx="5391760" cy="1444752"/>
          </a:xfrm>
          <a:prstGeom prst="roundRect">
            <a:avLst>
              <a:gd name="adj" fmla="val 5696"/>
            </a:avLst>
          </a:prstGeom>
          <a:solidFill>
            <a:srgbClr val="FFFFFF"/>
          </a:solidFill>
          <a:ln w="12700">
            <a:solidFill>
              <a:srgbClr val="D3DEE7"/>
            </a:solidFill>
            <a:prstDash val="solid"/>
          </a:ln>
        </p:spPr>
      </p:sp>
      <p:sp>
        <p:nvSpPr>
          <p:cNvPr id="32" name="Shape 30"/>
          <p:cNvSpPr/>
          <p:nvPr/>
        </p:nvSpPr>
        <p:spPr>
          <a:xfrm>
            <a:off x="6470752" y="4718304"/>
            <a:ext cx="402336" cy="402336"/>
          </a:xfrm>
          <a:prstGeom prst="ellipse">
            <a:avLst/>
          </a:prstGeom>
          <a:solidFill>
            <a:srgbClr val="C4560C"/>
          </a:solidFill>
          <a:ln w="12700">
            <a:solidFill>
              <a:srgbClr val="C4560C"/>
            </a:solidFill>
            <a:prstDash val="solid"/>
          </a:ln>
        </p:spPr>
      </p:sp>
      <p:sp>
        <p:nvSpPr>
          <p:cNvPr id="33" name="Text 31"/>
          <p:cNvSpPr txBox="1"/>
          <p:nvPr/>
        </p:nvSpPr>
        <p:spPr>
          <a:xfrm>
            <a:off x="6470752" y="47183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4" name="Text 32"/>
          <p:cNvSpPr txBox="1"/>
          <p:nvPr/>
        </p:nvSpPr>
        <p:spPr>
          <a:xfrm>
            <a:off x="7037680" y="4626864"/>
            <a:ext cx="4340200" cy="310896"/>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 is for choosing a value</a:t>
            </a:r>
            <a:endParaRPr lang="en-US" sz="1400" dirty="0"/>
          </a:p>
        </p:txBody>
      </p:sp>
      <p:sp>
        <p:nvSpPr>
          <p:cNvPr id="35" name="Text 33"/>
          <p:cNvSpPr txBox="1"/>
          <p:nvPr/>
        </p:nvSpPr>
        <p:spPr>
          <a:xfrm>
            <a:off x="7037680" y="4974336"/>
            <a:ext cx="4340200" cy="82296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If the branches do things rather than produce things, write if-else.</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NEXT STEPS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Before Thursday, 17 September</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36</a:t>
            </a:r>
            <a:endParaRPr lang="en-US" sz="900" dirty="0"/>
          </a:p>
        </p:txBody>
      </p:sp>
      <p:sp>
        <p:nvSpPr>
          <p:cNvPr id="6" name="Shape 4"/>
          <p:cNvSpPr/>
          <p:nvPr/>
        </p:nvSpPr>
        <p:spPr>
          <a:xfrm>
            <a:off x="566928" y="1353312"/>
            <a:ext cx="5346040" cy="1051560"/>
          </a:xfrm>
          <a:prstGeom prst="roundRect">
            <a:avLst>
              <a:gd name="adj" fmla="val 7826"/>
            </a:avLst>
          </a:prstGeom>
          <a:solidFill>
            <a:srgbClr val="F1F5F9"/>
          </a:solidFill>
          <a:ln w="12700">
            <a:solidFill>
              <a:srgbClr val="F1F5F9"/>
            </a:solidFill>
            <a:prstDash val="solid"/>
          </a:ln>
        </p:spPr>
      </p:sp>
      <p:sp>
        <p:nvSpPr>
          <p:cNvPr id="7" name="Shape 5"/>
          <p:cNvSpPr/>
          <p:nvPr/>
        </p:nvSpPr>
        <p:spPr>
          <a:xfrm>
            <a:off x="804672" y="1682496"/>
            <a:ext cx="384048" cy="384048"/>
          </a:xfrm>
          <a:prstGeom prst="ellipse">
            <a:avLst/>
          </a:prstGeom>
          <a:solidFill>
            <a:srgbClr val="176240"/>
          </a:solidFill>
          <a:ln w="12700">
            <a:solidFill>
              <a:srgbClr val="176240"/>
            </a:solidFill>
            <a:prstDash val="solid"/>
          </a:ln>
        </p:spPr>
      </p:sp>
      <p:sp>
        <p:nvSpPr>
          <p:cNvPr id="8" name="Text 6"/>
          <p:cNvSpPr txBox="1"/>
          <p:nvPr/>
        </p:nvSpPr>
        <p:spPr>
          <a:xfrm>
            <a:off x="804672" y="1682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9" name="Text 7"/>
          <p:cNvSpPr txBox="1"/>
          <p:nvPr/>
        </p:nvSpPr>
        <p:spPr>
          <a:xfrm>
            <a:off x="1353312" y="1517904"/>
            <a:ext cx="4321912"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Write the five practice programs</a:t>
            </a:r>
            <a:endParaRPr lang="en-US" sz="1350" dirty="0"/>
          </a:p>
        </p:txBody>
      </p:sp>
      <p:sp>
        <p:nvSpPr>
          <p:cNvPr id="10" name="Text 8"/>
          <p:cNvSpPr txBox="1"/>
          <p:nvPr/>
        </p:nvSpPr>
        <p:spPr>
          <a:xfrm>
            <a:off x="1353312" y="1828800"/>
            <a:ext cx="4321912" cy="50292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Type them, run them, and feed each one input that should fail.</a:t>
            </a:r>
            <a:endParaRPr lang="en-US" sz="1200" dirty="0"/>
          </a:p>
        </p:txBody>
      </p:sp>
      <p:sp>
        <p:nvSpPr>
          <p:cNvPr id="11" name="Shape 9"/>
          <p:cNvSpPr/>
          <p:nvPr/>
        </p:nvSpPr>
        <p:spPr>
          <a:xfrm>
            <a:off x="566928" y="2487168"/>
            <a:ext cx="5346040" cy="1051560"/>
          </a:xfrm>
          <a:prstGeom prst="roundRect">
            <a:avLst>
              <a:gd name="adj" fmla="val 7826"/>
            </a:avLst>
          </a:prstGeom>
          <a:solidFill>
            <a:srgbClr val="FFFFFF"/>
          </a:solidFill>
          <a:ln w="12700">
            <a:solidFill>
              <a:srgbClr val="D3DEE7"/>
            </a:solidFill>
            <a:prstDash val="solid"/>
          </a:ln>
        </p:spPr>
      </p:sp>
      <p:sp>
        <p:nvSpPr>
          <p:cNvPr id="12" name="Shape 10"/>
          <p:cNvSpPr/>
          <p:nvPr/>
        </p:nvSpPr>
        <p:spPr>
          <a:xfrm>
            <a:off x="804672" y="2816352"/>
            <a:ext cx="384048" cy="384048"/>
          </a:xfrm>
          <a:prstGeom prst="ellipse">
            <a:avLst/>
          </a:prstGeom>
          <a:solidFill>
            <a:srgbClr val="176240"/>
          </a:solidFill>
          <a:ln w="12700">
            <a:solidFill>
              <a:srgbClr val="176240"/>
            </a:solidFill>
            <a:prstDash val="solid"/>
          </a:ln>
        </p:spPr>
      </p:sp>
      <p:sp>
        <p:nvSpPr>
          <p:cNvPr id="13" name="Text 11"/>
          <p:cNvSpPr txBox="1"/>
          <p:nvPr/>
        </p:nvSpPr>
        <p:spPr>
          <a:xfrm>
            <a:off x="804672" y="2816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4" name="Text 12"/>
          <p:cNvSpPr txBox="1"/>
          <p:nvPr/>
        </p:nvSpPr>
        <p:spPr>
          <a:xfrm>
            <a:off x="1353312" y="2651760"/>
            <a:ext cx="4321912"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Read Liang, Chapter 3</a:t>
            </a:r>
            <a:endParaRPr lang="en-US" sz="1350" dirty="0"/>
          </a:p>
        </p:txBody>
      </p:sp>
      <p:sp>
        <p:nvSpPr>
          <p:cNvPr id="15" name="Text 13"/>
          <p:cNvSpPr txBox="1"/>
          <p:nvPr/>
        </p:nvSpPr>
        <p:spPr>
          <a:xfrm>
            <a:off x="1353312" y="2962656"/>
            <a:ext cx="4321912" cy="50292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Sections 3.1 to 3.16. The checkpoint questions at the end of each section are quiz-shaped.</a:t>
            </a:r>
            <a:endParaRPr lang="en-US" sz="1200" dirty="0"/>
          </a:p>
        </p:txBody>
      </p:sp>
      <p:sp>
        <p:nvSpPr>
          <p:cNvPr id="16" name="Shape 14"/>
          <p:cNvSpPr/>
          <p:nvPr/>
        </p:nvSpPr>
        <p:spPr>
          <a:xfrm>
            <a:off x="566928" y="3621024"/>
            <a:ext cx="5346040" cy="1051560"/>
          </a:xfrm>
          <a:prstGeom prst="roundRect">
            <a:avLst>
              <a:gd name="adj" fmla="val 7826"/>
            </a:avLst>
          </a:prstGeom>
          <a:solidFill>
            <a:srgbClr val="F1F5F9"/>
          </a:solidFill>
          <a:ln w="12700">
            <a:solidFill>
              <a:srgbClr val="F1F5F9"/>
            </a:solidFill>
            <a:prstDash val="solid"/>
          </a:ln>
        </p:spPr>
      </p:sp>
      <p:sp>
        <p:nvSpPr>
          <p:cNvPr id="17" name="Shape 15"/>
          <p:cNvSpPr/>
          <p:nvPr/>
        </p:nvSpPr>
        <p:spPr>
          <a:xfrm>
            <a:off x="804672" y="3950208"/>
            <a:ext cx="384048" cy="384048"/>
          </a:xfrm>
          <a:prstGeom prst="ellipse">
            <a:avLst/>
          </a:prstGeom>
          <a:solidFill>
            <a:srgbClr val="176240"/>
          </a:solidFill>
          <a:ln w="12700">
            <a:solidFill>
              <a:srgbClr val="176240"/>
            </a:solidFill>
            <a:prstDash val="solid"/>
          </a:ln>
        </p:spPr>
      </p:sp>
      <p:sp>
        <p:nvSpPr>
          <p:cNvPr id="18" name="Text 16"/>
          <p:cNvSpPr txBox="1"/>
          <p:nvPr/>
        </p:nvSpPr>
        <p:spPr>
          <a:xfrm>
            <a:off x="804672" y="39502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9" name="Text 17"/>
          <p:cNvSpPr txBox="1"/>
          <p:nvPr/>
        </p:nvSpPr>
        <p:spPr>
          <a:xfrm>
            <a:off x="1353312" y="3785616"/>
            <a:ext cx="4321912"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Re-run the &amp;&amp;/&amp; experiment</a:t>
            </a:r>
            <a:endParaRPr lang="en-US" sz="1350" dirty="0"/>
          </a:p>
        </p:txBody>
      </p:sp>
      <p:sp>
        <p:nvSpPr>
          <p:cNvPr id="20" name="Text 18"/>
          <p:cNvSpPr txBox="1"/>
          <p:nvPr/>
        </p:nvSpPr>
        <p:spPr>
          <a:xfrm>
            <a:off x="1353312" y="4096512"/>
            <a:ext cx="4321912" cy="50292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Two lines, one variable. Predict the value of x before you press run.</a:t>
            </a:r>
            <a:endParaRPr lang="en-US" sz="1200" dirty="0"/>
          </a:p>
        </p:txBody>
      </p:sp>
      <p:sp>
        <p:nvSpPr>
          <p:cNvPr id="21" name="Shape 19"/>
          <p:cNvSpPr/>
          <p:nvPr/>
        </p:nvSpPr>
        <p:spPr>
          <a:xfrm>
            <a:off x="566928" y="4754880"/>
            <a:ext cx="5346040" cy="1051560"/>
          </a:xfrm>
          <a:prstGeom prst="roundRect">
            <a:avLst>
              <a:gd name="adj" fmla="val 7826"/>
            </a:avLst>
          </a:prstGeom>
          <a:solidFill>
            <a:srgbClr val="FFFFFF"/>
          </a:solidFill>
          <a:ln w="12700">
            <a:solidFill>
              <a:srgbClr val="D3DEE7"/>
            </a:solidFill>
            <a:prstDash val="solid"/>
          </a:ln>
        </p:spPr>
      </p:sp>
      <p:sp>
        <p:nvSpPr>
          <p:cNvPr id="22" name="Shape 20"/>
          <p:cNvSpPr/>
          <p:nvPr/>
        </p:nvSpPr>
        <p:spPr>
          <a:xfrm>
            <a:off x="804672" y="5084064"/>
            <a:ext cx="384048" cy="384048"/>
          </a:xfrm>
          <a:prstGeom prst="ellipse">
            <a:avLst/>
          </a:prstGeom>
          <a:solidFill>
            <a:srgbClr val="176240"/>
          </a:solidFill>
          <a:ln w="12700">
            <a:solidFill>
              <a:srgbClr val="176240"/>
            </a:solidFill>
            <a:prstDash val="solid"/>
          </a:ln>
        </p:spPr>
      </p:sp>
      <p:sp>
        <p:nvSpPr>
          <p:cNvPr id="23" name="Text 21"/>
          <p:cNvSpPr txBox="1"/>
          <p:nvPr/>
        </p:nvSpPr>
        <p:spPr>
          <a:xfrm>
            <a:off x="804672" y="50840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4" name="Text 22"/>
          <p:cNvSpPr txBox="1"/>
          <p:nvPr/>
        </p:nvSpPr>
        <p:spPr>
          <a:xfrm>
            <a:off x="1353312" y="4919472"/>
            <a:ext cx="4321912"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Set one breakpoint in IntelliJ</a:t>
            </a:r>
            <a:endParaRPr lang="en-US" sz="1350" dirty="0"/>
          </a:p>
        </p:txBody>
      </p:sp>
      <p:sp>
        <p:nvSpPr>
          <p:cNvPr id="25" name="Text 23"/>
          <p:cNvSpPr txBox="1"/>
          <p:nvPr/>
        </p:nvSpPr>
        <p:spPr>
          <a:xfrm>
            <a:off x="1353312" y="5230368"/>
            <a:ext cx="4321912" cy="50292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Anywhere in the grade ladder. Step through it once and watch score.</a:t>
            </a:r>
            <a:endParaRPr lang="en-US" sz="1200" dirty="0"/>
          </a:p>
        </p:txBody>
      </p:sp>
      <p:sp>
        <p:nvSpPr>
          <p:cNvPr id="26" name="Shape 24"/>
          <p:cNvSpPr/>
          <p:nvPr/>
        </p:nvSpPr>
        <p:spPr>
          <a:xfrm>
            <a:off x="6278728" y="1353312"/>
            <a:ext cx="5346040" cy="2103120"/>
          </a:xfrm>
          <a:prstGeom prst="roundRect">
            <a:avLst>
              <a:gd name="adj" fmla="val 3913"/>
            </a:avLst>
          </a:prstGeom>
          <a:solidFill>
            <a:srgbClr val="E4ECF4"/>
          </a:solidFill>
          <a:ln w="12700">
            <a:solidFill>
              <a:srgbClr val="E4ECF4"/>
            </a:solidFill>
            <a:prstDash val="solid"/>
          </a:ln>
        </p:spPr>
      </p:sp>
      <p:sp>
        <p:nvSpPr>
          <p:cNvPr id="27" name="Text 25"/>
          <p:cNvSpPr txBox="1"/>
          <p:nvPr/>
        </p:nvSpPr>
        <p:spPr>
          <a:xfrm>
            <a:off x="6553048" y="1591056"/>
            <a:ext cx="4797400" cy="274320"/>
          </a:xfrm>
          <a:prstGeom prst="rect">
            <a:avLst/>
          </a:prstGeom>
          <a:noFill/>
          <a:ln/>
        </p:spPr>
        <p:txBody>
          <a:bodyPr wrap="square" lIns="0" tIns="0" rIns="0" bIns="0" rtlCol="0" anchor="ctr"/>
          <a:lstStyle/>
          <a:p>
            <a:pPr indent="0" marL="0">
              <a:buNone/>
            </a:pPr>
            <a:r>
              <a:rPr lang="en-US" sz="1100" b="1" spc="140" kern="0" dirty="0">
                <a:solidFill>
                  <a:srgbClr val="9A430A"/>
                </a:solidFill>
                <a:latin typeface="Calibri" pitchFamily="34" charset="0"/>
                <a:ea typeface="Calibri" pitchFamily="34" charset="-122"/>
                <a:cs typeface="Calibri" pitchFamily="34" charset="-120"/>
              </a:rPr>
              <a:t>Next session</a:t>
            </a:r>
            <a:endParaRPr lang="en-US" sz="1100" dirty="0"/>
          </a:p>
        </p:txBody>
      </p:sp>
      <p:sp>
        <p:nvSpPr>
          <p:cNvPr id="28" name="Text 26"/>
          <p:cNvSpPr txBox="1"/>
          <p:nvPr/>
        </p:nvSpPr>
        <p:spPr>
          <a:xfrm>
            <a:off x="6553048" y="1901952"/>
            <a:ext cx="4797400" cy="621792"/>
          </a:xfrm>
          <a:prstGeom prst="rect">
            <a:avLst/>
          </a:prstGeom>
          <a:noFill/>
          <a:ln/>
        </p:spPr>
        <p:txBody>
          <a:bodyPr wrap="square" lIns="0" tIns="0" rIns="0" bIns="0" rtlCol="0" anchor="t"/>
          <a:lstStyle/>
          <a:p>
            <a:pPr indent="0" marL="0">
              <a:buNone/>
            </a:pPr>
            <a:r>
              <a:rPr lang="en-US" sz="2100" b="1" dirty="0">
                <a:solidFill>
                  <a:srgbClr val="0F2942"/>
                </a:solidFill>
                <a:latin typeface="Cambria" pitchFamily="34" charset="0"/>
                <a:ea typeface="Cambria" pitchFamily="34" charset="-122"/>
                <a:cs typeface="Cambria" pitchFamily="34" charset="-120"/>
              </a:rPr>
              <a:t>Thursday 17.09 — Control Flow, Part 2</a:t>
            </a:r>
            <a:endParaRPr lang="en-US" sz="2100" dirty="0"/>
          </a:p>
        </p:txBody>
      </p:sp>
      <p:sp>
        <p:nvSpPr>
          <p:cNvPr id="29" name="Text 27"/>
          <p:cNvSpPr txBox="1"/>
          <p:nvPr/>
        </p:nvSpPr>
        <p:spPr>
          <a:xfrm>
            <a:off x="6553048" y="2615184"/>
            <a:ext cx="4797400" cy="685800"/>
          </a:xfrm>
          <a:prstGeom prst="rect">
            <a:avLst/>
          </a:prstGeom>
          <a:noFill/>
          <a:ln/>
        </p:spPr>
        <p:txBody>
          <a:bodyPr wrap="square" lIns="0" tIns="0" rIns="0" bIns="0" rtlCol="0" anchor="t"/>
          <a:lstStyle/>
          <a:p>
            <a:pPr indent="0" marL="0">
              <a:lnSpc>
                <a:spcPct val="110000"/>
              </a:lnSpc>
              <a:buNone/>
            </a:pPr>
            <a:r>
              <a:rPr lang="en-US" sz="1250" dirty="0">
                <a:solidFill>
                  <a:srgbClr val="3A536B"/>
                </a:solidFill>
                <a:latin typeface="Calibri" pitchFamily="34" charset="0"/>
                <a:ea typeface="Calibri" pitchFamily="34" charset="-122"/>
                <a:cs typeface="Calibri" pitchFamily="34" charset="-120"/>
              </a:rPr>
              <a:t>Loops: while, do-while and for, nesting them, and knowing when to stop. Today's conditions are what every loop is steered by.</a:t>
            </a:r>
            <a:endParaRPr lang="en-US" sz="1250" dirty="0"/>
          </a:p>
        </p:txBody>
      </p:sp>
      <p:sp>
        <p:nvSpPr>
          <p:cNvPr id="30" name="Shape 28"/>
          <p:cNvSpPr/>
          <p:nvPr/>
        </p:nvSpPr>
        <p:spPr>
          <a:xfrm>
            <a:off x="6278728" y="3602736"/>
            <a:ext cx="5346040" cy="1051560"/>
          </a:xfrm>
          <a:prstGeom prst="roundRect">
            <a:avLst>
              <a:gd name="adj" fmla="val 7826"/>
            </a:avLst>
          </a:prstGeom>
          <a:solidFill>
            <a:srgbClr val="FBEAE8"/>
          </a:solidFill>
          <a:ln w="12700">
            <a:solidFill>
              <a:srgbClr val="FBEAE8"/>
            </a:solidFill>
            <a:prstDash val="solid"/>
          </a:ln>
        </p:spPr>
      </p:sp>
      <p:sp>
        <p:nvSpPr>
          <p:cNvPr id="31" name="Text 29"/>
          <p:cNvSpPr txBox="1"/>
          <p:nvPr/>
        </p:nvSpPr>
        <p:spPr>
          <a:xfrm>
            <a:off x="6553048" y="3602736"/>
            <a:ext cx="4797400" cy="1051560"/>
          </a:xfrm>
          <a:prstGeom prst="rect">
            <a:avLst/>
          </a:prstGeom>
          <a:noFill/>
          <a:ln/>
        </p:spPr>
        <p:txBody>
          <a:bodyPr wrap="square" lIns="0" tIns="0" rIns="0" bIns="0" rtlCol="0" anchor="ctr"/>
          <a:lstStyle/>
          <a:p>
            <a:pPr indent="0" marL="0">
              <a:lnSpc>
                <a:spcPct val="112000"/>
              </a:lnSpc>
              <a:buNone/>
            </a:pPr>
            <a:r>
              <a:rPr lang="en-US" sz="1250" b="1" dirty="0">
                <a:solidFill>
                  <a:srgbClr val="9C241C"/>
                </a:solidFill>
                <a:latin typeface="Calibri" pitchFamily="34" charset="0"/>
                <a:ea typeface="Calibri" pitchFamily="34" charset="-122"/>
                <a:cs typeface="Calibri" pitchFamily="34" charset="-120"/>
              </a:rPr>
              <a:t>Diary note: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no class on Tuesday 22 September — Bulgarian Independence Day. We resume on Thursday 24.09.</a:t>
            </a:r>
            <a:endParaRPr lang="en-US" sz="1250" dirty="0"/>
          </a:p>
        </p:txBody>
      </p:sp>
      <p:sp>
        <p:nvSpPr>
          <p:cNvPr id="32" name="Shape 30"/>
          <p:cNvSpPr/>
          <p:nvPr/>
        </p:nvSpPr>
        <p:spPr>
          <a:xfrm>
            <a:off x="6278728" y="4800600"/>
            <a:ext cx="5346040" cy="1051560"/>
          </a:xfrm>
          <a:prstGeom prst="roundRect">
            <a:avLst>
              <a:gd name="adj" fmla="val 7826"/>
            </a:avLst>
          </a:prstGeom>
          <a:solidFill>
            <a:srgbClr val="FBEEE0"/>
          </a:solidFill>
          <a:ln w="12700">
            <a:solidFill>
              <a:srgbClr val="FBEEE0"/>
            </a:solidFill>
            <a:prstDash val="solid"/>
          </a:ln>
        </p:spPr>
      </p:sp>
      <p:sp>
        <p:nvSpPr>
          <p:cNvPr id="33" name="Text 31"/>
          <p:cNvSpPr txBox="1"/>
          <p:nvPr/>
        </p:nvSpPr>
        <p:spPr>
          <a:xfrm>
            <a:off x="6553048" y="4800600"/>
            <a:ext cx="4797400" cy="1051560"/>
          </a:xfrm>
          <a:prstGeom prst="rect">
            <a:avLst/>
          </a:prstGeom>
          <a:noFill/>
          <a:ln/>
        </p:spPr>
        <p:txBody>
          <a:bodyPr wrap="square" lIns="0" tIns="0" rIns="0" bIns="0" rtlCol="0" anchor="ctr"/>
          <a:lstStyle/>
          <a:p>
            <a:pPr indent="0" marL="0">
              <a:lnSpc>
                <a:spcPct val="110000"/>
              </a:lnSpc>
              <a:buNone/>
            </a:pPr>
            <a:r>
              <a:rPr lang="en-US" sz="1250" b="1" dirty="0">
                <a:solidFill>
                  <a:srgbClr val="9A430A"/>
                </a:solidFill>
                <a:latin typeface="Calibri" pitchFamily="34" charset="0"/>
                <a:ea typeface="Calibri" pitchFamily="34" charset="-122"/>
                <a:cs typeface="Calibri" pitchFamily="34" charset="-120"/>
              </a:rPr>
              <a:t>Quiz 1 is on 01.10  </a:t>
            </a:r>
            <a:pPr indent="0" marL="0">
              <a:lnSpc>
                <a:spcPct val="110000"/>
              </a:lnSpc>
              <a:buNone/>
            </a:pPr>
            <a:r>
              <a:rPr lang="en-US" sz="1250" dirty="0">
                <a:solidFill>
                  <a:srgbClr val="3A536B"/>
                </a:solidFill>
                <a:latin typeface="Calibri" pitchFamily="34" charset="0"/>
                <a:ea typeface="Calibri" pitchFamily="34" charset="-122"/>
                <a:cs typeface="Calibri" pitchFamily="34" charset="-120"/>
              </a:rPr>
              <a:t>and covers Weeks 1–3 — everything on these slides is in scope.</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EDF2F7"/>
        </a:solidFill>
      </p:bgPr>
    </p:bg>
    <p:spTree>
      <p:nvGrpSpPr>
        <p:cNvPr id="1" name=""/>
        <p:cNvGrpSpPr/>
        <p:nvPr/>
      </p:nvGrpSpPr>
      <p:grpSpPr>
        <a:xfrm>
          <a:off x="0" y="0"/>
          <a:ext cx="0" cy="0"/>
          <a:chOff x="0" y="0"/>
          <a:chExt cx="0" cy="0"/>
        </a:xfrm>
      </p:grpSpPr>
      <p:sp>
        <p:nvSpPr>
          <p:cNvPr id="2" name="Text 0"/>
          <p:cNvSpPr txBox="1"/>
          <p:nvPr/>
        </p:nvSpPr>
        <p:spPr>
          <a:xfrm>
            <a:off x="566928" y="2331720"/>
            <a:ext cx="7772400" cy="1005840"/>
          </a:xfrm>
          <a:prstGeom prst="rect">
            <a:avLst/>
          </a:prstGeom>
          <a:noFill/>
          <a:ln/>
        </p:spPr>
        <p:txBody>
          <a:bodyPr wrap="square" lIns="0" tIns="0" rIns="0" bIns="0" rtlCol="0" anchor="ctr"/>
          <a:lstStyle/>
          <a:p>
            <a:pPr indent="0" marL="0">
              <a:buNone/>
            </a:pPr>
            <a:r>
              <a:rPr lang="en-US" sz="5800" b="1" dirty="0">
                <a:solidFill>
                  <a:srgbClr val="0F2942"/>
                </a:solidFill>
                <a:latin typeface="Cambria" pitchFamily="34" charset="0"/>
                <a:ea typeface="Cambria" pitchFamily="34" charset="-122"/>
                <a:cs typeface="Cambria" pitchFamily="34" charset="-120"/>
              </a:rPr>
              <a:t>Questions?</a:t>
            </a:r>
            <a:endParaRPr lang="en-US" sz="5800" dirty="0"/>
          </a:p>
        </p:txBody>
      </p:sp>
      <p:sp>
        <p:nvSpPr>
          <p:cNvPr id="3" name="Text 1"/>
          <p:cNvSpPr txBox="1"/>
          <p:nvPr/>
        </p:nvSpPr>
        <p:spPr>
          <a:xfrm>
            <a:off x="566928" y="3383280"/>
            <a:ext cx="7772400" cy="402336"/>
          </a:xfrm>
          <a:prstGeom prst="rect">
            <a:avLst/>
          </a:prstGeom>
          <a:noFill/>
          <a:ln/>
        </p:spPr>
        <p:txBody>
          <a:bodyPr wrap="square" lIns="0" tIns="0" rIns="0" bIns="0" rtlCol="0" anchor="ctr"/>
          <a:lstStyle/>
          <a:p>
            <a:pPr indent="0" marL="0">
              <a:buNone/>
            </a:pPr>
            <a:r>
              <a:rPr lang="en-US" sz="1800" dirty="0">
                <a:solidFill>
                  <a:srgbClr val="9A430A"/>
                </a:solidFill>
                <a:latin typeface="Calibri" pitchFamily="34" charset="0"/>
                <a:ea typeface="Calibri" pitchFamily="34" charset="-122"/>
                <a:cs typeface="Calibri" pitchFamily="34" charset="-120"/>
              </a:rPr>
              <a:t>Thank you for your attention — see you on Thursday.</a:t>
            </a:r>
            <a:endParaRPr lang="en-US" sz="1800" dirty="0"/>
          </a:p>
        </p:txBody>
      </p:sp>
      <p:sp>
        <p:nvSpPr>
          <p:cNvPr id="4" name="Text 2"/>
          <p:cNvSpPr txBox="1"/>
          <p:nvPr/>
        </p:nvSpPr>
        <p:spPr>
          <a:xfrm>
            <a:off x="566928" y="4206240"/>
            <a:ext cx="8229600" cy="1005840"/>
          </a:xfrm>
          <a:prstGeom prst="rect">
            <a:avLst/>
          </a:prstGeom>
          <a:noFill/>
          <a:ln/>
        </p:spPr>
        <p:txBody>
          <a:bodyPr wrap="square" lIns="0" tIns="0" rIns="0" bIns="0" rtlCol="0" anchor="ctr"/>
          <a:lstStyle/>
          <a:p>
            <a:pPr indent="0" marL="0">
              <a:lnSpc>
                <a:spcPct val="135000"/>
              </a:lnSpc>
              <a:buNone/>
            </a:pPr>
            <a:r>
              <a:rPr lang="en-US" sz="1350" b="1" dirty="0">
                <a:solidFill>
                  <a:srgbClr val="0F2942"/>
                </a:solidFill>
                <a:latin typeface="Calibri" pitchFamily="34" charset="0"/>
                <a:ea typeface="Calibri" pitchFamily="34" charset="-122"/>
                <a:cs typeface="Calibri" pitchFamily="34" charset="-120"/>
              </a:rPr>
              <a:t>Dr. Narasimha Rao Vajjhala</a:t>
            </a:r>
            <a:endParaRPr lang="en-US" sz="1350" dirty="0"/>
          </a:p>
          <a:p>
            <a:pPr indent="0" marL="0">
              <a:lnSpc>
                <a:spcPct val="135000"/>
              </a:lnSpc>
              <a:buNone/>
            </a:pPr>
            <a:r>
              <a:rPr lang="en-US" sz="1350" dirty="0">
                <a:solidFill>
                  <a:srgbClr val="3A536B"/>
                </a:solidFill>
                <a:latin typeface="Calibri" pitchFamily="34" charset="0"/>
                <a:ea typeface="Calibri" pitchFamily="34" charset="-122"/>
                <a:cs typeface="Calibri" pitchFamily="34" charset="-120"/>
              </a:rPr>
              <a:t>nrao@aubg.edu  ·  Office MB 253  ·  Office hours Tue &amp; Thu 15:00–17:30</a:t>
            </a:r>
            <a:endParaRPr lang="en-US" sz="1350" dirty="0"/>
          </a:p>
          <a:p>
            <a:pPr indent="0" marL="0">
              <a:lnSpc>
                <a:spcPct val="135000"/>
              </a:lnSpc>
              <a:buNone/>
            </a:pPr>
            <a:r>
              <a:rPr lang="en-US" sz="1350" dirty="0">
                <a:solidFill>
                  <a:srgbClr val="3A536B"/>
                </a:solidFill>
                <a:latin typeface="Calibri" pitchFamily="34" charset="0"/>
                <a:ea typeface="Calibri" pitchFamily="34" charset="-122"/>
                <a:cs typeface="Calibri" pitchFamily="34" charset="-120"/>
              </a:rPr>
              <a:t>Slides, recordings and the syllabus: aubg.instructure.com</a:t>
            </a:r>
            <a:endParaRPr lang="en-US" sz="1350" dirty="0"/>
          </a:p>
        </p:txBody>
      </p:sp>
      <p:sp>
        <p:nvSpPr>
          <p:cNvPr id="5" name="Text 3"/>
          <p:cNvSpPr txBox="1"/>
          <p:nvPr/>
        </p:nvSpPr>
        <p:spPr>
          <a:xfrm>
            <a:off x="7601407" y="2377440"/>
            <a:ext cx="4023360" cy="822960"/>
          </a:xfrm>
          <a:prstGeom prst="rect">
            <a:avLst/>
          </a:prstGeom>
          <a:noFill/>
          <a:ln/>
        </p:spPr>
        <p:txBody>
          <a:bodyPr wrap="square" lIns="0" tIns="0" rIns="0" bIns="0" rtlCol="0" anchor="ctr"/>
          <a:lstStyle/>
          <a:p>
            <a:pPr algn="r" indent="0" marL="0">
              <a:buNone/>
            </a:pPr>
            <a:r>
              <a:rPr lang="en-US" sz="4000" b="1" dirty="0">
                <a:solidFill>
                  <a:srgbClr val="5E778C"/>
                </a:solidFill>
                <a:latin typeface="Cambria" pitchFamily="34" charset="0"/>
                <a:ea typeface="Cambria" pitchFamily="34" charset="-122"/>
                <a:cs typeface="Cambria" pitchFamily="34" charset="-120"/>
              </a:rPr>
              <a:t>COS 2030</a:t>
            </a:r>
            <a:endParaRPr lang="en-US" sz="4000" dirty="0"/>
          </a:p>
        </p:txBody>
      </p:sp>
      <p:sp>
        <p:nvSpPr>
          <p:cNvPr id="6" name="Text 4"/>
          <p:cNvSpPr txBox="1"/>
          <p:nvPr/>
        </p:nvSpPr>
        <p:spPr>
          <a:xfrm>
            <a:off x="7601407" y="3200400"/>
            <a:ext cx="4023360" cy="731520"/>
          </a:xfrm>
          <a:prstGeom prst="rect">
            <a:avLst/>
          </a:prstGeom>
          <a:noFill/>
          <a:ln/>
        </p:spPr>
        <p:txBody>
          <a:bodyPr wrap="square" lIns="0" tIns="0" rIns="0" bIns="0" rtlCol="0" anchor="ctr"/>
          <a:lstStyle/>
          <a:p>
            <a:pPr algn="r" indent="0" marL="0">
              <a:lnSpc>
                <a:spcPct val="120000"/>
              </a:lnSpc>
              <a:buNone/>
            </a:pPr>
            <a:r>
              <a:rPr lang="en-US" sz="1300" dirty="0">
                <a:solidFill>
                  <a:srgbClr val="4B6377"/>
                </a:solidFill>
                <a:latin typeface="Calibri" pitchFamily="34" charset="0"/>
                <a:ea typeface="Calibri" pitchFamily="34" charset="-122"/>
                <a:cs typeface="Calibri" pitchFamily="34" charset="-120"/>
              </a:rPr>
              <a:t>Control Flow, Part 1 — Selection</a:t>
            </a:r>
            <a:endParaRPr lang="en-US" sz="1300" dirty="0"/>
          </a:p>
          <a:p>
            <a:pPr algn="r" indent="0" marL="0">
              <a:lnSpc>
                <a:spcPct val="120000"/>
              </a:lnSpc>
              <a:buNone/>
            </a:pPr>
            <a:r>
              <a:rPr lang="en-US" sz="1300" dirty="0">
                <a:solidFill>
                  <a:srgbClr val="4B6377"/>
                </a:solidFill>
                <a:latin typeface="Calibri" pitchFamily="34" charset="0"/>
                <a:ea typeface="Calibri" pitchFamily="34" charset="-122"/>
                <a:cs typeface="Calibri" pitchFamily="34" charset="-120"/>
              </a:rPr>
              <a:t>Fall 2026 · Lecture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American University in Bulgaria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 2030 - Basics in Java Programming - Lecture 3</dc:title>
  <dc:subject>PptxGenJS Presentation</dc:subject>
  <dc:creator>Dr. Narasimha Rao Vajjhala</dc:creator>
  <cp:lastModifiedBy>Dr. Narasimha Rao Vajjhala</cp:lastModifiedBy>
  <cp:revision>1</cp:revision>
  <dcterms:created xsi:type="dcterms:W3CDTF">2026-09-11T07:04:47Z</dcterms:created>
  <dcterms:modified xsi:type="dcterms:W3CDTF">2026-09-11T07:04:47Z</dcterms:modified>
</cp:coreProperties>
</file>