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Tuesday the program learned to choose. Today it learns to repeat — and a condition that was evaluated once now gets evaluated on every pass, which is where the interesting mistakes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what has to be true for the loop to stop. Two answers are needed: the condition must eventually become false, and something inside the body must change a variable the condition depends on. Every infinite loop you will write this semester breaks one of those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green return arrow: that is the only thing that distinguishes a loop from an if. Everything else on this diagram is the one-way if from Tuesday.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slides animated this across nine frames. All nine say the same thing, and it is on this one slide. Walk down the numbered list out loud rather than clicking — and stop at step 6 to ask what would happen if count++ were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and get it wrong twice on purpose. Then ask: how would you let the student give up after three attempts? The answer is a counter in the condition, which is the bridge to the for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Redirection is a shell feature, not a Java one: &lt; replaces the keyboard with a file and &gt; replaces the screen with a file. The program is not recompiled and does not know the difference. Worth demonstrating — it turns a tedious test into a one-second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2: the semicolon makes the while body an empty statement, so the condition i &lt; 10 is true forever and the program hangs before it ever reaches the block below. It is bug 1 in disguise, and it is the same stray semicolon that broke the if statement on Tuesday.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Six. Every pass is preceded by a test, and one final test comes back false to end the loop. n passes means n + 1 evaluations. Q2: It prints 0 1 2 3 — four passes, not three. i takes the values 0, 1, 2 and 3 because the test is &lt;= rather than &lt;. This is the fencepost error from slide 9. Q3: Because 0 °C is a perfectly ordinary temperature. The sentinel must be a value that can never occur in the real data, otherwise a legitimate reading silently ends the input. Something like −999 works, or better, read until the input runs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Careful with the version on this slide: it adds data to sum before testing, so the sentinel 0 is included in the total. That is harmless because adding 0 changes nothing — but if the sentinel were −1 it would corrupt the answer. Worth raising as a question if the class is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need the counter after the loop — to report where a search stopped, say — declare it before the for and leave the initial-action empty. But prefer the declared-inside form; wanting the value afterwards is usually a sign the loop should have been a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slides used ten animation frames for this trace. Put this slide beside slide 6 and ask the class what actually differs between them: nothing but the layout of the code. That is the point of the 'which loop' slide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Variation 1 is in the textbook and almost never in real code — mention it so they recognise it, not so they write it. Variation 3 is the one worth adopting: a countdown loop is the quickest way to check whether they really understand the three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stray-semicolon family as the if statement on Tuesday. Every IDE warns about the for and while cases — tell them to read the grey squiggle rather than dismiss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plainly: there is no performance difference between the three. The compiler produces effectively identical bytecode. The choice is entirely about which one tells the reader what you meant.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do-while. The menu has to be displayed before the user can possibly choose to quit, so the body must run at least once. Writing it as a while forces you to duplicate the menu code before the loop. Q2: It prints 5 3 1 — three passes. i takes 5, 3, 1; then i becomes −1, the test −1 &gt; 0 fails, and the loop ends. The common wrong answers are 5 3 1 -1 (forgetting the test happens before the body) and 5 4 3 2 1 (not reading the step). Q3: Because a do-while is a statement that ends after the condition, and Java statements end in a semicolon. A for ends with the closing brace of its body, so a semicolon there would instead become an empty body — the bug on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"-".repeat(40) call is from Java 11 and is a tidier way to draw a rule than a third loop. Every number in the output box was produced by running this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 triangle is the exercise to set if the room is quiet: ask them to print it right-aligned instead, which needs a second inner loop printing spaces. It is the smallest problem that genuinely requires two inner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this slide came from running the code. This is a correction to the Spring deck, which framed the example purely as a summation-order problem. The pass count is the real story and it is much easier for a student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item values in the output box were produced by running the loop with a guard counter. Demonstrate it live if there is time — a hanging program makes the point better than a slide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was produced by running the program. Ask why the loop condition tests both n1 and n2 when k &lt;= Math.min(n1, n2) would do — it is the same thing, written with the tools they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in the table came from running the program. Note that money in a double is fine for a back-of-the-envelope answer like this and wrong for an accounting system — BigDecimal, as mentioned in Lecture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81. The outer loop runs 9 times and the inner loop runs 9 times within each of those — 9 × 9. Adding the header row makes 90 printf calls in the program as written. Q2: Five lines, and five stars on the last one. The inner bound j &lt;= i grows with the row, so the rows have 1, 2, 3, 4 and 5 stars — 15 passes of the inner loop in total, not 25. Q3: Because 0.01 has no exact binary representation. Ninety-nine additions of the stored approximation land just above 1.0, so the test i &lt;= 1.0 fails one pass early and the final term is never added. Control the loop with an int and compute the double inside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printed values were produced by running the program. Ask them to predict the number before you reveal it — most will say 20, because they read the while condition and stop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189 was produced by running the program. The often-cleaner alternative is to invert the test: if (number != 10 &amp;&amp; number != 11) sum += number; — no continue at all. Worth showing both and letting them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printed sequence was produced by running the for version. This slide answers the question raised on slide 17 and is worth the two minutes — it is the only asymmetry between the loop forms in the whole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of the trace and the output were produced by running the program; Integer.toHexString(1234) agrees. If asked for a shorter way: that library call is it — but writing it once is how you learn what a positional number system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was produced by running the program — the 50th prime is 229. If the class is ahead, ask why d &lt;= number / 2 is safe but wasteful, and why d * d &lt;= number is the right bound: a divisor larger than the square root must have a partner smaller than it, which the loop already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Q1: Nothing — the outer loop is unaffected. break leaves only the innermost loop that encloses it, and the outer loop proceeds to its next pass as normal. To leave both you need a labelled break, or a flag, or to move the work into a method and return. Q2: The sum is 18: 1 + 2 + 4 + 5 + 6, skipping 3, out of a total of 21. With break instead it would be 3 — the loop would end at n = 3 having added only 1 and 2. Q3: Because continue jumps to the end of the loop body. In a for, the action-after-each-iteration lives outside the body and still runs, so the counter advances. In a while there is no such slot — the update is an ordinary statement in the body, and continue jumps straight over it, so the loop never makes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are worked examples in Liang Chapter 5 with solutions on the companion site — tell them to write their own first. The palindrome problem needs String.charAt and length(), which is Chapter 4 material they have not formally had; that is why it is the optional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2F7"/>
        </a:solidFill>
      </p:bgPr>
    </p:bg>
    <p:spTree>
      <p:nvGrpSpPr>
        <p:cNvPr id="1" name=""/>
        <p:cNvGrpSpPr/>
        <p:nvPr/>
      </p:nvGrpSpPr>
      <p:grpSpPr>
        <a:xfrm>
          <a:off x="0" y="0"/>
          <a:ext cx="0" cy="0"/>
          <a:chOff x="0" y="0"/>
          <a:chExt cx="0" cy="0"/>
        </a:xfrm>
      </p:grpSpPr>
      <p:sp>
        <p:nvSpPr>
          <p:cNvPr id="2" name="Shape 0"/>
          <p:cNvSpPr/>
          <p:nvPr/>
        </p:nvSpPr>
        <p:spPr>
          <a:xfrm>
            <a:off x="566928" y="1417320"/>
            <a:ext cx="566928" cy="566928"/>
          </a:xfrm>
          <a:prstGeom prst="roundRect">
            <a:avLst>
              <a:gd name="adj" fmla="val 16129"/>
            </a:avLst>
          </a:prstGeom>
          <a:solidFill>
            <a:srgbClr val="C4560C"/>
          </a:solidFill>
          <a:ln w="12700">
            <a:solidFill>
              <a:srgbClr val="C4560C"/>
            </a:solidFill>
            <a:prstDash val="solid"/>
          </a:ln>
        </p:spPr>
      </p:sp>
      <p:sp>
        <p:nvSpPr>
          <p:cNvPr id="3" name="Text 1"/>
          <p:cNvSpPr txBox="1"/>
          <p:nvPr/>
        </p:nvSpPr>
        <p:spPr>
          <a:xfrm>
            <a:off x="566928" y="1417320"/>
            <a:ext cx="566928"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J</a:t>
            </a:r>
            <a:endParaRPr lang="en-US" sz="3000" dirty="0"/>
          </a:p>
        </p:txBody>
      </p:sp>
      <p:sp>
        <p:nvSpPr>
          <p:cNvPr id="4" name="Text 2"/>
          <p:cNvSpPr txBox="1"/>
          <p:nvPr/>
        </p:nvSpPr>
        <p:spPr>
          <a:xfrm>
            <a:off x="566928" y="822960"/>
            <a:ext cx="11057839" cy="256032"/>
          </a:xfrm>
          <a:prstGeom prst="rect">
            <a:avLst/>
          </a:prstGeom>
          <a:noFill/>
          <a:ln/>
        </p:spPr>
        <p:txBody>
          <a:bodyPr wrap="square" lIns="0" tIns="0" rIns="0" bIns="0" rtlCol="0" anchor="ctr"/>
          <a:lstStyle/>
          <a:p>
            <a:pPr indent="0" marL="0">
              <a:buNone/>
            </a:pPr>
            <a:r>
              <a:rPr lang="en-US" sz="1100" b="1" spc="180" kern="0" dirty="0">
                <a:solidFill>
                  <a:srgbClr val="9A430A"/>
                </a:solidFill>
                <a:latin typeface="Calibri" pitchFamily="34" charset="0"/>
                <a:ea typeface="Calibri" pitchFamily="34" charset="-122"/>
                <a:cs typeface="Calibri" pitchFamily="34" charset="-120"/>
              </a:rPr>
              <a:t>AMERICAN UNIVERSITY IN BULGARIA  ·  DEPARTMENT OF COMPUTER SCIENCE</a:t>
            </a:r>
            <a:endParaRPr lang="en-US" sz="1100" dirty="0"/>
          </a:p>
        </p:txBody>
      </p:sp>
      <p:sp>
        <p:nvSpPr>
          <p:cNvPr id="5" name="Text 3"/>
          <p:cNvSpPr txBox="1"/>
          <p:nvPr/>
        </p:nvSpPr>
        <p:spPr>
          <a:xfrm>
            <a:off x="566928" y="2212848"/>
            <a:ext cx="11057839" cy="713232"/>
          </a:xfrm>
          <a:prstGeom prst="rect">
            <a:avLst/>
          </a:prstGeom>
          <a:noFill/>
          <a:ln/>
        </p:spPr>
        <p:txBody>
          <a:bodyPr wrap="square" lIns="0" tIns="0" rIns="0" bIns="0" rtlCol="0" anchor="ctr"/>
          <a:lstStyle/>
          <a:p>
            <a:pPr indent="0" marL="0">
              <a:buNone/>
            </a:pPr>
            <a:r>
              <a:rPr lang="en-US" sz="5800" b="1" dirty="0">
                <a:solidFill>
                  <a:srgbClr val="0F2942"/>
                </a:solidFill>
                <a:latin typeface="Cambria" pitchFamily="34" charset="0"/>
                <a:ea typeface="Cambria" pitchFamily="34" charset="-122"/>
                <a:cs typeface="Cambria" pitchFamily="34" charset="-120"/>
              </a:rPr>
              <a:t>COS 2030</a:t>
            </a:r>
            <a:endParaRPr lang="en-US" sz="5800" dirty="0"/>
          </a:p>
        </p:txBody>
      </p:sp>
      <p:sp>
        <p:nvSpPr>
          <p:cNvPr id="6" name="Text 4"/>
          <p:cNvSpPr txBox="1"/>
          <p:nvPr/>
        </p:nvSpPr>
        <p:spPr>
          <a:xfrm>
            <a:off x="566928" y="2944368"/>
            <a:ext cx="11057839" cy="566928"/>
          </a:xfrm>
          <a:prstGeom prst="rect">
            <a:avLst/>
          </a:prstGeom>
          <a:noFill/>
          <a:ln/>
        </p:spPr>
        <p:txBody>
          <a:bodyPr wrap="square" lIns="0" tIns="0" rIns="0" bIns="0" rtlCol="0" anchor="ctr"/>
          <a:lstStyle/>
          <a:p>
            <a:pPr indent="0" marL="0">
              <a:buNone/>
            </a:pPr>
            <a:r>
              <a:rPr lang="en-US" sz="3400" dirty="0">
                <a:solidFill>
                  <a:srgbClr val="3A536B"/>
                </a:solidFill>
                <a:latin typeface="Cambria" pitchFamily="34" charset="0"/>
                <a:ea typeface="Cambria" pitchFamily="34" charset="-122"/>
                <a:cs typeface="Cambria" pitchFamily="34" charset="-120"/>
              </a:rPr>
              <a:t>Control Flow, Part 2 — Loops</a:t>
            </a:r>
            <a:endParaRPr lang="en-US" sz="3400" dirty="0"/>
          </a:p>
        </p:txBody>
      </p:sp>
      <p:sp>
        <p:nvSpPr>
          <p:cNvPr id="7" name="Text 5"/>
          <p:cNvSpPr txBox="1"/>
          <p:nvPr/>
        </p:nvSpPr>
        <p:spPr>
          <a:xfrm>
            <a:off x="566928" y="3703320"/>
            <a:ext cx="11057839" cy="310896"/>
          </a:xfrm>
          <a:prstGeom prst="rect">
            <a:avLst/>
          </a:prstGeom>
          <a:noFill/>
          <a:ln/>
        </p:spPr>
        <p:txBody>
          <a:bodyPr wrap="square" lIns="0" tIns="0" rIns="0" bIns="0" rtlCol="0" anchor="ctr"/>
          <a:lstStyle/>
          <a:p>
            <a:pPr indent="0" marL="0">
              <a:buNone/>
            </a:pPr>
            <a:r>
              <a:rPr lang="en-US" sz="1600" dirty="0">
                <a:solidFill>
                  <a:srgbClr val="9A430A"/>
                </a:solidFill>
                <a:latin typeface="Calibri" pitchFamily="34" charset="0"/>
                <a:ea typeface="Calibri" pitchFamily="34" charset="-122"/>
                <a:cs typeface="Calibri" pitchFamily="34" charset="-120"/>
              </a:rPr>
              <a:t>Lecture 4  ·  while, do-while and for, nested loops, break and continue</a:t>
            </a:r>
            <a:endParaRPr lang="en-US" sz="1600" dirty="0"/>
          </a:p>
        </p:txBody>
      </p:sp>
      <p:sp>
        <p:nvSpPr>
          <p:cNvPr id="8" name="Text 6"/>
          <p:cNvSpPr txBox="1"/>
          <p:nvPr/>
        </p:nvSpPr>
        <p:spPr>
          <a:xfrm>
            <a:off x="566928" y="5074920"/>
            <a:ext cx="7315200" cy="640080"/>
          </a:xfrm>
          <a:prstGeom prst="rect">
            <a:avLst/>
          </a:prstGeom>
          <a:noFill/>
          <a:ln/>
        </p:spPr>
        <p:txBody>
          <a:bodyPr wrap="square" lIns="0" tIns="0" rIns="0" bIns="0" rtlCol="0" anchor="ctr"/>
          <a:lstStyle/>
          <a:p>
            <a:pPr indent="0" marL="0">
              <a:lnSpc>
                <a:spcPct val="125000"/>
              </a:lnSpc>
              <a:buNone/>
            </a:pPr>
            <a:r>
              <a:rPr lang="en-US" sz="1400" b="1" dirty="0">
                <a:solidFill>
                  <a:srgbClr val="0F2942"/>
                </a:solidFill>
                <a:latin typeface="Calibri" pitchFamily="34" charset="0"/>
                <a:ea typeface="Calibri" pitchFamily="34" charset="-122"/>
                <a:cs typeface="Calibri" pitchFamily="34" charset="-120"/>
              </a:rPr>
              <a:t>Dr. Narasimha Rao Vajjhala</a:t>
            </a:r>
            <a:endParaRPr lang="en-US" sz="1400" dirty="0"/>
          </a:p>
          <a:p>
            <a:pPr indent="0" marL="0">
              <a:lnSpc>
                <a:spcPct val="125000"/>
              </a:lnSpc>
              <a:buNone/>
            </a:pPr>
            <a:r>
              <a:rPr lang="en-US" sz="1400" dirty="0">
                <a:solidFill>
                  <a:srgbClr val="3A536B"/>
                </a:solidFill>
                <a:latin typeface="Calibri" pitchFamily="34" charset="0"/>
                <a:ea typeface="Calibri" pitchFamily="34" charset="-122"/>
                <a:cs typeface="Calibri" pitchFamily="34" charset="-120"/>
              </a:rPr>
              <a:t>Thursday 17 September 2026  ·  17:45–19:05  ·  Room MB 2</a:t>
            </a:r>
            <a:endParaRPr lang="en-US" sz="1400" dirty="0"/>
          </a:p>
        </p:txBody>
      </p:sp>
      <p:sp>
        <p:nvSpPr>
          <p:cNvPr id="9" name="Text 7"/>
          <p:cNvSpPr txBox="1"/>
          <p:nvPr/>
        </p:nvSpPr>
        <p:spPr>
          <a:xfrm>
            <a:off x="7967167" y="5074920"/>
            <a:ext cx="3657600" cy="310896"/>
          </a:xfrm>
          <a:prstGeom prst="rect">
            <a:avLst/>
          </a:prstGeom>
          <a:noFill/>
          <a:ln/>
        </p:spPr>
        <p:txBody>
          <a:bodyPr wrap="square" lIns="0" tIns="0" rIns="0" bIns="0" rtlCol="0" anchor="ctr"/>
          <a:lstStyle/>
          <a:p>
            <a:pPr algn="r" indent="0" marL="0">
              <a:buNone/>
            </a:pPr>
            <a:r>
              <a:rPr lang="en-US" sz="1300" dirty="0">
                <a:solidFill>
                  <a:srgbClr val="4B6377"/>
                </a:solidFill>
                <a:latin typeface="Calibri" pitchFamily="34" charset="0"/>
                <a:ea typeface="Calibri" pitchFamily="34" charset="-122"/>
                <a:cs typeface="Calibri" pitchFamily="34" charset="-120"/>
              </a:rPr>
              <a:t>Week 2, session 2 of 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LECTURE 4</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How We Will Spend the Next 75 Minutes</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66928" y="1353312"/>
            <a:ext cx="11057839" cy="713232"/>
          </a:xfrm>
          <a:prstGeom prst="roundRect">
            <a:avLst>
              <a:gd name="adj" fmla="val 11538"/>
            </a:avLst>
          </a:prstGeom>
          <a:solidFill>
            <a:srgbClr val="F1F5F9"/>
          </a:solidFill>
          <a:ln w="12700">
            <a:solidFill>
              <a:srgbClr val="F1F5F9"/>
            </a:solidFill>
            <a:prstDash val="solid"/>
          </a:ln>
        </p:spPr>
      </p:sp>
      <p:sp>
        <p:nvSpPr>
          <p:cNvPr id="7" name="Text 5"/>
          <p:cNvSpPr txBox="1"/>
          <p:nvPr/>
        </p:nvSpPr>
        <p:spPr>
          <a:xfrm>
            <a:off x="804672" y="1408176"/>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00–16 min</a:t>
            </a:r>
            <a:endParaRPr lang="en-US" sz="1300" dirty="0"/>
          </a:p>
        </p:txBody>
      </p:sp>
      <p:sp>
        <p:nvSpPr>
          <p:cNvPr id="8" name="Text 6"/>
          <p:cNvSpPr txBox="1"/>
          <p:nvPr/>
        </p:nvSpPr>
        <p:spPr>
          <a:xfrm>
            <a:off x="2121408" y="1408176"/>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The while loop</a:t>
            </a:r>
            <a:endParaRPr lang="en-US" sz="1450" dirty="0"/>
          </a:p>
        </p:txBody>
      </p:sp>
      <p:sp>
        <p:nvSpPr>
          <p:cNvPr id="9" name="Text 7"/>
          <p:cNvSpPr txBox="1"/>
          <p:nvPr/>
        </p:nvSpPr>
        <p:spPr>
          <a:xfrm>
            <a:off x="6784848" y="1408176"/>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Syntax, tracing, sentinel values, the two ways to loop forever</a:t>
            </a:r>
            <a:endParaRPr lang="en-US" sz="1250" dirty="0"/>
          </a:p>
        </p:txBody>
      </p:sp>
      <p:sp>
        <p:nvSpPr>
          <p:cNvPr id="10" name="Shape 8"/>
          <p:cNvSpPr/>
          <p:nvPr/>
        </p:nvSpPr>
        <p:spPr>
          <a:xfrm>
            <a:off x="566928" y="2139696"/>
            <a:ext cx="11057839" cy="713232"/>
          </a:xfrm>
          <a:prstGeom prst="roundRect">
            <a:avLst>
              <a:gd name="adj" fmla="val 11538"/>
            </a:avLst>
          </a:prstGeom>
          <a:solidFill>
            <a:srgbClr val="FFFFFF"/>
          </a:solidFill>
          <a:ln w="12700">
            <a:solidFill>
              <a:srgbClr val="D3DEE7"/>
            </a:solidFill>
            <a:prstDash val="solid"/>
          </a:ln>
        </p:spPr>
      </p:sp>
      <p:sp>
        <p:nvSpPr>
          <p:cNvPr id="11" name="Text 9"/>
          <p:cNvSpPr txBox="1"/>
          <p:nvPr/>
        </p:nvSpPr>
        <p:spPr>
          <a:xfrm>
            <a:off x="804672" y="2194560"/>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16–34 min</a:t>
            </a:r>
            <a:endParaRPr lang="en-US" sz="1300" dirty="0"/>
          </a:p>
        </p:txBody>
      </p:sp>
      <p:sp>
        <p:nvSpPr>
          <p:cNvPr id="12" name="Text 10"/>
          <p:cNvSpPr txBox="1"/>
          <p:nvPr/>
        </p:nvSpPr>
        <p:spPr>
          <a:xfrm>
            <a:off x="2121408" y="2194560"/>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do-while and for</a:t>
            </a:r>
            <a:endParaRPr lang="en-US" sz="1450" dirty="0"/>
          </a:p>
        </p:txBody>
      </p:sp>
      <p:sp>
        <p:nvSpPr>
          <p:cNvPr id="13" name="Text 11"/>
          <p:cNvSpPr txBox="1"/>
          <p:nvPr/>
        </p:nvSpPr>
        <p:spPr>
          <a:xfrm>
            <a:off x="6784848" y="2194560"/>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When each one fits, the four parts of a for, the semicolon traps</a:t>
            </a:r>
            <a:endParaRPr lang="en-US" sz="1250" dirty="0"/>
          </a:p>
        </p:txBody>
      </p:sp>
      <p:sp>
        <p:nvSpPr>
          <p:cNvPr id="14" name="Shape 12"/>
          <p:cNvSpPr/>
          <p:nvPr/>
        </p:nvSpPr>
        <p:spPr>
          <a:xfrm>
            <a:off x="566928" y="2926080"/>
            <a:ext cx="11057839" cy="713232"/>
          </a:xfrm>
          <a:prstGeom prst="roundRect">
            <a:avLst>
              <a:gd name="adj" fmla="val 11538"/>
            </a:avLst>
          </a:prstGeom>
          <a:solidFill>
            <a:srgbClr val="F1F5F9"/>
          </a:solidFill>
          <a:ln w="12700">
            <a:solidFill>
              <a:srgbClr val="F1F5F9"/>
            </a:solidFill>
            <a:prstDash val="solid"/>
          </a:ln>
        </p:spPr>
      </p:sp>
      <p:sp>
        <p:nvSpPr>
          <p:cNvPr id="15" name="Text 13"/>
          <p:cNvSpPr txBox="1"/>
          <p:nvPr/>
        </p:nvSpPr>
        <p:spPr>
          <a:xfrm>
            <a:off x="804672" y="2980944"/>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34–50 min</a:t>
            </a:r>
            <a:endParaRPr lang="en-US" sz="1300" dirty="0"/>
          </a:p>
        </p:txBody>
      </p:sp>
      <p:sp>
        <p:nvSpPr>
          <p:cNvPr id="16" name="Text 14"/>
          <p:cNvSpPr txBox="1"/>
          <p:nvPr/>
        </p:nvSpPr>
        <p:spPr>
          <a:xfrm>
            <a:off x="2121408" y="2980944"/>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Nested loops and accuracy</a:t>
            </a:r>
            <a:endParaRPr lang="en-US" sz="1450" dirty="0"/>
          </a:p>
        </p:txBody>
      </p:sp>
      <p:sp>
        <p:nvSpPr>
          <p:cNvPr id="17" name="Text 15"/>
          <p:cNvSpPr txBox="1"/>
          <p:nvPr/>
        </p:nvSpPr>
        <p:spPr>
          <a:xfrm>
            <a:off x="6784848" y="2980944"/>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Multiplication tables, cost, and why a double makes a bad counter</a:t>
            </a:r>
            <a:endParaRPr lang="en-US" sz="1250" dirty="0"/>
          </a:p>
        </p:txBody>
      </p:sp>
      <p:sp>
        <p:nvSpPr>
          <p:cNvPr id="18" name="Shape 16"/>
          <p:cNvSpPr/>
          <p:nvPr/>
        </p:nvSpPr>
        <p:spPr>
          <a:xfrm>
            <a:off x="566928" y="3712464"/>
            <a:ext cx="11057839" cy="713232"/>
          </a:xfrm>
          <a:prstGeom prst="roundRect">
            <a:avLst>
              <a:gd name="adj" fmla="val 11538"/>
            </a:avLst>
          </a:prstGeom>
          <a:solidFill>
            <a:srgbClr val="FFFFFF"/>
          </a:solidFill>
          <a:ln w="12700">
            <a:solidFill>
              <a:srgbClr val="D3DEE7"/>
            </a:solidFill>
            <a:prstDash val="solid"/>
          </a:ln>
        </p:spPr>
      </p:sp>
      <p:sp>
        <p:nvSpPr>
          <p:cNvPr id="19" name="Text 17"/>
          <p:cNvSpPr txBox="1"/>
          <p:nvPr/>
        </p:nvSpPr>
        <p:spPr>
          <a:xfrm>
            <a:off x="804672" y="3767328"/>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50–68 min</a:t>
            </a:r>
            <a:endParaRPr lang="en-US" sz="1300" dirty="0"/>
          </a:p>
        </p:txBody>
      </p:sp>
      <p:sp>
        <p:nvSpPr>
          <p:cNvPr id="20" name="Text 18"/>
          <p:cNvSpPr txBox="1"/>
          <p:nvPr/>
        </p:nvSpPr>
        <p:spPr>
          <a:xfrm>
            <a:off x="2121408" y="3767328"/>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break, continue and case studies</a:t>
            </a:r>
            <a:endParaRPr lang="en-US" sz="1450" dirty="0"/>
          </a:p>
        </p:txBody>
      </p:sp>
      <p:sp>
        <p:nvSpPr>
          <p:cNvPr id="21" name="Text 19"/>
          <p:cNvSpPr txBox="1"/>
          <p:nvPr/>
        </p:nvSpPr>
        <p:spPr>
          <a:xfrm>
            <a:off x="6784848" y="3767328"/>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Leaving early, skipping ahead, hex conversion, prime numbers</a:t>
            </a:r>
            <a:endParaRPr lang="en-US" sz="1250" dirty="0"/>
          </a:p>
        </p:txBody>
      </p:sp>
      <p:sp>
        <p:nvSpPr>
          <p:cNvPr id="22" name="Shape 20"/>
          <p:cNvSpPr/>
          <p:nvPr/>
        </p:nvSpPr>
        <p:spPr>
          <a:xfrm>
            <a:off x="566928" y="4498848"/>
            <a:ext cx="11057839" cy="713232"/>
          </a:xfrm>
          <a:prstGeom prst="roundRect">
            <a:avLst>
              <a:gd name="adj" fmla="val 11538"/>
            </a:avLst>
          </a:prstGeom>
          <a:solidFill>
            <a:srgbClr val="F1F5F9"/>
          </a:solidFill>
          <a:ln w="12700">
            <a:solidFill>
              <a:srgbClr val="F1F5F9"/>
            </a:solidFill>
            <a:prstDash val="solid"/>
          </a:ln>
        </p:spPr>
      </p:sp>
      <p:sp>
        <p:nvSpPr>
          <p:cNvPr id="23" name="Text 21"/>
          <p:cNvSpPr txBox="1"/>
          <p:nvPr/>
        </p:nvSpPr>
        <p:spPr>
          <a:xfrm>
            <a:off x="804672" y="4553712"/>
            <a:ext cx="1234440" cy="603504"/>
          </a:xfrm>
          <a:prstGeom prst="rect">
            <a:avLst/>
          </a:prstGeom>
          <a:noFill/>
          <a:ln/>
        </p:spPr>
        <p:txBody>
          <a:bodyPr wrap="square" lIns="0" tIns="0" rIns="0" bIns="0" rtlCol="0" anchor="ctr"/>
          <a:lstStyle/>
          <a:p>
            <a:pPr indent="0" marL="0">
              <a:buNone/>
            </a:pPr>
            <a:r>
              <a:rPr lang="en-US" sz="1300" b="1" dirty="0">
                <a:solidFill>
                  <a:srgbClr val="9A430A"/>
                </a:solidFill>
                <a:latin typeface="Courier New" pitchFamily="34" charset="0"/>
                <a:ea typeface="Courier New" pitchFamily="34" charset="-122"/>
                <a:cs typeface="Courier New" pitchFamily="34" charset="-120"/>
              </a:rPr>
              <a:t>68–75 min</a:t>
            </a:r>
            <a:endParaRPr lang="en-US" sz="1300" dirty="0"/>
          </a:p>
        </p:txBody>
      </p:sp>
      <p:sp>
        <p:nvSpPr>
          <p:cNvPr id="24" name="Text 22"/>
          <p:cNvSpPr txBox="1"/>
          <p:nvPr/>
        </p:nvSpPr>
        <p:spPr>
          <a:xfrm>
            <a:off x="2121408" y="4553712"/>
            <a:ext cx="4572000" cy="603504"/>
          </a:xfrm>
          <a:prstGeom prst="rect">
            <a:avLst/>
          </a:prstGeom>
          <a:noFill/>
          <a:ln/>
        </p:spPr>
        <p:txBody>
          <a:bodyPr wrap="square" lIns="0" tIns="0" rIns="0" bIns="0" rtlCol="0" anchor="ctr"/>
          <a:lstStyle/>
          <a:p>
            <a:pPr indent="0" marL="0">
              <a:buNone/>
            </a:pPr>
            <a:r>
              <a:rPr lang="en-US" sz="1450" b="1" dirty="0">
                <a:solidFill>
                  <a:srgbClr val="0F2942"/>
                </a:solidFill>
                <a:latin typeface="Calibri" pitchFamily="34" charset="0"/>
                <a:ea typeface="Calibri" pitchFamily="34" charset="-122"/>
                <a:cs typeface="Calibri" pitchFamily="34" charset="-120"/>
              </a:rPr>
              <a:t>Practice and questions</a:t>
            </a:r>
            <a:endParaRPr lang="en-US" sz="1450" dirty="0"/>
          </a:p>
        </p:txBody>
      </p:sp>
      <p:sp>
        <p:nvSpPr>
          <p:cNvPr id="25" name="Text 23"/>
          <p:cNvSpPr txBox="1"/>
          <p:nvPr/>
        </p:nvSpPr>
        <p:spPr>
          <a:xfrm>
            <a:off x="6784848" y="4553712"/>
            <a:ext cx="4657039" cy="603504"/>
          </a:xfrm>
          <a:prstGeom prst="rect">
            <a:avLst/>
          </a:prstGeom>
          <a:noFill/>
          <a:ln/>
        </p:spPr>
        <p:txBody>
          <a:bodyPr wrap="square" lIns="0" tIns="0" rIns="0" bIns="0" rtlCol="0" anchor="ctr"/>
          <a:lstStyle/>
          <a:p>
            <a:pPr indent="0" marL="0">
              <a:buNone/>
            </a:pPr>
            <a:r>
              <a:rPr lang="en-US" sz="1250" dirty="0">
                <a:solidFill>
                  <a:srgbClr val="3A536B"/>
                </a:solidFill>
                <a:latin typeface="Calibri" pitchFamily="34" charset="0"/>
                <a:ea typeface="Calibri" pitchFamily="34" charset="-122"/>
                <a:cs typeface="Calibri" pitchFamily="34" charset="-120"/>
              </a:rPr>
              <a:t>Five problems to work on before the 24th</a:t>
            </a:r>
            <a:endParaRPr lang="en-US" sz="1250" dirty="0"/>
          </a:p>
        </p:txBody>
      </p:sp>
      <p:sp>
        <p:nvSpPr>
          <p:cNvPr id="26" name="Text 24"/>
          <p:cNvSpPr txBox="1"/>
          <p:nvPr/>
        </p:nvSpPr>
        <p:spPr>
          <a:xfrm>
            <a:off x="566928" y="5394960"/>
            <a:ext cx="11057839" cy="274320"/>
          </a:xfrm>
          <a:prstGeom prst="rect">
            <a:avLst/>
          </a:prstGeom>
          <a:noFill/>
          <a:ln/>
        </p:spPr>
        <p:txBody>
          <a:bodyPr wrap="square" lIns="0" tIns="0" rIns="0" bIns="0" rtlCol="0" anchor="ctr"/>
          <a:lstStyle/>
          <a:p>
            <a:pPr indent="0" marL="0">
              <a:buNone/>
            </a:pPr>
            <a:r>
              <a:rPr lang="en-US" sz="1300" i="1" dirty="0">
                <a:solidFill>
                  <a:srgbClr val="9A430A"/>
                </a:solidFill>
                <a:latin typeface="Calibri" pitchFamily="34" charset="0"/>
                <a:ea typeface="Calibri" pitchFamily="34" charset="-122"/>
                <a:cs typeface="Calibri" pitchFamily="34" charset="-120"/>
              </a:rPr>
              <a:t>Four short checkpoints are built into the slides — I will ask, you answer.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CHAPTER 5</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What You Will Be Able to Do by 19:05</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Liang, Introduction to Java Programming, 13th edition — Chapter 5, Loops.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566928" y="1581912"/>
            <a:ext cx="2613584" cy="3977640"/>
          </a:xfrm>
          <a:prstGeom prst="roundRect">
            <a:avLst>
              <a:gd name="adj" fmla="val 3149"/>
            </a:avLst>
          </a:prstGeom>
          <a:solidFill>
            <a:srgbClr val="F1F5F9"/>
          </a:solidFill>
          <a:ln w="12700">
            <a:solidFill>
              <a:srgbClr val="F1F5F9"/>
            </a:solidFill>
            <a:prstDash val="solid"/>
          </a:ln>
        </p:spPr>
      </p:sp>
      <p:sp>
        <p:nvSpPr>
          <p:cNvPr id="8" name="Shape 6"/>
          <p:cNvSpPr/>
          <p:nvPr/>
        </p:nvSpPr>
        <p:spPr>
          <a:xfrm>
            <a:off x="804672" y="1837944"/>
            <a:ext cx="384048" cy="384048"/>
          </a:xfrm>
          <a:prstGeom prst="ellipse">
            <a:avLst/>
          </a:prstGeom>
          <a:solidFill>
            <a:srgbClr val="C4560C"/>
          </a:solidFill>
          <a:ln w="12700">
            <a:solidFill>
              <a:srgbClr val="C4560C"/>
            </a:solidFill>
            <a:prstDash val="solid"/>
          </a:ln>
        </p:spPr>
      </p:sp>
      <p:sp>
        <p:nvSpPr>
          <p:cNvPr id="9" name="Text 7"/>
          <p:cNvSpPr txBox="1"/>
          <p:nvPr/>
        </p:nvSpPr>
        <p:spPr>
          <a:xfrm>
            <a:off x="804672"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804672"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Repeat a block</a:t>
            </a:r>
            <a:endParaRPr lang="en-US" sz="1700" dirty="0"/>
          </a:p>
        </p:txBody>
      </p:sp>
      <p:sp>
        <p:nvSpPr>
          <p:cNvPr id="11" name="Text 9"/>
          <p:cNvSpPr txBox="1"/>
          <p:nvPr/>
        </p:nvSpPr>
        <p:spPr>
          <a:xfrm>
            <a:off x="822960"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Write while loops and trace them by hand.</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Follow the loop design strategy: what varies, what stops it.</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Control a loop with a sentinel value, and read input from a file.</a:t>
            </a:r>
            <a:endParaRPr lang="en-US" sz="1200" dirty="0"/>
          </a:p>
        </p:txBody>
      </p:sp>
      <p:sp>
        <p:nvSpPr>
          <p:cNvPr id="12" name="Shape 10"/>
          <p:cNvSpPr/>
          <p:nvPr/>
        </p:nvSpPr>
        <p:spPr>
          <a:xfrm>
            <a:off x="3381680" y="1581912"/>
            <a:ext cx="2613584" cy="3977640"/>
          </a:xfrm>
          <a:prstGeom prst="roundRect">
            <a:avLst>
              <a:gd name="adj" fmla="val 3149"/>
            </a:avLst>
          </a:prstGeom>
          <a:solidFill>
            <a:srgbClr val="FFFFFF"/>
          </a:solidFill>
          <a:ln w="12700">
            <a:solidFill>
              <a:srgbClr val="D3DEE7"/>
            </a:solidFill>
            <a:prstDash val="solid"/>
          </a:ln>
        </p:spPr>
      </p:sp>
      <p:sp>
        <p:nvSpPr>
          <p:cNvPr id="13" name="Shape 11"/>
          <p:cNvSpPr/>
          <p:nvPr/>
        </p:nvSpPr>
        <p:spPr>
          <a:xfrm>
            <a:off x="3619424" y="1837944"/>
            <a:ext cx="384048" cy="384048"/>
          </a:xfrm>
          <a:prstGeom prst="ellipse">
            <a:avLst/>
          </a:prstGeom>
          <a:solidFill>
            <a:srgbClr val="C4560C"/>
          </a:solidFill>
          <a:ln w="12700">
            <a:solidFill>
              <a:srgbClr val="C4560C"/>
            </a:solidFill>
            <a:prstDash val="solid"/>
          </a:ln>
        </p:spPr>
      </p:sp>
      <p:sp>
        <p:nvSpPr>
          <p:cNvPr id="14" name="Text 12"/>
          <p:cNvSpPr txBox="1"/>
          <p:nvPr/>
        </p:nvSpPr>
        <p:spPr>
          <a:xfrm>
            <a:off x="3619424"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3619424"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Pick the right form</a:t>
            </a:r>
            <a:endParaRPr lang="en-US" sz="1700" dirty="0"/>
          </a:p>
        </p:txBody>
      </p:sp>
      <p:sp>
        <p:nvSpPr>
          <p:cNvPr id="16" name="Text 14"/>
          <p:cNvSpPr txBox="1"/>
          <p:nvPr/>
        </p:nvSpPr>
        <p:spPr>
          <a:xfrm>
            <a:off x="3637712"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do-while, for, and when each one fits.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The four parts of a for, and which may be left out.</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Convert freely between the three forms.</a:t>
            </a:r>
            <a:endParaRPr lang="en-US" sz="1200" dirty="0"/>
          </a:p>
        </p:txBody>
      </p:sp>
      <p:sp>
        <p:nvSpPr>
          <p:cNvPr id="17" name="Shape 15"/>
          <p:cNvSpPr/>
          <p:nvPr/>
        </p:nvSpPr>
        <p:spPr>
          <a:xfrm>
            <a:off x="6196432" y="1581912"/>
            <a:ext cx="2613584" cy="3977640"/>
          </a:xfrm>
          <a:prstGeom prst="roundRect">
            <a:avLst>
              <a:gd name="adj" fmla="val 3149"/>
            </a:avLst>
          </a:prstGeom>
          <a:solidFill>
            <a:srgbClr val="F1F5F9"/>
          </a:solidFill>
          <a:ln w="12700">
            <a:solidFill>
              <a:srgbClr val="F1F5F9"/>
            </a:solidFill>
            <a:prstDash val="solid"/>
          </a:ln>
        </p:spPr>
      </p:sp>
      <p:sp>
        <p:nvSpPr>
          <p:cNvPr id="18" name="Shape 16"/>
          <p:cNvSpPr/>
          <p:nvPr/>
        </p:nvSpPr>
        <p:spPr>
          <a:xfrm>
            <a:off x="6434176" y="1837944"/>
            <a:ext cx="384048" cy="384048"/>
          </a:xfrm>
          <a:prstGeom prst="ellipse">
            <a:avLst/>
          </a:prstGeom>
          <a:solidFill>
            <a:srgbClr val="C4560C"/>
          </a:solidFill>
          <a:ln w="12700">
            <a:solidFill>
              <a:srgbClr val="C4560C"/>
            </a:solidFill>
            <a:prstDash val="solid"/>
          </a:ln>
        </p:spPr>
      </p:sp>
      <p:sp>
        <p:nvSpPr>
          <p:cNvPr id="19" name="Text 17"/>
          <p:cNvSpPr txBox="1"/>
          <p:nvPr/>
        </p:nvSpPr>
        <p:spPr>
          <a:xfrm>
            <a:off x="6434176"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6434176"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Put loops inside loops</a:t>
            </a:r>
            <a:endParaRPr lang="en-US" sz="1700" dirty="0"/>
          </a:p>
        </p:txBody>
      </p:sp>
      <p:sp>
        <p:nvSpPr>
          <p:cNvPr id="21" name="Text 19"/>
          <p:cNvSpPr txBox="1"/>
          <p:nvPr/>
        </p:nvSpPr>
        <p:spPr>
          <a:xfrm>
            <a:off x="6452464"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Nested loops and the multiplication table.</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See how the iteration count multiplies.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Minimise numerical error — and never count with a double.</a:t>
            </a:r>
            <a:endParaRPr lang="en-US" sz="1200" dirty="0"/>
          </a:p>
        </p:txBody>
      </p:sp>
      <p:sp>
        <p:nvSpPr>
          <p:cNvPr id="22" name="Shape 20"/>
          <p:cNvSpPr/>
          <p:nvPr/>
        </p:nvSpPr>
        <p:spPr>
          <a:xfrm>
            <a:off x="9011183" y="1581912"/>
            <a:ext cx="2613584" cy="3977640"/>
          </a:xfrm>
          <a:prstGeom prst="roundRect">
            <a:avLst>
              <a:gd name="adj" fmla="val 3149"/>
            </a:avLst>
          </a:prstGeom>
          <a:solidFill>
            <a:srgbClr val="FFFFFF"/>
          </a:solidFill>
          <a:ln w="12700">
            <a:solidFill>
              <a:srgbClr val="D3DEE7"/>
            </a:solidFill>
            <a:prstDash val="solid"/>
          </a:ln>
        </p:spPr>
      </p:sp>
      <p:sp>
        <p:nvSpPr>
          <p:cNvPr id="23" name="Shape 21"/>
          <p:cNvSpPr/>
          <p:nvPr/>
        </p:nvSpPr>
        <p:spPr>
          <a:xfrm>
            <a:off x="9248927" y="1837944"/>
            <a:ext cx="384048" cy="384048"/>
          </a:xfrm>
          <a:prstGeom prst="ellipse">
            <a:avLst/>
          </a:prstGeom>
          <a:solidFill>
            <a:srgbClr val="C4560C"/>
          </a:solidFill>
          <a:ln w="12700">
            <a:solidFill>
              <a:srgbClr val="C4560C"/>
            </a:solidFill>
            <a:prstDash val="solid"/>
          </a:ln>
        </p:spPr>
      </p:sp>
      <p:sp>
        <p:nvSpPr>
          <p:cNvPr id="24" name="Text 22"/>
          <p:cNvSpPr txBox="1"/>
          <p:nvPr/>
        </p:nvSpPr>
        <p:spPr>
          <a:xfrm>
            <a:off x="9248927"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9248927" y="2359152"/>
            <a:ext cx="2138096" cy="548640"/>
          </a:xfrm>
          <a:prstGeom prst="rect">
            <a:avLst/>
          </a:prstGeom>
          <a:noFill/>
          <a:ln/>
        </p:spPr>
        <p:txBody>
          <a:bodyPr wrap="square" lIns="0" tIns="0" rIns="0" bIns="0" rtlCol="0" anchor="t"/>
          <a:lstStyle/>
          <a:p>
            <a:pPr indent="0" marL="0">
              <a:lnSpc>
                <a:spcPct val="105000"/>
              </a:lnSpc>
              <a:buNone/>
            </a:pPr>
            <a:r>
              <a:rPr lang="en-US" sz="1700" b="1" dirty="0">
                <a:solidFill>
                  <a:srgbClr val="0F2942"/>
                </a:solidFill>
                <a:latin typeface="Cambria" pitchFamily="34" charset="0"/>
                <a:ea typeface="Cambria" pitchFamily="34" charset="-122"/>
                <a:cs typeface="Cambria" pitchFamily="34" charset="-120"/>
              </a:rPr>
              <a:t>Steer and finish</a:t>
            </a:r>
            <a:endParaRPr lang="en-US" sz="1700" dirty="0"/>
          </a:p>
        </p:txBody>
      </p:sp>
      <p:sp>
        <p:nvSpPr>
          <p:cNvPr id="26" name="Text 24"/>
          <p:cNvSpPr txBox="1"/>
          <p:nvPr/>
        </p:nvSpPr>
        <p:spPr>
          <a:xfrm>
            <a:off x="9267215" y="2999232"/>
            <a:ext cx="2101520" cy="2423160"/>
          </a:xfrm>
          <a:prstGeom prst="rect">
            <a:avLst/>
          </a:prstGeom>
          <a:noFill/>
          <a:ln/>
        </p:spPr>
        <p:txBody>
          <a:bodyPr wrap="square" lIns="0" tIns="0" rIns="0" bIns="0" rtlCol="0" anchor="t"/>
          <a:lstStyle/>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break to leave early, continue to skip a pass.</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Worked cases: GCD, FutureTuition, Dec2Hex.</a:t>
            </a:r>
            <a:endParaRPr lang="en-US" sz="1200" dirty="0"/>
          </a:p>
          <a:p>
            <a:pPr marL="177800" indent="-177800">
              <a:spcAft>
                <a:spcPts val="1100"/>
              </a:spcAft>
              <a:buSzPct val="100000"/>
              <a:buChar char="•"/>
            </a:pPr>
            <a:r>
              <a:rPr lang="en-US" sz="1200" dirty="0">
                <a:solidFill>
                  <a:srgbClr val="3A536B"/>
                </a:solidFill>
                <a:latin typeface="Calibri" pitchFamily="34" charset="0"/>
                <a:ea typeface="Calibri" pitchFamily="34" charset="-122"/>
                <a:cs typeface="Calibri" pitchFamily="34" charset="-120"/>
              </a:rPr>
              <a:t>Write a program that displays prime numbers.</a:t>
            </a:r>
            <a:endParaRPr lang="en-US" sz="1200" dirty="0"/>
          </a:p>
        </p:txBody>
      </p:sp>
      <p:sp>
        <p:nvSpPr>
          <p:cNvPr id="27" name="Text 25"/>
          <p:cNvSpPr txBox="1"/>
          <p:nvPr/>
        </p:nvSpPr>
        <p:spPr>
          <a:xfrm>
            <a:off x="566928" y="5715000"/>
            <a:ext cx="11057839" cy="274320"/>
          </a:xfrm>
          <a:prstGeom prst="rect">
            <a:avLst/>
          </a:prstGeom>
          <a:noFill/>
          <a:ln/>
        </p:spPr>
        <p:txBody>
          <a:bodyPr wrap="square" lIns="0" tIns="0" rIns="0" bIns="0" rtlCol="0" anchor="ctr"/>
          <a:lstStyle/>
          <a:p>
            <a:pPr indent="0" marL="0">
              <a:buNone/>
            </a:pPr>
            <a:r>
              <a:rPr lang="en-US" sz="1250" i="1" dirty="0">
                <a:solidFill>
                  <a:srgbClr val="9A430A"/>
                </a:solidFill>
                <a:latin typeface="Calibri" pitchFamily="34" charset="0"/>
                <a:ea typeface="Calibri" pitchFamily="34" charset="-122"/>
                <a:cs typeface="Calibri" pitchFamily="34" charset="-120"/>
              </a:rPr>
              <a:t>These are the learning outcomes the Week 1–3 quiz on 01.10 will test.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WHY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You Are Not Going to Type That Line a Hundred Times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Every program you have written so far executes each statement exactly once. That is about to change.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566928" y="1581912"/>
            <a:ext cx="5346040" cy="1813072"/>
          </a:xfrm>
          <a:prstGeom prst="roundRect">
            <a:avLst>
              <a:gd name="adj" fmla="val 3530"/>
            </a:avLst>
          </a:prstGeom>
          <a:solidFill>
            <a:srgbClr val="EDF2F7"/>
          </a:solidFill>
          <a:ln w="12700">
            <a:solidFill>
              <a:srgbClr val="CFDBE5"/>
            </a:solidFill>
            <a:prstDash val="solid"/>
          </a:ln>
        </p:spPr>
      </p:sp>
      <p:sp>
        <p:nvSpPr>
          <p:cNvPr id="8" name="Text 6"/>
          <p:cNvSpPr txBox="1"/>
          <p:nvPr/>
        </p:nvSpPr>
        <p:spPr>
          <a:xfrm>
            <a:off x="713232" y="1627632"/>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PRINT IT 100 TIMES — THE HONEST WAY</a:t>
            </a:r>
            <a:endParaRPr lang="en-US" sz="950" dirty="0"/>
          </a:p>
        </p:txBody>
      </p:sp>
      <p:sp>
        <p:nvSpPr>
          <p:cNvPr id="9" name="Text 7"/>
          <p:cNvSpPr txBox="1"/>
          <p:nvPr/>
        </p:nvSpPr>
        <p:spPr>
          <a:xfrm>
            <a:off x="731520" y="1856232"/>
            <a:ext cx="5016856" cy="1483888"/>
          </a:xfrm>
          <a:prstGeom prst="rect">
            <a:avLst/>
          </a:prstGeom>
          <a:noFill/>
          <a:ln/>
        </p:spPr>
        <p:txBody>
          <a:bodyPr wrap="square" lIns="0" tIns="0" rIns="0" bIns="0" rtlCol="0" anchor="t"/>
          <a:lstStyle/>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97</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more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like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this</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566928" y="3651016"/>
            <a:ext cx="5346040" cy="1691640"/>
          </a:xfrm>
          <a:prstGeom prst="roundRect">
            <a:avLst>
              <a:gd name="adj" fmla="val 4865"/>
            </a:avLst>
          </a:prstGeom>
          <a:solidFill>
            <a:srgbClr val="FBEAE8"/>
          </a:solidFill>
          <a:ln w="12700">
            <a:solidFill>
              <a:srgbClr val="FBEAE8"/>
            </a:solidFill>
            <a:prstDash val="solid"/>
          </a:ln>
        </p:spPr>
      </p:sp>
      <p:sp>
        <p:nvSpPr>
          <p:cNvPr id="11" name="Text 9"/>
          <p:cNvSpPr txBox="1"/>
          <p:nvPr/>
        </p:nvSpPr>
        <p:spPr>
          <a:xfrm>
            <a:off x="822960" y="3797320"/>
            <a:ext cx="483397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Three things wrong with this</a:t>
            </a:r>
            <a:endParaRPr lang="en-US" sz="1350" dirty="0"/>
          </a:p>
        </p:txBody>
      </p:sp>
      <p:sp>
        <p:nvSpPr>
          <p:cNvPr id="12" name="Text 10"/>
          <p:cNvSpPr txBox="1"/>
          <p:nvPr/>
        </p:nvSpPr>
        <p:spPr>
          <a:xfrm>
            <a:off x="859536" y="4126504"/>
            <a:ext cx="4779112" cy="11887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3A536B"/>
                </a:solidFill>
                <a:latin typeface="Calibri" pitchFamily="34" charset="0"/>
                <a:ea typeface="Calibri" pitchFamily="34" charset="-122"/>
                <a:cs typeface="Calibri" pitchFamily="34" charset="-120"/>
              </a:rPr>
              <a:t>It is 100 lines to say one thing.</a:t>
            </a:r>
            <a:endParaRPr lang="en-US" sz="1200" dirty="0"/>
          </a:p>
          <a:p>
            <a:pPr marL="177800" indent="-177800">
              <a:spcAft>
                <a:spcPts val="500"/>
              </a:spcAft>
              <a:buSzPct val="100000"/>
              <a:buChar char="•"/>
            </a:pPr>
            <a:r>
              <a:rPr lang="en-US" sz="1200" dirty="0">
                <a:solidFill>
                  <a:srgbClr val="3A536B"/>
                </a:solidFill>
                <a:latin typeface="Calibri" pitchFamily="34" charset="0"/>
                <a:ea typeface="Calibri" pitchFamily="34" charset="-122"/>
                <a:cs typeface="Calibri" pitchFamily="34" charset="-120"/>
              </a:rPr>
              <a:t>Change the message and you change it 100 times — or 99, and never find the last one.</a:t>
            </a:r>
            <a:endParaRPr lang="en-US" sz="1200" dirty="0"/>
          </a:p>
          <a:p>
            <a:pPr marL="177800" indent="-177800">
              <a:spcAft>
                <a:spcPts val="500"/>
              </a:spcAft>
              <a:buSzPct val="100000"/>
              <a:buChar char="•"/>
            </a:pPr>
            <a:r>
              <a:rPr lang="en-US" sz="1200" dirty="0">
                <a:solidFill>
                  <a:srgbClr val="3A536B"/>
                </a:solidFill>
                <a:latin typeface="Calibri" pitchFamily="34" charset="0"/>
                <a:ea typeface="Calibri" pitchFamily="34" charset="-122"/>
                <a:cs typeface="Calibri" pitchFamily="34" charset="-120"/>
              </a:rPr>
              <a:t>Make it 1,000 times and the approach collapses entirely.</a:t>
            </a:r>
            <a:endParaRPr lang="en-US" sz="1200" dirty="0"/>
          </a:p>
        </p:txBody>
      </p:sp>
      <p:sp>
        <p:nvSpPr>
          <p:cNvPr id="13" name="Shape 11"/>
          <p:cNvSpPr/>
          <p:nvPr/>
        </p:nvSpPr>
        <p:spPr>
          <a:xfrm>
            <a:off x="6278728" y="1581912"/>
            <a:ext cx="5346040" cy="1735531"/>
          </a:xfrm>
          <a:prstGeom prst="roundRect">
            <a:avLst>
              <a:gd name="adj" fmla="val 3688"/>
            </a:avLst>
          </a:prstGeom>
          <a:solidFill>
            <a:srgbClr val="EDF2F7"/>
          </a:solidFill>
          <a:ln w="12700">
            <a:solidFill>
              <a:srgbClr val="CFDBE5"/>
            </a:solidFill>
            <a:prstDash val="solid"/>
          </a:ln>
        </p:spPr>
      </p:sp>
      <p:sp>
        <p:nvSpPr>
          <p:cNvPr id="14" name="Text 12"/>
          <p:cNvSpPr txBox="1"/>
          <p:nvPr/>
        </p:nvSpPr>
        <p:spPr>
          <a:xfrm>
            <a:off x="6425032" y="1627632"/>
            <a:ext cx="5053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SAME PROGRAM</a:t>
            </a:r>
            <a:endParaRPr lang="en-US" sz="950" dirty="0"/>
          </a:p>
        </p:txBody>
      </p:sp>
      <p:sp>
        <p:nvSpPr>
          <p:cNvPr id="15" name="Text 13"/>
          <p:cNvSpPr txBox="1"/>
          <p:nvPr/>
        </p:nvSpPr>
        <p:spPr>
          <a:xfrm>
            <a:off x="6443320" y="1856232"/>
            <a:ext cx="5016856" cy="1406347"/>
          </a:xfrm>
          <a:prstGeom prst="rect">
            <a:avLst/>
          </a:prstGeom>
          <a:noFill/>
          <a:ln/>
        </p:spPr>
        <p:txBody>
          <a:bodyPr wrap="square" lIns="0" tIns="0" rIns="0" bIns="0" rtlCol="0" anchor="t"/>
          <a:lstStyle/>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p:txBody>
      </p:sp>
      <p:sp>
        <p:nvSpPr>
          <p:cNvPr id="16" name="Shape 14"/>
          <p:cNvSpPr/>
          <p:nvPr/>
        </p:nvSpPr>
        <p:spPr>
          <a:xfrm>
            <a:off x="6278728" y="3573475"/>
            <a:ext cx="5346040" cy="1691640"/>
          </a:xfrm>
          <a:prstGeom prst="roundRect">
            <a:avLst>
              <a:gd name="adj" fmla="val 4865"/>
            </a:avLst>
          </a:prstGeom>
          <a:solidFill>
            <a:srgbClr val="E6F2EC"/>
          </a:solidFill>
          <a:ln w="12700">
            <a:solidFill>
              <a:srgbClr val="E6F2EC"/>
            </a:solidFill>
            <a:prstDash val="solid"/>
          </a:ln>
        </p:spPr>
      </p:sp>
      <p:sp>
        <p:nvSpPr>
          <p:cNvPr id="17" name="Text 15"/>
          <p:cNvSpPr txBox="1"/>
          <p:nvPr/>
        </p:nvSpPr>
        <p:spPr>
          <a:xfrm>
            <a:off x="6534760" y="3719779"/>
            <a:ext cx="483397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Five lines, and the 100 is a number you can change</a:t>
            </a:r>
            <a:endParaRPr lang="en-US" sz="1350" dirty="0"/>
          </a:p>
        </p:txBody>
      </p:sp>
      <p:sp>
        <p:nvSpPr>
          <p:cNvPr id="18" name="Text 16"/>
          <p:cNvSpPr txBox="1"/>
          <p:nvPr/>
        </p:nvSpPr>
        <p:spPr>
          <a:xfrm>
            <a:off x="6534760" y="4048963"/>
            <a:ext cx="4833976" cy="1188720"/>
          </a:xfrm>
          <a:prstGeom prst="rect">
            <a:avLst/>
          </a:prstGeom>
          <a:noFill/>
          <a:ln/>
        </p:spPr>
        <p:txBody>
          <a:bodyPr wrap="square" lIns="0" tIns="0" rIns="0" bIns="0" rtlCol="0" anchor="t"/>
          <a:lstStyle/>
          <a:p>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A loop is a statement that repeats another statement while a condition holds. The condition is checked before every pass — so the same five lines print the message once, a hundred times, or not at all.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LOOP 01</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while Loop</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Test the condition, run the body, test again. The body may run many times — or never.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566928" y="1536192"/>
            <a:ext cx="5212080" cy="1483523"/>
          </a:xfrm>
          <a:prstGeom prst="roundRect">
            <a:avLst>
              <a:gd name="adj" fmla="val 4315"/>
            </a:avLst>
          </a:prstGeom>
          <a:solidFill>
            <a:srgbClr val="EDF2F7"/>
          </a:solidFill>
          <a:ln w="12700">
            <a:solidFill>
              <a:srgbClr val="CFDBE5"/>
            </a:solidFill>
            <a:prstDash val="solid"/>
          </a:ln>
        </p:spPr>
      </p:sp>
      <p:sp>
        <p:nvSpPr>
          <p:cNvPr id="8" name="Text 6"/>
          <p:cNvSpPr txBox="1"/>
          <p:nvPr/>
        </p:nvSpPr>
        <p:spPr>
          <a:xfrm>
            <a:off x="713232" y="1581912"/>
            <a:ext cx="49194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SYNTAX</a:t>
            </a:r>
            <a:endParaRPr lang="en-US" sz="950" dirty="0"/>
          </a:p>
        </p:txBody>
      </p:sp>
      <p:sp>
        <p:nvSpPr>
          <p:cNvPr id="9" name="Text 7"/>
          <p:cNvSpPr txBox="1"/>
          <p:nvPr/>
        </p:nvSpPr>
        <p:spPr>
          <a:xfrm>
            <a:off x="731520" y="1810512"/>
            <a:ext cx="4882896" cy="1154339"/>
          </a:xfrm>
          <a:prstGeom prst="rect">
            <a:avLst/>
          </a:prstGeom>
          <a:noFill/>
          <a:ln/>
        </p:spPr>
        <p:txBody>
          <a:bodyPr wrap="square" lIns="0" tIns="0" rIns="0" bIns="0" rtlCol="0" anchor="t"/>
          <a:lstStyle/>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loop</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continuation</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condition</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415C6E"/>
                </a:solidFill>
                <a:latin typeface="Courier New" pitchFamily="34" charset="0"/>
                <a:ea typeface="Courier New" pitchFamily="34" charset="-122"/>
                <a:cs typeface="Courier New" pitchFamily="34" charset="-120"/>
              </a:rPr>
              <a:t>// loop body</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statement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566928" y="3294035"/>
            <a:ext cx="5212080" cy="1590142"/>
          </a:xfrm>
          <a:prstGeom prst="roundRect">
            <a:avLst>
              <a:gd name="adj" fmla="val 4025"/>
            </a:avLst>
          </a:prstGeom>
          <a:solidFill>
            <a:srgbClr val="EDF2F7"/>
          </a:solidFill>
          <a:ln w="12700">
            <a:solidFill>
              <a:srgbClr val="CFDBE5"/>
            </a:solidFill>
            <a:prstDash val="solid"/>
          </a:ln>
        </p:spPr>
      </p:sp>
      <p:sp>
        <p:nvSpPr>
          <p:cNvPr id="11" name="Text 9"/>
          <p:cNvSpPr txBox="1"/>
          <p:nvPr/>
        </p:nvSpPr>
        <p:spPr>
          <a:xfrm>
            <a:off x="713232" y="3339755"/>
            <a:ext cx="49194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THREE PARTS EVERY LOOP NEEDS</a:t>
            </a:r>
            <a:endParaRPr lang="en-US" sz="950" dirty="0"/>
          </a:p>
        </p:txBody>
      </p:sp>
      <p:sp>
        <p:nvSpPr>
          <p:cNvPr id="12" name="Text 10"/>
          <p:cNvSpPr txBox="1"/>
          <p:nvPr/>
        </p:nvSpPr>
        <p:spPr>
          <a:xfrm>
            <a:off x="731520" y="3568355"/>
            <a:ext cx="4882896" cy="1260958"/>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1. initialise</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2. test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3. make progress</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3" name="Shape 11"/>
          <p:cNvSpPr/>
          <p:nvPr/>
        </p:nvSpPr>
        <p:spPr>
          <a:xfrm>
            <a:off x="566928" y="5121920"/>
            <a:ext cx="5212080" cy="1097280"/>
          </a:xfrm>
          <a:prstGeom prst="roundRect">
            <a:avLst>
              <a:gd name="adj" fmla="val 7500"/>
            </a:avLst>
          </a:prstGeom>
          <a:solidFill>
            <a:srgbClr val="FBEEE0"/>
          </a:solidFill>
          <a:ln w="12700">
            <a:solidFill>
              <a:srgbClr val="FBEEE0"/>
            </a:solidFill>
            <a:prstDash val="solid"/>
          </a:ln>
        </p:spPr>
      </p:sp>
      <p:sp>
        <p:nvSpPr>
          <p:cNvPr id="14" name="Text 12"/>
          <p:cNvSpPr txBox="1"/>
          <p:nvPr/>
        </p:nvSpPr>
        <p:spPr>
          <a:xfrm>
            <a:off x="841248" y="5121920"/>
            <a:ext cx="4663440" cy="1097280"/>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Leave out part 3 and the loop never ends.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The condition is re-tested every pass, but if nothing in the body can change it, the answer never changes either.</a:t>
            </a:r>
            <a:endParaRPr lang="en-US" sz="1200" dirty="0"/>
          </a:p>
        </p:txBody>
      </p:sp>
      <p:sp>
        <p:nvSpPr>
          <p:cNvPr id="15" name="Text 13"/>
          <p:cNvSpPr txBox="1"/>
          <p:nvPr/>
        </p:nvSpPr>
        <p:spPr>
          <a:xfrm>
            <a:off x="6236208" y="1536192"/>
            <a:ext cx="538855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HOW IT EXECUTES</a:t>
            </a:r>
            <a:endParaRPr lang="en-US" sz="950" dirty="0"/>
          </a:p>
        </p:txBody>
      </p:sp>
      <p:sp>
        <p:nvSpPr>
          <p:cNvPr id="16" name="Shape 14"/>
          <p:cNvSpPr/>
          <p:nvPr/>
        </p:nvSpPr>
        <p:spPr>
          <a:xfrm>
            <a:off x="7238848" y="1883664"/>
            <a:ext cx="3383280" cy="530352"/>
          </a:xfrm>
          <a:prstGeom prst="roundRect">
            <a:avLst>
              <a:gd name="adj" fmla="val 50000"/>
            </a:avLst>
          </a:prstGeom>
          <a:solidFill>
            <a:srgbClr val="FFFFFF"/>
          </a:solidFill>
          <a:ln w="19050">
            <a:solidFill>
              <a:srgbClr val="D3DEE7"/>
            </a:solidFill>
            <a:prstDash val="solid"/>
          </a:ln>
        </p:spPr>
      </p:sp>
      <p:sp>
        <p:nvSpPr>
          <p:cNvPr id="17" name="Text 15"/>
          <p:cNvSpPr txBox="1"/>
          <p:nvPr/>
        </p:nvSpPr>
        <p:spPr>
          <a:xfrm>
            <a:off x="7238848" y="1883664"/>
            <a:ext cx="3383280" cy="530352"/>
          </a:xfrm>
          <a:prstGeom prst="rect">
            <a:avLst/>
          </a:prstGeom>
          <a:noFill/>
          <a:ln/>
        </p:spPr>
        <p:txBody>
          <a:bodyPr wrap="square" lIns="0" tIns="0" rIns="0" bIns="0" rtlCol="0" anchor="ctr"/>
          <a:lstStyle/>
          <a:p>
            <a:pPr algn="ctr" indent="0" marL="0">
              <a:buNone/>
            </a:pPr>
            <a:r>
              <a:rPr lang="en-US" sz="1200" dirty="0">
                <a:solidFill>
                  <a:srgbClr val="3A536B"/>
                </a:solidFill>
                <a:latin typeface="Calibri" pitchFamily="34" charset="0"/>
                <a:ea typeface="Calibri" pitchFamily="34" charset="-122"/>
                <a:cs typeface="Calibri" pitchFamily="34" charset="-120"/>
              </a:rPr>
              <a:t>enter the while statement</a:t>
            </a:r>
            <a:endParaRPr lang="en-US" sz="1200" dirty="0"/>
          </a:p>
        </p:txBody>
      </p:sp>
      <p:sp>
        <p:nvSpPr>
          <p:cNvPr id="18" name="Shape 16"/>
          <p:cNvSpPr/>
          <p:nvPr/>
        </p:nvSpPr>
        <p:spPr>
          <a:xfrm>
            <a:off x="7558888" y="2578608"/>
            <a:ext cx="2743200" cy="1143000"/>
          </a:xfrm>
          <a:prstGeom prst="diamond">
            <a:avLst/>
          </a:prstGeom>
          <a:solidFill>
            <a:srgbClr val="E4ECF4"/>
          </a:solidFill>
          <a:ln w="19050">
            <a:solidFill>
              <a:srgbClr val="1D4468"/>
            </a:solidFill>
            <a:prstDash val="solid"/>
          </a:ln>
        </p:spPr>
      </p:sp>
      <p:sp>
        <p:nvSpPr>
          <p:cNvPr id="19" name="Text 17"/>
          <p:cNvSpPr txBox="1"/>
          <p:nvPr/>
        </p:nvSpPr>
        <p:spPr>
          <a:xfrm>
            <a:off x="7558888" y="2578608"/>
            <a:ext cx="2743200" cy="1143000"/>
          </a:xfrm>
          <a:prstGeom prst="rect">
            <a:avLst/>
          </a:prstGeom>
          <a:noFill/>
          <a:ln/>
        </p:spPr>
        <p:txBody>
          <a:bodyPr wrap="square" lIns="0" tIns="0" rIns="0" bIns="0" rtlCol="0" anchor="ctr"/>
          <a:lstStyle/>
          <a:p>
            <a:pPr algn="ctr" indent="0" marL="0">
              <a:buNone/>
            </a:pPr>
            <a:r>
              <a:rPr lang="en-US" sz="1000" b="1" dirty="0">
                <a:solidFill>
                  <a:srgbClr val="0F2942"/>
                </a:solidFill>
                <a:latin typeface="Courier New" pitchFamily="34" charset="0"/>
                <a:ea typeface="Courier New" pitchFamily="34" charset="-122"/>
                <a:cs typeface="Courier New" pitchFamily="34" charset="-120"/>
              </a:rPr>
              <a:t>loop-continuation-</a:t>
            </a:r>
            <a:endParaRPr lang="en-US" sz="1000" dirty="0"/>
          </a:p>
          <a:p>
            <a:pPr algn="ctr" indent="0" marL="0">
              <a:buNone/>
            </a:pPr>
            <a:r>
              <a:rPr lang="en-US" sz="1000" b="1" dirty="0">
                <a:solidFill>
                  <a:srgbClr val="0F2942"/>
                </a:solidFill>
                <a:latin typeface="Courier New" pitchFamily="34" charset="0"/>
                <a:ea typeface="Courier New" pitchFamily="34" charset="-122"/>
                <a:cs typeface="Courier New" pitchFamily="34" charset="-120"/>
              </a:rPr>
              <a:t>condition?</a:t>
            </a:r>
            <a:endParaRPr lang="en-US" sz="1000" dirty="0"/>
          </a:p>
        </p:txBody>
      </p:sp>
      <p:sp>
        <p:nvSpPr>
          <p:cNvPr id="20" name="Text 18"/>
          <p:cNvSpPr txBox="1"/>
          <p:nvPr/>
        </p:nvSpPr>
        <p:spPr>
          <a:xfrm>
            <a:off x="7238848" y="3785616"/>
            <a:ext cx="1188720" cy="237744"/>
          </a:xfrm>
          <a:prstGeom prst="rect">
            <a:avLst/>
          </a:prstGeom>
          <a:noFill/>
          <a:ln/>
        </p:spPr>
        <p:txBody>
          <a:bodyPr wrap="square" lIns="0" tIns="0" rIns="0" bIns="0" rtlCol="0" anchor="ctr"/>
          <a:lstStyle/>
          <a:p>
            <a:pPr algn="ctr" indent="0" marL="0">
              <a:buNone/>
            </a:pPr>
            <a:r>
              <a:rPr lang="en-US" sz="1100" b="1" dirty="0">
                <a:solidFill>
                  <a:srgbClr val="176240"/>
                </a:solidFill>
                <a:latin typeface="Calibri" pitchFamily="34" charset="0"/>
                <a:ea typeface="Calibri" pitchFamily="34" charset="-122"/>
                <a:cs typeface="Calibri" pitchFamily="34" charset="-120"/>
              </a:rPr>
              <a:t>true</a:t>
            </a:r>
            <a:endParaRPr lang="en-US" sz="1100" dirty="0"/>
          </a:p>
        </p:txBody>
      </p:sp>
      <p:sp>
        <p:nvSpPr>
          <p:cNvPr id="21" name="Text 19"/>
          <p:cNvSpPr txBox="1"/>
          <p:nvPr/>
        </p:nvSpPr>
        <p:spPr>
          <a:xfrm>
            <a:off x="9341968" y="2871216"/>
            <a:ext cx="1234440" cy="237744"/>
          </a:xfrm>
          <a:prstGeom prst="rect">
            <a:avLst/>
          </a:prstGeom>
          <a:noFill/>
          <a:ln/>
        </p:spPr>
        <p:txBody>
          <a:bodyPr wrap="square" lIns="0" tIns="0" rIns="0" bIns="0" rtlCol="0" anchor="ctr"/>
          <a:lstStyle/>
          <a:p>
            <a:pPr algn="r" indent="0" marL="0">
              <a:buNone/>
            </a:pPr>
            <a:r>
              <a:rPr lang="en-US" sz="1100" b="1" dirty="0">
                <a:solidFill>
                  <a:srgbClr val="9A430A"/>
                </a:solidFill>
                <a:latin typeface="Calibri" pitchFamily="34" charset="0"/>
                <a:ea typeface="Calibri" pitchFamily="34" charset="-122"/>
                <a:cs typeface="Calibri" pitchFamily="34" charset="-120"/>
              </a:rPr>
              <a:t>false</a:t>
            </a:r>
            <a:endParaRPr lang="en-US" sz="1100" dirty="0"/>
          </a:p>
        </p:txBody>
      </p:sp>
      <p:sp>
        <p:nvSpPr>
          <p:cNvPr id="22" name="Shape 20"/>
          <p:cNvSpPr/>
          <p:nvPr/>
        </p:nvSpPr>
        <p:spPr>
          <a:xfrm>
            <a:off x="7558888" y="4078224"/>
            <a:ext cx="2743200" cy="603504"/>
          </a:xfrm>
          <a:prstGeom prst="roundRect">
            <a:avLst>
              <a:gd name="adj" fmla="val 12121"/>
            </a:avLst>
          </a:prstGeom>
          <a:solidFill>
            <a:srgbClr val="E6F2EC"/>
          </a:solidFill>
          <a:ln w="19050">
            <a:solidFill>
              <a:srgbClr val="176240"/>
            </a:solidFill>
            <a:prstDash val="solid"/>
          </a:ln>
        </p:spPr>
      </p:sp>
      <p:sp>
        <p:nvSpPr>
          <p:cNvPr id="23" name="Text 21"/>
          <p:cNvSpPr txBox="1"/>
          <p:nvPr/>
        </p:nvSpPr>
        <p:spPr>
          <a:xfrm>
            <a:off x="7558888" y="4078224"/>
            <a:ext cx="2743200" cy="603504"/>
          </a:xfrm>
          <a:prstGeom prst="rect">
            <a:avLst/>
          </a:prstGeom>
          <a:noFill/>
          <a:ln/>
        </p:spPr>
        <p:txBody>
          <a:bodyPr wrap="square" lIns="0" tIns="0" rIns="0" bIns="0" rtlCol="0" anchor="ctr"/>
          <a:lstStyle/>
          <a:p>
            <a:pPr algn="ctr" indent="0" marL="0">
              <a:buNone/>
            </a:pPr>
            <a:r>
              <a:rPr lang="en-US" sz="1200" b="1" dirty="0">
                <a:solidFill>
                  <a:srgbClr val="176240"/>
                </a:solidFill>
                <a:latin typeface="Calibri" pitchFamily="34" charset="0"/>
                <a:ea typeface="Calibri" pitchFamily="34" charset="-122"/>
                <a:cs typeface="Calibri" pitchFamily="34" charset="-120"/>
              </a:rPr>
              <a:t>statement(s) — the body</a:t>
            </a:r>
            <a:endParaRPr lang="en-US" sz="1200" dirty="0"/>
          </a:p>
        </p:txBody>
      </p:sp>
      <p:sp>
        <p:nvSpPr>
          <p:cNvPr id="24" name="Shape 22"/>
          <p:cNvSpPr/>
          <p:nvPr/>
        </p:nvSpPr>
        <p:spPr>
          <a:xfrm>
            <a:off x="7238848" y="4937760"/>
            <a:ext cx="3383280" cy="530352"/>
          </a:xfrm>
          <a:prstGeom prst="roundRect">
            <a:avLst>
              <a:gd name="adj" fmla="val 50000"/>
            </a:avLst>
          </a:prstGeom>
          <a:solidFill>
            <a:srgbClr val="FFFFFF"/>
          </a:solidFill>
          <a:ln w="19050">
            <a:solidFill>
              <a:srgbClr val="D3DEE7"/>
            </a:solidFill>
            <a:prstDash val="solid"/>
          </a:ln>
        </p:spPr>
      </p:sp>
      <p:sp>
        <p:nvSpPr>
          <p:cNvPr id="25" name="Text 23"/>
          <p:cNvSpPr txBox="1"/>
          <p:nvPr/>
        </p:nvSpPr>
        <p:spPr>
          <a:xfrm>
            <a:off x="7238848" y="4937760"/>
            <a:ext cx="3383280" cy="530352"/>
          </a:xfrm>
          <a:prstGeom prst="rect">
            <a:avLst/>
          </a:prstGeom>
          <a:noFill/>
          <a:ln/>
        </p:spPr>
        <p:txBody>
          <a:bodyPr wrap="square" lIns="0" tIns="0" rIns="0" bIns="0" rtlCol="0" anchor="ctr"/>
          <a:lstStyle/>
          <a:p>
            <a:pPr algn="ctr" indent="0" marL="0">
              <a:buNone/>
            </a:pPr>
            <a:r>
              <a:rPr lang="en-US" sz="1200" dirty="0">
                <a:solidFill>
                  <a:srgbClr val="3A536B"/>
                </a:solidFill>
                <a:latin typeface="Calibri" pitchFamily="34" charset="0"/>
                <a:ea typeface="Calibri" pitchFamily="34" charset="-122"/>
                <a:cs typeface="Calibri" pitchFamily="34" charset="-120"/>
              </a:rPr>
              <a:t>carry on after the loop</a:t>
            </a:r>
            <a:endParaRPr lang="en-US" sz="1200" dirty="0"/>
          </a:p>
        </p:txBody>
      </p:sp>
      <p:sp>
        <p:nvSpPr>
          <p:cNvPr id="26" name="Shape 24"/>
          <p:cNvSpPr/>
          <p:nvPr/>
        </p:nvSpPr>
        <p:spPr>
          <a:xfrm>
            <a:off x="8930488" y="2414016"/>
            <a:ext cx="0" cy="164592"/>
          </a:xfrm>
          <a:prstGeom prst="line">
            <a:avLst/>
          </a:prstGeom>
          <a:noFill/>
          <a:ln w="19050">
            <a:solidFill>
              <a:srgbClr val="1D4468"/>
            </a:solidFill>
            <a:prstDash val="solid"/>
            <a:tailEnd type="triangle"/>
          </a:ln>
        </p:spPr>
      </p:sp>
      <p:sp>
        <p:nvSpPr>
          <p:cNvPr id="27" name="Shape 25"/>
          <p:cNvSpPr/>
          <p:nvPr/>
        </p:nvSpPr>
        <p:spPr>
          <a:xfrm>
            <a:off x="8930488" y="3721608"/>
            <a:ext cx="0" cy="356616"/>
          </a:xfrm>
          <a:prstGeom prst="line">
            <a:avLst/>
          </a:prstGeom>
          <a:noFill/>
          <a:ln w="19050">
            <a:solidFill>
              <a:srgbClr val="1D4468"/>
            </a:solidFill>
            <a:prstDash val="solid"/>
            <a:tailEnd type="triangle"/>
          </a:ln>
        </p:spPr>
      </p:sp>
      <p:sp>
        <p:nvSpPr>
          <p:cNvPr id="28" name="Shape 26"/>
          <p:cNvSpPr/>
          <p:nvPr/>
        </p:nvSpPr>
        <p:spPr>
          <a:xfrm>
            <a:off x="7101688" y="4379976"/>
            <a:ext cx="457200" cy="0"/>
          </a:xfrm>
          <a:prstGeom prst="line">
            <a:avLst/>
          </a:prstGeom>
          <a:noFill/>
          <a:ln w="19050">
            <a:solidFill>
              <a:srgbClr val="176240"/>
            </a:solidFill>
            <a:prstDash val="solid"/>
          </a:ln>
        </p:spPr>
      </p:sp>
      <p:sp>
        <p:nvSpPr>
          <p:cNvPr id="29" name="Shape 27"/>
          <p:cNvSpPr/>
          <p:nvPr/>
        </p:nvSpPr>
        <p:spPr>
          <a:xfrm>
            <a:off x="7101688" y="2496312"/>
            <a:ext cx="0" cy="1883664"/>
          </a:xfrm>
          <a:prstGeom prst="line">
            <a:avLst/>
          </a:prstGeom>
          <a:noFill/>
          <a:ln w="19050">
            <a:solidFill>
              <a:srgbClr val="176240"/>
            </a:solidFill>
            <a:prstDash val="solid"/>
          </a:ln>
        </p:spPr>
      </p:sp>
      <p:sp>
        <p:nvSpPr>
          <p:cNvPr id="30" name="Shape 28"/>
          <p:cNvSpPr/>
          <p:nvPr/>
        </p:nvSpPr>
        <p:spPr>
          <a:xfrm>
            <a:off x="7101688" y="2496312"/>
            <a:ext cx="1828800" cy="0"/>
          </a:xfrm>
          <a:prstGeom prst="line">
            <a:avLst/>
          </a:prstGeom>
          <a:noFill/>
          <a:ln w="19050">
            <a:solidFill>
              <a:srgbClr val="176240"/>
            </a:solidFill>
            <a:prstDash val="solid"/>
            <a:tailEnd type="triangle"/>
          </a:ln>
        </p:spPr>
      </p:sp>
      <p:sp>
        <p:nvSpPr>
          <p:cNvPr id="31" name="Shape 29"/>
          <p:cNvSpPr/>
          <p:nvPr/>
        </p:nvSpPr>
        <p:spPr>
          <a:xfrm>
            <a:off x="10302088" y="3145536"/>
            <a:ext cx="411480" cy="0"/>
          </a:xfrm>
          <a:prstGeom prst="line">
            <a:avLst/>
          </a:prstGeom>
          <a:noFill/>
          <a:ln w="19050">
            <a:solidFill>
              <a:srgbClr val="C4560C"/>
            </a:solidFill>
            <a:prstDash val="solid"/>
          </a:ln>
        </p:spPr>
      </p:sp>
      <p:sp>
        <p:nvSpPr>
          <p:cNvPr id="32" name="Shape 30"/>
          <p:cNvSpPr/>
          <p:nvPr/>
        </p:nvSpPr>
        <p:spPr>
          <a:xfrm>
            <a:off x="10713568" y="3145536"/>
            <a:ext cx="0" cy="2057400"/>
          </a:xfrm>
          <a:prstGeom prst="line">
            <a:avLst/>
          </a:prstGeom>
          <a:noFill/>
          <a:ln w="19050">
            <a:solidFill>
              <a:srgbClr val="C4560C"/>
            </a:solidFill>
            <a:prstDash val="solid"/>
          </a:ln>
        </p:spPr>
      </p:sp>
      <p:sp>
        <p:nvSpPr>
          <p:cNvPr id="33" name="Shape 31"/>
          <p:cNvSpPr/>
          <p:nvPr/>
        </p:nvSpPr>
        <p:spPr>
          <a:xfrm>
            <a:off x="10622128" y="5202936"/>
            <a:ext cx="91440" cy="0"/>
          </a:xfrm>
          <a:prstGeom prst="line">
            <a:avLst/>
          </a:prstGeom>
          <a:noFill/>
          <a:ln w="19050">
            <a:solidFill>
              <a:srgbClr val="C4560C"/>
            </a:solidFill>
            <a:prstDash val="solid"/>
            <a:head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TRACE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Following a while Loop with count &lt; 2</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condition is tested three times to run the body twice — the last test is the one that ends it.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66928" y="1536192"/>
            <a:ext cx="5212080" cy="1687068"/>
          </a:xfrm>
          <a:prstGeom prst="roundRect">
            <a:avLst>
              <a:gd name="adj" fmla="val 3794"/>
            </a:avLst>
          </a:prstGeom>
          <a:solidFill>
            <a:srgbClr val="EDF2F7"/>
          </a:solidFill>
          <a:ln w="12700">
            <a:solidFill>
              <a:srgbClr val="CFDBE5"/>
            </a:solidFill>
            <a:prstDash val="solid"/>
          </a:ln>
        </p:spPr>
      </p:sp>
      <p:sp>
        <p:nvSpPr>
          <p:cNvPr id="8" name="Text 6"/>
          <p:cNvSpPr txBox="1"/>
          <p:nvPr/>
        </p:nvSpPr>
        <p:spPr>
          <a:xfrm>
            <a:off x="713232" y="1581912"/>
            <a:ext cx="49194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TRACING TWO PASSES</a:t>
            </a:r>
            <a:endParaRPr lang="en-US" sz="950" dirty="0"/>
          </a:p>
        </p:txBody>
      </p:sp>
      <p:sp>
        <p:nvSpPr>
          <p:cNvPr id="9" name="Text 7"/>
          <p:cNvSpPr txBox="1"/>
          <p:nvPr/>
        </p:nvSpPr>
        <p:spPr>
          <a:xfrm>
            <a:off x="731520" y="1810512"/>
            <a:ext cx="4882896" cy="1357884"/>
          </a:xfrm>
          <a:prstGeom prst="rect">
            <a:avLst/>
          </a:prstGeom>
          <a:noFill/>
          <a:ln/>
        </p:spPr>
        <p:txBody>
          <a:bodyPr wrap="square" lIns="0" tIns="0" rIns="0" bIns="0" rtlCol="0" anchor="t"/>
          <a:lstStyle/>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566928" y="3273552"/>
            <a:ext cx="5212080" cy="925830"/>
          </a:xfrm>
          <a:prstGeom prst="roundRect">
            <a:avLst>
              <a:gd name="adj" fmla="val 6914"/>
            </a:avLst>
          </a:prstGeom>
          <a:solidFill>
            <a:srgbClr val="FFFFFF"/>
          </a:solidFill>
          <a:ln w="12700">
            <a:solidFill>
              <a:srgbClr val="4B6377"/>
            </a:solidFill>
            <a:prstDash val="solid"/>
          </a:ln>
        </p:spPr>
      </p:sp>
      <p:sp>
        <p:nvSpPr>
          <p:cNvPr id="11" name="Text 9"/>
          <p:cNvSpPr txBox="1"/>
          <p:nvPr/>
        </p:nvSpPr>
        <p:spPr>
          <a:xfrm>
            <a:off x="713232" y="3346704"/>
            <a:ext cx="49194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3547872"/>
            <a:ext cx="4919472" cy="560070"/>
          </a:xfrm>
          <a:prstGeom prst="rect">
            <a:avLst/>
          </a:prstGeom>
          <a:noFill/>
          <a:ln/>
        </p:spPr>
        <p:txBody>
          <a:bodyPr wrap="square" lIns="0" tIns="0" rIns="0" bIns="0" rtlCol="0" anchor="t"/>
          <a:lstStyle/>
          <a:p>
            <a:pPr indent="0" marL="0">
              <a:lnSpc>
                <a:spcPct val="110000"/>
              </a:lnSpc>
              <a:buNone/>
            </a:pPr>
            <a:r>
              <a:rPr lang="en-US" sz="1250" dirty="0">
                <a:solidFill>
                  <a:srgbClr val="0F2942"/>
                </a:solidFill>
                <a:latin typeface="Courier New" pitchFamily="34" charset="0"/>
                <a:ea typeface="Courier New" pitchFamily="34" charset="-122"/>
                <a:cs typeface="Courier New" pitchFamily="34" charset="-120"/>
              </a:rPr>
              <a:t>Welcome to Java!</a:t>
            </a:r>
            <a:endParaRPr lang="en-US" sz="1250" dirty="0"/>
          </a:p>
          <a:p>
            <a:pPr indent="0" marL="0">
              <a:lnSpc>
                <a:spcPct val="110000"/>
              </a:lnSpc>
              <a:buNone/>
            </a:pPr>
            <a:r>
              <a:rPr lang="en-US" sz="1250" dirty="0">
                <a:solidFill>
                  <a:srgbClr val="0F2942"/>
                </a:solidFill>
                <a:latin typeface="Courier New" pitchFamily="34" charset="0"/>
                <a:ea typeface="Courier New" pitchFamily="34" charset="-122"/>
                <a:cs typeface="Courier New" pitchFamily="34" charset="-120"/>
              </a:rPr>
              <a:t>Welcome to Java!</a:t>
            </a:r>
            <a:endParaRPr lang="en-US" sz="1250" dirty="0"/>
          </a:p>
        </p:txBody>
      </p:sp>
      <p:sp>
        <p:nvSpPr>
          <p:cNvPr id="13" name="Shape 11"/>
          <p:cNvSpPr/>
          <p:nvPr/>
        </p:nvSpPr>
        <p:spPr>
          <a:xfrm>
            <a:off x="566928" y="4473702"/>
            <a:ext cx="5212080" cy="1463040"/>
          </a:xfrm>
          <a:prstGeom prst="roundRect">
            <a:avLst>
              <a:gd name="adj" fmla="val 5625"/>
            </a:avLst>
          </a:prstGeom>
          <a:solidFill>
            <a:srgbClr val="E4ECF4"/>
          </a:solidFill>
          <a:ln w="12700">
            <a:solidFill>
              <a:srgbClr val="E4ECF4"/>
            </a:solidFill>
            <a:prstDash val="solid"/>
          </a:ln>
        </p:spPr>
      </p:sp>
      <p:sp>
        <p:nvSpPr>
          <p:cNvPr id="14" name="Text 12"/>
          <p:cNvSpPr txBox="1"/>
          <p:nvPr/>
        </p:nvSpPr>
        <p:spPr>
          <a:xfrm>
            <a:off x="841248" y="4620006"/>
            <a:ext cx="4663440"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Count the tests, not the passes</a:t>
            </a:r>
            <a:endParaRPr lang="en-US" sz="1350" dirty="0"/>
          </a:p>
        </p:txBody>
      </p:sp>
      <p:sp>
        <p:nvSpPr>
          <p:cNvPr id="15" name="Text 13"/>
          <p:cNvSpPr txBox="1"/>
          <p:nvPr/>
        </p:nvSpPr>
        <p:spPr>
          <a:xfrm>
            <a:off x="841248" y="4930902"/>
            <a:ext cx="4663440" cy="9601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 loop that runs its body n times evaluates its condition n + 1 times. The extra evaluation is the one that comes back false — and if you never reach it, the loop never stops.</a:t>
            </a:r>
            <a:endParaRPr lang="en-US" sz="1200" dirty="0"/>
          </a:p>
        </p:txBody>
      </p:sp>
      <p:sp>
        <p:nvSpPr>
          <p:cNvPr id="16" name="Text 14"/>
          <p:cNvSpPr txBox="1"/>
          <p:nvPr/>
        </p:nvSpPr>
        <p:spPr>
          <a:xfrm>
            <a:off x="6236208" y="1536192"/>
            <a:ext cx="538855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STEP BY STEP</a:t>
            </a:r>
            <a:endParaRPr lang="en-US" sz="950" dirty="0"/>
          </a:p>
        </p:txBody>
      </p:sp>
      <p:sp>
        <p:nvSpPr>
          <p:cNvPr id="17" name="Shape 15"/>
          <p:cNvSpPr/>
          <p:nvPr/>
        </p:nvSpPr>
        <p:spPr>
          <a:xfrm>
            <a:off x="6236208" y="1810512"/>
            <a:ext cx="5388559" cy="576072"/>
          </a:xfrm>
          <a:prstGeom prst="roundRect">
            <a:avLst>
              <a:gd name="adj" fmla="val 14286"/>
            </a:avLst>
          </a:prstGeom>
          <a:solidFill>
            <a:srgbClr val="FFFFFF"/>
          </a:solidFill>
          <a:ln w="12700">
            <a:solidFill>
              <a:srgbClr val="D3DEE7"/>
            </a:solidFill>
            <a:prstDash val="solid"/>
          </a:ln>
        </p:spPr>
      </p:sp>
      <p:sp>
        <p:nvSpPr>
          <p:cNvPr id="18" name="Shape 16"/>
          <p:cNvSpPr/>
          <p:nvPr/>
        </p:nvSpPr>
        <p:spPr>
          <a:xfrm>
            <a:off x="6419088" y="1924812"/>
            <a:ext cx="347472" cy="347472"/>
          </a:xfrm>
          <a:prstGeom prst="ellipse">
            <a:avLst/>
          </a:prstGeom>
          <a:solidFill>
            <a:srgbClr val="1D4468"/>
          </a:solidFill>
          <a:ln w="12700">
            <a:solidFill>
              <a:srgbClr val="1D4468"/>
            </a:solidFill>
            <a:prstDash val="solid"/>
          </a:ln>
        </p:spPr>
      </p:sp>
      <p:sp>
        <p:nvSpPr>
          <p:cNvPr id="19" name="Text 17"/>
          <p:cNvSpPr txBox="1"/>
          <p:nvPr/>
        </p:nvSpPr>
        <p:spPr>
          <a:xfrm>
            <a:off x="6419088" y="19248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0" name="Text 18"/>
          <p:cNvSpPr txBox="1"/>
          <p:nvPr/>
        </p:nvSpPr>
        <p:spPr>
          <a:xfrm>
            <a:off x="6894576" y="1856232"/>
            <a:ext cx="454731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int count = 0</a:t>
            </a:r>
            <a:endParaRPr lang="en-US" sz="1150" dirty="0"/>
          </a:p>
        </p:txBody>
      </p:sp>
      <p:sp>
        <p:nvSpPr>
          <p:cNvPr id="21" name="Text 19"/>
          <p:cNvSpPr txBox="1"/>
          <p:nvPr/>
        </p:nvSpPr>
        <p:spPr>
          <a:xfrm>
            <a:off x="6894576" y="20755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initialise — count is 0</a:t>
            </a:r>
            <a:endParaRPr lang="en-US" sz="1100" dirty="0"/>
          </a:p>
        </p:txBody>
      </p:sp>
      <p:sp>
        <p:nvSpPr>
          <p:cNvPr id="22" name="Shape 20"/>
          <p:cNvSpPr/>
          <p:nvPr/>
        </p:nvSpPr>
        <p:spPr>
          <a:xfrm>
            <a:off x="6236208" y="2496312"/>
            <a:ext cx="5388559" cy="576072"/>
          </a:xfrm>
          <a:prstGeom prst="roundRect">
            <a:avLst>
              <a:gd name="adj" fmla="val 14286"/>
            </a:avLst>
          </a:prstGeom>
          <a:solidFill>
            <a:srgbClr val="E6F2EC"/>
          </a:solidFill>
          <a:ln w="12700">
            <a:solidFill>
              <a:srgbClr val="176240"/>
            </a:solidFill>
            <a:prstDash val="solid"/>
          </a:ln>
        </p:spPr>
      </p:sp>
      <p:sp>
        <p:nvSpPr>
          <p:cNvPr id="23" name="Shape 21"/>
          <p:cNvSpPr/>
          <p:nvPr/>
        </p:nvSpPr>
        <p:spPr>
          <a:xfrm>
            <a:off x="6419088" y="2610612"/>
            <a:ext cx="347472" cy="347472"/>
          </a:xfrm>
          <a:prstGeom prst="ellipse">
            <a:avLst/>
          </a:prstGeom>
          <a:solidFill>
            <a:srgbClr val="176240"/>
          </a:solidFill>
          <a:ln w="12700">
            <a:solidFill>
              <a:srgbClr val="176240"/>
            </a:solidFill>
            <a:prstDash val="solid"/>
          </a:ln>
        </p:spPr>
      </p:sp>
      <p:sp>
        <p:nvSpPr>
          <p:cNvPr id="24" name="Text 22"/>
          <p:cNvSpPr txBox="1"/>
          <p:nvPr/>
        </p:nvSpPr>
        <p:spPr>
          <a:xfrm>
            <a:off x="6419088" y="26106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5" name="Text 23"/>
          <p:cNvSpPr txBox="1"/>
          <p:nvPr/>
        </p:nvSpPr>
        <p:spPr>
          <a:xfrm>
            <a:off x="6894576" y="2542032"/>
            <a:ext cx="4547311" cy="276515"/>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count &lt; 2  -&gt;  true</a:t>
            </a:r>
            <a:endParaRPr lang="en-US" sz="1150" dirty="0"/>
          </a:p>
        </p:txBody>
      </p:sp>
      <p:sp>
        <p:nvSpPr>
          <p:cNvPr id="26" name="Text 24"/>
          <p:cNvSpPr txBox="1"/>
          <p:nvPr/>
        </p:nvSpPr>
        <p:spPr>
          <a:xfrm>
            <a:off x="6894576" y="27613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first test passes, enter the body</a:t>
            </a:r>
            <a:endParaRPr lang="en-US" sz="1100" dirty="0"/>
          </a:p>
        </p:txBody>
      </p:sp>
      <p:sp>
        <p:nvSpPr>
          <p:cNvPr id="27" name="Shape 25"/>
          <p:cNvSpPr/>
          <p:nvPr/>
        </p:nvSpPr>
        <p:spPr>
          <a:xfrm>
            <a:off x="6236208" y="3182112"/>
            <a:ext cx="5388559" cy="576072"/>
          </a:xfrm>
          <a:prstGeom prst="roundRect">
            <a:avLst>
              <a:gd name="adj" fmla="val 14286"/>
            </a:avLst>
          </a:prstGeom>
          <a:solidFill>
            <a:srgbClr val="FFFFFF"/>
          </a:solidFill>
          <a:ln w="12700">
            <a:solidFill>
              <a:srgbClr val="D3DEE7"/>
            </a:solidFill>
            <a:prstDash val="solid"/>
          </a:ln>
        </p:spPr>
      </p:sp>
      <p:sp>
        <p:nvSpPr>
          <p:cNvPr id="28" name="Shape 26"/>
          <p:cNvSpPr/>
          <p:nvPr/>
        </p:nvSpPr>
        <p:spPr>
          <a:xfrm>
            <a:off x="6419088" y="3296412"/>
            <a:ext cx="347472" cy="347472"/>
          </a:xfrm>
          <a:prstGeom prst="ellipse">
            <a:avLst/>
          </a:prstGeom>
          <a:solidFill>
            <a:srgbClr val="1D4468"/>
          </a:solidFill>
          <a:ln w="12700">
            <a:solidFill>
              <a:srgbClr val="1D4468"/>
            </a:solidFill>
            <a:prstDash val="solid"/>
          </a:ln>
        </p:spPr>
      </p:sp>
      <p:sp>
        <p:nvSpPr>
          <p:cNvPr id="29" name="Text 27"/>
          <p:cNvSpPr txBox="1"/>
          <p:nvPr/>
        </p:nvSpPr>
        <p:spPr>
          <a:xfrm>
            <a:off x="6419088" y="32964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30" name="Text 28"/>
          <p:cNvSpPr txBox="1"/>
          <p:nvPr/>
        </p:nvSpPr>
        <p:spPr>
          <a:xfrm>
            <a:off x="6894576" y="3227832"/>
            <a:ext cx="454731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print, then count++</a:t>
            </a:r>
            <a:endParaRPr lang="en-US" sz="1150" dirty="0"/>
          </a:p>
        </p:txBody>
      </p:sp>
      <p:sp>
        <p:nvSpPr>
          <p:cNvPr id="31" name="Text 29"/>
          <p:cNvSpPr txBox="1"/>
          <p:nvPr/>
        </p:nvSpPr>
        <p:spPr>
          <a:xfrm>
            <a:off x="6894576" y="34471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prints once; count is 1</a:t>
            </a:r>
            <a:endParaRPr lang="en-US" sz="1100" dirty="0"/>
          </a:p>
        </p:txBody>
      </p:sp>
      <p:sp>
        <p:nvSpPr>
          <p:cNvPr id="32" name="Shape 30"/>
          <p:cNvSpPr/>
          <p:nvPr/>
        </p:nvSpPr>
        <p:spPr>
          <a:xfrm>
            <a:off x="6236208" y="3867912"/>
            <a:ext cx="5388559" cy="576072"/>
          </a:xfrm>
          <a:prstGeom prst="roundRect">
            <a:avLst>
              <a:gd name="adj" fmla="val 14286"/>
            </a:avLst>
          </a:prstGeom>
          <a:solidFill>
            <a:srgbClr val="E6F2EC"/>
          </a:solidFill>
          <a:ln w="12700">
            <a:solidFill>
              <a:srgbClr val="176240"/>
            </a:solidFill>
            <a:prstDash val="solid"/>
          </a:ln>
        </p:spPr>
      </p:sp>
      <p:sp>
        <p:nvSpPr>
          <p:cNvPr id="33" name="Shape 31"/>
          <p:cNvSpPr/>
          <p:nvPr/>
        </p:nvSpPr>
        <p:spPr>
          <a:xfrm>
            <a:off x="6419088" y="3982212"/>
            <a:ext cx="347472" cy="347472"/>
          </a:xfrm>
          <a:prstGeom prst="ellipse">
            <a:avLst/>
          </a:prstGeom>
          <a:solidFill>
            <a:srgbClr val="176240"/>
          </a:solidFill>
          <a:ln w="12700">
            <a:solidFill>
              <a:srgbClr val="176240"/>
            </a:solidFill>
            <a:prstDash val="solid"/>
          </a:ln>
        </p:spPr>
      </p:sp>
      <p:sp>
        <p:nvSpPr>
          <p:cNvPr id="34" name="Text 32"/>
          <p:cNvSpPr txBox="1"/>
          <p:nvPr/>
        </p:nvSpPr>
        <p:spPr>
          <a:xfrm>
            <a:off x="6419088" y="39822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5" name="Text 33"/>
          <p:cNvSpPr txBox="1"/>
          <p:nvPr/>
        </p:nvSpPr>
        <p:spPr>
          <a:xfrm>
            <a:off x="6894576" y="3913632"/>
            <a:ext cx="4547311" cy="276515"/>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count &lt; 2  -&gt;  true</a:t>
            </a:r>
            <a:endParaRPr lang="en-US" sz="1150" dirty="0"/>
          </a:p>
        </p:txBody>
      </p:sp>
      <p:sp>
        <p:nvSpPr>
          <p:cNvPr id="36" name="Text 34"/>
          <p:cNvSpPr txBox="1"/>
          <p:nvPr/>
        </p:nvSpPr>
        <p:spPr>
          <a:xfrm>
            <a:off x="6894576" y="41329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1 is still below 2, go round again</a:t>
            </a:r>
            <a:endParaRPr lang="en-US" sz="1100" dirty="0"/>
          </a:p>
        </p:txBody>
      </p:sp>
      <p:sp>
        <p:nvSpPr>
          <p:cNvPr id="37" name="Shape 35"/>
          <p:cNvSpPr/>
          <p:nvPr/>
        </p:nvSpPr>
        <p:spPr>
          <a:xfrm>
            <a:off x="6236208" y="4553712"/>
            <a:ext cx="5388559" cy="576072"/>
          </a:xfrm>
          <a:prstGeom prst="roundRect">
            <a:avLst>
              <a:gd name="adj" fmla="val 14286"/>
            </a:avLst>
          </a:prstGeom>
          <a:solidFill>
            <a:srgbClr val="FFFFFF"/>
          </a:solidFill>
          <a:ln w="12700">
            <a:solidFill>
              <a:srgbClr val="D3DEE7"/>
            </a:solidFill>
            <a:prstDash val="solid"/>
          </a:ln>
        </p:spPr>
      </p:sp>
      <p:sp>
        <p:nvSpPr>
          <p:cNvPr id="38" name="Shape 36"/>
          <p:cNvSpPr/>
          <p:nvPr/>
        </p:nvSpPr>
        <p:spPr>
          <a:xfrm>
            <a:off x="6419088" y="4668012"/>
            <a:ext cx="347472" cy="347472"/>
          </a:xfrm>
          <a:prstGeom prst="ellipse">
            <a:avLst/>
          </a:prstGeom>
          <a:solidFill>
            <a:srgbClr val="1D4468"/>
          </a:solidFill>
          <a:ln w="12700">
            <a:solidFill>
              <a:srgbClr val="1D4468"/>
            </a:solidFill>
            <a:prstDash val="solid"/>
          </a:ln>
        </p:spPr>
      </p:sp>
      <p:sp>
        <p:nvSpPr>
          <p:cNvPr id="39" name="Text 37"/>
          <p:cNvSpPr txBox="1"/>
          <p:nvPr/>
        </p:nvSpPr>
        <p:spPr>
          <a:xfrm>
            <a:off x="6419088" y="46680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40" name="Text 38"/>
          <p:cNvSpPr txBox="1"/>
          <p:nvPr/>
        </p:nvSpPr>
        <p:spPr>
          <a:xfrm>
            <a:off x="6894576" y="4599432"/>
            <a:ext cx="454731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print, then count++</a:t>
            </a:r>
            <a:endParaRPr lang="en-US" sz="1150" dirty="0"/>
          </a:p>
        </p:txBody>
      </p:sp>
      <p:sp>
        <p:nvSpPr>
          <p:cNvPr id="41" name="Text 39"/>
          <p:cNvSpPr txBox="1"/>
          <p:nvPr/>
        </p:nvSpPr>
        <p:spPr>
          <a:xfrm>
            <a:off x="6894576" y="48187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prints again; count is 2</a:t>
            </a:r>
            <a:endParaRPr lang="en-US" sz="1100" dirty="0"/>
          </a:p>
        </p:txBody>
      </p:sp>
      <p:sp>
        <p:nvSpPr>
          <p:cNvPr id="42" name="Shape 40"/>
          <p:cNvSpPr/>
          <p:nvPr/>
        </p:nvSpPr>
        <p:spPr>
          <a:xfrm>
            <a:off x="6236208" y="5239512"/>
            <a:ext cx="5388559" cy="576072"/>
          </a:xfrm>
          <a:prstGeom prst="roundRect">
            <a:avLst>
              <a:gd name="adj" fmla="val 14286"/>
            </a:avLst>
          </a:prstGeom>
          <a:solidFill>
            <a:srgbClr val="FBEEE0"/>
          </a:solidFill>
          <a:ln w="12700">
            <a:solidFill>
              <a:srgbClr val="C4560C"/>
            </a:solidFill>
            <a:prstDash val="solid"/>
          </a:ln>
        </p:spPr>
      </p:sp>
      <p:sp>
        <p:nvSpPr>
          <p:cNvPr id="43" name="Shape 41"/>
          <p:cNvSpPr/>
          <p:nvPr/>
        </p:nvSpPr>
        <p:spPr>
          <a:xfrm>
            <a:off x="6419088" y="5353812"/>
            <a:ext cx="347472" cy="347472"/>
          </a:xfrm>
          <a:prstGeom prst="ellipse">
            <a:avLst/>
          </a:prstGeom>
          <a:solidFill>
            <a:srgbClr val="C4560C"/>
          </a:solidFill>
          <a:ln w="12700">
            <a:solidFill>
              <a:srgbClr val="C4560C"/>
            </a:solidFill>
            <a:prstDash val="solid"/>
          </a:ln>
        </p:spPr>
      </p:sp>
      <p:sp>
        <p:nvSpPr>
          <p:cNvPr id="44" name="Text 42"/>
          <p:cNvSpPr txBox="1"/>
          <p:nvPr/>
        </p:nvSpPr>
        <p:spPr>
          <a:xfrm>
            <a:off x="6419088" y="53538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45" name="Text 43"/>
          <p:cNvSpPr txBox="1"/>
          <p:nvPr/>
        </p:nvSpPr>
        <p:spPr>
          <a:xfrm>
            <a:off x="6894576" y="5285232"/>
            <a:ext cx="454731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count &lt; 2  -&gt;  false</a:t>
            </a:r>
            <a:endParaRPr lang="en-US" sz="1150" dirty="0"/>
          </a:p>
        </p:txBody>
      </p:sp>
      <p:sp>
        <p:nvSpPr>
          <p:cNvPr id="46" name="Text 44"/>
          <p:cNvSpPr txBox="1"/>
          <p:nvPr/>
        </p:nvSpPr>
        <p:spPr>
          <a:xfrm>
            <a:off x="6894576" y="55045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2 is not below 2 — the loop exits here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Keep Asking Until the Answer Is Right</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Tuesday's AdditionQuiz asked one question and gave up. A loop turns it into a tutor.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566928" y="1536192"/>
            <a:ext cx="5943600" cy="3819449"/>
          </a:xfrm>
          <a:prstGeom prst="roundRect">
            <a:avLst>
              <a:gd name="adj" fmla="val 1676"/>
            </a:avLst>
          </a:prstGeom>
          <a:solidFill>
            <a:srgbClr val="EDF2F7"/>
          </a:solidFill>
          <a:ln w="12700">
            <a:solidFill>
              <a:srgbClr val="CFDBE5"/>
            </a:solidFill>
            <a:prstDash val="solid"/>
          </a:ln>
        </p:spPr>
      </p:sp>
      <p:sp>
        <p:nvSpPr>
          <p:cNvPr id="8" name="Text 6"/>
          <p:cNvSpPr txBox="1"/>
          <p:nvPr/>
        </p:nvSpPr>
        <p:spPr>
          <a:xfrm>
            <a:off x="713232" y="1581912"/>
            <a:ext cx="56509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RepeatAdditionQuiz.java</a:t>
            </a:r>
            <a:endParaRPr lang="en-US" sz="950" dirty="0"/>
          </a:p>
        </p:txBody>
      </p:sp>
      <p:sp>
        <p:nvSpPr>
          <p:cNvPr id="9" name="Text 7"/>
          <p:cNvSpPr txBox="1"/>
          <p:nvPr/>
        </p:nvSpPr>
        <p:spPr>
          <a:xfrm>
            <a:off x="731520" y="1810512"/>
            <a:ext cx="5614416" cy="3490265"/>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Math</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random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"What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answer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answer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"Wrong. Try again. What is "</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number1</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number2</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answer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"You got it!"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6967728" y="1536192"/>
            <a:ext cx="4657039" cy="1103909"/>
          </a:xfrm>
          <a:prstGeom prst="roundRect">
            <a:avLst>
              <a:gd name="adj" fmla="val 5798"/>
            </a:avLst>
          </a:prstGeom>
          <a:solidFill>
            <a:srgbClr val="FFFFFF"/>
          </a:solidFill>
          <a:ln w="12700">
            <a:solidFill>
              <a:srgbClr val="4B6377"/>
            </a:solidFill>
            <a:prstDash val="solid"/>
          </a:ln>
        </p:spPr>
      </p:sp>
      <p:sp>
        <p:nvSpPr>
          <p:cNvPr id="11" name="Text 9"/>
          <p:cNvSpPr txBox="1"/>
          <p:nvPr/>
        </p:nvSpPr>
        <p:spPr>
          <a:xfrm>
            <a:off x="7114032" y="1609344"/>
            <a:ext cx="43644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14032" y="1810512"/>
            <a:ext cx="4364431" cy="738149"/>
          </a:xfrm>
          <a:prstGeom prst="rect">
            <a:avLst/>
          </a:prstGeom>
          <a:noFill/>
          <a:ln/>
        </p:spPr>
        <p:txBody>
          <a:bodyPr wrap="square" lIns="0" tIns="0" rIns="0" bIns="0" rtlCol="0" anchor="t"/>
          <a:lstStyle/>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What is 5 + 9? 12</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Wrong. Try again. What is 5 + 9? 14</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You got it!</a:t>
            </a:r>
            <a:endParaRPr lang="en-US" sz="1150" dirty="0"/>
          </a:p>
        </p:txBody>
      </p:sp>
      <p:sp>
        <p:nvSpPr>
          <p:cNvPr id="13" name="Shape 11"/>
          <p:cNvSpPr/>
          <p:nvPr/>
        </p:nvSpPr>
        <p:spPr>
          <a:xfrm>
            <a:off x="6967728" y="2896133"/>
            <a:ext cx="4657039" cy="1691640"/>
          </a:xfrm>
          <a:prstGeom prst="roundRect">
            <a:avLst>
              <a:gd name="adj" fmla="val 4865"/>
            </a:avLst>
          </a:prstGeom>
          <a:solidFill>
            <a:srgbClr val="F1F5F9"/>
          </a:solidFill>
          <a:ln w="12700">
            <a:solidFill>
              <a:srgbClr val="F1F5F9"/>
            </a:solidFill>
            <a:prstDash val="solid"/>
          </a:ln>
        </p:spPr>
      </p:sp>
      <p:sp>
        <p:nvSpPr>
          <p:cNvPr id="14" name="Text 12"/>
          <p:cNvSpPr txBox="1"/>
          <p:nvPr/>
        </p:nvSpPr>
        <p:spPr>
          <a:xfrm>
            <a:off x="7187184" y="3060725"/>
            <a:ext cx="421812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The shape to notice</a:t>
            </a:r>
            <a:endParaRPr lang="en-US" sz="1450" dirty="0"/>
          </a:p>
        </p:txBody>
      </p:sp>
      <p:sp>
        <p:nvSpPr>
          <p:cNvPr id="15" name="Text 13"/>
          <p:cNvSpPr txBox="1"/>
          <p:nvPr/>
        </p:nvSpPr>
        <p:spPr>
          <a:xfrm>
            <a:off x="7187184" y="3389909"/>
            <a:ext cx="4218127" cy="10698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The question is asked once before the loop, and again at the end of every failed pass. That duplication is the price of a while loop that has to run at least once — and it is exactly the itch that do-while scratches, two slides from now.</a:t>
            </a:r>
            <a:endParaRPr lang="en-US" sz="1200" dirty="0"/>
          </a:p>
        </p:txBody>
      </p:sp>
      <p:sp>
        <p:nvSpPr>
          <p:cNvPr id="16" name="Shape 14"/>
          <p:cNvSpPr/>
          <p:nvPr/>
        </p:nvSpPr>
        <p:spPr>
          <a:xfrm>
            <a:off x="6967728" y="4743221"/>
            <a:ext cx="4657039" cy="1463040"/>
          </a:xfrm>
          <a:prstGeom prst="roundRect">
            <a:avLst>
              <a:gd name="adj" fmla="val 5625"/>
            </a:avLst>
          </a:prstGeom>
          <a:solidFill>
            <a:srgbClr val="FBEAE8"/>
          </a:solidFill>
          <a:ln w="12700">
            <a:solidFill>
              <a:srgbClr val="FBEAE8"/>
            </a:solidFill>
            <a:prstDash val="solid"/>
          </a:ln>
        </p:spPr>
      </p:sp>
      <p:sp>
        <p:nvSpPr>
          <p:cNvPr id="17" name="Text 15"/>
          <p:cNvSpPr txBox="1"/>
          <p:nvPr/>
        </p:nvSpPr>
        <p:spPr>
          <a:xfrm>
            <a:off x="7223760" y="4889525"/>
            <a:ext cx="4144975"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This loop can run forever</a:t>
            </a:r>
            <a:endParaRPr lang="en-US" sz="1350" dirty="0"/>
          </a:p>
        </p:txBody>
      </p:sp>
      <p:sp>
        <p:nvSpPr>
          <p:cNvPr id="18" name="Text 16"/>
          <p:cNvSpPr txBox="1"/>
          <p:nvPr/>
        </p:nvSpPr>
        <p:spPr>
          <a:xfrm>
            <a:off x="7223760" y="5200421"/>
            <a:ext cx="4144975" cy="9601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Not a bug here — the user is the thing that makes progress, and a determined user always can. But the moment the changing value comes from a file rather than a person, you need a second way out.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LOOP 02</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When You Do Not Know How Many Times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sentinel is an input value chosen to mean 'that is the last one'. It is data that says stop.</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566928" y="1536192"/>
            <a:ext cx="5852160" cy="3150657"/>
          </a:xfrm>
          <a:prstGeom prst="roundRect">
            <a:avLst>
              <a:gd name="adj" fmla="val 2032"/>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SentinelValue.java</a:t>
            </a:r>
            <a:endParaRPr lang="en-US" sz="950" dirty="0"/>
          </a:p>
        </p:txBody>
      </p:sp>
      <p:sp>
        <p:nvSpPr>
          <p:cNvPr id="9" name="Text 7"/>
          <p:cNvSpPr txBox="1"/>
          <p:nvPr/>
        </p:nvSpPr>
        <p:spPr>
          <a:xfrm>
            <a:off x="731520" y="1810512"/>
            <a:ext cx="5522976" cy="2821473"/>
          </a:xfrm>
          <a:prstGeom prst="rect">
            <a:avLst/>
          </a:prstGeom>
          <a:noFill/>
          <a:ln/>
        </p:spPr>
        <p:txBody>
          <a:bodyPr wrap="square" lIns="0" tIns="0" rIns="0" bIns="0" rtlCol="0" anchor="t"/>
          <a:lstStyle/>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new</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Scanner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"Enter an integer (0 to quit):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data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data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0 is the sentinel</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data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"Enter an integer: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data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"The sum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566928" y="4942881"/>
            <a:ext cx="5852160" cy="1325880"/>
          </a:xfrm>
          <a:prstGeom prst="roundRect">
            <a:avLst>
              <a:gd name="adj" fmla="val 6207"/>
            </a:avLst>
          </a:prstGeom>
          <a:solidFill>
            <a:srgbClr val="E4ECF4"/>
          </a:solidFill>
          <a:ln w="12700">
            <a:solidFill>
              <a:srgbClr val="E4ECF4"/>
            </a:solidFill>
            <a:prstDash val="solid"/>
          </a:ln>
        </p:spPr>
      </p:sp>
      <p:sp>
        <p:nvSpPr>
          <p:cNvPr id="11" name="Text 9"/>
          <p:cNvSpPr txBox="1"/>
          <p:nvPr/>
        </p:nvSpPr>
        <p:spPr>
          <a:xfrm>
            <a:off x="841248" y="4942881"/>
            <a:ext cx="5303520" cy="132588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Choose a sentinel that cannot be real data.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Zero is fine for a sum of non-zero readings and wrong for a list of temperatures. −1 is fine for ages and wrong for bank balances.</a:t>
            </a:r>
            <a:endParaRPr lang="en-US" sz="1250" dirty="0"/>
          </a:p>
        </p:txBody>
      </p:sp>
      <p:sp>
        <p:nvSpPr>
          <p:cNvPr id="12" name="Shape 10"/>
          <p:cNvSpPr/>
          <p:nvPr/>
        </p:nvSpPr>
        <p:spPr>
          <a:xfrm>
            <a:off x="6876288" y="1536192"/>
            <a:ext cx="4748479" cy="1535049"/>
          </a:xfrm>
          <a:prstGeom prst="roundRect">
            <a:avLst>
              <a:gd name="adj" fmla="val 4170"/>
            </a:avLst>
          </a:prstGeom>
          <a:solidFill>
            <a:srgbClr val="FFFFFF"/>
          </a:solidFill>
          <a:ln w="12700">
            <a:solidFill>
              <a:srgbClr val="4B6377"/>
            </a:solidFill>
            <a:prstDash val="solid"/>
          </a:ln>
        </p:spPr>
      </p:sp>
      <p:sp>
        <p:nvSpPr>
          <p:cNvPr id="13" name="Text 11"/>
          <p:cNvSpPr txBox="1"/>
          <p:nvPr/>
        </p:nvSpPr>
        <p:spPr>
          <a:xfrm>
            <a:off x="7022592" y="1609344"/>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4" name="Text 12"/>
          <p:cNvSpPr txBox="1"/>
          <p:nvPr/>
        </p:nvSpPr>
        <p:spPr>
          <a:xfrm>
            <a:off x="7022592" y="1810512"/>
            <a:ext cx="4455871" cy="1169289"/>
          </a:xfrm>
          <a:prstGeom prst="rect">
            <a:avLst/>
          </a:prstGeom>
          <a:noFill/>
          <a:ln/>
        </p:spPr>
        <p:txBody>
          <a:bodyPr wrap="square" lIns="0" tIns="0" rIns="0" bIns="0" rtlCol="0" anchor="t"/>
          <a:lstStyle/>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Enter an integer (0 to quit): 2</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Enter an integer: 3</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Enter an integer: 4</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Enter an integer: 0</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The sum is 9</a:t>
            </a:r>
            <a:endParaRPr lang="en-US" sz="1150" dirty="0"/>
          </a:p>
        </p:txBody>
      </p:sp>
      <p:sp>
        <p:nvSpPr>
          <p:cNvPr id="15" name="Shape 13"/>
          <p:cNvSpPr/>
          <p:nvPr/>
        </p:nvSpPr>
        <p:spPr>
          <a:xfrm>
            <a:off x="6876288" y="3327273"/>
            <a:ext cx="4748479" cy="1554480"/>
          </a:xfrm>
          <a:prstGeom prst="roundRect">
            <a:avLst>
              <a:gd name="adj" fmla="val 5294"/>
            </a:avLst>
          </a:prstGeom>
          <a:solidFill>
            <a:srgbClr val="F1F5F9"/>
          </a:solidFill>
          <a:ln w="12700">
            <a:solidFill>
              <a:srgbClr val="F1F5F9"/>
            </a:solidFill>
            <a:prstDash val="solid"/>
          </a:ln>
        </p:spPr>
      </p:sp>
      <p:sp>
        <p:nvSpPr>
          <p:cNvPr id="16" name="Text 14"/>
          <p:cNvSpPr txBox="1"/>
          <p:nvPr/>
        </p:nvSpPr>
        <p:spPr>
          <a:xfrm>
            <a:off x="7095744" y="3491865"/>
            <a:ext cx="43095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Reading a long list without typing it</a:t>
            </a:r>
            <a:endParaRPr lang="en-US" sz="1450" dirty="0"/>
          </a:p>
        </p:txBody>
      </p:sp>
      <p:sp>
        <p:nvSpPr>
          <p:cNvPr id="17" name="Text 15"/>
          <p:cNvSpPr txBox="1"/>
          <p:nvPr/>
        </p:nvSpPr>
        <p:spPr>
          <a:xfrm>
            <a:off x="7095744" y="3821049"/>
            <a:ext cx="4309567" cy="93268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Type 200 numbers at the keyboard and you will make a mistake. Put them in a file and use input redirection instead — the program is unchanged, and System.in comes from the file.</a:t>
            </a:r>
            <a:endParaRPr lang="en-US" sz="1200" dirty="0"/>
          </a:p>
        </p:txBody>
      </p:sp>
      <p:sp>
        <p:nvSpPr>
          <p:cNvPr id="18" name="Shape 16"/>
          <p:cNvSpPr/>
          <p:nvPr/>
        </p:nvSpPr>
        <p:spPr>
          <a:xfrm>
            <a:off x="6876288" y="5037201"/>
            <a:ext cx="4748479" cy="921349"/>
          </a:xfrm>
          <a:prstGeom prst="roundRect">
            <a:avLst>
              <a:gd name="adj" fmla="val 6947"/>
            </a:avLst>
          </a:prstGeom>
          <a:solidFill>
            <a:srgbClr val="EDF2F7"/>
          </a:solidFill>
          <a:ln w="12700">
            <a:solidFill>
              <a:srgbClr val="CFDBE5"/>
            </a:solidFill>
            <a:prstDash val="solid"/>
          </a:ln>
        </p:spPr>
      </p:sp>
      <p:sp>
        <p:nvSpPr>
          <p:cNvPr id="19" name="Text 17"/>
          <p:cNvSpPr txBox="1"/>
          <p:nvPr/>
        </p:nvSpPr>
        <p:spPr>
          <a:xfrm>
            <a:off x="7022592" y="5082921"/>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AT THE COMMAND LINE — NOT IN THE CODE</a:t>
            </a:r>
            <a:endParaRPr lang="en-US" sz="950" dirty="0"/>
          </a:p>
        </p:txBody>
      </p:sp>
      <p:sp>
        <p:nvSpPr>
          <p:cNvPr id="20" name="Text 18"/>
          <p:cNvSpPr txBox="1"/>
          <p:nvPr/>
        </p:nvSpPr>
        <p:spPr>
          <a:xfrm>
            <a:off x="7040880" y="5311521"/>
            <a:ext cx="4419295" cy="592165"/>
          </a:xfrm>
          <a:prstGeom prst="rect">
            <a:avLst/>
          </a:prstGeom>
          <a:noFill/>
          <a:ln/>
        </p:spPr>
        <p:txBody>
          <a:bodyPr wrap="square" lIns="0" tIns="0" rIns="0" bIns="0" rtlCol="0" anchor="t"/>
          <a:lstStyle/>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java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SentinelValue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txt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java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SentinelValue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txt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PITFALLS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Two Ways a while Loop Goes Wrong</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It never stops, or it runs one time too many or too few. Both compile perfectly.</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566928" y="1536192"/>
            <a:ext cx="384048" cy="384048"/>
          </a:xfrm>
          <a:prstGeom prst="ellipse">
            <a:avLst/>
          </a:prstGeom>
          <a:solidFill>
            <a:srgbClr val="9C241C"/>
          </a:solidFill>
          <a:ln w="12700">
            <a:solidFill>
              <a:srgbClr val="9C241C"/>
            </a:solidFill>
            <a:prstDash val="solid"/>
          </a:ln>
        </p:spPr>
      </p:sp>
      <p:sp>
        <p:nvSpPr>
          <p:cNvPr id="8" name="Text 6"/>
          <p:cNvSpPr txBox="1"/>
          <p:nvPr/>
        </p:nvSpPr>
        <p:spPr>
          <a:xfrm>
            <a:off x="566928" y="1536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097280" y="1536192"/>
            <a:ext cx="4751680" cy="38404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The loop never ends</a:t>
            </a:r>
            <a:endParaRPr lang="en-US" sz="1500" dirty="0"/>
          </a:p>
        </p:txBody>
      </p:sp>
      <p:sp>
        <p:nvSpPr>
          <p:cNvPr id="10" name="Shape 8"/>
          <p:cNvSpPr/>
          <p:nvPr/>
        </p:nvSpPr>
        <p:spPr>
          <a:xfrm>
            <a:off x="566928" y="2039112"/>
            <a:ext cx="5300320" cy="1220907"/>
          </a:xfrm>
          <a:prstGeom prst="roundRect">
            <a:avLst>
              <a:gd name="adj" fmla="val 5243"/>
            </a:avLst>
          </a:prstGeom>
          <a:solidFill>
            <a:srgbClr val="EDF2F7"/>
          </a:solidFill>
          <a:ln w="12700">
            <a:solidFill>
              <a:srgbClr val="CFDBE5"/>
            </a:solidFill>
            <a:prstDash val="solid"/>
          </a:ln>
        </p:spPr>
      </p:sp>
      <p:sp>
        <p:nvSpPr>
          <p:cNvPr id="11" name="Text 9"/>
          <p:cNvSpPr txBox="1"/>
          <p:nvPr/>
        </p:nvSpPr>
        <p:spPr>
          <a:xfrm>
            <a:off x="731520" y="2176272"/>
            <a:ext cx="4971136" cy="1019739"/>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"Welcome!"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count never changes</a:t>
            </a:r>
            <a:endParaRPr lang="en-US" sz="1150" dirty="0"/>
          </a:p>
        </p:txBody>
      </p:sp>
      <p:sp>
        <p:nvSpPr>
          <p:cNvPr id="12" name="Shape 10"/>
          <p:cNvSpPr/>
          <p:nvPr/>
        </p:nvSpPr>
        <p:spPr>
          <a:xfrm>
            <a:off x="566928" y="3442899"/>
            <a:ext cx="5300320" cy="914400"/>
          </a:xfrm>
          <a:prstGeom prst="roundRect">
            <a:avLst>
              <a:gd name="adj" fmla="val 9000"/>
            </a:avLst>
          </a:prstGeom>
          <a:solidFill>
            <a:srgbClr val="FBEAE8"/>
          </a:solidFill>
          <a:ln w="12700">
            <a:solidFill>
              <a:srgbClr val="FBEAE8"/>
            </a:solidFill>
            <a:prstDash val="solid"/>
          </a:ln>
        </p:spPr>
      </p:sp>
      <p:sp>
        <p:nvSpPr>
          <p:cNvPr id="13" name="Text 11"/>
          <p:cNvSpPr txBox="1"/>
          <p:nvPr/>
        </p:nvSpPr>
        <p:spPr>
          <a:xfrm>
            <a:off x="822960" y="3442899"/>
            <a:ext cx="4788256" cy="914400"/>
          </a:xfrm>
          <a:prstGeom prst="rect">
            <a:avLst/>
          </a:prstGeom>
          <a:noFill/>
          <a:ln/>
        </p:spPr>
        <p:txBody>
          <a:bodyPr wrap="square" lIns="0" tIns="0" rIns="0" bIns="0" rtlCol="0" anchor="ctr"/>
          <a:lstStyle/>
          <a:p>
            <a:pPr indent="0" marL="0">
              <a:lnSpc>
                <a:spcPct val="110000"/>
              </a:lnSpc>
              <a:buNone/>
            </a:pPr>
            <a:r>
              <a:rPr lang="en-US" sz="1150" dirty="0">
                <a:solidFill>
                  <a:srgbClr val="3A536B"/>
                </a:solidFill>
                <a:latin typeface="Calibri" pitchFamily="34" charset="0"/>
                <a:ea typeface="Calibri" pitchFamily="34" charset="-122"/>
                <a:cs typeface="Calibri" pitchFamily="34" charset="-120"/>
              </a:rPr>
              <a:t>Nothing in the body touches count, so the condition gives the same answer forever. Ctrl+C, or the red square in IntelliJ, stops it.</a:t>
            </a:r>
            <a:endParaRPr lang="en-US" sz="1150" dirty="0"/>
          </a:p>
        </p:txBody>
      </p:sp>
      <p:sp>
        <p:nvSpPr>
          <p:cNvPr id="14" name="Shape 12"/>
          <p:cNvSpPr/>
          <p:nvPr/>
        </p:nvSpPr>
        <p:spPr>
          <a:xfrm>
            <a:off x="566928" y="4521891"/>
            <a:ext cx="384048" cy="384048"/>
          </a:xfrm>
          <a:prstGeom prst="ellipse">
            <a:avLst/>
          </a:prstGeom>
          <a:solidFill>
            <a:srgbClr val="9C241C"/>
          </a:solidFill>
          <a:ln w="12700">
            <a:solidFill>
              <a:srgbClr val="9C241C"/>
            </a:solidFill>
            <a:prstDash val="solid"/>
          </a:ln>
        </p:spPr>
      </p:sp>
      <p:sp>
        <p:nvSpPr>
          <p:cNvPr id="15" name="Text 13"/>
          <p:cNvSpPr txBox="1"/>
          <p:nvPr/>
        </p:nvSpPr>
        <p:spPr>
          <a:xfrm>
            <a:off x="566928" y="452189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1097280" y="4521891"/>
            <a:ext cx="4751680" cy="38404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The semicolon that ends the loop early</a:t>
            </a:r>
            <a:endParaRPr lang="en-US" sz="1500" dirty="0"/>
          </a:p>
        </p:txBody>
      </p:sp>
      <p:sp>
        <p:nvSpPr>
          <p:cNvPr id="17" name="Shape 15"/>
          <p:cNvSpPr/>
          <p:nvPr/>
        </p:nvSpPr>
        <p:spPr>
          <a:xfrm>
            <a:off x="566928" y="4997379"/>
            <a:ext cx="5300320" cy="968898"/>
          </a:xfrm>
          <a:prstGeom prst="roundRect">
            <a:avLst>
              <a:gd name="adj" fmla="val 6606"/>
            </a:avLst>
          </a:prstGeom>
          <a:solidFill>
            <a:srgbClr val="EDF2F7"/>
          </a:solidFill>
          <a:ln w="12700">
            <a:solidFill>
              <a:srgbClr val="CFDBE5"/>
            </a:solidFill>
            <a:prstDash val="solid"/>
          </a:ln>
        </p:spPr>
      </p:sp>
      <p:sp>
        <p:nvSpPr>
          <p:cNvPr id="18" name="Text 16"/>
          <p:cNvSpPr txBox="1"/>
          <p:nvPr/>
        </p:nvSpPr>
        <p:spPr>
          <a:xfrm>
            <a:off x="731520" y="5134539"/>
            <a:ext cx="4971136" cy="767730"/>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&lt;-- the body is empty</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"i is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9" name="Shape 17"/>
          <p:cNvSpPr/>
          <p:nvPr/>
        </p:nvSpPr>
        <p:spPr>
          <a:xfrm>
            <a:off x="6324448" y="1536192"/>
            <a:ext cx="384048" cy="384048"/>
          </a:xfrm>
          <a:prstGeom prst="ellipse">
            <a:avLst/>
          </a:prstGeom>
          <a:solidFill>
            <a:srgbClr val="C4560C"/>
          </a:solidFill>
          <a:ln w="12700">
            <a:solidFill>
              <a:srgbClr val="C4560C"/>
            </a:solidFill>
            <a:prstDash val="solid"/>
          </a:ln>
        </p:spPr>
      </p:sp>
      <p:sp>
        <p:nvSpPr>
          <p:cNvPr id="20" name="Text 18"/>
          <p:cNvSpPr txBox="1"/>
          <p:nvPr/>
        </p:nvSpPr>
        <p:spPr>
          <a:xfrm>
            <a:off x="6324448" y="1536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6854800" y="1536192"/>
            <a:ext cx="4751680" cy="384048"/>
          </a:xfrm>
          <a:prstGeom prst="rect">
            <a:avLst/>
          </a:prstGeom>
          <a:noFill/>
          <a:ln/>
        </p:spPr>
        <p:txBody>
          <a:bodyPr wrap="square" lIns="0" tIns="0" rIns="0" bIns="0" rtlCol="0" anchor="ctr"/>
          <a:lstStyle/>
          <a:p>
            <a:pPr indent="0" marL="0">
              <a:buNone/>
            </a:pPr>
            <a:r>
              <a:rPr lang="en-US" sz="1500" b="1" dirty="0">
                <a:solidFill>
                  <a:srgbClr val="0F2942"/>
                </a:solidFill>
                <a:latin typeface="Calibri" pitchFamily="34" charset="0"/>
                <a:ea typeface="Calibri" pitchFamily="34" charset="-122"/>
                <a:cs typeface="Calibri" pitchFamily="34" charset="-120"/>
              </a:rPr>
              <a:t>Off by one — the fencepost problem</a:t>
            </a:r>
            <a:endParaRPr lang="en-US" sz="1500" dirty="0"/>
          </a:p>
        </p:txBody>
      </p:sp>
      <p:sp>
        <p:nvSpPr>
          <p:cNvPr id="22" name="Shape 20"/>
          <p:cNvSpPr/>
          <p:nvPr/>
        </p:nvSpPr>
        <p:spPr>
          <a:xfrm>
            <a:off x="6324448" y="2039112"/>
            <a:ext cx="5300320" cy="1443838"/>
          </a:xfrm>
          <a:prstGeom prst="roundRect">
            <a:avLst>
              <a:gd name="adj" fmla="val 4433"/>
            </a:avLst>
          </a:prstGeom>
          <a:solidFill>
            <a:srgbClr val="EDF2F7"/>
          </a:solidFill>
          <a:ln w="12700">
            <a:solidFill>
              <a:srgbClr val="CFDBE5"/>
            </a:solidFill>
            <a:prstDash val="solid"/>
          </a:ln>
        </p:spPr>
      </p:sp>
      <p:sp>
        <p:nvSpPr>
          <p:cNvPr id="23" name="Text 21"/>
          <p:cNvSpPr txBox="1"/>
          <p:nvPr/>
        </p:nvSpPr>
        <p:spPr>
          <a:xfrm>
            <a:off x="6489040" y="2176272"/>
            <a:ext cx="4971136" cy="1242670"/>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runs 101 times</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"Welcome!"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24" name="Shape 22"/>
          <p:cNvSpPr/>
          <p:nvPr/>
        </p:nvSpPr>
        <p:spPr>
          <a:xfrm>
            <a:off x="6324448" y="3684118"/>
            <a:ext cx="5300320" cy="1188720"/>
          </a:xfrm>
          <a:prstGeom prst="roundRect">
            <a:avLst>
              <a:gd name="adj" fmla="val 6923"/>
            </a:avLst>
          </a:prstGeom>
          <a:solidFill>
            <a:srgbClr val="FBEEE0"/>
          </a:solidFill>
          <a:ln w="12700">
            <a:solidFill>
              <a:srgbClr val="FBEEE0"/>
            </a:solidFill>
            <a:prstDash val="solid"/>
          </a:ln>
        </p:spPr>
      </p:sp>
      <p:sp>
        <p:nvSpPr>
          <p:cNvPr id="25" name="Text 23"/>
          <p:cNvSpPr txBox="1"/>
          <p:nvPr/>
        </p:nvSpPr>
        <p:spPr>
          <a:xfrm>
            <a:off x="6580480" y="3793846"/>
            <a:ext cx="4788256"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Count the passes, not the numbers</a:t>
            </a:r>
            <a:endParaRPr lang="en-US" sz="1350" dirty="0"/>
          </a:p>
        </p:txBody>
      </p:sp>
      <p:sp>
        <p:nvSpPr>
          <p:cNvPr id="26" name="Text 24"/>
          <p:cNvSpPr txBox="1"/>
          <p:nvPr/>
        </p:nvSpPr>
        <p:spPr>
          <a:xfrm>
            <a:off x="6580480" y="4086454"/>
            <a:ext cx="4788256" cy="74980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count starts at 0 and the test is &lt;=, so the body runs for 0, 1, … 100 — that is 101 passes. Start at 0 and use &lt;, or start at 1 and use &lt;=.</a:t>
            </a:r>
            <a:endParaRPr lang="en-US" sz="1200" dirty="0"/>
          </a:p>
        </p:txBody>
      </p:sp>
      <p:sp>
        <p:nvSpPr>
          <p:cNvPr id="27" name="Shape 25"/>
          <p:cNvSpPr/>
          <p:nvPr/>
        </p:nvSpPr>
        <p:spPr>
          <a:xfrm>
            <a:off x="6324448" y="5000854"/>
            <a:ext cx="5300320" cy="1280160"/>
          </a:xfrm>
          <a:prstGeom prst="roundRect">
            <a:avLst>
              <a:gd name="adj" fmla="val 6429"/>
            </a:avLst>
          </a:prstGeom>
          <a:solidFill>
            <a:srgbClr val="E4ECF4"/>
          </a:solidFill>
          <a:ln w="12700">
            <a:solidFill>
              <a:srgbClr val="E4ECF4"/>
            </a:solidFill>
            <a:prstDash val="solid"/>
          </a:ln>
        </p:spPr>
      </p:sp>
      <p:sp>
        <p:nvSpPr>
          <p:cNvPr id="28" name="Text 26"/>
          <p:cNvSpPr txBox="1"/>
          <p:nvPr/>
        </p:nvSpPr>
        <p:spPr>
          <a:xfrm>
            <a:off x="6580480" y="5110582"/>
            <a:ext cx="4788256"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How to find either one in ten seconds</a:t>
            </a:r>
            <a:endParaRPr lang="en-US" sz="1350" dirty="0"/>
          </a:p>
        </p:txBody>
      </p:sp>
      <p:sp>
        <p:nvSpPr>
          <p:cNvPr id="29" name="Text 27"/>
          <p:cNvSpPr txBox="1"/>
          <p:nvPr/>
        </p:nvSpPr>
        <p:spPr>
          <a:xfrm>
            <a:off x="6580480" y="5403190"/>
            <a:ext cx="4788256" cy="82296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Put a println of the control variable as the first line of the body. Either the numbers never change — bug 1 — or they go one further than you expected — bug 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1</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4–9</a:t>
            </a:r>
            <a:endParaRPr lang="en-US" sz="1250" dirty="0"/>
          </a:p>
        </p:txBody>
      </p:sp>
      <p:sp>
        <p:nvSpPr>
          <p:cNvPr id="5" name="Shape 3"/>
          <p:cNvSpPr/>
          <p:nvPr/>
        </p:nvSpPr>
        <p:spPr>
          <a:xfrm>
            <a:off x="566928" y="1481328"/>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1719072"/>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71907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64592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A while loop runs its body 5 times. How many times was its condition evaluated, and why?</a:t>
            </a:r>
            <a:endParaRPr lang="en-US" sz="1550" dirty="0"/>
          </a:p>
        </p:txBody>
      </p:sp>
      <p:sp>
        <p:nvSpPr>
          <p:cNvPr id="9" name="Shape 7"/>
          <p:cNvSpPr/>
          <p:nvPr/>
        </p:nvSpPr>
        <p:spPr>
          <a:xfrm>
            <a:off x="566928" y="2660904"/>
            <a:ext cx="11057839" cy="2556662"/>
          </a:xfrm>
          <a:prstGeom prst="roundRect">
            <a:avLst>
              <a:gd name="adj" fmla="val 3219"/>
            </a:avLst>
          </a:prstGeom>
          <a:solidFill>
            <a:srgbClr val="FFFFFF"/>
          </a:solidFill>
          <a:ln w="12700">
            <a:solidFill>
              <a:srgbClr val="D3DEE7"/>
            </a:solidFill>
            <a:prstDash val="solid"/>
          </a:ln>
        </p:spPr>
      </p:sp>
      <p:sp>
        <p:nvSpPr>
          <p:cNvPr id="10" name="Shape 8"/>
          <p:cNvSpPr/>
          <p:nvPr/>
        </p:nvSpPr>
        <p:spPr>
          <a:xfrm>
            <a:off x="841248" y="2898648"/>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289864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2825496"/>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does this print, and how many passes does the loop make?</a:t>
            </a:r>
            <a:endParaRPr lang="en-US" sz="1550" dirty="0"/>
          </a:p>
        </p:txBody>
      </p:sp>
      <p:sp>
        <p:nvSpPr>
          <p:cNvPr id="13" name="Shape 11"/>
          <p:cNvSpPr/>
          <p:nvPr/>
        </p:nvSpPr>
        <p:spPr>
          <a:xfrm>
            <a:off x="1435608" y="3300984"/>
            <a:ext cx="6949440" cy="1395374"/>
          </a:xfrm>
          <a:prstGeom prst="roundRect">
            <a:avLst>
              <a:gd name="adj" fmla="val 4587"/>
            </a:avLst>
          </a:prstGeom>
          <a:solidFill>
            <a:srgbClr val="EDF2F7"/>
          </a:solidFill>
          <a:ln w="12700">
            <a:solidFill>
              <a:srgbClr val="CFDBE5"/>
            </a:solidFill>
            <a:prstDash val="solid"/>
          </a:ln>
        </p:spPr>
      </p:sp>
      <p:sp>
        <p:nvSpPr>
          <p:cNvPr id="14" name="Text 12"/>
          <p:cNvSpPr txBox="1"/>
          <p:nvPr/>
        </p:nvSpPr>
        <p:spPr>
          <a:xfrm>
            <a:off x="1600200" y="3438144"/>
            <a:ext cx="6620256" cy="1194206"/>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437022"/>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674766"/>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67476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60161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is 0 a bad sentinel for a program that reads a list of daily temperatures?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01</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do-while</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and for</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Two more shapes for the same idea — and knowing which one a problem is asking for.</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01</a:t>
            </a:r>
            <a:endParaRPr lang="en-US" sz="1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LOOP 03</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do-while Loop — Test at the Bottom</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body runs first and the condition is checked afterwards, so it always runs at least once.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566928" y="1536192"/>
            <a:ext cx="5394960" cy="1483523"/>
          </a:xfrm>
          <a:prstGeom prst="roundRect">
            <a:avLst>
              <a:gd name="adj" fmla="val 4315"/>
            </a:avLst>
          </a:prstGeom>
          <a:solidFill>
            <a:srgbClr val="EDF2F7"/>
          </a:solidFill>
          <a:ln w="12700">
            <a:solidFill>
              <a:srgbClr val="CFDBE5"/>
            </a:solidFill>
            <a:prstDash val="solid"/>
          </a:ln>
        </p:spPr>
      </p:sp>
      <p:sp>
        <p:nvSpPr>
          <p:cNvPr id="8" name="Text 6"/>
          <p:cNvSpPr txBox="1"/>
          <p:nvPr/>
        </p:nvSpPr>
        <p:spPr>
          <a:xfrm>
            <a:off x="713232" y="1581912"/>
            <a:ext cx="51023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SYNTAX — NOTE THE SEMICOLON AT THE END</a:t>
            </a:r>
            <a:endParaRPr lang="en-US" sz="950" dirty="0"/>
          </a:p>
        </p:txBody>
      </p:sp>
      <p:sp>
        <p:nvSpPr>
          <p:cNvPr id="9" name="Text 7"/>
          <p:cNvSpPr txBox="1"/>
          <p:nvPr/>
        </p:nvSpPr>
        <p:spPr>
          <a:xfrm>
            <a:off x="731520" y="1810512"/>
            <a:ext cx="5065776" cy="1154339"/>
          </a:xfrm>
          <a:prstGeom prst="rect">
            <a:avLst/>
          </a:prstGeom>
          <a:noFill/>
          <a:ln/>
        </p:spPr>
        <p:txBody>
          <a:bodyPr wrap="square" lIns="0" tIns="0" rIns="0" bIns="0" rtlCol="0" anchor="t"/>
          <a:lstStyle/>
          <a:p>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do</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415C6E"/>
                </a:solidFill>
                <a:latin typeface="Courier New" pitchFamily="34" charset="0"/>
                <a:ea typeface="Courier New" pitchFamily="34" charset="-122"/>
                <a:cs typeface="Courier New" pitchFamily="34" charset="-120"/>
              </a:rPr>
              <a:t>// loop body</a:t>
            </a:r>
            <a:endParaRPr lang="en-US" sz="1300" dirty="0"/>
          </a:p>
          <a:p>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statement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s</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a:p>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loop</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continuation</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14293C"/>
                </a:solidFill>
                <a:latin typeface="Courier New" pitchFamily="34" charset="0"/>
                <a:ea typeface="Courier New" pitchFamily="34" charset="-122"/>
                <a:cs typeface="Courier New" pitchFamily="34" charset="-120"/>
              </a:rPr>
              <a:t>condition</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300" dirty="0">
                <a:solidFill>
                  <a:srgbClr val="33485C"/>
                </a:solidFill>
                <a:latin typeface="Courier New" pitchFamily="34" charset="0"/>
                <a:ea typeface="Courier New" pitchFamily="34" charset="-122"/>
                <a:cs typeface="Courier New" pitchFamily="34" charset="-120"/>
              </a:rPr>
              <a:t>;</a:t>
            </a:r>
            <a:endParaRPr lang="en-US" sz="1300" dirty="0"/>
          </a:p>
        </p:txBody>
      </p:sp>
      <p:sp>
        <p:nvSpPr>
          <p:cNvPr id="10" name="Shape 8"/>
          <p:cNvSpPr/>
          <p:nvPr/>
        </p:nvSpPr>
        <p:spPr>
          <a:xfrm>
            <a:off x="566928" y="3294035"/>
            <a:ext cx="5394960" cy="2036003"/>
          </a:xfrm>
          <a:prstGeom prst="roundRect">
            <a:avLst>
              <a:gd name="adj" fmla="val 3144"/>
            </a:avLst>
          </a:prstGeom>
          <a:solidFill>
            <a:srgbClr val="EDF2F7"/>
          </a:solidFill>
          <a:ln w="12700">
            <a:solidFill>
              <a:srgbClr val="CFDBE5"/>
            </a:solidFill>
            <a:prstDash val="solid"/>
          </a:ln>
        </p:spPr>
      </p:sp>
      <p:sp>
        <p:nvSpPr>
          <p:cNvPr id="11" name="Text 9"/>
          <p:cNvSpPr txBox="1"/>
          <p:nvPr/>
        </p:nvSpPr>
        <p:spPr>
          <a:xfrm>
            <a:off x="713232" y="3339755"/>
            <a:ext cx="51023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SENTINEL LOOP, WITHOUT THE DUPLICATION</a:t>
            </a:r>
            <a:endParaRPr lang="en-US" sz="950" dirty="0"/>
          </a:p>
        </p:txBody>
      </p:sp>
      <p:sp>
        <p:nvSpPr>
          <p:cNvPr id="12" name="Text 10"/>
          <p:cNvSpPr txBox="1"/>
          <p:nvPr/>
        </p:nvSpPr>
        <p:spPr>
          <a:xfrm>
            <a:off x="731520" y="3568355"/>
            <a:ext cx="5065776" cy="1706819"/>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data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do</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"Enter an integer: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data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data</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data</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3" name="Shape 11"/>
          <p:cNvSpPr/>
          <p:nvPr/>
        </p:nvSpPr>
        <p:spPr>
          <a:xfrm>
            <a:off x="566928" y="5567782"/>
            <a:ext cx="5394960" cy="777240"/>
          </a:xfrm>
          <a:prstGeom prst="roundRect">
            <a:avLst>
              <a:gd name="adj" fmla="val 10588"/>
            </a:avLst>
          </a:prstGeom>
          <a:solidFill>
            <a:srgbClr val="E6F2EC"/>
          </a:solidFill>
          <a:ln w="12700">
            <a:solidFill>
              <a:srgbClr val="E6F2EC"/>
            </a:solidFill>
            <a:prstDash val="solid"/>
          </a:ln>
        </p:spPr>
      </p:sp>
      <p:sp>
        <p:nvSpPr>
          <p:cNvPr id="14" name="Text 12"/>
          <p:cNvSpPr txBox="1"/>
          <p:nvPr/>
        </p:nvSpPr>
        <p:spPr>
          <a:xfrm>
            <a:off x="841248" y="5567782"/>
            <a:ext cx="4846320" cy="777240"/>
          </a:xfrm>
          <a:prstGeom prst="rect">
            <a:avLst/>
          </a:prstGeom>
          <a:noFill/>
          <a:ln/>
        </p:spPr>
        <p:txBody>
          <a:bodyPr wrap="square" lIns="0" tIns="0" rIns="0" bIns="0" rtlCol="0" anchor="ctr"/>
          <a:lstStyle/>
          <a:p>
            <a:pPr indent="0" marL="0">
              <a:buNone/>
            </a:pPr>
            <a:r>
              <a:rPr lang="en-US" sz="1250" b="1" dirty="0">
                <a:solidFill>
                  <a:srgbClr val="176240"/>
                </a:solidFill>
                <a:latin typeface="Calibri" pitchFamily="34" charset="0"/>
                <a:ea typeface="Calibri" pitchFamily="34" charset="-122"/>
                <a:cs typeface="Calibri" pitchFamily="34" charset="-120"/>
              </a:rPr>
              <a:t>The prompt is written once.  </a:t>
            </a:r>
            <a:pPr indent="0" marL="0">
              <a:buNone/>
            </a:pPr>
            <a:r>
              <a:rPr lang="en-US" sz="1250" dirty="0">
                <a:solidFill>
                  <a:srgbClr val="3A536B"/>
                </a:solidFill>
                <a:latin typeface="Calibri" pitchFamily="34" charset="0"/>
                <a:ea typeface="Calibri" pitchFamily="34" charset="-122"/>
                <a:cs typeface="Calibri" pitchFamily="34" charset="-120"/>
              </a:rPr>
              <a:t>Compare slide 8, where it appeared twice.</a:t>
            </a:r>
            <a:endParaRPr lang="en-US" sz="1250" dirty="0"/>
          </a:p>
        </p:txBody>
      </p:sp>
      <p:sp>
        <p:nvSpPr>
          <p:cNvPr id="15" name="Shape 13"/>
          <p:cNvSpPr/>
          <p:nvPr/>
        </p:nvSpPr>
        <p:spPr>
          <a:xfrm>
            <a:off x="6419088" y="1536192"/>
            <a:ext cx="5205679" cy="1554480"/>
          </a:xfrm>
          <a:prstGeom prst="roundRect">
            <a:avLst>
              <a:gd name="adj" fmla="val 5294"/>
            </a:avLst>
          </a:prstGeom>
          <a:solidFill>
            <a:srgbClr val="E4ECF4"/>
          </a:solidFill>
          <a:ln w="12700">
            <a:solidFill>
              <a:srgbClr val="E4ECF4"/>
            </a:solidFill>
            <a:prstDash val="solid"/>
          </a:ln>
        </p:spPr>
      </p:sp>
      <p:sp>
        <p:nvSpPr>
          <p:cNvPr id="16" name="Text 14"/>
          <p:cNvSpPr txBox="1"/>
          <p:nvPr/>
        </p:nvSpPr>
        <p:spPr>
          <a:xfrm>
            <a:off x="6638544" y="1700784"/>
            <a:ext cx="4766767" cy="310896"/>
          </a:xfrm>
          <a:prstGeom prst="rect">
            <a:avLst/>
          </a:prstGeom>
          <a:noFill/>
          <a:ln/>
        </p:spPr>
        <p:txBody>
          <a:bodyPr wrap="square" lIns="0" tIns="0" rIns="0" bIns="0" rtlCol="0" anchor="t"/>
          <a:lstStyle/>
          <a:p>
            <a:pPr indent="0" marL="0">
              <a:buNone/>
            </a:pPr>
            <a:r>
              <a:rPr lang="en-US" sz="1500" b="1" dirty="0">
                <a:solidFill>
                  <a:srgbClr val="0F2942"/>
                </a:solidFill>
                <a:latin typeface="Calibri" pitchFamily="34" charset="0"/>
                <a:ea typeface="Calibri" pitchFamily="34" charset="-122"/>
                <a:cs typeface="Calibri" pitchFamily="34" charset="-120"/>
              </a:rPr>
              <a:t>Use it when the body must run at least once</a:t>
            </a:r>
            <a:endParaRPr lang="en-US" sz="1500" dirty="0"/>
          </a:p>
        </p:txBody>
      </p:sp>
      <p:sp>
        <p:nvSpPr>
          <p:cNvPr id="17" name="Text 15"/>
          <p:cNvSpPr txBox="1"/>
          <p:nvPr/>
        </p:nvSpPr>
        <p:spPr>
          <a:xfrm>
            <a:off x="6638544" y="2029968"/>
            <a:ext cx="4766767" cy="93268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Reading input, showing a menu, rolling a die — anything where you cannot ask the question until you have done the thing once. If the body might need to be skipped entirely, use while.</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19088" y="3319272"/>
          <a:ext cx="5205679" cy="914400"/>
        </p:xfrm>
        <a:graphic>
          <a:graphicData uri="http://schemas.openxmlformats.org/drawingml/2006/table">
            <a:tbl>
              <a:tblPr/>
              <a:tblGrid>
                <a:gridCol w="1874045"/>
                <a:gridCol w="1457590"/>
                <a:gridCol w="1874045"/>
              </a:tblGrid>
              <a:tr h="402336">
                <a:tc>
                  <a:txBody>
                    <a:bodyPr/>
                    <a:lstStyle/>
                    <a:p>
                      <a:pPr indent="0" marL="0">
                        <a:buNone/>
                      </a:pP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while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do-while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02336">
                <a:tc>
                  <a:txBody>
                    <a:bodyPr/>
                    <a:lstStyle/>
                    <a:p>
                      <a:pPr indent="0" marL="0">
                        <a:buNone/>
                      </a:pPr>
                      <a:r>
                        <a:rPr lang="en-US" sz="1100" b="1" dirty="0">
                          <a:solidFill>
                            <a:srgbClr val="0F2942"/>
                          </a:solidFill>
                          <a:latin typeface="Calibri" pitchFamily="34" charset="0"/>
                          <a:ea typeface="Calibri" pitchFamily="34" charset="-122"/>
                          <a:cs typeface="Calibri" pitchFamily="34" charset="-120"/>
                        </a:rPr>
                        <a:t>Condition tested</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ourier New" pitchFamily="34" charset="0"/>
                          <a:ea typeface="Courier New" pitchFamily="34" charset="-122"/>
                          <a:cs typeface="Courier New" pitchFamily="34" charset="-120"/>
                        </a:rPr>
                        <a:t>before the body</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ourier New" pitchFamily="34" charset="0"/>
                          <a:ea typeface="Courier New" pitchFamily="34" charset="-122"/>
                          <a:cs typeface="Courier New" pitchFamily="34" charset="-120"/>
                        </a:rPr>
                        <a:t>after the body</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02336">
                <a:tc>
                  <a:txBody>
                    <a:bodyPr/>
                    <a:lstStyle/>
                    <a:p>
                      <a:pPr indent="0" marL="0">
                        <a:buNone/>
                      </a:pPr>
                      <a:r>
                        <a:rPr lang="en-US" sz="1100" b="1" dirty="0">
                          <a:solidFill>
                            <a:srgbClr val="0F2942"/>
                          </a:solidFill>
                          <a:latin typeface="Calibri" pitchFamily="34" charset="0"/>
                          <a:ea typeface="Calibri" pitchFamily="34" charset="-122"/>
                          <a:cs typeface="Calibri" pitchFamily="34" charset="-120"/>
                        </a:rPr>
                        <a:t>Minimum passes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3A536B"/>
                          </a:solidFill>
                          <a:latin typeface="Courier New" pitchFamily="34" charset="0"/>
                          <a:ea typeface="Courier New" pitchFamily="34" charset="-122"/>
                          <a:cs typeface="Courier New" pitchFamily="34" charset="-120"/>
                        </a:rPr>
                        <a:t>0</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3A536B"/>
                          </a:solidFill>
                          <a:latin typeface="Courier New" pitchFamily="34" charset="0"/>
                          <a:ea typeface="Courier New" pitchFamily="34" charset="-122"/>
                          <a:cs typeface="Courier New" pitchFamily="34" charset="-120"/>
                        </a:rPr>
                        <a:t>1</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402336">
                <a:tc>
                  <a:txBody>
                    <a:bodyPr/>
                    <a:lstStyle/>
                    <a:p>
                      <a:pPr indent="0" marL="0">
                        <a:buNone/>
                      </a:pPr>
                      <a:r>
                        <a:rPr lang="en-US" sz="1100" b="1" dirty="0">
                          <a:solidFill>
                            <a:srgbClr val="0F2942"/>
                          </a:solidFill>
                          <a:latin typeface="Calibri" pitchFamily="34" charset="0"/>
                          <a:ea typeface="Calibri" pitchFamily="34" charset="-122"/>
                          <a:cs typeface="Calibri" pitchFamily="34" charset="-120"/>
                        </a:rPr>
                        <a:t>Ends with</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3A536B"/>
                          </a:solidFill>
                          <a:latin typeface="Courier New" pitchFamily="34" charset="0"/>
                          <a:ea typeface="Courier New" pitchFamily="34" charset="-122"/>
                          <a:cs typeface="Courier New" pitchFamily="34" charset="-120"/>
                        </a:rPr>
                        <a:t>} while (...);</a:t>
                      </a:r>
                      <a:endParaRPr lang="en-US" sz="10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bl>
          </a:graphicData>
        </a:graphic>
      </p:graphicFrame>
      <p:sp>
        <p:nvSpPr>
          <p:cNvPr id="19" name="Shape 16"/>
          <p:cNvSpPr/>
          <p:nvPr/>
        </p:nvSpPr>
        <p:spPr>
          <a:xfrm>
            <a:off x="6419088" y="5285232"/>
            <a:ext cx="5205679" cy="1143000"/>
          </a:xfrm>
          <a:prstGeom prst="roundRect">
            <a:avLst>
              <a:gd name="adj" fmla="val 7200"/>
            </a:avLst>
          </a:prstGeom>
          <a:solidFill>
            <a:srgbClr val="FBEAE8"/>
          </a:solidFill>
          <a:ln w="12700">
            <a:solidFill>
              <a:srgbClr val="FBEAE8"/>
            </a:solidFill>
            <a:prstDash val="solid"/>
          </a:ln>
        </p:spPr>
      </p:sp>
      <p:sp>
        <p:nvSpPr>
          <p:cNvPr id="20" name="Text 17"/>
          <p:cNvSpPr txBox="1"/>
          <p:nvPr/>
        </p:nvSpPr>
        <p:spPr>
          <a:xfrm>
            <a:off x="6693408" y="5285232"/>
            <a:ext cx="4657039" cy="1143000"/>
          </a:xfrm>
          <a:prstGeom prst="rect">
            <a:avLst/>
          </a:prstGeom>
          <a:noFill/>
          <a:ln/>
        </p:spPr>
        <p:txBody>
          <a:bodyPr wrap="square" lIns="0" tIns="0" rIns="0" bIns="0" rtlCol="0" anchor="ctr"/>
          <a:lstStyle/>
          <a:p>
            <a:pPr indent="0" marL="0">
              <a:lnSpc>
                <a:spcPct val="112000"/>
              </a:lnSpc>
              <a:buNone/>
            </a:pPr>
            <a:r>
              <a:rPr lang="en-US" sz="1250" b="1" dirty="0">
                <a:solidFill>
                  <a:srgbClr val="9C241C"/>
                </a:solidFill>
                <a:latin typeface="Calibri" pitchFamily="34" charset="0"/>
                <a:ea typeface="Calibri" pitchFamily="34" charset="-122"/>
                <a:cs typeface="Calibri" pitchFamily="34" charset="-120"/>
              </a:rPr>
              <a:t>That final semicolon is required.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It is the one place in Java where a semicolon follows a closing brace — leave it out and the code will not compile.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LOOP 04</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for Loop — Everything in One Line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When you know how many times, a for loop puts the initialisation, the test and the step where you can see all three.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66928" y="1536192"/>
            <a:ext cx="6035040" cy="1115202"/>
          </a:xfrm>
          <a:prstGeom prst="roundRect">
            <a:avLst>
              <a:gd name="adj" fmla="val 5740"/>
            </a:avLst>
          </a:prstGeom>
          <a:solidFill>
            <a:srgbClr val="EDF2F7"/>
          </a:solidFill>
          <a:ln w="12700">
            <a:solidFill>
              <a:srgbClr val="CFDBE5"/>
            </a:solidFill>
            <a:prstDash val="solid"/>
          </a:ln>
        </p:spPr>
      </p:sp>
      <p:sp>
        <p:nvSpPr>
          <p:cNvPr id="8" name="Text 6"/>
          <p:cNvSpPr txBox="1"/>
          <p:nvPr/>
        </p:nvSpPr>
        <p:spPr>
          <a:xfrm>
            <a:off x="713232" y="1581912"/>
            <a:ext cx="5742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SYNTAX</a:t>
            </a:r>
            <a:endParaRPr lang="en-US" sz="950" dirty="0"/>
          </a:p>
        </p:txBody>
      </p:sp>
      <p:sp>
        <p:nvSpPr>
          <p:cNvPr id="9" name="Text 7"/>
          <p:cNvSpPr txBox="1"/>
          <p:nvPr/>
        </p:nvSpPr>
        <p:spPr>
          <a:xfrm>
            <a:off x="731520" y="1810512"/>
            <a:ext cx="5705856" cy="786018"/>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initial</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action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condition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action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after</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each</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iteration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loop body</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2925714"/>
            <a:ext cx="6035040" cy="1202436"/>
          </a:xfrm>
          <a:prstGeom prst="roundRect">
            <a:avLst>
              <a:gd name="adj" fmla="val 5323"/>
            </a:avLst>
          </a:prstGeom>
          <a:solidFill>
            <a:srgbClr val="EDF2F7"/>
          </a:solidFill>
          <a:ln w="12700">
            <a:solidFill>
              <a:srgbClr val="CFDBE5"/>
            </a:solidFill>
            <a:prstDash val="solid"/>
          </a:ln>
        </p:spPr>
      </p:sp>
      <p:sp>
        <p:nvSpPr>
          <p:cNvPr id="11" name="Text 9"/>
          <p:cNvSpPr txBox="1"/>
          <p:nvPr/>
        </p:nvSpPr>
        <p:spPr>
          <a:xfrm>
            <a:off x="713232" y="2971434"/>
            <a:ext cx="5742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SAME 100 MESSAGES</a:t>
            </a:r>
            <a:endParaRPr lang="en-US" sz="950" dirty="0"/>
          </a:p>
        </p:txBody>
      </p:sp>
      <p:sp>
        <p:nvSpPr>
          <p:cNvPr id="12" name="Text 10"/>
          <p:cNvSpPr txBox="1"/>
          <p:nvPr/>
        </p:nvSpPr>
        <p:spPr>
          <a:xfrm>
            <a:off x="731520" y="3200034"/>
            <a:ext cx="5705856" cy="873252"/>
          </a:xfrm>
          <a:prstGeom prst="rect">
            <a:avLst/>
          </a:prstGeom>
          <a:noFill/>
          <a:ln/>
        </p:spPr>
        <p:txBody>
          <a:bodyPr wrap="square" lIns="0" tIns="0" rIns="0" bIns="0" rtlCol="0" anchor="t"/>
          <a:lstStyle/>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3" name="Shape 11"/>
          <p:cNvSpPr/>
          <p:nvPr/>
        </p:nvSpPr>
        <p:spPr>
          <a:xfrm>
            <a:off x="566928" y="4402470"/>
            <a:ext cx="6035040" cy="1541678"/>
          </a:xfrm>
          <a:prstGeom prst="roundRect">
            <a:avLst>
              <a:gd name="adj" fmla="val 4152"/>
            </a:avLst>
          </a:prstGeom>
          <a:solidFill>
            <a:srgbClr val="EDF2F7"/>
          </a:solidFill>
          <a:ln w="12700">
            <a:solidFill>
              <a:srgbClr val="CFDBE5"/>
            </a:solidFill>
            <a:prstDash val="solid"/>
          </a:ln>
        </p:spPr>
      </p:sp>
      <p:sp>
        <p:nvSpPr>
          <p:cNvPr id="14" name="Text 12"/>
          <p:cNvSpPr txBox="1"/>
          <p:nvPr/>
        </p:nvSpPr>
        <p:spPr>
          <a:xfrm>
            <a:off x="713232" y="4448190"/>
            <a:ext cx="5742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WHAT IT MEANS — THE THREE PARTS, SCATTERED</a:t>
            </a:r>
            <a:endParaRPr lang="en-US" sz="950" dirty="0"/>
          </a:p>
        </p:txBody>
      </p:sp>
      <p:sp>
        <p:nvSpPr>
          <p:cNvPr id="15" name="Text 13"/>
          <p:cNvSpPr txBox="1"/>
          <p:nvPr/>
        </p:nvSpPr>
        <p:spPr>
          <a:xfrm>
            <a:off x="731520" y="4676790"/>
            <a:ext cx="5705856" cy="1212494"/>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1. initial-action</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2. condition</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3. after each pass</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6" name="Text 14"/>
          <p:cNvSpPr txBox="1"/>
          <p:nvPr/>
        </p:nvSpPr>
        <p:spPr>
          <a:xfrm>
            <a:off x="7059168" y="1536192"/>
            <a:ext cx="456559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ORDER THINGS HAPPEN</a:t>
            </a:r>
            <a:endParaRPr lang="en-US" sz="950" dirty="0"/>
          </a:p>
        </p:txBody>
      </p:sp>
      <p:sp>
        <p:nvSpPr>
          <p:cNvPr id="17" name="Shape 15"/>
          <p:cNvSpPr/>
          <p:nvPr/>
        </p:nvSpPr>
        <p:spPr>
          <a:xfrm>
            <a:off x="7059168" y="1810512"/>
            <a:ext cx="4565599" cy="576072"/>
          </a:xfrm>
          <a:prstGeom prst="roundRect">
            <a:avLst>
              <a:gd name="adj" fmla="val 14286"/>
            </a:avLst>
          </a:prstGeom>
          <a:solidFill>
            <a:srgbClr val="FFFFFF"/>
          </a:solidFill>
          <a:ln w="12700">
            <a:solidFill>
              <a:srgbClr val="D3DEE7"/>
            </a:solidFill>
            <a:prstDash val="solid"/>
          </a:ln>
        </p:spPr>
      </p:sp>
      <p:sp>
        <p:nvSpPr>
          <p:cNvPr id="18" name="Shape 16"/>
          <p:cNvSpPr/>
          <p:nvPr/>
        </p:nvSpPr>
        <p:spPr>
          <a:xfrm>
            <a:off x="7242048" y="1924812"/>
            <a:ext cx="347472" cy="347472"/>
          </a:xfrm>
          <a:prstGeom prst="ellipse">
            <a:avLst/>
          </a:prstGeom>
          <a:solidFill>
            <a:srgbClr val="1D4468"/>
          </a:solidFill>
          <a:ln w="12700">
            <a:solidFill>
              <a:srgbClr val="1D4468"/>
            </a:solidFill>
            <a:prstDash val="solid"/>
          </a:ln>
        </p:spPr>
      </p:sp>
      <p:sp>
        <p:nvSpPr>
          <p:cNvPr id="19" name="Text 17"/>
          <p:cNvSpPr txBox="1"/>
          <p:nvPr/>
        </p:nvSpPr>
        <p:spPr>
          <a:xfrm>
            <a:off x="7242048" y="19248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0" name="Text 18"/>
          <p:cNvSpPr txBox="1"/>
          <p:nvPr/>
        </p:nvSpPr>
        <p:spPr>
          <a:xfrm>
            <a:off x="7717536" y="1856232"/>
            <a:ext cx="372435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int i = 0</a:t>
            </a:r>
            <a:endParaRPr lang="en-US" sz="1150" dirty="0"/>
          </a:p>
        </p:txBody>
      </p:sp>
      <p:sp>
        <p:nvSpPr>
          <p:cNvPr id="21" name="Text 19"/>
          <p:cNvSpPr txBox="1"/>
          <p:nvPr/>
        </p:nvSpPr>
        <p:spPr>
          <a:xfrm>
            <a:off x="7717536" y="2075505"/>
            <a:ext cx="372435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once, before anything else</a:t>
            </a:r>
            <a:endParaRPr lang="en-US" sz="1100" dirty="0"/>
          </a:p>
        </p:txBody>
      </p:sp>
      <p:sp>
        <p:nvSpPr>
          <p:cNvPr id="22" name="Shape 20"/>
          <p:cNvSpPr/>
          <p:nvPr/>
        </p:nvSpPr>
        <p:spPr>
          <a:xfrm>
            <a:off x="7059168" y="2496312"/>
            <a:ext cx="4565599" cy="576072"/>
          </a:xfrm>
          <a:prstGeom prst="roundRect">
            <a:avLst>
              <a:gd name="adj" fmla="val 14286"/>
            </a:avLst>
          </a:prstGeom>
          <a:solidFill>
            <a:srgbClr val="E6F2EC"/>
          </a:solidFill>
          <a:ln w="12700">
            <a:solidFill>
              <a:srgbClr val="176240"/>
            </a:solidFill>
            <a:prstDash val="solid"/>
          </a:ln>
        </p:spPr>
      </p:sp>
      <p:sp>
        <p:nvSpPr>
          <p:cNvPr id="23" name="Shape 21"/>
          <p:cNvSpPr/>
          <p:nvPr/>
        </p:nvSpPr>
        <p:spPr>
          <a:xfrm>
            <a:off x="7242048" y="2610612"/>
            <a:ext cx="347472" cy="347472"/>
          </a:xfrm>
          <a:prstGeom prst="ellipse">
            <a:avLst/>
          </a:prstGeom>
          <a:solidFill>
            <a:srgbClr val="176240"/>
          </a:solidFill>
          <a:ln w="12700">
            <a:solidFill>
              <a:srgbClr val="176240"/>
            </a:solidFill>
            <a:prstDash val="solid"/>
          </a:ln>
        </p:spPr>
      </p:sp>
      <p:sp>
        <p:nvSpPr>
          <p:cNvPr id="24" name="Text 22"/>
          <p:cNvSpPr txBox="1"/>
          <p:nvPr/>
        </p:nvSpPr>
        <p:spPr>
          <a:xfrm>
            <a:off x="7242048" y="26106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5" name="Text 23"/>
          <p:cNvSpPr txBox="1"/>
          <p:nvPr/>
        </p:nvSpPr>
        <p:spPr>
          <a:xfrm>
            <a:off x="7717536" y="2542032"/>
            <a:ext cx="3724351" cy="276515"/>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i &lt; 100 ?</a:t>
            </a:r>
            <a:endParaRPr lang="en-US" sz="1150" dirty="0"/>
          </a:p>
        </p:txBody>
      </p:sp>
      <p:sp>
        <p:nvSpPr>
          <p:cNvPr id="26" name="Text 24"/>
          <p:cNvSpPr txBox="1"/>
          <p:nvPr/>
        </p:nvSpPr>
        <p:spPr>
          <a:xfrm>
            <a:off x="7717536" y="2761305"/>
            <a:ext cx="372435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tested before every pass</a:t>
            </a:r>
            <a:endParaRPr lang="en-US" sz="1100" dirty="0"/>
          </a:p>
        </p:txBody>
      </p:sp>
      <p:sp>
        <p:nvSpPr>
          <p:cNvPr id="27" name="Shape 25"/>
          <p:cNvSpPr/>
          <p:nvPr/>
        </p:nvSpPr>
        <p:spPr>
          <a:xfrm>
            <a:off x="7059168" y="3182112"/>
            <a:ext cx="4565599" cy="576072"/>
          </a:xfrm>
          <a:prstGeom prst="roundRect">
            <a:avLst>
              <a:gd name="adj" fmla="val 14286"/>
            </a:avLst>
          </a:prstGeom>
          <a:solidFill>
            <a:srgbClr val="FFFFFF"/>
          </a:solidFill>
          <a:ln w="12700">
            <a:solidFill>
              <a:srgbClr val="D3DEE7"/>
            </a:solidFill>
            <a:prstDash val="solid"/>
          </a:ln>
        </p:spPr>
      </p:sp>
      <p:sp>
        <p:nvSpPr>
          <p:cNvPr id="28" name="Shape 26"/>
          <p:cNvSpPr/>
          <p:nvPr/>
        </p:nvSpPr>
        <p:spPr>
          <a:xfrm>
            <a:off x="7242048" y="3296412"/>
            <a:ext cx="347472" cy="347472"/>
          </a:xfrm>
          <a:prstGeom prst="ellipse">
            <a:avLst/>
          </a:prstGeom>
          <a:solidFill>
            <a:srgbClr val="1D4468"/>
          </a:solidFill>
          <a:ln w="12700">
            <a:solidFill>
              <a:srgbClr val="1D4468"/>
            </a:solidFill>
            <a:prstDash val="solid"/>
          </a:ln>
        </p:spPr>
      </p:sp>
      <p:sp>
        <p:nvSpPr>
          <p:cNvPr id="29" name="Text 27"/>
          <p:cNvSpPr txBox="1"/>
          <p:nvPr/>
        </p:nvSpPr>
        <p:spPr>
          <a:xfrm>
            <a:off x="7242048" y="32964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30" name="Text 28"/>
          <p:cNvSpPr txBox="1"/>
          <p:nvPr/>
        </p:nvSpPr>
        <p:spPr>
          <a:xfrm>
            <a:off x="7717536" y="3227832"/>
            <a:ext cx="372435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the body runs</a:t>
            </a:r>
            <a:endParaRPr lang="en-US" sz="1150" dirty="0"/>
          </a:p>
        </p:txBody>
      </p:sp>
      <p:sp>
        <p:nvSpPr>
          <p:cNvPr id="31" name="Text 29"/>
          <p:cNvSpPr txBox="1"/>
          <p:nvPr/>
        </p:nvSpPr>
        <p:spPr>
          <a:xfrm>
            <a:off x="7717536" y="3447105"/>
            <a:ext cx="372435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only when the test was true</a:t>
            </a:r>
            <a:endParaRPr lang="en-US" sz="1100" dirty="0"/>
          </a:p>
        </p:txBody>
      </p:sp>
      <p:sp>
        <p:nvSpPr>
          <p:cNvPr id="32" name="Shape 30"/>
          <p:cNvSpPr/>
          <p:nvPr/>
        </p:nvSpPr>
        <p:spPr>
          <a:xfrm>
            <a:off x="7059168" y="3867912"/>
            <a:ext cx="4565599" cy="576072"/>
          </a:xfrm>
          <a:prstGeom prst="roundRect">
            <a:avLst>
              <a:gd name="adj" fmla="val 14286"/>
            </a:avLst>
          </a:prstGeom>
          <a:solidFill>
            <a:srgbClr val="FFFFFF"/>
          </a:solidFill>
          <a:ln w="12700">
            <a:solidFill>
              <a:srgbClr val="D3DEE7"/>
            </a:solidFill>
            <a:prstDash val="solid"/>
          </a:ln>
        </p:spPr>
      </p:sp>
      <p:sp>
        <p:nvSpPr>
          <p:cNvPr id="33" name="Shape 31"/>
          <p:cNvSpPr/>
          <p:nvPr/>
        </p:nvSpPr>
        <p:spPr>
          <a:xfrm>
            <a:off x="7242048" y="3982212"/>
            <a:ext cx="347472" cy="347472"/>
          </a:xfrm>
          <a:prstGeom prst="ellipse">
            <a:avLst/>
          </a:prstGeom>
          <a:solidFill>
            <a:srgbClr val="1D4468"/>
          </a:solidFill>
          <a:ln w="12700">
            <a:solidFill>
              <a:srgbClr val="1D4468"/>
            </a:solidFill>
            <a:prstDash val="solid"/>
          </a:ln>
        </p:spPr>
      </p:sp>
      <p:sp>
        <p:nvSpPr>
          <p:cNvPr id="34" name="Text 32"/>
          <p:cNvSpPr txBox="1"/>
          <p:nvPr/>
        </p:nvSpPr>
        <p:spPr>
          <a:xfrm>
            <a:off x="7242048" y="39822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5" name="Text 33"/>
          <p:cNvSpPr txBox="1"/>
          <p:nvPr/>
        </p:nvSpPr>
        <p:spPr>
          <a:xfrm>
            <a:off x="7717536" y="3913632"/>
            <a:ext cx="372435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i++</a:t>
            </a:r>
            <a:endParaRPr lang="en-US" sz="1150" dirty="0"/>
          </a:p>
        </p:txBody>
      </p:sp>
      <p:sp>
        <p:nvSpPr>
          <p:cNvPr id="36" name="Text 34"/>
          <p:cNvSpPr txBox="1"/>
          <p:nvPr/>
        </p:nvSpPr>
        <p:spPr>
          <a:xfrm>
            <a:off x="7717536" y="4132905"/>
            <a:ext cx="372435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after the body, before the next test</a:t>
            </a:r>
            <a:endParaRPr lang="en-US" sz="1100" dirty="0"/>
          </a:p>
        </p:txBody>
      </p:sp>
      <p:sp>
        <p:nvSpPr>
          <p:cNvPr id="37" name="Shape 35"/>
          <p:cNvSpPr/>
          <p:nvPr/>
        </p:nvSpPr>
        <p:spPr>
          <a:xfrm>
            <a:off x="7059168" y="4553712"/>
            <a:ext cx="4565599" cy="576072"/>
          </a:xfrm>
          <a:prstGeom prst="roundRect">
            <a:avLst>
              <a:gd name="adj" fmla="val 14286"/>
            </a:avLst>
          </a:prstGeom>
          <a:solidFill>
            <a:srgbClr val="FBEEE0"/>
          </a:solidFill>
          <a:ln w="12700">
            <a:solidFill>
              <a:srgbClr val="C4560C"/>
            </a:solidFill>
            <a:prstDash val="solid"/>
          </a:ln>
        </p:spPr>
      </p:sp>
      <p:sp>
        <p:nvSpPr>
          <p:cNvPr id="38" name="Shape 36"/>
          <p:cNvSpPr/>
          <p:nvPr/>
        </p:nvSpPr>
        <p:spPr>
          <a:xfrm>
            <a:off x="7242048" y="4668012"/>
            <a:ext cx="347472" cy="347472"/>
          </a:xfrm>
          <a:prstGeom prst="ellipse">
            <a:avLst/>
          </a:prstGeom>
          <a:solidFill>
            <a:srgbClr val="C4560C"/>
          </a:solidFill>
          <a:ln w="12700">
            <a:solidFill>
              <a:srgbClr val="C4560C"/>
            </a:solidFill>
            <a:prstDash val="solid"/>
          </a:ln>
        </p:spPr>
      </p:sp>
      <p:sp>
        <p:nvSpPr>
          <p:cNvPr id="39" name="Text 37"/>
          <p:cNvSpPr txBox="1"/>
          <p:nvPr/>
        </p:nvSpPr>
        <p:spPr>
          <a:xfrm>
            <a:off x="7242048" y="46680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40" name="Text 38"/>
          <p:cNvSpPr txBox="1"/>
          <p:nvPr/>
        </p:nvSpPr>
        <p:spPr>
          <a:xfrm>
            <a:off x="7717536" y="4599432"/>
            <a:ext cx="372435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back to the test</a:t>
            </a:r>
            <a:endParaRPr lang="en-US" sz="1150" dirty="0"/>
          </a:p>
        </p:txBody>
      </p:sp>
      <p:sp>
        <p:nvSpPr>
          <p:cNvPr id="41" name="Text 39"/>
          <p:cNvSpPr txBox="1"/>
          <p:nvPr/>
        </p:nvSpPr>
        <p:spPr>
          <a:xfrm>
            <a:off x="7717536" y="4818705"/>
            <a:ext cx="372435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steps 2–4 repeat until the test fails</a:t>
            </a:r>
            <a:endParaRPr lang="en-US" sz="1100" dirty="0"/>
          </a:p>
        </p:txBody>
      </p:sp>
      <p:sp>
        <p:nvSpPr>
          <p:cNvPr id="42" name="Shape 40"/>
          <p:cNvSpPr/>
          <p:nvPr/>
        </p:nvSpPr>
        <p:spPr>
          <a:xfrm>
            <a:off x="7059168" y="5376672"/>
            <a:ext cx="4565599" cy="960120"/>
          </a:xfrm>
          <a:prstGeom prst="roundRect">
            <a:avLst>
              <a:gd name="adj" fmla="val 8571"/>
            </a:avLst>
          </a:prstGeom>
          <a:solidFill>
            <a:srgbClr val="FBEEE0"/>
          </a:solidFill>
          <a:ln w="12700">
            <a:solidFill>
              <a:srgbClr val="FBEEE0"/>
            </a:solidFill>
            <a:prstDash val="solid"/>
          </a:ln>
        </p:spPr>
      </p:sp>
      <p:sp>
        <p:nvSpPr>
          <p:cNvPr id="43" name="Text 41"/>
          <p:cNvSpPr txBox="1"/>
          <p:nvPr/>
        </p:nvSpPr>
        <p:spPr>
          <a:xfrm>
            <a:off x="7333488" y="5376672"/>
            <a:ext cx="4016959" cy="960120"/>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i belongs to the loop.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Declared as int i = 0 inside the for, it does not exist afterwards — and the compiler says so.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TRACE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Following a for Loop with i &lt; 2</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Same two passes as the while loop on slide 6 — the three parts are just written in one place.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566928" y="1536192"/>
            <a:ext cx="5212080" cy="1202436"/>
          </a:xfrm>
          <a:prstGeom prst="roundRect">
            <a:avLst>
              <a:gd name="adj" fmla="val 5323"/>
            </a:avLst>
          </a:prstGeom>
          <a:solidFill>
            <a:srgbClr val="EDF2F7"/>
          </a:solidFill>
          <a:ln w="12700">
            <a:solidFill>
              <a:srgbClr val="CFDBE5"/>
            </a:solidFill>
            <a:prstDash val="solid"/>
          </a:ln>
        </p:spPr>
      </p:sp>
      <p:sp>
        <p:nvSpPr>
          <p:cNvPr id="8" name="Text 6"/>
          <p:cNvSpPr txBox="1"/>
          <p:nvPr/>
        </p:nvSpPr>
        <p:spPr>
          <a:xfrm>
            <a:off x="713232" y="1581912"/>
            <a:ext cx="49194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TRACING TWO PASSES</a:t>
            </a:r>
            <a:endParaRPr lang="en-US" sz="950" dirty="0"/>
          </a:p>
        </p:txBody>
      </p:sp>
      <p:sp>
        <p:nvSpPr>
          <p:cNvPr id="9" name="Text 7"/>
          <p:cNvSpPr txBox="1"/>
          <p:nvPr/>
        </p:nvSpPr>
        <p:spPr>
          <a:xfrm>
            <a:off x="731520" y="1810512"/>
            <a:ext cx="4882896" cy="873252"/>
          </a:xfrm>
          <a:prstGeom prst="rect">
            <a:avLst/>
          </a:prstGeom>
          <a:noFill/>
          <a:ln/>
        </p:spPr>
        <p:txBody>
          <a:bodyPr wrap="square" lIns="0" tIns="0" rIns="0" bIns="0" rtlCol="0" anchor="t"/>
          <a:lstStyle/>
          <a:p>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14614A"/>
                </a:solidFill>
                <a:latin typeface="Courier New" pitchFamily="34" charset="0"/>
                <a:ea typeface="Courier New" pitchFamily="34" charset="-122"/>
                <a:cs typeface="Courier New" pitchFamily="34" charset="-120"/>
              </a:rPr>
              <a:t>"Welcome to Java!"</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33485C"/>
                </a:solidFill>
                <a:latin typeface="Courier New" pitchFamily="34" charset="0"/>
                <a:ea typeface="Courier New" pitchFamily="34" charset="-122"/>
                <a:cs typeface="Courier New" pitchFamily="34" charset="-120"/>
              </a:rPr>
              <a:t>}</a:t>
            </a:r>
            <a:endParaRPr lang="en-US" sz="1250" dirty="0"/>
          </a:p>
        </p:txBody>
      </p:sp>
      <p:sp>
        <p:nvSpPr>
          <p:cNvPr id="10" name="Shape 8"/>
          <p:cNvSpPr/>
          <p:nvPr/>
        </p:nvSpPr>
        <p:spPr>
          <a:xfrm>
            <a:off x="566928" y="2816352"/>
            <a:ext cx="5212080" cy="925830"/>
          </a:xfrm>
          <a:prstGeom prst="roundRect">
            <a:avLst>
              <a:gd name="adj" fmla="val 6914"/>
            </a:avLst>
          </a:prstGeom>
          <a:solidFill>
            <a:srgbClr val="FFFFFF"/>
          </a:solidFill>
          <a:ln w="12700">
            <a:solidFill>
              <a:srgbClr val="4B6377"/>
            </a:solidFill>
            <a:prstDash val="solid"/>
          </a:ln>
        </p:spPr>
      </p:sp>
      <p:sp>
        <p:nvSpPr>
          <p:cNvPr id="11" name="Text 9"/>
          <p:cNvSpPr txBox="1"/>
          <p:nvPr/>
        </p:nvSpPr>
        <p:spPr>
          <a:xfrm>
            <a:off x="713232" y="2889504"/>
            <a:ext cx="49194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3090672"/>
            <a:ext cx="4919472" cy="560070"/>
          </a:xfrm>
          <a:prstGeom prst="rect">
            <a:avLst/>
          </a:prstGeom>
          <a:noFill/>
          <a:ln/>
        </p:spPr>
        <p:txBody>
          <a:bodyPr wrap="square" lIns="0" tIns="0" rIns="0" bIns="0" rtlCol="0" anchor="t"/>
          <a:lstStyle/>
          <a:p>
            <a:pPr indent="0" marL="0">
              <a:lnSpc>
                <a:spcPct val="110000"/>
              </a:lnSpc>
              <a:buNone/>
            </a:pPr>
            <a:r>
              <a:rPr lang="en-US" sz="1250" dirty="0">
                <a:solidFill>
                  <a:srgbClr val="0F2942"/>
                </a:solidFill>
                <a:latin typeface="Courier New" pitchFamily="34" charset="0"/>
                <a:ea typeface="Courier New" pitchFamily="34" charset="-122"/>
                <a:cs typeface="Courier New" pitchFamily="34" charset="-120"/>
              </a:rPr>
              <a:t>Welcome to Java!</a:t>
            </a:r>
            <a:endParaRPr lang="en-US" sz="1250" dirty="0"/>
          </a:p>
          <a:p>
            <a:pPr indent="0" marL="0">
              <a:lnSpc>
                <a:spcPct val="110000"/>
              </a:lnSpc>
              <a:buNone/>
            </a:pPr>
            <a:r>
              <a:rPr lang="en-US" sz="1250" dirty="0">
                <a:solidFill>
                  <a:srgbClr val="0F2942"/>
                </a:solidFill>
                <a:latin typeface="Courier New" pitchFamily="34" charset="0"/>
                <a:ea typeface="Courier New" pitchFamily="34" charset="-122"/>
                <a:cs typeface="Courier New" pitchFamily="34" charset="-120"/>
              </a:rPr>
              <a:t>Welcome to Java!</a:t>
            </a:r>
            <a:endParaRPr lang="en-US" sz="1250" dirty="0"/>
          </a:p>
        </p:txBody>
      </p:sp>
      <p:sp>
        <p:nvSpPr>
          <p:cNvPr id="13" name="Shape 11"/>
          <p:cNvSpPr/>
          <p:nvPr/>
        </p:nvSpPr>
        <p:spPr>
          <a:xfrm>
            <a:off x="566928" y="4016502"/>
            <a:ext cx="5212080" cy="1737360"/>
          </a:xfrm>
          <a:prstGeom prst="roundRect">
            <a:avLst>
              <a:gd name="adj" fmla="val 4737"/>
            </a:avLst>
          </a:prstGeom>
          <a:solidFill>
            <a:srgbClr val="E4ECF4"/>
          </a:solidFill>
          <a:ln w="12700">
            <a:solidFill>
              <a:srgbClr val="E4ECF4"/>
            </a:solidFill>
            <a:prstDash val="solid"/>
          </a:ln>
        </p:spPr>
      </p:sp>
      <p:sp>
        <p:nvSpPr>
          <p:cNvPr id="14" name="Text 12"/>
          <p:cNvSpPr txBox="1"/>
          <p:nvPr/>
        </p:nvSpPr>
        <p:spPr>
          <a:xfrm>
            <a:off x="841248" y="4162806"/>
            <a:ext cx="4663440"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The step runs after the body, not before</a:t>
            </a:r>
            <a:endParaRPr lang="en-US" sz="1350" dirty="0"/>
          </a:p>
        </p:txBody>
      </p:sp>
      <p:sp>
        <p:nvSpPr>
          <p:cNvPr id="15" name="Text 13"/>
          <p:cNvSpPr txBox="1"/>
          <p:nvPr/>
        </p:nvSpPr>
        <p:spPr>
          <a:xfrm>
            <a:off x="841248" y="4473702"/>
            <a:ext cx="4663440" cy="123444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This is the detail people get wrong. i++ happens at the end of each pass, so inside the body i still holds the value the test approved. On the final pass i becomes 2, the test fails, and the body does not run a third time.</a:t>
            </a:r>
            <a:endParaRPr lang="en-US" sz="1200" dirty="0"/>
          </a:p>
        </p:txBody>
      </p:sp>
      <p:sp>
        <p:nvSpPr>
          <p:cNvPr id="16" name="Text 14"/>
          <p:cNvSpPr txBox="1"/>
          <p:nvPr/>
        </p:nvSpPr>
        <p:spPr>
          <a:xfrm>
            <a:off x="6236208" y="1536192"/>
            <a:ext cx="5388559" cy="219456"/>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STEP BY STEP</a:t>
            </a:r>
            <a:endParaRPr lang="en-US" sz="950" dirty="0"/>
          </a:p>
        </p:txBody>
      </p:sp>
      <p:sp>
        <p:nvSpPr>
          <p:cNvPr id="17" name="Shape 15"/>
          <p:cNvSpPr/>
          <p:nvPr/>
        </p:nvSpPr>
        <p:spPr>
          <a:xfrm>
            <a:off x="6236208" y="1810512"/>
            <a:ext cx="5388559" cy="576072"/>
          </a:xfrm>
          <a:prstGeom prst="roundRect">
            <a:avLst>
              <a:gd name="adj" fmla="val 14286"/>
            </a:avLst>
          </a:prstGeom>
          <a:solidFill>
            <a:srgbClr val="FFFFFF"/>
          </a:solidFill>
          <a:ln w="12700">
            <a:solidFill>
              <a:srgbClr val="D3DEE7"/>
            </a:solidFill>
            <a:prstDash val="solid"/>
          </a:ln>
        </p:spPr>
      </p:sp>
      <p:sp>
        <p:nvSpPr>
          <p:cNvPr id="18" name="Shape 16"/>
          <p:cNvSpPr/>
          <p:nvPr/>
        </p:nvSpPr>
        <p:spPr>
          <a:xfrm>
            <a:off x="6419088" y="1924812"/>
            <a:ext cx="347472" cy="347472"/>
          </a:xfrm>
          <a:prstGeom prst="ellipse">
            <a:avLst/>
          </a:prstGeom>
          <a:solidFill>
            <a:srgbClr val="1D4468"/>
          </a:solidFill>
          <a:ln w="12700">
            <a:solidFill>
              <a:srgbClr val="1D4468"/>
            </a:solidFill>
            <a:prstDash val="solid"/>
          </a:ln>
        </p:spPr>
      </p:sp>
      <p:sp>
        <p:nvSpPr>
          <p:cNvPr id="19" name="Text 17"/>
          <p:cNvSpPr txBox="1"/>
          <p:nvPr/>
        </p:nvSpPr>
        <p:spPr>
          <a:xfrm>
            <a:off x="6419088" y="19248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0" name="Text 18"/>
          <p:cNvSpPr txBox="1"/>
          <p:nvPr/>
        </p:nvSpPr>
        <p:spPr>
          <a:xfrm>
            <a:off x="6894576" y="1856232"/>
            <a:ext cx="454731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int i = 0</a:t>
            </a:r>
            <a:endParaRPr lang="en-US" sz="1150" dirty="0"/>
          </a:p>
        </p:txBody>
      </p:sp>
      <p:sp>
        <p:nvSpPr>
          <p:cNvPr id="21" name="Text 19"/>
          <p:cNvSpPr txBox="1"/>
          <p:nvPr/>
        </p:nvSpPr>
        <p:spPr>
          <a:xfrm>
            <a:off x="6894576" y="20755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the initial-action, once only</a:t>
            </a:r>
            <a:endParaRPr lang="en-US" sz="1100" dirty="0"/>
          </a:p>
        </p:txBody>
      </p:sp>
      <p:sp>
        <p:nvSpPr>
          <p:cNvPr id="22" name="Shape 20"/>
          <p:cNvSpPr/>
          <p:nvPr/>
        </p:nvSpPr>
        <p:spPr>
          <a:xfrm>
            <a:off x="6236208" y="2496312"/>
            <a:ext cx="5388559" cy="576072"/>
          </a:xfrm>
          <a:prstGeom prst="roundRect">
            <a:avLst>
              <a:gd name="adj" fmla="val 14286"/>
            </a:avLst>
          </a:prstGeom>
          <a:solidFill>
            <a:srgbClr val="E6F2EC"/>
          </a:solidFill>
          <a:ln w="12700">
            <a:solidFill>
              <a:srgbClr val="176240"/>
            </a:solidFill>
            <a:prstDash val="solid"/>
          </a:ln>
        </p:spPr>
      </p:sp>
      <p:sp>
        <p:nvSpPr>
          <p:cNvPr id="23" name="Shape 21"/>
          <p:cNvSpPr/>
          <p:nvPr/>
        </p:nvSpPr>
        <p:spPr>
          <a:xfrm>
            <a:off x="6419088" y="2610612"/>
            <a:ext cx="347472" cy="347472"/>
          </a:xfrm>
          <a:prstGeom prst="ellipse">
            <a:avLst/>
          </a:prstGeom>
          <a:solidFill>
            <a:srgbClr val="176240"/>
          </a:solidFill>
          <a:ln w="12700">
            <a:solidFill>
              <a:srgbClr val="176240"/>
            </a:solidFill>
            <a:prstDash val="solid"/>
          </a:ln>
        </p:spPr>
      </p:sp>
      <p:sp>
        <p:nvSpPr>
          <p:cNvPr id="24" name="Text 22"/>
          <p:cNvSpPr txBox="1"/>
          <p:nvPr/>
        </p:nvSpPr>
        <p:spPr>
          <a:xfrm>
            <a:off x="6419088" y="26106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5" name="Text 23"/>
          <p:cNvSpPr txBox="1"/>
          <p:nvPr/>
        </p:nvSpPr>
        <p:spPr>
          <a:xfrm>
            <a:off x="6894576" y="2542032"/>
            <a:ext cx="4547311" cy="276515"/>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i &lt; 2  -&gt;  true</a:t>
            </a:r>
            <a:endParaRPr lang="en-US" sz="1150" dirty="0"/>
          </a:p>
        </p:txBody>
      </p:sp>
      <p:sp>
        <p:nvSpPr>
          <p:cNvPr id="26" name="Text 24"/>
          <p:cNvSpPr txBox="1"/>
          <p:nvPr/>
        </p:nvSpPr>
        <p:spPr>
          <a:xfrm>
            <a:off x="6894576" y="27613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0 is below 2 — run the body</a:t>
            </a:r>
            <a:endParaRPr lang="en-US" sz="1100" dirty="0"/>
          </a:p>
        </p:txBody>
      </p:sp>
      <p:sp>
        <p:nvSpPr>
          <p:cNvPr id="27" name="Shape 25"/>
          <p:cNvSpPr/>
          <p:nvPr/>
        </p:nvSpPr>
        <p:spPr>
          <a:xfrm>
            <a:off x="6236208" y="3182112"/>
            <a:ext cx="5388559" cy="576072"/>
          </a:xfrm>
          <a:prstGeom prst="roundRect">
            <a:avLst>
              <a:gd name="adj" fmla="val 14286"/>
            </a:avLst>
          </a:prstGeom>
          <a:solidFill>
            <a:srgbClr val="FFFFFF"/>
          </a:solidFill>
          <a:ln w="12700">
            <a:solidFill>
              <a:srgbClr val="D3DEE7"/>
            </a:solidFill>
            <a:prstDash val="solid"/>
          </a:ln>
        </p:spPr>
      </p:sp>
      <p:sp>
        <p:nvSpPr>
          <p:cNvPr id="28" name="Shape 26"/>
          <p:cNvSpPr/>
          <p:nvPr/>
        </p:nvSpPr>
        <p:spPr>
          <a:xfrm>
            <a:off x="6419088" y="3296412"/>
            <a:ext cx="347472" cy="347472"/>
          </a:xfrm>
          <a:prstGeom prst="ellipse">
            <a:avLst/>
          </a:prstGeom>
          <a:solidFill>
            <a:srgbClr val="1D4468"/>
          </a:solidFill>
          <a:ln w="12700">
            <a:solidFill>
              <a:srgbClr val="1D4468"/>
            </a:solidFill>
            <a:prstDash val="solid"/>
          </a:ln>
        </p:spPr>
      </p:sp>
      <p:sp>
        <p:nvSpPr>
          <p:cNvPr id="29" name="Text 27"/>
          <p:cNvSpPr txBox="1"/>
          <p:nvPr/>
        </p:nvSpPr>
        <p:spPr>
          <a:xfrm>
            <a:off x="6419088" y="32964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30" name="Text 28"/>
          <p:cNvSpPr txBox="1"/>
          <p:nvPr/>
        </p:nvSpPr>
        <p:spPr>
          <a:xfrm>
            <a:off x="6894576" y="3227832"/>
            <a:ext cx="454731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print, then i++</a:t>
            </a:r>
            <a:endParaRPr lang="en-US" sz="1150" dirty="0"/>
          </a:p>
        </p:txBody>
      </p:sp>
      <p:sp>
        <p:nvSpPr>
          <p:cNvPr id="31" name="Text 29"/>
          <p:cNvSpPr txBox="1"/>
          <p:nvPr/>
        </p:nvSpPr>
        <p:spPr>
          <a:xfrm>
            <a:off x="6894576" y="34471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prints; i becomes 1</a:t>
            </a:r>
            <a:endParaRPr lang="en-US" sz="1100" dirty="0"/>
          </a:p>
        </p:txBody>
      </p:sp>
      <p:sp>
        <p:nvSpPr>
          <p:cNvPr id="32" name="Shape 30"/>
          <p:cNvSpPr/>
          <p:nvPr/>
        </p:nvSpPr>
        <p:spPr>
          <a:xfrm>
            <a:off x="6236208" y="3867912"/>
            <a:ext cx="5388559" cy="576072"/>
          </a:xfrm>
          <a:prstGeom prst="roundRect">
            <a:avLst>
              <a:gd name="adj" fmla="val 14286"/>
            </a:avLst>
          </a:prstGeom>
          <a:solidFill>
            <a:srgbClr val="E6F2EC"/>
          </a:solidFill>
          <a:ln w="12700">
            <a:solidFill>
              <a:srgbClr val="176240"/>
            </a:solidFill>
            <a:prstDash val="solid"/>
          </a:ln>
        </p:spPr>
      </p:sp>
      <p:sp>
        <p:nvSpPr>
          <p:cNvPr id="33" name="Shape 31"/>
          <p:cNvSpPr/>
          <p:nvPr/>
        </p:nvSpPr>
        <p:spPr>
          <a:xfrm>
            <a:off x="6419088" y="3982212"/>
            <a:ext cx="347472" cy="347472"/>
          </a:xfrm>
          <a:prstGeom prst="ellipse">
            <a:avLst/>
          </a:prstGeom>
          <a:solidFill>
            <a:srgbClr val="176240"/>
          </a:solidFill>
          <a:ln w="12700">
            <a:solidFill>
              <a:srgbClr val="176240"/>
            </a:solidFill>
            <a:prstDash val="solid"/>
          </a:ln>
        </p:spPr>
      </p:sp>
      <p:sp>
        <p:nvSpPr>
          <p:cNvPr id="34" name="Text 32"/>
          <p:cNvSpPr txBox="1"/>
          <p:nvPr/>
        </p:nvSpPr>
        <p:spPr>
          <a:xfrm>
            <a:off x="6419088" y="39822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5" name="Text 33"/>
          <p:cNvSpPr txBox="1"/>
          <p:nvPr/>
        </p:nvSpPr>
        <p:spPr>
          <a:xfrm>
            <a:off x="6894576" y="3913632"/>
            <a:ext cx="4547311" cy="276515"/>
          </a:xfrm>
          <a:prstGeom prst="rect">
            <a:avLst/>
          </a:prstGeom>
          <a:noFill/>
          <a:ln/>
        </p:spPr>
        <p:txBody>
          <a:bodyPr wrap="square" lIns="0" tIns="0" rIns="0" bIns="0" rtlCol="0" anchor="ctr"/>
          <a:lstStyle/>
          <a:p>
            <a:pPr indent="0" marL="0">
              <a:buNone/>
            </a:pPr>
            <a:r>
              <a:rPr lang="en-US" sz="1150" b="1" dirty="0">
                <a:solidFill>
                  <a:srgbClr val="176240"/>
                </a:solidFill>
                <a:latin typeface="Courier New" pitchFamily="34" charset="0"/>
                <a:ea typeface="Courier New" pitchFamily="34" charset="-122"/>
                <a:cs typeface="Courier New" pitchFamily="34" charset="-120"/>
              </a:rPr>
              <a:t>i &lt; 2  -&gt;  true</a:t>
            </a:r>
            <a:endParaRPr lang="en-US" sz="1150" dirty="0"/>
          </a:p>
        </p:txBody>
      </p:sp>
      <p:sp>
        <p:nvSpPr>
          <p:cNvPr id="36" name="Text 34"/>
          <p:cNvSpPr txBox="1"/>
          <p:nvPr/>
        </p:nvSpPr>
        <p:spPr>
          <a:xfrm>
            <a:off x="6894576" y="41329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1 is below 2 — run the body again</a:t>
            </a:r>
            <a:endParaRPr lang="en-US" sz="1100" dirty="0"/>
          </a:p>
        </p:txBody>
      </p:sp>
      <p:sp>
        <p:nvSpPr>
          <p:cNvPr id="37" name="Shape 35"/>
          <p:cNvSpPr/>
          <p:nvPr/>
        </p:nvSpPr>
        <p:spPr>
          <a:xfrm>
            <a:off x="6236208" y="4553712"/>
            <a:ext cx="5388559" cy="576072"/>
          </a:xfrm>
          <a:prstGeom prst="roundRect">
            <a:avLst>
              <a:gd name="adj" fmla="val 14286"/>
            </a:avLst>
          </a:prstGeom>
          <a:solidFill>
            <a:srgbClr val="FFFFFF"/>
          </a:solidFill>
          <a:ln w="12700">
            <a:solidFill>
              <a:srgbClr val="D3DEE7"/>
            </a:solidFill>
            <a:prstDash val="solid"/>
          </a:ln>
        </p:spPr>
      </p:sp>
      <p:sp>
        <p:nvSpPr>
          <p:cNvPr id="38" name="Shape 36"/>
          <p:cNvSpPr/>
          <p:nvPr/>
        </p:nvSpPr>
        <p:spPr>
          <a:xfrm>
            <a:off x="6419088" y="4668012"/>
            <a:ext cx="347472" cy="347472"/>
          </a:xfrm>
          <a:prstGeom prst="ellipse">
            <a:avLst/>
          </a:prstGeom>
          <a:solidFill>
            <a:srgbClr val="1D4468"/>
          </a:solidFill>
          <a:ln w="12700">
            <a:solidFill>
              <a:srgbClr val="1D4468"/>
            </a:solidFill>
            <a:prstDash val="solid"/>
          </a:ln>
        </p:spPr>
      </p:sp>
      <p:sp>
        <p:nvSpPr>
          <p:cNvPr id="39" name="Text 37"/>
          <p:cNvSpPr txBox="1"/>
          <p:nvPr/>
        </p:nvSpPr>
        <p:spPr>
          <a:xfrm>
            <a:off x="6419088" y="46680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40" name="Text 38"/>
          <p:cNvSpPr txBox="1"/>
          <p:nvPr/>
        </p:nvSpPr>
        <p:spPr>
          <a:xfrm>
            <a:off x="6894576" y="4599432"/>
            <a:ext cx="454731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print, then i++</a:t>
            </a:r>
            <a:endParaRPr lang="en-US" sz="1150" dirty="0"/>
          </a:p>
        </p:txBody>
      </p:sp>
      <p:sp>
        <p:nvSpPr>
          <p:cNvPr id="41" name="Text 39"/>
          <p:cNvSpPr txBox="1"/>
          <p:nvPr/>
        </p:nvSpPr>
        <p:spPr>
          <a:xfrm>
            <a:off x="6894576" y="48187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prints; i becomes 2</a:t>
            </a:r>
            <a:endParaRPr lang="en-US" sz="1100" dirty="0"/>
          </a:p>
        </p:txBody>
      </p:sp>
      <p:sp>
        <p:nvSpPr>
          <p:cNvPr id="42" name="Shape 40"/>
          <p:cNvSpPr/>
          <p:nvPr/>
        </p:nvSpPr>
        <p:spPr>
          <a:xfrm>
            <a:off x="6236208" y="5239512"/>
            <a:ext cx="5388559" cy="576072"/>
          </a:xfrm>
          <a:prstGeom prst="roundRect">
            <a:avLst>
              <a:gd name="adj" fmla="val 14286"/>
            </a:avLst>
          </a:prstGeom>
          <a:solidFill>
            <a:srgbClr val="FBEEE0"/>
          </a:solidFill>
          <a:ln w="12700">
            <a:solidFill>
              <a:srgbClr val="C4560C"/>
            </a:solidFill>
            <a:prstDash val="solid"/>
          </a:ln>
        </p:spPr>
      </p:sp>
      <p:sp>
        <p:nvSpPr>
          <p:cNvPr id="43" name="Shape 41"/>
          <p:cNvSpPr/>
          <p:nvPr/>
        </p:nvSpPr>
        <p:spPr>
          <a:xfrm>
            <a:off x="6419088" y="5353812"/>
            <a:ext cx="347472" cy="347472"/>
          </a:xfrm>
          <a:prstGeom prst="ellipse">
            <a:avLst/>
          </a:prstGeom>
          <a:solidFill>
            <a:srgbClr val="C4560C"/>
          </a:solidFill>
          <a:ln w="12700">
            <a:solidFill>
              <a:srgbClr val="C4560C"/>
            </a:solidFill>
            <a:prstDash val="solid"/>
          </a:ln>
        </p:spPr>
      </p:sp>
      <p:sp>
        <p:nvSpPr>
          <p:cNvPr id="44" name="Text 42"/>
          <p:cNvSpPr txBox="1"/>
          <p:nvPr/>
        </p:nvSpPr>
        <p:spPr>
          <a:xfrm>
            <a:off x="6419088" y="535381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45" name="Text 43"/>
          <p:cNvSpPr txBox="1"/>
          <p:nvPr/>
        </p:nvSpPr>
        <p:spPr>
          <a:xfrm>
            <a:off x="6894576" y="5285232"/>
            <a:ext cx="4547311" cy="276515"/>
          </a:xfrm>
          <a:prstGeom prst="rect">
            <a:avLst/>
          </a:prstGeom>
          <a:noFill/>
          <a:ln/>
        </p:spPr>
        <p:txBody>
          <a:bodyPr wrap="square" lIns="0" tIns="0" rIns="0" bIns="0" rtlCol="0" anchor="ctr"/>
          <a:lstStyle/>
          <a:p>
            <a:pPr indent="0" marL="0">
              <a:buNone/>
            </a:pPr>
            <a:r>
              <a:rPr lang="en-US" sz="1150" b="1" dirty="0">
                <a:solidFill>
                  <a:srgbClr val="0F2942"/>
                </a:solidFill>
                <a:latin typeface="Courier New" pitchFamily="34" charset="0"/>
                <a:ea typeface="Courier New" pitchFamily="34" charset="-122"/>
                <a:cs typeface="Courier New" pitchFamily="34" charset="-120"/>
              </a:rPr>
              <a:t>i &lt; 2  -&gt;  false</a:t>
            </a:r>
            <a:endParaRPr lang="en-US" sz="1150" dirty="0"/>
          </a:p>
        </p:txBody>
      </p:sp>
      <p:sp>
        <p:nvSpPr>
          <p:cNvPr id="46" name="Text 44"/>
          <p:cNvSpPr txBox="1"/>
          <p:nvPr/>
        </p:nvSpPr>
        <p:spPr>
          <a:xfrm>
            <a:off x="6894576" y="5504505"/>
            <a:ext cx="4547311" cy="288036"/>
          </a:xfrm>
          <a:prstGeom prst="rect">
            <a:avLst/>
          </a:prstGeom>
          <a:noFill/>
          <a:ln/>
        </p:spPr>
        <p:txBody>
          <a:bodyPr wrap="square" lIns="0" tIns="0" rIns="0" bIns="0" rtlCol="0" anchor="ctr"/>
          <a:lstStyle/>
          <a:p>
            <a:pPr indent="0" marL="0">
              <a:buNone/>
            </a:pPr>
            <a:r>
              <a:rPr lang="en-US" sz="1100" dirty="0">
                <a:solidFill>
                  <a:srgbClr val="3A536B"/>
                </a:solidFill>
                <a:latin typeface="Calibri" pitchFamily="34" charset="0"/>
                <a:ea typeface="Calibri" pitchFamily="34" charset="-122"/>
                <a:cs typeface="Calibri" pitchFamily="34" charset="-120"/>
              </a:rPr>
              <a:t>2 is not below 2 — exit the loop</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LOOP 04</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Four Things a for Loop Lets You Leave Out or Add</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Each part of a for header is optional, and each may hold more than one expression.</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566928" y="1536192"/>
            <a:ext cx="5323180" cy="1115202"/>
          </a:xfrm>
          <a:prstGeom prst="roundRect">
            <a:avLst>
              <a:gd name="adj" fmla="val 5740"/>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1 — COMMA-SEPARATED LISTS ARE ALLOWED</a:t>
            </a:r>
            <a:endParaRPr lang="en-US" sz="950" dirty="0"/>
          </a:p>
        </p:txBody>
      </p:sp>
      <p:sp>
        <p:nvSpPr>
          <p:cNvPr id="9" name="Text 7"/>
          <p:cNvSpPr txBox="1"/>
          <p:nvPr/>
        </p:nvSpPr>
        <p:spPr>
          <a:xfrm>
            <a:off x="731520" y="1810512"/>
            <a:ext cx="4993996" cy="786018"/>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two counters, moving towards each other</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Text 8"/>
          <p:cNvSpPr txBox="1"/>
          <p:nvPr/>
        </p:nvSpPr>
        <p:spPr>
          <a:xfrm>
            <a:off x="566928" y="2706258"/>
            <a:ext cx="5323180" cy="274320"/>
          </a:xfrm>
          <a:prstGeom prst="rect">
            <a:avLst/>
          </a:prstGeom>
          <a:noFill/>
          <a:ln/>
        </p:spPr>
        <p:txBody>
          <a:bodyPr wrap="square" lIns="0" tIns="0" rIns="0" bIns="0" rtlCol="0" anchor="ctr"/>
          <a:lstStyle/>
          <a:p>
            <a:pPr indent="0" marL="0">
              <a:buNone/>
            </a:pPr>
            <a:r>
              <a:rPr lang="en-US" sz="1150" i="1" dirty="0">
                <a:solidFill>
                  <a:srgbClr val="4B6377"/>
                </a:solidFill>
                <a:latin typeface="Calibri" pitchFamily="34" charset="0"/>
                <a:ea typeface="Calibri" pitchFamily="34" charset="-122"/>
                <a:cs typeface="Calibri" pitchFamily="34" charset="-120"/>
              </a:rPr>
              <a:t>Legal, and occasionally the clearest way to walk a string from both ends.</a:t>
            </a:r>
            <a:endParaRPr lang="en-US" sz="1150" dirty="0"/>
          </a:p>
        </p:txBody>
      </p:sp>
      <p:sp>
        <p:nvSpPr>
          <p:cNvPr id="11" name="Shape 9"/>
          <p:cNvSpPr/>
          <p:nvPr/>
        </p:nvSpPr>
        <p:spPr>
          <a:xfrm>
            <a:off x="566928" y="3062874"/>
            <a:ext cx="5323180" cy="1754916"/>
          </a:xfrm>
          <a:prstGeom prst="roundRect">
            <a:avLst>
              <a:gd name="adj" fmla="val 3647"/>
            </a:avLst>
          </a:prstGeom>
          <a:solidFill>
            <a:srgbClr val="EDF2F7"/>
          </a:solidFill>
          <a:ln w="12700">
            <a:solidFill>
              <a:srgbClr val="CFDBE5"/>
            </a:solidFill>
            <a:prstDash val="solid"/>
          </a:ln>
        </p:spPr>
      </p:sp>
      <p:sp>
        <p:nvSpPr>
          <p:cNvPr id="12" name="Text 10"/>
          <p:cNvSpPr txBox="1"/>
          <p:nvPr/>
        </p:nvSpPr>
        <p:spPr>
          <a:xfrm>
            <a:off x="713232" y="3108594"/>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2 — AN OMITTED CONDITION IS IMPLICITLY true</a:t>
            </a:r>
            <a:endParaRPr lang="en-US" sz="950" dirty="0"/>
          </a:p>
        </p:txBody>
      </p:sp>
      <p:sp>
        <p:nvSpPr>
          <p:cNvPr id="13" name="Text 11"/>
          <p:cNvSpPr txBox="1"/>
          <p:nvPr/>
        </p:nvSpPr>
        <p:spPr>
          <a:xfrm>
            <a:off x="731520" y="3337194"/>
            <a:ext cx="4993996" cy="142573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no parts at all</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an infinite loop, on purpose</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true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say it this way instead</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4" name="Shape 12"/>
          <p:cNvSpPr/>
          <p:nvPr/>
        </p:nvSpPr>
        <p:spPr>
          <a:xfrm>
            <a:off x="566928" y="5037247"/>
            <a:ext cx="5323180" cy="1051560"/>
          </a:xfrm>
          <a:prstGeom prst="roundRect">
            <a:avLst>
              <a:gd name="adj" fmla="val 7826"/>
            </a:avLst>
          </a:prstGeom>
          <a:solidFill>
            <a:srgbClr val="E4ECF4"/>
          </a:solidFill>
          <a:ln w="12700">
            <a:solidFill>
              <a:srgbClr val="E4ECF4"/>
            </a:solidFill>
            <a:prstDash val="solid"/>
          </a:ln>
        </p:spPr>
      </p:sp>
      <p:sp>
        <p:nvSpPr>
          <p:cNvPr id="15" name="Text 13"/>
          <p:cNvSpPr txBox="1"/>
          <p:nvPr/>
        </p:nvSpPr>
        <p:spPr>
          <a:xfrm>
            <a:off x="841248" y="5037247"/>
            <a:ext cx="4774540" cy="1051560"/>
          </a:xfrm>
          <a:prstGeom prst="rect">
            <a:avLst/>
          </a:prstGeom>
          <a:noFill/>
          <a:ln/>
        </p:spPr>
        <p:txBody>
          <a:bodyPr wrap="square" lIns="0" tIns="0" rIns="0" bIns="0" rtlCol="0" anchor="ctr"/>
          <a:lstStyle/>
          <a:p>
            <a:pPr indent="0" marL="0">
              <a:lnSpc>
                <a:spcPct val="110000"/>
              </a:lnSpc>
              <a:buNone/>
            </a:pPr>
            <a:r>
              <a:rPr lang="en-US" sz="1200" b="1" dirty="0">
                <a:solidFill>
                  <a:srgbClr val="0F2942"/>
                </a:solidFill>
                <a:latin typeface="Calibri" pitchFamily="34" charset="0"/>
                <a:ea typeface="Calibri" pitchFamily="34" charset="-122"/>
                <a:cs typeface="Calibri" pitchFamily="34" charset="-120"/>
              </a:rPr>
              <a:t>Both are infinite loops.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Prefer while (true) — it states the intent, where for ( ; ; ) looks like something was deleted by accident.</a:t>
            </a:r>
            <a:endParaRPr lang="en-US" sz="1200" dirty="0"/>
          </a:p>
        </p:txBody>
      </p:sp>
      <p:sp>
        <p:nvSpPr>
          <p:cNvPr id="16" name="Shape 14"/>
          <p:cNvSpPr/>
          <p:nvPr/>
        </p:nvSpPr>
        <p:spPr>
          <a:xfrm>
            <a:off x="6301588" y="1536192"/>
            <a:ext cx="5323180" cy="1541678"/>
          </a:xfrm>
          <a:prstGeom prst="roundRect">
            <a:avLst>
              <a:gd name="adj" fmla="val 4152"/>
            </a:avLst>
          </a:prstGeom>
          <a:solidFill>
            <a:srgbClr val="EDF2F7"/>
          </a:solidFill>
          <a:ln w="12700">
            <a:solidFill>
              <a:srgbClr val="CFDBE5"/>
            </a:solidFill>
            <a:prstDash val="solid"/>
          </a:ln>
        </p:spPr>
      </p:sp>
      <p:sp>
        <p:nvSpPr>
          <p:cNvPr id="17" name="Text 15"/>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3 — var (JAVA 10), AND STEPS OTHER THAN ++</a:t>
            </a:r>
            <a:endParaRPr lang="en-US" sz="950" dirty="0"/>
          </a:p>
        </p:txBody>
      </p:sp>
      <p:sp>
        <p:nvSpPr>
          <p:cNvPr id="18" name="Text 16"/>
          <p:cNvSpPr txBox="1"/>
          <p:nvPr/>
        </p:nvSpPr>
        <p:spPr>
          <a:xfrm>
            <a:off x="6466180" y="1810512"/>
            <a:ext cx="4993996" cy="1212494"/>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var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i is an int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count down</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9" name="Shape 17"/>
          <p:cNvSpPr/>
          <p:nvPr/>
        </p:nvSpPr>
        <p:spPr>
          <a:xfrm>
            <a:off x="6301588" y="3297326"/>
            <a:ext cx="5323180" cy="1097280"/>
          </a:xfrm>
          <a:prstGeom prst="roundRect">
            <a:avLst>
              <a:gd name="adj" fmla="val 7500"/>
            </a:avLst>
          </a:prstGeom>
          <a:solidFill>
            <a:srgbClr val="FBEEE0"/>
          </a:solidFill>
          <a:ln w="12700">
            <a:solidFill>
              <a:srgbClr val="FBEEE0"/>
            </a:solidFill>
            <a:prstDash val="solid"/>
          </a:ln>
        </p:spPr>
      </p:sp>
      <p:sp>
        <p:nvSpPr>
          <p:cNvPr id="20" name="Text 18"/>
          <p:cNvSpPr txBox="1"/>
          <p:nvPr/>
        </p:nvSpPr>
        <p:spPr>
          <a:xfrm>
            <a:off x="6575908" y="3297326"/>
            <a:ext cx="4774540" cy="1097280"/>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var is inferred, not dynamic.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The compiler reads 1 and fixes the type as int, permanently. Use explicit types in submitted work.</a:t>
            </a:r>
            <a:endParaRPr lang="en-US" sz="1200" dirty="0"/>
          </a:p>
        </p:txBody>
      </p:sp>
      <p:sp>
        <p:nvSpPr>
          <p:cNvPr id="21" name="Shape 19"/>
          <p:cNvSpPr/>
          <p:nvPr/>
        </p:nvSpPr>
        <p:spPr>
          <a:xfrm>
            <a:off x="6301588" y="4595774"/>
            <a:ext cx="5323180" cy="1541678"/>
          </a:xfrm>
          <a:prstGeom prst="roundRect">
            <a:avLst>
              <a:gd name="adj" fmla="val 4152"/>
            </a:avLst>
          </a:prstGeom>
          <a:solidFill>
            <a:srgbClr val="EDF2F7"/>
          </a:solidFill>
          <a:ln w="12700">
            <a:solidFill>
              <a:srgbClr val="CFDBE5"/>
            </a:solidFill>
            <a:prstDash val="solid"/>
          </a:ln>
        </p:spPr>
      </p:sp>
      <p:sp>
        <p:nvSpPr>
          <p:cNvPr id="22" name="Text 20"/>
          <p:cNvSpPr txBox="1"/>
          <p:nvPr/>
        </p:nvSpPr>
        <p:spPr>
          <a:xfrm>
            <a:off x="6447892" y="4641494"/>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4 — THE INITIAL-ACTION MAY BE EMPTY</a:t>
            </a:r>
            <a:endParaRPr lang="en-US" sz="950" dirty="0"/>
          </a:p>
        </p:txBody>
      </p:sp>
      <p:sp>
        <p:nvSpPr>
          <p:cNvPr id="23" name="Text 21"/>
          <p:cNvSpPr txBox="1"/>
          <p:nvPr/>
        </p:nvSpPr>
        <p:spPr>
          <a:xfrm>
            <a:off x="6466180" y="4870094"/>
            <a:ext cx="4993996" cy="1212494"/>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declared outside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found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break</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"stopped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24" name="Text 22"/>
          <p:cNvSpPr txBox="1"/>
          <p:nvPr/>
        </p:nvSpPr>
        <p:spPr>
          <a:xfrm>
            <a:off x="6301588" y="6192317"/>
            <a:ext cx="5323180" cy="274320"/>
          </a:xfrm>
          <a:prstGeom prst="rect">
            <a:avLst/>
          </a:prstGeom>
          <a:noFill/>
          <a:ln/>
        </p:spPr>
        <p:txBody>
          <a:bodyPr wrap="square" lIns="0" tIns="0" rIns="0" bIns="0" rtlCol="0" anchor="ctr"/>
          <a:lstStyle/>
          <a:p>
            <a:pPr indent="0" marL="0">
              <a:buNone/>
            </a:pPr>
            <a:r>
              <a:rPr lang="en-US" sz="1150" i="1" dirty="0">
                <a:solidFill>
                  <a:srgbClr val="4B6377"/>
                </a:solidFill>
                <a:latin typeface="Calibri" pitchFamily="34" charset="0"/>
                <a:ea typeface="Calibri" pitchFamily="34" charset="-122"/>
                <a:cs typeface="Calibri" pitchFamily="34" charset="-120"/>
              </a:rPr>
              <a:t>Do this only when you genuinely need the counter after the loop ends.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PITFALLS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One Semicolon, Three Different Outcomes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Where a semicolon is required, where it silently empties the body, and where it hangs the program.</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16</a:t>
            </a:r>
            <a:endParaRPr lang="en-US" sz="900" dirty="0"/>
          </a:p>
        </p:txBody>
      </p:sp>
      <p:sp>
        <p:nvSpPr>
          <p:cNvPr id="7" name="Text 5"/>
          <p:cNvSpPr txBox="1"/>
          <p:nvPr/>
        </p:nvSpPr>
        <p:spPr>
          <a:xfrm>
            <a:off x="566928" y="1536192"/>
            <a:ext cx="3533546" cy="310896"/>
          </a:xfrm>
          <a:prstGeom prst="rect">
            <a:avLst/>
          </a:prstGeom>
          <a:noFill/>
          <a:ln/>
        </p:spPr>
        <p:txBody>
          <a:bodyPr wrap="square" lIns="0" tIns="0" rIns="0" bIns="0" rtlCol="0" anchor="ctr"/>
          <a:lstStyle/>
          <a:p>
            <a:pPr indent="0" marL="0">
              <a:buNone/>
            </a:pPr>
            <a:r>
              <a:rPr lang="en-US" sz="1700" b="1" dirty="0">
                <a:solidFill>
                  <a:srgbClr val="0F2942"/>
                </a:solidFill>
                <a:latin typeface="Courier New" pitchFamily="34" charset="0"/>
                <a:ea typeface="Courier New" pitchFamily="34" charset="-122"/>
                <a:cs typeface="Courier New" pitchFamily="34" charset="-120"/>
              </a:rPr>
              <a:t>for</a:t>
            </a:r>
            <a:endParaRPr lang="en-US" sz="1700" dirty="0"/>
          </a:p>
        </p:txBody>
      </p:sp>
      <p:sp>
        <p:nvSpPr>
          <p:cNvPr id="8" name="Text 6"/>
          <p:cNvSpPr txBox="1"/>
          <p:nvPr/>
        </p:nvSpPr>
        <p:spPr>
          <a:xfrm>
            <a:off x="566928" y="1865376"/>
            <a:ext cx="3533546" cy="274320"/>
          </a:xfrm>
          <a:prstGeom prst="rect">
            <a:avLst/>
          </a:prstGeom>
          <a:noFill/>
          <a:ln/>
        </p:spPr>
        <p:txBody>
          <a:bodyPr wrap="square" lIns="0" tIns="0" rIns="0" bIns="0" rtlCol="0" anchor="ctr"/>
          <a:lstStyle/>
          <a:p>
            <a:pPr indent="0" marL="0">
              <a:buNone/>
            </a:pPr>
            <a:r>
              <a:rPr lang="en-US" sz="1100" b="1" spc="60" kern="0" dirty="0">
                <a:solidFill>
                  <a:srgbClr val="9C241C"/>
                </a:solidFill>
                <a:latin typeface="Calibri" pitchFamily="34" charset="0"/>
                <a:ea typeface="Calibri" pitchFamily="34" charset="-122"/>
                <a:cs typeface="Calibri" pitchFamily="34" charset="-120"/>
              </a:rPr>
              <a:t>WRONG — body runs once, after the loop</a:t>
            </a:r>
            <a:endParaRPr lang="en-US" sz="1100" dirty="0"/>
          </a:p>
        </p:txBody>
      </p:sp>
      <p:sp>
        <p:nvSpPr>
          <p:cNvPr id="9" name="Shape 7"/>
          <p:cNvSpPr/>
          <p:nvPr/>
        </p:nvSpPr>
        <p:spPr>
          <a:xfrm>
            <a:off x="566928" y="2194560"/>
            <a:ext cx="3533546" cy="1554480"/>
          </a:xfrm>
          <a:prstGeom prst="roundRect">
            <a:avLst>
              <a:gd name="adj" fmla="val 4118"/>
            </a:avLst>
          </a:prstGeom>
          <a:solidFill>
            <a:srgbClr val="EDF2F7"/>
          </a:solidFill>
          <a:ln w="12700">
            <a:solidFill>
              <a:srgbClr val="CFDBE5"/>
            </a:solidFill>
            <a:prstDash val="solid"/>
          </a:ln>
        </p:spPr>
      </p:sp>
      <p:sp>
        <p:nvSpPr>
          <p:cNvPr id="10" name="Text 8"/>
          <p:cNvSpPr txBox="1"/>
          <p:nvPr/>
        </p:nvSpPr>
        <p:spPr>
          <a:xfrm>
            <a:off x="731520" y="2331720"/>
            <a:ext cx="3204362" cy="1353312"/>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"i is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1" name="Shape 9"/>
          <p:cNvSpPr/>
          <p:nvPr/>
        </p:nvSpPr>
        <p:spPr>
          <a:xfrm>
            <a:off x="566928" y="3950208"/>
            <a:ext cx="3533546" cy="1554480"/>
          </a:xfrm>
          <a:prstGeom prst="roundRect">
            <a:avLst>
              <a:gd name="adj" fmla="val 5294"/>
            </a:avLst>
          </a:prstGeom>
          <a:solidFill>
            <a:srgbClr val="FBEAE8"/>
          </a:solidFill>
          <a:ln w="12700">
            <a:solidFill>
              <a:srgbClr val="FBEAE8"/>
            </a:solidFill>
            <a:prstDash val="solid"/>
          </a:ln>
        </p:spPr>
      </p:sp>
      <p:sp>
        <p:nvSpPr>
          <p:cNvPr id="12" name="Text 10"/>
          <p:cNvSpPr txBox="1"/>
          <p:nvPr/>
        </p:nvSpPr>
        <p:spPr>
          <a:xfrm>
            <a:off x="804672" y="3950208"/>
            <a:ext cx="3058058" cy="1554480"/>
          </a:xfrm>
          <a:prstGeom prst="rect">
            <a:avLst/>
          </a:prstGeom>
          <a:noFill/>
          <a:ln/>
        </p:spPr>
        <p:txBody>
          <a:bodyPr wrap="square" lIns="0" tIns="0" rIns="0" bIns="0" rtlCol="0" anchor="ctr"/>
          <a:lstStyle/>
          <a:p>
            <a:pPr indent="0" marL="0">
              <a:lnSpc>
                <a:spcPct val="112000"/>
              </a:lnSpc>
              <a:buNone/>
            </a:pPr>
            <a:r>
              <a:rPr lang="en-US" sz="1150" dirty="0">
                <a:solidFill>
                  <a:srgbClr val="3A536B"/>
                </a:solidFill>
                <a:latin typeface="Calibri" pitchFamily="34" charset="0"/>
                <a:ea typeface="Calibri" pitchFamily="34" charset="-122"/>
                <a:cs typeface="Calibri" pitchFamily="34" charset="-120"/>
              </a:rPr>
              <a:t>The loop spins ten times doing nothing, then the block below runs once. It will not even compile here, because i is out of scope — which is the one piece of luck in this example.</a:t>
            </a:r>
            <a:endParaRPr lang="en-US" sz="1150" dirty="0"/>
          </a:p>
        </p:txBody>
      </p:sp>
      <p:sp>
        <p:nvSpPr>
          <p:cNvPr id="13" name="Text 11"/>
          <p:cNvSpPr txBox="1"/>
          <p:nvPr/>
        </p:nvSpPr>
        <p:spPr>
          <a:xfrm>
            <a:off x="4329074" y="1536192"/>
            <a:ext cx="3533546" cy="310896"/>
          </a:xfrm>
          <a:prstGeom prst="rect">
            <a:avLst/>
          </a:prstGeom>
          <a:noFill/>
          <a:ln/>
        </p:spPr>
        <p:txBody>
          <a:bodyPr wrap="square" lIns="0" tIns="0" rIns="0" bIns="0" rtlCol="0" anchor="ctr"/>
          <a:lstStyle/>
          <a:p>
            <a:pPr indent="0" marL="0">
              <a:buNone/>
            </a:pPr>
            <a:r>
              <a:rPr lang="en-US" sz="1700" b="1" dirty="0">
                <a:solidFill>
                  <a:srgbClr val="0F2942"/>
                </a:solidFill>
                <a:latin typeface="Courier New" pitchFamily="34" charset="0"/>
                <a:ea typeface="Courier New" pitchFamily="34" charset="-122"/>
                <a:cs typeface="Courier New" pitchFamily="34" charset="-120"/>
              </a:rPr>
              <a:t>while</a:t>
            </a:r>
            <a:endParaRPr lang="en-US" sz="1700" dirty="0"/>
          </a:p>
        </p:txBody>
      </p:sp>
      <p:sp>
        <p:nvSpPr>
          <p:cNvPr id="14" name="Text 12"/>
          <p:cNvSpPr txBox="1"/>
          <p:nvPr/>
        </p:nvSpPr>
        <p:spPr>
          <a:xfrm>
            <a:off x="4329074" y="1865376"/>
            <a:ext cx="3533546" cy="274320"/>
          </a:xfrm>
          <a:prstGeom prst="rect">
            <a:avLst/>
          </a:prstGeom>
          <a:noFill/>
          <a:ln/>
        </p:spPr>
        <p:txBody>
          <a:bodyPr wrap="square" lIns="0" tIns="0" rIns="0" bIns="0" rtlCol="0" anchor="ctr"/>
          <a:lstStyle/>
          <a:p>
            <a:pPr indent="0" marL="0">
              <a:buNone/>
            </a:pPr>
            <a:r>
              <a:rPr lang="en-US" sz="1100" b="1" spc="60" kern="0" dirty="0">
                <a:solidFill>
                  <a:srgbClr val="9C241C"/>
                </a:solidFill>
                <a:latin typeface="Calibri" pitchFamily="34" charset="0"/>
                <a:ea typeface="Calibri" pitchFamily="34" charset="-122"/>
                <a:cs typeface="Calibri" pitchFamily="34" charset="-120"/>
              </a:rPr>
              <a:t>WRONG — the program hangs</a:t>
            </a:r>
            <a:endParaRPr lang="en-US" sz="1100" dirty="0"/>
          </a:p>
        </p:txBody>
      </p:sp>
      <p:sp>
        <p:nvSpPr>
          <p:cNvPr id="15" name="Shape 13"/>
          <p:cNvSpPr/>
          <p:nvPr/>
        </p:nvSpPr>
        <p:spPr>
          <a:xfrm>
            <a:off x="4329074" y="2194560"/>
            <a:ext cx="3533546" cy="1554480"/>
          </a:xfrm>
          <a:prstGeom prst="roundRect">
            <a:avLst>
              <a:gd name="adj" fmla="val 4118"/>
            </a:avLst>
          </a:prstGeom>
          <a:solidFill>
            <a:srgbClr val="EDF2F7"/>
          </a:solidFill>
          <a:ln w="12700">
            <a:solidFill>
              <a:srgbClr val="CFDBE5"/>
            </a:solidFill>
            <a:prstDash val="solid"/>
          </a:ln>
        </p:spPr>
      </p:sp>
      <p:sp>
        <p:nvSpPr>
          <p:cNvPr id="16" name="Text 14"/>
          <p:cNvSpPr txBox="1"/>
          <p:nvPr/>
        </p:nvSpPr>
        <p:spPr>
          <a:xfrm>
            <a:off x="4493666" y="2331720"/>
            <a:ext cx="3204362" cy="1353312"/>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"i is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7" name="Shape 15"/>
          <p:cNvSpPr/>
          <p:nvPr/>
        </p:nvSpPr>
        <p:spPr>
          <a:xfrm>
            <a:off x="4329074" y="3950208"/>
            <a:ext cx="3533546" cy="1554480"/>
          </a:xfrm>
          <a:prstGeom prst="roundRect">
            <a:avLst>
              <a:gd name="adj" fmla="val 5294"/>
            </a:avLst>
          </a:prstGeom>
          <a:solidFill>
            <a:srgbClr val="FBEAE8"/>
          </a:solidFill>
          <a:ln w="12700">
            <a:solidFill>
              <a:srgbClr val="FBEAE8"/>
            </a:solidFill>
            <a:prstDash val="solid"/>
          </a:ln>
        </p:spPr>
      </p:sp>
      <p:sp>
        <p:nvSpPr>
          <p:cNvPr id="18" name="Text 16"/>
          <p:cNvSpPr txBox="1"/>
          <p:nvPr/>
        </p:nvSpPr>
        <p:spPr>
          <a:xfrm>
            <a:off x="4566818" y="3950208"/>
            <a:ext cx="3058058" cy="1554480"/>
          </a:xfrm>
          <a:prstGeom prst="rect">
            <a:avLst/>
          </a:prstGeom>
          <a:noFill/>
          <a:ln/>
        </p:spPr>
        <p:txBody>
          <a:bodyPr wrap="square" lIns="0" tIns="0" rIns="0" bIns="0" rtlCol="0" anchor="ctr"/>
          <a:lstStyle/>
          <a:p>
            <a:pPr indent="0" marL="0">
              <a:lnSpc>
                <a:spcPct val="112000"/>
              </a:lnSpc>
              <a:buNone/>
            </a:pPr>
            <a:r>
              <a:rPr lang="en-US" sz="1150" dirty="0">
                <a:solidFill>
                  <a:srgbClr val="3A536B"/>
                </a:solidFill>
                <a:latin typeface="Calibri" pitchFamily="34" charset="0"/>
                <a:ea typeface="Calibri" pitchFamily="34" charset="-122"/>
                <a:cs typeface="Calibri" pitchFamily="34" charset="-120"/>
              </a:rPr>
              <a:t>The empty statement is the whole body, so i never changes and the condition is true forever. Nothing is printed and the program never ends.</a:t>
            </a:r>
            <a:endParaRPr lang="en-US" sz="1150" dirty="0"/>
          </a:p>
        </p:txBody>
      </p:sp>
      <p:sp>
        <p:nvSpPr>
          <p:cNvPr id="19" name="Text 17"/>
          <p:cNvSpPr txBox="1"/>
          <p:nvPr/>
        </p:nvSpPr>
        <p:spPr>
          <a:xfrm>
            <a:off x="8091221" y="1536192"/>
            <a:ext cx="3533546" cy="310896"/>
          </a:xfrm>
          <a:prstGeom prst="rect">
            <a:avLst/>
          </a:prstGeom>
          <a:noFill/>
          <a:ln/>
        </p:spPr>
        <p:txBody>
          <a:bodyPr wrap="square" lIns="0" tIns="0" rIns="0" bIns="0" rtlCol="0" anchor="ctr"/>
          <a:lstStyle/>
          <a:p>
            <a:pPr indent="0" marL="0">
              <a:buNone/>
            </a:pPr>
            <a:r>
              <a:rPr lang="en-US" sz="1700" b="1" dirty="0">
                <a:solidFill>
                  <a:srgbClr val="0F2942"/>
                </a:solidFill>
                <a:latin typeface="Courier New" pitchFamily="34" charset="0"/>
                <a:ea typeface="Courier New" pitchFamily="34" charset="-122"/>
                <a:cs typeface="Courier New" pitchFamily="34" charset="-120"/>
              </a:rPr>
              <a:t>do-while</a:t>
            </a:r>
            <a:endParaRPr lang="en-US" sz="1700" dirty="0"/>
          </a:p>
        </p:txBody>
      </p:sp>
      <p:sp>
        <p:nvSpPr>
          <p:cNvPr id="20" name="Text 18"/>
          <p:cNvSpPr txBox="1"/>
          <p:nvPr/>
        </p:nvSpPr>
        <p:spPr>
          <a:xfrm>
            <a:off x="8091221" y="1865376"/>
            <a:ext cx="3533546" cy="274320"/>
          </a:xfrm>
          <a:prstGeom prst="rect">
            <a:avLst/>
          </a:prstGeom>
          <a:noFill/>
          <a:ln/>
        </p:spPr>
        <p:txBody>
          <a:bodyPr wrap="square" lIns="0" tIns="0" rIns="0" bIns="0" rtlCol="0" anchor="ctr"/>
          <a:lstStyle/>
          <a:p>
            <a:pPr indent="0" marL="0">
              <a:buNone/>
            </a:pPr>
            <a:r>
              <a:rPr lang="en-US" sz="1100" b="1" spc="60" kern="0" dirty="0">
                <a:solidFill>
                  <a:srgbClr val="176240"/>
                </a:solidFill>
                <a:latin typeface="Calibri" pitchFamily="34" charset="0"/>
                <a:ea typeface="Calibri" pitchFamily="34" charset="-122"/>
                <a:cs typeface="Calibri" pitchFamily="34" charset="-120"/>
              </a:rPr>
              <a:t>CORRECT — the semicolon is required</a:t>
            </a:r>
            <a:endParaRPr lang="en-US" sz="1100" dirty="0"/>
          </a:p>
        </p:txBody>
      </p:sp>
      <p:sp>
        <p:nvSpPr>
          <p:cNvPr id="21" name="Shape 19"/>
          <p:cNvSpPr/>
          <p:nvPr/>
        </p:nvSpPr>
        <p:spPr>
          <a:xfrm>
            <a:off x="8091221" y="2194560"/>
            <a:ext cx="3533546" cy="1554480"/>
          </a:xfrm>
          <a:prstGeom prst="roundRect">
            <a:avLst>
              <a:gd name="adj" fmla="val 4118"/>
            </a:avLst>
          </a:prstGeom>
          <a:solidFill>
            <a:srgbClr val="EDF2F7"/>
          </a:solidFill>
          <a:ln w="12700">
            <a:solidFill>
              <a:srgbClr val="CFDBE5"/>
            </a:solidFill>
            <a:prstDash val="solid"/>
          </a:ln>
        </p:spPr>
      </p:sp>
      <p:sp>
        <p:nvSpPr>
          <p:cNvPr id="22" name="Text 20"/>
          <p:cNvSpPr txBox="1"/>
          <p:nvPr/>
        </p:nvSpPr>
        <p:spPr>
          <a:xfrm>
            <a:off x="8255813" y="2331720"/>
            <a:ext cx="3204362" cy="1353312"/>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do</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"i is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23" name="Shape 21"/>
          <p:cNvSpPr/>
          <p:nvPr/>
        </p:nvSpPr>
        <p:spPr>
          <a:xfrm>
            <a:off x="8091221" y="3950208"/>
            <a:ext cx="3533546" cy="1554480"/>
          </a:xfrm>
          <a:prstGeom prst="roundRect">
            <a:avLst>
              <a:gd name="adj" fmla="val 5294"/>
            </a:avLst>
          </a:prstGeom>
          <a:solidFill>
            <a:srgbClr val="E6F2EC"/>
          </a:solidFill>
          <a:ln w="12700">
            <a:solidFill>
              <a:srgbClr val="E6F2EC"/>
            </a:solidFill>
            <a:prstDash val="solid"/>
          </a:ln>
        </p:spPr>
      </p:sp>
      <p:sp>
        <p:nvSpPr>
          <p:cNvPr id="24" name="Text 22"/>
          <p:cNvSpPr txBox="1"/>
          <p:nvPr/>
        </p:nvSpPr>
        <p:spPr>
          <a:xfrm>
            <a:off x="8328965" y="3950208"/>
            <a:ext cx="3058058" cy="1554480"/>
          </a:xfrm>
          <a:prstGeom prst="rect">
            <a:avLst/>
          </a:prstGeom>
          <a:noFill/>
          <a:ln/>
        </p:spPr>
        <p:txBody>
          <a:bodyPr wrap="square" lIns="0" tIns="0" rIns="0" bIns="0" rtlCol="0" anchor="ctr"/>
          <a:lstStyle/>
          <a:p>
            <a:pPr indent="0" marL="0">
              <a:lnSpc>
                <a:spcPct val="112000"/>
              </a:lnSpc>
              <a:buNone/>
            </a:pPr>
            <a:r>
              <a:rPr lang="en-US" sz="1150" dirty="0">
                <a:solidFill>
                  <a:srgbClr val="3A536B"/>
                </a:solidFill>
                <a:latin typeface="Calibri" pitchFamily="34" charset="0"/>
                <a:ea typeface="Calibri" pitchFamily="34" charset="-122"/>
                <a:cs typeface="Calibri" pitchFamily="34" charset="-120"/>
              </a:rPr>
              <a:t>Here the semicolon terminates the do-while statement. Omit it and you get a compile error, which is the friendliest of the three outcomes.</a:t>
            </a:r>
            <a:endParaRPr lang="en-US" sz="1150" dirty="0"/>
          </a:p>
        </p:txBody>
      </p:sp>
      <p:sp>
        <p:nvSpPr>
          <p:cNvPr id="25" name="Shape 23"/>
          <p:cNvSpPr/>
          <p:nvPr/>
        </p:nvSpPr>
        <p:spPr>
          <a:xfrm>
            <a:off x="566928" y="5614416"/>
            <a:ext cx="11057839" cy="713232"/>
          </a:xfrm>
          <a:prstGeom prst="roundRect">
            <a:avLst>
              <a:gd name="adj" fmla="val 11538"/>
            </a:avLst>
          </a:prstGeom>
          <a:solidFill>
            <a:srgbClr val="E4ECF4"/>
          </a:solidFill>
          <a:ln w="12700">
            <a:solidFill>
              <a:srgbClr val="E4ECF4"/>
            </a:solidFill>
            <a:prstDash val="solid"/>
          </a:ln>
        </p:spPr>
      </p:sp>
      <p:sp>
        <p:nvSpPr>
          <p:cNvPr id="26" name="Text 24"/>
          <p:cNvSpPr txBox="1"/>
          <p:nvPr/>
        </p:nvSpPr>
        <p:spPr>
          <a:xfrm>
            <a:off x="859536" y="5614416"/>
            <a:ext cx="10472623" cy="713232"/>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The rule underneath all three: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a lone semicolon is a complete, legal, empty statement in Java. It becomes the body of whatever came before it — which is why it breaks if, while and for in exactly the same way.</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CHOOSING</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Which Loop Should You Use?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All three are expressively equivalent: any loop can be written in any of the three forms. So the choice is about the reader.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5943600" cy="914400"/>
        </p:xfrm>
        <a:graphic>
          <a:graphicData uri="http://schemas.openxmlformats.org/drawingml/2006/table">
            <a:tbl>
              <a:tblPr/>
              <a:tblGrid>
                <a:gridCol w="950976"/>
                <a:gridCol w="2734056"/>
                <a:gridCol w="2258568"/>
              </a:tblGrid>
              <a:tr h="5029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When</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Typical example</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502920">
                <a:tc>
                  <a:txBody>
                    <a:bodyPr/>
                    <a:lstStyle/>
                    <a:p>
                      <a:pPr indent="0" marL="0">
                        <a:buNone/>
                      </a:pPr>
                      <a:r>
                        <a:rPr lang="en-US" sz="1250" b="1" dirty="0">
                          <a:solidFill>
                            <a:srgbClr val="9A430A"/>
                          </a:solidFill>
                          <a:latin typeface="Courier New" pitchFamily="34" charset="0"/>
                          <a:ea typeface="Courier New" pitchFamily="34" charset="-122"/>
                          <a:cs typeface="Courier New" pitchFamily="34" charset="-120"/>
                        </a:rPr>
                        <a:t>for</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the number of passes is known before you start</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print 100 messages; walk 1 to n</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502920">
                <a:tc>
                  <a:txBody>
                    <a:bodyPr/>
                    <a:lstStyle/>
                    <a:p>
                      <a:pPr indent="0" marL="0">
                        <a:buNone/>
                      </a:pPr>
                      <a:r>
                        <a:rPr lang="en-US" sz="1250" b="1" dirty="0">
                          <a:solidFill>
                            <a:srgbClr val="9A430A"/>
                          </a:solidFill>
                          <a:latin typeface="Courier New" pitchFamily="34" charset="0"/>
                          <a:ea typeface="Courier New" pitchFamily="34" charset="-122"/>
                          <a:cs typeface="Courier New" pitchFamily="34" charset="-120"/>
                        </a:rPr>
                        <a:t>while</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the number of passes is not known</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read until the sentinel; search until found</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9A430A"/>
                          </a:solidFill>
                          <a:latin typeface="Courier New" pitchFamily="34" charset="0"/>
                          <a:ea typeface="Courier New" pitchFamily="34" charset="-122"/>
                          <a:cs typeface="Courier New" pitchFamily="34" charset="-120"/>
                        </a:rPr>
                        <a:t>do-while</a:t>
                      </a:r>
                      <a:endParaRPr lang="en-US" sz="125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the body must run at least once</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050" dirty="0">
                          <a:solidFill>
                            <a:srgbClr val="4B6377"/>
                          </a:solidFill>
                          <a:latin typeface="Calibri" pitchFamily="34" charset="0"/>
                          <a:ea typeface="Calibri" pitchFamily="34" charset="-122"/>
                          <a:cs typeface="Calibri" pitchFamily="34" charset="-120"/>
                        </a:rPr>
                        <a:t>prompt for input; show a menu</a:t>
                      </a:r>
                      <a:endParaRPr lang="en-US" sz="10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bl>
          </a:graphicData>
        </a:graphic>
      </p:graphicFrame>
      <p:sp>
        <p:nvSpPr>
          <p:cNvPr id="8" name="Shape 5"/>
          <p:cNvSpPr/>
          <p:nvPr/>
        </p:nvSpPr>
        <p:spPr>
          <a:xfrm>
            <a:off x="566928" y="3867912"/>
            <a:ext cx="5943600" cy="1057046"/>
          </a:xfrm>
          <a:prstGeom prst="roundRect">
            <a:avLst>
              <a:gd name="adj" fmla="val 6055"/>
            </a:avLst>
          </a:prstGeom>
          <a:solidFill>
            <a:srgbClr val="EDF2F7"/>
          </a:solidFill>
          <a:ln w="12700">
            <a:solidFill>
              <a:srgbClr val="CFDBE5"/>
            </a:solidFill>
            <a:prstDash val="solid"/>
          </a:ln>
        </p:spPr>
      </p:sp>
      <p:sp>
        <p:nvSpPr>
          <p:cNvPr id="9" name="Text 6"/>
          <p:cNvSpPr txBox="1"/>
          <p:nvPr/>
        </p:nvSpPr>
        <p:spPr>
          <a:xfrm>
            <a:off x="713232" y="3913632"/>
            <a:ext cx="56509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A while IS ALWAYS A for WITH TWO PARTS MISSING</a:t>
            </a:r>
            <a:endParaRPr lang="en-US" sz="950" dirty="0"/>
          </a:p>
        </p:txBody>
      </p:sp>
      <p:sp>
        <p:nvSpPr>
          <p:cNvPr id="10" name="Text 7"/>
          <p:cNvSpPr txBox="1"/>
          <p:nvPr/>
        </p:nvSpPr>
        <p:spPr>
          <a:xfrm>
            <a:off x="731520" y="4142232"/>
            <a:ext cx="5614416" cy="727862"/>
          </a:xfrm>
          <a:prstGeom prst="rect">
            <a:avLst/>
          </a:prstGeom>
          <a:noFill/>
          <a:ln/>
        </p:spPr>
        <p:txBody>
          <a:bodyPr wrap="square" lIns="0" tIns="0" rIns="0" bIns="0" rtlCol="0" anchor="t"/>
          <a:lstStyle/>
          <a:p>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condition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condition</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body</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body</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33485C"/>
                </a:solidFill>
                <a:latin typeface="Courier New" pitchFamily="34" charset="0"/>
                <a:ea typeface="Courier New" pitchFamily="34" charset="-122"/>
                <a:cs typeface="Courier New" pitchFamily="34" charset="-120"/>
              </a:rPr>
              <a:t>}</a:t>
            </a:r>
            <a:endParaRPr lang="en-US" sz="1000" dirty="0"/>
          </a:p>
        </p:txBody>
      </p:sp>
      <p:sp>
        <p:nvSpPr>
          <p:cNvPr id="11" name="Shape 8"/>
          <p:cNvSpPr/>
          <p:nvPr/>
        </p:nvSpPr>
        <p:spPr>
          <a:xfrm>
            <a:off x="566928" y="5144414"/>
            <a:ext cx="5943600" cy="1143000"/>
          </a:xfrm>
          <a:prstGeom prst="roundRect">
            <a:avLst>
              <a:gd name="adj" fmla="val 7200"/>
            </a:avLst>
          </a:prstGeom>
          <a:solidFill>
            <a:srgbClr val="FBEAE8"/>
          </a:solidFill>
          <a:ln w="12700">
            <a:solidFill>
              <a:srgbClr val="FBEAE8"/>
            </a:solidFill>
            <a:prstDash val="solid"/>
          </a:ln>
        </p:spPr>
      </p:sp>
      <p:sp>
        <p:nvSpPr>
          <p:cNvPr id="12" name="Text 9"/>
          <p:cNvSpPr txBox="1"/>
          <p:nvPr/>
        </p:nvSpPr>
        <p:spPr>
          <a:xfrm>
            <a:off x="822960" y="5254142"/>
            <a:ext cx="543153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The one case where they are not interchangeable</a:t>
            </a:r>
            <a:endParaRPr lang="en-US" sz="1350" dirty="0"/>
          </a:p>
        </p:txBody>
      </p:sp>
      <p:sp>
        <p:nvSpPr>
          <p:cNvPr id="13" name="Text 10"/>
          <p:cNvSpPr txBox="1"/>
          <p:nvPr/>
        </p:nvSpPr>
        <p:spPr>
          <a:xfrm>
            <a:off x="822960" y="5546750"/>
            <a:ext cx="5431536" cy="713232"/>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 continue inside a for still runs the step before the next test. The same continue in the equivalent while skips the update — and the loop never ends. Slide 30.</a:t>
            </a:r>
            <a:endParaRPr lang="en-US" sz="1200" dirty="0"/>
          </a:p>
        </p:txBody>
      </p:sp>
      <p:sp>
        <p:nvSpPr>
          <p:cNvPr id="14" name="Shape 11"/>
          <p:cNvSpPr/>
          <p:nvPr/>
        </p:nvSpPr>
        <p:spPr>
          <a:xfrm>
            <a:off x="6967728" y="1536192"/>
            <a:ext cx="4657039" cy="1463040"/>
          </a:xfrm>
          <a:prstGeom prst="roundRect">
            <a:avLst>
              <a:gd name="adj" fmla="val 5625"/>
            </a:avLst>
          </a:prstGeom>
          <a:solidFill>
            <a:srgbClr val="E4ECF4"/>
          </a:solidFill>
          <a:ln w="12700">
            <a:solidFill>
              <a:srgbClr val="E4ECF4"/>
            </a:solidFill>
            <a:prstDash val="solid"/>
          </a:ln>
        </p:spPr>
      </p:sp>
      <p:sp>
        <p:nvSpPr>
          <p:cNvPr id="15" name="Text 12"/>
          <p:cNvSpPr txBox="1"/>
          <p:nvPr/>
        </p:nvSpPr>
        <p:spPr>
          <a:xfrm>
            <a:off x="7187184" y="1700784"/>
            <a:ext cx="4218127" cy="310896"/>
          </a:xfrm>
          <a:prstGeom prst="rect">
            <a:avLst/>
          </a:prstGeom>
          <a:noFill/>
          <a:ln/>
        </p:spPr>
        <p:txBody>
          <a:bodyPr wrap="square" lIns="0" tIns="0" rIns="0" bIns="0" rtlCol="0" anchor="t"/>
          <a:lstStyle/>
          <a:p>
            <a:pPr indent="0" marL="0">
              <a:buNone/>
            </a:pPr>
            <a:r>
              <a:rPr lang="en-US" sz="1500" b="1" dirty="0">
                <a:solidFill>
                  <a:srgbClr val="0F2942"/>
                </a:solidFill>
                <a:latin typeface="Calibri" pitchFamily="34" charset="0"/>
                <a:ea typeface="Calibri" pitchFamily="34" charset="-122"/>
                <a:cs typeface="Calibri" pitchFamily="34" charset="-120"/>
              </a:rPr>
              <a:t>The practical advice</a:t>
            </a:r>
            <a:endParaRPr lang="en-US" sz="1500" dirty="0"/>
          </a:p>
        </p:txBody>
      </p:sp>
      <p:sp>
        <p:nvSpPr>
          <p:cNvPr id="16" name="Text 13"/>
          <p:cNvSpPr txBox="1"/>
          <p:nvPr/>
        </p:nvSpPr>
        <p:spPr>
          <a:xfrm>
            <a:off x="7187184" y="2029968"/>
            <a:ext cx="4218127" cy="8412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Use the one whose shape matches the problem, and be consistent. A reader who sees a for expects a known number of passes; surprising them costs more than the keystrokes you saved.</a:t>
            </a:r>
            <a:endParaRPr lang="en-US" sz="1200" dirty="0"/>
          </a:p>
        </p:txBody>
      </p:sp>
      <p:sp>
        <p:nvSpPr>
          <p:cNvPr id="17" name="Shape 14"/>
          <p:cNvSpPr/>
          <p:nvPr/>
        </p:nvSpPr>
        <p:spPr>
          <a:xfrm>
            <a:off x="6967728" y="3182112"/>
            <a:ext cx="4657039" cy="1828800"/>
          </a:xfrm>
          <a:prstGeom prst="roundRect">
            <a:avLst>
              <a:gd name="adj" fmla="val 4500"/>
            </a:avLst>
          </a:prstGeom>
          <a:solidFill>
            <a:srgbClr val="F1F5F9"/>
          </a:solidFill>
          <a:ln w="12700">
            <a:solidFill>
              <a:srgbClr val="F1F5F9"/>
            </a:solidFill>
            <a:prstDash val="solid"/>
          </a:ln>
        </p:spPr>
      </p:sp>
      <p:sp>
        <p:nvSpPr>
          <p:cNvPr id="7" name="Text 15"/>
          <p:cNvSpPr txBox="1"/>
          <p:nvPr/>
        </p:nvSpPr>
        <p:spPr>
          <a:xfrm>
            <a:off x="7187184" y="3346704"/>
            <a:ext cx="421812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Two more forms you will meet later</a:t>
            </a:r>
            <a:endParaRPr lang="en-US" sz="1450" dirty="0"/>
          </a:p>
        </p:txBody>
      </p:sp>
      <p:sp>
        <p:nvSpPr>
          <p:cNvPr id="19" name="Text 16"/>
          <p:cNvSpPr txBox="1"/>
          <p:nvPr/>
        </p:nvSpPr>
        <p:spPr>
          <a:xfrm>
            <a:off x="7223760" y="3675888"/>
            <a:ext cx="4199839" cy="1207008"/>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3A536B"/>
                </a:solidFill>
                <a:latin typeface="Calibri" pitchFamily="34" charset="0"/>
                <a:ea typeface="Calibri" pitchFamily="34" charset="-122"/>
                <a:cs typeface="Calibri" pitchFamily="34" charset="-120"/>
              </a:rPr>
              <a:t>The enhanced for — for (int x : numbers) — walks a collection without a counter. It arrives with arrays in Chapter 7.</a:t>
            </a:r>
            <a:endParaRPr lang="en-US" sz="1150" dirty="0"/>
          </a:p>
          <a:p>
            <a:pPr marL="177800" indent="-177800">
              <a:spcAft>
                <a:spcPts val="400"/>
              </a:spcAft>
              <a:buSzPct val="100000"/>
              <a:buChar char="•"/>
            </a:pPr>
            <a:r>
              <a:rPr lang="en-US" sz="1150" dirty="0">
                <a:solidFill>
                  <a:srgbClr val="3A536B"/>
                </a:solidFill>
                <a:latin typeface="Calibri" pitchFamily="34" charset="0"/>
                <a:ea typeface="Calibri" pitchFamily="34" charset="-122"/>
                <a:cs typeface="Calibri" pitchFamily="34" charset="-120"/>
              </a:rPr>
              <a:t>IntStream.range(0, 100).forEach(...) — the same idea again, from Java 8. Neither is examinable this semester.</a:t>
            </a:r>
            <a:endParaRPr lang="en-US" sz="1150" dirty="0"/>
          </a:p>
        </p:txBody>
      </p:sp>
      <p:sp>
        <p:nvSpPr>
          <p:cNvPr id="20" name="Shape 17"/>
          <p:cNvSpPr/>
          <p:nvPr/>
        </p:nvSpPr>
        <p:spPr>
          <a:xfrm>
            <a:off x="6967728" y="5148072"/>
            <a:ext cx="4657039" cy="1143000"/>
          </a:xfrm>
          <a:prstGeom prst="roundRect">
            <a:avLst>
              <a:gd name="adj" fmla="val 7200"/>
            </a:avLst>
          </a:prstGeom>
          <a:solidFill>
            <a:srgbClr val="FBEEE0"/>
          </a:solidFill>
          <a:ln w="12700">
            <a:solidFill>
              <a:srgbClr val="FBEEE0"/>
            </a:solidFill>
            <a:prstDash val="solid"/>
          </a:ln>
        </p:spPr>
      </p:sp>
      <p:sp>
        <p:nvSpPr>
          <p:cNvPr id="21" name="Text 18"/>
          <p:cNvSpPr txBox="1"/>
          <p:nvPr/>
        </p:nvSpPr>
        <p:spPr>
          <a:xfrm>
            <a:off x="7242048" y="5148072"/>
            <a:ext cx="4108399" cy="1143000"/>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A note on the textbook: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Liang's cross-reference here points at a review question in the selections chapter. The special case he means is the continue rule above.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2</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12–17</a:t>
            </a:r>
            <a:endParaRPr lang="en-US" sz="1250" dirty="0"/>
          </a:p>
        </p:txBody>
      </p:sp>
      <p:sp>
        <p:nvSpPr>
          <p:cNvPr id="5" name="Shape 3"/>
          <p:cNvSpPr/>
          <p:nvPr/>
        </p:nvSpPr>
        <p:spPr>
          <a:xfrm>
            <a:off x="566928" y="1775582"/>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2013326"/>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201332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94017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Which loop form would you use to show a menu and act on the choice, and why?</a:t>
            </a:r>
            <a:endParaRPr lang="en-US" sz="1550" dirty="0"/>
          </a:p>
        </p:txBody>
      </p:sp>
      <p:sp>
        <p:nvSpPr>
          <p:cNvPr id="9" name="Shape 7"/>
          <p:cNvSpPr/>
          <p:nvPr/>
        </p:nvSpPr>
        <p:spPr>
          <a:xfrm>
            <a:off x="566928" y="2955158"/>
            <a:ext cx="11057839" cy="1916948"/>
          </a:xfrm>
          <a:prstGeom prst="roundRect">
            <a:avLst>
              <a:gd name="adj" fmla="val 4293"/>
            </a:avLst>
          </a:prstGeom>
          <a:solidFill>
            <a:srgbClr val="FFFFFF"/>
          </a:solidFill>
          <a:ln w="12700">
            <a:solidFill>
              <a:srgbClr val="D3DEE7"/>
            </a:solidFill>
            <a:prstDash val="solid"/>
          </a:ln>
        </p:spPr>
      </p:sp>
      <p:sp>
        <p:nvSpPr>
          <p:cNvPr id="10" name="Shape 8"/>
          <p:cNvSpPr/>
          <p:nvPr/>
        </p:nvSpPr>
        <p:spPr>
          <a:xfrm>
            <a:off x="841248" y="3192902"/>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319290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311975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does this print? Count carefully.</a:t>
            </a:r>
            <a:endParaRPr lang="en-US" sz="1550" dirty="0"/>
          </a:p>
        </p:txBody>
      </p:sp>
      <p:sp>
        <p:nvSpPr>
          <p:cNvPr id="13" name="Shape 11"/>
          <p:cNvSpPr/>
          <p:nvPr/>
        </p:nvSpPr>
        <p:spPr>
          <a:xfrm>
            <a:off x="1435608" y="3595238"/>
            <a:ext cx="6949440" cy="755660"/>
          </a:xfrm>
          <a:prstGeom prst="roundRect">
            <a:avLst>
              <a:gd name="adj" fmla="val 8470"/>
            </a:avLst>
          </a:prstGeom>
          <a:solidFill>
            <a:srgbClr val="EDF2F7"/>
          </a:solidFill>
          <a:ln w="12700">
            <a:solidFill>
              <a:srgbClr val="CFDBE5"/>
            </a:solidFill>
            <a:prstDash val="solid"/>
          </a:ln>
        </p:spPr>
      </p:sp>
      <p:sp>
        <p:nvSpPr>
          <p:cNvPr id="14" name="Text 12"/>
          <p:cNvSpPr txBox="1"/>
          <p:nvPr/>
        </p:nvSpPr>
        <p:spPr>
          <a:xfrm>
            <a:off x="1600200" y="3732398"/>
            <a:ext cx="6620256" cy="554492"/>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091562"/>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329306"/>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32930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25615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A do-while ends with a semicolon and a for must not. Why does one need it and the other not?</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02</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Nested Loops</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and Accuracy</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Loops inside loops, and the arithmetic that quietly goes wrong inside them.</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02</a:t>
            </a:r>
            <a:endParaRPr lang="en-US" sz="13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LOOP 05</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Nested Loops — the Multiplication Table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loop is a statement, so a loop can be the body of another loop. The inner one finishes completely on every pass of the outer one.</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20</a:t>
            </a:r>
            <a:endParaRPr lang="en-US" sz="900" dirty="0"/>
          </a:p>
        </p:txBody>
      </p:sp>
      <p:sp>
        <p:nvSpPr>
          <p:cNvPr id="7" name="Shape 5"/>
          <p:cNvSpPr/>
          <p:nvPr/>
        </p:nvSpPr>
        <p:spPr>
          <a:xfrm>
            <a:off x="566928" y="1536192"/>
            <a:ext cx="5943600" cy="3034345"/>
          </a:xfrm>
          <a:prstGeom prst="roundRect">
            <a:avLst>
              <a:gd name="adj" fmla="val 2109"/>
            </a:avLst>
          </a:prstGeom>
          <a:solidFill>
            <a:srgbClr val="EDF2F7"/>
          </a:solidFill>
          <a:ln w="12700">
            <a:solidFill>
              <a:srgbClr val="CFDBE5"/>
            </a:solidFill>
            <a:prstDash val="solid"/>
          </a:ln>
        </p:spPr>
      </p:sp>
      <p:sp>
        <p:nvSpPr>
          <p:cNvPr id="8" name="Text 6"/>
          <p:cNvSpPr txBox="1"/>
          <p:nvPr/>
        </p:nvSpPr>
        <p:spPr>
          <a:xfrm>
            <a:off x="713232" y="1581912"/>
            <a:ext cx="565099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MultiplicationTable.java</a:t>
            </a:r>
            <a:endParaRPr lang="en-US" sz="950" dirty="0"/>
          </a:p>
        </p:txBody>
      </p:sp>
      <p:sp>
        <p:nvSpPr>
          <p:cNvPr id="9" name="Text 7"/>
          <p:cNvSpPr txBox="1"/>
          <p:nvPr/>
        </p:nvSpPr>
        <p:spPr>
          <a:xfrm>
            <a:off x="731520" y="1810512"/>
            <a:ext cx="5614416" cy="2705161"/>
          </a:xfrm>
          <a:prstGeom prst="rect">
            <a:avLst/>
          </a:prstGeom>
          <a:noFill/>
          <a:ln/>
        </p:spPr>
        <p:txBody>
          <a:bodyPr wrap="square" lIns="0" tIns="0" rIns="0" bIns="0" rtlCol="0" anchor="t"/>
          <a:lstStyle/>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Multiplication Table"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printf</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"%4d"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repeat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40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each row</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printf</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"%2d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9</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each column</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printf</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"%4d"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end the row</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566928" y="4826569"/>
            <a:ext cx="5943600" cy="1325880"/>
          </a:xfrm>
          <a:prstGeom prst="roundRect">
            <a:avLst>
              <a:gd name="adj" fmla="val 6207"/>
            </a:avLst>
          </a:prstGeom>
          <a:solidFill>
            <a:srgbClr val="FBEEE0"/>
          </a:solidFill>
          <a:ln w="12700">
            <a:solidFill>
              <a:srgbClr val="FBEEE0"/>
            </a:solidFill>
            <a:prstDash val="solid"/>
          </a:ln>
        </p:spPr>
      </p:sp>
      <p:sp>
        <p:nvSpPr>
          <p:cNvPr id="11" name="Text 9"/>
          <p:cNvSpPr txBox="1"/>
          <p:nvPr/>
        </p:nvSpPr>
        <p:spPr>
          <a:xfrm>
            <a:off x="841248" y="4826569"/>
            <a:ext cx="5394960" cy="1325880"/>
          </a:xfrm>
          <a:prstGeom prst="rect">
            <a:avLst/>
          </a:prstGeom>
          <a:noFill/>
          <a:ln/>
        </p:spPr>
        <p:txBody>
          <a:bodyPr wrap="square" lIns="0" tIns="0" rIns="0" bIns="0" rtlCol="0" anchor="ctr"/>
          <a:lstStyle/>
          <a:p>
            <a:pPr indent="0" marL="0">
              <a:lnSpc>
                <a:spcPct val="112000"/>
              </a:lnSpc>
              <a:buNone/>
            </a:pPr>
            <a:r>
              <a:rPr lang="en-US" sz="1250" b="1" dirty="0">
                <a:solidFill>
                  <a:srgbClr val="9A430A"/>
                </a:solidFill>
                <a:latin typeface="Calibri" pitchFamily="34" charset="0"/>
                <a:ea typeface="Calibri" pitchFamily="34" charset="-122"/>
                <a:cs typeface="Calibri" pitchFamily="34" charset="-120"/>
              </a:rPr>
              <a:t>The println() with nothing in it is the whole trick.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It sits between the two loops: after the inner loop finishes a row, before the outer loop starts the next one.</a:t>
            </a:r>
            <a:endParaRPr lang="en-US" sz="1250" dirty="0"/>
          </a:p>
        </p:txBody>
      </p:sp>
      <p:sp>
        <p:nvSpPr>
          <p:cNvPr id="12" name="Shape 10"/>
          <p:cNvSpPr/>
          <p:nvPr/>
        </p:nvSpPr>
        <p:spPr>
          <a:xfrm>
            <a:off x="6967728" y="1536192"/>
            <a:ext cx="4657039" cy="1769364"/>
          </a:xfrm>
          <a:prstGeom prst="roundRect">
            <a:avLst>
              <a:gd name="adj" fmla="val 3618"/>
            </a:avLst>
          </a:prstGeom>
          <a:solidFill>
            <a:srgbClr val="FFFFFF"/>
          </a:solidFill>
          <a:ln w="12700">
            <a:solidFill>
              <a:srgbClr val="4B6377"/>
            </a:solidFill>
            <a:prstDash val="solid"/>
          </a:ln>
        </p:spPr>
      </p:sp>
      <p:sp>
        <p:nvSpPr>
          <p:cNvPr id="13" name="Text 11"/>
          <p:cNvSpPr txBox="1"/>
          <p:nvPr/>
        </p:nvSpPr>
        <p:spPr>
          <a:xfrm>
            <a:off x="7114032" y="1609344"/>
            <a:ext cx="43644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4" name="Text 12"/>
          <p:cNvSpPr txBox="1"/>
          <p:nvPr/>
        </p:nvSpPr>
        <p:spPr>
          <a:xfrm>
            <a:off x="7114032" y="1810512"/>
            <a:ext cx="4364431" cy="1403604"/>
          </a:xfrm>
          <a:prstGeom prst="rect">
            <a:avLst/>
          </a:prstGeom>
          <a:noFill/>
          <a:ln/>
        </p:spPr>
        <p:txBody>
          <a:bodyPr wrap="square" lIns="0" tIns="0" rIns="0" bIns="0" rtlCol="0" anchor="t"/>
          <a:lstStyle/>
          <a:p>
            <a:pPr indent="0" marL="0">
              <a:lnSpc>
                <a:spcPct val="110000"/>
              </a:lnSpc>
              <a:buNone/>
            </a:pPr>
            <a:r>
              <a:rPr lang="en-US" sz="1000" dirty="0">
                <a:solidFill>
                  <a:srgbClr val="0F2942"/>
                </a:solidFill>
                <a:latin typeface="Courier New" pitchFamily="34" charset="0"/>
                <a:ea typeface="Courier New" pitchFamily="34" charset="-122"/>
                <a:cs typeface="Courier New" pitchFamily="34" charset="-120"/>
              </a:rPr>
              <a:t>      Multiplication Table</a:t>
            </a:r>
            <a:endParaRPr lang="en-US" sz="1000" dirty="0"/>
          </a:p>
          <a:p>
            <a:pPr indent="0" marL="0">
              <a:lnSpc>
                <a:spcPct val="110000"/>
              </a:lnSpc>
              <a:buNone/>
            </a:pPr>
            <a:r>
              <a:rPr lang="en-US" sz="1000" dirty="0">
                <a:solidFill>
                  <a:srgbClr val="0F2942"/>
                </a:solidFill>
                <a:latin typeface="Courier New" pitchFamily="34" charset="0"/>
                <a:ea typeface="Courier New" pitchFamily="34" charset="-122"/>
                <a:cs typeface="Courier New" pitchFamily="34" charset="-120"/>
              </a:rPr>
              <a:t>       1   2   3   4   5   6   7   8   9</a:t>
            </a:r>
            <a:endParaRPr lang="en-US" sz="1000" dirty="0"/>
          </a:p>
          <a:p>
            <a:pPr indent="0" marL="0">
              <a:lnSpc>
                <a:spcPct val="110000"/>
              </a:lnSpc>
              <a:buNone/>
            </a:pPr>
            <a:r>
              <a:rPr lang="en-US" sz="1000" dirty="0">
                <a:solidFill>
                  <a:srgbClr val="0F2942"/>
                </a:solidFill>
                <a:latin typeface="Courier New" pitchFamily="34" charset="0"/>
                <a:ea typeface="Courier New" pitchFamily="34" charset="-122"/>
                <a:cs typeface="Courier New" pitchFamily="34" charset="-120"/>
              </a:rPr>
              <a:t> 1 |   1   2   3   4   5   6   7   8   9</a:t>
            </a:r>
            <a:endParaRPr lang="en-US" sz="1000" dirty="0"/>
          </a:p>
          <a:p>
            <a:pPr indent="0" marL="0">
              <a:lnSpc>
                <a:spcPct val="110000"/>
              </a:lnSpc>
              <a:buNone/>
            </a:pPr>
            <a:r>
              <a:rPr lang="en-US" sz="1000" dirty="0">
                <a:solidFill>
                  <a:srgbClr val="0F2942"/>
                </a:solidFill>
                <a:latin typeface="Courier New" pitchFamily="34" charset="0"/>
                <a:ea typeface="Courier New" pitchFamily="34" charset="-122"/>
                <a:cs typeface="Courier New" pitchFamily="34" charset="-120"/>
              </a:rPr>
              <a:t> 2 |   2   4   6   8  10  12  14  16  18</a:t>
            </a:r>
            <a:endParaRPr lang="en-US" sz="1000" dirty="0"/>
          </a:p>
          <a:p>
            <a:pPr indent="0" marL="0">
              <a:lnSpc>
                <a:spcPct val="110000"/>
              </a:lnSpc>
              <a:buNone/>
            </a:pPr>
            <a:r>
              <a:rPr lang="en-US" sz="1000" dirty="0">
                <a:solidFill>
                  <a:srgbClr val="0F2942"/>
                </a:solidFill>
                <a:latin typeface="Courier New" pitchFamily="34" charset="0"/>
                <a:ea typeface="Courier New" pitchFamily="34" charset="-122"/>
                <a:cs typeface="Courier New" pitchFamily="34" charset="-120"/>
              </a:rPr>
              <a:t> 3 |   3   6   9  12  15  18  21  24  27</a:t>
            </a:r>
            <a:endParaRPr lang="en-US" sz="1000" dirty="0"/>
          </a:p>
          <a:p>
            <a:pPr indent="0" marL="0">
              <a:lnSpc>
                <a:spcPct val="110000"/>
              </a:lnSpc>
              <a:buNone/>
            </a:pPr>
            <a:r>
              <a:rPr lang="en-US" sz="1000" dirty="0">
                <a:solidFill>
                  <a:srgbClr val="0F2942"/>
                </a:solidFill>
                <a:latin typeface="Courier New" pitchFamily="34" charset="0"/>
                <a:ea typeface="Courier New" pitchFamily="34" charset="-122"/>
                <a:cs typeface="Courier New" pitchFamily="34" charset="-120"/>
              </a:rPr>
              <a:t>            ...</a:t>
            </a:r>
            <a:endParaRPr lang="en-US" sz="1000" dirty="0"/>
          </a:p>
          <a:p>
            <a:pPr indent="0" marL="0">
              <a:lnSpc>
                <a:spcPct val="110000"/>
              </a:lnSpc>
              <a:buNone/>
            </a:pPr>
            <a:r>
              <a:rPr lang="en-US" sz="1000" dirty="0">
                <a:solidFill>
                  <a:srgbClr val="0F2942"/>
                </a:solidFill>
                <a:latin typeface="Courier New" pitchFamily="34" charset="0"/>
                <a:ea typeface="Courier New" pitchFamily="34" charset="-122"/>
                <a:cs typeface="Courier New" pitchFamily="34" charset="-120"/>
              </a:rPr>
              <a:t> 9 |   9  18  27  36  45  54  63  72  81</a:t>
            </a:r>
            <a:endParaRPr lang="en-US" sz="1000" dirty="0"/>
          </a:p>
        </p:txBody>
      </p:sp>
      <p:sp>
        <p:nvSpPr>
          <p:cNvPr id="15" name="Shape 13"/>
          <p:cNvSpPr/>
          <p:nvPr/>
        </p:nvSpPr>
        <p:spPr>
          <a:xfrm>
            <a:off x="6967728" y="3867912"/>
            <a:ext cx="4657039" cy="1645920"/>
          </a:xfrm>
          <a:prstGeom prst="roundRect">
            <a:avLst>
              <a:gd name="adj" fmla="val 5000"/>
            </a:avLst>
          </a:prstGeom>
          <a:solidFill>
            <a:srgbClr val="F1F5F9"/>
          </a:solidFill>
          <a:ln w="12700">
            <a:solidFill>
              <a:srgbClr val="F1F5F9"/>
            </a:solidFill>
            <a:prstDash val="solid"/>
          </a:ln>
        </p:spPr>
      </p:sp>
      <p:sp>
        <p:nvSpPr>
          <p:cNvPr id="16" name="Text 14"/>
          <p:cNvSpPr txBox="1"/>
          <p:nvPr/>
        </p:nvSpPr>
        <p:spPr>
          <a:xfrm>
            <a:off x="7187184" y="4032504"/>
            <a:ext cx="421812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Two different variables, two different jobs</a:t>
            </a:r>
            <a:endParaRPr lang="en-US" sz="1450" dirty="0"/>
          </a:p>
        </p:txBody>
      </p:sp>
      <p:sp>
        <p:nvSpPr>
          <p:cNvPr id="17" name="Text 15"/>
          <p:cNvSpPr txBox="1"/>
          <p:nvPr/>
        </p:nvSpPr>
        <p:spPr>
          <a:xfrm>
            <a:off x="7187184" y="4361688"/>
            <a:ext cx="4218127" cy="10241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i names the row and changes 9 times. j names the column and changes 9 times per row — 81 in total. Reusing i for both is the classic nested-loop bug: the inner loop destroys the outer loop's counter.</a:t>
            </a:r>
            <a:endParaRPr lang="en-US" sz="1200" dirty="0"/>
          </a:p>
        </p:txBody>
      </p:sp>
      <p:sp>
        <p:nvSpPr>
          <p:cNvPr id="18" name="Shape 16"/>
          <p:cNvSpPr/>
          <p:nvPr/>
        </p:nvSpPr>
        <p:spPr>
          <a:xfrm>
            <a:off x="6967728" y="5650992"/>
            <a:ext cx="4657039" cy="685800"/>
          </a:xfrm>
          <a:prstGeom prst="roundRect">
            <a:avLst>
              <a:gd name="adj" fmla="val 12000"/>
            </a:avLst>
          </a:prstGeom>
          <a:solidFill>
            <a:srgbClr val="E4ECF4"/>
          </a:solidFill>
          <a:ln w="12700">
            <a:solidFill>
              <a:srgbClr val="E4ECF4"/>
            </a:solidFill>
            <a:prstDash val="solid"/>
          </a:ln>
        </p:spPr>
      </p:sp>
      <p:sp>
        <p:nvSpPr>
          <p:cNvPr id="19" name="Text 17"/>
          <p:cNvSpPr txBox="1"/>
          <p:nvPr/>
        </p:nvSpPr>
        <p:spPr>
          <a:xfrm>
            <a:off x="7242048" y="5650992"/>
            <a:ext cx="4108399" cy="685800"/>
          </a:xfrm>
          <a:prstGeom prst="rect">
            <a:avLst/>
          </a:prstGeom>
          <a:noFill/>
          <a:ln/>
        </p:spPr>
        <p:txBody>
          <a:bodyPr wrap="square" lIns="0" tIns="0" rIns="0" bIns="0" rtlCol="0" anchor="ctr"/>
          <a:lstStyle/>
          <a:p>
            <a:pPr indent="0" marL="0">
              <a:buNone/>
            </a:pPr>
            <a:r>
              <a:rPr lang="en-US" sz="1200" b="1" dirty="0">
                <a:solidFill>
                  <a:srgbClr val="9A430A"/>
                </a:solidFill>
                <a:latin typeface="Courier New" pitchFamily="34" charset="0"/>
                <a:ea typeface="Courier New" pitchFamily="34" charset="-122"/>
                <a:cs typeface="Courier New" pitchFamily="34" charset="-120"/>
              </a:rPr>
              <a:t>%4d</a:t>
            </a:r>
            <a:pPr indent="0" marL="0">
              <a:buNone/>
            </a:pPr>
            <a:r>
              <a:rPr lang="en-US" sz="1200" dirty="0">
                <a:solidFill>
                  <a:srgbClr val="3A536B"/>
                </a:solidFill>
                <a:latin typeface="Calibri" pitchFamily="34" charset="0"/>
                <a:ea typeface="Calibri" pitchFamily="34" charset="-122"/>
                <a:cs typeface="Calibri" pitchFamily="34" charset="-120"/>
              </a:rPr>
              <a:t> prints an integer in a field four characters wide — which is what lines the columns up.</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LOOP 05</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Nesting Multiplies the Work</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Two loops of n passes each is not 2n passes. It is n².</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5486400" cy="914400"/>
        </p:xfrm>
        <a:graphic>
          <a:graphicData uri="http://schemas.openxmlformats.org/drawingml/2006/table">
            <a:tbl>
              <a:tblPr/>
              <a:tblGrid>
                <a:gridCol w="877824"/>
                <a:gridCol w="1207008"/>
                <a:gridCol w="1536192"/>
                <a:gridCol w="1865376"/>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One loop</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Two nested</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Three nested</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45720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10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5720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1,000,000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1,000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1,000,000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1,000,000,000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45720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10,000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100,000,000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9C241C"/>
                          </a:solidFill>
                          <a:latin typeface="Courier New" pitchFamily="34" charset="0"/>
                          <a:ea typeface="Courier New" pitchFamily="34" charset="-122"/>
                          <a:cs typeface="Courier New" pitchFamily="34" charset="-120"/>
                        </a:rPr>
                        <a:t>a very long lunch</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4142232"/>
            <a:ext cx="5486400" cy="1417320"/>
          </a:xfrm>
          <a:prstGeom prst="roundRect">
            <a:avLst>
              <a:gd name="adj" fmla="val 5806"/>
            </a:avLst>
          </a:prstGeom>
          <a:solidFill>
            <a:srgbClr val="E4ECF4"/>
          </a:solidFill>
          <a:ln w="12700">
            <a:solidFill>
              <a:srgbClr val="E4ECF4"/>
            </a:solidFill>
            <a:prstDash val="solid"/>
          </a:ln>
        </p:spPr>
      </p:sp>
      <p:sp>
        <p:nvSpPr>
          <p:cNvPr id="9" name="Text 6"/>
          <p:cNvSpPr txBox="1"/>
          <p:nvPr/>
        </p:nvSpPr>
        <p:spPr>
          <a:xfrm>
            <a:off x="841248" y="4279392"/>
            <a:ext cx="4937760"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Why this matters in week two</a:t>
            </a:r>
            <a:endParaRPr lang="en-US" sz="1350" dirty="0"/>
          </a:p>
        </p:txBody>
      </p:sp>
      <p:sp>
        <p:nvSpPr>
          <p:cNvPr id="10" name="Text 7"/>
          <p:cNvSpPr txBox="1"/>
          <p:nvPr/>
        </p:nvSpPr>
        <p:spPr>
          <a:xfrm>
            <a:off x="841248" y="4590288"/>
            <a:ext cx="4937760" cy="91440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Nothing you write this semester will be slow enough to notice. But the habit of asking 'how many times does the innermost line actually run?' is the whole of algorithm analysis, and you may as well start now.</a:t>
            </a:r>
            <a:endParaRPr lang="en-US" sz="1200" dirty="0"/>
          </a:p>
        </p:txBody>
      </p:sp>
      <p:sp>
        <p:nvSpPr>
          <p:cNvPr id="11" name="Shape 8"/>
          <p:cNvSpPr/>
          <p:nvPr/>
        </p:nvSpPr>
        <p:spPr>
          <a:xfrm>
            <a:off x="6510528" y="1536192"/>
            <a:ext cx="5114239" cy="1638605"/>
          </a:xfrm>
          <a:prstGeom prst="roundRect">
            <a:avLst>
              <a:gd name="adj" fmla="val 3906"/>
            </a:avLst>
          </a:prstGeom>
          <a:solidFill>
            <a:srgbClr val="EDF2F7"/>
          </a:solidFill>
          <a:ln w="12700">
            <a:solidFill>
              <a:srgbClr val="CFDBE5"/>
            </a:solidFill>
            <a:prstDash val="solid"/>
          </a:ln>
        </p:spPr>
      </p:sp>
      <p:sp>
        <p:nvSpPr>
          <p:cNvPr id="12" name="Text 9"/>
          <p:cNvSpPr txBox="1"/>
          <p:nvPr/>
        </p:nvSpPr>
        <p:spPr>
          <a:xfrm>
            <a:off x="6656832" y="1581912"/>
            <a:ext cx="48216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INNER BOUND CAN DEPEND ON THE OUTER</a:t>
            </a:r>
            <a:endParaRPr lang="en-US" sz="950" dirty="0"/>
          </a:p>
        </p:txBody>
      </p:sp>
      <p:sp>
        <p:nvSpPr>
          <p:cNvPr id="13" name="Text 10"/>
          <p:cNvSpPr txBox="1"/>
          <p:nvPr/>
        </p:nvSpPr>
        <p:spPr>
          <a:xfrm>
            <a:off x="6675120" y="1810512"/>
            <a:ext cx="4785055" cy="1309421"/>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4</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4" name="Shape 11"/>
          <p:cNvSpPr/>
          <p:nvPr/>
        </p:nvSpPr>
        <p:spPr>
          <a:xfrm>
            <a:off x="6510528" y="3412541"/>
            <a:ext cx="5114239" cy="1356970"/>
          </a:xfrm>
          <a:prstGeom prst="roundRect">
            <a:avLst>
              <a:gd name="adj" fmla="val 4717"/>
            </a:avLst>
          </a:prstGeom>
          <a:solidFill>
            <a:srgbClr val="FFFFFF"/>
          </a:solidFill>
          <a:ln w="12700">
            <a:solidFill>
              <a:srgbClr val="4B6377"/>
            </a:solidFill>
            <a:prstDash val="solid"/>
          </a:ln>
        </p:spPr>
      </p:sp>
      <p:sp>
        <p:nvSpPr>
          <p:cNvPr id="15" name="Text 12"/>
          <p:cNvSpPr txBox="1"/>
          <p:nvPr/>
        </p:nvSpPr>
        <p:spPr>
          <a:xfrm>
            <a:off x="6656832" y="3485693"/>
            <a:ext cx="482163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6" name="Text 13"/>
          <p:cNvSpPr txBox="1"/>
          <p:nvPr/>
        </p:nvSpPr>
        <p:spPr>
          <a:xfrm>
            <a:off x="6656832" y="3686861"/>
            <a:ext cx="4821631" cy="991210"/>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a:t>
            </a:r>
            <a:endParaRPr lang="en-US" sz="1200" dirty="0"/>
          </a:p>
        </p:txBody>
      </p:sp>
      <p:sp>
        <p:nvSpPr>
          <p:cNvPr id="17" name="Shape 14"/>
          <p:cNvSpPr/>
          <p:nvPr/>
        </p:nvSpPr>
        <p:spPr>
          <a:xfrm>
            <a:off x="6510528" y="5025542"/>
            <a:ext cx="5114239" cy="1371600"/>
          </a:xfrm>
          <a:prstGeom prst="roundRect">
            <a:avLst>
              <a:gd name="adj" fmla="val 6000"/>
            </a:avLst>
          </a:prstGeom>
          <a:solidFill>
            <a:srgbClr val="FBEEE0"/>
          </a:solidFill>
          <a:ln w="12700">
            <a:solidFill>
              <a:srgbClr val="FBEEE0"/>
            </a:solidFill>
            <a:prstDash val="solid"/>
          </a:ln>
        </p:spPr>
      </p:sp>
      <p:sp>
        <p:nvSpPr>
          <p:cNvPr id="18" name="Text 15"/>
          <p:cNvSpPr txBox="1"/>
          <p:nvPr/>
        </p:nvSpPr>
        <p:spPr>
          <a:xfrm>
            <a:off x="6766560" y="5153558"/>
            <a:ext cx="4602175"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1 + 2 + 3 + 4 = 10 passes, not 16</a:t>
            </a:r>
            <a:endParaRPr lang="en-US" sz="1350" dirty="0"/>
          </a:p>
        </p:txBody>
      </p:sp>
      <p:sp>
        <p:nvSpPr>
          <p:cNvPr id="19" name="Text 16"/>
          <p:cNvSpPr txBox="1"/>
          <p:nvPr/>
        </p:nvSpPr>
        <p:spPr>
          <a:xfrm>
            <a:off x="6766560" y="5446166"/>
            <a:ext cx="4602175" cy="86868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Writing j &lt;= i instead of j &lt;= 4 is how you draw a triangle, compare every pair once instead of twice, and halve the work in a sort.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ACCURACY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Never Count With a double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Sum 0.01 + 0.02 + … + 1.00. The exact answer is 50.50. Both of these loops get it wrong, and not for the reason you would guess.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22</a:t>
            </a:r>
            <a:endParaRPr lang="en-US" sz="900" dirty="0"/>
          </a:p>
        </p:txBody>
      </p:sp>
      <p:sp>
        <p:nvSpPr>
          <p:cNvPr id="7" name="Shape 5"/>
          <p:cNvSpPr/>
          <p:nvPr/>
        </p:nvSpPr>
        <p:spPr>
          <a:xfrm>
            <a:off x="566928" y="1536192"/>
            <a:ext cx="5323180" cy="1173358"/>
          </a:xfrm>
          <a:prstGeom prst="roundRect">
            <a:avLst>
              <a:gd name="adj" fmla="val 5455"/>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COUNTING UP</a:t>
            </a:r>
            <a:endParaRPr lang="en-US" sz="950" dirty="0"/>
          </a:p>
        </p:txBody>
      </p:sp>
      <p:sp>
        <p:nvSpPr>
          <p:cNvPr id="9" name="Text 7"/>
          <p:cNvSpPr txBox="1"/>
          <p:nvPr/>
        </p:nvSpPr>
        <p:spPr>
          <a:xfrm>
            <a:off x="731520" y="1810512"/>
            <a:ext cx="4993996" cy="844174"/>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0.01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0.01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0" name="Shape 8"/>
          <p:cNvSpPr/>
          <p:nvPr/>
        </p:nvSpPr>
        <p:spPr>
          <a:xfrm>
            <a:off x="566928" y="2929006"/>
            <a:ext cx="5323180" cy="907085"/>
          </a:xfrm>
          <a:prstGeom prst="roundRect">
            <a:avLst>
              <a:gd name="adj" fmla="val 7056"/>
            </a:avLst>
          </a:prstGeom>
          <a:solidFill>
            <a:srgbClr val="FFFFFF"/>
          </a:solidFill>
          <a:ln w="12700">
            <a:solidFill>
              <a:srgbClr val="4B6377"/>
            </a:solidFill>
            <a:prstDash val="solid"/>
          </a:ln>
        </p:spPr>
      </p:sp>
      <p:sp>
        <p:nvSpPr>
          <p:cNvPr id="11" name="Text 9"/>
          <p:cNvSpPr txBox="1"/>
          <p:nvPr/>
        </p:nvSpPr>
        <p:spPr>
          <a:xfrm>
            <a:off x="713232" y="3002158"/>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3203326"/>
            <a:ext cx="5030572" cy="541325"/>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99 passes</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sum = 49.50000000000003</a:t>
            </a:r>
            <a:endParaRPr lang="en-US" sz="1200" dirty="0"/>
          </a:p>
        </p:txBody>
      </p:sp>
      <p:sp>
        <p:nvSpPr>
          <p:cNvPr id="13" name="Shape 11"/>
          <p:cNvSpPr/>
          <p:nvPr/>
        </p:nvSpPr>
        <p:spPr>
          <a:xfrm>
            <a:off x="6301588" y="1536192"/>
            <a:ext cx="5323180" cy="1173358"/>
          </a:xfrm>
          <a:prstGeom prst="roundRect">
            <a:avLst>
              <a:gd name="adj" fmla="val 5455"/>
            </a:avLst>
          </a:prstGeom>
          <a:solidFill>
            <a:srgbClr val="EDF2F7"/>
          </a:solidFill>
          <a:ln w="12700">
            <a:solidFill>
              <a:srgbClr val="CFDBE5"/>
            </a:solidFill>
            <a:prstDash val="solid"/>
          </a:ln>
        </p:spPr>
      </p:sp>
      <p:sp>
        <p:nvSpPr>
          <p:cNvPr id="14" name="Text 12"/>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COUNTING DOWN</a:t>
            </a:r>
            <a:endParaRPr lang="en-US" sz="950" dirty="0"/>
          </a:p>
        </p:txBody>
      </p:sp>
      <p:sp>
        <p:nvSpPr>
          <p:cNvPr id="15" name="Text 13"/>
          <p:cNvSpPr txBox="1"/>
          <p:nvPr/>
        </p:nvSpPr>
        <p:spPr>
          <a:xfrm>
            <a:off x="6466180" y="1810512"/>
            <a:ext cx="4993996" cy="844174"/>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0.01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0.01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6" name="Shape 14"/>
          <p:cNvSpPr/>
          <p:nvPr/>
        </p:nvSpPr>
        <p:spPr>
          <a:xfrm>
            <a:off x="6301588" y="2929006"/>
            <a:ext cx="5323180" cy="907085"/>
          </a:xfrm>
          <a:prstGeom prst="roundRect">
            <a:avLst>
              <a:gd name="adj" fmla="val 7056"/>
            </a:avLst>
          </a:prstGeom>
          <a:solidFill>
            <a:srgbClr val="FFFFFF"/>
          </a:solidFill>
          <a:ln w="12700">
            <a:solidFill>
              <a:srgbClr val="4B6377"/>
            </a:solidFill>
            <a:prstDash val="solid"/>
          </a:ln>
        </p:spPr>
      </p:sp>
      <p:sp>
        <p:nvSpPr>
          <p:cNvPr id="17" name="Text 15"/>
          <p:cNvSpPr txBox="1"/>
          <p:nvPr/>
        </p:nvSpPr>
        <p:spPr>
          <a:xfrm>
            <a:off x="6447892" y="3002158"/>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8" name="Text 16"/>
          <p:cNvSpPr txBox="1"/>
          <p:nvPr/>
        </p:nvSpPr>
        <p:spPr>
          <a:xfrm>
            <a:off x="6447892" y="3203326"/>
            <a:ext cx="5030572" cy="541325"/>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99 passes</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sum = 50.48999999999995</a:t>
            </a:r>
            <a:endParaRPr lang="en-US" sz="1200" dirty="0"/>
          </a:p>
        </p:txBody>
      </p:sp>
      <p:sp>
        <p:nvSpPr>
          <p:cNvPr id="19" name="Shape 17"/>
          <p:cNvSpPr/>
          <p:nvPr/>
        </p:nvSpPr>
        <p:spPr>
          <a:xfrm>
            <a:off x="566928" y="3916558"/>
            <a:ext cx="11057839" cy="1097280"/>
          </a:xfrm>
          <a:prstGeom prst="roundRect">
            <a:avLst>
              <a:gd name="adj" fmla="val 7500"/>
            </a:avLst>
          </a:prstGeom>
          <a:solidFill>
            <a:srgbClr val="FBEAE8"/>
          </a:solidFill>
          <a:ln w="12700">
            <a:solidFill>
              <a:srgbClr val="FBEAE8"/>
            </a:solidFill>
            <a:prstDash val="solid"/>
          </a:ln>
        </p:spPr>
      </p:sp>
      <p:sp>
        <p:nvSpPr>
          <p:cNvPr id="20" name="Text 18"/>
          <p:cNvSpPr txBox="1"/>
          <p:nvPr/>
        </p:nvSpPr>
        <p:spPr>
          <a:xfrm>
            <a:off x="859536" y="4026286"/>
            <a:ext cx="10472623" cy="274320"/>
          </a:xfrm>
          <a:prstGeom prst="rect">
            <a:avLst/>
          </a:prstGeom>
          <a:noFill/>
          <a:ln/>
        </p:spPr>
        <p:txBody>
          <a:bodyPr wrap="square" lIns="0" tIns="0" rIns="0" bIns="0" rtlCol="0" anchor="ctr"/>
          <a:lstStyle/>
          <a:p>
            <a:pPr indent="0" marL="0">
              <a:buNone/>
            </a:pPr>
            <a:r>
              <a:rPr lang="en-US" sz="1400" b="1" dirty="0">
                <a:solidFill>
                  <a:srgbClr val="9C241C"/>
                </a:solidFill>
                <a:latin typeface="Calibri" pitchFamily="34" charset="0"/>
                <a:ea typeface="Calibri" pitchFamily="34" charset="-122"/>
                <a:cs typeface="Calibri" pitchFamily="34" charset="-120"/>
              </a:rPr>
              <a:t>Look at the pass count, not the last digits</a:t>
            </a:r>
            <a:endParaRPr lang="en-US" sz="1400" dirty="0"/>
          </a:p>
        </p:txBody>
      </p:sp>
      <p:sp>
        <p:nvSpPr>
          <p:cNvPr id="21" name="Text 19"/>
          <p:cNvSpPr txBox="1"/>
          <p:nvPr/>
        </p:nvSpPr>
        <p:spPr>
          <a:xfrm>
            <a:off x="859536" y="4318894"/>
            <a:ext cx="10472623" cy="658368"/>
          </a:xfrm>
          <a:prstGeom prst="rect">
            <a:avLst/>
          </a:prstGeom>
          <a:noFill/>
          <a:ln/>
        </p:spPr>
        <p:txBody>
          <a:bodyPr wrap="square" lIns="0" tIns="0" rIns="0" bIns="0" rtlCol="0" anchor="t"/>
          <a:lstStyle/>
          <a:p>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Both loops run 99 times, not 100. 0.01 cannot be stored exactly in binary, so after 99 additions the counter has drifted just past 1.0 and the final term is never added. The wrong answers come from a missing pass, not from rounding in the sum.</a:t>
            </a:r>
            <a:endParaRPr lang="en-US" sz="1250" dirty="0"/>
          </a:p>
        </p:txBody>
      </p:sp>
      <p:sp>
        <p:nvSpPr>
          <p:cNvPr id="22" name="Shape 20"/>
          <p:cNvSpPr/>
          <p:nvPr/>
        </p:nvSpPr>
        <p:spPr>
          <a:xfrm>
            <a:off x="566928" y="5178430"/>
            <a:ext cx="5323180" cy="1115202"/>
          </a:xfrm>
          <a:prstGeom prst="roundRect">
            <a:avLst>
              <a:gd name="adj" fmla="val 5740"/>
            </a:avLst>
          </a:prstGeom>
          <a:solidFill>
            <a:srgbClr val="EDF2F7"/>
          </a:solidFill>
          <a:ln w="12700">
            <a:solidFill>
              <a:srgbClr val="CFDBE5"/>
            </a:solidFill>
            <a:prstDash val="solid"/>
          </a:ln>
        </p:spPr>
      </p:sp>
      <p:sp>
        <p:nvSpPr>
          <p:cNvPr id="23" name="Text 21"/>
          <p:cNvSpPr txBox="1"/>
          <p:nvPr/>
        </p:nvSpPr>
        <p:spPr>
          <a:xfrm>
            <a:off x="713232" y="5224150"/>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THE FIX — 100 PASSES, sum = 50.5 EXACTLY</a:t>
            </a:r>
            <a:endParaRPr lang="en-US" sz="950" dirty="0"/>
          </a:p>
        </p:txBody>
      </p:sp>
      <p:sp>
        <p:nvSpPr>
          <p:cNvPr id="24" name="Text 22"/>
          <p:cNvSpPr txBox="1"/>
          <p:nvPr/>
        </p:nvSpPr>
        <p:spPr>
          <a:xfrm>
            <a:off x="731520" y="5452750"/>
            <a:ext cx="4993996" cy="786018"/>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count with an int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100.0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make the double here</a:t>
            </a:r>
            <a:endParaRPr lang="en-US" sz="1100" dirty="0"/>
          </a:p>
        </p:txBody>
      </p:sp>
      <p:sp>
        <p:nvSpPr>
          <p:cNvPr id="25" name="Shape 23"/>
          <p:cNvSpPr/>
          <p:nvPr/>
        </p:nvSpPr>
        <p:spPr>
          <a:xfrm>
            <a:off x="6301588" y="5178430"/>
            <a:ext cx="5323180" cy="1188720"/>
          </a:xfrm>
          <a:prstGeom prst="roundRect">
            <a:avLst>
              <a:gd name="adj" fmla="val 6923"/>
            </a:avLst>
          </a:prstGeom>
          <a:solidFill>
            <a:srgbClr val="E6F2EC"/>
          </a:solidFill>
          <a:ln w="12700">
            <a:solidFill>
              <a:srgbClr val="E6F2EC"/>
            </a:solidFill>
            <a:prstDash val="solid"/>
          </a:ln>
        </p:spPr>
      </p:sp>
      <p:sp>
        <p:nvSpPr>
          <p:cNvPr id="26" name="Text 24"/>
          <p:cNvSpPr txBox="1"/>
          <p:nvPr/>
        </p:nvSpPr>
        <p:spPr>
          <a:xfrm>
            <a:off x="6521044" y="5343022"/>
            <a:ext cx="4884268"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The rule to take away</a:t>
            </a:r>
            <a:endParaRPr lang="en-US" sz="1450" dirty="0"/>
          </a:p>
        </p:txBody>
      </p:sp>
      <p:sp>
        <p:nvSpPr>
          <p:cNvPr id="27" name="Text 25"/>
          <p:cNvSpPr txBox="1"/>
          <p:nvPr/>
        </p:nvSpPr>
        <p:spPr>
          <a:xfrm>
            <a:off x="6521044" y="5672206"/>
            <a:ext cx="4884268" cy="5669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Control loops with an int and compute the double inside the body. An integer counter is exact, so the loop runs exactly the number of times you wrote down.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ACCURACY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And Never Test a double for Equality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The same fault, in its most dangerous form: a loop that was supposed to stop, and does not.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23</a:t>
            </a:r>
            <a:endParaRPr lang="en-US" sz="900" dirty="0"/>
          </a:p>
        </p:txBody>
      </p:sp>
      <p:sp>
        <p:nvSpPr>
          <p:cNvPr id="7" name="Shape 5"/>
          <p:cNvSpPr/>
          <p:nvPr/>
        </p:nvSpPr>
        <p:spPr>
          <a:xfrm>
            <a:off x="566928" y="1536192"/>
            <a:ext cx="5852160" cy="2569098"/>
          </a:xfrm>
          <a:prstGeom prst="roundRect">
            <a:avLst>
              <a:gd name="adj" fmla="val 2491"/>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MEANT TO SUM 1 + 0.9 + 0.8 + ... + 0.1</a:t>
            </a:r>
            <a:endParaRPr lang="en-US" sz="950" dirty="0"/>
          </a:p>
        </p:txBody>
      </p:sp>
      <p:sp>
        <p:nvSpPr>
          <p:cNvPr id="9" name="Text 7"/>
          <p:cNvSpPr txBox="1"/>
          <p:nvPr/>
        </p:nvSpPr>
        <p:spPr>
          <a:xfrm>
            <a:off x="731520" y="1810512"/>
            <a:ext cx="5522976" cy="2239914"/>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item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item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will item ever BE 0?</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item</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never reached</a:t>
            </a:r>
            <a:endParaRPr lang="en-US" sz="1200" dirty="0"/>
          </a:p>
        </p:txBody>
      </p:sp>
      <p:sp>
        <p:nvSpPr>
          <p:cNvPr id="10" name="Shape 8"/>
          <p:cNvSpPr/>
          <p:nvPr/>
        </p:nvSpPr>
        <p:spPr>
          <a:xfrm>
            <a:off x="566928" y="4361322"/>
            <a:ext cx="5852160" cy="1325880"/>
          </a:xfrm>
          <a:prstGeom prst="roundRect">
            <a:avLst>
              <a:gd name="adj" fmla="val 6207"/>
            </a:avLst>
          </a:prstGeom>
          <a:solidFill>
            <a:srgbClr val="FBEAE8"/>
          </a:solidFill>
          <a:ln w="12700">
            <a:solidFill>
              <a:srgbClr val="FBEAE8"/>
            </a:solidFill>
            <a:prstDash val="solid"/>
          </a:ln>
        </p:spPr>
      </p:sp>
      <p:sp>
        <p:nvSpPr>
          <p:cNvPr id="11" name="Text 9"/>
          <p:cNvSpPr txBox="1"/>
          <p:nvPr/>
        </p:nvSpPr>
        <p:spPr>
          <a:xfrm>
            <a:off x="841248" y="4361322"/>
            <a:ext cx="5303520" cy="1325880"/>
          </a:xfrm>
          <a:prstGeom prst="rect">
            <a:avLst/>
          </a:prstGeom>
          <a:noFill/>
          <a:ln/>
        </p:spPr>
        <p:txBody>
          <a:bodyPr wrap="square" lIns="0" tIns="0" rIns="0" bIns="0" rtlCol="0" anchor="ctr"/>
          <a:lstStyle/>
          <a:p>
            <a:pPr indent="0" marL="0">
              <a:lnSpc>
                <a:spcPct val="112000"/>
              </a:lnSpc>
              <a:buNone/>
            </a:pPr>
            <a:r>
              <a:rPr lang="en-US" sz="1250" b="1" dirty="0">
                <a:solidFill>
                  <a:srgbClr val="9C241C"/>
                </a:solidFill>
                <a:latin typeface="Calibri" pitchFamily="34" charset="0"/>
                <a:ea typeface="Calibri" pitchFamily="34" charset="-122"/>
                <a:cs typeface="Calibri" pitchFamily="34" charset="-120"/>
              </a:rPr>
              <a:t>It runs forever.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0.1 is not exactly 0.1 in binary, so after ten subtractions item is not 0 — it sails straight past and keeps going negative.</a:t>
            </a:r>
            <a:endParaRPr lang="en-US" sz="1250" dirty="0"/>
          </a:p>
        </p:txBody>
      </p:sp>
      <p:sp>
        <p:nvSpPr>
          <p:cNvPr id="12" name="Shape 10"/>
          <p:cNvSpPr/>
          <p:nvPr/>
        </p:nvSpPr>
        <p:spPr>
          <a:xfrm>
            <a:off x="6876288" y="1536192"/>
            <a:ext cx="4748479" cy="1694383"/>
          </a:xfrm>
          <a:prstGeom prst="roundRect">
            <a:avLst>
              <a:gd name="adj" fmla="val 3778"/>
            </a:avLst>
          </a:prstGeom>
          <a:solidFill>
            <a:srgbClr val="FFFFFF"/>
          </a:solidFill>
          <a:ln w="12700">
            <a:solidFill>
              <a:srgbClr val="4B6377"/>
            </a:solidFill>
            <a:prstDash val="solid"/>
          </a:ln>
        </p:spPr>
      </p:sp>
      <p:sp>
        <p:nvSpPr>
          <p:cNvPr id="13" name="Text 11"/>
          <p:cNvSpPr txBox="1"/>
          <p:nvPr/>
        </p:nvSpPr>
        <p:spPr>
          <a:xfrm>
            <a:off x="7022592" y="1609344"/>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4" name="Text 12"/>
          <p:cNvSpPr txBox="1"/>
          <p:nvPr/>
        </p:nvSpPr>
        <p:spPr>
          <a:xfrm>
            <a:off x="7022592" y="1810512"/>
            <a:ext cx="4455871" cy="1328623"/>
          </a:xfrm>
          <a:prstGeom prst="rect">
            <a:avLst/>
          </a:prstGeom>
          <a:noFill/>
          <a:ln/>
        </p:spPr>
        <p:txBody>
          <a:bodyPr wrap="square" lIns="0" tIns="0" rIns="0" bIns="0" rtlCol="0" anchor="t"/>
          <a:lstStyle/>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after 10 subtractions:</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  item = 0.09999999999999998</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after 20:</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  item = -1.0000000000000002</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after 30:</a:t>
            </a:r>
            <a:endParaRPr lang="en-US" sz="1100" dirty="0"/>
          </a:p>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  item = -2.0000000000000004</a:t>
            </a:r>
            <a:endParaRPr lang="en-US" sz="1100" dirty="0"/>
          </a:p>
        </p:txBody>
      </p:sp>
      <p:sp>
        <p:nvSpPr>
          <p:cNvPr id="15" name="Shape 13"/>
          <p:cNvSpPr/>
          <p:nvPr/>
        </p:nvSpPr>
        <p:spPr>
          <a:xfrm>
            <a:off x="6876288" y="3364992"/>
            <a:ext cx="4748479" cy="921349"/>
          </a:xfrm>
          <a:prstGeom prst="roundRect">
            <a:avLst>
              <a:gd name="adj" fmla="val 6947"/>
            </a:avLst>
          </a:prstGeom>
          <a:solidFill>
            <a:srgbClr val="EDF2F7"/>
          </a:solidFill>
          <a:ln w="12700">
            <a:solidFill>
              <a:srgbClr val="CFDBE5"/>
            </a:solidFill>
            <a:prstDash val="solid"/>
          </a:ln>
        </p:spPr>
      </p:sp>
      <p:sp>
        <p:nvSpPr>
          <p:cNvPr id="16" name="Text 14"/>
          <p:cNvSpPr txBox="1"/>
          <p:nvPr/>
        </p:nvSpPr>
        <p:spPr>
          <a:xfrm>
            <a:off x="7022592" y="3410712"/>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WRITE IT WITH AN INT COUNTER</a:t>
            </a:r>
            <a:endParaRPr lang="en-US" sz="950" dirty="0"/>
          </a:p>
        </p:txBody>
      </p:sp>
      <p:sp>
        <p:nvSpPr>
          <p:cNvPr id="17" name="Text 15"/>
          <p:cNvSpPr txBox="1"/>
          <p:nvPr/>
        </p:nvSpPr>
        <p:spPr>
          <a:xfrm>
            <a:off x="7040880" y="3639312"/>
            <a:ext cx="4419295" cy="592165"/>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8" name="Shape 16"/>
          <p:cNvSpPr/>
          <p:nvPr/>
        </p:nvSpPr>
        <p:spPr>
          <a:xfrm>
            <a:off x="6876288" y="4505797"/>
            <a:ext cx="4748479" cy="1097280"/>
          </a:xfrm>
          <a:prstGeom prst="roundRect">
            <a:avLst>
              <a:gd name="adj" fmla="val 7500"/>
            </a:avLst>
          </a:prstGeom>
          <a:solidFill>
            <a:srgbClr val="E6F2EC"/>
          </a:solidFill>
          <a:ln w="12700">
            <a:solidFill>
              <a:srgbClr val="E6F2EC"/>
            </a:solidFill>
            <a:prstDash val="solid"/>
          </a:ln>
        </p:spPr>
      </p:sp>
      <p:sp>
        <p:nvSpPr>
          <p:cNvPr id="19" name="Text 17"/>
          <p:cNvSpPr txBox="1"/>
          <p:nvPr/>
        </p:nvSpPr>
        <p:spPr>
          <a:xfrm>
            <a:off x="7132320" y="4615525"/>
            <a:ext cx="4236415"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Exactly ten passes, guaranteed</a:t>
            </a:r>
            <a:endParaRPr lang="en-US" sz="1350" dirty="0"/>
          </a:p>
        </p:txBody>
      </p:sp>
      <p:sp>
        <p:nvSpPr>
          <p:cNvPr id="20" name="Text 18"/>
          <p:cNvSpPr txBox="1"/>
          <p:nvPr/>
        </p:nvSpPr>
        <p:spPr>
          <a:xfrm>
            <a:off x="7132320" y="4908133"/>
            <a:ext cx="4236415" cy="65836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If you must compare two doubles, never use == or !=. Test the difference: Math.abs(a - b) &lt; 1e-9.</a:t>
            </a:r>
            <a:endParaRPr lang="en-US" sz="1200" dirty="0"/>
          </a:p>
        </p:txBody>
      </p:sp>
      <p:sp>
        <p:nvSpPr>
          <p:cNvPr id="21" name="Shape 19"/>
          <p:cNvSpPr/>
          <p:nvPr/>
        </p:nvSpPr>
        <p:spPr>
          <a:xfrm>
            <a:off x="6876288" y="5657941"/>
            <a:ext cx="4748479" cy="658368"/>
          </a:xfrm>
          <a:prstGeom prst="roundRect">
            <a:avLst>
              <a:gd name="adj" fmla="val 12500"/>
            </a:avLst>
          </a:prstGeom>
          <a:solidFill>
            <a:srgbClr val="E4ECF4"/>
          </a:solidFill>
          <a:ln w="12700">
            <a:solidFill>
              <a:srgbClr val="E4ECF4"/>
            </a:solidFill>
            <a:prstDash val="solid"/>
          </a:ln>
        </p:spPr>
      </p:sp>
      <p:sp>
        <p:nvSpPr>
          <p:cNvPr id="22" name="Text 20"/>
          <p:cNvSpPr txBox="1"/>
          <p:nvPr/>
        </p:nvSpPr>
        <p:spPr>
          <a:xfrm>
            <a:off x="7150608" y="5657941"/>
            <a:ext cx="4199839" cy="658368"/>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Lecture 2 again:  </a:t>
            </a:r>
            <a:pPr indent="0" marL="0">
              <a:buNone/>
            </a:pPr>
            <a:r>
              <a:rPr lang="en-US" sz="1200" dirty="0">
                <a:solidFill>
                  <a:srgbClr val="3A536B"/>
                </a:solidFill>
                <a:latin typeface="Calibri" pitchFamily="34" charset="0"/>
                <a:ea typeface="Calibri" pitchFamily="34" charset="-122"/>
                <a:cs typeface="Calibri" pitchFamily="34" charset="-120"/>
              </a:rPr>
              <a:t>0.1 + 0.2 prints 0.30000000000000004.</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GreatestCommonDivisor — a Loop That Remembers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Try every candidate divisor and keep the largest one that works. Brute force, and perfectly correct.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24</a:t>
            </a:r>
            <a:endParaRPr lang="en-US" sz="900" dirty="0"/>
          </a:p>
        </p:txBody>
      </p:sp>
      <p:sp>
        <p:nvSpPr>
          <p:cNvPr id="7" name="Shape 5"/>
          <p:cNvSpPr/>
          <p:nvPr/>
        </p:nvSpPr>
        <p:spPr>
          <a:xfrm>
            <a:off x="566928" y="1536192"/>
            <a:ext cx="5852160" cy="3460821"/>
          </a:xfrm>
          <a:prstGeom prst="roundRect">
            <a:avLst>
              <a:gd name="adj" fmla="val 1850"/>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GreatestCommonDivisor.java</a:t>
            </a:r>
            <a:endParaRPr lang="en-US" sz="950" dirty="0"/>
          </a:p>
        </p:txBody>
      </p:sp>
      <p:sp>
        <p:nvSpPr>
          <p:cNvPr id="9" name="Text 7"/>
          <p:cNvSpPr txBox="1"/>
          <p:nvPr/>
        </p:nvSpPr>
        <p:spPr>
          <a:xfrm>
            <a:off x="731520" y="1810512"/>
            <a:ext cx="5522976" cy="3131637"/>
          </a:xfrm>
          <a:prstGeom prst="rect">
            <a:avLst/>
          </a:prstGeom>
          <a:noFill/>
          <a:ln/>
        </p:spPr>
        <p:txBody>
          <a:bodyPr wrap="square" lIns="0" tIns="0" rIns="0" bIns="0" rtlCol="0" anchor="t"/>
          <a:lstStyle/>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"Enter two integers: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input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nextInt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gcd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1 always divides</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&amp;</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gcd</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a better one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k</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"The gcd of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n1</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and "</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n2</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 is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gcd</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6876288" y="1536192"/>
            <a:ext cx="4748479" cy="888340"/>
          </a:xfrm>
          <a:prstGeom prst="roundRect">
            <a:avLst>
              <a:gd name="adj" fmla="val 7205"/>
            </a:avLst>
          </a:prstGeom>
          <a:solidFill>
            <a:srgbClr val="FFFFFF"/>
          </a:solidFill>
          <a:ln w="12700">
            <a:solidFill>
              <a:srgbClr val="4B6377"/>
            </a:solidFill>
            <a:prstDash val="solid"/>
          </a:ln>
        </p:spPr>
      </p:sp>
      <p:sp>
        <p:nvSpPr>
          <p:cNvPr id="11" name="Text 9"/>
          <p:cNvSpPr txBox="1"/>
          <p:nvPr/>
        </p:nvSpPr>
        <p:spPr>
          <a:xfrm>
            <a:off x="7022592" y="1609344"/>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022592" y="1810512"/>
            <a:ext cx="4455871" cy="522580"/>
          </a:xfrm>
          <a:prstGeom prst="rect">
            <a:avLst/>
          </a:prstGeom>
          <a:noFill/>
          <a:ln/>
        </p:spPr>
        <p:txBody>
          <a:bodyPr wrap="square" lIns="0" tIns="0" rIns="0" bIns="0" rtlCol="0" anchor="t"/>
          <a:lstStyle/>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Enter two integers: 125 2525</a:t>
            </a:r>
            <a:endParaRPr lang="en-US" sz="1150" dirty="0"/>
          </a:p>
          <a:p>
            <a:pPr indent="0" marL="0">
              <a:lnSpc>
                <a:spcPct val="110000"/>
              </a:lnSpc>
              <a:buNone/>
            </a:pPr>
            <a:r>
              <a:rPr lang="en-US" sz="1150" dirty="0">
                <a:solidFill>
                  <a:srgbClr val="0F2942"/>
                </a:solidFill>
                <a:latin typeface="Courier New" pitchFamily="34" charset="0"/>
                <a:ea typeface="Courier New" pitchFamily="34" charset="-122"/>
                <a:cs typeface="Courier New" pitchFamily="34" charset="-120"/>
              </a:rPr>
              <a:t>The gcd of 125 and 2525 is 25</a:t>
            </a:r>
            <a:endParaRPr lang="en-US" sz="1150" dirty="0"/>
          </a:p>
        </p:txBody>
      </p:sp>
      <p:sp>
        <p:nvSpPr>
          <p:cNvPr id="13" name="Shape 11"/>
          <p:cNvSpPr/>
          <p:nvPr/>
        </p:nvSpPr>
        <p:spPr>
          <a:xfrm>
            <a:off x="6876288" y="2587752"/>
            <a:ext cx="4748479" cy="1691640"/>
          </a:xfrm>
          <a:prstGeom prst="roundRect">
            <a:avLst>
              <a:gd name="adj" fmla="val 4865"/>
            </a:avLst>
          </a:prstGeom>
          <a:solidFill>
            <a:srgbClr val="F1F5F9"/>
          </a:solidFill>
          <a:ln w="12700">
            <a:solidFill>
              <a:srgbClr val="F1F5F9"/>
            </a:solidFill>
            <a:prstDash val="solid"/>
          </a:ln>
        </p:spPr>
      </p:sp>
      <p:sp>
        <p:nvSpPr>
          <p:cNvPr id="14" name="Text 12"/>
          <p:cNvSpPr txBox="1"/>
          <p:nvPr/>
        </p:nvSpPr>
        <p:spPr>
          <a:xfrm>
            <a:off x="7095744" y="2752344"/>
            <a:ext cx="43095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The pattern: a running best answer</a:t>
            </a:r>
            <a:endParaRPr lang="en-US" sz="1450" dirty="0"/>
          </a:p>
        </p:txBody>
      </p:sp>
      <p:sp>
        <p:nvSpPr>
          <p:cNvPr id="15" name="Text 13"/>
          <p:cNvSpPr txBox="1"/>
          <p:nvPr/>
        </p:nvSpPr>
        <p:spPr>
          <a:xfrm>
            <a:off x="7095744" y="3081528"/>
            <a:ext cx="4309567" cy="10698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gcd starts at the worst acceptable value and is overwritten whenever something better turns up. The loop does not stop at the first divisor it finds — it must see them all, because the largest comes last. Finding a maximum works exactly this way.</a:t>
            </a:r>
            <a:endParaRPr lang="en-US" sz="1200" dirty="0"/>
          </a:p>
        </p:txBody>
      </p:sp>
      <p:sp>
        <p:nvSpPr>
          <p:cNvPr id="16" name="Shape 14"/>
          <p:cNvSpPr/>
          <p:nvPr/>
        </p:nvSpPr>
        <p:spPr>
          <a:xfrm>
            <a:off x="6876288" y="4416552"/>
            <a:ext cx="4748479" cy="914400"/>
          </a:xfrm>
          <a:prstGeom prst="roundRect">
            <a:avLst>
              <a:gd name="adj" fmla="val 9000"/>
            </a:avLst>
          </a:prstGeom>
          <a:solidFill>
            <a:srgbClr val="FBEEE0"/>
          </a:solidFill>
          <a:ln w="12700">
            <a:solidFill>
              <a:srgbClr val="FBEEE0"/>
            </a:solidFill>
            <a:prstDash val="solid"/>
          </a:ln>
        </p:spPr>
      </p:sp>
      <p:sp>
        <p:nvSpPr>
          <p:cNvPr id="17" name="Text 15"/>
          <p:cNvSpPr txBox="1"/>
          <p:nvPr/>
        </p:nvSpPr>
        <p:spPr>
          <a:xfrm>
            <a:off x="7150608" y="4416552"/>
            <a:ext cx="4199839" cy="914400"/>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Why &amp;&amp; and not &amp; here.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Tuesday's short-circuit rule: if n1 % k != 0 there is no point testing n2.</a:t>
            </a:r>
            <a:endParaRPr lang="en-US" sz="1200" dirty="0"/>
          </a:p>
        </p:txBody>
      </p:sp>
      <p:sp>
        <p:nvSpPr>
          <p:cNvPr id="18" name="Shape 16"/>
          <p:cNvSpPr/>
          <p:nvPr/>
        </p:nvSpPr>
        <p:spPr>
          <a:xfrm>
            <a:off x="6876288" y="5449824"/>
            <a:ext cx="4748479" cy="868680"/>
          </a:xfrm>
          <a:prstGeom prst="roundRect">
            <a:avLst>
              <a:gd name="adj" fmla="val 9474"/>
            </a:avLst>
          </a:prstGeom>
          <a:solidFill>
            <a:srgbClr val="E4ECF4"/>
          </a:solidFill>
          <a:ln w="12700">
            <a:solidFill>
              <a:srgbClr val="E4ECF4"/>
            </a:solidFill>
            <a:prstDash val="solid"/>
          </a:ln>
        </p:spPr>
      </p:sp>
      <p:sp>
        <p:nvSpPr>
          <p:cNvPr id="19" name="Text 17"/>
          <p:cNvSpPr txBox="1"/>
          <p:nvPr/>
        </p:nvSpPr>
        <p:spPr>
          <a:xfrm>
            <a:off x="7150608" y="5449824"/>
            <a:ext cx="4199839" cy="868680"/>
          </a:xfrm>
          <a:prstGeom prst="rect">
            <a:avLst/>
          </a:prstGeom>
          <a:noFill/>
          <a:ln/>
        </p:spPr>
        <p:txBody>
          <a:bodyPr wrap="square" lIns="0" tIns="0" rIns="0" bIns="0" rtlCol="0" anchor="ctr"/>
          <a:lstStyle/>
          <a:p>
            <a:pPr indent="0" marL="0">
              <a:lnSpc>
                <a:spcPct val="110000"/>
              </a:lnSpc>
              <a:buNone/>
            </a:pPr>
            <a:r>
              <a:rPr lang="en-US" sz="1200" b="1" dirty="0">
                <a:solidFill>
                  <a:srgbClr val="0F2942"/>
                </a:solidFill>
                <a:latin typeface="Calibri" pitchFamily="34" charset="0"/>
                <a:ea typeface="Calibri" pitchFamily="34" charset="-122"/>
                <a:cs typeface="Calibri" pitchFamily="34" charset="-120"/>
              </a:rPr>
              <a:t>There is a far faster way.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Euclid's algorithm finds this in a handful of steps — Exercise 5.24.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WORKED EXAMPLE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FutureTuition — Counting Passes to Get the Answer</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Tuition is 10,000 and rises 7% a year. In how many years does it double? The loop counter is the answer.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25</a:t>
            </a:r>
            <a:endParaRPr lang="en-US" sz="900" dirty="0"/>
          </a:p>
        </p:txBody>
      </p:sp>
      <p:sp>
        <p:nvSpPr>
          <p:cNvPr id="7" name="Shape 5"/>
          <p:cNvSpPr/>
          <p:nvPr/>
        </p:nvSpPr>
        <p:spPr>
          <a:xfrm>
            <a:off x="566928" y="1536192"/>
            <a:ext cx="5760720" cy="2801722"/>
          </a:xfrm>
          <a:prstGeom prst="roundRect">
            <a:avLst>
              <a:gd name="adj" fmla="val 2285"/>
            </a:avLst>
          </a:prstGeom>
          <a:solidFill>
            <a:srgbClr val="EDF2F7"/>
          </a:solidFill>
          <a:ln w="12700">
            <a:solidFill>
              <a:srgbClr val="CFDBE5"/>
            </a:solidFill>
            <a:prstDash val="solid"/>
          </a:ln>
        </p:spPr>
      </p:sp>
      <p:sp>
        <p:nvSpPr>
          <p:cNvPr id="8" name="Text 6"/>
          <p:cNvSpPr txBox="1"/>
          <p:nvPr/>
        </p:nvSpPr>
        <p:spPr>
          <a:xfrm>
            <a:off x="713232" y="1581912"/>
            <a:ext cx="546811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FutureTuition.java</a:t>
            </a:r>
            <a:endParaRPr lang="en-US" sz="950" dirty="0"/>
          </a:p>
        </p:txBody>
      </p:sp>
      <p:sp>
        <p:nvSpPr>
          <p:cNvPr id="9" name="Text 7"/>
          <p:cNvSpPr txBox="1"/>
          <p:nvPr/>
        </p:nvSpPr>
        <p:spPr>
          <a:xfrm>
            <a:off x="731520" y="1810512"/>
            <a:ext cx="5431536" cy="2472538"/>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double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tuition</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10000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tuition</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20000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tuition</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tuition</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1.07</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"Tuition doubles in year "</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year</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0" name="Shape 8"/>
          <p:cNvSpPr/>
          <p:nvPr/>
        </p:nvSpPr>
        <p:spPr>
          <a:xfrm>
            <a:off x="566928" y="4575658"/>
            <a:ext cx="5760720" cy="682142"/>
          </a:xfrm>
          <a:prstGeom prst="roundRect">
            <a:avLst>
              <a:gd name="adj" fmla="val 9383"/>
            </a:avLst>
          </a:prstGeom>
          <a:solidFill>
            <a:srgbClr val="FFFFFF"/>
          </a:solidFill>
          <a:ln w="12700">
            <a:solidFill>
              <a:srgbClr val="4B6377"/>
            </a:solidFill>
            <a:prstDash val="solid"/>
          </a:ln>
        </p:spPr>
      </p:sp>
      <p:sp>
        <p:nvSpPr>
          <p:cNvPr id="11" name="Text 9"/>
          <p:cNvSpPr txBox="1"/>
          <p:nvPr/>
        </p:nvSpPr>
        <p:spPr>
          <a:xfrm>
            <a:off x="713232" y="4648810"/>
            <a:ext cx="546811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4849978"/>
            <a:ext cx="5468112" cy="316382"/>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Tuition doubles in year 11</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784848" y="1536192"/>
          <a:ext cx="4839919" cy="914400"/>
        </p:xfrm>
        <a:graphic>
          <a:graphicData uri="http://schemas.openxmlformats.org/drawingml/2006/table">
            <a:tbl>
              <a:tblPr/>
              <a:tblGrid>
                <a:gridCol w="1064782"/>
                <a:gridCol w="2226363"/>
                <a:gridCol w="1548774"/>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Year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Tuition</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Doubled?</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6576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10,000.00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10,700.00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5</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14,025.52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10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19,671.51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3A536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11</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indent="0" marL="0">
                        <a:buNone/>
                      </a:pPr>
                      <a:r>
                        <a:rPr lang="en-US" sz="1100" dirty="0">
                          <a:solidFill>
                            <a:srgbClr val="3A536B"/>
                          </a:solidFill>
                          <a:latin typeface="Courier New" pitchFamily="34" charset="0"/>
                          <a:ea typeface="Courier New" pitchFamily="34" charset="-122"/>
                          <a:cs typeface="Courier New" pitchFamily="34" charset="-120"/>
                        </a:rPr>
                        <a:t>21,048.52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indent="0" marL="0">
                        <a:buNone/>
                      </a:pPr>
                      <a:r>
                        <a:rPr lang="en-US" sz="1100" b="1" dirty="0">
                          <a:solidFill>
                            <a:srgbClr val="17624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r>
            </a:tbl>
          </a:graphicData>
        </a:graphic>
      </p:graphicFrame>
      <p:sp>
        <p:nvSpPr>
          <p:cNvPr id="14" name="Shape 11"/>
          <p:cNvSpPr/>
          <p:nvPr/>
        </p:nvSpPr>
        <p:spPr>
          <a:xfrm>
            <a:off x="6784848" y="4005072"/>
            <a:ext cx="4839919" cy="1417320"/>
          </a:xfrm>
          <a:prstGeom prst="roundRect">
            <a:avLst>
              <a:gd name="adj" fmla="val 5806"/>
            </a:avLst>
          </a:prstGeom>
          <a:solidFill>
            <a:srgbClr val="E4ECF4"/>
          </a:solidFill>
          <a:ln w="12700">
            <a:solidFill>
              <a:srgbClr val="E4ECF4"/>
            </a:solidFill>
            <a:prstDash val="solid"/>
          </a:ln>
        </p:spPr>
      </p:sp>
      <p:sp>
        <p:nvSpPr>
          <p:cNvPr id="15" name="Text 12"/>
          <p:cNvSpPr txBox="1"/>
          <p:nvPr/>
        </p:nvSpPr>
        <p:spPr>
          <a:xfrm>
            <a:off x="7004304" y="4169664"/>
            <a:ext cx="440100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Why this has to be a while loop</a:t>
            </a:r>
            <a:endParaRPr lang="en-US" sz="1450" dirty="0"/>
          </a:p>
        </p:txBody>
      </p:sp>
      <p:sp>
        <p:nvSpPr>
          <p:cNvPr id="16" name="Text 13"/>
          <p:cNvSpPr txBox="1"/>
          <p:nvPr/>
        </p:nvSpPr>
        <p:spPr>
          <a:xfrm>
            <a:off x="7004304" y="4498848"/>
            <a:ext cx="4401007" cy="7955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You cannot write the number of passes into a for header, because working it out is the whole problem. Whenever the answer you want IS the number of passes, the counter is the output.</a:t>
            </a:r>
            <a:endParaRPr lang="en-US" sz="1200" dirty="0"/>
          </a:p>
        </p:txBody>
      </p:sp>
      <p:sp>
        <p:nvSpPr>
          <p:cNvPr id="17" name="Shape 14"/>
          <p:cNvSpPr/>
          <p:nvPr/>
        </p:nvSpPr>
        <p:spPr>
          <a:xfrm>
            <a:off x="6784848" y="5559552"/>
            <a:ext cx="4839919" cy="777240"/>
          </a:xfrm>
          <a:prstGeom prst="roundRect">
            <a:avLst>
              <a:gd name="adj" fmla="val 10588"/>
            </a:avLst>
          </a:prstGeom>
          <a:solidFill>
            <a:srgbClr val="FBEEE0"/>
          </a:solidFill>
          <a:ln w="12700">
            <a:solidFill>
              <a:srgbClr val="FBEEE0"/>
            </a:solidFill>
            <a:prstDash val="solid"/>
          </a:ln>
        </p:spPr>
      </p:sp>
      <p:sp>
        <p:nvSpPr>
          <p:cNvPr id="18" name="Text 15"/>
          <p:cNvSpPr txBox="1"/>
          <p:nvPr/>
        </p:nvSpPr>
        <p:spPr>
          <a:xfrm>
            <a:off x="7059168" y="5559552"/>
            <a:ext cx="4291279" cy="777240"/>
          </a:xfrm>
          <a:prstGeom prst="rect">
            <a:avLst/>
          </a:prstGeom>
          <a:noFill/>
          <a:ln/>
        </p:spPr>
        <p:txBody>
          <a:bodyPr wrap="square" lIns="0" tIns="0" rIns="0" bIns="0" rtlCol="0" anchor="ctr"/>
          <a:lstStyle/>
          <a:p>
            <a:pPr indent="0" marL="0">
              <a:lnSpc>
                <a:spcPct val="110000"/>
              </a:lnSpc>
              <a:buNone/>
            </a:pPr>
            <a:r>
              <a:rPr lang="en-US" sz="1200" b="1" dirty="0">
                <a:solidFill>
                  <a:srgbClr val="9A430A"/>
                </a:solidFill>
                <a:latin typeface="Calibri" pitchFamily="34" charset="0"/>
                <a:ea typeface="Calibri" pitchFamily="34" charset="-122"/>
                <a:cs typeface="Calibri" pitchFamily="34" charset="-120"/>
              </a:rPr>
              <a:t>Year 10 reaches 19,671.51 — close, but not doubled.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The condition is &lt; 20000, so it runs once more.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3</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20–25</a:t>
            </a:r>
            <a:endParaRPr lang="en-US" sz="1250" dirty="0"/>
          </a:p>
        </p:txBody>
      </p:sp>
      <p:sp>
        <p:nvSpPr>
          <p:cNvPr id="5" name="Shape 3"/>
          <p:cNvSpPr/>
          <p:nvPr/>
        </p:nvSpPr>
        <p:spPr>
          <a:xfrm>
            <a:off x="566928" y="1481328"/>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1719072"/>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71907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645920"/>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In the multiplication table, how many times does the innermost printf run in total?</a:t>
            </a:r>
            <a:endParaRPr lang="en-US" sz="1550" dirty="0"/>
          </a:p>
        </p:txBody>
      </p:sp>
      <p:sp>
        <p:nvSpPr>
          <p:cNvPr id="9" name="Shape 7"/>
          <p:cNvSpPr/>
          <p:nvPr/>
        </p:nvSpPr>
        <p:spPr>
          <a:xfrm>
            <a:off x="566928" y="2660904"/>
            <a:ext cx="11057839" cy="2556662"/>
          </a:xfrm>
          <a:prstGeom prst="roundRect">
            <a:avLst>
              <a:gd name="adj" fmla="val 3219"/>
            </a:avLst>
          </a:prstGeom>
          <a:solidFill>
            <a:srgbClr val="FFFFFF"/>
          </a:solidFill>
          <a:ln w="12700">
            <a:solidFill>
              <a:srgbClr val="D3DEE7"/>
            </a:solidFill>
            <a:prstDash val="solid"/>
          </a:ln>
        </p:spPr>
      </p:sp>
      <p:sp>
        <p:nvSpPr>
          <p:cNvPr id="10" name="Shape 8"/>
          <p:cNvSpPr/>
          <p:nvPr/>
        </p:nvSpPr>
        <p:spPr>
          <a:xfrm>
            <a:off x="841248" y="2898648"/>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289864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2825496"/>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How many lines does this print, and how many stars are on the last one?</a:t>
            </a:r>
            <a:endParaRPr lang="en-US" sz="1550" dirty="0"/>
          </a:p>
        </p:txBody>
      </p:sp>
      <p:sp>
        <p:nvSpPr>
          <p:cNvPr id="13" name="Shape 11"/>
          <p:cNvSpPr/>
          <p:nvPr/>
        </p:nvSpPr>
        <p:spPr>
          <a:xfrm>
            <a:off x="1435608" y="3300984"/>
            <a:ext cx="6949440" cy="1395374"/>
          </a:xfrm>
          <a:prstGeom prst="roundRect">
            <a:avLst>
              <a:gd name="adj" fmla="val 4587"/>
            </a:avLst>
          </a:prstGeom>
          <a:solidFill>
            <a:srgbClr val="EDF2F7"/>
          </a:solidFill>
          <a:ln w="12700">
            <a:solidFill>
              <a:srgbClr val="CFDBE5"/>
            </a:solidFill>
            <a:prstDash val="solid"/>
          </a:ln>
        </p:spPr>
      </p:sp>
      <p:sp>
        <p:nvSpPr>
          <p:cNvPr id="14" name="Text 12"/>
          <p:cNvSpPr txBox="1"/>
          <p:nvPr/>
        </p:nvSpPr>
        <p:spPr>
          <a:xfrm>
            <a:off x="1600200" y="3438144"/>
            <a:ext cx="6620256" cy="1194206"/>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5</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j</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437022"/>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674766"/>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67476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601614"/>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does for (double i = 0.01; i &lt;= 1.0; i += 0.01) run 99 times instead of 100?</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286000"/>
            <a:ext cx="5486400" cy="310896"/>
          </a:xfrm>
          <a:prstGeom prst="rect">
            <a:avLst/>
          </a:prstGeom>
          <a:noFill/>
          <a:ln/>
        </p:spPr>
        <p:txBody>
          <a:bodyPr wrap="square" lIns="0" tIns="0" rIns="0" bIns="0" rtlCol="0" anchor="ctr"/>
          <a:lstStyle/>
          <a:p>
            <a:pPr indent="0" marL="0">
              <a:buNone/>
            </a:pPr>
            <a:r>
              <a:rPr lang="en-US" sz="1300" b="1" spc="240" kern="0" dirty="0">
                <a:solidFill>
                  <a:srgbClr val="9A430A"/>
                </a:solidFill>
                <a:latin typeface="Calibri" pitchFamily="34" charset="0"/>
                <a:ea typeface="Calibri" pitchFamily="34" charset="-122"/>
                <a:cs typeface="Calibri" pitchFamily="34" charset="-120"/>
              </a:rPr>
              <a:t>PART 03</a:t>
            </a:r>
            <a:endParaRPr lang="en-US" sz="1300" dirty="0"/>
          </a:p>
        </p:txBody>
      </p:sp>
      <p:sp>
        <p:nvSpPr>
          <p:cNvPr id="3" name="Text 1"/>
          <p:cNvSpPr txBox="1"/>
          <p:nvPr/>
        </p:nvSpPr>
        <p:spPr>
          <a:xfrm>
            <a:off x="566928" y="2697480"/>
            <a:ext cx="8046720" cy="1737360"/>
          </a:xfrm>
          <a:prstGeom prst="rect">
            <a:avLst/>
          </a:prstGeom>
          <a:noFill/>
          <a:ln/>
        </p:spPr>
        <p:txBody>
          <a:bodyPr wrap="square" lIns="0" tIns="0" rIns="0" bIns="0" rtlCol="0" anchor="ctr"/>
          <a:lstStyle/>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Leaving Early,</a:t>
            </a:r>
            <a:endParaRPr lang="en-US" sz="4400" dirty="0"/>
          </a:p>
          <a:p>
            <a:pPr indent="0" marL="0">
              <a:lnSpc>
                <a:spcPct val="105000"/>
              </a:lnSpc>
              <a:buNone/>
            </a:pPr>
            <a:r>
              <a:rPr lang="en-US" sz="4400" b="1" dirty="0">
                <a:solidFill>
                  <a:srgbClr val="0F2942"/>
                </a:solidFill>
                <a:latin typeface="Cambria" pitchFamily="34" charset="0"/>
                <a:ea typeface="Cambria" pitchFamily="34" charset="-122"/>
                <a:cs typeface="Cambria" pitchFamily="34" charset="-120"/>
              </a:rPr>
              <a:t>and Three Case Studies</a:t>
            </a:r>
            <a:endParaRPr lang="en-US" sz="4400" dirty="0"/>
          </a:p>
        </p:txBody>
      </p:sp>
      <p:sp>
        <p:nvSpPr>
          <p:cNvPr id="4" name="Text 2"/>
          <p:cNvSpPr txBox="1"/>
          <p:nvPr/>
        </p:nvSpPr>
        <p:spPr>
          <a:xfrm>
            <a:off x="566928" y="4526280"/>
            <a:ext cx="8686800" cy="365760"/>
          </a:xfrm>
          <a:prstGeom prst="rect">
            <a:avLst/>
          </a:prstGeom>
          <a:noFill/>
          <a:ln/>
        </p:spPr>
        <p:txBody>
          <a:bodyPr wrap="square" lIns="0" tIns="0" rIns="0" bIns="0" rtlCol="0" anchor="ctr"/>
          <a:lstStyle/>
          <a:p>
            <a:pPr indent="0" marL="0">
              <a:buNone/>
            </a:pPr>
            <a:r>
              <a:rPr lang="en-US" sz="1500" dirty="0">
                <a:solidFill>
                  <a:srgbClr val="3A536B"/>
                </a:solidFill>
                <a:latin typeface="Calibri" pitchFamily="34" charset="0"/>
                <a:ea typeface="Calibri" pitchFamily="34" charset="-122"/>
                <a:cs typeface="Calibri" pitchFamily="34" charset="-120"/>
              </a:rPr>
              <a:t>break, continue — and loops doing real work.</a:t>
            </a:r>
            <a:endParaRPr lang="en-US" sz="1500" dirty="0"/>
          </a:p>
        </p:txBody>
      </p:sp>
      <p:sp>
        <p:nvSpPr>
          <p:cNvPr id="5" name="Text 3"/>
          <p:cNvSpPr txBox="1"/>
          <p:nvPr/>
        </p:nvSpPr>
        <p:spPr>
          <a:xfrm>
            <a:off x="9247327" y="2011680"/>
            <a:ext cx="2377440" cy="2194560"/>
          </a:xfrm>
          <a:prstGeom prst="rect">
            <a:avLst/>
          </a:prstGeom>
          <a:noFill/>
          <a:ln/>
        </p:spPr>
        <p:txBody>
          <a:bodyPr wrap="square" lIns="0" tIns="0" rIns="0" bIns="0" rtlCol="0" anchor="ctr"/>
          <a:lstStyle/>
          <a:p>
            <a:pPr algn="r" indent="0" marL="0">
              <a:buNone/>
            </a:pPr>
            <a:r>
              <a:rPr lang="en-US" sz="13000" b="1" dirty="0">
                <a:solidFill>
                  <a:srgbClr val="CFDCE8"/>
                </a:solidFill>
                <a:latin typeface="Cambria" pitchFamily="34" charset="0"/>
                <a:ea typeface="Cambria" pitchFamily="34" charset="-122"/>
                <a:cs typeface="Cambria" pitchFamily="34" charset="-120"/>
              </a:rPr>
              <a:t>03</a:t>
            </a:r>
            <a:endParaRPr lang="en-US" sz="13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CONTROL</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break — Leave the Loop Immediately</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Execution jumps to the first statement after the loop. The condition is not re-tested and the rest of the body is skipped.</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28</a:t>
            </a:r>
            <a:endParaRPr lang="en-US" sz="900" dirty="0"/>
          </a:p>
        </p:txBody>
      </p:sp>
      <p:sp>
        <p:nvSpPr>
          <p:cNvPr id="7" name="Shape 5"/>
          <p:cNvSpPr/>
          <p:nvPr/>
        </p:nvSpPr>
        <p:spPr>
          <a:xfrm>
            <a:off x="566928" y="1536192"/>
            <a:ext cx="5852160" cy="3150657"/>
          </a:xfrm>
          <a:prstGeom prst="roundRect">
            <a:avLst>
              <a:gd name="adj" fmla="val 2032"/>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TestBreak.java</a:t>
            </a:r>
            <a:endParaRPr lang="en-US" sz="950" dirty="0"/>
          </a:p>
        </p:txBody>
      </p:sp>
      <p:sp>
        <p:nvSpPr>
          <p:cNvPr id="9" name="Text 7"/>
          <p:cNvSpPr txBox="1"/>
          <p:nvPr/>
        </p:nvSpPr>
        <p:spPr>
          <a:xfrm>
            <a:off x="731520" y="1810512"/>
            <a:ext cx="5522976" cy="2821473"/>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break</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out of the loop, now</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"The number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"The sum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6876288" y="1536192"/>
            <a:ext cx="4748479" cy="907085"/>
          </a:xfrm>
          <a:prstGeom prst="roundRect">
            <a:avLst>
              <a:gd name="adj" fmla="val 7056"/>
            </a:avLst>
          </a:prstGeom>
          <a:solidFill>
            <a:srgbClr val="FFFFFF"/>
          </a:solidFill>
          <a:ln w="12700">
            <a:solidFill>
              <a:srgbClr val="4B6377"/>
            </a:solidFill>
            <a:prstDash val="solid"/>
          </a:ln>
        </p:spPr>
      </p:sp>
      <p:sp>
        <p:nvSpPr>
          <p:cNvPr id="11" name="Text 9"/>
          <p:cNvSpPr txBox="1"/>
          <p:nvPr/>
        </p:nvSpPr>
        <p:spPr>
          <a:xfrm>
            <a:off x="7022592" y="1609344"/>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022592" y="1810512"/>
            <a:ext cx="4455871" cy="541325"/>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The number is 14</a:t>
            </a:r>
            <a:endParaRPr lang="en-US" sz="1200" dirty="0"/>
          </a:p>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The sum is 105</a:t>
            </a:r>
            <a:endParaRPr lang="en-US" sz="1200" dirty="0"/>
          </a:p>
        </p:txBody>
      </p:sp>
      <p:sp>
        <p:nvSpPr>
          <p:cNvPr id="13" name="Shape 11"/>
          <p:cNvSpPr/>
          <p:nvPr/>
        </p:nvSpPr>
        <p:spPr>
          <a:xfrm>
            <a:off x="6876288" y="2699309"/>
            <a:ext cx="4748479" cy="1463040"/>
          </a:xfrm>
          <a:prstGeom prst="roundRect">
            <a:avLst>
              <a:gd name="adj" fmla="val 5625"/>
            </a:avLst>
          </a:prstGeom>
          <a:solidFill>
            <a:srgbClr val="F1F5F9"/>
          </a:solidFill>
          <a:ln w="12700">
            <a:solidFill>
              <a:srgbClr val="F1F5F9"/>
            </a:solidFill>
            <a:prstDash val="solid"/>
          </a:ln>
        </p:spPr>
      </p:sp>
      <p:sp>
        <p:nvSpPr>
          <p:cNvPr id="14" name="Text 12"/>
          <p:cNvSpPr txBox="1"/>
          <p:nvPr/>
        </p:nvSpPr>
        <p:spPr>
          <a:xfrm>
            <a:off x="7095744" y="2863901"/>
            <a:ext cx="43095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Two conditions, two ways out</a:t>
            </a:r>
            <a:endParaRPr lang="en-US" sz="1450" dirty="0"/>
          </a:p>
        </p:txBody>
      </p:sp>
      <p:sp>
        <p:nvSpPr>
          <p:cNvPr id="15" name="Text 13"/>
          <p:cNvSpPr txBox="1"/>
          <p:nvPr/>
        </p:nvSpPr>
        <p:spPr>
          <a:xfrm>
            <a:off x="7095744" y="3193085"/>
            <a:ext cx="4309567" cy="84124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The loop has a normal exit at number = 20 and an early one at sum &gt;= 100. Here the early one wins: 1 + 2 + … + 14 is 105, the first running total to reach 100. The loop stops with six passes still owed.</a:t>
            </a:r>
            <a:endParaRPr lang="en-US" sz="1200" dirty="0"/>
          </a:p>
        </p:txBody>
      </p:sp>
      <p:sp>
        <p:nvSpPr>
          <p:cNvPr id="16" name="Shape 14"/>
          <p:cNvSpPr/>
          <p:nvPr/>
        </p:nvSpPr>
        <p:spPr>
          <a:xfrm>
            <a:off x="6876288" y="4317797"/>
            <a:ext cx="4748479" cy="1143000"/>
          </a:xfrm>
          <a:prstGeom prst="roundRect">
            <a:avLst>
              <a:gd name="adj" fmla="val 7200"/>
            </a:avLst>
          </a:prstGeom>
          <a:solidFill>
            <a:srgbClr val="FBEEE0"/>
          </a:solidFill>
          <a:ln w="12700">
            <a:solidFill>
              <a:srgbClr val="FBEEE0"/>
            </a:solidFill>
            <a:prstDash val="solid"/>
          </a:ln>
        </p:spPr>
      </p:sp>
      <p:sp>
        <p:nvSpPr>
          <p:cNvPr id="17" name="Text 15"/>
          <p:cNvSpPr txBox="1"/>
          <p:nvPr/>
        </p:nvSpPr>
        <p:spPr>
          <a:xfrm>
            <a:off x="7132320" y="4427525"/>
            <a:ext cx="4236415" cy="274320"/>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break leaves one loop, not all of them</a:t>
            </a:r>
            <a:endParaRPr lang="en-US" sz="1350" dirty="0"/>
          </a:p>
        </p:txBody>
      </p:sp>
      <p:sp>
        <p:nvSpPr>
          <p:cNvPr id="18" name="Text 16"/>
          <p:cNvSpPr txBox="1"/>
          <p:nvPr/>
        </p:nvSpPr>
        <p:spPr>
          <a:xfrm>
            <a:off x="7132320" y="4720133"/>
            <a:ext cx="4236415" cy="658368"/>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Inside nested loops it exits only the innermost one containing it. The outer loop carries on.</a:t>
            </a:r>
            <a:endParaRPr lang="en-US" sz="1200" dirty="0"/>
          </a:p>
        </p:txBody>
      </p:sp>
      <p:sp>
        <p:nvSpPr>
          <p:cNvPr id="19" name="Shape 17"/>
          <p:cNvSpPr/>
          <p:nvPr/>
        </p:nvSpPr>
        <p:spPr>
          <a:xfrm>
            <a:off x="6876288" y="5597957"/>
            <a:ext cx="4748479" cy="731520"/>
          </a:xfrm>
          <a:prstGeom prst="roundRect">
            <a:avLst>
              <a:gd name="adj" fmla="val 11250"/>
            </a:avLst>
          </a:prstGeom>
          <a:solidFill>
            <a:srgbClr val="E4ECF4"/>
          </a:solidFill>
          <a:ln w="12700">
            <a:solidFill>
              <a:srgbClr val="E4ECF4"/>
            </a:solidFill>
            <a:prstDash val="solid"/>
          </a:ln>
        </p:spPr>
      </p:sp>
      <p:sp>
        <p:nvSpPr>
          <p:cNvPr id="20" name="Text 18"/>
          <p:cNvSpPr txBox="1"/>
          <p:nvPr/>
        </p:nvSpPr>
        <p:spPr>
          <a:xfrm>
            <a:off x="7150608" y="5597957"/>
            <a:ext cx="4199839" cy="731520"/>
          </a:xfrm>
          <a:prstGeom prst="rect">
            <a:avLst/>
          </a:prstGeom>
          <a:noFill/>
          <a:ln/>
        </p:spPr>
        <p:txBody>
          <a:bodyPr wrap="square" lIns="0" tIns="0" rIns="0" bIns="0" rtlCol="0" anchor="ctr"/>
          <a:lstStyle/>
          <a:p>
            <a:pPr indent="0" marL="0">
              <a:buNone/>
            </a:pPr>
            <a:r>
              <a:rPr lang="en-US" sz="1200" b="1" dirty="0">
                <a:solidFill>
                  <a:srgbClr val="0F2942"/>
                </a:solidFill>
                <a:latin typeface="Calibri" pitchFamily="34" charset="0"/>
                <a:ea typeface="Calibri" pitchFamily="34" charset="-122"/>
                <a:cs typeface="Calibri" pitchFamily="34" charset="-120"/>
              </a:rPr>
              <a:t>You have met break before:  </a:t>
            </a:r>
            <a:pPr indent="0" marL="0">
              <a:buNone/>
            </a:pPr>
            <a:r>
              <a:rPr lang="en-US" sz="1200" dirty="0">
                <a:solidFill>
                  <a:srgbClr val="3A536B"/>
                </a:solidFill>
                <a:latin typeface="Calibri" pitchFamily="34" charset="0"/>
                <a:ea typeface="Calibri" pitchFamily="34" charset="-122"/>
                <a:cs typeface="Calibri" pitchFamily="34" charset="-120"/>
              </a:rPr>
              <a:t>in a switch statement. Same idea.</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CONTROL</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continue — Skip the Rest of This Pass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Execution jumps to the end of the body. The loop itself carries on with its next pass.</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29</a:t>
            </a:r>
            <a:endParaRPr lang="en-US" sz="900" dirty="0"/>
          </a:p>
        </p:txBody>
      </p:sp>
      <p:sp>
        <p:nvSpPr>
          <p:cNvPr id="7" name="Shape 5"/>
          <p:cNvSpPr/>
          <p:nvPr/>
        </p:nvSpPr>
        <p:spPr>
          <a:xfrm>
            <a:off x="566928" y="1536192"/>
            <a:ext cx="5852160" cy="2927726"/>
          </a:xfrm>
          <a:prstGeom prst="roundRect">
            <a:avLst>
              <a:gd name="adj" fmla="val 2186"/>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TestContinue.java</a:t>
            </a:r>
            <a:endParaRPr lang="en-US" sz="950" dirty="0"/>
          </a:p>
        </p:txBody>
      </p:sp>
      <p:sp>
        <p:nvSpPr>
          <p:cNvPr id="9" name="Text 7"/>
          <p:cNvSpPr txBox="1"/>
          <p:nvPr/>
        </p:nvSpPr>
        <p:spPr>
          <a:xfrm>
            <a:off x="731520" y="1810512"/>
            <a:ext cx="5522976" cy="2598542"/>
          </a:xfrm>
          <a:prstGeom prst="rect">
            <a:avLst/>
          </a:prstGeom>
          <a:noFill/>
          <a:ln/>
        </p:spPr>
        <p:txBody>
          <a:bodyPr wrap="square" lIns="0" tIns="0" rIns="0" bIns="0" rtlCol="0" anchor="t"/>
          <a:lstStyle/>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6B3FA0"/>
                </a:solidFill>
                <a:latin typeface="Courier New" pitchFamily="34" charset="0"/>
                <a:ea typeface="Courier New" pitchFamily="34" charset="-122"/>
                <a:cs typeface="Courier New" pitchFamily="34" charset="-120"/>
              </a:rPr>
              <a:t>11</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9A3412"/>
                </a:solidFill>
                <a:latin typeface="Courier New" pitchFamily="34" charset="0"/>
                <a:ea typeface="Courier New" pitchFamily="34" charset="-122"/>
                <a:cs typeface="Courier New" pitchFamily="34" charset="-120"/>
              </a:rPr>
              <a:t>continue</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415C6E"/>
                </a:solidFill>
                <a:latin typeface="Courier New" pitchFamily="34" charset="0"/>
                <a:ea typeface="Courier New" pitchFamily="34" charset="-122"/>
                <a:cs typeface="Courier New" pitchFamily="34" charset="-120"/>
              </a:rPr>
              <a:t>// skip to the next pass</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614A"/>
                </a:solidFill>
                <a:latin typeface="Courier New" pitchFamily="34" charset="0"/>
                <a:ea typeface="Courier New" pitchFamily="34" charset="-122"/>
                <a:cs typeface="Courier New" pitchFamily="34" charset="-120"/>
              </a:rPr>
              <a:t>"The sum is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33485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6876288" y="1536192"/>
            <a:ext cx="4748479" cy="682142"/>
          </a:xfrm>
          <a:prstGeom prst="roundRect">
            <a:avLst>
              <a:gd name="adj" fmla="val 9383"/>
            </a:avLst>
          </a:prstGeom>
          <a:solidFill>
            <a:srgbClr val="FFFFFF"/>
          </a:solidFill>
          <a:ln w="12700">
            <a:solidFill>
              <a:srgbClr val="4B6377"/>
            </a:solidFill>
            <a:prstDash val="solid"/>
          </a:ln>
        </p:spPr>
      </p:sp>
      <p:sp>
        <p:nvSpPr>
          <p:cNvPr id="11" name="Text 9"/>
          <p:cNvSpPr txBox="1"/>
          <p:nvPr/>
        </p:nvSpPr>
        <p:spPr>
          <a:xfrm>
            <a:off x="7022592" y="1609344"/>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022592" y="1810512"/>
            <a:ext cx="4455871" cy="316382"/>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The sum is 189</a:t>
            </a:r>
            <a:endParaRPr lang="en-US" sz="1200" dirty="0"/>
          </a:p>
        </p:txBody>
      </p:sp>
      <p:sp>
        <p:nvSpPr>
          <p:cNvPr id="13" name="Shape 11"/>
          <p:cNvSpPr/>
          <p:nvPr/>
        </p:nvSpPr>
        <p:spPr>
          <a:xfrm>
            <a:off x="6876288" y="2474366"/>
            <a:ext cx="4748479" cy="1417320"/>
          </a:xfrm>
          <a:prstGeom prst="roundRect">
            <a:avLst>
              <a:gd name="adj" fmla="val 5806"/>
            </a:avLst>
          </a:prstGeom>
          <a:solidFill>
            <a:srgbClr val="F1F5F9"/>
          </a:solidFill>
          <a:ln w="12700">
            <a:solidFill>
              <a:srgbClr val="F1F5F9"/>
            </a:solidFill>
            <a:prstDash val="solid"/>
          </a:ln>
        </p:spPr>
      </p:sp>
      <p:sp>
        <p:nvSpPr>
          <p:cNvPr id="14" name="Text 12"/>
          <p:cNvSpPr txBox="1"/>
          <p:nvPr/>
        </p:nvSpPr>
        <p:spPr>
          <a:xfrm>
            <a:off x="7095744" y="2638958"/>
            <a:ext cx="43095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Check the arithmetic yourself</a:t>
            </a:r>
            <a:endParaRPr lang="en-US" sz="1450" dirty="0"/>
          </a:p>
        </p:txBody>
      </p:sp>
      <p:sp>
        <p:nvSpPr>
          <p:cNvPr id="15" name="Text 13"/>
          <p:cNvSpPr txBox="1"/>
          <p:nvPr/>
        </p:nvSpPr>
        <p:spPr>
          <a:xfrm>
            <a:off x="7095744" y="2968142"/>
            <a:ext cx="4309567" cy="795528"/>
          </a:xfrm>
          <a:prstGeom prst="rect">
            <a:avLst/>
          </a:prstGeom>
          <a:noFill/>
          <a:ln/>
        </p:spPr>
        <p:txBody>
          <a:bodyPr wrap="square" lIns="0" tIns="0" rIns="0" bIns="0" rtlCol="0" anchor="t"/>
          <a:lstStyle/>
          <a:p>
            <a:pPr indent="0" marL="0">
              <a:lnSpc>
                <a:spcPct val="108000"/>
              </a:lnSpc>
              <a:buNone/>
            </a:pPr>
            <a:r>
              <a:rPr lang="en-US" sz="1200" dirty="0">
                <a:solidFill>
                  <a:srgbClr val="3A536B"/>
                </a:solidFill>
                <a:latin typeface="Calibri" pitchFamily="34" charset="0"/>
                <a:ea typeface="Calibri" pitchFamily="34" charset="-122"/>
                <a:cs typeface="Calibri" pitchFamily="34" charset="-120"/>
              </a:rPr>
              <a:t>1 + 2 + … + 20 is 210. The loop skips 10 and 11, so the answer is 210 − 21 = 189. The loop still makes all twenty passes — it just does less on two of them.</a:t>
            </a:r>
            <a:endParaRPr lang="en-US" sz="1200" dirty="0"/>
          </a:p>
        </p:txBody>
      </p:sp>
      <p:sp>
        <p:nvSpPr>
          <p:cNvPr id="16" name="Shape 14"/>
          <p:cNvSpPr/>
          <p:nvPr/>
        </p:nvSpPr>
        <p:spPr>
          <a:xfrm>
            <a:off x="6876288" y="4047134"/>
            <a:ext cx="4748479" cy="1463040"/>
          </a:xfrm>
          <a:prstGeom prst="roundRect">
            <a:avLst>
              <a:gd name="adj" fmla="val 5625"/>
            </a:avLst>
          </a:prstGeom>
          <a:solidFill>
            <a:srgbClr val="E6F2EC"/>
          </a:solidFill>
          <a:ln w="12700">
            <a:solidFill>
              <a:srgbClr val="E6F2EC"/>
            </a:solidFill>
            <a:prstDash val="solid"/>
          </a:ln>
        </p:spPr>
      </p:sp>
      <p:sp>
        <p:nvSpPr>
          <p:cNvPr id="17" name="Text 15"/>
          <p:cNvSpPr txBox="1"/>
          <p:nvPr/>
        </p:nvSpPr>
        <p:spPr>
          <a:xfrm>
            <a:off x="7132320" y="4175150"/>
            <a:ext cx="4236415"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break stops; continue skips</a:t>
            </a:r>
            <a:endParaRPr lang="en-US" sz="1350" dirty="0"/>
          </a:p>
        </p:txBody>
      </p:sp>
      <p:sp>
        <p:nvSpPr>
          <p:cNvPr id="18" name="Text 16"/>
          <p:cNvSpPr txBox="1"/>
          <p:nvPr/>
        </p:nvSpPr>
        <p:spPr>
          <a:xfrm>
            <a:off x="7132320" y="4467758"/>
            <a:ext cx="4236415" cy="9601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Swap continue for break in this program and the answer becomes 45 — the sum of 1 to 9, because the loop would end at 10 instead of stepping over it.</a:t>
            </a:r>
            <a:endParaRPr lang="en-US" sz="1200" dirty="0"/>
          </a:p>
        </p:txBody>
      </p:sp>
      <p:sp>
        <p:nvSpPr>
          <p:cNvPr id="19" name="Shape 17"/>
          <p:cNvSpPr/>
          <p:nvPr/>
        </p:nvSpPr>
        <p:spPr>
          <a:xfrm>
            <a:off x="6876288" y="5601614"/>
            <a:ext cx="4748479" cy="777240"/>
          </a:xfrm>
          <a:prstGeom prst="roundRect">
            <a:avLst>
              <a:gd name="adj" fmla="val 10588"/>
            </a:avLst>
          </a:prstGeom>
          <a:solidFill>
            <a:srgbClr val="E4ECF4"/>
          </a:solidFill>
          <a:ln w="12700">
            <a:solidFill>
              <a:srgbClr val="E4ECF4"/>
            </a:solidFill>
            <a:prstDash val="solid"/>
          </a:ln>
        </p:spPr>
      </p:sp>
      <p:sp>
        <p:nvSpPr>
          <p:cNvPr id="20" name="Text 18"/>
          <p:cNvSpPr txBox="1"/>
          <p:nvPr/>
        </p:nvSpPr>
        <p:spPr>
          <a:xfrm>
            <a:off x="7150608" y="5601614"/>
            <a:ext cx="4199839" cy="777240"/>
          </a:xfrm>
          <a:prstGeom prst="rect">
            <a:avLst/>
          </a:prstGeom>
          <a:noFill/>
          <a:ln/>
        </p:spPr>
        <p:txBody>
          <a:bodyPr wrap="square" lIns="0" tIns="0" rIns="0" bIns="0" rtlCol="0" anchor="ctr"/>
          <a:lstStyle/>
          <a:p>
            <a:pPr indent="0" marL="0">
              <a:lnSpc>
                <a:spcPct val="110000"/>
              </a:lnSpc>
              <a:buNone/>
            </a:pPr>
            <a:r>
              <a:rPr lang="en-US" sz="1200" b="1" dirty="0">
                <a:solidFill>
                  <a:srgbClr val="0F2942"/>
                </a:solidFill>
                <a:latin typeface="Calibri" pitchFamily="34" charset="0"/>
                <a:ea typeface="Calibri" pitchFamily="34" charset="-122"/>
                <a:cs typeface="Calibri" pitchFamily="34" charset="-120"/>
              </a:rPr>
              <a:t>Use both sparingly.  </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 loop with three breaks is usually a loop whose condition was never thought through.</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PITFALL</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The One Place a for and a while Are Not the Same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continue behaves differently in the two forms — and in a while loop it can hang your program.</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30</a:t>
            </a:r>
            <a:endParaRPr lang="en-US" sz="900" dirty="0"/>
          </a:p>
        </p:txBody>
      </p:sp>
      <p:sp>
        <p:nvSpPr>
          <p:cNvPr id="7" name="Shape 5"/>
          <p:cNvSpPr/>
          <p:nvPr/>
        </p:nvSpPr>
        <p:spPr>
          <a:xfrm>
            <a:off x="566928" y="1536192"/>
            <a:ext cx="5323180" cy="1638605"/>
          </a:xfrm>
          <a:prstGeom prst="roundRect">
            <a:avLst>
              <a:gd name="adj" fmla="val 3906"/>
            </a:avLst>
          </a:prstGeom>
          <a:solidFill>
            <a:srgbClr val="EDF2F7"/>
          </a:solidFill>
          <a:ln w="12700">
            <a:solidFill>
              <a:srgbClr val="CFDBE5"/>
            </a:solidFill>
            <a:prstDash val="solid"/>
          </a:ln>
        </p:spPr>
      </p:sp>
      <p:sp>
        <p:nvSpPr>
          <p:cNvPr id="8" name="Text 6"/>
          <p:cNvSpPr txBox="1"/>
          <p:nvPr/>
        </p:nvSpPr>
        <p:spPr>
          <a:xfrm>
            <a:off x="71323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IN A for — SAFE</a:t>
            </a:r>
            <a:endParaRPr lang="en-US" sz="950" dirty="0"/>
          </a:p>
        </p:txBody>
      </p:sp>
      <p:sp>
        <p:nvSpPr>
          <p:cNvPr id="9" name="Text 7"/>
          <p:cNvSpPr txBox="1"/>
          <p:nvPr/>
        </p:nvSpPr>
        <p:spPr>
          <a:xfrm>
            <a:off x="731520" y="1810512"/>
            <a:ext cx="4993996" cy="1309421"/>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1</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continue</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0" name="Shape 8"/>
          <p:cNvSpPr/>
          <p:nvPr/>
        </p:nvSpPr>
        <p:spPr>
          <a:xfrm>
            <a:off x="566928" y="3394253"/>
            <a:ext cx="5323180" cy="663397"/>
          </a:xfrm>
          <a:prstGeom prst="roundRect">
            <a:avLst>
              <a:gd name="adj" fmla="val 9649"/>
            </a:avLst>
          </a:prstGeom>
          <a:solidFill>
            <a:srgbClr val="FFFFFF"/>
          </a:solidFill>
          <a:ln w="12700">
            <a:solidFill>
              <a:srgbClr val="4B6377"/>
            </a:solidFill>
            <a:prstDash val="solid"/>
          </a:ln>
        </p:spPr>
      </p:sp>
      <p:sp>
        <p:nvSpPr>
          <p:cNvPr id="11" name="Text 9"/>
          <p:cNvSpPr txBox="1"/>
          <p:nvPr/>
        </p:nvSpPr>
        <p:spPr>
          <a:xfrm>
            <a:off x="713232" y="3467405"/>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13232" y="3668573"/>
            <a:ext cx="5030572" cy="297637"/>
          </a:xfrm>
          <a:prstGeom prst="rect">
            <a:avLst/>
          </a:prstGeom>
          <a:noFill/>
          <a:ln/>
        </p:spPr>
        <p:txBody>
          <a:bodyPr wrap="square" lIns="0" tIns="0" rIns="0" bIns="0" rtlCol="0" anchor="t"/>
          <a:lstStyle/>
          <a:p>
            <a:pPr indent="0" marL="0">
              <a:lnSpc>
                <a:spcPct val="110000"/>
              </a:lnSpc>
              <a:buNone/>
            </a:pPr>
            <a:r>
              <a:rPr lang="en-US" sz="1100" dirty="0">
                <a:solidFill>
                  <a:srgbClr val="0F2942"/>
                </a:solidFill>
                <a:latin typeface="Courier New" pitchFamily="34" charset="0"/>
                <a:ea typeface="Courier New" pitchFamily="34" charset="-122"/>
                <a:cs typeface="Courier New" pitchFamily="34" charset="-120"/>
              </a:rPr>
              <a:t>1 2 4 5 7 8 10 11 13 14 16 17 19 20</a:t>
            </a:r>
            <a:endParaRPr lang="en-US" sz="1100" dirty="0"/>
          </a:p>
        </p:txBody>
      </p:sp>
      <p:sp>
        <p:nvSpPr>
          <p:cNvPr id="13" name="Shape 11"/>
          <p:cNvSpPr/>
          <p:nvPr/>
        </p:nvSpPr>
        <p:spPr>
          <a:xfrm>
            <a:off x="566928" y="4295394"/>
            <a:ext cx="5323180" cy="1143000"/>
          </a:xfrm>
          <a:prstGeom prst="roundRect">
            <a:avLst>
              <a:gd name="adj" fmla="val 7200"/>
            </a:avLst>
          </a:prstGeom>
          <a:solidFill>
            <a:srgbClr val="E6F2EC"/>
          </a:solidFill>
          <a:ln w="12700">
            <a:solidFill>
              <a:srgbClr val="E6F2EC"/>
            </a:solidFill>
            <a:prstDash val="solid"/>
          </a:ln>
        </p:spPr>
      </p:sp>
      <p:sp>
        <p:nvSpPr>
          <p:cNvPr id="14" name="Text 12"/>
          <p:cNvSpPr txBox="1"/>
          <p:nvPr/>
        </p:nvSpPr>
        <p:spPr>
          <a:xfrm>
            <a:off x="822960" y="4405122"/>
            <a:ext cx="4811116" cy="274320"/>
          </a:xfrm>
          <a:prstGeom prst="rect">
            <a:avLst/>
          </a:prstGeom>
          <a:noFill/>
          <a:ln/>
        </p:spPr>
        <p:txBody>
          <a:bodyPr wrap="square" lIns="0" tIns="0" rIns="0" bIns="0" rtlCol="0" anchor="ctr"/>
          <a:lstStyle/>
          <a:p>
            <a:pPr indent="0" marL="0">
              <a:buNone/>
            </a:pPr>
            <a:r>
              <a:rPr lang="en-US" sz="1350" b="1" dirty="0">
                <a:solidFill>
                  <a:srgbClr val="176240"/>
                </a:solidFill>
                <a:latin typeface="Calibri" pitchFamily="34" charset="0"/>
                <a:ea typeface="Calibri" pitchFamily="34" charset="-122"/>
                <a:cs typeface="Calibri" pitchFamily="34" charset="-120"/>
              </a:rPr>
              <a:t>i++ still runs</a:t>
            </a:r>
            <a:endParaRPr lang="en-US" sz="1350" dirty="0"/>
          </a:p>
        </p:txBody>
      </p:sp>
      <p:sp>
        <p:nvSpPr>
          <p:cNvPr id="15" name="Text 13"/>
          <p:cNvSpPr txBox="1"/>
          <p:nvPr/>
        </p:nvSpPr>
        <p:spPr>
          <a:xfrm>
            <a:off x="822960" y="4697730"/>
            <a:ext cx="4811116" cy="713232"/>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continue jumps to the action-after-each-iteration, not past it. The counter advances and the loop finishes.</a:t>
            </a:r>
            <a:endParaRPr lang="en-US" sz="1200" dirty="0"/>
          </a:p>
        </p:txBody>
      </p:sp>
      <p:sp>
        <p:nvSpPr>
          <p:cNvPr id="16" name="Shape 14"/>
          <p:cNvSpPr/>
          <p:nvPr/>
        </p:nvSpPr>
        <p:spPr>
          <a:xfrm>
            <a:off x="6301588" y="1536192"/>
            <a:ext cx="5323180" cy="2103852"/>
          </a:xfrm>
          <a:prstGeom prst="roundRect">
            <a:avLst>
              <a:gd name="adj" fmla="val 3042"/>
            </a:avLst>
          </a:prstGeom>
          <a:solidFill>
            <a:srgbClr val="EDF2F7"/>
          </a:solidFill>
          <a:ln w="12700">
            <a:solidFill>
              <a:srgbClr val="CFDBE5"/>
            </a:solidFill>
            <a:prstDash val="solid"/>
          </a:ln>
        </p:spPr>
      </p:sp>
      <p:sp>
        <p:nvSpPr>
          <p:cNvPr id="17" name="Text 15"/>
          <p:cNvSpPr txBox="1"/>
          <p:nvPr/>
        </p:nvSpPr>
        <p:spPr>
          <a:xfrm>
            <a:off x="6447892" y="1581912"/>
            <a:ext cx="503057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IN A while — ONLY IF THE STEP IS ABOVE THE continue</a:t>
            </a:r>
            <a:endParaRPr lang="en-US" sz="950" dirty="0"/>
          </a:p>
        </p:txBody>
      </p:sp>
      <p:sp>
        <p:nvSpPr>
          <p:cNvPr id="18" name="Text 16"/>
          <p:cNvSpPr txBox="1"/>
          <p:nvPr/>
        </p:nvSpPr>
        <p:spPr>
          <a:xfrm>
            <a:off x="6466180" y="1810512"/>
            <a:ext cx="4993996" cy="1774668"/>
          </a:xfrm>
          <a:prstGeom prst="rect">
            <a:avLst/>
          </a:prstGeom>
          <a:noFill/>
          <a:ln/>
        </p:spPr>
        <p:txBody>
          <a:bodyPr wrap="square" lIns="0" tIns="0" rIns="0" bIns="0" rtlCol="0" anchor="t"/>
          <a:lstStyle/>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20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415C6E"/>
                </a:solidFill>
                <a:latin typeface="Courier New" pitchFamily="34" charset="0"/>
                <a:ea typeface="Courier New" pitchFamily="34" charset="-122"/>
                <a:cs typeface="Courier New" pitchFamily="34" charset="-120"/>
              </a:rPr>
              <a:t>// must come FIRST here</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9A3412"/>
                </a:solidFill>
                <a:latin typeface="Courier New" pitchFamily="34" charset="0"/>
                <a:ea typeface="Courier New" pitchFamily="34" charset="-122"/>
                <a:cs typeface="Courier New" pitchFamily="34" charset="-120"/>
              </a:rPr>
              <a:t>continue</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print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i</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14614A"/>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33485C"/>
                </a:solidFill>
                <a:latin typeface="Courier New" pitchFamily="34" charset="0"/>
                <a:ea typeface="Courier New" pitchFamily="34" charset="-122"/>
                <a:cs typeface="Courier New" pitchFamily="34" charset="-120"/>
              </a:rPr>
              <a:t>}</a:t>
            </a:r>
            <a:endParaRPr lang="en-US" sz="1200" dirty="0"/>
          </a:p>
        </p:txBody>
      </p:sp>
      <p:sp>
        <p:nvSpPr>
          <p:cNvPr id="19" name="Shape 17"/>
          <p:cNvSpPr/>
          <p:nvPr/>
        </p:nvSpPr>
        <p:spPr>
          <a:xfrm>
            <a:off x="6301588" y="3877788"/>
            <a:ext cx="5323180" cy="1965960"/>
          </a:xfrm>
          <a:prstGeom prst="roundRect">
            <a:avLst>
              <a:gd name="adj" fmla="val 4186"/>
            </a:avLst>
          </a:prstGeom>
          <a:solidFill>
            <a:srgbClr val="FBEAE8"/>
          </a:solidFill>
          <a:ln w="12700">
            <a:solidFill>
              <a:srgbClr val="FBEAE8"/>
            </a:solidFill>
            <a:prstDash val="solid"/>
          </a:ln>
        </p:spPr>
      </p:sp>
      <p:sp>
        <p:nvSpPr>
          <p:cNvPr id="20" name="Text 18"/>
          <p:cNvSpPr txBox="1"/>
          <p:nvPr/>
        </p:nvSpPr>
        <p:spPr>
          <a:xfrm>
            <a:off x="6557620" y="4005804"/>
            <a:ext cx="4811116" cy="274320"/>
          </a:xfrm>
          <a:prstGeom prst="rect">
            <a:avLst/>
          </a:prstGeom>
          <a:noFill/>
          <a:ln/>
        </p:spPr>
        <p:txBody>
          <a:bodyPr wrap="square" lIns="0" tIns="0" rIns="0" bIns="0" rtlCol="0" anchor="ctr"/>
          <a:lstStyle/>
          <a:p>
            <a:pPr indent="0" marL="0">
              <a:buNone/>
            </a:pPr>
            <a:r>
              <a:rPr lang="en-US" sz="1350" b="1" dirty="0">
                <a:solidFill>
                  <a:srgbClr val="9C241C"/>
                </a:solidFill>
                <a:latin typeface="Calibri" pitchFamily="34" charset="0"/>
                <a:ea typeface="Calibri" pitchFamily="34" charset="-122"/>
                <a:cs typeface="Calibri" pitchFamily="34" charset="-120"/>
              </a:rPr>
              <a:t>Move i++ to the bottom and it hangs</a:t>
            </a:r>
            <a:endParaRPr lang="en-US" sz="1350" dirty="0"/>
          </a:p>
        </p:txBody>
      </p:sp>
      <p:sp>
        <p:nvSpPr>
          <p:cNvPr id="21" name="Text 19"/>
          <p:cNvSpPr txBox="1"/>
          <p:nvPr/>
        </p:nvSpPr>
        <p:spPr>
          <a:xfrm>
            <a:off x="6557620" y="4298412"/>
            <a:ext cx="4811116" cy="14173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continue skips everything below it — including the update. The first time i reaches a multiple of 3, the loop stops making progress and spins on that value forever. This is the special case behind the textbook's remark that a for cannot always be rewritten as a while.</a:t>
            </a:r>
            <a:endParaRPr lang="en-US" sz="1200" dirty="0"/>
          </a:p>
        </p:txBody>
      </p:sp>
      <p:sp>
        <p:nvSpPr>
          <p:cNvPr id="22" name="Shape 20"/>
          <p:cNvSpPr/>
          <p:nvPr/>
        </p:nvSpPr>
        <p:spPr>
          <a:xfrm>
            <a:off x="566928" y="5566410"/>
            <a:ext cx="5323180" cy="914400"/>
          </a:xfrm>
          <a:prstGeom prst="roundRect">
            <a:avLst>
              <a:gd name="adj" fmla="val 9000"/>
            </a:avLst>
          </a:prstGeom>
          <a:solidFill>
            <a:srgbClr val="E4ECF4"/>
          </a:solidFill>
          <a:ln w="12700">
            <a:solidFill>
              <a:srgbClr val="E4ECF4"/>
            </a:solidFill>
            <a:prstDash val="solid"/>
          </a:ln>
        </p:spPr>
      </p:sp>
      <p:sp>
        <p:nvSpPr>
          <p:cNvPr id="23" name="Text 21"/>
          <p:cNvSpPr txBox="1"/>
          <p:nvPr/>
        </p:nvSpPr>
        <p:spPr>
          <a:xfrm>
            <a:off x="841248" y="5566410"/>
            <a:ext cx="4774540" cy="914400"/>
          </a:xfrm>
          <a:prstGeom prst="rect">
            <a:avLst/>
          </a:prstGeom>
          <a:noFill/>
          <a:ln/>
        </p:spPr>
        <p:txBody>
          <a:bodyPr wrap="square" lIns="0" tIns="0" rIns="0" bIns="0" rtlCol="0" anchor="ctr"/>
          <a:lstStyle/>
          <a:p>
            <a:pPr indent="0" marL="0">
              <a:lnSpc>
                <a:spcPct val="112000"/>
              </a:lnSpc>
              <a:buNone/>
            </a:pPr>
            <a:r>
              <a:rPr lang="en-US" sz="1250" b="1" dirty="0">
                <a:solidFill>
                  <a:srgbClr val="0F2942"/>
                </a:solidFill>
                <a:latin typeface="Calibri" pitchFamily="34" charset="0"/>
                <a:ea typeface="Calibri" pitchFamily="34" charset="-122"/>
                <a:cs typeface="Calibri" pitchFamily="34" charset="-120"/>
              </a:rPr>
              <a:t>The safe habit: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if a loop body contains a continue, use a for — the language then guarantees the counter advances.</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CASE STUDY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Dec2Hex — Building an Answer Backwards</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Divide by 16 and keep the remainders. They come out in reverse order, so each new digit goes on the front.</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31</a:t>
            </a:r>
            <a:endParaRPr lang="en-US" sz="900" dirty="0"/>
          </a:p>
        </p:txBody>
      </p:sp>
      <p:sp>
        <p:nvSpPr>
          <p:cNvPr id="7" name="Shape 5"/>
          <p:cNvSpPr/>
          <p:nvPr/>
        </p:nvSpPr>
        <p:spPr>
          <a:xfrm>
            <a:off x="566928" y="1536192"/>
            <a:ext cx="5852160" cy="3247583"/>
          </a:xfrm>
          <a:prstGeom prst="roundRect">
            <a:avLst>
              <a:gd name="adj" fmla="val 1971"/>
            </a:avLst>
          </a:prstGeom>
          <a:solidFill>
            <a:srgbClr val="EDF2F7"/>
          </a:solidFill>
          <a:ln w="12700">
            <a:solidFill>
              <a:srgbClr val="CFDBE5"/>
            </a:solidFill>
            <a:prstDash val="solid"/>
          </a:ln>
        </p:spPr>
      </p:sp>
      <p:sp>
        <p:nvSpPr>
          <p:cNvPr id="8" name="Text 6"/>
          <p:cNvSpPr txBox="1"/>
          <p:nvPr/>
        </p:nvSpPr>
        <p:spPr>
          <a:xfrm>
            <a:off x="713232" y="1581912"/>
            <a:ext cx="555955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Dec2Hex.java</a:t>
            </a:r>
            <a:endParaRPr lang="en-US" sz="950" dirty="0"/>
          </a:p>
        </p:txBody>
      </p:sp>
      <p:sp>
        <p:nvSpPr>
          <p:cNvPr id="9" name="Text 7"/>
          <p:cNvSpPr txBox="1"/>
          <p:nvPr/>
        </p:nvSpPr>
        <p:spPr>
          <a:xfrm>
            <a:off x="731520" y="1810512"/>
            <a:ext cx="5522976" cy="2918399"/>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decimal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1234</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String</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hex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decimal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decimal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one digit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digit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char</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9</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value</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value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hex</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digit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hex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on the FRONT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decimal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decimal</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16</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415C6E"/>
                </a:solidFill>
                <a:latin typeface="Courier New" pitchFamily="34" charset="0"/>
                <a:ea typeface="Courier New" pitchFamily="34" charset="-122"/>
                <a:cs typeface="Courier New" pitchFamily="34" charset="-120"/>
              </a:rPr>
              <a:t>// shift right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614A"/>
                </a:solidFill>
                <a:latin typeface="Courier New" pitchFamily="34" charset="0"/>
                <a:ea typeface="Courier New" pitchFamily="34" charset="-122"/>
                <a:cs typeface="Courier New" pitchFamily="34" charset="-120"/>
              </a:rPr>
              <a:t>"The hex is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hex</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876288" y="1536192"/>
          <a:ext cx="4748479" cy="914400"/>
        </p:xfrm>
        <a:graphic>
          <a:graphicData uri="http://schemas.openxmlformats.org/drawingml/2006/table">
            <a:tbl>
              <a:tblPr/>
              <a:tblGrid>
                <a:gridCol w="1234605"/>
                <a:gridCol w="854726"/>
                <a:gridCol w="949696"/>
                <a:gridCol w="1709453"/>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decimal</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 16</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digit</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hex so far</a:t>
                      </a:r>
                      <a:endParaRPr lang="en-US" sz="1150" dirty="0">
                        <a:latin typeface="Calibri" charset="0"/>
                        <a:ea typeface="Calibri" charset="0"/>
                        <a:cs typeface="Calibri"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0F2942"/>
                    </a:solidFill>
                  </a:tcPr>
                </a:tc>
              </a:tr>
              <a:tr h="365760">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1234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77</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13</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D</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D2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dirty="0">
                          <a:solidFill>
                            <a:srgbClr val="0F2942"/>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c>
                  <a:txBody>
                    <a:bodyPr/>
                    <a:lstStyle/>
                    <a:p>
                      <a:pPr indent="0" marL="0">
                        <a:buNone/>
                      </a:pPr>
                      <a:r>
                        <a:rPr lang="en-US" sz="1100" b="1" dirty="0">
                          <a:solidFill>
                            <a:srgbClr val="0F2942"/>
                          </a:solidFill>
                          <a:latin typeface="Courier New" pitchFamily="34" charset="0"/>
                          <a:ea typeface="Courier New" pitchFamily="34" charset="-122"/>
                          <a:cs typeface="Courier New" pitchFamily="34" charset="-120"/>
                        </a:rPr>
                        <a:t>4D2</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176240"/>
                          </a:solidFill>
                          <a:latin typeface="Courier New" pitchFamily="34" charset="0"/>
                          <a:ea typeface="Courier New" pitchFamily="34" charset="-122"/>
                          <a:cs typeface="Courier New" pitchFamily="34" charset="-120"/>
                        </a:rPr>
                        <a:t>0</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indent="0" marL="0">
                        <a:buNone/>
                      </a:pPr>
                      <a:r>
                        <a:rPr lang="en-US" sz="1100" dirty="0">
                          <a:solidFill>
                            <a:srgbClr val="176240"/>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indent="0" marL="0">
                        <a:buNone/>
                      </a:pPr>
                      <a:r>
                        <a:rPr lang="en-US" sz="1100" dirty="0">
                          <a:solidFill>
                            <a:srgbClr val="176240"/>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c>
                  <a:txBody>
                    <a:bodyPr/>
                    <a:lstStyle/>
                    <a:p>
                      <a:pPr indent="0" marL="0">
                        <a:buNone/>
                      </a:pPr>
                      <a:r>
                        <a:rPr lang="en-US" sz="1100" b="1" dirty="0">
                          <a:solidFill>
                            <a:srgbClr val="176240"/>
                          </a:solidFill>
                          <a:latin typeface="Courier New" pitchFamily="34" charset="0"/>
                          <a:ea typeface="Courier New" pitchFamily="34" charset="-122"/>
                          <a:cs typeface="Courier New" pitchFamily="34" charset="-120"/>
                        </a:rPr>
                        <a:t>stop</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D3DEE7"/>
                      </a:solidFill>
                      <a:prstDash val="solid"/>
                      <a:round/>
                      <a:headEnd type="none" w="med" len="med"/>
                      <a:tailEnd type="none" w="med" len="med"/>
                    </a:lnL>
                    <a:lnR w="12700" cap="flat" cmpd="sng" algn="ctr">
                      <a:solidFill>
                        <a:srgbClr val="D3DEE7"/>
                      </a:solidFill>
                      <a:prstDash val="solid"/>
                      <a:round/>
                      <a:headEnd type="none" w="med" len="med"/>
                      <a:tailEnd type="none" w="med" len="med"/>
                    </a:lnR>
                    <a:lnT w="12700" cap="flat" cmpd="sng" algn="ctr">
                      <a:solidFill>
                        <a:srgbClr val="D3DEE7"/>
                      </a:solidFill>
                      <a:prstDash val="solid"/>
                      <a:round/>
                      <a:headEnd type="none" w="med" len="med"/>
                      <a:tailEnd type="none" w="med" len="med"/>
                    </a:lnT>
                    <a:lnB w="12700" cap="flat" cmpd="sng" algn="ctr">
                      <a:solidFill>
                        <a:srgbClr val="D3DEE7"/>
                      </a:solidFill>
                      <a:prstDash val="solid"/>
                      <a:round/>
                      <a:headEnd type="none" w="med" len="med"/>
                      <a:tailEnd type="none" w="med" len="med"/>
                    </a:lnB>
                    <a:solidFill>
                      <a:srgbClr val="E6F2EC"/>
                    </a:solidFill>
                  </a:tcPr>
                </a:tc>
              </a:tr>
            </a:tbl>
          </a:graphicData>
        </a:graphic>
      </p:graphicFrame>
      <p:sp>
        <p:nvSpPr>
          <p:cNvPr id="11" name="Shape 8"/>
          <p:cNvSpPr/>
          <p:nvPr/>
        </p:nvSpPr>
        <p:spPr>
          <a:xfrm>
            <a:off x="6876288" y="3593592"/>
            <a:ext cx="4748479" cy="682142"/>
          </a:xfrm>
          <a:prstGeom prst="roundRect">
            <a:avLst>
              <a:gd name="adj" fmla="val 9383"/>
            </a:avLst>
          </a:prstGeom>
          <a:solidFill>
            <a:srgbClr val="FFFFFF"/>
          </a:solidFill>
          <a:ln w="12700">
            <a:solidFill>
              <a:srgbClr val="4B6377"/>
            </a:solidFill>
            <a:prstDash val="solid"/>
          </a:ln>
        </p:spPr>
      </p:sp>
      <p:sp>
        <p:nvSpPr>
          <p:cNvPr id="12" name="Text 9"/>
          <p:cNvSpPr txBox="1"/>
          <p:nvPr/>
        </p:nvSpPr>
        <p:spPr>
          <a:xfrm>
            <a:off x="7022592" y="3666744"/>
            <a:ext cx="445587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3" name="Text 10"/>
          <p:cNvSpPr txBox="1"/>
          <p:nvPr/>
        </p:nvSpPr>
        <p:spPr>
          <a:xfrm>
            <a:off x="7022592" y="3867912"/>
            <a:ext cx="4455871" cy="316382"/>
          </a:xfrm>
          <a:prstGeom prst="rect">
            <a:avLst/>
          </a:prstGeom>
          <a:noFill/>
          <a:ln/>
        </p:spPr>
        <p:txBody>
          <a:bodyPr wrap="square" lIns="0" tIns="0" rIns="0" bIns="0" rtlCol="0" anchor="t"/>
          <a:lstStyle/>
          <a:p>
            <a:pPr indent="0" marL="0">
              <a:lnSpc>
                <a:spcPct val="110000"/>
              </a:lnSpc>
              <a:buNone/>
            </a:pPr>
            <a:r>
              <a:rPr lang="en-US" sz="1200" dirty="0">
                <a:solidFill>
                  <a:srgbClr val="0F2942"/>
                </a:solidFill>
                <a:latin typeface="Courier New" pitchFamily="34" charset="0"/>
                <a:ea typeface="Courier New" pitchFamily="34" charset="-122"/>
                <a:cs typeface="Courier New" pitchFamily="34" charset="-120"/>
              </a:rPr>
              <a:t>The hex is 4D2</a:t>
            </a:r>
            <a:endParaRPr lang="en-US" sz="1200" dirty="0"/>
          </a:p>
        </p:txBody>
      </p:sp>
      <p:sp>
        <p:nvSpPr>
          <p:cNvPr id="14" name="Shape 11"/>
          <p:cNvSpPr/>
          <p:nvPr/>
        </p:nvSpPr>
        <p:spPr>
          <a:xfrm>
            <a:off x="6876288" y="4416552"/>
            <a:ext cx="4748479" cy="1874520"/>
          </a:xfrm>
          <a:prstGeom prst="roundRect">
            <a:avLst>
              <a:gd name="adj" fmla="val 4390"/>
            </a:avLst>
          </a:prstGeom>
          <a:solidFill>
            <a:srgbClr val="F1F5F9"/>
          </a:solidFill>
          <a:ln w="12700">
            <a:solidFill>
              <a:srgbClr val="F1F5F9"/>
            </a:solidFill>
            <a:prstDash val="solid"/>
          </a:ln>
        </p:spPr>
      </p:sp>
      <p:sp>
        <p:nvSpPr>
          <p:cNvPr id="15" name="Text 12"/>
          <p:cNvSpPr txBox="1"/>
          <p:nvPr/>
        </p:nvSpPr>
        <p:spPr>
          <a:xfrm>
            <a:off x="7095744" y="4581144"/>
            <a:ext cx="4309567" cy="310896"/>
          </a:xfrm>
          <a:prstGeom prst="rect">
            <a:avLst/>
          </a:prstGeom>
          <a:noFill/>
          <a:ln/>
        </p:spPr>
        <p:txBody>
          <a:bodyPr wrap="square" lIns="0" tIns="0" rIns="0" bIns="0" rtlCol="0" anchor="t"/>
          <a:lstStyle/>
          <a:p>
            <a:pPr indent="0" marL="0">
              <a:buNone/>
            </a:pPr>
            <a:r>
              <a:rPr lang="en-US" sz="1450" b="1" dirty="0">
                <a:solidFill>
                  <a:srgbClr val="0F2942"/>
                </a:solidFill>
                <a:latin typeface="Calibri" pitchFamily="34" charset="0"/>
                <a:ea typeface="Calibri" pitchFamily="34" charset="-122"/>
                <a:cs typeface="Calibri" pitchFamily="34" charset="-120"/>
              </a:rPr>
              <a:t>Two details worth pausing on</a:t>
            </a:r>
            <a:endParaRPr lang="en-US" sz="1450" dirty="0"/>
          </a:p>
        </p:txBody>
      </p:sp>
      <p:sp>
        <p:nvSpPr>
          <p:cNvPr id="16" name="Text 13"/>
          <p:cNvSpPr txBox="1"/>
          <p:nvPr/>
        </p:nvSpPr>
        <p:spPr>
          <a:xfrm>
            <a:off x="7132320" y="4910328"/>
            <a:ext cx="4291279" cy="1252728"/>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rgbClr val="3A536B"/>
                </a:solidFill>
                <a:latin typeface="Calibri" pitchFamily="34" charset="0"/>
                <a:ea typeface="Calibri" pitchFamily="34" charset="-122"/>
                <a:cs typeface="Calibri" pitchFamily="34" charset="-120"/>
              </a:rPr>
              <a:t>The condition is != 0 because integer division drives decimal to zero and then stops there.</a:t>
            </a:r>
            <a:endParaRPr lang="en-US" sz="1200" dirty="0"/>
          </a:p>
          <a:p>
            <a:pPr marL="177800" indent="-177800">
              <a:spcAft>
                <a:spcPts val="400"/>
              </a:spcAft>
              <a:buSzPct val="100000"/>
              <a:buChar char="•"/>
            </a:pPr>
            <a:r>
              <a:rPr lang="en-US" sz="1200" dirty="0">
                <a:solidFill>
                  <a:srgbClr val="3A536B"/>
                </a:solidFill>
                <a:latin typeface="Calibri" pitchFamily="34" charset="0"/>
                <a:ea typeface="Calibri" pitchFamily="34" charset="-122"/>
                <a:cs typeface="Calibri" pitchFamily="34" charset="-120"/>
              </a:rPr>
              <a:t>'A' + value - 10 is char arithmetic — Lecture 2's type conversion doing real work.</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CASE STUDY</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PrimeNumber — Every Idea From Today at Once</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A nested loop, a break, a counter, and formatted output. This is the target problem for the chapter.</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32</a:t>
            </a:r>
            <a:endParaRPr lang="en-US" sz="900" dirty="0"/>
          </a:p>
        </p:txBody>
      </p:sp>
      <p:sp>
        <p:nvSpPr>
          <p:cNvPr id="7" name="Shape 5"/>
          <p:cNvSpPr/>
          <p:nvPr/>
        </p:nvSpPr>
        <p:spPr>
          <a:xfrm>
            <a:off x="566928" y="1536192"/>
            <a:ext cx="6035040" cy="4546397"/>
          </a:xfrm>
          <a:prstGeom prst="roundRect">
            <a:avLst>
              <a:gd name="adj" fmla="val 1408"/>
            </a:avLst>
          </a:prstGeom>
          <a:solidFill>
            <a:srgbClr val="EDF2F7"/>
          </a:solidFill>
          <a:ln w="12700">
            <a:solidFill>
              <a:srgbClr val="CFDBE5"/>
            </a:solidFill>
            <a:prstDash val="solid"/>
          </a:ln>
        </p:spPr>
      </p:sp>
      <p:sp>
        <p:nvSpPr>
          <p:cNvPr id="8" name="Text 6"/>
          <p:cNvSpPr txBox="1"/>
          <p:nvPr/>
        </p:nvSpPr>
        <p:spPr>
          <a:xfrm>
            <a:off x="713232" y="1581912"/>
            <a:ext cx="5742432"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PrimeNumber.java</a:t>
            </a:r>
            <a:endParaRPr lang="en-US" sz="950" dirty="0"/>
          </a:p>
        </p:txBody>
      </p:sp>
      <p:sp>
        <p:nvSpPr>
          <p:cNvPr id="9" name="Text 7"/>
          <p:cNvSpPr txBox="1"/>
          <p:nvPr/>
        </p:nvSpPr>
        <p:spPr>
          <a:xfrm>
            <a:off x="731520" y="1810512"/>
            <a:ext cx="5705856" cy="4217213"/>
          </a:xfrm>
          <a:prstGeom prst="rect">
            <a:avLst/>
          </a:prstGeom>
          <a:noFill/>
          <a:ln/>
        </p:spPr>
        <p:txBody>
          <a:bodyPr wrap="square" lIns="0" tIns="0" rIns="0" bIns="0" rtlCol="0" anchor="t"/>
          <a:lstStyle/>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final</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NUMBER_OF_PRIMES</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50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NUMBER_OF_PRIMES</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boolean</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isPrime</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true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for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d</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isPrime</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false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break</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415C6E"/>
                </a:solidFill>
                <a:latin typeface="Courier New" pitchFamily="34" charset="0"/>
                <a:ea typeface="Courier New" pitchFamily="34" charset="-122"/>
                <a:cs typeface="Courier New" pitchFamily="34" charset="-120"/>
              </a:rPr>
              <a:t>// one divisor is enough</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isPrime</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printf</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614A"/>
                </a:solidFill>
                <a:latin typeface="Courier New" pitchFamily="34" charset="0"/>
                <a:ea typeface="Courier New" pitchFamily="34" charset="-122"/>
                <a:cs typeface="Courier New" pitchFamily="34" charset="-120"/>
              </a:rPr>
              <a:t>"%5d"</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count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10</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568A"/>
                </a:solidFill>
                <a:latin typeface="Courier New" pitchFamily="34" charset="0"/>
                <a:ea typeface="Courier New" pitchFamily="34" charset="-122"/>
                <a:cs typeface="Courier New" pitchFamily="34" charset="-120"/>
              </a:rPr>
              <a:t>System</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out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println</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14293C"/>
                </a:solidFill>
                <a:latin typeface="Courier New" pitchFamily="34" charset="0"/>
                <a:ea typeface="Courier New" pitchFamily="34" charset="-122"/>
                <a:cs typeface="Courier New" pitchFamily="34" charset="-120"/>
              </a:rPr>
              <a:t>number</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33485C"/>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7059168" y="1536192"/>
            <a:ext cx="4565599" cy="1300734"/>
          </a:xfrm>
          <a:prstGeom prst="roundRect">
            <a:avLst>
              <a:gd name="adj" fmla="val 4921"/>
            </a:avLst>
          </a:prstGeom>
          <a:solidFill>
            <a:srgbClr val="FFFFFF"/>
          </a:solidFill>
          <a:ln w="12700">
            <a:solidFill>
              <a:srgbClr val="4B6377"/>
            </a:solidFill>
            <a:prstDash val="solid"/>
          </a:ln>
        </p:spPr>
      </p:sp>
      <p:sp>
        <p:nvSpPr>
          <p:cNvPr id="11" name="Text 9"/>
          <p:cNvSpPr txBox="1"/>
          <p:nvPr/>
        </p:nvSpPr>
        <p:spPr>
          <a:xfrm>
            <a:off x="7205472" y="1609344"/>
            <a:ext cx="4272991" cy="182880"/>
          </a:xfrm>
          <a:prstGeom prst="rect">
            <a:avLst/>
          </a:prstGeom>
          <a:noFill/>
          <a:ln/>
        </p:spPr>
        <p:txBody>
          <a:bodyPr wrap="square" lIns="0" tIns="0" rIns="0" bIns="0" rtlCol="0" anchor="ctr"/>
          <a:lstStyle/>
          <a:p>
            <a:pPr indent="0" marL="0">
              <a:buNone/>
            </a:pPr>
            <a:r>
              <a:rPr lang="en-US" sz="950" b="1" spc="100" kern="0" dirty="0">
                <a:solidFill>
                  <a:srgbClr val="3A536B"/>
                </a:solidFill>
                <a:latin typeface="Calibri" pitchFamily="34" charset="0"/>
                <a:ea typeface="Calibri" pitchFamily="34" charset="-122"/>
                <a:cs typeface="Calibri" pitchFamily="34" charset="-120"/>
              </a:rPr>
              <a:t>OUTPUT</a:t>
            </a:r>
            <a:endParaRPr lang="en-US" sz="950" dirty="0"/>
          </a:p>
        </p:txBody>
      </p:sp>
      <p:sp>
        <p:nvSpPr>
          <p:cNvPr id="12" name="Text 10"/>
          <p:cNvSpPr txBox="1"/>
          <p:nvPr/>
        </p:nvSpPr>
        <p:spPr>
          <a:xfrm>
            <a:off x="7205472" y="1810512"/>
            <a:ext cx="4272991" cy="934974"/>
          </a:xfrm>
          <a:prstGeom prst="rect">
            <a:avLst/>
          </a:prstGeom>
          <a:noFill/>
          <a:ln/>
        </p:spPr>
        <p:txBody>
          <a:bodyPr wrap="square" lIns="0" tIns="0" rIns="0" bIns="0" rtlCol="0" anchor="t"/>
          <a:lstStyle/>
          <a:p>
            <a:pPr indent="0" marL="0">
              <a:lnSpc>
                <a:spcPct val="110000"/>
              </a:lnSpc>
              <a:buNone/>
            </a:pPr>
            <a:r>
              <a:rPr lang="en-US" sz="900" dirty="0">
                <a:solidFill>
                  <a:srgbClr val="0F2942"/>
                </a:solidFill>
                <a:latin typeface="Courier New" pitchFamily="34" charset="0"/>
                <a:ea typeface="Courier New" pitchFamily="34" charset="-122"/>
                <a:cs typeface="Courier New" pitchFamily="34" charset="-120"/>
              </a:rPr>
              <a:t>    2    3    5    7   11   13   17   19   23   29</a:t>
            </a:r>
            <a:endParaRPr lang="en-US" sz="900" dirty="0"/>
          </a:p>
          <a:p>
            <a:pPr indent="0" marL="0">
              <a:lnSpc>
                <a:spcPct val="110000"/>
              </a:lnSpc>
              <a:buNone/>
            </a:pPr>
            <a:r>
              <a:rPr lang="en-US" sz="900" dirty="0">
                <a:solidFill>
                  <a:srgbClr val="0F2942"/>
                </a:solidFill>
                <a:latin typeface="Courier New" pitchFamily="34" charset="0"/>
                <a:ea typeface="Courier New" pitchFamily="34" charset="-122"/>
                <a:cs typeface="Courier New" pitchFamily="34" charset="-120"/>
              </a:rPr>
              <a:t>   31   37   41   43   47   53   59   61   67   71</a:t>
            </a:r>
            <a:endParaRPr lang="en-US" sz="900" dirty="0"/>
          </a:p>
          <a:p>
            <a:pPr indent="0" marL="0">
              <a:lnSpc>
                <a:spcPct val="110000"/>
              </a:lnSpc>
              <a:buNone/>
            </a:pPr>
            <a:r>
              <a:rPr lang="en-US" sz="900" dirty="0">
                <a:solidFill>
                  <a:srgbClr val="0F2942"/>
                </a:solidFill>
                <a:latin typeface="Courier New" pitchFamily="34" charset="0"/>
                <a:ea typeface="Courier New" pitchFamily="34" charset="-122"/>
                <a:cs typeface="Courier New" pitchFamily="34" charset="-120"/>
              </a:rPr>
              <a:t>   73   79   83   89   97  101  103  107  109  113</a:t>
            </a:r>
            <a:endParaRPr lang="en-US" sz="900" dirty="0"/>
          </a:p>
          <a:p>
            <a:pPr indent="0" marL="0">
              <a:lnSpc>
                <a:spcPct val="110000"/>
              </a:lnSpc>
              <a:buNone/>
            </a:pPr>
            <a:r>
              <a:rPr lang="en-US" sz="900" dirty="0">
                <a:solidFill>
                  <a:srgbClr val="0F2942"/>
                </a:solidFill>
                <a:latin typeface="Courier New" pitchFamily="34" charset="0"/>
                <a:ea typeface="Courier New" pitchFamily="34" charset="-122"/>
                <a:cs typeface="Courier New" pitchFamily="34" charset="-120"/>
              </a:rPr>
              <a:t>  127  131  137  139  149  151  157  163  167  173</a:t>
            </a:r>
            <a:endParaRPr lang="en-US" sz="900" dirty="0"/>
          </a:p>
          <a:p>
            <a:pPr indent="0" marL="0">
              <a:lnSpc>
                <a:spcPct val="110000"/>
              </a:lnSpc>
              <a:buNone/>
            </a:pPr>
            <a:r>
              <a:rPr lang="en-US" sz="900" dirty="0">
                <a:solidFill>
                  <a:srgbClr val="0F2942"/>
                </a:solidFill>
                <a:latin typeface="Courier New" pitchFamily="34" charset="0"/>
                <a:ea typeface="Courier New" pitchFamily="34" charset="-122"/>
                <a:cs typeface="Courier New" pitchFamily="34" charset="-120"/>
              </a:rPr>
              <a:t>  179  181  191  193  197  199  211  223  227  229</a:t>
            </a:r>
            <a:endParaRPr lang="en-US" sz="900" dirty="0"/>
          </a:p>
        </p:txBody>
      </p:sp>
      <p:sp>
        <p:nvSpPr>
          <p:cNvPr id="13" name="Shape 11"/>
          <p:cNvSpPr/>
          <p:nvPr/>
        </p:nvSpPr>
        <p:spPr>
          <a:xfrm>
            <a:off x="7059168" y="3108960"/>
            <a:ext cx="4565599" cy="822960"/>
          </a:xfrm>
          <a:prstGeom prst="roundRect">
            <a:avLst>
              <a:gd name="adj" fmla="val 10000"/>
            </a:avLst>
          </a:prstGeom>
          <a:solidFill>
            <a:srgbClr val="F1F5F9"/>
          </a:solidFill>
          <a:ln w="12700">
            <a:solidFill>
              <a:srgbClr val="F1F5F9"/>
            </a:solidFill>
            <a:prstDash val="solid"/>
          </a:ln>
        </p:spPr>
      </p:sp>
      <p:sp>
        <p:nvSpPr>
          <p:cNvPr id="14" name="Shape 12"/>
          <p:cNvSpPr/>
          <p:nvPr/>
        </p:nvSpPr>
        <p:spPr>
          <a:xfrm>
            <a:off x="7260336" y="3328416"/>
            <a:ext cx="384048" cy="384048"/>
          </a:xfrm>
          <a:prstGeom prst="ellipse">
            <a:avLst/>
          </a:prstGeom>
          <a:solidFill>
            <a:srgbClr val="C4560C"/>
          </a:solidFill>
          <a:ln w="12700">
            <a:solidFill>
              <a:srgbClr val="C4560C"/>
            </a:solidFill>
            <a:prstDash val="solid"/>
          </a:ln>
        </p:spPr>
      </p:sp>
      <p:sp>
        <p:nvSpPr>
          <p:cNvPr id="15" name="Text 13"/>
          <p:cNvSpPr txBox="1"/>
          <p:nvPr/>
        </p:nvSpPr>
        <p:spPr>
          <a:xfrm>
            <a:off x="7260336" y="3328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4"/>
          <p:cNvSpPr txBox="1"/>
          <p:nvPr/>
        </p:nvSpPr>
        <p:spPr>
          <a:xfrm>
            <a:off x="7790688" y="3191256"/>
            <a:ext cx="3605479" cy="274320"/>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The outer while</a:t>
            </a:r>
            <a:endParaRPr lang="en-US" sz="1200" dirty="0"/>
          </a:p>
        </p:txBody>
      </p:sp>
      <p:sp>
        <p:nvSpPr>
          <p:cNvPr id="17" name="Text 15"/>
          <p:cNvSpPr txBox="1"/>
          <p:nvPr/>
        </p:nvSpPr>
        <p:spPr>
          <a:xfrm>
            <a:off x="7790688" y="3465576"/>
            <a:ext cx="3605479"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runs until 50 primes are found — the count, not the number, controls it</a:t>
            </a:r>
            <a:endParaRPr lang="en-US" sz="1150" dirty="0"/>
          </a:p>
        </p:txBody>
      </p:sp>
      <p:sp>
        <p:nvSpPr>
          <p:cNvPr id="18" name="Shape 16"/>
          <p:cNvSpPr/>
          <p:nvPr/>
        </p:nvSpPr>
        <p:spPr>
          <a:xfrm>
            <a:off x="7059168" y="3986784"/>
            <a:ext cx="4565599" cy="822960"/>
          </a:xfrm>
          <a:prstGeom prst="roundRect">
            <a:avLst>
              <a:gd name="adj" fmla="val 10000"/>
            </a:avLst>
          </a:prstGeom>
          <a:solidFill>
            <a:srgbClr val="FFFFFF"/>
          </a:solidFill>
          <a:ln w="12700">
            <a:solidFill>
              <a:srgbClr val="D3DEE7"/>
            </a:solidFill>
            <a:prstDash val="solid"/>
          </a:ln>
        </p:spPr>
      </p:sp>
      <p:sp>
        <p:nvSpPr>
          <p:cNvPr id="19" name="Shape 17"/>
          <p:cNvSpPr/>
          <p:nvPr/>
        </p:nvSpPr>
        <p:spPr>
          <a:xfrm>
            <a:off x="7260336" y="4206240"/>
            <a:ext cx="384048" cy="384048"/>
          </a:xfrm>
          <a:prstGeom prst="ellipse">
            <a:avLst/>
          </a:prstGeom>
          <a:solidFill>
            <a:srgbClr val="C4560C"/>
          </a:solidFill>
          <a:ln w="12700">
            <a:solidFill>
              <a:srgbClr val="C4560C"/>
            </a:solidFill>
            <a:prstDash val="solid"/>
          </a:ln>
        </p:spPr>
      </p:sp>
      <p:sp>
        <p:nvSpPr>
          <p:cNvPr id="20" name="Text 18"/>
          <p:cNvSpPr txBox="1"/>
          <p:nvPr/>
        </p:nvSpPr>
        <p:spPr>
          <a:xfrm>
            <a:off x="7260336" y="4206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9"/>
          <p:cNvSpPr txBox="1"/>
          <p:nvPr/>
        </p:nvSpPr>
        <p:spPr>
          <a:xfrm>
            <a:off x="7790688" y="4069080"/>
            <a:ext cx="3605479" cy="274320"/>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The inner for</a:t>
            </a:r>
            <a:endParaRPr lang="en-US" sz="1200" dirty="0"/>
          </a:p>
        </p:txBody>
      </p:sp>
      <p:sp>
        <p:nvSpPr>
          <p:cNvPr id="22" name="Text 20"/>
          <p:cNvSpPr txBox="1"/>
          <p:nvPr/>
        </p:nvSpPr>
        <p:spPr>
          <a:xfrm>
            <a:off x="7790688" y="4343400"/>
            <a:ext cx="3605479"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tests one candidate for divisors, and breaks the moment it finds one</a:t>
            </a:r>
            <a:endParaRPr lang="en-US" sz="1150" dirty="0"/>
          </a:p>
        </p:txBody>
      </p:sp>
      <p:sp>
        <p:nvSpPr>
          <p:cNvPr id="23" name="Shape 21"/>
          <p:cNvSpPr/>
          <p:nvPr/>
        </p:nvSpPr>
        <p:spPr>
          <a:xfrm>
            <a:off x="7059168" y="4864608"/>
            <a:ext cx="4565599" cy="822960"/>
          </a:xfrm>
          <a:prstGeom prst="roundRect">
            <a:avLst>
              <a:gd name="adj" fmla="val 10000"/>
            </a:avLst>
          </a:prstGeom>
          <a:solidFill>
            <a:srgbClr val="F1F5F9"/>
          </a:solidFill>
          <a:ln w="12700">
            <a:solidFill>
              <a:srgbClr val="F1F5F9"/>
            </a:solidFill>
            <a:prstDash val="solid"/>
          </a:ln>
        </p:spPr>
      </p:sp>
      <p:sp>
        <p:nvSpPr>
          <p:cNvPr id="24" name="Shape 22"/>
          <p:cNvSpPr/>
          <p:nvPr/>
        </p:nvSpPr>
        <p:spPr>
          <a:xfrm>
            <a:off x="7260336" y="5084064"/>
            <a:ext cx="384048" cy="384048"/>
          </a:xfrm>
          <a:prstGeom prst="ellipse">
            <a:avLst/>
          </a:prstGeom>
          <a:solidFill>
            <a:srgbClr val="C4560C"/>
          </a:solidFill>
          <a:ln w="12700">
            <a:solidFill>
              <a:srgbClr val="C4560C"/>
            </a:solidFill>
            <a:prstDash val="solid"/>
          </a:ln>
        </p:spPr>
      </p:sp>
      <p:sp>
        <p:nvSpPr>
          <p:cNvPr id="25" name="Text 23"/>
          <p:cNvSpPr txBox="1"/>
          <p:nvPr/>
        </p:nvSpPr>
        <p:spPr>
          <a:xfrm>
            <a:off x="7260336" y="5084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7790688" y="4946904"/>
            <a:ext cx="3605479" cy="274320"/>
          </a:xfrm>
          <a:prstGeom prst="rect">
            <a:avLst/>
          </a:prstGeom>
          <a:noFill/>
          <a:ln/>
        </p:spPr>
        <p:txBody>
          <a:bodyPr wrap="square" lIns="0" tIns="0" rIns="0" bIns="0" rtlCol="0" anchor="ctr"/>
          <a:lstStyle/>
          <a:p>
            <a:pPr indent="0" marL="0">
              <a:buNone/>
            </a:pPr>
            <a:r>
              <a:rPr lang="en-US" sz="1200" b="1" dirty="0">
                <a:solidFill>
                  <a:srgbClr val="0F2942"/>
                </a:solidFill>
                <a:latin typeface="Courier New" pitchFamily="34" charset="0"/>
                <a:ea typeface="Courier New" pitchFamily="34" charset="-122"/>
                <a:cs typeface="Courier New" pitchFamily="34" charset="-120"/>
              </a:rPr>
              <a:t>count % 10 == 0</a:t>
            </a:r>
            <a:endParaRPr lang="en-US" sz="1200" dirty="0"/>
          </a:p>
        </p:txBody>
      </p:sp>
      <p:sp>
        <p:nvSpPr>
          <p:cNvPr id="27" name="Text 25"/>
          <p:cNvSpPr txBox="1"/>
          <p:nvPr/>
        </p:nvSpPr>
        <p:spPr>
          <a:xfrm>
            <a:off x="7790688" y="5221224"/>
            <a:ext cx="3605479" cy="420624"/>
          </a:xfrm>
          <a:prstGeom prst="rect">
            <a:avLst/>
          </a:prstGeom>
          <a:noFill/>
          <a:ln/>
        </p:spPr>
        <p:txBody>
          <a:bodyPr wrap="square" lIns="0" tIns="0" rIns="0" bIns="0" rtlCol="0" anchor="t"/>
          <a:lstStyle/>
          <a:p>
            <a:pPr indent="0" marL="0">
              <a:lnSpc>
                <a:spcPct val="106000"/>
              </a:lnSpc>
              <a:buNone/>
            </a:pPr>
            <a:r>
              <a:rPr lang="en-US" sz="1150" dirty="0">
                <a:solidFill>
                  <a:srgbClr val="3A536B"/>
                </a:solidFill>
                <a:latin typeface="Calibri" pitchFamily="34" charset="0"/>
                <a:ea typeface="Calibri" pitchFamily="34" charset="-122"/>
                <a:cs typeface="Calibri" pitchFamily="34" charset="-120"/>
              </a:rPr>
              <a:t>starts a new line after every tenth prime</a:t>
            </a:r>
            <a:endParaRPr lang="en-US" sz="1150" dirty="0"/>
          </a:p>
        </p:txBody>
      </p:sp>
      <p:sp>
        <p:nvSpPr>
          <p:cNvPr id="28" name="Shape 26"/>
          <p:cNvSpPr/>
          <p:nvPr/>
        </p:nvSpPr>
        <p:spPr>
          <a:xfrm>
            <a:off x="7059168" y="5833872"/>
            <a:ext cx="4565599" cy="658368"/>
          </a:xfrm>
          <a:prstGeom prst="roundRect">
            <a:avLst>
              <a:gd name="adj" fmla="val 12500"/>
            </a:avLst>
          </a:prstGeom>
          <a:solidFill>
            <a:srgbClr val="FBEEE0"/>
          </a:solidFill>
          <a:ln w="12700">
            <a:solidFill>
              <a:srgbClr val="FBEEE0"/>
            </a:solidFill>
            <a:prstDash val="solid"/>
          </a:ln>
        </p:spPr>
      </p:sp>
      <p:sp>
        <p:nvSpPr>
          <p:cNvPr id="29" name="Text 27"/>
          <p:cNvSpPr txBox="1"/>
          <p:nvPr/>
        </p:nvSpPr>
        <p:spPr>
          <a:xfrm>
            <a:off x="7333488" y="5833872"/>
            <a:ext cx="4016959" cy="658368"/>
          </a:xfrm>
          <a:prstGeom prst="rect">
            <a:avLst/>
          </a:prstGeom>
          <a:noFill/>
          <a:ln/>
        </p:spPr>
        <p:txBody>
          <a:bodyPr wrap="square" lIns="0" tIns="0" rIns="0" bIns="0" rtlCol="0" anchor="ctr"/>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Stop at </a:t>
            </a:r>
            <a:pPr indent="0" marL="0">
              <a:lnSpc>
                <a:spcPct val="110000"/>
              </a:lnSpc>
              <a:buNone/>
            </a:pPr>
            <a:r>
              <a:rPr lang="en-US" sz="1200" b="1" dirty="0">
                <a:solidFill>
                  <a:srgbClr val="9A430A"/>
                </a:solidFill>
                <a:latin typeface="Courier New" pitchFamily="34" charset="0"/>
                <a:ea typeface="Courier New" pitchFamily="34" charset="-122"/>
                <a:cs typeface="Courier New" pitchFamily="34" charset="-120"/>
              </a:rPr>
              <a:t>d * d &lt;= number</a:t>
            </a:r>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 instead and it is far faster — same answer, a fraction of the passes.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1E5"/>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00" b="1" spc="200" kern="0" dirty="0">
                <a:solidFill>
                  <a:srgbClr val="9A430A"/>
                </a:solidFill>
                <a:latin typeface="Calibri" pitchFamily="34" charset="0"/>
                <a:ea typeface="Calibri" pitchFamily="34" charset="-122"/>
                <a:cs typeface="Calibri" pitchFamily="34" charset="-120"/>
              </a:rPr>
              <a:t>CHECKPOINT 4</a:t>
            </a:r>
            <a:endParaRPr lang="en-US" sz="1200" dirty="0"/>
          </a:p>
        </p:txBody>
      </p:sp>
      <p:sp>
        <p:nvSpPr>
          <p:cNvPr id="3" name="Text 1"/>
          <p:cNvSpPr txBox="1"/>
          <p:nvPr/>
        </p:nvSpPr>
        <p:spPr>
          <a:xfrm>
            <a:off x="566928" y="841248"/>
            <a:ext cx="7315200" cy="566928"/>
          </a:xfrm>
          <a:prstGeom prst="rect">
            <a:avLst/>
          </a:prstGeom>
          <a:noFill/>
          <a:ln/>
        </p:spPr>
        <p:txBody>
          <a:bodyPr wrap="square" lIns="0" tIns="0" rIns="0" bIns="0" rtlCol="0" anchor="ctr"/>
          <a:lstStyle/>
          <a:p>
            <a:pPr indent="0" marL="0">
              <a:buNone/>
            </a:pPr>
            <a:r>
              <a:rPr lang="en-US" sz="3400" b="1" dirty="0">
                <a:solidFill>
                  <a:srgbClr val="0F2942"/>
                </a:solidFill>
                <a:latin typeface="Cambria" pitchFamily="34" charset="0"/>
                <a:ea typeface="Cambria" pitchFamily="34" charset="-122"/>
                <a:cs typeface="Cambria" pitchFamily="34" charset="-120"/>
              </a:rPr>
              <a:t>Over to You</a:t>
            </a:r>
            <a:endParaRPr lang="en-US" sz="3400" dirty="0"/>
          </a:p>
        </p:txBody>
      </p:sp>
      <p:sp>
        <p:nvSpPr>
          <p:cNvPr id="4" name="Text 2"/>
          <p:cNvSpPr txBox="1"/>
          <p:nvPr/>
        </p:nvSpPr>
        <p:spPr>
          <a:xfrm>
            <a:off x="6687007" y="960120"/>
            <a:ext cx="4937760" cy="365760"/>
          </a:xfrm>
          <a:prstGeom prst="rect">
            <a:avLst/>
          </a:prstGeom>
          <a:noFill/>
          <a:ln/>
        </p:spPr>
        <p:txBody>
          <a:bodyPr wrap="square" lIns="0" tIns="0" rIns="0" bIns="0" rtlCol="0" anchor="ctr"/>
          <a:lstStyle/>
          <a:p>
            <a:pPr algn="r" indent="0" marL="0">
              <a:buNone/>
            </a:pPr>
            <a:r>
              <a:rPr lang="en-US" sz="1250" dirty="0">
                <a:solidFill>
                  <a:srgbClr val="4B6377"/>
                </a:solidFill>
                <a:latin typeface="Calibri" pitchFamily="34" charset="0"/>
                <a:ea typeface="Calibri" pitchFamily="34" charset="-122"/>
                <a:cs typeface="Calibri" pitchFamily="34" charset="-120"/>
              </a:rPr>
              <a:t>Covering slides 28–32</a:t>
            </a:r>
            <a:endParaRPr lang="en-US" sz="1250" dirty="0"/>
          </a:p>
        </p:txBody>
      </p:sp>
      <p:sp>
        <p:nvSpPr>
          <p:cNvPr id="5" name="Shape 3"/>
          <p:cNvSpPr/>
          <p:nvPr/>
        </p:nvSpPr>
        <p:spPr>
          <a:xfrm>
            <a:off x="566928" y="1562344"/>
            <a:ext cx="11057839" cy="960120"/>
          </a:xfrm>
          <a:prstGeom prst="roundRect">
            <a:avLst>
              <a:gd name="adj" fmla="val 8571"/>
            </a:avLst>
          </a:prstGeom>
          <a:solidFill>
            <a:srgbClr val="FFFFFF"/>
          </a:solidFill>
          <a:ln w="12700">
            <a:solidFill>
              <a:srgbClr val="D3DEE7"/>
            </a:solidFill>
            <a:prstDash val="solid"/>
          </a:ln>
        </p:spPr>
      </p:sp>
      <p:sp>
        <p:nvSpPr>
          <p:cNvPr id="6" name="Shape 4"/>
          <p:cNvSpPr/>
          <p:nvPr/>
        </p:nvSpPr>
        <p:spPr>
          <a:xfrm>
            <a:off x="841248" y="1800088"/>
            <a:ext cx="402336" cy="402336"/>
          </a:xfrm>
          <a:prstGeom prst="ellipse">
            <a:avLst/>
          </a:prstGeom>
          <a:solidFill>
            <a:srgbClr val="C4560C"/>
          </a:solidFill>
          <a:ln w="12700">
            <a:solidFill>
              <a:srgbClr val="C4560C"/>
            </a:solidFill>
            <a:prstDash val="solid"/>
          </a:ln>
        </p:spPr>
      </p:sp>
      <p:sp>
        <p:nvSpPr>
          <p:cNvPr id="7" name="Text 5"/>
          <p:cNvSpPr txBox="1"/>
          <p:nvPr/>
        </p:nvSpPr>
        <p:spPr>
          <a:xfrm>
            <a:off x="841248" y="180008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8" name="Text 6"/>
          <p:cNvSpPr txBox="1"/>
          <p:nvPr/>
        </p:nvSpPr>
        <p:spPr>
          <a:xfrm>
            <a:off x="1435608" y="1726936"/>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In a pair of nested loops, a break in the inner one is reached. What happens to the outer loop?</a:t>
            </a:r>
            <a:endParaRPr lang="en-US" sz="1550" dirty="0"/>
          </a:p>
        </p:txBody>
      </p:sp>
      <p:sp>
        <p:nvSpPr>
          <p:cNvPr id="9" name="Shape 7"/>
          <p:cNvSpPr/>
          <p:nvPr/>
        </p:nvSpPr>
        <p:spPr>
          <a:xfrm>
            <a:off x="566928" y="2741920"/>
            <a:ext cx="11057839" cy="2343424"/>
          </a:xfrm>
          <a:prstGeom prst="roundRect">
            <a:avLst>
              <a:gd name="adj" fmla="val 3512"/>
            </a:avLst>
          </a:prstGeom>
          <a:solidFill>
            <a:srgbClr val="FFFFFF"/>
          </a:solidFill>
          <a:ln w="12700">
            <a:solidFill>
              <a:srgbClr val="D3DEE7"/>
            </a:solidFill>
            <a:prstDash val="solid"/>
          </a:ln>
        </p:spPr>
      </p:sp>
      <p:sp>
        <p:nvSpPr>
          <p:cNvPr id="10" name="Shape 8"/>
          <p:cNvSpPr/>
          <p:nvPr/>
        </p:nvSpPr>
        <p:spPr>
          <a:xfrm>
            <a:off x="841248" y="2979664"/>
            <a:ext cx="402336" cy="402336"/>
          </a:xfrm>
          <a:prstGeom prst="ellipse">
            <a:avLst/>
          </a:prstGeom>
          <a:solidFill>
            <a:srgbClr val="C4560C"/>
          </a:solidFill>
          <a:ln w="12700">
            <a:solidFill>
              <a:srgbClr val="C4560C"/>
            </a:solidFill>
            <a:prstDash val="solid"/>
          </a:ln>
        </p:spPr>
      </p:sp>
      <p:sp>
        <p:nvSpPr>
          <p:cNvPr id="11" name="Text 9"/>
          <p:cNvSpPr txBox="1"/>
          <p:nvPr/>
        </p:nvSpPr>
        <p:spPr>
          <a:xfrm>
            <a:off x="841248" y="297966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2" name="Text 10"/>
          <p:cNvSpPr txBox="1"/>
          <p:nvPr/>
        </p:nvSpPr>
        <p:spPr>
          <a:xfrm>
            <a:off x="1435608" y="2906512"/>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What is the sum, and what would it be if continue were break?</a:t>
            </a:r>
            <a:endParaRPr lang="en-US" sz="1550" dirty="0"/>
          </a:p>
        </p:txBody>
      </p:sp>
      <p:sp>
        <p:nvSpPr>
          <p:cNvPr id="13" name="Shape 11"/>
          <p:cNvSpPr/>
          <p:nvPr/>
        </p:nvSpPr>
        <p:spPr>
          <a:xfrm>
            <a:off x="1435608" y="3382000"/>
            <a:ext cx="6949440" cy="1182136"/>
          </a:xfrm>
          <a:prstGeom prst="roundRect">
            <a:avLst>
              <a:gd name="adj" fmla="val 5415"/>
            </a:avLst>
          </a:prstGeom>
          <a:solidFill>
            <a:srgbClr val="EDF2F7"/>
          </a:solidFill>
          <a:ln w="12700">
            <a:solidFill>
              <a:srgbClr val="CFDBE5"/>
            </a:solidFill>
            <a:prstDash val="solid"/>
          </a:ln>
        </p:spPr>
      </p:sp>
      <p:sp>
        <p:nvSpPr>
          <p:cNvPr id="14" name="Text 12"/>
          <p:cNvSpPr txBox="1"/>
          <p:nvPr/>
        </p:nvSpPr>
        <p:spPr>
          <a:xfrm>
            <a:off x="1600200" y="3519160"/>
            <a:ext cx="6620256" cy="980968"/>
          </a:xfrm>
          <a:prstGeom prst="rect">
            <a:avLst/>
          </a:prstGeom>
          <a:noFill/>
          <a:ln/>
        </p:spPr>
        <p:txBody>
          <a:bodyPr wrap="square" lIns="0" tIns="0" rIns="0" bIns="0" rtlCol="0" anchor="t"/>
          <a:lstStyle/>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int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0</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while</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&lt;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6</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if</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6B3FA0"/>
                </a:solidFill>
                <a:latin typeface="Courier New" pitchFamily="34" charset="0"/>
                <a:ea typeface="Courier New" pitchFamily="34" charset="-122"/>
                <a:cs typeface="Courier New" pitchFamily="34" charset="-120"/>
              </a:rPr>
              <a:t>3</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9A3412"/>
                </a:solidFill>
                <a:latin typeface="Courier New" pitchFamily="34" charset="0"/>
                <a:ea typeface="Courier New" pitchFamily="34" charset="-122"/>
                <a:cs typeface="Courier New" pitchFamily="34" charset="-120"/>
              </a:rPr>
              <a:t>continue</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sum</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14293C"/>
                </a:solidFill>
                <a:latin typeface="Courier New" pitchFamily="34" charset="0"/>
                <a:ea typeface="Courier New" pitchFamily="34" charset="-122"/>
                <a:cs typeface="Courier New" pitchFamily="34" charset="-120"/>
              </a:rPr>
              <a:t>n</a:t>
            </a:r>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33485C"/>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566928" y="5304800"/>
            <a:ext cx="11057839" cy="960120"/>
          </a:xfrm>
          <a:prstGeom prst="roundRect">
            <a:avLst>
              <a:gd name="adj" fmla="val 8571"/>
            </a:avLst>
          </a:prstGeom>
          <a:solidFill>
            <a:srgbClr val="FFFFFF"/>
          </a:solidFill>
          <a:ln w="12700">
            <a:solidFill>
              <a:srgbClr val="D3DEE7"/>
            </a:solidFill>
            <a:prstDash val="solid"/>
          </a:ln>
        </p:spPr>
      </p:sp>
      <p:sp>
        <p:nvSpPr>
          <p:cNvPr id="16" name="Shape 14"/>
          <p:cNvSpPr/>
          <p:nvPr/>
        </p:nvSpPr>
        <p:spPr>
          <a:xfrm>
            <a:off x="841248" y="5542544"/>
            <a:ext cx="402336" cy="402336"/>
          </a:xfrm>
          <a:prstGeom prst="ellipse">
            <a:avLst/>
          </a:prstGeom>
          <a:solidFill>
            <a:srgbClr val="C4560C"/>
          </a:solidFill>
          <a:ln w="12700">
            <a:solidFill>
              <a:srgbClr val="C4560C"/>
            </a:solidFill>
            <a:prstDash val="solid"/>
          </a:ln>
        </p:spPr>
      </p:sp>
      <p:sp>
        <p:nvSpPr>
          <p:cNvPr id="17" name="Text 15"/>
          <p:cNvSpPr txBox="1"/>
          <p:nvPr/>
        </p:nvSpPr>
        <p:spPr>
          <a:xfrm>
            <a:off x="841248" y="554254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8" name="Text 16"/>
          <p:cNvSpPr txBox="1"/>
          <p:nvPr/>
        </p:nvSpPr>
        <p:spPr>
          <a:xfrm>
            <a:off x="1435608" y="5469392"/>
            <a:ext cx="9823399" cy="420624"/>
          </a:xfrm>
          <a:prstGeom prst="rect">
            <a:avLst/>
          </a:prstGeom>
          <a:noFill/>
          <a:ln/>
        </p:spPr>
        <p:txBody>
          <a:bodyPr wrap="square" lIns="0" tIns="0" rIns="0" bIns="0" rtlCol="0" anchor="t"/>
          <a:lstStyle/>
          <a:p>
            <a:pPr indent="0" marL="0">
              <a:lnSpc>
                <a:spcPct val="110000"/>
              </a:lnSpc>
              <a:buNone/>
            </a:pPr>
            <a:r>
              <a:rPr lang="en-US" sz="1550" b="1" dirty="0">
                <a:solidFill>
                  <a:srgbClr val="0F2942"/>
                </a:solidFill>
                <a:latin typeface="Calibri" pitchFamily="34" charset="0"/>
                <a:ea typeface="Calibri" pitchFamily="34" charset="-122"/>
                <a:cs typeface="Calibri" pitchFamily="34" charset="-120"/>
              </a:rPr>
              <a:t>Why does moving i++ below a continue break a while loop but not a for loop?</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PRACTICE</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Five Programs to Write Before the 24th</a:t>
            </a:r>
            <a:endParaRPr lang="en-US" sz="3000" dirty="0"/>
          </a:p>
        </p:txBody>
      </p:sp>
      <p:sp>
        <p:nvSpPr>
          <p:cNvPr id="4" name="Text 2"/>
          <p:cNvSpPr txBox="1"/>
          <p:nvPr/>
        </p:nvSpPr>
        <p:spPr>
          <a:xfrm>
            <a:off x="566928" y="1097280"/>
            <a:ext cx="11057839" cy="292608"/>
          </a:xfrm>
          <a:prstGeom prst="rect">
            <a:avLst/>
          </a:prstGeom>
          <a:noFill/>
          <a:ln/>
        </p:spPr>
        <p:txBody>
          <a:bodyPr wrap="square" lIns="0" tIns="0" rIns="0" bIns="0" rtlCol="0" anchor="t"/>
          <a:lstStyle/>
          <a:p>
            <a:pPr indent="0" marL="0">
              <a:buNone/>
            </a:pPr>
            <a:r>
              <a:rPr lang="en-US" sz="1400" dirty="0">
                <a:solidFill>
                  <a:srgbClr val="3A536B"/>
                </a:solidFill>
                <a:latin typeface="Calibri" pitchFamily="34" charset="0"/>
                <a:ea typeface="Calibri" pitchFamily="34" charset="-122"/>
                <a:cs typeface="Calibri" pitchFamily="34" charset="-120"/>
              </a:rPr>
              <a:t>Every one is a loop problem. No arrays, no methods of your own — those come next week.</a:t>
            </a:r>
            <a:endParaRPr lang="en-US" sz="1400" dirty="0"/>
          </a:p>
        </p:txBody>
      </p:sp>
      <p:sp>
        <p:nvSpPr>
          <p:cNvPr id="5" name="Text 3"/>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6" name="Text 4"/>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34</a:t>
            </a:r>
            <a:endParaRPr lang="en-US" sz="900" dirty="0"/>
          </a:p>
        </p:txBody>
      </p:sp>
      <p:sp>
        <p:nvSpPr>
          <p:cNvPr id="7" name="Shape 5"/>
          <p:cNvSpPr/>
          <p:nvPr/>
        </p:nvSpPr>
        <p:spPr>
          <a:xfrm>
            <a:off x="566928" y="1536192"/>
            <a:ext cx="3551834" cy="2103120"/>
          </a:xfrm>
          <a:prstGeom prst="roundRect">
            <a:avLst>
              <a:gd name="adj" fmla="val 3913"/>
            </a:avLst>
          </a:prstGeom>
          <a:solidFill>
            <a:srgbClr val="F1F5F9"/>
          </a:solidFill>
          <a:ln w="12700">
            <a:solidFill>
              <a:srgbClr val="F1F5F9"/>
            </a:solidFill>
            <a:prstDash val="solid"/>
          </a:ln>
        </p:spPr>
      </p:sp>
      <p:sp>
        <p:nvSpPr>
          <p:cNvPr id="8" name="Shape 6"/>
          <p:cNvSpPr/>
          <p:nvPr/>
        </p:nvSpPr>
        <p:spPr>
          <a:xfrm>
            <a:off x="804672" y="1755648"/>
            <a:ext cx="402336" cy="402336"/>
          </a:xfrm>
          <a:prstGeom prst="ellipse">
            <a:avLst/>
          </a:prstGeom>
          <a:solidFill>
            <a:srgbClr val="C4560C"/>
          </a:solidFill>
          <a:ln w="12700">
            <a:solidFill>
              <a:srgbClr val="C4560C"/>
            </a:solidFill>
            <a:prstDash val="solid"/>
          </a:ln>
        </p:spPr>
      </p:sp>
      <p:sp>
        <p:nvSpPr>
          <p:cNvPr id="9" name="Text 7"/>
          <p:cNvSpPr txBox="1"/>
          <p:nvPr/>
        </p:nvSpPr>
        <p:spPr>
          <a:xfrm>
            <a:off x="804672"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353312" y="1755648"/>
            <a:ext cx="2545994" cy="402336"/>
          </a:xfrm>
          <a:prstGeom prst="rect">
            <a:avLst/>
          </a:prstGeom>
          <a:noFill/>
          <a:ln/>
        </p:spPr>
        <p:txBody>
          <a:bodyPr wrap="square" lIns="0" tIns="0" rIns="0" bIns="0" rtlCol="0" anchor="ctr"/>
          <a:lstStyle/>
          <a:p>
            <a:pPr indent="0" marL="0">
              <a:buNone/>
            </a:pPr>
            <a:r>
              <a:rPr lang="en-US" sz="1300" b="1" dirty="0">
                <a:solidFill>
                  <a:srgbClr val="0F2942"/>
                </a:solidFill>
                <a:latin typeface="Courier New" pitchFamily="34" charset="0"/>
                <a:ea typeface="Courier New" pitchFamily="34" charset="-122"/>
                <a:cs typeface="Courier New" pitchFamily="34" charset="-120"/>
              </a:rPr>
              <a:t>MultiplicationTable</a:t>
            </a:r>
            <a:endParaRPr lang="en-US" sz="1300" dirty="0"/>
          </a:p>
        </p:txBody>
      </p:sp>
      <p:sp>
        <p:nvSpPr>
          <p:cNvPr id="11" name="Text 9"/>
          <p:cNvSpPr txBox="1"/>
          <p:nvPr/>
        </p:nvSpPr>
        <p:spPr>
          <a:xfrm>
            <a:off x="822960"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Print the 9 × 9 table with aligned columns, then make it print an n × n table for a number the user enters.</a:t>
            </a:r>
            <a:endParaRPr lang="en-US" sz="1200" dirty="0"/>
          </a:p>
        </p:txBody>
      </p:sp>
      <p:sp>
        <p:nvSpPr>
          <p:cNvPr id="12" name="Text 10"/>
          <p:cNvSpPr txBox="1"/>
          <p:nvPr/>
        </p:nvSpPr>
        <p:spPr>
          <a:xfrm>
            <a:off x="822960"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nested for, printf</a:t>
            </a:r>
            <a:endParaRPr lang="en-US" sz="1100" dirty="0"/>
          </a:p>
        </p:txBody>
      </p:sp>
      <p:sp>
        <p:nvSpPr>
          <p:cNvPr id="13" name="Shape 11"/>
          <p:cNvSpPr/>
          <p:nvPr/>
        </p:nvSpPr>
        <p:spPr>
          <a:xfrm>
            <a:off x="4319930" y="1536192"/>
            <a:ext cx="3551834" cy="2103120"/>
          </a:xfrm>
          <a:prstGeom prst="roundRect">
            <a:avLst>
              <a:gd name="adj" fmla="val 3913"/>
            </a:avLst>
          </a:prstGeom>
          <a:solidFill>
            <a:srgbClr val="FFFFFF"/>
          </a:solidFill>
          <a:ln w="12700">
            <a:solidFill>
              <a:srgbClr val="D3DEE7"/>
            </a:solidFill>
            <a:prstDash val="solid"/>
          </a:ln>
        </p:spPr>
      </p:sp>
      <p:sp>
        <p:nvSpPr>
          <p:cNvPr id="14" name="Shape 12"/>
          <p:cNvSpPr/>
          <p:nvPr/>
        </p:nvSpPr>
        <p:spPr>
          <a:xfrm>
            <a:off x="4557674" y="1755648"/>
            <a:ext cx="402336" cy="402336"/>
          </a:xfrm>
          <a:prstGeom prst="ellipse">
            <a:avLst/>
          </a:prstGeom>
          <a:solidFill>
            <a:srgbClr val="C4560C"/>
          </a:solidFill>
          <a:ln w="12700">
            <a:solidFill>
              <a:srgbClr val="C4560C"/>
            </a:solidFill>
            <a:prstDash val="solid"/>
          </a:ln>
        </p:spPr>
      </p:sp>
      <p:sp>
        <p:nvSpPr>
          <p:cNvPr id="15" name="Text 13"/>
          <p:cNvSpPr txBox="1"/>
          <p:nvPr/>
        </p:nvSpPr>
        <p:spPr>
          <a:xfrm>
            <a:off x="4557674"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5106314" y="1755648"/>
            <a:ext cx="2545994" cy="402336"/>
          </a:xfrm>
          <a:prstGeom prst="rect">
            <a:avLst/>
          </a:prstGeom>
          <a:noFill/>
          <a:ln/>
        </p:spPr>
        <p:txBody>
          <a:bodyPr wrap="square" lIns="0" tIns="0" rIns="0" bIns="0" rtlCol="0" anchor="ctr"/>
          <a:lstStyle/>
          <a:p>
            <a:pPr indent="0" marL="0">
              <a:buNone/>
            </a:pPr>
            <a:r>
              <a:rPr lang="en-US" sz="1300" b="1" dirty="0">
                <a:solidFill>
                  <a:srgbClr val="0F2942"/>
                </a:solidFill>
                <a:latin typeface="Courier New" pitchFamily="34" charset="0"/>
                <a:ea typeface="Courier New" pitchFamily="34" charset="-122"/>
                <a:cs typeface="Courier New" pitchFamily="34" charset="-120"/>
              </a:rPr>
              <a:t>SentinelValue</a:t>
            </a:r>
            <a:endParaRPr lang="en-US" sz="1300" dirty="0"/>
          </a:p>
        </p:txBody>
      </p:sp>
      <p:sp>
        <p:nvSpPr>
          <p:cNvPr id="17" name="Text 15"/>
          <p:cNvSpPr txBox="1"/>
          <p:nvPr/>
        </p:nvSpPr>
        <p:spPr>
          <a:xfrm>
            <a:off x="4575962"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Read integers until 0 and report the sum, the count and the average. Put 200 numbers in a file and run it with input redirection.</a:t>
            </a:r>
            <a:endParaRPr lang="en-US" sz="1200" dirty="0"/>
          </a:p>
        </p:txBody>
      </p:sp>
      <p:sp>
        <p:nvSpPr>
          <p:cNvPr id="18" name="Text 16"/>
          <p:cNvSpPr txBox="1"/>
          <p:nvPr/>
        </p:nvSpPr>
        <p:spPr>
          <a:xfrm>
            <a:off x="4575962"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while, and &lt; input.txt</a:t>
            </a:r>
            <a:endParaRPr lang="en-US" sz="1100" dirty="0"/>
          </a:p>
        </p:txBody>
      </p:sp>
      <p:sp>
        <p:nvSpPr>
          <p:cNvPr id="19" name="Shape 17"/>
          <p:cNvSpPr/>
          <p:nvPr/>
        </p:nvSpPr>
        <p:spPr>
          <a:xfrm>
            <a:off x="8072933" y="1536192"/>
            <a:ext cx="3551834" cy="2103120"/>
          </a:xfrm>
          <a:prstGeom prst="roundRect">
            <a:avLst>
              <a:gd name="adj" fmla="val 3913"/>
            </a:avLst>
          </a:prstGeom>
          <a:solidFill>
            <a:srgbClr val="F1F5F9"/>
          </a:solidFill>
          <a:ln w="12700">
            <a:solidFill>
              <a:srgbClr val="F1F5F9"/>
            </a:solidFill>
            <a:prstDash val="solid"/>
          </a:ln>
        </p:spPr>
      </p:sp>
      <p:sp>
        <p:nvSpPr>
          <p:cNvPr id="20" name="Shape 18"/>
          <p:cNvSpPr/>
          <p:nvPr/>
        </p:nvSpPr>
        <p:spPr>
          <a:xfrm>
            <a:off x="8310677" y="1755648"/>
            <a:ext cx="402336" cy="402336"/>
          </a:xfrm>
          <a:prstGeom prst="ellipse">
            <a:avLst/>
          </a:prstGeom>
          <a:solidFill>
            <a:srgbClr val="C4560C"/>
          </a:solidFill>
          <a:ln w="12700">
            <a:solidFill>
              <a:srgbClr val="C4560C"/>
            </a:solidFill>
            <a:prstDash val="solid"/>
          </a:ln>
        </p:spPr>
      </p:sp>
      <p:sp>
        <p:nvSpPr>
          <p:cNvPr id="21" name="Text 19"/>
          <p:cNvSpPr txBox="1"/>
          <p:nvPr/>
        </p:nvSpPr>
        <p:spPr>
          <a:xfrm>
            <a:off x="8310677" y="1755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8859317" y="1755648"/>
            <a:ext cx="2545994" cy="402336"/>
          </a:xfrm>
          <a:prstGeom prst="rect">
            <a:avLst/>
          </a:prstGeom>
          <a:noFill/>
          <a:ln/>
        </p:spPr>
        <p:txBody>
          <a:bodyPr wrap="square" lIns="0" tIns="0" rIns="0" bIns="0" rtlCol="0" anchor="ctr"/>
          <a:lstStyle/>
          <a:p>
            <a:pPr indent="0" marL="0">
              <a:buNone/>
            </a:pPr>
            <a:r>
              <a:rPr lang="en-US" sz="1300" b="1" dirty="0">
                <a:solidFill>
                  <a:srgbClr val="0F2942"/>
                </a:solidFill>
                <a:latin typeface="Courier New" pitchFamily="34" charset="0"/>
                <a:ea typeface="Courier New" pitchFamily="34" charset="-122"/>
                <a:cs typeface="Courier New" pitchFamily="34" charset="-120"/>
              </a:rPr>
              <a:t>FutureTuition</a:t>
            </a:r>
            <a:endParaRPr lang="en-US" sz="1300" dirty="0"/>
          </a:p>
        </p:txBody>
      </p:sp>
      <p:sp>
        <p:nvSpPr>
          <p:cNvPr id="23" name="Text 21"/>
          <p:cNvSpPr txBox="1"/>
          <p:nvPr/>
        </p:nvSpPr>
        <p:spPr>
          <a:xfrm>
            <a:off x="8328965" y="2304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Extend it to print the tuition for each of the first ten years, then report the total paid over four years starting in year 10.</a:t>
            </a:r>
            <a:endParaRPr lang="en-US" sz="1200" dirty="0"/>
          </a:p>
        </p:txBody>
      </p:sp>
      <p:sp>
        <p:nvSpPr>
          <p:cNvPr id="24" name="Text 22"/>
          <p:cNvSpPr txBox="1"/>
          <p:nvPr/>
        </p:nvSpPr>
        <p:spPr>
          <a:xfrm>
            <a:off x="8328965" y="3310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a loop inside a loop</a:t>
            </a:r>
            <a:endParaRPr lang="en-US" sz="1100" dirty="0"/>
          </a:p>
        </p:txBody>
      </p:sp>
      <p:sp>
        <p:nvSpPr>
          <p:cNvPr id="25" name="Shape 23"/>
          <p:cNvSpPr/>
          <p:nvPr/>
        </p:nvSpPr>
        <p:spPr>
          <a:xfrm>
            <a:off x="566928" y="3822192"/>
            <a:ext cx="3551834" cy="2103120"/>
          </a:xfrm>
          <a:prstGeom prst="roundRect">
            <a:avLst>
              <a:gd name="adj" fmla="val 3913"/>
            </a:avLst>
          </a:prstGeom>
          <a:solidFill>
            <a:srgbClr val="FFFFFF"/>
          </a:solidFill>
          <a:ln w="12700">
            <a:solidFill>
              <a:srgbClr val="D3DEE7"/>
            </a:solidFill>
            <a:prstDash val="solid"/>
          </a:ln>
        </p:spPr>
      </p:sp>
      <p:sp>
        <p:nvSpPr>
          <p:cNvPr id="26" name="Shape 24"/>
          <p:cNvSpPr/>
          <p:nvPr/>
        </p:nvSpPr>
        <p:spPr>
          <a:xfrm>
            <a:off x="804672" y="4041648"/>
            <a:ext cx="402336" cy="402336"/>
          </a:xfrm>
          <a:prstGeom prst="ellipse">
            <a:avLst/>
          </a:prstGeom>
          <a:solidFill>
            <a:srgbClr val="C4560C"/>
          </a:solidFill>
          <a:ln w="12700">
            <a:solidFill>
              <a:srgbClr val="C4560C"/>
            </a:solidFill>
            <a:prstDash val="solid"/>
          </a:ln>
        </p:spPr>
      </p:sp>
      <p:sp>
        <p:nvSpPr>
          <p:cNvPr id="27" name="Text 25"/>
          <p:cNvSpPr txBox="1"/>
          <p:nvPr/>
        </p:nvSpPr>
        <p:spPr>
          <a:xfrm>
            <a:off x="804672" y="4041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1353312" y="4041648"/>
            <a:ext cx="2545994" cy="402336"/>
          </a:xfrm>
          <a:prstGeom prst="rect">
            <a:avLst/>
          </a:prstGeom>
          <a:noFill/>
          <a:ln/>
        </p:spPr>
        <p:txBody>
          <a:bodyPr wrap="square" lIns="0" tIns="0" rIns="0" bIns="0" rtlCol="0" anchor="ctr"/>
          <a:lstStyle/>
          <a:p>
            <a:pPr indent="0" marL="0">
              <a:buNone/>
            </a:pPr>
            <a:r>
              <a:rPr lang="en-US" sz="1300" b="1" dirty="0">
                <a:solidFill>
                  <a:srgbClr val="0F2942"/>
                </a:solidFill>
                <a:latin typeface="Courier New" pitchFamily="34" charset="0"/>
                <a:ea typeface="Courier New" pitchFamily="34" charset="-122"/>
                <a:cs typeface="Courier New" pitchFamily="34" charset="-120"/>
              </a:rPr>
              <a:t>Dec2Hex</a:t>
            </a:r>
            <a:endParaRPr lang="en-US" sz="1300" dirty="0"/>
          </a:p>
        </p:txBody>
      </p:sp>
      <p:sp>
        <p:nvSpPr>
          <p:cNvPr id="29" name="Text 27"/>
          <p:cNvSpPr txBox="1"/>
          <p:nvPr/>
        </p:nvSpPr>
        <p:spPr>
          <a:xfrm>
            <a:off x="822960" y="4590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Convert a decimal to hexadecimal, then write Dec2Bin as well. Check both against Integer.toHexString and toBinaryString.</a:t>
            </a:r>
            <a:endParaRPr lang="en-US" sz="1200" dirty="0"/>
          </a:p>
        </p:txBody>
      </p:sp>
      <p:sp>
        <p:nvSpPr>
          <p:cNvPr id="30" name="Text 28"/>
          <p:cNvSpPr txBox="1"/>
          <p:nvPr/>
        </p:nvSpPr>
        <p:spPr>
          <a:xfrm>
            <a:off x="822960" y="5596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 and / driving a while</a:t>
            </a:r>
            <a:endParaRPr lang="en-US" sz="1100" dirty="0"/>
          </a:p>
        </p:txBody>
      </p:sp>
      <p:sp>
        <p:nvSpPr>
          <p:cNvPr id="31" name="Shape 29"/>
          <p:cNvSpPr/>
          <p:nvPr/>
        </p:nvSpPr>
        <p:spPr>
          <a:xfrm>
            <a:off x="4319930" y="3822192"/>
            <a:ext cx="3551834" cy="2103120"/>
          </a:xfrm>
          <a:prstGeom prst="roundRect">
            <a:avLst>
              <a:gd name="adj" fmla="val 3913"/>
            </a:avLst>
          </a:prstGeom>
          <a:solidFill>
            <a:srgbClr val="F1F5F9"/>
          </a:solidFill>
          <a:ln w="12700">
            <a:solidFill>
              <a:srgbClr val="F1F5F9"/>
            </a:solidFill>
            <a:prstDash val="solid"/>
          </a:ln>
        </p:spPr>
      </p:sp>
      <p:sp>
        <p:nvSpPr>
          <p:cNvPr id="32" name="Shape 30"/>
          <p:cNvSpPr/>
          <p:nvPr/>
        </p:nvSpPr>
        <p:spPr>
          <a:xfrm>
            <a:off x="4557674" y="4041648"/>
            <a:ext cx="402336" cy="402336"/>
          </a:xfrm>
          <a:prstGeom prst="ellipse">
            <a:avLst/>
          </a:prstGeom>
          <a:solidFill>
            <a:srgbClr val="C4560C"/>
          </a:solidFill>
          <a:ln w="12700">
            <a:solidFill>
              <a:srgbClr val="C4560C"/>
            </a:solidFill>
            <a:prstDash val="solid"/>
          </a:ln>
        </p:spPr>
      </p:sp>
      <p:sp>
        <p:nvSpPr>
          <p:cNvPr id="33" name="Text 31"/>
          <p:cNvSpPr txBox="1"/>
          <p:nvPr/>
        </p:nvSpPr>
        <p:spPr>
          <a:xfrm>
            <a:off x="4557674" y="40416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2"/>
          <p:cNvSpPr txBox="1"/>
          <p:nvPr/>
        </p:nvSpPr>
        <p:spPr>
          <a:xfrm>
            <a:off x="5106314" y="4041648"/>
            <a:ext cx="2545994" cy="402336"/>
          </a:xfrm>
          <a:prstGeom prst="rect">
            <a:avLst/>
          </a:prstGeom>
          <a:noFill/>
          <a:ln/>
        </p:spPr>
        <p:txBody>
          <a:bodyPr wrap="square" lIns="0" tIns="0" rIns="0" bIns="0" rtlCol="0" anchor="ctr"/>
          <a:lstStyle/>
          <a:p>
            <a:pPr indent="0" marL="0">
              <a:buNone/>
            </a:pPr>
            <a:r>
              <a:rPr lang="en-US" sz="1300" b="1" dirty="0">
                <a:solidFill>
                  <a:srgbClr val="0F2942"/>
                </a:solidFill>
                <a:latin typeface="Courier New" pitchFamily="34" charset="0"/>
                <a:ea typeface="Courier New" pitchFamily="34" charset="-122"/>
                <a:cs typeface="Courier New" pitchFamily="34" charset="-120"/>
              </a:rPr>
              <a:t>PrimeNumber</a:t>
            </a:r>
            <a:endParaRPr lang="en-US" sz="1300" dirty="0"/>
          </a:p>
        </p:txBody>
      </p:sp>
      <p:sp>
        <p:nvSpPr>
          <p:cNvPr id="35" name="Text 33"/>
          <p:cNvSpPr txBox="1"/>
          <p:nvPr/>
        </p:nvSpPr>
        <p:spPr>
          <a:xfrm>
            <a:off x="4575962" y="4590288"/>
            <a:ext cx="3039770" cy="96012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Display the first 50 primes, ten per line. Then change the inner bound to d * d &lt;= number and confirm the output is identical.</a:t>
            </a:r>
            <a:endParaRPr lang="en-US" sz="1200" dirty="0"/>
          </a:p>
        </p:txBody>
      </p:sp>
      <p:sp>
        <p:nvSpPr>
          <p:cNvPr id="36" name="Text 34"/>
          <p:cNvSpPr txBox="1"/>
          <p:nvPr/>
        </p:nvSpPr>
        <p:spPr>
          <a:xfrm>
            <a:off x="4575962" y="5596128"/>
            <a:ext cx="3039770" cy="256032"/>
          </a:xfrm>
          <a:prstGeom prst="rect">
            <a:avLst/>
          </a:prstGeom>
          <a:noFill/>
          <a:ln/>
        </p:spPr>
        <p:txBody>
          <a:bodyPr wrap="square" lIns="0" tIns="0" rIns="0" bIns="0" rtlCol="0" anchor="ctr"/>
          <a:lstStyle/>
          <a:p>
            <a:pPr indent="0" marL="0">
              <a:buNone/>
            </a:pPr>
            <a:r>
              <a:rPr lang="en-US" sz="1100" i="1" dirty="0">
                <a:solidFill>
                  <a:srgbClr val="9A430A"/>
                </a:solidFill>
                <a:latin typeface="Calibri" pitchFamily="34" charset="0"/>
                <a:ea typeface="Calibri" pitchFamily="34" charset="-122"/>
                <a:cs typeface="Calibri" pitchFamily="34" charset="-120"/>
              </a:rPr>
              <a:t>nested loops and break</a:t>
            </a:r>
            <a:endParaRPr lang="en-US" sz="1100" dirty="0"/>
          </a:p>
        </p:txBody>
      </p:sp>
      <p:sp>
        <p:nvSpPr>
          <p:cNvPr id="37" name="Shape 35"/>
          <p:cNvSpPr/>
          <p:nvPr/>
        </p:nvSpPr>
        <p:spPr>
          <a:xfrm>
            <a:off x="8072933" y="3822192"/>
            <a:ext cx="3551834" cy="2103120"/>
          </a:xfrm>
          <a:prstGeom prst="roundRect">
            <a:avLst>
              <a:gd name="adj" fmla="val 3913"/>
            </a:avLst>
          </a:prstGeom>
          <a:solidFill>
            <a:srgbClr val="FBEEE0"/>
          </a:solidFill>
          <a:ln w="12700">
            <a:solidFill>
              <a:srgbClr val="FBEEE0"/>
            </a:solidFill>
            <a:prstDash val="solid"/>
          </a:ln>
        </p:spPr>
      </p:sp>
      <p:sp>
        <p:nvSpPr>
          <p:cNvPr id="38" name="Text 36"/>
          <p:cNvSpPr txBox="1"/>
          <p:nvPr/>
        </p:nvSpPr>
        <p:spPr>
          <a:xfrm>
            <a:off x="8328965" y="4005072"/>
            <a:ext cx="3039770" cy="292608"/>
          </a:xfrm>
          <a:prstGeom prst="rect">
            <a:avLst/>
          </a:prstGeom>
          <a:noFill/>
          <a:ln/>
        </p:spPr>
        <p:txBody>
          <a:bodyPr wrap="square" lIns="0" tIns="0" rIns="0" bIns="0" rtlCol="0" anchor="ctr"/>
          <a:lstStyle/>
          <a:p>
            <a:pPr indent="0" marL="0">
              <a:buNone/>
            </a:pPr>
            <a:r>
              <a:rPr lang="en-US" sz="1350" b="1" dirty="0">
                <a:solidFill>
                  <a:srgbClr val="9A430A"/>
                </a:solidFill>
                <a:latin typeface="Calibri" pitchFamily="34" charset="0"/>
                <a:ea typeface="Calibri" pitchFamily="34" charset="-122"/>
                <a:cs typeface="Calibri" pitchFamily="34" charset="-120"/>
              </a:rPr>
              <a:t>If you want a harder one</a:t>
            </a:r>
            <a:endParaRPr lang="en-US" sz="1350" dirty="0"/>
          </a:p>
        </p:txBody>
      </p:sp>
      <p:sp>
        <p:nvSpPr>
          <p:cNvPr id="39" name="Text 37"/>
          <p:cNvSpPr txBox="1"/>
          <p:nvPr/>
        </p:nvSpPr>
        <p:spPr>
          <a:xfrm>
            <a:off x="8328965" y="4370832"/>
            <a:ext cx="3039770" cy="137160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Write a palindrome checker: read a word and report whether it reads the same backwards. Compare s.charAt(low) with s.charAt(high) and move the two indices towards each other until they meet.</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WRAP-UP</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Six Things to Take Away from Today</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66928" y="1261872"/>
            <a:ext cx="5391760" cy="1444752"/>
          </a:xfrm>
          <a:prstGeom prst="roundRect">
            <a:avLst>
              <a:gd name="adj" fmla="val 5696"/>
            </a:avLst>
          </a:prstGeom>
          <a:solidFill>
            <a:srgbClr val="F1F5F9"/>
          </a:solidFill>
          <a:ln w="12700">
            <a:solidFill>
              <a:srgbClr val="F1F5F9"/>
            </a:solidFill>
            <a:prstDash val="solid"/>
          </a:ln>
        </p:spPr>
      </p:sp>
      <p:sp>
        <p:nvSpPr>
          <p:cNvPr id="7" name="Shape 5"/>
          <p:cNvSpPr/>
          <p:nvPr/>
        </p:nvSpPr>
        <p:spPr>
          <a:xfrm>
            <a:off x="804672" y="1517904"/>
            <a:ext cx="402336" cy="402336"/>
          </a:xfrm>
          <a:prstGeom prst="ellipse">
            <a:avLst/>
          </a:prstGeom>
          <a:solidFill>
            <a:srgbClr val="C4560C"/>
          </a:solidFill>
          <a:ln w="12700">
            <a:solidFill>
              <a:srgbClr val="C4560C"/>
            </a:solidFill>
            <a:prstDash val="solid"/>
          </a:ln>
        </p:spPr>
      </p:sp>
      <p:sp>
        <p:nvSpPr>
          <p:cNvPr id="8" name="Text 6"/>
          <p:cNvSpPr txBox="1"/>
          <p:nvPr/>
        </p:nvSpPr>
        <p:spPr>
          <a:xfrm>
            <a:off x="804672" y="15179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71600" y="14264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Every loop needs three things</a:t>
            </a:r>
            <a:endParaRPr lang="en-US" sz="1400" dirty="0"/>
          </a:p>
        </p:txBody>
      </p:sp>
      <p:sp>
        <p:nvSpPr>
          <p:cNvPr id="10" name="Text 8"/>
          <p:cNvSpPr txBox="1"/>
          <p:nvPr/>
        </p:nvSpPr>
        <p:spPr>
          <a:xfrm>
            <a:off x="1371600" y="17739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Something to initialise, a condition that can become false, and progress in the body towards making it false.</a:t>
            </a:r>
            <a:endParaRPr lang="en-US" sz="1200" dirty="0"/>
          </a:p>
        </p:txBody>
      </p:sp>
      <p:sp>
        <p:nvSpPr>
          <p:cNvPr id="11" name="Shape 9"/>
          <p:cNvSpPr/>
          <p:nvPr/>
        </p:nvSpPr>
        <p:spPr>
          <a:xfrm>
            <a:off x="6233008" y="1261872"/>
            <a:ext cx="5391760" cy="1444752"/>
          </a:xfrm>
          <a:prstGeom prst="roundRect">
            <a:avLst>
              <a:gd name="adj" fmla="val 5696"/>
            </a:avLst>
          </a:prstGeom>
          <a:solidFill>
            <a:srgbClr val="FFFFFF"/>
          </a:solidFill>
          <a:ln w="12700">
            <a:solidFill>
              <a:srgbClr val="D3DEE7"/>
            </a:solidFill>
            <a:prstDash val="solid"/>
          </a:ln>
        </p:spPr>
      </p:sp>
      <p:sp>
        <p:nvSpPr>
          <p:cNvPr id="12" name="Shape 10"/>
          <p:cNvSpPr/>
          <p:nvPr/>
        </p:nvSpPr>
        <p:spPr>
          <a:xfrm>
            <a:off x="6470752" y="1517904"/>
            <a:ext cx="402336" cy="402336"/>
          </a:xfrm>
          <a:prstGeom prst="ellipse">
            <a:avLst/>
          </a:prstGeom>
          <a:solidFill>
            <a:srgbClr val="C4560C"/>
          </a:solidFill>
          <a:ln w="12700">
            <a:solidFill>
              <a:srgbClr val="C4560C"/>
            </a:solidFill>
            <a:prstDash val="solid"/>
          </a:ln>
        </p:spPr>
      </p:sp>
      <p:sp>
        <p:nvSpPr>
          <p:cNvPr id="13" name="Text 11"/>
          <p:cNvSpPr txBox="1"/>
          <p:nvPr/>
        </p:nvSpPr>
        <p:spPr>
          <a:xfrm>
            <a:off x="6470752" y="15179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037680" y="14264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n passes means n + 1 tests</a:t>
            </a:r>
            <a:endParaRPr lang="en-US" sz="1400" dirty="0"/>
          </a:p>
        </p:txBody>
      </p:sp>
      <p:sp>
        <p:nvSpPr>
          <p:cNvPr id="15" name="Text 13"/>
          <p:cNvSpPr txBox="1"/>
          <p:nvPr/>
        </p:nvSpPr>
        <p:spPr>
          <a:xfrm>
            <a:off x="7037680" y="17739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The last test is the one that ends the loop. Count tests when you are tracing, not passes.</a:t>
            </a:r>
            <a:endParaRPr lang="en-US" sz="1200" dirty="0"/>
          </a:p>
        </p:txBody>
      </p:sp>
      <p:sp>
        <p:nvSpPr>
          <p:cNvPr id="16" name="Shape 14"/>
          <p:cNvSpPr/>
          <p:nvPr/>
        </p:nvSpPr>
        <p:spPr>
          <a:xfrm>
            <a:off x="566928" y="2862072"/>
            <a:ext cx="5391760" cy="1444752"/>
          </a:xfrm>
          <a:prstGeom prst="roundRect">
            <a:avLst>
              <a:gd name="adj" fmla="val 5696"/>
            </a:avLst>
          </a:prstGeom>
          <a:solidFill>
            <a:srgbClr val="F1F5F9"/>
          </a:solidFill>
          <a:ln w="12700">
            <a:solidFill>
              <a:srgbClr val="F1F5F9"/>
            </a:solidFill>
            <a:prstDash val="solid"/>
          </a:ln>
        </p:spPr>
      </p:sp>
      <p:sp>
        <p:nvSpPr>
          <p:cNvPr id="17" name="Shape 15"/>
          <p:cNvSpPr/>
          <p:nvPr/>
        </p:nvSpPr>
        <p:spPr>
          <a:xfrm>
            <a:off x="804672" y="3118104"/>
            <a:ext cx="402336" cy="402336"/>
          </a:xfrm>
          <a:prstGeom prst="ellipse">
            <a:avLst/>
          </a:prstGeom>
          <a:solidFill>
            <a:srgbClr val="C4560C"/>
          </a:solidFill>
          <a:ln w="12700">
            <a:solidFill>
              <a:srgbClr val="C4560C"/>
            </a:solidFill>
            <a:prstDash val="solid"/>
          </a:ln>
        </p:spPr>
      </p:sp>
      <p:sp>
        <p:nvSpPr>
          <p:cNvPr id="18" name="Text 16"/>
          <p:cNvSpPr txBox="1"/>
          <p:nvPr/>
        </p:nvSpPr>
        <p:spPr>
          <a:xfrm>
            <a:off x="804672" y="3118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371600" y="30266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Match the form to the problem</a:t>
            </a:r>
            <a:endParaRPr lang="en-US" sz="1400" dirty="0"/>
          </a:p>
        </p:txBody>
      </p:sp>
      <p:sp>
        <p:nvSpPr>
          <p:cNvPr id="20" name="Text 18"/>
          <p:cNvSpPr txBox="1"/>
          <p:nvPr/>
        </p:nvSpPr>
        <p:spPr>
          <a:xfrm>
            <a:off x="1371600" y="33741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for when you know how many, while when you do not, do-while when the body must run once.</a:t>
            </a:r>
            <a:endParaRPr lang="en-US" sz="1200" dirty="0"/>
          </a:p>
        </p:txBody>
      </p:sp>
      <p:sp>
        <p:nvSpPr>
          <p:cNvPr id="21" name="Shape 19"/>
          <p:cNvSpPr/>
          <p:nvPr/>
        </p:nvSpPr>
        <p:spPr>
          <a:xfrm>
            <a:off x="6233008" y="2862072"/>
            <a:ext cx="5391760" cy="1444752"/>
          </a:xfrm>
          <a:prstGeom prst="roundRect">
            <a:avLst>
              <a:gd name="adj" fmla="val 5696"/>
            </a:avLst>
          </a:prstGeom>
          <a:solidFill>
            <a:srgbClr val="FFFFFF"/>
          </a:solidFill>
          <a:ln w="12700">
            <a:solidFill>
              <a:srgbClr val="D3DEE7"/>
            </a:solidFill>
            <a:prstDash val="solid"/>
          </a:ln>
        </p:spPr>
      </p:sp>
      <p:sp>
        <p:nvSpPr>
          <p:cNvPr id="22" name="Shape 20"/>
          <p:cNvSpPr/>
          <p:nvPr/>
        </p:nvSpPr>
        <p:spPr>
          <a:xfrm>
            <a:off x="6470752" y="3118104"/>
            <a:ext cx="402336" cy="402336"/>
          </a:xfrm>
          <a:prstGeom prst="ellipse">
            <a:avLst/>
          </a:prstGeom>
          <a:solidFill>
            <a:srgbClr val="C4560C"/>
          </a:solidFill>
          <a:ln w="12700">
            <a:solidFill>
              <a:srgbClr val="C4560C"/>
            </a:solidFill>
            <a:prstDash val="solid"/>
          </a:ln>
        </p:spPr>
      </p:sp>
      <p:sp>
        <p:nvSpPr>
          <p:cNvPr id="23" name="Text 21"/>
          <p:cNvSpPr txBox="1"/>
          <p:nvPr/>
        </p:nvSpPr>
        <p:spPr>
          <a:xfrm>
            <a:off x="6470752" y="31181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7037680" y="30266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A semicolon after for or while empties the body</a:t>
            </a:r>
            <a:endParaRPr lang="en-US" sz="1400" dirty="0"/>
          </a:p>
        </p:txBody>
      </p:sp>
      <p:sp>
        <p:nvSpPr>
          <p:cNvPr id="25" name="Text 23"/>
          <p:cNvSpPr txBox="1"/>
          <p:nvPr/>
        </p:nvSpPr>
        <p:spPr>
          <a:xfrm>
            <a:off x="7037680" y="33741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The same stray semicolon that broke the if statement. do-while is the only one that wants one.</a:t>
            </a:r>
            <a:endParaRPr lang="en-US" sz="1200" dirty="0"/>
          </a:p>
        </p:txBody>
      </p:sp>
      <p:sp>
        <p:nvSpPr>
          <p:cNvPr id="26" name="Shape 24"/>
          <p:cNvSpPr/>
          <p:nvPr/>
        </p:nvSpPr>
        <p:spPr>
          <a:xfrm>
            <a:off x="566928" y="4462272"/>
            <a:ext cx="5391760" cy="1444752"/>
          </a:xfrm>
          <a:prstGeom prst="roundRect">
            <a:avLst>
              <a:gd name="adj" fmla="val 5696"/>
            </a:avLst>
          </a:prstGeom>
          <a:solidFill>
            <a:srgbClr val="F1F5F9"/>
          </a:solidFill>
          <a:ln w="12700">
            <a:solidFill>
              <a:srgbClr val="F1F5F9"/>
            </a:solidFill>
            <a:prstDash val="solid"/>
          </a:ln>
        </p:spPr>
      </p:sp>
      <p:sp>
        <p:nvSpPr>
          <p:cNvPr id="27" name="Shape 25"/>
          <p:cNvSpPr/>
          <p:nvPr/>
        </p:nvSpPr>
        <p:spPr>
          <a:xfrm>
            <a:off x="804672" y="4718304"/>
            <a:ext cx="402336" cy="402336"/>
          </a:xfrm>
          <a:prstGeom prst="ellipse">
            <a:avLst/>
          </a:prstGeom>
          <a:solidFill>
            <a:srgbClr val="C4560C"/>
          </a:solidFill>
          <a:ln w="12700">
            <a:solidFill>
              <a:srgbClr val="C4560C"/>
            </a:solidFill>
            <a:prstDash val="solid"/>
          </a:ln>
        </p:spPr>
      </p:sp>
      <p:sp>
        <p:nvSpPr>
          <p:cNvPr id="28" name="Text 26"/>
          <p:cNvSpPr txBox="1"/>
          <p:nvPr/>
        </p:nvSpPr>
        <p:spPr>
          <a:xfrm>
            <a:off x="804672" y="47183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371600" y="46268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Never count with a double</a:t>
            </a:r>
            <a:endParaRPr lang="en-US" sz="1400" dirty="0"/>
          </a:p>
        </p:txBody>
      </p:sp>
      <p:sp>
        <p:nvSpPr>
          <p:cNvPr id="30" name="Text 28"/>
          <p:cNvSpPr txBox="1"/>
          <p:nvPr/>
        </p:nvSpPr>
        <p:spPr>
          <a:xfrm>
            <a:off x="1371600" y="49743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Control the loop with an int and compute the double inside. 0.01 is not 0.01, and the loop runs 99 times.</a:t>
            </a:r>
            <a:endParaRPr lang="en-US" sz="1200" dirty="0"/>
          </a:p>
        </p:txBody>
      </p:sp>
      <p:sp>
        <p:nvSpPr>
          <p:cNvPr id="31" name="Shape 29"/>
          <p:cNvSpPr/>
          <p:nvPr/>
        </p:nvSpPr>
        <p:spPr>
          <a:xfrm>
            <a:off x="6233008" y="4462272"/>
            <a:ext cx="5391760" cy="1444752"/>
          </a:xfrm>
          <a:prstGeom prst="roundRect">
            <a:avLst>
              <a:gd name="adj" fmla="val 5696"/>
            </a:avLst>
          </a:prstGeom>
          <a:solidFill>
            <a:srgbClr val="FFFFFF"/>
          </a:solidFill>
          <a:ln w="12700">
            <a:solidFill>
              <a:srgbClr val="D3DEE7"/>
            </a:solidFill>
            <a:prstDash val="solid"/>
          </a:ln>
        </p:spPr>
      </p:sp>
      <p:sp>
        <p:nvSpPr>
          <p:cNvPr id="32" name="Shape 30"/>
          <p:cNvSpPr/>
          <p:nvPr/>
        </p:nvSpPr>
        <p:spPr>
          <a:xfrm>
            <a:off x="6470752" y="4718304"/>
            <a:ext cx="402336" cy="402336"/>
          </a:xfrm>
          <a:prstGeom prst="ellipse">
            <a:avLst/>
          </a:prstGeom>
          <a:solidFill>
            <a:srgbClr val="C4560C"/>
          </a:solidFill>
          <a:ln w="12700">
            <a:solidFill>
              <a:srgbClr val="C4560C"/>
            </a:solidFill>
            <a:prstDash val="solid"/>
          </a:ln>
        </p:spPr>
      </p:sp>
      <p:sp>
        <p:nvSpPr>
          <p:cNvPr id="33" name="Text 31"/>
          <p:cNvSpPr txBox="1"/>
          <p:nvPr/>
        </p:nvSpPr>
        <p:spPr>
          <a:xfrm>
            <a:off x="6470752" y="47183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7037680" y="4626864"/>
            <a:ext cx="4340200" cy="310896"/>
          </a:xfrm>
          <a:prstGeom prst="rect">
            <a:avLst/>
          </a:prstGeom>
          <a:noFill/>
          <a:ln/>
        </p:spPr>
        <p:txBody>
          <a:bodyPr wrap="square" lIns="0" tIns="0" rIns="0" bIns="0" rtlCol="0" anchor="ctr"/>
          <a:lstStyle/>
          <a:p>
            <a:pPr indent="0" marL="0">
              <a:buNone/>
            </a:pPr>
            <a:r>
              <a:rPr lang="en-US" sz="1400" b="1" dirty="0">
                <a:solidFill>
                  <a:srgbClr val="0F2942"/>
                </a:solidFill>
                <a:latin typeface="Calibri" pitchFamily="34" charset="0"/>
                <a:ea typeface="Calibri" pitchFamily="34" charset="-122"/>
                <a:cs typeface="Calibri" pitchFamily="34" charset="-120"/>
              </a:rPr>
              <a:t>break stops, continue skips</a:t>
            </a:r>
            <a:endParaRPr lang="en-US" sz="1400" dirty="0"/>
          </a:p>
        </p:txBody>
      </p:sp>
      <p:sp>
        <p:nvSpPr>
          <p:cNvPr id="35" name="Text 33"/>
          <p:cNvSpPr txBox="1"/>
          <p:nvPr/>
        </p:nvSpPr>
        <p:spPr>
          <a:xfrm>
            <a:off x="7037680" y="4974336"/>
            <a:ext cx="4340200" cy="822960"/>
          </a:xfrm>
          <a:prstGeom prst="rect">
            <a:avLst/>
          </a:prstGeom>
          <a:noFill/>
          <a:ln/>
        </p:spPr>
        <p:txBody>
          <a:bodyPr wrap="square" lIns="0" tIns="0" rIns="0" bIns="0" rtlCol="0" anchor="t"/>
          <a:lstStyle/>
          <a:p>
            <a:pPr indent="0" marL="0">
              <a:lnSpc>
                <a:spcPct val="112000"/>
              </a:lnSpc>
              <a:buNone/>
            </a:pPr>
            <a:r>
              <a:rPr lang="en-US" sz="1200" dirty="0">
                <a:solidFill>
                  <a:srgbClr val="3A536B"/>
                </a:solidFill>
                <a:latin typeface="Calibri" pitchFamily="34" charset="0"/>
                <a:ea typeface="Calibri" pitchFamily="34" charset="-122"/>
                <a:cs typeface="Calibri" pitchFamily="34" charset="-120"/>
              </a:rPr>
              <a:t>Both are useful and both are easy to overuse. In a while, a continue above the update is an infinite loop.</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A430A"/>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566928" y="566928"/>
            <a:ext cx="11057839" cy="502920"/>
          </a:xfrm>
          <a:prstGeom prst="rect">
            <a:avLst/>
          </a:prstGeom>
          <a:noFill/>
          <a:ln/>
        </p:spPr>
        <p:txBody>
          <a:bodyPr wrap="square" lIns="0" tIns="0" rIns="0" bIns="0" rtlCol="0" anchor="t"/>
          <a:lstStyle/>
          <a:p>
            <a:pPr indent="0" marL="0">
              <a:buNone/>
            </a:pPr>
            <a:r>
              <a:rPr lang="en-US" sz="3000" b="1" dirty="0">
                <a:solidFill>
                  <a:srgbClr val="0F2942"/>
                </a:solidFill>
                <a:latin typeface="Cambria" pitchFamily="34" charset="0"/>
                <a:ea typeface="Cambria" pitchFamily="34" charset="-122"/>
                <a:cs typeface="Cambria" pitchFamily="34" charset="-120"/>
              </a:rPr>
              <a:t>Before Thursday, 24 September</a:t>
            </a:r>
            <a:endParaRPr lang="en-US" sz="3000" dirty="0"/>
          </a:p>
        </p:txBody>
      </p:sp>
      <p:sp>
        <p:nvSpPr>
          <p:cNvPr id="4" name="Text 2"/>
          <p:cNvSpPr txBox="1"/>
          <p:nvPr/>
        </p:nvSpPr>
        <p:spPr>
          <a:xfrm>
            <a:off x="566928" y="6455664"/>
            <a:ext cx="5486400" cy="228600"/>
          </a:xfrm>
          <a:prstGeom prst="rect">
            <a:avLst/>
          </a:prstGeom>
          <a:noFill/>
          <a:ln/>
        </p:spPr>
        <p:txBody>
          <a:bodyPr wrap="square" lIns="0" tIns="0" rIns="0" bIns="0" rtlCol="0" anchor="ctr"/>
          <a:lstStyle/>
          <a:p>
            <a:pPr indent="0" marL="0">
              <a:buNone/>
            </a:pPr>
            <a:r>
              <a:rPr lang="en-US" sz="900" dirty="0">
                <a:solidFill>
                  <a:srgbClr val="4B6377"/>
                </a:solidFill>
                <a:latin typeface="Calibri" pitchFamily="34" charset="0"/>
                <a:ea typeface="Calibri" pitchFamily="34" charset="-122"/>
                <a:cs typeface="Calibri" pitchFamily="34" charset="-120"/>
              </a:rPr>
              <a:t>COS 2030 · Basics in Java Programming · Fall 2026</a:t>
            </a:r>
            <a:endParaRPr lang="en-US" sz="900" dirty="0"/>
          </a:p>
        </p:txBody>
      </p:sp>
      <p:sp>
        <p:nvSpPr>
          <p:cNvPr id="5" name="Text 3"/>
          <p:cNvSpPr txBox="1"/>
          <p:nvPr/>
        </p:nvSpPr>
        <p:spPr>
          <a:xfrm>
            <a:off x="10984687" y="6455664"/>
            <a:ext cx="640080" cy="228600"/>
          </a:xfrm>
          <a:prstGeom prst="rect">
            <a:avLst/>
          </a:prstGeom>
          <a:noFill/>
          <a:ln/>
        </p:spPr>
        <p:txBody>
          <a:bodyPr wrap="square" lIns="0" tIns="0" rIns="0" bIns="0" rtlCol="0" anchor="ctr"/>
          <a:lstStyle/>
          <a:p>
            <a:pPr algn="r" indent="0" marL="0">
              <a:buNone/>
            </a:pPr>
            <a:r>
              <a:rPr lang="en-US" sz="900" dirty="0">
                <a:solidFill>
                  <a:srgbClr val="4B6377"/>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66928" y="1353312"/>
            <a:ext cx="5346040" cy="1051560"/>
          </a:xfrm>
          <a:prstGeom prst="roundRect">
            <a:avLst>
              <a:gd name="adj" fmla="val 7826"/>
            </a:avLst>
          </a:prstGeom>
          <a:solidFill>
            <a:srgbClr val="F1F5F9"/>
          </a:solidFill>
          <a:ln w="12700">
            <a:solidFill>
              <a:srgbClr val="F1F5F9"/>
            </a:solidFill>
            <a:prstDash val="solid"/>
          </a:ln>
        </p:spPr>
      </p:sp>
      <p:sp>
        <p:nvSpPr>
          <p:cNvPr id="7" name="Shape 5"/>
          <p:cNvSpPr/>
          <p:nvPr/>
        </p:nvSpPr>
        <p:spPr>
          <a:xfrm>
            <a:off x="804672" y="1682496"/>
            <a:ext cx="384048" cy="384048"/>
          </a:xfrm>
          <a:prstGeom prst="ellipse">
            <a:avLst/>
          </a:prstGeom>
          <a:solidFill>
            <a:srgbClr val="176240"/>
          </a:solidFill>
          <a:ln w="12700">
            <a:solidFill>
              <a:srgbClr val="176240"/>
            </a:solidFill>
            <a:prstDash val="solid"/>
          </a:ln>
        </p:spPr>
      </p:sp>
      <p:sp>
        <p:nvSpPr>
          <p:cNvPr id="8" name="Text 6"/>
          <p:cNvSpPr txBox="1"/>
          <p:nvPr/>
        </p:nvSpPr>
        <p:spPr>
          <a:xfrm>
            <a:off x="804672" y="1682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1353312" y="1517904"/>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Write the five practice programs</a:t>
            </a:r>
            <a:endParaRPr lang="en-US" sz="1350" dirty="0"/>
          </a:p>
        </p:txBody>
      </p:sp>
      <p:sp>
        <p:nvSpPr>
          <p:cNvPr id="10" name="Text 8"/>
          <p:cNvSpPr txBox="1"/>
          <p:nvPr/>
        </p:nvSpPr>
        <p:spPr>
          <a:xfrm>
            <a:off x="1353312" y="1828800"/>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Type them, run them, and deliberately write one infinite loop so you know what it looks like.</a:t>
            </a:r>
            <a:endParaRPr lang="en-US" sz="1200" dirty="0"/>
          </a:p>
        </p:txBody>
      </p:sp>
      <p:sp>
        <p:nvSpPr>
          <p:cNvPr id="11" name="Shape 9"/>
          <p:cNvSpPr/>
          <p:nvPr/>
        </p:nvSpPr>
        <p:spPr>
          <a:xfrm>
            <a:off x="566928" y="2487168"/>
            <a:ext cx="5346040" cy="1051560"/>
          </a:xfrm>
          <a:prstGeom prst="roundRect">
            <a:avLst>
              <a:gd name="adj" fmla="val 7826"/>
            </a:avLst>
          </a:prstGeom>
          <a:solidFill>
            <a:srgbClr val="FFFFFF"/>
          </a:solidFill>
          <a:ln w="12700">
            <a:solidFill>
              <a:srgbClr val="D3DEE7"/>
            </a:solidFill>
            <a:prstDash val="solid"/>
          </a:ln>
        </p:spPr>
      </p:sp>
      <p:sp>
        <p:nvSpPr>
          <p:cNvPr id="12" name="Shape 10"/>
          <p:cNvSpPr/>
          <p:nvPr/>
        </p:nvSpPr>
        <p:spPr>
          <a:xfrm>
            <a:off x="804672" y="2816352"/>
            <a:ext cx="384048" cy="384048"/>
          </a:xfrm>
          <a:prstGeom prst="ellipse">
            <a:avLst/>
          </a:prstGeom>
          <a:solidFill>
            <a:srgbClr val="176240"/>
          </a:solidFill>
          <a:ln w="12700">
            <a:solidFill>
              <a:srgbClr val="176240"/>
            </a:solidFill>
            <a:prstDash val="solid"/>
          </a:ln>
        </p:spPr>
      </p:sp>
      <p:sp>
        <p:nvSpPr>
          <p:cNvPr id="13" name="Text 11"/>
          <p:cNvSpPr txBox="1"/>
          <p:nvPr/>
        </p:nvSpPr>
        <p:spPr>
          <a:xfrm>
            <a:off x="804672" y="28163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353312" y="2651760"/>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Read Liang, Chapter 5</a:t>
            </a:r>
            <a:endParaRPr lang="en-US" sz="1350" dirty="0"/>
          </a:p>
        </p:txBody>
      </p:sp>
      <p:sp>
        <p:nvSpPr>
          <p:cNvPr id="15" name="Text 13"/>
          <p:cNvSpPr txBox="1"/>
          <p:nvPr/>
        </p:nvSpPr>
        <p:spPr>
          <a:xfrm>
            <a:off x="1353312" y="2962656"/>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Sections 5.1 to 5.11. The checkpoint questions at the end of each section are quiz-shaped.</a:t>
            </a:r>
            <a:endParaRPr lang="en-US" sz="1200" dirty="0"/>
          </a:p>
        </p:txBody>
      </p:sp>
      <p:sp>
        <p:nvSpPr>
          <p:cNvPr id="16" name="Shape 14"/>
          <p:cNvSpPr/>
          <p:nvPr/>
        </p:nvSpPr>
        <p:spPr>
          <a:xfrm>
            <a:off x="566928" y="3621024"/>
            <a:ext cx="5346040" cy="1051560"/>
          </a:xfrm>
          <a:prstGeom prst="roundRect">
            <a:avLst>
              <a:gd name="adj" fmla="val 7826"/>
            </a:avLst>
          </a:prstGeom>
          <a:solidFill>
            <a:srgbClr val="F1F5F9"/>
          </a:solidFill>
          <a:ln w="12700">
            <a:solidFill>
              <a:srgbClr val="F1F5F9"/>
            </a:solidFill>
            <a:prstDash val="solid"/>
          </a:ln>
        </p:spPr>
      </p:sp>
      <p:sp>
        <p:nvSpPr>
          <p:cNvPr id="17" name="Shape 15"/>
          <p:cNvSpPr/>
          <p:nvPr/>
        </p:nvSpPr>
        <p:spPr>
          <a:xfrm>
            <a:off x="804672" y="3950208"/>
            <a:ext cx="384048" cy="384048"/>
          </a:xfrm>
          <a:prstGeom prst="ellipse">
            <a:avLst/>
          </a:prstGeom>
          <a:solidFill>
            <a:srgbClr val="176240"/>
          </a:solidFill>
          <a:ln w="12700">
            <a:solidFill>
              <a:srgbClr val="176240"/>
            </a:solidFill>
            <a:prstDash val="solid"/>
          </a:ln>
        </p:spPr>
      </p:sp>
      <p:sp>
        <p:nvSpPr>
          <p:cNvPr id="18" name="Text 16"/>
          <p:cNvSpPr txBox="1"/>
          <p:nvPr/>
        </p:nvSpPr>
        <p:spPr>
          <a:xfrm>
            <a:off x="804672"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353312" y="3785616"/>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Try input redirection once</a:t>
            </a:r>
            <a:endParaRPr lang="en-US" sz="1350" dirty="0"/>
          </a:p>
        </p:txBody>
      </p:sp>
      <p:sp>
        <p:nvSpPr>
          <p:cNvPr id="20" name="Text 18"/>
          <p:cNvSpPr txBox="1"/>
          <p:nvPr/>
        </p:nvSpPr>
        <p:spPr>
          <a:xfrm>
            <a:off x="1353312" y="4096512"/>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Put twenty numbers in a text file and run your sentinel program with &lt; input.txt.</a:t>
            </a:r>
            <a:endParaRPr lang="en-US" sz="1200" dirty="0"/>
          </a:p>
        </p:txBody>
      </p:sp>
      <p:sp>
        <p:nvSpPr>
          <p:cNvPr id="21" name="Shape 19"/>
          <p:cNvSpPr/>
          <p:nvPr/>
        </p:nvSpPr>
        <p:spPr>
          <a:xfrm>
            <a:off x="566928" y="4754880"/>
            <a:ext cx="5346040" cy="1051560"/>
          </a:xfrm>
          <a:prstGeom prst="roundRect">
            <a:avLst>
              <a:gd name="adj" fmla="val 7826"/>
            </a:avLst>
          </a:prstGeom>
          <a:solidFill>
            <a:srgbClr val="FFFFFF"/>
          </a:solidFill>
          <a:ln w="12700">
            <a:solidFill>
              <a:srgbClr val="D3DEE7"/>
            </a:solidFill>
            <a:prstDash val="solid"/>
          </a:ln>
        </p:spPr>
      </p:sp>
      <p:sp>
        <p:nvSpPr>
          <p:cNvPr id="22" name="Shape 20"/>
          <p:cNvSpPr/>
          <p:nvPr/>
        </p:nvSpPr>
        <p:spPr>
          <a:xfrm>
            <a:off x="804672" y="5084064"/>
            <a:ext cx="384048" cy="384048"/>
          </a:xfrm>
          <a:prstGeom prst="ellipse">
            <a:avLst/>
          </a:prstGeom>
          <a:solidFill>
            <a:srgbClr val="176240"/>
          </a:solidFill>
          <a:ln w="12700">
            <a:solidFill>
              <a:srgbClr val="176240"/>
            </a:solidFill>
            <a:prstDash val="solid"/>
          </a:ln>
        </p:spPr>
      </p:sp>
      <p:sp>
        <p:nvSpPr>
          <p:cNvPr id="23" name="Text 21"/>
          <p:cNvSpPr txBox="1"/>
          <p:nvPr/>
        </p:nvSpPr>
        <p:spPr>
          <a:xfrm>
            <a:off x="804672" y="5084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1353312" y="4919472"/>
            <a:ext cx="4321912" cy="274320"/>
          </a:xfrm>
          <a:prstGeom prst="rect">
            <a:avLst/>
          </a:prstGeom>
          <a:noFill/>
          <a:ln/>
        </p:spPr>
        <p:txBody>
          <a:bodyPr wrap="square" lIns="0" tIns="0" rIns="0" bIns="0" rtlCol="0" anchor="ctr"/>
          <a:lstStyle/>
          <a:p>
            <a:pPr indent="0" marL="0">
              <a:buNone/>
            </a:pPr>
            <a:r>
              <a:rPr lang="en-US" sz="1350" b="1" dirty="0">
                <a:solidFill>
                  <a:srgbClr val="0F2942"/>
                </a:solidFill>
                <a:latin typeface="Calibri" pitchFamily="34" charset="0"/>
                <a:ea typeface="Calibri" pitchFamily="34" charset="-122"/>
                <a:cs typeface="Calibri" pitchFamily="34" charset="-120"/>
              </a:rPr>
              <a:t>Trace one loop on paper</a:t>
            </a:r>
            <a:endParaRPr lang="en-US" sz="1350" dirty="0"/>
          </a:p>
        </p:txBody>
      </p:sp>
      <p:sp>
        <p:nvSpPr>
          <p:cNvPr id="25" name="Text 23"/>
          <p:cNvSpPr txBox="1"/>
          <p:nvPr/>
        </p:nvSpPr>
        <p:spPr>
          <a:xfrm>
            <a:off x="1353312" y="5230368"/>
            <a:ext cx="4321912" cy="502920"/>
          </a:xfrm>
          <a:prstGeom prst="rect">
            <a:avLst/>
          </a:prstGeom>
          <a:noFill/>
          <a:ln/>
        </p:spPr>
        <p:txBody>
          <a:bodyPr wrap="square" lIns="0" tIns="0" rIns="0" bIns="0" rtlCol="0" anchor="t"/>
          <a:lstStyle/>
          <a:p>
            <a:pPr indent="0" marL="0">
              <a:lnSpc>
                <a:spcPct val="110000"/>
              </a:lnSpc>
              <a:buNone/>
            </a:pPr>
            <a:r>
              <a:rPr lang="en-US" sz="1200" dirty="0">
                <a:solidFill>
                  <a:srgbClr val="3A536B"/>
                </a:solidFill>
                <a:latin typeface="Calibri" pitchFamily="34" charset="0"/>
                <a:ea typeface="Calibri" pitchFamily="34" charset="-122"/>
                <a:cs typeface="Calibri" pitchFamily="34" charset="-120"/>
              </a:rPr>
              <a:t>Any of today's. Write the counter's value down the margin, pass by pass, and check it against a run.</a:t>
            </a:r>
            <a:endParaRPr lang="en-US" sz="1200" dirty="0"/>
          </a:p>
        </p:txBody>
      </p:sp>
      <p:sp>
        <p:nvSpPr>
          <p:cNvPr id="26" name="Shape 24"/>
          <p:cNvSpPr/>
          <p:nvPr/>
        </p:nvSpPr>
        <p:spPr>
          <a:xfrm>
            <a:off x="6278728" y="1353312"/>
            <a:ext cx="5346040" cy="2103120"/>
          </a:xfrm>
          <a:prstGeom prst="roundRect">
            <a:avLst>
              <a:gd name="adj" fmla="val 3913"/>
            </a:avLst>
          </a:prstGeom>
          <a:solidFill>
            <a:srgbClr val="E4ECF4"/>
          </a:solidFill>
          <a:ln w="12700">
            <a:solidFill>
              <a:srgbClr val="E4ECF4"/>
            </a:solidFill>
            <a:prstDash val="solid"/>
          </a:ln>
        </p:spPr>
      </p:sp>
      <p:sp>
        <p:nvSpPr>
          <p:cNvPr id="27" name="Text 25"/>
          <p:cNvSpPr txBox="1"/>
          <p:nvPr/>
        </p:nvSpPr>
        <p:spPr>
          <a:xfrm>
            <a:off x="6553048" y="1591056"/>
            <a:ext cx="4797400" cy="274320"/>
          </a:xfrm>
          <a:prstGeom prst="rect">
            <a:avLst/>
          </a:prstGeom>
          <a:noFill/>
          <a:ln/>
        </p:spPr>
        <p:txBody>
          <a:bodyPr wrap="square" lIns="0" tIns="0" rIns="0" bIns="0" rtlCol="0" anchor="ctr"/>
          <a:lstStyle/>
          <a:p>
            <a:pPr indent="0" marL="0">
              <a:buNone/>
            </a:pPr>
            <a:r>
              <a:rPr lang="en-US" sz="1100" b="1" spc="140" kern="0" dirty="0">
                <a:solidFill>
                  <a:srgbClr val="9A430A"/>
                </a:solidFill>
                <a:latin typeface="Calibri" pitchFamily="34" charset="0"/>
                <a:ea typeface="Calibri" pitchFamily="34" charset="-122"/>
                <a:cs typeface="Calibri" pitchFamily="34" charset="-120"/>
              </a:rPr>
              <a:t>Next session</a:t>
            </a:r>
            <a:endParaRPr lang="en-US" sz="1100" dirty="0"/>
          </a:p>
        </p:txBody>
      </p:sp>
      <p:sp>
        <p:nvSpPr>
          <p:cNvPr id="28" name="Text 26"/>
          <p:cNvSpPr txBox="1"/>
          <p:nvPr/>
        </p:nvSpPr>
        <p:spPr>
          <a:xfrm>
            <a:off x="6553048" y="1901952"/>
            <a:ext cx="4797400" cy="621792"/>
          </a:xfrm>
          <a:prstGeom prst="rect">
            <a:avLst/>
          </a:prstGeom>
          <a:noFill/>
          <a:ln/>
        </p:spPr>
        <p:txBody>
          <a:bodyPr wrap="square" lIns="0" tIns="0" rIns="0" bIns="0" rtlCol="0" anchor="t"/>
          <a:lstStyle/>
          <a:p>
            <a:pPr indent="0" marL="0">
              <a:buNone/>
            </a:pPr>
            <a:r>
              <a:rPr lang="en-US" sz="2100" b="1" dirty="0">
                <a:solidFill>
                  <a:srgbClr val="0F2942"/>
                </a:solidFill>
                <a:latin typeface="Cambria" pitchFamily="34" charset="0"/>
                <a:ea typeface="Cambria" pitchFamily="34" charset="-122"/>
                <a:cs typeface="Cambria" pitchFamily="34" charset="-120"/>
              </a:rPr>
              <a:t>Thursday 24.09 — Methods</a:t>
            </a:r>
            <a:endParaRPr lang="en-US" sz="2100" dirty="0"/>
          </a:p>
        </p:txBody>
      </p:sp>
      <p:sp>
        <p:nvSpPr>
          <p:cNvPr id="29" name="Text 27"/>
          <p:cNvSpPr txBox="1"/>
          <p:nvPr/>
        </p:nvSpPr>
        <p:spPr>
          <a:xfrm>
            <a:off x="6553048" y="2615184"/>
            <a:ext cx="4797400" cy="685800"/>
          </a:xfrm>
          <a:prstGeom prst="rect">
            <a:avLst/>
          </a:prstGeom>
          <a:noFill/>
          <a:ln/>
        </p:spPr>
        <p:txBody>
          <a:bodyPr wrap="square" lIns="0" tIns="0" rIns="0" bIns="0" rtlCol="0" anchor="t"/>
          <a:lstStyle/>
          <a:p>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Giving a block of code a name, parameters and a return value — so that the loops you wrote today can be used from anywhere instead of copied.</a:t>
            </a:r>
            <a:endParaRPr lang="en-US" sz="1250" dirty="0"/>
          </a:p>
        </p:txBody>
      </p:sp>
      <p:sp>
        <p:nvSpPr>
          <p:cNvPr id="30" name="Shape 28"/>
          <p:cNvSpPr/>
          <p:nvPr/>
        </p:nvSpPr>
        <p:spPr>
          <a:xfrm>
            <a:off x="6278728" y="3602736"/>
            <a:ext cx="5346040" cy="1051560"/>
          </a:xfrm>
          <a:prstGeom prst="roundRect">
            <a:avLst>
              <a:gd name="adj" fmla="val 7826"/>
            </a:avLst>
          </a:prstGeom>
          <a:solidFill>
            <a:srgbClr val="FBEAE8"/>
          </a:solidFill>
          <a:ln w="12700">
            <a:solidFill>
              <a:srgbClr val="FBEAE8"/>
            </a:solidFill>
            <a:prstDash val="solid"/>
          </a:ln>
        </p:spPr>
      </p:sp>
      <p:sp>
        <p:nvSpPr>
          <p:cNvPr id="31" name="Text 29"/>
          <p:cNvSpPr txBox="1"/>
          <p:nvPr/>
        </p:nvSpPr>
        <p:spPr>
          <a:xfrm>
            <a:off x="6553048" y="3602736"/>
            <a:ext cx="4797400" cy="1051560"/>
          </a:xfrm>
          <a:prstGeom prst="rect">
            <a:avLst/>
          </a:prstGeom>
          <a:noFill/>
          <a:ln/>
        </p:spPr>
        <p:txBody>
          <a:bodyPr wrap="square" lIns="0" tIns="0" rIns="0" bIns="0" rtlCol="0" anchor="ctr"/>
          <a:lstStyle/>
          <a:p>
            <a:pPr indent="0" marL="0">
              <a:lnSpc>
                <a:spcPct val="112000"/>
              </a:lnSpc>
              <a:buNone/>
            </a:pPr>
            <a:r>
              <a:rPr lang="en-US" sz="1250" b="1" dirty="0">
                <a:solidFill>
                  <a:srgbClr val="9C241C"/>
                </a:solidFill>
                <a:latin typeface="Calibri" pitchFamily="34" charset="0"/>
                <a:ea typeface="Calibri" pitchFamily="34" charset="-122"/>
                <a:cs typeface="Calibri" pitchFamily="34" charset="-120"/>
              </a:rPr>
              <a:t>Diary note:  </a:t>
            </a:r>
            <a:pPr indent="0" marL="0">
              <a:lnSpc>
                <a:spcPct val="112000"/>
              </a:lnSpc>
              <a:buNone/>
            </a:pPr>
            <a:r>
              <a:rPr lang="en-US" sz="1250" dirty="0">
                <a:solidFill>
                  <a:srgbClr val="3A536B"/>
                </a:solidFill>
                <a:latin typeface="Calibri" pitchFamily="34" charset="0"/>
                <a:ea typeface="Calibri" pitchFamily="34" charset="-122"/>
                <a:cs typeface="Calibri" pitchFamily="34" charset="-120"/>
              </a:rPr>
              <a:t>no class on Tuesday 22 September — Bulgarian Independence Day. We meet next on Thursday 24.09.</a:t>
            </a:r>
            <a:endParaRPr lang="en-US" sz="1250" dirty="0"/>
          </a:p>
        </p:txBody>
      </p:sp>
      <p:sp>
        <p:nvSpPr>
          <p:cNvPr id="32" name="Shape 30"/>
          <p:cNvSpPr/>
          <p:nvPr/>
        </p:nvSpPr>
        <p:spPr>
          <a:xfrm>
            <a:off x="6278728" y="4800600"/>
            <a:ext cx="5346040" cy="1051560"/>
          </a:xfrm>
          <a:prstGeom prst="roundRect">
            <a:avLst>
              <a:gd name="adj" fmla="val 7826"/>
            </a:avLst>
          </a:prstGeom>
          <a:solidFill>
            <a:srgbClr val="FBEEE0"/>
          </a:solidFill>
          <a:ln w="12700">
            <a:solidFill>
              <a:srgbClr val="FBEEE0"/>
            </a:solidFill>
            <a:prstDash val="solid"/>
          </a:ln>
        </p:spPr>
      </p:sp>
      <p:sp>
        <p:nvSpPr>
          <p:cNvPr id="33" name="Text 31"/>
          <p:cNvSpPr txBox="1"/>
          <p:nvPr/>
        </p:nvSpPr>
        <p:spPr>
          <a:xfrm>
            <a:off x="6553048" y="4800600"/>
            <a:ext cx="4797400" cy="1051560"/>
          </a:xfrm>
          <a:prstGeom prst="rect">
            <a:avLst/>
          </a:prstGeom>
          <a:noFill/>
          <a:ln/>
        </p:spPr>
        <p:txBody>
          <a:bodyPr wrap="square" lIns="0" tIns="0" rIns="0" bIns="0" rtlCol="0" anchor="ctr"/>
          <a:lstStyle/>
          <a:p>
            <a:pPr indent="0" marL="0">
              <a:lnSpc>
                <a:spcPct val="110000"/>
              </a:lnSpc>
              <a:buNone/>
            </a:pPr>
            <a:r>
              <a:rPr lang="en-US" sz="1250" b="1" dirty="0">
                <a:solidFill>
                  <a:srgbClr val="9A430A"/>
                </a:solidFill>
                <a:latin typeface="Calibri" pitchFamily="34" charset="0"/>
                <a:ea typeface="Calibri" pitchFamily="34" charset="-122"/>
                <a:cs typeface="Calibri" pitchFamily="34" charset="-120"/>
              </a:rPr>
              <a:t>Quiz 1 is on 01.10  </a:t>
            </a:r>
            <a:pPr indent="0" marL="0">
              <a:lnSpc>
                <a:spcPct val="110000"/>
              </a:lnSpc>
              <a:buNone/>
            </a:pPr>
            <a:r>
              <a:rPr lang="en-US" sz="1250" dirty="0">
                <a:solidFill>
                  <a:srgbClr val="3A536B"/>
                </a:solidFill>
                <a:latin typeface="Calibri" pitchFamily="34" charset="0"/>
                <a:ea typeface="Calibri" pitchFamily="34" charset="-122"/>
                <a:cs typeface="Calibri" pitchFamily="34" charset="-120"/>
              </a:rPr>
              <a:t>and covers Weeks 1–3. Loops will be the largest part of it.</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DF2F7"/>
        </a:solidFill>
      </p:bgPr>
    </p:bg>
    <p:spTree>
      <p:nvGrpSpPr>
        <p:cNvPr id="1" name=""/>
        <p:cNvGrpSpPr/>
        <p:nvPr/>
      </p:nvGrpSpPr>
      <p:grpSpPr>
        <a:xfrm>
          <a:off x="0" y="0"/>
          <a:ext cx="0" cy="0"/>
          <a:chOff x="0" y="0"/>
          <a:chExt cx="0" cy="0"/>
        </a:xfrm>
      </p:grpSpPr>
      <p:sp>
        <p:nvSpPr>
          <p:cNvPr id="2" name="Text 0"/>
          <p:cNvSpPr txBox="1"/>
          <p:nvPr/>
        </p:nvSpPr>
        <p:spPr>
          <a:xfrm>
            <a:off x="566928" y="2331720"/>
            <a:ext cx="7772400" cy="1005840"/>
          </a:xfrm>
          <a:prstGeom prst="rect">
            <a:avLst/>
          </a:prstGeom>
          <a:noFill/>
          <a:ln/>
        </p:spPr>
        <p:txBody>
          <a:bodyPr wrap="square" lIns="0" tIns="0" rIns="0" bIns="0" rtlCol="0" anchor="ctr"/>
          <a:lstStyle/>
          <a:p>
            <a:pPr indent="0" marL="0">
              <a:buNone/>
            </a:pPr>
            <a:r>
              <a:rPr lang="en-US" sz="5800" b="1" dirty="0">
                <a:solidFill>
                  <a:srgbClr val="0F2942"/>
                </a:solidFill>
                <a:latin typeface="Cambria" pitchFamily="34" charset="0"/>
                <a:ea typeface="Cambria" pitchFamily="34" charset="-122"/>
                <a:cs typeface="Cambria" pitchFamily="34" charset="-120"/>
              </a:rPr>
              <a:t>Questions?</a:t>
            </a:r>
            <a:endParaRPr lang="en-US" sz="5800" dirty="0"/>
          </a:p>
        </p:txBody>
      </p:sp>
      <p:sp>
        <p:nvSpPr>
          <p:cNvPr id="3" name="Text 1"/>
          <p:cNvSpPr txBox="1"/>
          <p:nvPr/>
        </p:nvSpPr>
        <p:spPr>
          <a:xfrm>
            <a:off x="566928" y="3383280"/>
            <a:ext cx="7772400" cy="402336"/>
          </a:xfrm>
          <a:prstGeom prst="rect">
            <a:avLst/>
          </a:prstGeom>
          <a:noFill/>
          <a:ln/>
        </p:spPr>
        <p:txBody>
          <a:bodyPr wrap="square" lIns="0" tIns="0" rIns="0" bIns="0" rtlCol="0" anchor="ctr"/>
          <a:lstStyle/>
          <a:p>
            <a:pPr indent="0" marL="0">
              <a:buNone/>
            </a:pPr>
            <a:r>
              <a:rPr lang="en-US" sz="1800" dirty="0">
                <a:solidFill>
                  <a:srgbClr val="9A430A"/>
                </a:solidFill>
                <a:latin typeface="Calibri" pitchFamily="34" charset="0"/>
                <a:ea typeface="Calibri" pitchFamily="34" charset="-122"/>
                <a:cs typeface="Calibri" pitchFamily="34" charset="-120"/>
              </a:rPr>
              <a:t>Thank you for your attention — see you on the 24th.</a:t>
            </a:r>
            <a:endParaRPr lang="en-US" sz="1800" dirty="0"/>
          </a:p>
        </p:txBody>
      </p:sp>
      <p:sp>
        <p:nvSpPr>
          <p:cNvPr id="4" name="Text 2"/>
          <p:cNvSpPr txBox="1"/>
          <p:nvPr/>
        </p:nvSpPr>
        <p:spPr>
          <a:xfrm>
            <a:off x="566928" y="4206240"/>
            <a:ext cx="8229600" cy="1005840"/>
          </a:xfrm>
          <a:prstGeom prst="rect">
            <a:avLst/>
          </a:prstGeom>
          <a:noFill/>
          <a:ln/>
        </p:spPr>
        <p:txBody>
          <a:bodyPr wrap="square" lIns="0" tIns="0" rIns="0" bIns="0" rtlCol="0" anchor="ctr"/>
          <a:lstStyle/>
          <a:p>
            <a:pPr indent="0" marL="0">
              <a:lnSpc>
                <a:spcPct val="135000"/>
              </a:lnSpc>
              <a:buNone/>
            </a:pPr>
            <a:r>
              <a:rPr lang="en-US" sz="1350" b="1" dirty="0">
                <a:solidFill>
                  <a:srgbClr val="0F2942"/>
                </a:solidFill>
                <a:latin typeface="Calibri" pitchFamily="34" charset="0"/>
                <a:ea typeface="Calibri" pitchFamily="34" charset="-122"/>
                <a:cs typeface="Calibri" pitchFamily="34" charset="-120"/>
              </a:rPr>
              <a:t>Dr. Narasimha Rao Vajjhala</a:t>
            </a:r>
            <a:endParaRPr lang="en-US" sz="1350" dirty="0"/>
          </a:p>
          <a:p>
            <a:pPr indent="0" marL="0">
              <a:lnSpc>
                <a:spcPct val="135000"/>
              </a:lnSpc>
              <a:buNone/>
            </a:pPr>
            <a:r>
              <a:rPr lang="en-US" sz="1350" dirty="0">
                <a:solidFill>
                  <a:srgbClr val="3A536B"/>
                </a:solidFill>
                <a:latin typeface="Calibri" pitchFamily="34" charset="0"/>
                <a:ea typeface="Calibri" pitchFamily="34" charset="-122"/>
                <a:cs typeface="Calibri" pitchFamily="34" charset="-120"/>
              </a:rPr>
              <a:t>nrao@aubg.edu  ·  Office MB 253  ·  Office hours Tue &amp; Thu 15:00–17:30</a:t>
            </a:r>
            <a:endParaRPr lang="en-US" sz="1350" dirty="0"/>
          </a:p>
          <a:p>
            <a:pPr indent="0" marL="0">
              <a:lnSpc>
                <a:spcPct val="135000"/>
              </a:lnSpc>
              <a:buNone/>
            </a:pPr>
            <a:r>
              <a:rPr lang="en-US" sz="1350" dirty="0">
                <a:solidFill>
                  <a:srgbClr val="3A536B"/>
                </a:solidFill>
                <a:latin typeface="Calibri" pitchFamily="34" charset="0"/>
                <a:ea typeface="Calibri" pitchFamily="34" charset="-122"/>
                <a:cs typeface="Calibri" pitchFamily="34" charset="-120"/>
              </a:rPr>
              <a:t>Slides, recordings and the syllabus: aubg.instructure.com</a:t>
            </a:r>
            <a:endParaRPr lang="en-US" sz="1350" dirty="0"/>
          </a:p>
        </p:txBody>
      </p:sp>
      <p:sp>
        <p:nvSpPr>
          <p:cNvPr id="5" name="Text 3"/>
          <p:cNvSpPr txBox="1"/>
          <p:nvPr/>
        </p:nvSpPr>
        <p:spPr>
          <a:xfrm>
            <a:off x="7601407" y="2377440"/>
            <a:ext cx="4023360" cy="822960"/>
          </a:xfrm>
          <a:prstGeom prst="rect">
            <a:avLst/>
          </a:prstGeom>
          <a:noFill/>
          <a:ln/>
        </p:spPr>
        <p:txBody>
          <a:bodyPr wrap="square" lIns="0" tIns="0" rIns="0" bIns="0" rtlCol="0" anchor="ctr"/>
          <a:lstStyle/>
          <a:p>
            <a:pPr algn="r" indent="0" marL="0">
              <a:buNone/>
            </a:pPr>
            <a:r>
              <a:rPr lang="en-US" sz="4000" b="1" dirty="0">
                <a:solidFill>
                  <a:srgbClr val="5E778C"/>
                </a:solidFill>
                <a:latin typeface="Cambria" pitchFamily="34" charset="0"/>
                <a:ea typeface="Cambria" pitchFamily="34" charset="-122"/>
                <a:cs typeface="Cambria" pitchFamily="34" charset="-120"/>
              </a:rPr>
              <a:t>COS 2030</a:t>
            </a:r>
            <a:endParaRPr lang="en-US" sz="4000" dirty="0"/>
          </a:p>
        </p:txBody>
      </p:sp>
      <p:sp>
        <p:nvSpPr>
          <p:cNvPr id="6" name="Text 4"/>
          <p:cNvSpPr txBox="1"/>
          <p:nvPr/>
        </p:nvSpPr>
        <p:spPr>
          <a:xfrm>
            <a:off x="7601407" y="3200400"/>
            <a:ext cx="4023360" cy="731520"/>
          </a:xfrm>
          <a:prstGeom prst="rect">
            <a:avLst/>
          </a:prstGeom>
          <a:noFill/>
          <a:ln/>
        </p:spPr>
        <p:txBody>
          <a:bodyPr wrap="square" lIns="0" tIns="0" rIns="0" bIns="0" rtlCol="0" anchor="ctr"/>
          <a:lstStyle/>
          <a:p>
            <a:pPr algn="r" indent="0" marL="0">
              <a:lnSpc>
                <a:spcPct val="120000"/>
              </a:lnSpc>
              <a:buNone/>
            </a:pPr>
            <a:r>
              <a:rPr lang="en-US" sz="1300" dirty="0">
                <a:solidFill>
                  <a:srgbClr val="4B6377"/>
                </a:solidFill>
                <a:latin typeface="Calibri" pitchFamily="34" charset="0"/>
                <a:ea typeface="Calibri" pitchFamily="34" charset="-122"/>
                <a:cs typeface="Calibri" pitchFamily="34" charset="-120"/>
              </a:rPr>
              <a:t>Control Flow, Part 2 — Loops</a:t>
            </a:r>
            <a:endParaRPr lang="en-US" sz="1300" dirty="0"/>
          </a:p>
          <a:p>
            <a:pPr algn="r" indent="0" marL="0">
              <a:lnSpc>
                <a:spcPct val="120000"/>
              </a:lnSpc>
              <a:buNone/>
            </a:pPr>
            <a:r>
              <a:rPr lang="en-US" sz="1300" dirty="0">
                <a:solidFill>
                  <a:srgbClr val="4B6377"/>
                </a:solidFill>
                <a:latin typeface="Calibri" pitchFamily="34" charset="0"/>
                <a:ea typeface="Calibri" pitchFamily="34" charset="-122"/>
                <a:cs typeface="Calibri" pitchFamily="34" charset="-120"/>
              </a:rPr>
              <a:t>Fall 2026 · Lecture 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American University in Bulgaria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 2030 - Basics in Java Programming - Lecture 4</dc:title>
  <dc:subject>PptxGenJS Presentation</dc:subject>
  <dc:creator>Dr. Narasimha Rao Vajjhala</dc:creator>
  <cp:lastModifiedBy>Dr. Narasimha Rao Vajjhala</cp:lastModifiedBy>
  <cp:revision>1</cp:revision>
  <dcterms:created xsi:type="dcterms:W3CDTF">2026-09-11T09:45:35Z</dcterms:created>
  <dcterms:modified xsi:type="dcterms:W3CDTF">2026-09-11T09:45:35Z</dcterms:modified>
</cp:coreProperties>
</file>