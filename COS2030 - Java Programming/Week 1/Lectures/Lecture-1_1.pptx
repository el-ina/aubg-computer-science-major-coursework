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2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857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working lecture, not a read-through of the syllabus. Point out the checkpoints — they are ungraded but they preview the style of quiz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office hours are on the same days as class, immediately before it, so there is no scheduling excuse.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who came through C++ and who through C#. It tells you which analogies to lean on all semester.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change from Spring 2026: quizzes are now 40% over four quizzes rather than 50% over five, and 10% moves to two written assignments. The lab bonus rose from +2% to +3% and the tiers were relaxed.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exam date is set by the registrar and is not in the syllabus — announce it on Canvas as soon as it is published.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Four quizzes, 10% each, 40% in total. Quiz 1 is on 01.10 and covers Weeks 1-3. Q2: 30 hours falls in the 24-48 hour band, so a 20% deduction. Nothing is accepted beyond 72 hours. Q3: 7/11 is about 64%, which clears the 60% tier but not the 70% tier, so +1%. Point out how close that is to +2% - two more sessions would do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one C++ uses (compiler) and which one Python uses (interpreter). Java will turn out to do both.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worth mentioning on 08.09.2026: Java 27 is released next Tuesday, 15 September. We stay on 25 because it is the LTS.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javac produces bytecode in a .class file. Bytecode targets the Java Virtual Machine, not a physical CPU, so any platform with a JVM can run it. The JVM is platform-specific; your bytecode is not. Q2: Long-Term Support - a release that receives updates and security patches for years rather than six months. Java 25 shipped September 2025; the next LTS is Java 29 in September 2027. Q3: IntelliJ IDEA. It is a third-party IDE, not part of the JDK. Follow up: what about the JRE? (It is a subset of the JDK.)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original characteristics essay is at liveexample.pearsoncmg.com/etc/JavaCharacteristics.pdf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The JVM interprets bytecode at first, but the just-in-time compiler translates frequently-executed methods into native machine code while the program runs. So Java is compiled twice: source to bytecode ahead of time, bytecode to native code on demand. Q2: Any two of - manual memory management (replaced by garbage collection), pointer arithmetic (replaced by references), multiple inheritance of classes, operator overloading, preprocessor macros. Q3: A runtime error. It compiles cleanly - the type and syntax are both fine - but valid indices for a length-3 array are 0, 1 and 2, so scores[3] throws ArrayIndexOutOfBoundsException when the line executes. This is the classic off-by-one.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type it in IntelliJ live if the room allows. The first compile error of the semester is usually a mismatched file name or a missing semicolon.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JEP 512 was finalised in JDK 25 (September 2025) after previewing since JDK 21. The compact form is a real language feature, not a scripting hack: the compiler wraps the code in an implicit top-level class for you. Worth stressing that assessed work uses the explicit form.</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Java requires the source file holding a public class to carry that class's name exactly, including capitalisation. The compiler uses the file name to locate the class. Q2: javac compiles the source into Welcome.class, containing bytecode. java Welcome starts the JVM, loads that class and calls its main method. Compile once, run many times. Q3: (1) the class should be Hello - a class name starts with a capital, and the file would have to be renamed to match; (2) main takes String[] args, an array, not a single String - with String args the JVM will not recognise it as the entry point; (3) the println statement is missing its semicolon. Ask which of the three the compiler reports first, and which one compiles fine but fails at launch.</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noting: 1.0 / 0 does NOT throw - floating-point division by zero gives Infinity. Only integer division throws ArithmeticException. Good aside if the room is quick.</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Missing semicolon = syntax error, caught by the compiler. Integer division by zero = runtime error, ArithmeticException. 9/5 instead of 9.0/5 = logic error, compiles and runs and gives the wrong number. Q2: MAX_STUDENTS. Constants are UPPER_SNAKE_CASE. maxStudents would be a variable, MaxStudents looks like a class, and max_students is not a Java convention at all. Q3: It prints 67. Both operands of 9 / 5 are int literals, so Java performs integer division and truncates 1.8 to 1. Then 1 * 35 + 32 = 67. Writing 9.0 / 5 makes the expression double-precision and gives 95.</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a:effectLst/>
      </p:bgPr>
    </p:bg>
    <p:spTree>
      <p:nvGrpSpPr>
        <p:cNvPr id="1" name=""/>
        <p:cNvGrpSpPr/>
        <p:nvPr/>
      </p:nvGrpSpPr>
      <p:grpSpPr>
        <a:xfrm>
          <a:off x="0" y="0"/>
          <a:ext cx="0" cy="0"/>
          <a:chOff x="0" y="0"/>
          <a:chExt cx="0" cy="0"/>
        </a:xfrm>
      </p:grpSpPr>
      <p:sp>
        <p:nvSpPr>
          <p:cNvPr id="2" name="Shape 0"/>
          <p:cNvSpPr/>
          <p:nvPr/>
        </p:nvSpPr>
        <p:spPr>
          <a:xfrm>
            <a:off x="566928" y="1417320"/>
            <a:ext cx="566928" cy="566928"/>
          </a:xfrm>
          <a:prstGeom prst="roundRect">
            <a:avLst>
              <a:gd name="adj" fmla="val 16129"/>
            </a:avLst>
          </a:prstGeom>
          <a:solidFill>
            <a:srgbClr val="C4560C"/>
          </a:solidFill>
          <a:ln w="12700">
            <a:solidFill>
              <a:srgbClr val="C4560C"/>
            </a:solidFill>
            <a:prstDash val="solid"/>
          </a:ln>
        </p:spPr>
        <p:txBody>
          <a:bodyPr/>
          <a:lstStyle/>
          <a:p>
            <a:endParaRPr lang="en-US"/>
          </a:p>
        </p:txBody>
      </p:sp>
      <p:sp>
        <p:nvSpPr>
          <p:cNvPr id="3" name="Text 1"/>
          <p:cNvSpPr txBox="1"/>
          <p:nvPr/>
        </p:nvSpPr>
        <p:spPr>
          <a:xfrm>
            <a:off x="566928" y="1417320"/>
            <a:ext cx="566928" cy="566928"/>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J</a:t>
            </a:r>
            <a:endParaRPr lang="en-US" sz="3000" dirty="0"/>
          </a:p>
        </p:txBody>
      </p:sp>
      <p:sp>
        <p:nvSpPr>
          <p:cNvPr id="4" name="Text 2"/>
          <p:cNvSpPr txBox="1"/>
          <p:nvPr/>
        </p:nvSpPr>
        <p:spPr>
          <a:xfrm>
            <a:off x="566928" y="822960"/>
            <a:ext cx="11057839" cy="256032"/>
          </a:xfrm>
          <a:prstGeom prst="rect">
            <a:avLst/>
          </a:prstGeom>
          <a:noFill/>
          <a:ln/>
        </p:spPr>
        <p:txBody>
          <a:bodyPr wrap="square" lIns="0" tIns="0" rIns="0" bIns="0" rtlCol="0" anchor="ctr"/>
          <a:lstStyle/>
          <a:p>
            <a:pPr marL="0" indent="0">
              <a:buNone/>
            </a:pPr>
            <a:r>
              <a:rPr lang="en-US" sz="1100" b="1" kern="0" spc="180" dirty="0">
                <a:solidFill>
                  <a:srgbClr val="9A430A"/>
                </a:solidFill>
                <a:latin typeface="Calibri" pitchFamily="34" charset="0"/>
                <a:ea typeface="Calibri" pitchFamily="34" charset="-122"/>
                <a:cs typeface="Calibri" pitchFamily="34" charset="-120"/>
              </a:rPr>
              <a:t>AMERICAN UNIVERSITY IN BULGARIA  ·  DEPARTMENT OF COMPUTER SCIENCE</a:t>
            </a:r>
            <a:endParaRPr lang="en-US" sz="1100" dirty="0"/>
          </a:p>
        </p:txBody>
      </p:sp>
      <p:sp>
        <p:nvSpPr>
          <p:cNvPr id="5" name="Text 3"/>
          <p:cNvSpPr txBox="1"/>
          <p:nvPr/>
        </p:nvSpPr>
        <p:spPr>
          <a:xfrm>
            <a:off x="566928" y="2212848"/>
            <a:ext cx="11057839" cy="713232"/>
          </a:xfrm>
          <a:prstGeom prst="rect">
            <a:avLst/>
          </a:prstGeom>
          <a:noFill/>
          <a:ln/>
        </p:spPr>
        <p:txBody>
          <a:bodyPr wrap="square" lIns="0" tIns="0" rIns="0" bIns="0" rtlCol="0" anchor="ctr"/>
          <a:lstStyle/>
          <a:p>
            <a:pPr marL="0" indent="0">
              <a:buNone/>
            </a:pPr>
            <a:r>
              <a:rPr lang="en-US" sz="5800" b="1" dirty="0">
                <a:solidFill>
                  <a:srgbClr val="0F2942"/>
                </a:solidFill>
                <a:latin typeface="Cambria" pitchFamily="34" charset="0"/>
                <a:ea typeface="Cambria" pitchFamily="34" charset="-122"/>
                <a:cs typeface="Cambria" pitchFamily="34" charset="-120"/>
              </a:rPr>
              <a:t>COS 2030</a:t>
            </a:r>
            <a:endParaRPr lang="en-US" sz="5800" dirty="0"/>
          </a:p>
        </p:txBody>
      </p:sp>
      <p:sp>
        <p:nvSpPr>
          <p:cNvPr id="6" name="Text 4"/>
          <p:cNvSpPr txBox="1"/>
          <p:nvPr/>
        </p:nvSpPr>
        <p:spPr>
          <a:xfrm>
            <a:off x="566928" y="2944368"/>
            <a:ext cx="11057839" cy="566928"/>
          </a:xfrm>
          <a:prstGeom prst="rect">
            <a:avLst/>
          </a:prstGeom>
          <a:noFill/>
          <a:ln/>
        </p:spPr>
        <p:txBody>
          <a:bodyPr wrap="square" lIns="0" tIns="0" rIns="0" bIns="0" rtlCol="0" anchor="ctr"/>
          <a:lstStyle/>
          <a:p>
            <a:pPr marL="0" indent="0">
              <a:buNone/>
            </a:pPr>
            <a:r>
              <a:rPr lang="en-US" sz="3400" dirty="0">
                <a:solidFill>
                  <a:srgbClr val="3A536B"/>
                </a:solidFill>
                <a:latin typeface="Cambria" pitchFamily="34" charset="0"/>
                <a:ea typeface="Cambria" pitchFamily="34" charset="-122"/>
                <a:cs typeface="Cambria" pitchFamily="34" charset="-120"/>
              </a:rPr>
              <a:t>Basics in Java Programming</a:t>
            </a:r>
            <a:endParaRPr lang="en-US" sz="3400" dirty="0"/>
          </a:p>
        </p:txBody>
      </p:sp>
      <p:sp>
        <p:nvSpPr>
          <p:cNvPr id="7" name="Text 5"/>
          <p:cNvSpPr txBox="1"/>
          <p:nvPr/>
        </p:nvSpPr>
        <p:spPr>
          <a:xfrm>
            <a:off x="566928" y="3703320"/>
            <a:ext cx="11057839" cy="310896"/>
          </a:xfrm>
          <a:prstGeom prst="rect">
            <a:avLst/>
          </a:prstGeom>
          <a:noFill/>
          <a:ln/>
        </p:spPr>
        <p:txBody>
          <a:bodyPr wrap="square" lIns="0" tIns="0" rIns="0" bIns="0" rtlCol="0" anchor="ctr"/>
          <a:lstStyle/>
          <a:p>
            <a:pPr marL="0" indent="0">
              <a:buNone/>
            </a:pPr>
            <a:r>
              <a:rPr lang="en-US" sz="1600" dirty="0">
                <a:solidFill>
                  <a:srgbClr val="9A430A"/>
                </a:solidFill>
                <a:latin typeface="Calibri" pitchFamily="34" charset="0"/>
                <a:ea typeface="Calibri" pitchFamily="34" charset="-122"/>
                <a:cs typeface="Calibri" pitchFamily="34" charset="-120"/>
              </a:rPr>
              <a:t>Lecture 1  ·  Course Orientation and Java Basics</a:t>
            </a:r>
            <a:endParaRPr lang="en-US" sz="1600" dirty="0"/>
          </a:p>
        </p:txBody>
      </p:sp>
      <p:sp>
        <p:nvSpPr>
          <p:cNvPr id="8" name="Text 6"/>
          <p:cNvSpPr txBox="1"/>
          <p:nvPr/>
        </p:nvSpPr>
        <p:spPr>
          <a:xfrm>
            <a:off x="566928" y="5074920"/>
            <a:ext cx="7315200" cy="640080"/>
          </a:xfrm>
          <a:prstGeom prst="rect">
            <a:avLst/>
          </a:prstGeom>
          <a:noFill/>
          <a:ln/>
        </p:spPr>
        <p:txBody>
          <a:bodyPr wrap="square" lIns="0" tIns="0" rIns="0" bIns="0" rtlCol="0" anchor="ctr"/>
          <a:lstStyle/>
          <a:p>
            <a:pPr marL="0" indent="0">
              <a:lnSpc>
                <a:spcPct val="125000"/>
              </a:lnSpc>
              <a:buNone/>
            </a:pPr>
            <a:r>
              <a:rPr lang="en-US" sz="1400" b="1" dirty="0">
                <a:solidFill>
                  <a:srgbClr val="0F2942"/>
                </a:solidFill>
                <a:latin typeface="Calibri" pitchFamily="34" charset="0"/>
                <a:ea typeface="Calibri" pitchFamily="34" charset="-122"/>
                <a:cs typeface="Calibri" pitchFamily="34" charset="-120"/>
              </a:rPr>
              <a:t>Dr. Narasimha Rao Vajjhala</a:t>
            </a:r>
            <a:endParaRPr lang="en-US" sz="1400" dirty="0"/>
          </a:p>
          <a:p>
            <a:pPr marL="0" indent="0">
              <a:lnSpc>
                <a:spcPct val="125000"/>
              </a:lnSpc>
              <a:buNone/>
            </a:pPr>
            <a:r>
              <a:rPr lang="en-US" sz="1400" dirty="0">
                <a:solidFill>
                  <a:srgbClr val="3A536B"/>
                </a:solidFill>
                <a:latin typeface="Calibri" pitchFamily="34" charset="0"/>
                <a:ea typeface="Calibri" pitchFamily="34" charset="-122"/>
                <a:cs typeface="Calibri" pitchFamily="34" charset="-120"/>
              </a:rPr>
              <a:t>Fall 2026  ·  Tuesday &amp; Thursday, 17:45–19:05  ·  Room MB 2</a:t>
            </a:r>
            <a:endParaRPr lang="en-US" sz="1400" dirty="0"/>
          </a:p>
        </p:txBody>
      </p:sp>
      <p:sp>
        <p:nvSpPr>
          <p:cNvPr id="9" name="Text 7"/>
          <p:cNvSpPr txBox="1"/>
          <p:nvPr/>
        </p:nvSpPr>
        <p:spPr>
          <a:xfrm>
            <a:off x="7967167" y="5074920"/>
            <a:ext cx="3657600" cy="310896"/>
          </a:xfrm>
          <a:prstGeom prst="rect">
            <a:avLst/>
          </a:prstGeom>
          <a:noFill/>
          <a:ln/>
        </p:spPr>
        <p:txBody>
          <a:bodyPr wrap="square" lIns="0" tIns="0" rIns="0" bIns="0" rtlCol="0" anchor="ctr"/>
          <a:lstStyle/>
          <a:p>
            <a:pPr marL="0" indent="0" algn="r">
              <a:buNone/>
            </a:pPr>
            <a:r>
              <a:rPr lang="en-US" sz="1300" dirty="0">
                <a:solidFill>
                  <a:srgbClr val="4B6377"/>
                </a:solidFill>
                <a:latin typeface="Calibri" pitchFamily="34" charset="0"/>
                <a:ea typeface="Calibri" pitchFamily="34" charset="-122"/>
                <a:cs typeface="Calibri" pitchFamily="34" charset="-120"/>
              </a:rPr>
              <a:t>Semester begins 08.09.2026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LECTURE 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How We Will Spend the Next 90 Minutes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353312"/>
            <a:ext cx="11057839" cy="713232"/>
          </a:xfrm>
          <a:prstGeom prst="roundRect">
            <a:avLst>
              <a:gd name="adj" fmla="val 11538"/>
            </a:avLst>
          </a:prstGeom>
          <a:solidFill>
            <a:srgbClr val="F1F5F9"/>
          </a:solidFill>
          <a:ln w="12700">
            <a:solidFill>
              <a:srgbClr val="F1F5F9"/>
            </a:solidFill>
            <a:prstDash val="solid"/>
          </a:ln>
        </p:spPr>
        <p:txBody>
          <a:bodyPr/>
          <a:lstStyle/>
          <a:p>
            <a:endParaRPr lang="en-US"/>
          </a:p>
        </p:txBody>
      </p:sp>
      <p:sp>
        <p:nvSpPr>
          <p:cNvPr id="7" name="Text 5"/>
          <p:cNvSpPr txBox="1"/>
          <p:nvPr/>
        </p:nvSpPr>
        <p:spPr>
          <a:xfrm>
            <a:off x="804672" y="1408176"/>
            <a:ext cx="1234440" cy="603504"/>
          </a:xfrm>
          <a:prstGeom prst="rect">
            <a:avLst/>
          </a:prstGeom>
          <a:noFill/>
          <a:ln/>
        </p:spPr>
        <p:txBody>
          <a:bodyPr wrap="square" lIns="0" tIns="0" rIns="0" bIns="0" rtlCol="0" anchor="ctr"/>
          <a:lstStyle/>
          <a:p>
            <a:pPr marL="0" indent="0">
              <a:buNone/>
            </a:pPr>
            <a:r>
              <a:rPr lang="en-US" sz="1300" b="1" dirty="0">
                <a:solidFill>
                  <a:srgbClr val="9A430A"/>
                </a:solidFill>
                <a:latin typeface="Courier New" pitchFamily="34" charset="0"/>
                <a:ea typeface="Courier New" pitchFamily="34" charset="-122"/>
                <a:cs typeface="Courier New" pitchFamily="34" charset="-120"/>
              </a:rPr>
              <a:t>00–20 min</a:t>
            </a:r>
            <a:endParaRPr lang="en-US" sz="1300" dirty="0"/>
          </a:p>
        </p:txBody>
      </p:sp>
      <p:sp>
        <p:nvSpPr>
          <p:cNvPr id="8" name="Text 6"/>
          <p:cNvSpPr txBox="1"/>
          <p:nvPr/>
        </p:nvSpPr>
        <p:spPr>
          <a:xfrm>
            <a:off x="2121408" y="1408176"/>
            <a:ext cx="3931920" cy="603504"/>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Course orientation</a:t>
            </a:r>
            <a:endParaRPr lang="en-US" sz="1450" dirty="0"/>
          </a:p>
        </p:txBody>
      </p:sp>
      <p:sp>
        <p:nvSpPr>
          <p:cNvPr id="9" name="Text 7"/>
          <p:cNvSpPr txBox="1"/>
          <p:nvPr/>
        </p:nvSpPr>
        <p:spPr>
          <a:xfrm>
            <a:off x="6144768" y="1408176"/>
            <a:ext cx="5297119" cy="603504"/>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Syllabus, assessment, deadlines and class policies</a:t>
            </a:r>
            <a:endParaRPr lang="en-US" sz="1250" dirty="0"/>
          </a:p>
        </p:txBody>
      </p:sp>
      <p:sp>
        <p:nvSpPr>
          <p:cNvPr id="10" name="Shape 8"/>
          <p:cNvSpPr/>
          <p:nvPr/>
        </p:nvSpPr>
        <p:spPr>
          <a:xfrm>
            <a:off x="566928" y="2139696"/>
            <a:ext cx="11057839" cy="713232"/>
          </a:xfrm>
          <a:prstGeom prst="roundRect">
            <a:avLst>
              <a:gd name="adj" fmla="val 11538"/>
            </a:avLst>
          </a:prstGeom>
          <a:solidFill>
            <a:srgbClr val="FFFFFF"/>
          </a:solidFill>
          <a:ln w="12700">
            <a:solidFill>
              <a:srgbClr val="D3DEE7"/>
            </a:solidFill>
            <a:prstDash val="solid"/>
          </a:ln>
        </p:spPr>
        <p:txBody>
          <a:bodyPr/>
          <a:lstStyle/>
          <a:p>
            <a:endParaRPr lang="en-US"/>
          </a:p>
        </p:txBody>
      </p:sp>
      <p:sp>
        <p:nvSpPr>
          <p:cNvPr id="11" name="Text 9"/>
          <p:cNvSpPr txBox="1"/>
          <p:nvPr/>
        </p:nvSpPr>
        <p:spPr>
          <a:xfrm>
            <a:off x="804672" y="2194560"/>
            <a:ext cx="1234440" cy="603504"/>
          </a:xfrm>
          <a:prstGeom prst="rect">
            <a:avLst/>
          </a:prstGeom>
          <a:noFill/>
          <a:ln/>
        </p:spPr>
        <p:txBody>
          <a:bodyPr wrap="square" lIns="0" tIns="0" rIns="0" bIns="0" rtlCol="0" anchor="ctr"/>
          <a:lstStyle/>
          <a:p>
            <a:pPr marL="0" indent="0">
              <a:buNone/>
            </a:pPr>
            <a:r>
              <a:rPr lang="en-US" sz="1300" b="1" dirty="0">
                <a:solidFill>
                  <a:srgbClr val="9A430A"/>
                </a:solidFill>
                <a:latin typeface="Courier New" pitchFamily="34" charset="0"/>
                <a:ea typeface="Courier New" pitchFamily="34" charset="-122"/>
                <a:cs typeface="Courier New" pitchFamily="34" charset="-120"/>
              </a:rPr>
              <a:t>20–40 min</a:t>
            </a:r>
            <a:endParaRPr lang="en-US" sz="1300" dirty="0"/>
          </a:p>
        </p:txBody>
      </p:sp>
      <p:sp>
        <p:nvSpPr>
          <p:cNvPr id="12" name="Text 10"/>
          <p:cNvSpPr txBox="1"/>
          <p:nvPr/>
        </p:nvSpPr>
        <p:spPr>
          <a:xfrm>
            <a:off x="2121408" y="2194560"/>
            <a:ext cx="3931920" cy="603504"/>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Why Java, and where it came from</a:t>
            </a:r>
            <a:endParaRPr lang="en-US" sz="1450" dirty="0"/>
          </a:p>
        </p:txBody>
      </p:sp>
      <p:sp>
        <p:nvSpPr>
          <p:cNvPr id="13" name="Text 11"/>
          <p:cNvSpPr txBox="1"/>
          <p:nvPr/>
        </p:nvSpPr>
        <p:spPr>
          <a:xfrm>
            <a:off x="6144768" y="2194560"/>
            <a:ext cx="5297119" cy="603504"/>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History, the release model, and the Java platform</a:t>
            </a:r>
            <a:endParaRPr lang="en-US" sz="1250" dirty="0"/>
          </a:p>
        </p:txBody>
      </p:sp>
      <p:sp>
        <p:nvSpPr>
          <p:cNvPr id="14" name="Shape 12"/>
          <p:cNvSpPr/>
          <p:nvPr/>
        </p:nvSpPr>
        <p:spPr>
          <a:xfrm>
            <a:off x="566928" y="2926080"/>
            <a:ext cx="11057839" cy="713232"/>
          </a:xfrm>
          <a:prstGeom prst="roundRect">
            <a:avLst>
              <a:gd name="adj" fmla="val 11538"/>
            </a:avLst>
          </a:prstGeom>
          <a:solidFill>
            <a:srgbClr val="F1F5F9"/>
          </a:solidFill>
          <a:ln w="12700">
            <a:solidFill>
              <a:srgbClr val="F1F5F9"/>
            </a:solidFill>
            <a:prstDash val="solid"/>
          </a:ln>
        </p:spPr>
        <p:txBody>
          <a:bodyPr/>
          <a:lstStyle/>
          <a:p>
            <a:endParaRPr lang="en-US"/>
          </a:p>
        </p:txBody>
      </p:sp>
      <p:sp>
        <p:nvSpPr>
          <p:cNvPr id="15" name="Text 13"/>
          <p:cNvSpPr txBox="1"/>
          <p:nvPr/>
        </p:nvSpPr>
        <p:spPr>
          <a:xfrm>
            <a:off x="804672" y="2980944"/>
            <a:ext cx="1234440" cy="603504"/>
          </a:xfrm>
          <a:prstGeom prst="rect">
            <a:avLst/>
          </a:prstGeom>
          <a:noFill/>
          <a:ln/>
        </p:spPr>
        <p:txBody>
          <a:bodyPr wrap="square" lIns="0" tIns="0" rIns="0" bIns="0" rtlCol="0" anchor="ctr"/>
          <a:lstStyle/>
          <a:p>
            <a:pPr marL="0" indent="0">
              <a:buNone/>
            </a:pPr>
            <a:r>
              <a:rPr lang="en-US" sz="1300" b="1" dirty="0">
                <a:solidFill>
                  <a:srgbClr val="9A430A"/>
                </a:solidFill>
                <a:latin typeface="Courier New" pitchFamily="34" charset="0"/>
                <a:ea typeface="Courier New" pitchFamily="34" charset="-122"/>
                <a:cs typeface="Courier New" pitchFamily="34" charset="-120"/>
              </a:rPr>
              <a:t>40–55 min</a:t>
            </a:r>
            <a:endParaRPr lang="en-US" sz="1300" dirty="0"/>
          </a:p>
        </p:txBody>
      </p:sp>
      <p:sp>
        <p:nvSpPr>
          <p:cNvPr id="16" name="Text 14"/>
          <p:cNvSpPr txBox="1"/>
          <p:nvPr/>
        </p:nvSpPr>
        <p:spPr>
          <a:xfrm>
            <a:off x="2121408" y="2980944"/>
            <a:ext cx="3931920" cy="603504"/>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How a Java program actually runs</a:t>
            </a:r>
            <a:endParaRPr lang="en-US" sz="1450" dirty="0"/>
          </a:p>
        </p:txBody>
      </p:sp>
      <p:sp>
        <p:nvSpPr>
          <p:cNvPr id="17" name="Text 15"/>
          <p:cNvSpPr txBox="1"/>
          <p:nvPr/>
        </p:nvSpPr>
        <p:spPr>
          <a:xfrm>
            <a:off x="6144768" y="2980944"/>
            <a:ext cx="5297119" cy="603504"/>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Source code → bytecode → JVM; the JDK toolchain</a:t>
            </a:r>
            <a:endParaRPr lang="en-US" sz="1250" dirty="0"/>
          </a:p>
        </p:txBody>
      </p:sp>
      <p:sp>
        <p:nvSpPr>
          <p:cNvPr id="18" name="Shape 16"/>
          <p:cNvSpPr/>
          <p:nvPr/>
        </p:nvSpPr>
        <p:spPr>
          <a:xfrm>
            <a:off x="566928" y="3712464"/>
            <a:ext cx="11057839" cy="713232"/>
          </a:xfrm>
          <a:prstGeom prst="roundRect">
            <a:avLst>
              <a:gd name="adj" fmla="val 11538"/>
            </a:avLst>
          </a:prstGeom>
          <a:solidFill>
            <a:srgbClr val="FFFFFF"/>
          </a:solidFill>
          <a:ln w="12700">
            <a:solidFill>
              <a:srgbClr val="D3DEE7"/>
            </a:solidFill>
            <a:prstDash val="solid"/>
          </a:ln>
        </p:spPr>
        <p:txBody>
          <a:bodyPr/>
          <a:lstStyle/>
          <a:p>
            <a:endParaRPr lang="en-US"/>
          </a:p>
        </p:txBody>
      </p:sp>
      <p:sp>
        <p:nvSpPr>
          <p:cNvPr id="19" name="Text 17"/>
          <p:cNvSpPr txBox="1"/>
          <p:nvPr/>
        </p:nvSpPr>
        <p:spPr>
          <a:xfrm>
            <a:off x="804672" y="3767328"/>
            <a:ext cx="1234440" cy="603504"/>
          </a:xfrm>
          <a:prstGeom prst="rect">
            <a:avLst/>
          </a:prstGeom>
          <a:noFill/>
          <a:ln/>
        </p:spPr>
        <p:txBody>
          <a:bodyPr wrap="square" lIns="0" tIns="0" rIns="0" bIns="0" rtlCol="0" anchor="ctr"/>
          <a:lstStyle/>
          <a:p>
            <a:pPr marL="0" indent="0">
              <a:buNone/>
            </a:pPr>
            <a:r>
              <a:rPr lang="en-US" sz="1300" b="1" dirty="0">
                <a:solidFill>
                  <a:srgbClr val="9A430A"/>
                </a:solidFill>
                <a:latin typeface="Courier New" pitchFamily="34" charset="0"/>
                <a:ea typeface="Courier New" pitchFamily="34" charset="-122"/>
                <a:cs typeface="Courier New" pitchFamily="34" charset="-120"/>
              </a:rPr>
              <a:t>55–80 min</a:t>
            </a:r>
            <a:endParaRPr lang="en-US" sz="1300" dirty="0"/>
          </a:p>
        </p:txBody>
      </p:sp>
      <p:sp>
        <p:nvSpPr>
          <p:cNvPr id="20" name="Text 18"/>
          <p:cNvSpPr txBox="1"/>
          <p:nvPr/>
        </p:nvSpPr>
        <p:spPr>
          <a:xfrm>
            <a:off x="2121408" y="3767328"/>
            <a:ext cx="3931920" cy="603504"/>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Your first Java program</a:t>
            </a:r>
            <a:endParaRPr lang="en-US" sz="1450" dirty="0"/>
          </a:p>
        </p:txBody>
      </p:sp>
      <p:sp>
        <p:nvSpPr>
          <p:cNvPr id="21" name="Text 19"/>
          <p:cNvSpPr txBox="1"/>
          <p:nvPr/>
        </p:nvSpPr>
        <p:spPr>
          <a:xfrm>
            <a:off x="6144768" y="3767328"/>
            <a:ext cx="5297119" cy="603504"/>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Anatomy, style conventions, and the three kinds of error</a:t>
            </a:r>
            <a:endParaRPr lang="en-US" sz="1250" dirty="0"/>
          </a:p>
        </p:txBody>
      </p:sp>
      <p:sp>
        <p:nvSpPr>
          <p:cNvPr id="22" name="Shape 20"/>
          <p:cNvSpPr/>
          <p:nvPr/>
        </p:nvSpPr>
        <p:spPr>
          <a:xfrm>
            <a:off x="566928" y="4498848"/>
            <a:ext cx="11057839" cy="713232"/>
          </a:xfrm>
          <a:prstGeom prst="roundRect">
            <a:avLst>
              <a:gd name="adj" fmla="val 11538"/>
            </a:avLst>
          </a:prstGeom>
          <a:solidFill>
            <a:srgbClr val="F1F5F9"/>
          </a:solidFill>
          <a:ln w="12700">
            <a:solidFill>
              <a:srgbClr val="F1F5F9"/>
            </a:solidFill>
            <a:prstDash val="solid"/>
          </a:ln>
        </p:spPr>
        <p:txBody>
          <a:bodyPr/>
          <a:lstStyle/>
          <a:p>
            <a:endParaRPr lang="en-US"/>
          </a:p>
        </p:txBody>
      </p:sp>
      <p:sp>
        <p:nvSpPr>
          <p:cNvPr id="23" name="Text 21"/>
          <p:cNvSpPr txBox="1"/>
          <p:nvPr/>
        </p:nvSpPr>
        <p:spPr>
          <a:xfrm>
            <a:off x="804672" y="4553712"/>
            <a:ext cx="1234440" cy="603504"/>
          </a:xfrm>
          <a:prstGeom prst="rect">
            <a:avLst/>
          </a:prstGeom>
          <a:noFill/>
          <a:ln/>
        </p:spPr>
        <p:txBody>
          <a:bodyPr wrap="square" lIns="0" tIns="0" rIns="0" bIns="0" rtlCol="0" anchor="ctr"/>
          <a:lstStyle/>
          <a:p>
            <a:pPr marL="0" indent="0">
              <a:buNone/>
            </a:pPr>
            <a:r>
              <a:rPr lang="en-US" sz="1300" b="1" dirty="0">
                <a:solidFill>
                  <a:srgbClr val="9A430A"/>
                </a:solidFill>
                <a:latin typeface="Courier New" pitchFamily="34" charset="0"/>
                <a:ea typeface="Courier New" pitchFamily="34" charset="-122"/>
                <a:cs typeface="Courier New" pitchFamily="34" charset="-120"/>
              </a:rPr>
              <a:t>80–90 min</a:t>
            </a:r>
            <a:endParaRPr lang="en-US" sz="1300" dirty="0"/>
          </a:p>
        </p:txBody>
      </p:sp>
      <p:sp>
        <p:nvSpPr>
          <p:cNvPr id="24" name="Text 22"/>
          <p:cNvSpPr txBox="1"/>
          <p:nvPr/>
        </p:nvSpPr>
        <p:spPr>
          <a:xfrm>
            <a:off x="2121408" y="4553712"/>
            <a:ext cx="3931920" cy="603504"/>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Setup and questions</a:t>
            </a:r>
            <a:endParaRPr lang="en-US" sz="1450" dirty="0"/>
          </a:p>
        </p:txBody>
      </p:sp>
      <p:sp>
        <p:nvSpPr>
          <p:cNvPr id="25" name="Text 23"/>
          <p:cNvSpPr txBox="1"/>
          <p:nvPr/>
        </p:nvSpPr>
        <p:spPr>
          <a:xfrm>
            <a:off x="6144768" y="4553712"/>
            <a:ext cx="5297119" cy="603504"/>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Installing JDK 25 and IntelliJ IDEA; open floor</a:t>
            </a:r>
            <a:endParaRPr lang="en-US" sz="1250" dirty="0"/>
          </a:p>
        </p:txBody>
      </p:sp>
      <p:sp>
        <p:nvSpPr>
          <p:cNvPr id="26" name="Text 24"/>
          <p:cNvSpPr txBox="1"/>
          <p:nvPr/>
        </p:nvSpPr>
        <p:spPr>
          <a:xfrm>
            <a:off x="566928" y="5394960"/>
            <a:ext cx="11057839" cy="274320"/>
          </a:xfrm>
          <a:prstGeom prst="rect">
            <a:avLst/>
          </a:prstGeom>
          <a:noFill/>
          <a:ln/>
        </p:spPr>
        <p:txBody>
          <a:bodyPr wrap="square" lIns="0" tIns="0" rIns="0" bIns="0" rtlCol="0" anchor="ctr"/>
          <a:lstStyle/>
          <a:p>
            <a:pPr marL="0" indent="0">
              <a:buNone/>
            </a:pPr>
            <a:r>
              <a:rPr lang="en-US" sz="1300" i="1" dirty="0">
                <a:solidFill>
                  <a:srgbClr val="9A430A"/>
                </a:solidFill>
                <a:latin typeface="Calibri" pitchFamily="34" charset="0"/>
                <a:ea typeface="Calibri" pitchFamily="34" charset="-122"/>
                <a:cs typeface="Calibri" pitchFamily="34" charset="-120"/>
              </a:rPr>
              <a:t>Five short checkpoints are built into today's slides — I will ask, you answer.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COURSE TEAM</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Your Instructor and How to Reach Me</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66928" y="1307592"/>
            <a:ext cx="5852160" cy="4480560"/>
          </a:xfrm>
          <a:prstGeom prst="roundRect">
            <a:avLst>
              <a:gd name="adj" fmla="val 1837"/>
            </a:avLst>
          </a:prstGeom>
          <a:solidFill>
            <a:srgbClr val="E4ECF4"/>
          </a:solidFill>
          <a:ln w="12700">
            <a:solidFill>
              <a:srgbClr val="E4ECF4"/>
            </a:solidFill>
            <a:prstDash val="solid"/>
          </a:ln>
        </p:spPr>
        <p:txBody>
          <a:bodyPr/>
          <a:lstStyle/>
          <a:p>
            <a:endParaRPr lang="en-US"/>
          </a:p>
        </p:txBody>
      </p:sp>
      <p:sp>
        <p:nvSpPr>
          <p:cNvPr id="7" name="Text 5"/>
          <p:cNvSpPr txBox="1"/>
          <p:nvPr/>
        </p:nvSpPr>
        <p:spPr>
          <a:xfrm>
            <a:off x="932688" y="1655064"/>
            <a:ext cx="5120640" cy="384048"/>
          </a:xfrm>
          <a:prstGeom prst="rect">
            <a:avLst/>
          </a:prstGeom>
          <a:noFill/>
          <a:ln/>
        </p:spPr>
        <p:txBody>
          <a:bodyPr wrap="square" lIns="0" tIns="0" rIns="0" bIns="0" rtlCol="0" anchor="ctr"/>
          <a:lstStyle/>
          <a:p>
            <a:pPr marL="0" indent="0">
              <a:buNone/>
            </a:pPr>
            <a:r>
              <a:rPr lang="en-US" sz="2300" b="1" dirty="0">
                <a:solidFill>
                  <a:srgbClr val="0F2942"/>
                </a:solidFill>
                <a:latin typeface="Cambria" pitchFamily="34" charset="0"/>
                <a:ea typeface="Cambria" pitchFamily="34" charset="-122"/>
                <a:cs typeface="Cambria" pitchFamily="34" charset="-120"/>
              </a:rPr>
              <a:t>Dr. Narasimha Rao Vajjhala</a:t>
            </a:r>
            <a:endParaRPr lang="en-US" sz="2300" dirty="0"/>
          </a:p>
        </p:txBody>
      </p:sp>
      <p:sp>
        <p:nvSpPr>
          <p:cNvPr id="8" name="Text 6"/>
          <p:cNvSpPr txBox="1"/>
          <p:nvPr/>
        </p:nvSpPr>
        <p:spPr>
          <a:xfrm>
            <a:off x="932688" y="2057400"/>
            <a:ext cx="5120640" cy="274320"/>
          </a:xfrm>
          <a:prstGeom prst="rect">
            <a:avLst/>
          </a:prstGeom>
          <a:noFill/>
          <a:ln/>
        </p:spPr>
        <p:txBody>
          <a:bodyPr wrap="square" lIns="0" tIns="0" rIns="0" bIns="0" rtlCol="0" anchor="ctr"/>
          <a:lstStyle/>
          <a:p>
            <a:pPr marL="0" indent="0">
              <a:buNone/>
            </a:pPr>
            <a:r>
              <a:rPr lang="en-US" sz="1300" dirty="0">
                <a:solidFill>
                  <a:srgbClr val="3A536B"/>
                </a:solidFill>
                <a:latin typeface="Calibri" pitchFamily="34" charset="0"/>
                <a:ea typeface="Calibri" pitchFamily="34" charset="-122"/>
                <a:cs typeface="Calibri" pitchFamily="34" charset="-120"/>
              </a:rPr>
              <a:t>Professor and Program Chair, Computer Science</a:t>
            </a:r>
            <a:endParaRPr lang="en-US" sz="1300" dirty="0"/>
          </a:p>
        </p:txBody>
      </p:sp>
      <p:sp>
        <p:nvSpPr>
          <p:cNvPr id="9" name="Text 7"/>
          <p:cNvSpPr txBox="1"/>
          <p:nvPr/>
        </p:nvSpPr>
        <p:spPr>
          <a:xfrm>
            <a:off x="932688" y="2542032"/>
            <a:ext cx="1600200" cy="274320"/>
          </a:xfrm>
          <a:prstGeom prst="rect">
            <a:avLst/>
          </a:prstGeom>
          <a:noFill/>
          <a:ln/>
        </p:spPr>
        <p:txBody>
          <a:bodyPr wrap="square" lIns="0" tIns="0" rIns="0" bIns="0" rtlCol="0" anchor="ctr"/>
          <a:lstStyle/>
          <a:p>
            <a:pPr marL="0" indent="0">
              <a:buNone/>
            </a:pPr>
            <a:r>
              <a:rPr lang="en-US" sz="1100" b="1" kern="0" spc="60" dirty="0">
                <a:solidFill>
                  <a:srgbClr val="9A430A"/>
                </a:solidFill>
                <a:latin typeface="Calibri" pitchFamily="34" charset="0"/>
                <a:ea typeface="Calibri" pitchFamily="34" charset="-122"/>
                <a:cs typeface="Calibri" pitchFamily="34" charset="-120"/>
              </a:rPr>
              <a:t>Email</a:t>
            </a:r>
            <a:endParaRPr lang="en-US" sz="1100" dirty="0"/>
          </a:p>
        </p:txBody>
      </p:sp>
      <p:sp>
        <p:nvSpPr>
          <p:cNvPr id="10" name="Text 8"/>
          <p:cNvSpPr txBox="1"/>
          <p:nvPr/>
        </p:nvSpPr>
        <p:spPr>
          <a:xfrm>
            <a:off x="2532888" y="2542032"/>
            <a:ext cx="3566160" cy="274320"/>
          </a:xfrm>
          <a:prstGeom prst="rect">
            <a:avLst/>
          </a:prstGeom>
          <a:noFill/>
          <a:ln/>
        </p:spPr>
        <p:txBody>
          <a:bodyPr wrap="square" lIns="0" tIns="0" rIns="0" bIns="0" rtlCol="0" anchor="ctr"/>
          <a:lstStyle/>
          <a:p>
            <a:pPr marL="0" indent="0">
              <a:buNone/>
            </a:pPr>
            <a:r>
              <a:rPr lang="en-US" sz="1300" dirty="0">
                <a:solidFill>
                  <a:srgbClr val="0F2942"/>
                </a:solidFill>
                <a:latin typeface="Calibri" pitchFamily="34" charset="0"/>
                <a:ea typeface="Calibri" pitchFamily="34" charset="-122"/>
                <a:cs typeface="Calibri" pitchFamily="34" charset="-120"/>
              </a:rPr>
              <a:t>nrao@aubg.edu</a:t>
            </a:r>
            <a:endParaRPr lang="en-US" sz="1300" dirty="0"/>
          </a:p>
        </p:txBody>
      </p:sp>
      <p:sp>
        <p:nvSpPr>
          <p:cNvPr id="11" name="Text 9"/>
          <p:cNvSpPr txBox="1"/>
          <p:nvPr/>
        </p:nvSpPr>
        <p:spPr>
          <a:xfrm>
            <a:off x="932688" y="2999232"/>
            <a:ext cx="1600200" cy="274320"/>
          </a:xfrm>
          <a:prstGeom prst="rect">
            <a:avLst/>
          </a:prstGeom>
          <a:noFill/>
          <a:ln/>
        </p:spPr>
        <p:txBody>
          <a:bodyPr wrap="square" lIns="0" tIns="0" rIns="0" bIns="0" rtlCol="0" anchor="ctr"/>
          <a:lstStyle/>
          <a:p>
            <a:pPr marL="0" indent="0">
              <a:buNone/>
            </a:pPr>
            <a:r>
              <a:rPr lang="en-US" sz="1100" b="1" kern="0" spc="60" dirty="0">
                <a:solidFill>
                  <a:srgbClr val="9A430A"/>
                </a:solidFill>
                <a:latin typeface="Calibri" pitchFamily="34" charset="0"/>
                <a:ea typeface="Calibri" pitchFamily="34" charset="-122"/>
                <a:cs typeface="Calibri" pitchFamily="34" charset="-120"/>
              </a:rPr>
              <a:t>Office</a:t>
            </a:r>
            <a:endParaRPr lang="en-US" sz="1100" dirty="0"/>
          </a:p>
        </p:txBody>
      </p:sp>
      <p:sp>
        <p:nvSpPr>
          <p:cNvPr id="12" name="Text 10"/>
          <p:cNvSpPr txBox="1"/>
          <p:nvPr/>
        </p:nvSpPr>
        <p:spPr>
          <a:xfrm>
            <a:off x="2532888" y="2999232"/>
            <a:ext cx="3566160" cy="274320"/>
          </a:xfrm>
          <a:prstGeom prst="rect">
            <a:avLst/>
          </a:prstGeom>
          <a:noFill/>
          <a:ln/>
        </p:spPr>
        <p:txBody>
          <a:bodyPr wrap="square" lIns="0" tIns="0" rIns="0" bIns="0" rtlCol="0" anchor="ctr"/>
          <a:lstStyle/>
          <a:p>
            <a:pPr marL="0" indent="0">
              <a:buNone/>
            </a:pPr>
            <a:r>
              <a:rPr lang="en-US" sz="1300" dirty="0">
                <a:solidFill>
                  <a:srgbClr val="0F2942"/>
                </a:solidFill>
                <a:latin typeface="Calibri" pitchFamily="34" charset="0"/>
                <a:ea typeface="Calibri" pitchFamily="34" charset="-122"/>
                <a:cs typeface="Calibri" pitchFamily="34" charset="-120"/>
              </a:rPr>
              <a:t>MB 253</a:t>
            </a:r>
            <a:endParaRPr lang="en-US" sz="1300" dirty="0"/>
          </a:p>
        </p:txBody>
      </p:sp>
      <p:sp>
        <p:nvSpPr>
          <p:cNvPr id="13" name="Text 11"/>
          <p:cNvSpPr txBox="1"/>
          <p:nvPr/>
        </p:nvSpPr>
        <p:spPr>
          <a:xfrm>
            <a:off x="932688" y="3456432"/>
            <a:ext cx="1600200" cy="274320"/>
          </a:xfrm>
          <a:prstGeom prst="rect">
            <a:avLst/>
          </a:prstGeom>
          <a:noFill/>
          <a:ln/>
        </p:spPr>
        <p:txBody>
          <a:bodyPr wrap="square" lIns="0" tIns="0" rIns="0" bIns="0" rtlCol="0" anchor="ctr"/>
          <a:lstStyle/>
          <a:p>
            <a:pPr marL="0" indent="0">
              <a:buNone/>
            </a:pPr>
            <a:r>
              <a:rPr lang="en-US" sz="1100" b="1" kern="0" spc="60" dirty="0">
                <a:solidFill>
                  <a:srgbClr val="9A430A"/>
                </a:solidFill>
                <a:latin typeface="Calibri" pitchFamily="34" charset="0"/>
                <a:ea typeface="Calibri" pitchFamily="34" charset="-122"/>
                <a:cs typeface="Calibri" pitchFamily="34" charset="-120"/>
              </a:rPr>
              <a:t>Office hours</a:t>
            </a:r>
            <a:endParaRPr lang="en-US" sz="1100" dirty="0"/>
          </a:p>
        </p:txBody>
      </p:sp>
      <p:sp>
        <p:nvSpPr>
          <p:cNvPr id="14" name="Text 12"/>
          <p:cNvSpPr txBox="1"/>
          <p:nvPr/>
        </p:nvSpPr>
        <p:spPr>
          <a:xfrm>
            <a:off x="2532888" y="3456432"/>
            <a:ext cx="3566160" cy="274320"/>
          </a:xfrm>
          <a:prstGeom prst="rect">
            <a:avLst/>
          </a:prstGeom>
          <a:noFill/>
          <a:ln/>
        </p:spPr>
        <p:txBody>
          <a:bodyPr wrap="square" lIns="0" tIns="0" rIns="0" bIns="0" rtlCol="0" anchor="ctr"/>
          <a:lstStyle/>
          <a:p>
            <a:pPr marL="0" indent="0">
              <a:buNone/>
            </a:pPr>
            <a:r>
              <a:rPr lang="en-US" sz="1300" dirty="0">
                <a:solidFill>
                  <a:srgbClr val="0F2942"/>
                </a:solidFill>
                <a:latin typeface="Calibri" pitchFamily="34" charset="0"/>
                <a:ea typeface="Calibri" pitchFamily="34" charset="-122"/>
                <a:cs typeface="Calibri" pitchFamily="34" charset="-120"/>
              </a:rPr>
              <a:t>Tuesday &amp; Thursday, 15:00–17:30</a:t>
            </a:r>
            <a:endParaRPr lang="en-US" sz="1300" dirty="0"/>
          </a:p>
        </p:txBody>
      </p:sp>
      <p:sp>
        <p:nvSpPr>
          <p:cNvPr id="15" name="Text 13"/>
          <p:cNvSpPr txBox="1"/>
          <p:nvPr/>
        </p:nvSpPr>
        <p:spPr>
          <a:xfrm>
            <a:off x="932688" y="3913632"/>
            <a:ext cx="1600200" cy="274320"/>
          </a:xfrm>
          <a:prstGeom prst="rect">
            <a:avLst/>
          </a:prstGeom>
          <a:noFill/>
          <a:ln/>
        </p:spPr>
        <p:txBody>
          <a:bodyPr wrap="square" lIns="0" tIns="0" rIns="0" bIns="0" rtlCol="0" anchor="ctr"/>
          <a:lstStyle/>
          <a:p>
            <a:pPr marL="0" indent="0">
              <a:buNone/>
            </a:pPr>
            <a:r>
              <a:rPr lang="en-US" sz="1100" b="1" kern="0" spc="60" dirty="0">
                <a:solidFill>
                  <a:srgbClr val="9A430A"/>
                </a:solidFill>
                <a:latin typeface="Calibri" pitchFamily="34" charset="0"/>
                <a:ea typeface="Calibri" pitchFamily="34" charset="-122"/>
                <a:cs typeface="Calibri" pitchFamily="34" charset="-120"/>
              </a:rPr>
              <a:t>Class meets</a:t>
            </a:r>
            <a:endParaRPr lang="en-US" sz="1100" dirty="0"/>
          </a:p>
        </p:txBody>
      </p:sp>
      <p:sp>
        <p:nvSpPr>
          <p:cNvPr id="16" name="Text 14"/>
          <p:cNvSpPr txBox="1"/>
          <p:nvPr/>
        </p:nvSpPr>
        <p:spPr>
          <a:xfrm>
            <a:off x="2532888" y="3913632"/>
            <a:ext cx="3566160" cy="274320"/>
          </a:xfrm>
          <a:prstGeom prst="rect">
            <a:avLst/>
          </a:prstGeom>
          <a:noFill/>
          <a:ln/>
        </p:spPr>
        <p:txBody>
          <a:bodyPr wrap="square" lIns="0" tIns="0" rIns="0" bIns="0" rtlCol="0" anchor="ctr"/>
          <a:lstStyle/>
          <a:p>
            <a:pPr marL="0" indent="0">
              <a:buNone/>
            </a:pPr>
            <a:r>
              <a:rPr lang="en-US" sz="1300" dirty="0">
                <a:solidFill>
                  <a:srgbClr val="0F2942"/>
                </a:solidFill>
                <a:latin typeface="Calibri" pitchFamily="34" charset="0"/>
                <a:ea typeface="Calibri" pitchFamily="34" charset="-122"/>
                <a:cs typeface="Calibri" pitchFamily="34" charset="-120"/>
              </a:rPr>
              <a:t>Tuesday &amp; Thursday, 17:45–19:05, MB 2</a:t>
            </a:r>
            <a:endParaRPr lang="en-US" sz="1300" dirty="0"/>
          </a:p>
        </p:txBody>
      </p:sp>
      <p:sp>
        <p:nvSpPr>
          <p:cNvPr id="17" name="Text 15"/>
          <p:cNvSpPr txBox="1"/>
          <p:nvPr/>
        </p:nvSpPr>
        <p:spPr>
          <a:xfrm>
            <a:off x="932688" y="4370832"/>
            <a:ext cx="1600200" cy="274320"/>
          </a:xfrm>
          <a:prstGeom prst="rect">
            <a:avLst/>
          </a:prstGeom>
          <a:noFill/>
          <a:ln/>
        </p:spPr>
        <p:txBody>
          <a:bodyPr wrap="square" lIns="0" tIns="0" rIns="0" bIns="0" rtlCol="0" anchor="ctr"/>
          <a:lstStyle/>
          <a:p>
            <a:pPr marL="0" indent="0">
              <a:buNone/>
            </a:pPr>
            <a:r>
              <a:rPr lang="en-US" sz="1100" b="1" kern="0" spc="60" dirty="0">
                <a:solidFill>
                  <a:srgbClr val="9A430A"/>
                </a:solidFill>
                <a:latin typeface="Calibri" pitchFamily="34" charset="0"/>
                <a:ea typeface="Calibri" pitchFamily="34" charset="-122"/>
                <a:cs typeface="Calibri" pitchFamily="34" charset="-120"/>
              </a:rPr>
              <a:t>Course site</a:t>
            </a:r>
            <a:endParaRPr lang="en-US" sz="1100" dirty="0"/>
          </a:p>
        </p:txBody>
      </p:sp>
      <p:sp>
        <p:nvSpPr>
          <p:cNvPr id="18" name="Text 16"/>
          <p:cNvSpPr txBox="1"/>
          <p:nvPr/>
        </p:nvSpPr>
        <p:spPr>
          <a:xfrm>
            <a:off x="2532888" y="4370832"/>
            <a:ext cx="3566160" cy="274320"/>
          </a:xfrm>
          <a:prstGeom prst="rect">
            <a:avLst/>
          </a:prstGeom>
          <a:noFill/>
          <a:ln/>
        </p:spPr>
        <p:txBody>
          <a:bodyPr wrap="square" lIns="0" tIns="0" rIns="0" bIns="0" rtlCol="0" anchor="ctr"/>
          <a:lstStyle/>
          <a:p>
            <a:pPr marL="0" indent="0">
              <a:buNone/>
            </a:pPr>
            <a:r>
              <a:rPr lang="en-US" sz="1300" dirty="0">
                <a:solidFill>
                  <a:srgbClr val="0F2942"/>
                </a:solidFill>
                <a:latin typeface="Calibri" pitchFamily="34" charset="0"/>
                <a:ea typeface="Calibri" pitchFamily="34" charset="-122"/>
                <a:cs typeface="Calibri" pitchFamily="34" charset="-120"/>
              </a:rPr>
              <a:t>Canvas — aubg.instructure.com</a:t>
            </a:r>
            <a:endParaRPr lang="en-US" sz="1300" dirty="0"/>
          </a:p>
        </p:txBody>
      </p:sp>
      <p:sp>
        <p:nvSpPr>
          <p:cNvPr id="19" name="Shape 17"/>
          <p:cNvSpPr/>
          <p:nvPr/>
        </p:nvSpPr>
        <p:spPr>
          <a:xfrm>
            <a:off x="6739128" y="1307592"/>
            <a:ext cx="4885639" cy="1417320"/>
          </a:xfrm>
          <a:prstGeom prst="roundRect">
            <a:avLst>
              <a:gd name="adj" fmla="val 5806"/>
            </a:avLst>
          </a:prstGeom>
          <a:solidFill>
            <a:srgbClr val="F1F5F9"/>
          </a:solidFill>
          <a:ln w="12700">
            <a:solidFill>
              <a:srgbClr val="F1F5F9"/>
            </a:solidFill>
            <a:prstDash val="solid"/>
          </a:ln>
        </p:spPr>
        <p:txBody>
          <a:bodyPr/>
          <a:lstStyle/>
          <a:p>
            <a:endParaRPr lang="en-US"/>
          </a:p>
        </p:txBody>
      </p:sp>
      <p:sp>
        <p:nvSpPr>
          <p:cNvPr id="20" name="Shape 18"/>
          <p:cNvSpPr/>
          <p:nvPr/>
        </p:nvSpPr>
        <p:spPr>
          <a:xfrm>
            <a:off x="6940296" y="1499616"/>
            <a:ext cx="329184" cy="329184"/>
          </a:xfrm>
          <a:prstGeom prst="ellipse">
            <a:avLst/>
          </a:prstGeom>
          <a:solidFill>
            <a:srgbClr val="C4560C"/>
          </a:solidFill>
          <a:ln w="12700">
            <a:solidFill>
              <a:srgbClr val="C4560C"/>
            </a:solidFill>
            <a:prstDash val="solid"/>
          </a:ln>
        </p:spPr>
        <p:txBody>
          <a:bodyPr/>
          <a:lstStyle/>
          <a:p>
            <a:endParaRPr lang="en-US"/>
          </a:p>
        </p:txBody>
      </p:sp>
      <p:sp>
        <p:nvSpPr>
          <p:cNvPr id="21" name="Text 19"/>
          <p:cNvSpPr txBox="1"/>
          <p:nvPr/>
        </p:nvSpPr>
        <p:spPr>
          <a:xfrm>
            <a:off x="6940296" y="14996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txBox="1"/>
          <p:nvPr/>
        </p:nvSpPr>
        <p:spPr>
          <a:xfrm>
            <a:off x="7379208" y="1481328"/>
            <a:ext cx="4044391" cy="365760"/>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Ask in class first</a:t>
            </a:r>
            <a:endParaRPr lang="en-US" sz="1450" dirty="0"/>
          </a:p>
        </p:txBody>
      </p:sp>
      <p:sp>
        <p:nvSpPr>
          <p:cNvPr id="23" name="Text 21"/>
          <p:cNvSpPr txBox="1"/>
          <p:nvPr/>
        </p:nvSpPr>
        <p:spPr>
          <a:xfrm>
            <a:off x="6958584" y="1929384"/>
            <a:ext cx="4446727" cy="667512"/>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If something is unclear during a lecture, stop me. Chances are half the room has the same question.</a:t>
            </a:r>
            <a:endParaRPr lang="en-US" sz="1250" dirty="0"/>
          </a:p>
        </p:txBody>
      </p:sp>
      <p:sp>
        <p:nvSpPr>
          <p:cNvPr id="24" name="Shape 22"/>
          <p:cNvSpPr/>
          <p:nvPr/>
        </p:nvSpPr>
        <p:spPr>
          <a:xfrm>
            <a:off x="6739128" y="2862072"/>
            <a:ext cx="4885639" cy="1600200"/>
          </a:xfrm>
          <a:prstGeom prst="roundRect">
            <a:avLst>
              <a:gd name="adj" fmla="val 5143"/>
            </a:avLst>
          </a:prstGeom>
          <a:solidFill>
            <a:srgbClr val="F1F5F9"/>
          </a:solidFill>
          <a:ln w="12700">
            <a:solidFill>
              <a:srgbClr val="F1F5F9"/>
            </a:solidFill>
            <a:prstDash val="solid"/>
          </a:ln>
        </p:spPr>
        <p:txBody>
          <a:bodyPr/>
          <a:lstStyle/>
          <a:p>
            <a:endParaRPr lang="en-US"/>
          </a:p>
        </p:txBody>
      </p:sp>
      <p:sp>
        <p:nvSpPr>
          <p:cNvPr id="25" name="Shape 23"/>
          <p:cNvSpPr/>
          <p:nvPr/>
        </p:nvSpPr>
        <p:spPr>
          <a:xfrm>
            <a:off x="6940296" y="3054096"/>
            <a:ext cx="329184" cy="329184"/>
          </a:xfrm>
          <a:prstGeom prst="ellipse">
            <a:avLst/>
          </a:prstGeom>
          <a:solidFill>
            <a:srgbClr val="C4560C"/>
          </a:solidFill>
          <a:ln w="12700">
            <a:solidFill>
              <a:srgbClr val="C4560C"/>
            </a:solidFill>
            <a:prstDash val="solid"/>
          </a:ln>
        </p:spPr>
        <p:txBody>
          <a:bodyPr/>
          <a:lstStyle/>
          <a:p>
            <a:endParaRPr lang="en-US"/>
          </a:p>
        </p:txBody>
      </p:sp>
      <p:sp>
        <p:nvSpPr>
          <p:cNvPr id="26" name="Text 24"/>
          <p:cNvSpPr txBox="1"/>
          <p:nvPr/>
        </p:nvSpPr>
        <p:spPr>
          <a:xfrm>
            <a:off x="6940296" y="30540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Text 25"/>
          <p:cNvSpPr txBox="1"/>
          <p:nvPr/>
        </p:nvSpPr>
        <p:spPr>
          <a:xfrm>
            <a:off x="7379208" y="3035808"/>
            <a:ext cx="4044391" cy="365760"/>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Email that gets a fast reply</a:t>
            </a:r>
            <a:endParaRPr lang="en-US" sz="1450" dirty="0"/>
          </a:p>
        </p:txBody>
      </p:sp>
      <p:sp>
        <p:nvSpPr>
          <p:cNvPr id="28" name="Text 26"/>
          <p:cNvSpPr txBox="1"/>
          <p:nvPr/>
        </p:nvSpPr>
        <p:spPr>
          <a:xfrm>
            <a:off x="6958584" y="3483864"/>
            <a:ext cx="4446727" cy="850392"/>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Start the subject with COS 2030. Include what you tried and the exact error message. Expect a reply within two working days.</a:t>
            </a:r>
            <a:endParaRPr lang="en-US" sz="1250" dirty="0"/>
          </a:p>
        </p:txBody>
      </p:sp>
      <p:sp>
        <p:nvSpPr>
          <p:cNvPr id="29" name="Shape 27"/>
          <p:cNvSpPr/>
          <p:nvPr/>
        </p:nvSpPr>
        <p:spPr>
          <a:xfrm>
            <a:off x="6739128" y="4599432"/>
            <a:ext cx="4885639" cy="1188720"/>
          </a:xfrm>
          <a:prstGeom prst="roundRect">
            <a:avLst>
              <a:gd name="adj" fmla="val 6923"/>
            </a:avLst>
          </a:prstGeom>
          <a:solidFill>
            <a:srgbClr val="FBEEE0"/>
          </a:solidFill>
          <a:ln w="12700">
            <a:solidFill>
              <a:srgbClr val="FBEEE0"/>
            </a:solidFill>
            <a:prstDash val="solid"/>
          </a:ln>
        </p:spPr>
        <p:txBody>
          <a:bodyPr/>
          <a:lstStyle/>
          <a:p>
            <a:endParaRPr lang="en-US"/>
          </a:p>
        </p:txBody>
      </p:sp>
      <p:sp>
        <p:nvSpPr>
          <p:cNvPr id="30" name="Shape 28"/>
          <p:cNvSpPr/>
          <p:nvPr/>
        </p:nvSpPr>
        <p:spPr>
          <a:xfrm>
            <a:off x="6940296" y="4791456"/>
            <a:ext cx="329184" cy="329184"/>
          </a:xfrm>
          <a:prstGeom prst="ellipse">
            <a:avLst/>
          </a:prstGeom>
          <a:solidFill>
            <a:srgbClr val="9A430A"/>
          </a:solidFill>
          <a:ln w="12700">
            <a:solidFill>
              <a:srgbClr val="9A430A"/>
            </a:solidFill>
            <a:prstDash val="solid"/>
          </a:ln>
        </p:spPr>
        <p:txBody>
          <a:bodyPr/>
          <a:lstStyle/>
          <a:p>
            <a:endParaRPr lang="en-US"/>
          </a:p>
        </p:txBody>
      </p:sp>
      <p:sp>
        <p:nvSpPr>
          <p:cNvPr id="31" name="Text 29"/>
          <p:cNvSpPr txBox="1"/>
          <p:nvPr/>
        </p:nvSpPr>
        <p:spPr>
          <a:xfrm>
            <a:off x="6940296" y="47914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txBox="1"/>
          <p:nvPr/>
        </p:nvSpPr>
        <p:spPr>
          <a:xfrm>
            <a:off x="7379208" y="4773168"/>
            <a:ext cx="4044391" cy="365760"/>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Everything lives on Canvas</a:t>
            </a:r>
            <a:endParaRPr lang="en-US" sz="1450" dirty="0"/>
          </a:p>
        </p:txBody>
      </p:sp>
      <p:sp>
        <p:nvSpPr>
          <p:cNvPr id="33" name="Text 31"/>
          <p:cNvSpPr txBox="1"/>
          <p:nvPr/>
        </p:nvSpPr>
        <p:spPr>
          <a:xfrm>
            <a:off x="6958584" y="5221224"/>
            <a:ext cx="4446727" cy="438912"/>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Slides, recordings, quizzes and every submission. Check it before you email.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THE COURSE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What COS 2030 Is About</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66928" y="1261872"/>
            <a:ext cx="11057839" cy="1371600"/>
          </a:xfrm>
          <a:prstGeom prst="roundRect">
            <a:avLst>
              <a:gd name="adj" fmla="val 6000"/>
            </a:avLst>
          </a:prstGeom>
          <a:solidFill>
            <a:srgbClr val="F1F5F9"/>
          </a:solidFill>
          <a:ln w="12700">
            <a:solidFill>
              <a:srgbClr val="F1F5F9"/>
            </a:solidFill>
            <a:prstDash val="solid"/>
          </a:ln>
        </p:spPr>
        <p:txBody>
          <a:bodyPr/>
          <a:lstStyle/>
          <a:p>
            <a:endParaRPr lang="en-US"/>
          </a:p>
        </p:txBody>
      </p:sp>
      <p:sp>
        <p:nvSpPr>
          <p:cNvPr id="7" name="Text 5"/>
          <p:cNvSpPr txBox="1"/>
          <p:nvPr/>
        </p:nvSpPr>
        <p:spPr>
          <a:xfrm>
            <a:off x="859536" y="1481328"/>
            <a:ext cx="10472623" cy="1005840"/>
          </a:xfrm>
          <a:prstGeom prst="rect">
            <a:avLst/>
          </a:prstGeom>
          <a:noFill/>
          <a:ln/>
        </p:spPr>
        <p:txBody>
          <a:bodyPr wrap="square" lIns="0" tIns="0" rIns="0" bIns="0" rtlCol="0" anchor="t"/>
          <a:lstStyle/>
          <a:p>
            <a:pPr marL="0" indent="0">
              <a:lnSpc>
                <a:spcPct val="112000"/>
              </a:lnSpc>
              <a:buNone/>
            </a:pPr>
            <a:r>
              <a:rPr lang="en-US" sz="1400" dirty="0">
                <a:solidFill>
                  <a:srgbClr val="3A536B"/>
                </a:solidFill>
                <a:latin typeface="Calibri" pitchFamily="34" charset="0"/>
                <a:ea typeface="Calibri" pitchFamily="34" charset="-122"/>
                <a:cs typeface="Calibri" pitchFamily="34" charset="-120"/>
              </a:rPr>
              <a:t>This course introduces efficient problem solving in Java. It covers the fundamentals of procedural and object-oriented programming, using the Input–Process–Output model and the software development life cycle as a frame. Major topics: algorithms, the Java toolchain, problem solving, object-oriented programming, and GUI programming.</a:t>
            </a:r>
            <a:endParaRPr lang="en-US" sz="1400" dirty="0"/>
          </a:p>
        </p:txBody>
      </p:sp>
      <p:sp>
        <p:nvSpPr>
          <p:cNvPr id="8" name="Shape 6"/>
          <p:cNvSpPr/>
          <p:nvPr/>
        </p:nvSpPr>
        <p:spPr>
          <a:xfrm>
            <a:off x="566928" y="2926080"/>
            <a:ext cx="3503066" cy="1371600"/>
          </a:xfrm>
          <a:prstGeom prst="roundRect">
            <a:avLst>
              <a:gd name="adj" fmla="val 6000"/>
            </a:avLst>
          </a:prstGeom>
          <a:solidFill>
            <a:srgbClr val="FFFFFF"/>
          </a:solidFill>
          <a:ln w="12700">
            <a:solidFill>
              <a:srgbClr val="D3DEE7"/>
            </a:solidFill>
            <a:prstDash val="solid"/>
          </a:ln>
        </p:spPr>
        <p:txBody>
          <a:bodyPr/>
          <a:lstStyle/>
          <a:p>
            <a:endParaRPr lang="en-US"/>
          </a:p>
        </p:txBody>
      </p:sp>
      <p:sp>
        <p:nvSpPr>
          <p:cNvPr id="9" name="Text 7"/>
          <p:cNvSpPr txBox="1"/>
          <p:nvPr/>
        </p:nvSpPr>
        <p:spPr>
          <a:xfrm>
            <a:off x="804672" y="3108960"/>
            <a:ext cx="3045866" cy="566928"/>
          </a:xfrm>
          <a:prstGeom prst="rect">
            <a:avLst/>
          </a:prstGeom>
          <a:noFill/>
          <a:ln/>
        </p:spPr>
        <p:txBody>
          <a:bodyPr wrap="square" lIns="0" tIns="0" rIns="0" bIns="0" rtlCol="0" anchor="ctr"/>
          <a:lstStyle/>
          <a:p>
            <a:pPr marL="0" indent="0">
              <a:buNone/>
            </a:pPr>
            <a:r>
              <a:rPr lang="en-US" sz="3800" b="1" dirty="0">
                <a:solidFill>
                  <a:srgbClr val="C4560C"/>
                </a:solidFill>
                <a:latin typeface="Cambria" pitchFamily="34" charset="0"/>
                <a:ea typeface="Cambria" pitchFamily="34" charset="-122"/>
                <a:cs typeface="Cambria" pitchFamily="34" charset="-120"/>
              </a:rPr>
              <a:t>3</a:t>
            </a:r>
            <a:r>
              <a:rPr lang="en-US" sz="1500" b="1" dirty="0">
                <a:solidFill>
                  <a:srgbClr val="0F2942"/>
                </a:solidFill>
                <a:latin typeface="Calibri" pitchFamily="34" charset="0"/>
                <a:ea typeface="Calibri" pitchFamily="34" charset="-122"/>
                <a:cs typeface="Calibri" pitchFamily="34" charset="-120"/>
              </a:rPr>
              <a:t>  credits</a:t>
            </a:r>
            <a:endParaRPr lang="en-US" sz="3800" dirty="0"/>
          </a:p>
        </p:txBody>
      </p:sp>
      <p:sp>
        <p:nvSpPr>
          <p:cNvPr id="10" name="Text 8"/>
          <p:cNvSpPr txBox="1"/>
          <p:nvPr/>
        </p:nvSpPr>
        <p:spPr>
          <a:xfrm>
            <a:off x="804672" y="3703320"/>
            <a:ext cx="3045866" cy="274320"/>
          </a:xfrm>
          <a:prstGeom prst="rect">
            <a:avLst/>
          </a:prstGeom>
          <a:noFill/>
          <a:ln/>
        </p:spPr>
        <p:txBody>
          <a:bodyPr wrap="square" lIns="0" tIns="0" rIns="0" bIns="0" rtlCol="0" anchor="ctr"/>
          <a:lstStyle/>
          <a:p>
            <a:pPr marL="0" indent="0">
              <a:buNone/>
            </a:pPr>
            <a:r>
              <a:rPr lang="en-US" sz="1200" dirty="0">
                <a:solidFill>
                  <a:srgbClr val="4B6377"/>
                </a:solidFill>
                <a:latin typeface="Calibri" pitchFamily="34" charset="0"/>
                <a:ea typeface="Calibri" pitchFamily="34" charset="-122"/>
                <a:cs typeface="Calibri" pitchFamily="34" charset="-120"/>
              </a:rPr>
              <a:t>6 ECTS credits</a:t>
            </a:r>
            <a:endParaRPr lang="en-US" sz="1200" dirty="0"/>
          </a:p>
        </p:txBody>
      </p:sp>
      <p:sp>
        <p:nvSpPr>
          <p:cNvPr id="11" name="Shape 9"/>
          <p:cNvSpPr/>
          <p:nvPr/>
        </p:nvSpPr>
        <p:spPr>
          <a:xfrm>
            <a:off x="4344314" y="2926080"/>
            <a:ext cx="3503066" cy="1371600"/>
          </a:xfrm>
          <a:prstGeom prst="roundRect">
            <a:avLst>
              <a:gd name="adj" fmla="val 6000"/>
            </a:avLst>
          </a:prstGeom>
          <a:solidFill>
            <a:srgbClr val="FFFFFF"/>
          </a:solidFill>
          <a:ln w="12700">
            <a:solidFill>
              <a:srgbClr val="D3DEE7"/>
            </a:solidFill>
            <a:prstDash val="solid"/>
          </a:ln>
        </p:spPr>
        <p:txBody>
          <a:bodyPr/>
          <a:lstStyle/>
          <a:p>
            <a:endParaRPr lang="en-US"/>
          </a:p>
        </p:txBody>
      </p:sp>
      <p:sp>
        <p:nvSpPr>
          <p:cNvPr id="12" name="Text 10"/>
          <p:cNvSpPr txBox="1"/>
          <p:nvPr/>
        </p:nvSpPr>
        <p:spPr>
          <a:xfrm>
            <a:off x="4582058" y="3108960"/>
            <a:ext cx="3045866" cy="566928"/>
          </a:xfrm>
          <a:prstGeom prst="rect">
            <a:avLst/>
          </a:prstGeom>
          <a:noFill/>
          <a:ln/>
        </p:spPr>
        <p:txBody>
          <a:bodyPr wrap="square" lIns="0" tIns="0" rIns="0" bIns="0" rtlCol="0" anchor="ctr"/>
          <a:lstStyle/>
          <a:p>
            <a:pPr marL="0" indent="0">
              <a:buNone/>
            </a:pPr>
            <a:r>
              <a:rPr lang="en-US" sz="3800" b="1" dirty="0">
                <a:solidFill>
                  <a:srgbClr val="C4560C"/>
                </a:solidFill>
                <a:latin typeface="Cambria" pitchFamily="34" charset="0"/>
                <a:ea typeface="Cambria" pitchFamily="34" charset="-122"/>
                <a:cs typeface="Cambria" pitchFamily="34" charset="-120"/>
              </a:rPr>
              <a:t>18</a:t>
            </a:r>
            <a:r>
              <a:rPr lang="en-US" sz="1500" b="1" dirty="0">
                <a:solidFill>
                  <a:srgbClr val="0F2942"/>
                </a:solidFill>
                <a:latin typeface="Calibri" pitchFamily="34" charset="0"/>
                <a:ea typeface="Calibri" pitchFamily="34" charset="-122"/>
                <a:cs typeface="Calibri" pitchFamily="34" charset="-120"/>
              </a:rPr>
              <a:t>  topics</a:t>
            </a:r>
            <a:endParaRPr lang="en-US" sz="3800" dirty="0"/>
          </a:p>
        </p:txBody>
      </p:sp>
      <p:sp>
        <p:nvSpPr>
          <p:cNvPr id="13" name="Text 11"/>
          <p:cNvSpPr txBox="1"/>
          <p:nvPr/>
        </p:nvSpPr>
        <p:spPr>
          <a:xfrm>
            <a:off x="4582058" y="3703320"/>
            <a:ext cx="3045866" cy="274320"/>
          </a:xfrm>
          <a:prstGeom prst="rect">
            <a:avLst/>
          </a:prstGeom>
          <a:noFill/>
          <a:ln/>
        </p:spPr>
        <p:txBody>
          <a:bodyPr wrap="square" lIns="0" tIns="0" rIns="0" bIns="0" rtlCol="0" anchor="ctr"/>
          <a:lstStyle/>
          <a:p>
            <a:pPr marL="0" indent="0">
              <a:buNone/>
            </a:pPr>
            <a:r>
              <a:rPr lang="en-US" sz="1200" dirty="0">
                <a:solidFill>
                  <a:srgbClr val="4B6377"/>
                </a:solidFill>
                <a:latin typeface="Calibri" pitchFamily="34" charset="0"/>
                <a:ea typeface="Calibri" pitchFamily="34" charset="-122"/>
                <a:cs typeface="Calibri" pitchFamily="34" charset="-120"/>
              </a:rPr>
              <a:t>across 13 teaching weeks</a:t>
            </a:r>
            <a:endParaRPr lang="en-US" sz="1200" dirty="0"/>
          </a:p>
        </p:txBody>
      </p:sp>
      <p:sp>
        <p:nvSpPr>
          <p:cNvPr id="14" name="Shape 12"/>
          <p:cNvSpPr/>
          <p:nvPr/>
        </p:nvSpPr>
        <p:spPr>
          <a:xfrm>
            <a:off x="8121701" y="2926080"/>
            <a:ext cx="3503066" cy="1371600"/>
          </a:xfrm>
          <a:prstGeom prst="roundRect">
            <a:avLst>
              <a:gd name="adj" fmla="val 6000"/>
            </a:avLst>
          </a:prstGeom>
          <a:solidFill>
            <a:srgbClr val="FFFFFF"/>
          </a:solidFill>
          <a:ln w="12700">
            <a:solidFill>
              <a:srgbClr val="D3DEE7"/>
            </a:solidFill>
            <a:prstDash val="solid"/>
          </a:ln>
        </p:spPr>
        <p:txBody>
          <a:bodyPr/>
          <a:lstStyle/>
          <a:p>
            <a:endParaRPr lang="en-US"/>
          </a:p>
        </p:txBody>
      </p:sp>
      <p:sp>
        <p:nvSpPr>
          <p:cNvPr id="15" name="Text 13"/>
          <p:cNvSpPr txBox="1"/>
          <p:nvPr/>
        </p:nvSpPr>
        <p:spPr>
          <a:xfrm>
            <a:off x="8359445" y="3108960"/>
            <a:ext cx="3045866" cy="566928"/>
          </a:xfrm>
          <a:prstGeom prst="rect">
            <a:avLst/>
          </a:prstGeom>
          <a:noFill/>
          <a:ln/>
        </p:spPr>
        <p:txBody>
          <a:bodyPr wrap="square" lIns="0" tIns="0" rIns="0" bIns="0" rtlCol="0" anchor="ctr"/>
          <a:lstStyle/>
          <a:p>
            <a:pPr marL="0" indent="0">
              <a:buNone/>
            </a:pPr>
            <a:r>
              <a:rPr lang="en-US" sz="3800" b="1" dirty="0">
                <a:solidFill>
                  <a:srgbClr val="C4560C"/>
                </a:solidFill>
                <a:latin typeface="Cambria" pitchFamily="34" charset="0"/>
                <a:ea typeface="Cambria" pitchFamily="34" charset="-122"/>
                <a:cs typeface="Cambria" pitchFamily="34" charset="-120"/>
              </a:rPr>
              <a:t>26</a:t>
            </a:r>
            <a:r>
              <a:rPr lang="en-US" sz="1500" b="1" dirty="0">
                <a:solidFill>
                  <a:srgbClr val="0F2942"/>
                </a:solidFill>
                <a:latin typeface="Calibri" pitchFamily="34" charset="0"/>
                <a:ea typeface="Calibri" pitchFamily="34" charset="-122"/>
                <a:cs typeface="Calibri" pitchFamily="34" charset="-120"/>
              </a:rPr>
              <a:t>  sessions</a:t>
            </a:r>
            <a:endParaRPr lang="en-US" sz="3800" dirty="0"/>
          </a:p>
        </p:txBody>
      </p:sp>
      <p:sp>
        <p:nvSpPr>
          <p:cNvPr id="16" name="Text 14"/>
          <p:cNvSpPr txBox="1"/>
          <p:nvPr/>
        </p:nvSpPr>
        <p:spPr>
          <a:xfrm>
            <a:off x="8359445" y="3703320"/>
            <a:ext cx="3045866" cy="274320"/>
          </a:xfrm>
          <a:prstGeom prst="rect">
            <a:avLst/>
          </a:prstGeom>
          <a:noFill/>
          <a:ln/>
        </p:spPr>
        <p:txBody>
          <a:bodyPr wrap="square" lIns="0" tIns="0" rIns="0" bIns="0" rtlCol="0" anchor="ctr"/>
          <a:lstStyle/>
          <a:p>
            <a:pPr marL="0" indent="0">
              <a:buNone/>
            </a:pPr>
            <a:r>
              <a:rPr lang="en-US" sz="1200" dirty="0">
                <a:solidFill>
                  <a:srgbClr val="4B6377"/>
                </a:solidFill>
                <a:latin typeface="Calibri" pitchFamily="34" charset="0"/>
                <a:ea typeface="Calibri" pitchFamily="34" charset="-122"/>
                <a:cs typeface="Calibri" pitchFamily="34" charset="-120"/>
              </a:rPr>
              <a:t>two 80-minute meetings a week</a:t>
            </a:r>
            <a:endParaRPr lang="en-US" sz="1200" dirty="0"/>
          </a:p>
        </p:txBody>
      </p:sp>
      <p:sp>
        <p:nvSpPr>
          <p:cNvPr id="17" name="Shape 15"/>
          <p:cNvSpPr/>
          <p:nvPr/>
        </p:nvSpPr>
        <p:spPr>
          <a:xfrm>
            <a:off x="566928" y="4553712"/>
            <a:ext cx="11057839" cy="1143000"/>
          </a:xfrm>
          <a:prstGeom prst="roundRect">
            <a:avLst>
              <a:gd name="adj" fmla="val 7200"/>
            </a:avLst>
          </a:prstGeom>
          <a:solidFill>
            <a:srgbClr val="FBEEE0"/>
          </a:solidFill>
          <a:ln w="12700">
            <a:solidFill>
              <a:srgbClr val="FBEEE0"/>
            </a:solidFill>
            <a:prstDash val="solid"/>
          </a:ln>
        </p:spPr>
        <p:txBody>
          <a:bodyPr/>
          <a:lstStyle/>
          <a:p>
            <a:endParaRPr lang="en-US"/>
          </a:p>
        </p:txBody>
      </p:sp>
      <p:sp>
        <p:nvSpPr>
          <p:cNvPr id="18" name="Text 16"/>
          <p:cNvSpPr txBox="1"/>
          <p:nvPr/>
        </p:nvSpPr>
        <p:spPr>
          <a:xfrm>
            <a:off x="859536" y="4553712"/>
            <a:ext cx="10472623" cy="1143000"/>
          </a:xfrm>
          <a:prstGeom prst="rect">
            <a:avLst/>
          </a:prstGeom>
          <a:noFill/>
          <a:ln/>
        </p:spPr>
        <p:txBody>
          <a:bodyPr wrap="square" lIns="0" tIns="0" rIns="0" bIns="0" rtlCol="0" anchor="ctr"/>
          <a:lstStyle/>
          <a:p>
            <a:pPr marL="0" indent="0">
              <a:lnSpc>
                <a:spcPct val="110000"/>
              </a:lnSpc>
              <a:buNone/>
            </a:pPr>
            <a:r>
              <a:rPr lang="en-US" sz="1350" b="1" dirty="0">
                <a:solidFill>
                  <a:srgbClr val="9A430A"/>
                </a:solidFill>
                <a:latin typeface="Calibri" pitchFamily="34" charset="0"/>
                <a:ea typeface="Calibri" pitchFamily="34" charset="-122"/>
                <a:cs typeface="Calibri" pitchFamily="34" charset="-120"/>
              </a:rPr>
              <a:t>Prerequisite:  </a:t>
            </a:r>
            <a:r>
              <a:rPr lang="en-US" sz="1350" b="1" dirty="0">
                <a:solidFill>
                  <a:srgbClr val="0F2942"/>
                </a:solidFill>
                <a:latin typeface="Calibri" pitchFamily="34" charset="0"/>
                <a:ea typeface="Calibri" pitchFamily="34" charset="-122"/>
                <a:cs typeface="Calibri" pitchFamily="34" charset="-120"/>
              </a:rPr>
              <a:t>COS 1020 C++ Programming  or  INF 1030 C# Programming.</a:t>
            </a:r>
            <a:r>
              <a:rPr lang="en-US" sz="1350" dirty="0">
                <a:solidFill>
                  <a:srgbClr val="3A536B"/>
                </a:solidFill>
                <a:latin typeface="Calibri" pitchFamily="34" charset="0"/>
                <a:ea typeface="Calibri" pitchFamily="34" charset="-122"/>
                <a:cs typeface="Calibri" pitchFamily="34" charset="-120"/>
              </a:rPr>
              <a:t>   You already write code in a C-family language — we build on that rather than starting from zero.</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LEARNING OUTCOMES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By the End of the Semester You Will Be Able To</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66928" y="1353312"/>
            <a:ext cx="11057839" cy="841248"/>
          </a:xfrm>
          <a:prstGeom prst="roundRect">
            <a:avLst>
              <a:gd name="adj" fmla="val 9783"/>
            </a:avLst>
          </a:prstGeom>
          <a:solidFill>
            <a:srgbClr val="F1F5F9"/>
          </a:solidFill>
          <a:ln w="12700">
            <a:solidFill>
              <a:srgbClr val="F1F5F9"/>
            </a:solidFill>
            <a:prstDash val="solid"/>
          </a:ln>
        </p:spPr>
        <p:txBody>
          <a:bodyPr/>
          <a:lstStyle/>
          <a:p>
            <a:endParaRPr lang="en-US"/>
          </a:p>
        </p:txBody>
      </p:sp>
      <p:sp>
        <p:nvSpPr>
          <p:cNvPr id="7" name="Shape 5"/>
          <p:cNvSpPr/>
          <p:nvPr/>
        </p:nvSpPr>
        <p:spPr>
          <a:xfrm>
            <a:off x="822960" y="1572768"/>
            <a:ext cx="402336" cy="402336"/>
          </a:xfrm>
          <a:prstGeom prst="ellipse">
            <a:avLst/>
          </a:prstGeom>
          <a:solidFill>
            <a:srgbClr val="0F2942"/>
          </a:solidFill>
          <a:ln w="12700">
            <a:solidFill>
              <a:srgbClr val="0F2942"/>
            </a:solidFill>
            <a:prstDash val="solid"/>
          </a:ln>
        </p:spPr>
        <p:txBody>
          <a:bodyPr/>
          <a:lstStyle/>
          <a:p>
            <a:endParaRPr lang="en-US"/>
          </a:p>
        </p:txBody>
      </p:sp>
      <p:sp>
        <p:nvSpPr>
          <p:cNvPr id="8" name="Text 6"/>
          <p:cNvSpPr txBox="1"/>
          <p:nvPr/>
        </p:nvSpPr>
        <p:spPr>
          <a:xfrm>
            <a:off x="822960" y="15727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08176" y="1481328"/>
            <a:ext cx="9869119" cy="310896"/>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Work the Java software life cycle</a:t>
            </a:r>
            <a:endParaRPr lang="en-US" sz="1500" dirty="0"/>
          </a:p>
        </p:txBody>
      </p:sp>
      <p:sp>
        <p:nvSpPr>
          <p:cNvPr id="10" name="Text 8"/>
          <p:cNvSpPr txBox="1"/>
          <p:nvPr/>
        </p:nvSpPr>
        <p:spPr>
          <a:xfrm>
            <a:off x="1408176" y="1792224"/>
            <a:ext cx="9869119" cy="292608"/>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Understand how a Java project is structured, built, run and maintained.</a:t>
            </a:r>
            <a:endParaRPr lang="en-US" sz="1250" dirty="0"/>
          </a:p>
        </p:txBody>
      </p:sp>
      <p:sp>
        <p:nvSpPr>
          <p:cNvPr id="11" name="Shape 9"/>
          <p:cNvSpPr/>
          <p:nvPr/>
        </p:nvSpPr>
        <p:spPr>
          <a:xfrm>
            <a:off x="566928" y="2267712"/>
            <a:ext cx="11057839" cy="841248"/>
          </a:xfrm>
          <a:prstGeom prst="roundRect">
            <a:avLst>
              <a:gd name="adj" fmla="val 9783"/>
            </a:avLst>
          </a:prstGeom>
          <a:solidFill>
            <a:srgbClr val="FFFFFF"/>
          </a:solidFill>
          <a:ln w="12700">
            <a:solidFill>
              <a:srgbClr val="D3DEE7"/>
            </a:solidFill>
            <a:prstDash val="solid"/>
          </a:ln>
        </p:spPr>
        <p:txBody>
          <a:bodyPr/>
          <a:lstStyle/>
          <a:p>
            <a:endParaRPr lang="en-US"/>
          </a:p>
        </p:txBody>
      </p:sp>
      <p:sp>
        <p:nvSpPr>
          <p:cNvPr id="12" name="Shape 10"/>
          <p:cNvSpPr/>
          <p:nvPr/>
        </p:nvSpPr>
        <p:spPr>
          <a:xfrm>
            <a:off x="822960" y="2487168"/>
            <a:ext cx="402336" cy="402336"/>
          </a:xfrm>
          <a:prstGeom prst="ellipse">
            <a:avLst/>
          </a:prstGeom>
          <a:solidFill>
            <a:srgbClr val="0F2942"/>
          </a:solidFill>
          <a:ln w="12700">
            <a:solidFill>
              <a:srgbClr val="0F2942"/>
            </a:solidFill>
            <a:prstDash val="solid"/>
          </a:ln>
        </p:spPr>
        <p:txBody>
          <a:bodyPr/>
          <a:lstStyle/>
          <a:p>
            <a:endParaRPr lang="en-US"/>
          </a:p>
        </p:txBody>
      </p:sp>
      <p:sp>
        <p:nvSpPr>
          <p:cNvPr id="13" name="Text 11"/>
          <p:cNvSpPr txBox="1"/>
          <p:nvPr/>
        </p:nvSpPr>
        <p:spPr>
          <a:xfrm>
            <a:off x="822960" y="24871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408176" y="2395728"/>
            <a:ext cx="9869119" cy="310896"/>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Use the Java toolchain confidently</a:t>
            </a:r>
            <a:endParaRPr lang="en-US" sz="1500" dirty="0"/>
          </a:p>
        </p:txBody>
      </p:sp>
      <p:sp>
        <p:nvSpPr>
          <p:cNvPr id="15" name="Text 13"/>
          <p:cNvSpPr txBox="1"/>
          <p:nvPr/>
        </p:nvSpPr>
        <p:spPr>
          <a:xfrm>
            <a:off x="1408176" y="2706624"/>
            <a:ext cx="9869119" cy="292608"/>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JDK, compiler, JVM and an IDE — know what each one does and when.</a:t>
            </a:r>
            <a:endParaRPr lang="en-US" sz="1250" dirty="0"/>
          </a:p>
        </p:txBody>
      </p:sp>
      <p:sp>
        <p:nvSpPr>
          <p:cNvPr id="16" name="Shape 14"/>
          <p:cNvSpPr/>
          <p:nvPr/>
        </p:nvSpPr>
        <p:spPr>
          <a:xfrm>
            <a:off x="566928" y="3182112"/>
            <a:ext cx="11057839" cy="841248"/>
          </a:xfrm>
          <a:prstGeom prst="roundRect">
            <a:avLst>
              <a:gd name="adj" fmla="val 9783"/>
            </a:avLst>
          </a:prstGeom>
          <a:solidFill>
            <a:srgbClr val="F1F5F9"/>
          </a:solidFill>
          <a:ln w="12700">
            <a:solidFill>
              <a:srgbClr val="F1F5F9"/>
            </a:solidFill>
            <a:prstDash val="solid"/>
          </a:ln>
        </p:spPr>
        <p:txBody>
          <a:bodyPr/>
          <a:lstStyle/>
          <a:p>
            <a:endParaRPr lang="en-US"/>
          </a:p>
        </p:txBody>
      </p:sp>
      <p:sp>
        <p:nvSpPr>
          <p:cNvPr id="17" name="Shape 15"/>
          <p:cNvSpPr/>
          <p:nvPr/>
        </p:nvSpPr>
        <p:spPr>
          <a:xfrm>
            <a:off x="822960" y="3401568"/>
            <a:ext cx="402336" cy="402336"/>
          </a:xfrm>
          <a:prstGeom prst="ellipse">
            <a:avLst/>
          </a:prstGeom>
          <a:solidFill>
            <a:srgbClr val="0F2942"/>
          </a:solidFill>
          <a:ln w="12700">
            <a:solidFill>
              <a:srgbClr val="0F2942"/>
            </a:solidFill>
            <a:prstDash val="solid"/>
          </a:ln>
        </p:spPr>
        <p:txBody>
          <a:bodyPr/>
          <a:lstStyle/>
          <a:p>
            <a:endParaRPr lang="en-US"/>
          </a:p>
        </p:txBody>
      </p:sp>
      <p:sp>
        <p:nvSpPr>
          <p:cNvPr id="18" name="Text 16"/>
          <p:cNvSpPr txBox="1"/>
          <p:nvPr/>
        </p:nvSpPr>
        <p:spPr>
          <a:xfrm>
            <a:off x="822960" y="34015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408176" y="3310128"/>
            <a:ext cx="9869119" cy="310896"/>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Write classes and methods that solve problems</a:t>
            </a:r>
            <a:endParaRPr lang="en-US" sz="1500" dirty="0"/>
          </a:p>
        </p:txBody>
      </p:sp>
      <p:sp>
        <p:nvSpPr>
          <p:cNvPr id="20" name="Text 18"/>
          <p:cNvSpPr txBox="1"/>
          <p:nvPr/>
        </p:nvSpPr>
        <p:spPr>
          <a:xfrm>
            <a:off x="1408176" y="3621024"/>
            <a:ext cx="9869119" cy="292608"/>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Decisions, repetition, string manipulation and array processing.</a:t>
            </a:r>
            <a:endParaRPr lang="en-US" sz="1250" dirty="0"/>
          </a:p>
        </p:txBody>
      </p:sp>
      <p:sp>
        <p:nvSpPr>
          <p:cNvPr id="21" name="Shape 19"/>
          <p:cNvSpPr/>
          <p:nvPr/>
        </p:nvSpPr>
        <p:spPr>
          <a:xfrm>
            <a:off x="566928" y="4096512"/>
            <a:ext cx="11057839" cy="841248"/>
          </a:xfrm>
          <a:prstGeom prst="roundRect">
            <a:avLst>
              <a:gd name="adj" fmla="val 9783"/>
            </a:avLst>
          </a:prstGeom>
          <a:solidFill>
            <a:srgbClr val="FFFFFF"/>
          </a:solidFill>
          <a:ln w="12700">
            <a:solidFill>
              <a:srgbClr val="D3DEE7"/>
            </a:solidFill>
            <a:prstDash val="solid"/>
          </a:ln>
        </p:spPr>
        <p:txBody>
          <a:bodyPr/>
          <a:lstStyle/>
          <a:p>
            <a:endParaRPr lang="en-US"/>
          </a:p>
        </p:txBody>
      </p:sp>
      <p:sp>
        <p:nvSpPr>
          <p:cNvPr id="22" name="Shape 20"/>
          <p:cNvSpPr/>
          <p:nvPr/>
        </p:nvSpPr>
        <p:spPr>
          <a:xfrm>
            <a:off x="822960" y="4315968"/>
            <a:ext cx="402336" cy="402336"/>
          </a:xfrm>
          <a:prstGeom prst="ellipse">
            <a:avLst/>
          </a:prstGeom>
          <a:solidFill>
            <a:srgbClr val="0F2942"/>
          </a:solidFill>
          <a:ln w="12700">
            <a:solidFill>
              <a:srgbClr val="0F2942"/>
            </a:solidFill>
            <a:prstDash val="solid"/>
          </a:ln>
        </p:spPr>
        <p:txBody>
          <a:bodyPr/>
          <a:lstStyle/>
          <a:p>
            <a:endParaRPr lang="en-US"/>
          </a:p>
        </p:txBody>
      </p:sp>
      <p:sp>
        <p:nvSpPr>
          <p:cNvPr id="23" name="Text 21"/>
          <p:cNvSpPr txBox="1"/>
          <p:nvPr/>
        </p:nvSpPr>
        <p:spPr>
          <a:xfrm>
            <a:off x="822960" y="43159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1408176" y="4224528"/>
            <a:ext cx="9869119" cy="310896"/>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Apply structured and object-oriented design</a:t>
            </a:r>
            <a:endParaRPr lang="en-US" sz="1500" dirty="0"/>
          </a:p>
        </p:txBody>
      </p:sp>
      <p:sp>
        <p:nvSpPr>
          <p:cNvPr id="25" name="Text 23"/>
          <p:cNvSpPr txBox="1"/>
          <p:nvPr/>
        </p:nvSpPr>
        <p:spPr>
          <a:xfrm>
            <a:off x="1408176" y="4535424"/>
            <a:ext cx="9869119" cy="292608"/>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Both methodologies as practical approaches to building software.</a:t>
            </a:r>
            <a:endParaRPr lang="en-US" sz="1250" dirty="0"/>
          </a:p>
        </p:txBody>
      </p:sp>
      <p:sp>
        <p:nvSpPr>
          <p:cNvPr id="26" name="Shape 24"/>
          <p:cNvSpPr/>
          <p:nvPr/>
        </p:nvSpPr>
        <p:spPr>
          <a:xfrm>
            <a:off x="566928" y="5010912"/>
            <a:ext cx="11057839" cy="841248"/>
          </a:xfrm>
          <a:prstGeom prst="roundRect">
            <a:avLst>
              <a:gd name="adj" fmla="val 9783"/>
            </a:avLst>
          </a:prstGeom>
          <a:solidFill>
            <a:srgbClr val="F1F5F9"/>
          </a:solidFill>
          <a:ln w="12700">
            <a:solidFill>
              <a:srgbClr val="F1F5F9"/>
            </a:solidFill>
            <a:prstDash val="solid"/>
          </a:ln>
        </p:spPr>
        <p:txBody>
          <a:bodyPr/>
          <a:lstStyle/>
          <a:p>
            <a:endParaRPr lang="en-US"/>
          </a:p>
        </p:txBody>
      </p:sp>
      <p:sp>
        <p:nvSpPr>
          <p:cNvPr id="27" name="Shape 25"/>
          <p:cNvSpPr/>
          <p:nvPr/>
        </p:nvSpPr>
        <p:spPr>
          <a:xfrm>
            <a:off x="822960" y="5230368"/>
            <a:ext cx="402336" cy="402336"/>
          </a:xfrm>
          <a:prstGeom prst="ellipse">
            <a:avLst/>
          </a:prstGeom>
          <a:solidFill>
            <a:srgbClr val="0F2942"/>
          </a:solidFill>
          <a:ln w="12700">
            <a:solidFill>
              <a:srgbClr val="0F2942"/>
            </a:solidFill>
            <a:prstDash val="solid"/>
          </a:ln>
        </p:spPr>
        <p:txBody>
          <a:bodyPr/>
          <a:lstStyle/>
          <a:p>
            <a:endParaRPr lang="en-US"/>
          </a:p>
        </p:txBody>
      </p:sp>
      <p:sp>
        <p:nvSpPr>
          <p:cNvPr id="28" name="Text 26"/>
          <p:cNvSpPr txBox="1"/>
          <p:nvPr/>
        </p:nvSpPr>
        <p:spPr>
          <a:xfrm>
            <a:off x="822960" y="52303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1408176" y="5138928"/>
            <a:ext cx="9869119" cy="310896"/>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Build a working information system in Java</a:t>
            </a:r>
            <a:endParaRPr lang="en-US" sz="1500" dirty="0"/>
          </a:p>
        </p:txBody>
      </p:sp>
      <p:sp>
        <p:nvSpPr>
          <p:cNvPr id="30" name="Text 28"/>
          <p:cNvSpPr txBox="1"/>
          <p:nvPr/>
        </p:nvSpPr>
        <p:spPr>
          <a:xfrm>
            <a:off x="1408176" y="5449824"/>
            <a:ext cx="9869119" cy="292608"/>
          </a:xfrm>
          <a:prstGeom prst="rect">
            <a:avLst/>
          </a:prstGeom>
          <a:noFill/>
          <a:ln/>
        </p:spPr>
        <p:txBody>
          <a:bodyPr wrap="square" lIns="0" tIns="0" rIns="0" bIns="0" rtlCol="0" anchor="ctr"/>
          <a:lstStyle/>
          <a:p>
            <a:pPr marL="0" indent="0">
              <a:buNone/>
            </a:pPr>
            <a:r>
              <a:rPr lang="en-US" sz="1250" dirty="0">
                <a:solidFill>
                  <a:srgbClr val="3A536B"/>
                </a:solidFill>
                <a:latin typeface="Calibri" pitchFamily="34" charset="0"/>
                <a:ea typeface="Calibri" pitchFamily="34" charset="-122"/>
                <a:cs typeface="Calibri" pitchFamily="34" charset="-120"/>
              </a:rPr>
              <a:t>Delivered as your semester project, with documentation and a demo.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SYLLABUS MAP</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Eighteen Topics, Four Phases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Every topic below is examinable. The quizzes follow these phase boundaries almost exactly.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66928" y="1581912"/>
            <a:ext cx="2599868" cy="3703320"/>
          </a:xfrm>
          <a:prstGeom prst="roundRect">
            <a:avLst>
              <a:gd name="adj" fmla="val 3165"/>
            </a:avLst>
          </a:prstGeom>
          <a:solidFill>
            <a:srgbClr val="E7F0F7"/>
          </a:solidFill>
          <a:ln w="12700">
            <a:solidFill>
              <a:srgbClr val="E7F0F7"/>
            </a:solidFill>
            <a:prstDash val="solid"/>
          </a:ln>
        </p:spPr>
        <p:txBody>
          <a:bodyPr/>
          <a:lstStyle/>
          <a:p>
            <a:endParaRPr lang="en-US"/>
          </a:p>
        </p:txBody>
      </p:sp>
      <p:sp>
        <p:nvSpPr>
          <p:cNvPr id="8" name="Text 6"/>
          <p:cNvSpPr txBox="1"/>
          <p:nvPr/>
        </p:nvSpPr>
        <p:spPr>
          <a:xfrm>
            <a:off x="768096" y="1783080"/>
            <a:ext cx="2197532" cy="219456"/>
          </a:xfrm>
          <a:prstGeom prst="rect">
            <a:avLst/>
          </a:prstGeom>
          <a:noFill/>
          <a:ln/>
        </p:spPr>
        <p:txBody>
          <a:bodyPr wrap="square" lIns="0" tIns="0" rIns="0" bIns="0" rtlCol="0" anchor="ctr"/>
          <a:lstStyle/>
          <a:p>
            <a:pPr marL="0" indent="0">
              <a:buNone/>
            </a:pPr>
            <a:r>
              <a:rPr lang="en-US" sz="950" b="1" kern="0" spc="100" dirty="0">
                <a:solidFill>
                  <a:srgbClr val="175680"/>
                </a:solidFill>
                <a:latin typeface="Calibri" pitchFamily="34" charset="0"/>
                <a:ea typeface="Calibri" pitchFamily="34" charset="-122"/>
                <a:cs typeface="Calibri" pitchFamily="34" charset="-120"/>
              </a:rPr>
              <a:t>PHASE 1  ·  WEEKS 1–4</a:t>
            </a:r>
            <a:endParaRPr lang="en-US" sz="950" dirty="0"/>
          </a:p>
        </p:txBody>
      </p:sp>
      <p:sp>
        <p:nvSpPr>
          <p:cNvPr id="9" name="Text 7"/>
          <p:cNvSpPr txBox="1"/>
          <p:nvPr/>
        </p:nvSpPr>
        <p:spPr>
          <a:xfrm>
            <a:off x="768096" y="2039112"/>
            <a:ext cx="2197532" cy="566928"/>
          </a:xfrm>
          <a:prstGeom prst="rect">
            <a:avLst/>
          </a:prstGeom>
          <a:noFill/>
          <a:ln/>
        </p:spPr>
        <p:txBody>
          <a:bodyPr wrap="square" lIns="0" tIns="0" rIns="0" bIns="0" rtlCol="0" anchor="t"/>
          <a:lstStyle/>
          <a:p>
            <a:pPr marL="0" indent="0">
              <a:buNone/>
            </a:pPr>
            <a:r>
              <a:rPr lang="en-US" sz="1500" b="1" dirty="0">
                <a:solidFill>
                  <a:srgbClr val="0F2942"/>
                </a:solidFill>
                <a:latin typeface="Calibri" pitchFamily="34" charset="0"/>
                <a:ea typeface="Calibri" pitchFamily="34" charset="-122"/>
                <a:cs typeface="Calibri" pitchFamily="34" charset="-120"/>
              </a:rPr>
              <a:t>Language foundations</a:t>
            </a:r>
            <a:endParaRPr lang="en-US" sz="1500" dirty="0"/>
          </a:p>
        </p:txBody>
      </p:sp>
      <p:sp>
        <p:nvSpPr>
          <p:cNvPr id="10" name="Text 8"/>
          <p:cNvSpPr txBox="1"/>
          <p:nvPr/>
        </p:nvSpPr>
        <p:spPr>
          <a:xfrm>
            <a:off x="804672" y="2679192"/>
            <a:ext cx="2142668" cy="24231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Java basics &amp; environment setup</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Data types and expressions</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Control flow</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Methods</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Arrays</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Strings</a:t>
            </a:r>
            <a:endParaRPr lang="en-US" sz="1200" dirty="0"/>
          </a:p>
        </p:txBody>
      </p:sp>
      <p:sp>
        <p:nvSpPr>
          <p:cNvPr id="11" name="Shape 9"/>
          <p:cNvSpPr/>
          <p:nvPr/>
        </p:nvSpPr>
        <p:spPr>
          <a:xfrm>
            <a:off x="3386252" y="1581912"/>
            <a:ext cx="2599868" cy="3703320"/>
          </a:xfrm>
          <a:prstGeom prst="roundRect">
            <a:avLst>
              <a:gd name="adj" fmla="val 3165"/>
            </a:avLst>
          </a:prstGeom>
          <a:solidFill>
            <a:srgbClr val="FBEEE0"/>
          </a:solidFill>
          <a:ln w="12700">
            <a:solidFill>
              <a:srgbClr val="FBEEE0"/>
            </a:solidFill>
            <a:prstDash val="solid"/>
          </a:ln>
        </p:spPr>
        <p:txBody>
          <a:bodyPr/>
          <a:lstStyle/>
          <a:p>
            <a:endParaRPr lang="en-US"/>
          </a:p>
        </p:txBody>
      </p:sp>
      <p:sp>
        <p:nvSpPr>
          <p:cNvPr id="12" name="Text 10"/>
          <p:cNvSpPr txBox="1"/>
          <p:nvPr/>
        </p:nvSpPr>
        <p:spPr>
          <a:xfrm>
            <a:off x="3587420" y="1783080"/>
            <a:ext cx="2197532" cy="219456"/>
          </a:xfrm>
          <a:prstGeom prst="rect">
            <a:avLst/>
          </a:prstGeom>
          <a:noFill/>
          <a:ln/>
        </p:spPr>
        <p:txBody>
          <a:bodyPr wrap="square" lIns="0" tIns="0" rIns="0" bIns="0" rtlCol="0" anchor="ctr"/>
          <a:lstStyle/>
          <a:p>
            <a:pPr marL="0" indent="0">
              <a:buNone/>
            </a:pPr>
            <a:r>
              <a:rPr lang="en-US" sz="950" b="1" kern="0" spc="100" dirty="0">
                <a:solidFill>
                  <a:srgbClr val="9A430A"/>
                </a:solidFill>
                <a:latin typeface="Calibri" pitchFamily="34" charset="0"/>
                <a:ea typeface="Calibri" pitchFamily="34" charset="-122"/>
                <a:cs typeface="Calibri" pitchFamily="34" charset="-120"/>
              </a:rPr>
              <a:t>PHASE 2  ·  WEEKS 5–8</a:t>
            </a:r>
            <a:endParaRPr lang="en-US" sz="950" dirty="0"/>
          </a:p>
        </p:txBody>
      </p:sp>
      <p:sp>
        <p:nvSpPr>
          <p:cNvPr id="13" name="Text 11"/>
          <p:cNvSpPr txBox="1"/>
          <p:nvPr/>
        </p:nvSpPr>
        <p:spPr>
          <a:xfrm>
            <a:off x="3587420" y="2039112"/>
            <a:ext cx="2197532" cy="566928"/>
          </a:xfrm>
          <a:prstGeom prst="rect">
            <a:avLst/>
          </a:prstGeom>
          <a:noFill/>
          <a:ln/>
        </p:spPr>
        <p:txBody>
          <a:bodyPr wrap="square" lIns="0" tIns="0" rIns="0" bIns="0" rtlCol="0" anchor="t"/>
          <a:lstStyle/>
          <a:p>
            <a:pPr marL="0" indent="0">
              <a:buNone/>
            </a:pPr>
            <a:r>
              <a:rPr lang="en-US" sz="1500" b="1" dirty="0">
                <a:solidFill>
                  <a:srgbClr val="0F2942"/>
                </a:solidFill>
                <a:latin typeface="Calibri" pitchFamily="34" charset="0"/>
                <a:ea typeface="Calibri" pitchFamily="34" charset="-122"/>
                <a:cs typeface="Calibri" pitchFamily="34" charset="-120"/>
              </a:rPr>
              <a:t>Object-oriented core</a:t>
            </a:r>
            <a:endParaRPr lang="en-US" sz="1500" dirty="0"/>
          </a:p>
        </p:txBody>
      </p:sp>
      <p:sp>
        <p:nvSpPr>
          <p:cNvPr id="14" name="Text 12"/>
          <p:cNvSpPr txBox="1"/>
          <p:nvPr/>
        </p:nvSpPr>
        <p:spPr>
          <a:xfrm>
            <a:off x="3623996" y="2679192"/>
            <a:ext cx="2142668" cy="24231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Classes and objects</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Encapsulation</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Composition and identity</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Inheritance and polymorphism</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Abstract classes</a:t>
            </a:r>
            <a:endParaRPr lang="en-US" sz="1200" dirty="0"/>
          </a:p>
        </p:txBody>
      </p:sp>
      <p:sp>
        <p:nvSpPr>
          <p:cNvPr id="15" name="Shape 13"/>
          <p:cNvSpPr/>
          <p:nvPr/>
        </p:nvSpPr>
        <p:spPr>
          <a:xfrm>
            <a:off x="6205576" y="1581912"/>
            <a:ext cx="2599868" cy="3703320"/>
          </a:xfrm>
          <a:prstGeom prst="roundRect">
            <a:avLst>
              <a:gd name="adj" fmla="val 3165"/>
            </a:avLst>
          </a:prstGeom>
          <a:solidFill>
            <a:srgbClr val="E6F2EC"/>
          </a:solidFill>
          <a:ln w="12700">
            <a:solidFill>
              <a:srgbClr val="E6F2EC"/>
            </a:solidFill>
            <a:prstDash val="solid"/>
          </a:ln>
        </p:spPr>
        <p:txBody>
          <a:bodyPr/>
          <a:lstStyle/>
          <a:p>
            <a:endParaRPr lang="en-US"/>
          </a:p>
        </p:txBody>
      </p:sp>
      <p:sp>
        <p:nvSpPr>
          <p:cNvPr id="16" name="Text 14"/>
          <p:cNvSpPr txBox="1"/>
          <p:nvPr/>
        </p:nvSpPr>
        <p:spPr>
          <a:xfrm>
            <a:off x="6406744" y="1783080"/>
            <a:ext cx="2197532" cy="219456"/>
          </a:xfrm>
          <a:prstGeom prst="rect">
            <a:avLst/>
          </a:prstGeom>
          <a:noFill/>
          <a:ln/>
        </p:spPr>
        <p:txBody>
          <a:bodyPr wrap="square" lIns="0" tIns="0" rIns="0" bIns="0" rtlCol="0" anchor="ctr"/>
          <a:lstStyle/>
          <a:p>
            <a:pPr marL="0" indent="0">
              <a:buNone/>
            </a:pPr>
            <a:r>
              <a:rPr lang="en-US" sz="950" b="1" kern="0" spc="100" dirty="0">
                <a:solidFill>
                  <a:srgbClr val="176240"/>
                </a:solidFill>
                <a:latin typeface="Calibri" pitchFamily="34" charset="0"/>
                <a:ea typeface="Calibri" pitchFamily="34" charset="-122"/>
                <a:cs typeface="Calibri" pitchFamily="34" charset="-120"/>
              </a:rPr>
              <a:t>PHASE 3  ·  WEEKS 9–10</a:t>
            </a:r>
            <a:endParaRPr lang="en-US" sz="950" dirty="0"/>
          </a:p>
        </p:txBody>
      </p:sp>
      <p:sp>
        <p:nvSpPr>
          <p:cNvPr id="17" name="Text 15"/>
          <p:cNvSpPr txBox="1"/>
          <p:nvPr/>
        </p:nvSpPr>
        <p:spPr>
          <a:xfrm>
            <a:off x="6406744" y="2039112"/>
            <a:ext cx="2197532" cy="566928"/>
          </a:xfrm>
          <a:prstGeom prst="rect">
            <a:avLst/>
          </a:prstGeom>
          <a:noFill/>
          <a:ln/>
        </p:spPr>
        <p:txBody>
          <a:bodyPr wrap="square" lIns="0" tIns="0" rIns="0" bIns="0" rtlCol="0" anchor="t"/>
          <a:lstStyle/>
          <a:p>
            <a:pPr marL="0" indent="0">
              <a:buNone/>
            </a:pPr>
            <a:r>
              <a:rPr lang="en-US" sz="1500" b="1" dirty="0">
                <a:solidFill>
                  <a:srgbClr val="0F2942"/>
                </a:solidFill>
                <a:latin typeface="Calibri" pitchFamily="34" charset="0"/>
                <a:ea typeface="Calibri" pitchFamily="34" charset="-122"/>
                <a:cs typeface="Calibri" pitchFamily="34" charset="-120"/>
              </a:rPr>
              <a:t>Robust code</a:t>
            </a:r>
            <a:endParaRPr lang="en-US" sz="1500" dirty="0"/>
          </a:p>
        </p:txBody>
      </p:sp>
      <p:sp>
        <p:nvSpPr>
          <p:cNvPr id="18" name="Text 16"/>
          <p:cNvSpPr txBox="1"/>
          <p:nvPr/>
        </p:nvSpPr>
        <p:spPr>
          <a:xfrm>
            <a:off x="6443320" y="2679192"/>
            <a:ext cx="2142668" cy="24231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Interfaces</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Exception handling</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Debugging and JUnit 5 testing</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Generics</a:t>
            </a:r>
            <a:endParaRPr lang="en-US" sz="1200" dirty="0"/>
          </a:p>
        </p:txBody>
      </p:sp>
      <p:sp>
        <p:nvSpPr>
          <p:cNvPr id="19" name="Shape 17"/>
          <p:cNvSpPr/>
          <p:nvPr/>
        </p:nvSpPr>
        <p:spPr>
          <a:xfrm>
            <a:off x="9024899" y="1581912"/>
            <a:ext cx="2599868" cy="3703320"/>
          </a:xfrm>
          <a:prstGeom prst="roundRect">
            <a:avLst>
              <a:gd name="adj" fmla="val 3165"/>
            </a:avLst>
          </a:prstGeom>
          <a:solidFill>
            <a:srgbClr val="F1F5F9"/>
          </a:solidFill>
          <a:ln w="12700">
            <a:solidFill>
              <a:srgbClr val="F1F5F9"/>
            </a:solidFill>
            <a:prstDash val="solid"/>
          </a:ln>
        </p:spPr>
        <p:txBody>
          <a:bodyPr/>
          <a:lstStyle/>
          <a:p>
            <a:endParaRPr lang="en-US"/>
          </a:p>
        </p:txBody>
      </p:sp>
      <p:sp>
        <p:nvSpPr>
          <p:cNvPr id="20" name="Text 18"/>
          <p:cNvSpPr txBox="1"/>
          <p:nvPr/>
        </p:nvSpPr>
        <p:spPr>
          <a:xfrm>
            <a:off x="9226067" y="1783080"/>
            <a:ext cx="2197532" cy="219456"/>
          </a:xfrm>
          <a:prstGeom prst="rect">
            <a:avLst/>
          </a:prstGeom>
          <a:noFill/>
          <a:ln/>
        </p:spPr>
        <p:txBody>
          <a:bodyPr wrap="square" lIns="0" tIns="0" rIns="0" bIns="0" rtlCol="0" anchor="ctr"/>
          <a:lstStyle/>
          <a:p>
            <a:pPr marL="0" indent="0">
              <a:buNone/>
            </a:pPr>
            <a:r>
              <a:rPr lang="en-US" sz="950" b="1" kern="0" spc="100" dirty="0">
                <a:solidFill>
                  <a:srgbClr val="1D4468"/>
                </a:solidFill>
                <a:latin typeface="Calibri" pitchFamily="34" charset="0"/>
                <a:ea typeface="Calibri" pitchFamily="34" charset="-122"/>
                <a:cs typeface="Calibri" pitchFamily="34" charset="-120"/>
              </a:rPr>
              <a:t>PHASE 4  ·  WEEKS 11–12</a:t>
            </a:r>
            <a:endParaRPr lang="en-US" sz="950" dirty="0"/>
          </a:p>
        </p:txBody>
      </p:sp>
      <p:sp>
        <p:nvSpPr>
          <p:cNvPr id="21" name="Text 19"/>
          <p:cNvSpPr txBox="1"/>
          <p:nvPr/>
        </p:nvSpPr>
        <p:spPr>
          <a:xfrm>
            <a:off x="9226067" y="2039112"/>
            <a:ext cx="2197532" cy="566928"/>
          </a:xfrm>
          <a:prstGeom prst="rect">
            <a:avLst/>
          </a:prstGeom>
          <a:noFill/>
          <a:ln/>
        </p:spPr>
        <p:txBody>
          <a:bodyPr wrap="square" lIns="0" tIns="0" rIns="0" bIns="0" rtlCol="0" anchor="t"/>
          <a:lstStyle/>
          <a:p>
            <a:pPr marL="0" indent="0">
              <a:buNone/>
            </a:pPr>
            <a:r>
              <a:rPr lang="en-US" sz="1500" b="1" dirty="0">
                <a:solidFill>
                  <a:srgbClr val="0F2942"/>
                </a:solidFill>
                <a:latin typeface="Calibri" pitchFamily="34" charset="0"/>
                <a:ea typeface="Calibri" pitchFamily="34" charset="-122"/>
                <a:cs typeface="Calibri" pitchFamily="34" charset="-120"/>
              </a:rPr>
              <a:t>Libraries &amp; applications</a:t>
            </a:r>
            <a:endParaRPr lang="en-US" sz="1500" dirty="0"/>
          </a:p>
        </p:txBody>
      </p:sp>
      <p:sp>
        <p:nvSpPr>
          <p:cNvPr id="22" name="Text 20"/>
          <p:cNvSpPr txBox="1"/>
          <p:nvPr/>
        </p:nvSpPr>
        <p:spPr>
          <a:xfrm>
            <a:off x="9262643" y="2679192"/>
            <a:ext cx="2142668" cy="24231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Collections framework</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Stream API and File I/O (NIO.2)</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Threads and concurrency</a:t>
            </a:r>
            <a:endParaRPr lang="en-US" sz="1200" dirty="0"/>
          </a:p>
          <a:p>
            <a:pPr marL="177800" indent="-177800">
              <a:spcAft>
                <a:spcPts val="800"/>
              </a:spcAft>
              <a:buSzPct val="100000"/>
              <a:buChar char="•"/>
            </a:pPr>
            <a:r>
              <a:rPr lang="en-US" sz="1200" dirty="0">
                <a:solidFill>
                  <a:srgbClr val="3A536B"/>
                </a:solidFill>
                <a:latin typeface="Calibri" pitchFamily="34" charset="0"/>
                <a:ea typeface="Calibri" pitchFamily="34" charset="-122"/>
                <a:cs typeface="Calibri" pitchFamily="34" charset="-120"/>
              </a:rPr>
              <a:t>JavaFX and JDBC essentials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COURSE SCHEDULE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Weeks 1 – 6</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Tuesday and Thursday, 17:45–19:05, Room MB 2</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3968496"/>
        </p:xfrm>
        <a:graphic>
          <a:graphicData uri="http://schemas.openxmlformats.org/drawingml/2006/table">
            <a:tbl>
              <a:tblPr/>
              <a:tblGrid>
                <a:gridCol w="502920">
                  <a:extLst>
                    <a:ext uri="{9D8B030D-6E8A-4147-A177-3AD203B41FA5}">
                      <a16:colId xmlns:a16="http://schemas.microsoft.com/office/drawing/2014/main" val="20000"/>
                    </a:ext>
                  </a:extLst>
                </a:gridCol>
                <a:gridCol w="5230368">
                  <a:extLst>
                    <a:ext uri="{9D8B030D-6E8A-4147-A177-3AD203B41FA5}">
                      <a16:colId xmlns:a16="http://schemas.microsoft.com/office/drawing/2014/main" val="20001"/>
                    </a:ext>
                  </a:extLst>
                </a:gridCol>
                <a:gridCol w="5321808">
                  <a:extLst>
                    <a:ext uri="{9D8B030D-6E8A-4147-A177-3AD203B41FA5}">
                      <a16:colId xmlns:a16="http://schemas.microsoft.com/office/drawing/2014/main" val="20002"/>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Wk</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Tuesday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Thursday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566928">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08.09 — Java Basics &amp; Environment Setup</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JDK/IDE setup, project structure, Java vs. C++ syntax</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10.09 — Data Types &amp; Expressions</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Primitive types, variables, operators, type casting</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15.09 — Control Flow I</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Conditionals (if/else, switch expressions), logical operators</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17.09 — Control Flow II</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Loops (for, while, do-while, enhanced for), break/continue</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b="1" dirty="0">
                          <a:solidFill>
                            <a:srgbClr val="9C241C"/>
                          </a:solidFill>
                          <a:latin typeface="Calibri" pitchFamily="34" charset="0"/>
                          <a:ea typeface="Calibri" pitchFamily="34" charset="-122"/>
                          <a:cs typeface="Calibri" pitchFamily="34" charset="-120"/>
                        </a:rPr>
                        <a:t>22.09 — NO CLASS</a:t>
                      </a:r>
                      <a:endParaRPr lang="en-US" sz="1050" dirty="0">
                        <a:latin typeface="Calibri" charset="0"/>
                        <a:ea typeface="Calibri" charset="0"/>
                        <a:cs typeface="Calibri" charset="0"/>
                      </a:endParaRPr>
                    </a:p>
                    <a:p>
                      <a:pPr marL="0" indent="0">
                        <a:buNone/>
                      </a:pPr>
                      <a:r>
                        <a:rPr lang="en-US" sz="1050" b="1" dirty="0">
                          <a:solidFill>
                            <a:srgbClr val="9C241C"/>
                          </a:solidFill>
                          <a:latin typeface="Calibri" pitchFamily="34" charset="0"/>
                          <a:ea typeface="Calibri" pitchFamily="34" charset="-122"/>
                          <a:cs typeface="Calibri" pitchFamily="34" charset="-120"/>
                        </a:rPr>
                        <a:t>Bulgarian Independence Day</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AE8"/>
                    </a:solidFill>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24.09 — Methods</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Declaration, parameters, return types, overloading, scope</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29.09 — Arrays</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Declaration, initialization, traversal, multi-dimensional arrays</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01.10 — Strings</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Immutability, StringBuilder, regex basics   ▸ QUIZ 1 (Weeks 1–3)</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4"/>
                  </a:ext>
                </a:extLst>
              </a:tr>
              <a:tr h="566928">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06.10 — Classes &amp; Objects I</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Class definition, object instantiation, constructors</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08.10 — Classes &amp; Objects II</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this keyword, instance vs. static members, object lifecycle</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13.10 — Encapsulation</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Access modifiers, getters/setters with validation, immutability</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50" dirty="0">
                          <a:solidFill>
                            <a:srgbClr val="3A536B"/>
                          </a:solidFill>
                          <a:latin typeface="Calibri" pitchFamily="34" charset="0"/>
                          <a:ea typeface="Calibri" pitchFamily="34" charset="-122"/>
                          <a:cs typeface="Calibri" pitchFamily="34" charset="-120"/>
                        </a:rPr>
                        <a:t>15.10 — Object Composition &amp; Identity</a:t>
                      </a:r>
                      <a:endParaRPr lang="en-US" sz="1050" dirty="0">
                        <a:latin typeface="Calibri" charset="0"/>
                        <a:ea typeface="Calibri" charset="0"/>
                        <a:cs typeface="Calibri" charset="0"/>
                      </a:endParaRPr>
                    </a:p>
                    <a:p>
                      <a:pPr marL="0" indent="0">
                        <a:buNone/>
                      </a:pPr>
                      <a:r>
                        <a:rPr lang="en-US" sz="1050" dirty="0">
                          <a:solidFill>
                            <a:srgbClr val="3A536B"/>
                          </a:solidFill>
                          <a:latin typeface="Calibri" pitchFamily="34" charset="0"/>
                          <a:ea typeface="Calibri" pitchFamily="34" charset="-122"/>
                          <a:cs typeface="Calibri" pitchFamily="34" charset="-120"/>
                        </a:rPr>
                        <a:t>equals()/hashCode(), toString()   ▸ ASSIGNMENT 1 released</a:t>
                      </a:r>
                      <a:endParaRPr lang="en-US" sz="10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COURSE SCHEDULE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Weeks 7 – 13</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Fall break 02.11 – 08.11 · Final project due 08.12</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4114800"/>
        </p:xfrm>
        <a:graphic>
          <a:graphicData uri="http://schemas.openxmlformats.org/drawingml/2006/table">
            <a:tbl>
              <a:tblPr/>
              <a:tblGrid>
                <a:gridCol w="502920">
                  <a:extLst>
                    <a:ext uri="{9D8B030D-6E8A-4147-A177-3AD203B41FA5}">
                      <a16:colId xmlns:a16="http://schemas.microsoft.com/office/drawing/2014/main" val="20000"/>
                    </a:ext>
                  </a:extLst>
                </a:gridCol>
                <a:gridCol w="5230368">
                  <a:extLst>
                    <a:ext uri="{9D8B030D-6E8A-4147-A177-3AD203B41FA5}">
                      <a16:colId xmlns:a16="http://schemas.microsoft.com/office/drawing/2014/main" val="20001"/>
                    </a:ext>
                  </a:extLst>
                </a:gridCol>
                <a:gridCol w="5321808">
                  <a:extLst>
                    <a:ext uri="{9D8B030D-6E8A-4147-A177-3AD203B41FA5}">
                      <a16:colId xmlns:a16="http://schemas.microsoft.com/office/drawing/2014/main" val="20002"/>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Wk</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Tuesday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Thursday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20.10 — Inheritance I</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extends, super, constructor chaining  ▸ Project brief released</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22.10 — Inheritance II</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Overriding, @Override, protected   ▸ QUIZ 2 (Weeks 4–6)</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1"/>
                  </a:ext>
                </a:extLst>
              </a:tr>
              <a:tr h="457200">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27.10 — Polymorphism</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Dynamic binding, casting with instanceof, polymorphic collections</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29.10 — Abstract Classes</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Abstract methods, Template Method   ▸ ASSIGNMENT 1 due</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2"/>
                  </a:ext>
                </a:extLst>
              </a:tr>
              <a:tr h="457200">
                <a:tc>
                  <a:txBody>
                    <a:bodyPr/>
                    <a:lstStyle/>
                    <a:p>
                      <a:pPr marL="0" indent="0">
                        <a:buNone/>
                      </a:pP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marL="0" indent="0" algn="ctr">
                        <a:buNone/>
                      </a:pPr>
                      <a:r>
                        <a:rPr lang="en-US" sz="1000" b="1" dirty="0">
                          <a:solidFill>
                            <a:srgbClr val="0F2942"/>
                          </a:solidFill>
                          <a:latin typeface="Calibri" pitchFamily="34" charset="0"/>
                          <a:ea typeface="Calibri" pitchFamily="34" charset="-122"/>
                          <a:cs typeface="Calibri" pitchFamily="34" charset="-120"/>
                        </a:rPr>
                        <a:t>FALL BREAK   02.11 – 08.11   ·   no classes</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marL="0" indent="0">
                        <a:buNone/>
                      </a:pP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r h="457200">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10.11 — Interfaces</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Implementation, default/static methods, functional interfaces</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12.11 — Exception Handling</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Checked vs. unchecked, custom exceptions, try-with-resources</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17.11 — Debugging &amp; Testing</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IDE debugger, JUnit 5   ▸ ASSIGNMENT 2 released</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19.11 — Generics</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Generic types and methods, bounds   ▸ QUIZ 3 (Weeks 7–9)</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5"/>
                  </a:ext>
                </a:extLst>
              </a:tr>
              <a:tr h="457200">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24.11 — Collections, Sets &amp; Maps</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Core interfaces, List/ArrayList, TreeSet/TreeMap, iteration</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26.11 — Stream API &amp; File I/O (NIO.2)</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Stream operations, Path/Files API, directory walking</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01.12 — Threads &amp; Concurrency</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Threads, Runnable, synchronization   ▸ ASSIGNMENT 2 due</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03.12 — JavaFX &amp; JDBC Essentials</a:t>
                      </a:r>
                      <a:endParaRPr lang="en-US" sz="1000" dirty="0">
                        <a:latin typeface="Calibri" charset="0"/>
                        <a:ea typeface="Calibri" charset="0"/>
                        <a:cs typeface="Calibri" charset="0"/>
                      </a:endParaRPr>
                    </a:p>
                    <a:p>
                      <a:pPr marL="0" indent="0">
                        <a:buNone/>
                      </a:pPr>
                      <a:r>
                        <a:rPr lang="en-US" sz="1000" dirty="0">
                          <a:solidFill>
                            <a:srgbClr val="3A536B"/>
                          </a:solidFill>
                          <a:latin typeface="Calibri" pitchFamily="34" charset="0"/>
                          <a:ea typeface="Calibri" pitchFamily="34" charset="-122"/>
                          <a:cs typeface="Calibri" pitchFamily="34" charset="-120"/>
                        </a:rPr>
                        <a:t>UI fundamentals, database basics   ▸ QUIZ 4 (Weeks 10–11)</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7"/>
                  </a:ext>
                </a:extLst>
              </a:tr>
              <a:tr h="457200">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b="1" dirty="0">
                          <a:solidFill>
                            <a:srgbClr val="9A430A"/>
                          </a:solidFill>
                          <a:latin typeface="Calibri" pitchFamily="34" charset="0"/>
                          <a:ea typeface="Calibri" pitchFamily="34" charset="-122"/>
                          <a:cs typeface="Calibri" pitchFamily="34" charset="-120"/>
                        </a:rPr>
                        <a:t>08.12 — Senior project presentations (no class)</a:t>
                      </a:r>
                      <a:endParaRPr lang="en-US" sz="1000" dirty="0">
                        <a:latin typeface="Calibri" charset="0"/>
                        <a:ea typeface="Calibri" charset="0"/>
                        <a:cs typeface="Calibri" charset="0"/>
                      </a:endParaRPr>
                    </a:p>
                    <a:p>
                      <a:pPr marL="0" indent="0">
                        <a:buNone/>
                      </a:pPr>
                      <a:r>
                        <a:rPr lang="en-US" sz="1000" b="1" dirty="0">
                          <a:solidFill>
                            <a:srgbClr val="9A430A"/>
                          </a:solidFill>
                          <a:latin typeface="Calibri" pitchFamily="34" charset="0"/>
                          <a:ea typeface="Calibri" pitchFamily="34" charset="-122"/>
                          <a:cs typeface="Calibri" pitchFamily="34" charset="-120"/>
                        </a:rPr>
                        <a:t>▸ COS 2030 FINAL PROJECT DUE</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000" dirty="0">
                          <a:solidFill>
                            <a:srgbClr val="3A536B"/>
                          </a:solidFill>
                          <a:latin typeface="Calibri" pitchFamily="34" charset="0"/>
                          <a:ea typeface="Calibri" pitchFamily="34" charset="-122"/>
                          <a:cs typeface="Calibri" pitchFamily="34" charset="-120"/>
                        </a:rPr>
                        <a:t>10.12 — Senior project presentations (no class)</a:t>
                      </a:r>
                      <a:endParaRPr lang="en-US" sz="10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ASSESSMENT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How Your Grade Is Built</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66928" y="1399032"/>
            <a:ext cx="2613584" cy="2148840"/>
          </a:xfrm>
          <a:prstGeom prst="roundRect">
            <a:avLst>
              <a:gd name="adj" fmla="val 3830"/>
            </a:avLst>
          </a:prstGeom>
          <a:solidFill>
            <a:srgbClr val="FFFFFF"/>
          </a:solidFill>
          <a:ln w="12700">
            <a:solidFill>
              <a:srgbClr val="D3DEE7"/>
            </a:solidFill>
            <a:prstDash val="solid"/>
          </a:ln>
        </p:spPr>
        <p:txBody>
          <a:bodyPr/>
          <a:lstStyle/>
          <a:p>
            <a:endParaRPr lang="en-US"/>
          </a:p>
        </p:txBody>
      </p:sp>
      <p:sp>
        <p:nvSpPr>
          <p:cNvPr id="7" name="Text 5"/>
          <p:cNvSpPr txBox="1"/>
          <p:nvPr/>
        </p:nvSpPr>
        <p:spPr>
          <a:xfrm>
            <a:off x="804672" y="1673352"/>
            <a:ext cx="2138096" cy="777240"/>
          </a:xfrm>
          <a:prstGeom prst="rect">
            <a:avLst/>
          </a:prstGeom>
          <a:noFill/>
          <a:ln/>
        </p:spPr>
        <p:txBody>
          <a:bodyPr wrap="square" lIns="0" tIns="0" rIns="0" bIns="0" rtlCol="0" anchor="ctr"/>
          <a:lstStyle/>
          <a:p>
            <a:pPr marL="0" indent="0">
              <a:buNone/>
            </a:pPr>
            <a:r>
              <a:rPr lang="en-US" sz="4600" b="1" dirty="0">
                <a:solidFill>
                  <a:srgbClr val="0F2942"/>
                </a:solidFill>
                <a:latin typeface="Cambria" pitchFamily="34" charset="0"/>
                <a:ea typeface="Cambria" pitchFamily="34" charset="-122"/>
                <a:cs typeface="Cambria" pitchFamily="34" charset="-120"/>
              </a:rPr>
              <a:t>40%</a:t>
            </a:r>
            <a:endParaRPr lang="en-US" sz="4600" dirty="0"/>
          </a:p>
        </p:txBody>
      </p:sp>
      <p:sp>
        <p:nvSpPr>
          <p:cNvPr id="8" name="Text 6"/>
          <p:cNvSpPr txBox="1"/>
          <p:nvPr/>
        </p:nvSpPr>
        <p:spPr>
          <a:xfrm>
            <a:off x="804672" y="2514600"/>
            <a:ext cx="2138096" cy="329184"/>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Quizzes</a:t>
            </a:r>
            <a:endParaRPr lang="en-US" sz="1600" dirty="0"/>
          </a:p>
        </p:txBody>
      </p:sp>
      <p:sp>
        <p:nvSpPr>
          <p:cNvPr id="9" name="Text 7"/>
          <p:cNvSpPr txBox="1"/>
          <p:nvPr/>
        </p:nvSpPr>
        <p:spPr>
          <a:xfrm>
            <a:off x="804672" y="2862072"/>
            <a:ext cx="2138096" cy="548640"/>
          </a:xfrm>
          <a:prstGeom prst="rect">
            <a:avLst/>
          </a:prstGeom>
          <a:noFill/>
          <a:ln/>
        </p:spPr>
        <p:txBody>
          <a:bodyPr wrap="square" lIns="0" tIns="0" rIns="0" bIns="0" rtlCol="0" anchor="t"/>
          <a:lstStyle/>
          <a:p>
            <a:pPr marL="0" indent="0">
              <a:buNone/>
            </a:pPr>
            <a:r>
              <a:rPr lang="en-US" sz="1200" dirty="0">
                <a:solidFill>
                  <a:srgbClr val="3A536B"/>
                </a:solidFill>
                <a:latin typeface="Calibri" pitchFamily="34" charset="0"/>
                <a:ea typeface="Calibri" pitchFamily="34" charset="-122"/>
                <a:cs typeface="Calibri" pitchFamily="34" charset="-120"/>
              </a:rPr>
              <a:t>4 quizzes × 10%</a:t>
            </a:r>
            <a:endParaRPr lang="en-US" sz="1200" dirty="0"/>
          </a:p>
        </p:txBody>
      </p:sp>
      <p:sp>
        <p:nvSpPr>
          <p:cNvPr id="10" name="Shape 8"/>
          <p:cNvSpPr/>
          <p:nvPr/>
        </p:nvSpPr>
        <p:spPr>
          <a:xfrm>
            <a:off x="3381680" y="1399032"/>
            <a:ext cx="2613584" cy="2148840"/>
          </a:xfrm>
          <a:prstGeom prst="roundRect">
            <a:avLst>
              <a:gd name="adj" fmla="val 3830"/>
            </a:avLst>
          </a:prstGeom>
          <a:solidFill>
            <a:srgbClr val="FFFFFF"/>
          </a:solidFill>
          <a:ln w="12700">
            <a:solidFill>
              <a:srgbClr val="D3DEE7"/>
            </a:solidFill>
            <a:prstDash val="solid"/>
          </a:ln>
        </p:spPr>
        <p:txBody>
          <a:bodyPr/>
          <a:lstStyle/>
          <a:p>
            <a:endParaRPr lang="en-US"/>
          </a:p>
        </p:txBody>
      </p:sp>
      <p:sp>
        <p:nvSpPr>
          <p:cNvPr id="11" name="Text 9"/>
          <p:cNvSpPr txBox="1"/>
          <p:nvPr/>
        </p:nvSpPr>
        <p:spPr>
          <a:xfrm>
            <a:off x="3619424" y="1673352"/>
            <a:ext cx="2138096" cy="777240"/>
          </a:xfrm>
          <a:prstGeom prst="rect">
            <a:avLst/>
          </a:prstGeom>
          <a:noFill/>
          <a:ln/>
        </p:spPr>
        <p:txBody>
          <a:bodyPr wrap="square" lIns="0" tIns="0" rIns="0" bIns="0" rtlCol="0" anchor="ctr"/>
          <a:lstStyle/>
          <a:p>
            <a:pPr marL="0" indent="0">
              <a:buNone/>
            </a:pPr>
            <a:r>
              <a:rPr lang="en-US" sz="4600" b="1" dirty="0">
                <a:solidFill>
                  <a:srgbClr val="C4560C"/>
                </a:solidFill>
                <a:latin typeface="Cambria" pitchFamily="34" charset="0"/>
                <a:ea typeface="Cambria" pitchFamily="34" charset="-122"/>
                <a:cs typeface="Cambria" pitchFamily="34" charset="-120"/>
              </a:rPr>
              <a:t>30%</a:t>
            </a:r>
            <a:endParaRPr lang="en-US" sz="4600" dirty="0"/>
          </a:p>
        </p:txBody>
      </p:sp>
      <p:sp>
        <p:nvSpPr>
          <p:cNvPr id="12" name="Text 10"/>
          <p:cNvSpPr txBox="1"/>
          <p:nvPr/>
        </p:nvSpPr>
        <p:spPr>
          <a:xfrm>
            <a:off x="3619424" y="2514600"/>
            <a:ext cx="2138096" cy="329184"/>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Final Exam</a:t>
            </a:r>
            <a:endParaRPr lang="en-US" sz="1600" dirty="0"/>
          </a:p>
        </p:txBody>
      </p:sp>
      <p:sp>
        <p:nvSpPr>
          <p:cNvPr id="13" name="Text 11"/>
          <p:cNvSpPr txBox="1"/>
          <p:nvPr/>
        </p:nvSpPr>
        <p:spPr>
          <a:xfrm>
            <a:off x="3619424" y="2862072"/>
            <a:ext cx="2138096" cy="548640"/>
          </a:xfrm>
          <a:prstGeom prst="rect">
            <a:avLst/>
          </a:prstGeom>
          <a:noFill/>
          <a:ln/>
        </p:spPr>
        <p:txBody>
          <a:bodyPr wrap="square" lIns="0" tIns="0" rIns="0" bIns="0" rtlCol="0" anchor="t"/>
          <a:lstStyle/>
          <a:p>
            <a:pPr marL="0" indent="0">
              <a:buNone/>
            </a:pPr>
            <a:r>
              <a:rPr lang="en-US" sz="1200" dirty="0">
                <a:solidFill>
                  <a:srgbClr val="3A536B"/>
                </a:solidFill>
                <a:latin typeface="Calibri" pitchFamily="34" charset="0"/>
                <a:ea typeface="Calibri" pitchFamily="34" charset="-122"/>
                <a:cs typeface="Calibri" pitchFamily="34" charset="-120"/>
              </a:rPr>
              <a:t>Practical problem solving</a:t>
            </a:r>
            <a:endParaRPr lang="en-US" sz="1200" dirty="0"/>
          </a:p>
        </p:txBody>
      </p:sp>
      <p:sp>
        <p:nvSpPr>
          <p:cNvPr id="14" name="Shape 12"/>
          <p:cNvSpPr/>
          <p:nvPr/>
        </p:nvSpPr>
        <p:spPr>
          <a:xfrm>
            <a:off x="6196432" y="1399032"/>
            <a:ext cx="2613584" cy="2148840"/>
          </a:xfrm>
          <a:prstGeom prst="roundRect">
            <a:avLst>
              <a:gd name="adj" fmla="val 3830"/>
            </a:avLst>
          </a:prstGeom>
          <a:solidFill>
            <a:srgbClr val="FFFFFF"/>
          </a:solidFill>
          <a:ln w="12700">
            <a:solidFill>
              <a:srgbClr val="D3DEE7"/>
            </a:solidFill>
            <a:prstDash val="solid"/>
          </a:ln>
        </p:spPr>
        <p:txBody>
          <a:bodyPr/>
          <a:lstStyle/>
          <a:p>
            <a:endParaRPr lang="en-US"/>
          </a:p>
        </p:txBody>
      </p:sp>
      <p:sp>
        <p:nvSpPr>
          <p:cNvPr id="15" name="Text 13"/>
          <p:cNvSpPr txBox="1"/>
          <p:nvPr/>
        </p:nvSpPr>
        <p:spPr>
          <a:xfrm>
            <a:off x="6434176" y="1673352"/>
            <a:ext cx="2138096" cy="777240"/>
          </a:xfrm>
          <a:prstGeom prst="rect">
            <a:avLst/>
          </a:prstGeom>
          <a:noFill/>
          <a:ln/>
        </p:spPr>
        <p:txBody>
          <a:bodyPr wrap="square" lIns="0" tIns="0" rIns="0" bIns="0" rtlCol="0" anchor="ctr"/>
          <a:lstStyle/>
          <a:p>
            <a:pPr marL="0" indent="0">
              <a:buNone/>
            </a:pPr>
            <a:r>
              <a:rPr lang="en-US" sz="4600" b="1" dirty="0">
                <a:solidFill>
                  <a:srgbClr val="175680"/>
                </a:solidFill>
                <a:latin typeface="Cambria" pitchFamily="34" charset="0"/>
                <a:ea typeface="Cambria" pitchFamily="34" charset="-122"/>
                <a:cs typeface="Cambria" pitchFamily="34" charset="-120"/>
              </a:rPr>
              <a:t>20%</a:t>
            </a:r>
            <a:endParaRPr lang="en-US" sz="4600" dirty="0"/>
          </a:p>
        </p:txBody>
      </p:sp>
      <p:sp>
        <p:nvSpPr>
          <p:cNvPr id="16" name="Text 14"/>
          <p:cNvSpPr txBox="1"/>
          <p:nvPr/>
        </p:nvSpPr>
        <p:spPr>
          <a:xfrm>
            <a:off x="6434176" y="2514600"/>
            <a:ext cx="2138096" cy="329184"/>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Project</a:t>
            </a:r>
            <a:endParaRPr lang="en-US" sz="1600" dirty="0"/>
          </a:p>
        </p:txBody>
      </p:sp>
      <p:sp>
        <p:nvSpPr>
          <p:cNvPr id="17" name="Text 15"/>
          <p:cNvSpPr txBox="1"/>
          <p:nvPr/>
        </p:nvSpPr>
        <p:spPr>
          <a:xfrm>
            <a:off x="6434176" y="2862072"/>
            <a:ext cx="2138096" cy="548640"/>
          </a:xfrm>
          <a:prstGeom prst="rect">
            <a:avLst/>
          </a:prstGeom>
          <a:noFill/>
          <a:ln/>
        </p:spPr>
        <p:txBody>
          <a:bodyPr wrap="square" lIns="0" tIns="0" rIns="0" bIns="0" rtlCol="0" anchor="t"/>
          <a:lstStyle/>
          <a:p>
            <a:pPr marL="0" indent="0">
              <a:buNone/>
            </a:pPr>
            <a:r>
              <a:rPr lang="en-US" sz="1200" dirty="0">
                <a:solidFill>
                  <a:srgbClr val="3A536B"/>
                </a:solidFill>
                <a:latin typeface="Calibri" pitchFamily="34" charset="0"/>
                <a:ea typeface="Calibri" pitchFamily="34" charset="-122"/>
                <a:cs typeface="Calibri" pitchFamily="34" charset="-120"/>
              </a:rPr>
              <a:t>Code, documentation, video demo</a:t>
            </a:r>
            <a:endParaRPr lang="en-US" sz="1200" dirty="0"/>
          </a:p>
        </p:txBody>
      </p:sp>
      <p:sp>
        <p:nvSpPr>
          <p:cNvPr id="18" name="Shape 16"/>
          <p:cNvSpPr/>
          <p:nvPr/>
        </p:nvSpPr>
        <p:spPr>
          <a:xfrm>
            <a:off x="9011183" y="1399032"/>
            <a:ext cx="2613584" cy="2148840"/>
          </a:xfrm>
          <a:prstGeom prst="roundRect">
            <a:avLst>
              <a:gd name="adj" fmla="val 3830"/>
            </a:avLst>
          </a:prstGeom>
          <a:solidFill>
            <a:srgbClr val="FFFFFF"/>
          </a:solidFill>
          <a:ln w="12700">
            <a:solidFill>
              <a:srgbClr val="D3DEE7"/>
            </a:solidFill>
            <a:prstDash val="solid"/>
          </a:ln>
        </p:spPr>
        <p:txBody>
          <a:bodyPr/>
          <a:lstStyle/>
          <a:p>
            <a:endParaRPr lang="en-US"/>
          </a:p>
        </p:txBody>
      </p:sp>
      <p:sp>
        <p:nvSpPr>
          <p:cNvPr id="19" name="Text 17"/>
          <p:cNvSpPr txBox="1"/>
          <p:nvPr/>
        </p:nvSpPr>
        <p:spPr>
          <a:xfrm>
            <a:off x="9248927" y="1673352"/>
            <a:ext cx="2138096" cy="777240"/>
          </a:xfrm>
          <a:prstGeom prst="rect">
            <a:avLst/>
          </a:prstGeom>
          <a:noFill/>
          <a:ln/>
        </p:spPr>
        <p:txBody>
          <a:bodyPr wrap="square" lIns="0" tIns="0" rIns="0" bIns="0" rtlCol="0" anchor="ctr"/>
          <a:lstStyle/>
          <a:p>
            <a:pPr marL="0" indent="0">
              <a:buNone/>
            </a:pPr>
            <a:r>
              <a:rPr lang="en-US" sz="4600" b="1" dirty="0">
                <a:solidFill>
                  <a:srgbClr val="176240"/>
                </a:solidFill>
                <a:latin typeface="Cambria" pitchFamily="34" charset="0"/>
                <a:ea typeface="Cambria" pitchFamily="34" charset="-122"/>
                <a:cs typeface="Cambria" pitchFamily="34" charset="-120"/>
              </a:rPr>
              <a:t>10%</a:t>
            </a:r>
            <a:endParaRPr lang="en-US" sz="4600" dirty="0"/>
          </a:p>
        </p:txBody>
      </p:sp>
      <p:sp>
        <p:nvSpPr>
          <p:cNvPr id="20" name="Text 18"/>
          <p:cNvSpPr txBox="1"/>
          <p:nvPr/>
        </p:nvSpPr>
        <p:spPr>
          <a:xfrm>
            <a:off x="9248927" y="2514600"/>
            <a:ext cx="2138096" cy="329184"/>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Assignments</a:t>
            </a:r>
            <a:endParaRPr lang="en-US" sz="1600" dirty="0"/>
          </a:p>
        </p:txBody>
      </p:sp>
      <p:sp>
        <p:nvSpPr>
          <p:cNvPr id="21" name="Text 19"/>
          <p:cNvSpPr txBox="1"/>
          <p:nvPr/>
        </p:nvSpPr>
        <p:spPr>
          <a:xfrm>
            <a:off x="9248927" y="2862072"/>
            <a:ext cx="2138096" cy="548640"/>
          </a:xfrm>
          <a:prstGeom prst="rect">
            <a:avLst/>
          </a:prstGeom>
          <a:noFill/>
          <a:ln/>
        </p:spPr>
        <p:txBody>
          <a:bodyPr wrap="square" lIns="0" tIns="0" rIns="0" bIns="0" rtlCol="0" anchor="t"/>
          <a:lstStyle/>
          <a:p>
            <a:pPr marL="0" indent="0">
              <a:buNone/>
            </a:pPr>
            <a:r>
              <a:rPr lang="en-US" sz="1200" dirty="0">
                <a:solidFill>
                  <a:srgbClr val="3A536B"/>
                </a:solidFill>
                <a:latin typeface="Calibri" pitchFamily="34" charset="0"/>
                <a:ea typeface="Calibri" pitchFamily="34" charset="-122"/>
                <a:cs typeface="Calibri" pitchFamily="34" charset="-120"/>
              </a:rPr>
              <a:t>2 assignments × 5%</a:t>
            </a:r>
            <a:endParaRPr lang="en-US" sz="1200" dirty="0"/>
          </a:p>
        </p:txBody>
      </p:sp>
      <p:sp>
        <p:nvSpPr>
          <p:cNvPr id="22" name="Shape 20"/>
          <p:cNvSpPr/>
          <p:nvPr/>
        </p:nvSpPr>
        <p:spPr>
          <a:xfrm>
            <a:off x="566928" y="3794760"/>
            <a:ext cx="11057839" cy="1051560"/>
          </a:xfrm>
          <a:prstGeom prst="roundRect">
            <a:avLst>
              <a:gd name="adj" fmla="val 7826"/>
            </a:avLst>
          </a:prstGeom>
          <a:solidFill>
            <a:srgbClr val="FBEEE0"/>
          </a:solidFill>
          <a:ln w="12700">
            <a:solidFill>
              <a:srgbClr val="FBEEE0"/>
            </a:solidFill>
            <a:prstDash val="solid"/>
          </a:ln>
        </p:spPr>
        <p:txBody>
          <a:bodyPr/>
          <a:lstStyle/>
          <a:p>
            <a:endParaRPr lang="en-US"/>
          </a:p>
        </p:txBody>
      </p:sp>
      <p:sp>
        <p:nvSpPr>
          <p:cNvPr id="23" name="Text 21"/>
          <p:cNvSpPr txBox="1"/>
          <p:nvPr/>
        </p:nvSpPr>
        <p:spPr>
          <a:xfrm>
            <a:off x="877824" y="3977640"/>
            <a:ext cx="10436047" cy="685800"/>
          </a:xfrm>
          <a:prstGeom prst="rect">
            <a:avLst/>
          </a:prstGeom>
          <a:noFill/>
          <a:ln/>
        </p:spPr>
        <p:txBody>
          <a:bodyPr wrap="square" lIns="0" tIns="0" rIns="0" bIns="0" rtlCol="0" anchor="ctr"/>
          <a:lstStyle/>
          <a:p>
            <a:pPr marL="0" indent="0">
              <a:buNone/>
            </a:pPr>
            <a:r>
              <a:rPr lang="en-US" sz="3000" b="1" dirty="0">
                <a:solidFill>
                  <a:srgbClr val="9A430A"/>
                </a:solidFill>
                <a:latin typeface="Cambria" pitchFamily="34" charset="0"/>
                <a:ea typeface="Cambria" pitchFamily="34" charset="-122"/>
                <a:cs typeface="Cambria" pitchFamily="34" charset="-120"/>
              </a:rPr>
              <a:t>+3%</a:t>
            </a:r>
            <a:r>
              <a:rPr lang="en-US" sz="1700" b="1" dirty="0">
                <a:solidFill>
                  <a:srgbClr val="0F2942"/>
                </a:solidFill>
                <a:latin typeface="Calibri" pitchFamily="34" charset="0"/>
                <a:ea typeface="Calibri" pitchFamily="34" charset="-122"/>
                <a:cs typeface="Calibri" pitchFamily="34" charset="-120"/>
              </a:rPr>
              <a:t>   Tutorial / lab attendance bonus</a:t>
            </a:r>
            <a:r>
              <a:rPr lang="en-US" sz="1350" dirty="0">
                <a:solidFill>
                  <a:srgbClr val="3A536B"/>
                </a:solidFill>
                <a:latin typeface="Calibri" pitchFamily="34" charset="0"/>
                <a:ea typeface="Calibri" pitchFamily="34" charset="-122"/>
                <a:cs typeface="Calibri" pitchFamily="34" charset="-120"/>
              </a:rPr>
              <a:t>  —  optional, added on top of your final calculated grade. A 77% becomes 80%.</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ASSESSMENT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Grading Scale</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353312"/>
          <a:ext cx="3886200" cy="3200400"/>
        </p:xfrm>
        <a:graphic>
          <a:graphicData uri="http://schemas.openxmlformats.org/drawingml/2006/table">
            <a:tbl>
              <a:tblPr/>
              <a:tblGrid>
                <a:gridCol w="2606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Score range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Grade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96.00 – 100.00</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90.00 – 95.99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86.00 – 89.99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83.00 – 85.99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80.00 – 82.99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76.00 – 79.99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681728" y="1353312"/>
          <a:ext cx="3886200" cy="2743200"/>
        </p:xfrm>
        <a:graphic>
          <a:graphicData uri="http://schemas.openxmlformats.org/drawingml/2006/table">
            <a:tbl>
              <a:tblPr/>
              <a:tblGrid>
                <a:gridCol w="2606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Score range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Grade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73.00 – 75.99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70.00 – 72.99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65.00 – 69.99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60.00 – 64.99</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0F2942"/>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Below 60.00</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lgn="ctr">
                        <a:buNone/>
                      </a:pPr>
                      <a:r>
                        <a:rPr lang="en-US" sz="1200" b="1" dirty="0">
                          <a:solidFill>
                            <a:srgbClr val="9C241C"/>
                          </a:solidFill>
                          <a:latin typeface="Calibri" pitchFamily="34" charset="0"/>
                          <a:ea typeface="Calibri" pitchFamily="34" charset="-122"/>
                          <a:cs typeface="Calibri" pitchFamily="34" charset="-120"/>
                        </a:rPr>
                        <a:t>F</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7"/>
          <p:cNvSpPr/>
          <p:nvPr/>
        </p:nvSpPr>
        <p:spPr>
          <a:xfrm>
            <a:off x="8855150" y="1293876"/>
            <a:ext cx="2691079" cy="1965960"/>
          </a:xfrm>
          <a:prstGeom prst="roundRect">
            <a:avLst>
              <a:gd name="adj" fmla="val 4186"/>
            </a:avLst>
          </a:prstGeom>
          <a:solidFill>
            <a:srgbClr val="FBEEE0"/>
          </a:solidFill>
          <a:ln w="12700">
            <a:solidFill>
              <a:srgbClr val="FBEEE0"/>
            </a:solidFill>
            <a:prstDash val="solid"/>
          </a:ln>
        </p:spPr>
        <p:txBody>
          <a:bodyPr/>
          <a:lstStyle/>
          <a:p>
            <a:endParaRPr lang="en-US" dirty="0"/>
          </a:p>
        </p:txBody>
      </p:sp>
      <p:sp>
        <p:nvSpPr>
          <p:cNvPr id="12" name="Text 8"/>
          <p:cNvSpPr txBox="1"/>
          <p:nvPr/>
        </p:nvSpPr>
        <p:spPr>
          <a:xfrm>
            <a:off x="9153143" y="1529334"/>
            <a:ext cx="2252167" cy="566928"/>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The bonus is applied last</a:t>
            </a:r>
            <a:endParaRPr lang="en-US" sz="1450" dirty="0"/>
          </a:p>
        </p:txBody>
      </p:sp>
      <p:sp>
        <p:nvSpPr>
          <p:cNvPr id="13" name="Text 9"/>
          <p:cNvSpPr txBox="1"/>
          <p:nvPr/>
        </p:nvSpPr>
        <p:spPr>
          <a:xfrm>
            <a:off x="9052560" y="1888096"/>
            <a:ext cx="2252167" cy="1088136"/>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Your lab bonus is added after the weighted total is computed, so it can carry you across a band boundary.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ASSESSMENT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Dates You Should Put in Your Calendar Now</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66928" y="1261872"/>
            <a:ext cx="2613584" cy="3566160"/>
          </a:xfrm>
          <a:prstGeom prst="roundRect">
            <a:avLst>
              <a:gd name="adj" fmla="val 3149"/>
            </a:avLst>
          </a:prstGeom>
          <a:solidFill>
            <a:srgbClr val="FFFFFF"/>
          </a:solidFill>
          <a:ln w="12700">
            <a:solidFill>
              <a:srgbClr val="D3DEE7"/>
            </a:solidFill>
            <a:prstDash val="solid"/>
          </a:ln>
        </p:spPr>
        <p:txBody>
          <a:bodyPr/>
          <a:lstStyle/>
          <a:p>
            <a:endParaRPr lang="en-US"/>
          </a:p>
        </p:txBody>
      </p:sp>
      <p:sp>
        <p:nvSpPr>
          <p:cNvPr id="7" name="Shape 5"/>
          <p:cNvSpPr/>
          <p:nvPr/>
        </p:nvSpPr>
        <p:spPr>
          <a:xfrm>
            <a:off x="566928" y="1261872"/>
            <a:ext cx="2613584" cy="566928"/>
          </a:xfrm>
          <a:prstGeom prst="roundRect">
            <a:avLst>
              <a:gd name="adj" fmla="val 14516"/>
            </a:avLst>
          </a:prstGeom>
          <a:solidFill>
            <a:srgbClr val="0F2942"/>
          </a:solidFill>
          <a:ln w="12700">
            <a:solidFill>
              <a:srgbClr val="0F2942"/>
            </a:solidFill>
            <a:prstDash val="solid"/>
          </a:ln>
        </p:spPr>
        <p:txBody>
          <a:bodyPr/>
          <a:lstStyle/>
          <a:p>
            <a:endParaRPr lang="en-US"/>
          </a:p>
        </p:txBody>
      </p:sp>
      <p:sp>
        <p:nvSpPr>
          <p:cNvPr id="8" name="Shape 6"/>
          <p:cNvSpPr/>
          <p:nvPr/>
        </p:nvSpPr>
        <p:spPr>
          <a:xfrm>
            <a:off x="566928" y="1627632"/>
            <a:ext cx="2613584" cy="201168"/>
          </a:xfrm>
          <a:prstGeom prst="rect">
            <a:avLst/>
          </a:prstGeom>
          <a:solidFill>
            <a:srgbClr val="0F2942"/>
          </a:solidFill>
          <a:ln w="12700">
            <a:solidFill>
              <a:srgbClr val="0F2942"/>
            </a:solidFill>
            <a:prstDash val="solid"/>
          </a:ln>
        </p:spPr>
        <p:txBody>
          <a:bodyPr/>
          <a:lstStyle/>
          <a:p>
            <a:endParaRPr lang="en-US"/>
          </a:p>
        </p:txBody>
      </p:sp>
      <p:sp>
        <p:nvSpPr>
          <p:cNvPr id="9" name="Text 7"/>
          <p:cNvSpPr txBox="1"/>
          <p:nvPr/>
        </p:nvSpPr>
        <p:spPr>
          <a:xfrm>
            <a:off x="786384" y="1261872"/>
            <a:ext cx="2174672"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Quizzes  ·  40%</a:t>
            </a:r>
            <a:endParaRPr lang="en-US" sz="1400" dirty="0"/>
          </a:p>
        </p:txBody>
      </p:sp>
      <p:sp>
        <p:nvSpPr>
          <p:cNvPr id="10" name="Text 8"/>
          <p:cNvSpPr txBox="1"/>
          <p:nvPr/>
        </p:nvSpPr>
        <p:spPr>
          <a:xfrm>
            <a:off x="822960" y="2011680"/>
            <a:ext cx="2119808"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Q1 — 01.10, Weeks 1–3</a:t>
            </a:r>
            <a:endParaRPr lang="en-US" sz="1250" dirty="0"/>
          </a:p>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Q2 — 22.10, Weeks 4–6</a:t>
            </a:r>
            <a:endParaRPr lang="en-US" sz="1250" dirty="0"/>
          </a:p>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Q3 — 19.11, Weeks 7–9</a:t>
            </a:r>
            <a:endParaRPr lang="en-US" sz="1250" dirty="0"/>
          </a:p>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Q4 — 03.12, Weeks 10–11</a:t>
            </a:r>
            <a:endParaRPr lang="en-US" sz="1250" dirty="0"/>
          </a:p>
        </p:txBody>
      </p:sp>
      <p:sp>
        <p:nvSpPr>
          <p:cNvPr id="11" name="Text 9"/>
          <p:cNvSpPr txBox="1"/>
          <p:nvPr/>
        </p:nvSpPr>
        <p:spPr>
          <a:xfrm>
            <a:off x="804672" y="3410712"/>
            <a:ext cx="2138096" cy="12801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Problem-solving questions, not recall. A missed quiz needs a documented excuse, requested in advance.</a:t>
            </a:r>
            <a:endParaRPr lang="en-US" sz="1150" dirty="0"/>
          </a:p>
        </p:txBody>
      </p:sp>
      <p:sp>
        <p:nvSpPr>
          <p:cNvPr id="12" name="Shape 10"/>
          <p:cNvSpPr/>
          <p:nvPr/>
        </p:nvSpPr>
        <p:spPr>
          <a:xfrm>
            <a:off x="3381680" y="1261872"/>
            <a:ext cx="2613584" cy="3566160"/>
          </a:xfrm>
          <a:prstGeom prst="roundRect">
            <a:avLst>
              <a:gd name="adj" fmla="val 3149"/>
            </a:avLst>
          </a:prstGeom>
          <a:solidFill>
            <a:srgbClr val="FFFFFF"/>
          </a:solidFill>
          <a:ln w="12700">
            <a:solidFill>
              <a:srgbClr val="D3DEE7"/>
            </a:solidFill>
            <a:prstDash val="solid"/>
          </a:ln>
        </p:spPr>
        <p:txBody>
          <a:bodyPr/>
          <a:lstStyle/>
          <a:p>
            <a:endParaRPr lang="en-US"/>
          </a:p>
        </p:txBody>
      </p:sp>
      <p:sp>
        <p:nvSpPr>
          <p:cNvPr id="13" name="Shape 11"/>
          <p:cNvSpPr/>
          <p:nvPr/>
        </p:nvSpPr>
        <p:spPr>
          <a:xfrm>
            <a:off x="3381680" y="1261872"/>
            <a:ext cx="2613584" cy="566928"/>
          </a:xfrm>
          <a:prstGeom prst="roundRect">
            <a:avLst>
              <a:gd name="adj" fmla="val 14516"/>
            </a:avLst>
          </a:prstGeom>
          <a:solidFill>
            <a:srgbClr val="176240"/>
          </a:solidFill>
          <a:ln w="12700">
            <a:solidFill>
              <a:srgbClr val="176240"/>
            </a:solidFill>
            <a:prstDash val="solid"/>
          </a:ln>
        </p:spPr>
        <p:txBody>
          <a:bodyPr/>
          <a:lstStyle/>
          <a:p>
            <a:endParaRPr lang="en-US"/>
          </a:p>
        </p:txBody>
      </p:sp>
      <p:sp>
        <p:nvSpPr>
          <p:cNvPr id="14" name="Shape 12"/>
          <p:cNvSpPr/>
          <p:nvPr/>
        </p:nvSpPr>
        <p:spPr>
          <a:xfrm>
            <a:off x="3381680" y="1627632"/>
            <a:ext cx="2613584" cy="201168"/>
          </a:xfrm>
          <a:prstGeom prst="rect">
            <a:avLst/>
          </a:prstGeom>
          <a:solidFill>
            <a:srgbClr val="176240"/>
          </a:solidFill>
          <a:ln w="12700">
            <a:solidFill>
              <a:srgbClr val="176240"/>
            </a:solidFill>
            <a:prstDash val="solid"/>
          </a:ln>
        </p:spPr>
        <p:txBody>
          <a:bodyPr/>
          <a:lstStyle/>
          <a:p>
            <a:endParaRPr lang="en-US"/>
          </a:p>
        </p:txBody>
      </p:sp>
      <p:sp>
        <p:nvSpPr>
          <p:cNvPr id="15" name="Text 13"/>
          <p:cNvSpPr txBox="1"/>
          <p:nvPr/>
        </p:nvSpPr>
        <p:spPr>
          <a:xfrm>
            <a:off x="3601136" y="1261872"/>
            <a:ext cx="2174672"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Assignments  ·  10%</a:t>
            </a:r>
            <a:endParaRPr lang="en-US" sz="1400" dirty="0"/>
          </a:p>
        </p:txBody>
      </p:sp>
      <p:sp>
        <p:nvSpPr>
          <p:cNvPr id="16" name="Text 14"/>
          <p:cNvSpPr txBox="1"/>
          <p:nvPr/>
        </p:nvSpPr>
        <p:spPr>
          <a:xfrm>
            <a:off x="3637712" y="2011680"/>
            <a:ext cx="2119808"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A1 out 15.10 — due 29.10</a:t>
            </a:r>
            <a:endParaRPr lang="en-US" sz="1250" dirty="0"/>
          </a:p>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A2 out 17.11 — due 01.12</a:t>
            </a:r>
            <a:endParaRPr lang="en-US" sz="1250" dirty="0"/>
          </a:p>
        </p:txBody>
      </p:sp>
      <p:sp>
        <p:nvSpPr>
          <p:cNvPr id="17" name="Text 15"/>
          <p:cNvSpPr txBox="1"/>
          <p:nvPr/>
        </p:nvSpPr>
        <p:spPr>
          <a:xfrm>
            <a:off x="3619424" y="3410712"/>
            <a:ext cx="2138096" cy="12801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Individual work, submitted on Canvas. Late work follows the deadline penalty schedule.</a:t>
            </a:r>
            <a:endParaRPr lang="en-US" sz="1150" dirty="0"/>
          </a:p>
        </p:txBody>
      </p:sp>
      <p:sp>
        <p:nvSpPr>
          <p:cNvPr id="18" name="Shape 16"/>
          <p:cNvSpPr/>
          <p:nvPr/>
        </p:nvSpPr>
        <p:spPr>
          <a:xfrm>
            <a:off x="6196432" y="1261872"/>
            <a:ext cx="2613584" cy="3566160"/>
          </a:xfrm>
          <a:prstGeom prst="roundRect">
            <a:avLst>
              <a:gd name="adj" fmla="val 3149"/>
            </a:avLst>
          </a:prstGeom>
          <a:solidFill>
            <a:srgbClr val="FFFFFF"/>
          </a:solidFill>
          <a:ln w="12700">
            <a:solidFill>
              <a:srgbClr val="D3DEE7"/>
            </a:solidFill>
            <a:prstDash val="solid"/>
          </a:ln>
        </p:spPr>
        <p:txBody>
          <a:bodyPr/>
          <a:lstStyle/>
          <a:p>
            <a:endParaRPr lang="en-US"/>
          </a:p>
        </p:txBody>
      </p:sp>
      <p:sp>
        <p:nvSpPr>
          <p:cNvPr id="19" name="Shape 17"/>
          <p:cNvSpPr/>
          <p:nvPr/>
        </p:nvSpPr>
        <p:spPr>
          <a:xfrm>
            <a:off x="6196432" y="1261872"/>
            <a:ext cx="2613584" cy="566928"/>
          </a:xfrm>
          <a:prstGeom prst="roundRect">
            <a:avLst>
              <a:gd name="adj" fmla="val 14516"/>
            </a:avLst>
          </a:prstGeom>
          <a:solidFill>
            <a:srgbClr val="175680"/>
          </a:solidFill>
          <a:ln w="12700">
            <a:solidFill>
              <a:srgbClr val="175680"/>
            </a:solidFill>
            <a:prstDash val="solid"/>
          </a:ln>
        </p:spPr>
        <p:txBody>
          <a:bodyPr/>
          <a:lstStyle/>
          <a:p>
            <a:endParaRPr lang="en-US"/>
          </a:p>
        </p:txBody>
      </p:sp>
      <p:sp>
        <p:nvSpPr>
          <p:cNvPr id="20" name="Shape 18"/>
          <p:cNvSpPr/>
          <p:nvPr/>
        </p:nvSpPr>
        <p:spPr>
          <a:xfrm>
            <a:off x="6196432" y="1627632"/>
            <a:ext cx="2613584" cy="201168"/>
          </a:xfrm>
          <a:prstGeom prst="rect">
            <a:avLst/>
          </a:prstGeom>
          <a:solidFill>
            <a:srgbClr val="175680"/>
          </a:solidFill>
          <a:ln w="12700">
            <a:solidFill>
              <a:srgbClr val="175680"/>
            </a:solidFill>
            <a:prstDash val="solid"/>
          </a:ln>
        </p:spPr>
        <p:txBody>
          <a:bodyPr/>
          <a:lstStyle/>
          <a:p>
            <a:endParaRPr lang="en-US"/>
          </a:p>
        </p:txBody>
      </p:sp>
      <p:sp>
        <p:nvSpPr>
          <p:cNvPr id="21" name="Text 19"/>
          <p:cNvSpPr txBox="1"/>
          <p:nvPr/>
        </p:nvSpPr>
        <p:spPr>
          <a:xfrm>
            <a:off x="6415888" y="1261872"/>
            <a:ext cx="2174672"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Project  ·  20%</a:t>
            </a:r>
            <a:endParaRPr lang="en-US" sz="1400" dirty="0"/>
          </a:p>
        </p:txBody>
      </p:sp>
      <p:sp>
        <p:nvSpPr>
          <p:cNvPr id="22" name="Text 20"/>
          <p:cNvSpPr txBox="1"/>
          <p:nvPr/>
        </p:nvSpPr>
        <p:spPr>
          <a:xfrm>
            <a:off x="6452464" y="2011680"/>
            <a:ext cx="2119808"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Brief released 20.10</a:t>
            </a:r>
            <a:endParaRPr lang="en-US" sz="1250" dirty="0"/>
          </a:p>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Due 08.12</a:t>
            </a:r>
            <a:endParaRPr lang="en-US" sz="1250" dirty="0"/>
          </a:p>
        </p:txBody>
      </p:sp>
      <p:sp>
        <p:nvSpPr>
          <p:cNvPr id="23" name="Text 21"/>
          <p:cNvSpPr txBox="1"/>
          <p:nvPr/>
        </p:nvSpPr>
        <p:spPr>
          <a:xfrm>
            <a:off x="6434176" y="3410712"/>
            <a:ext cx="2138096" cy="12801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Code plus documentation plus a recorded slide presentation. Students may be picked at random to demo their own project.</a:t>
            </a:r>
            <a:endParaRPr lang="en-US" sz="1150" dirty="0"/>
          </a:p>
        </p:txBody>
      </p:sp>
      <p:sp>
        <p:nvSpPr>
          <p:cNvPr id="24" name="Shape 22"/>
          <p:cNvSpPr/>
          <p:nvPr/>
        </p:nvSpPr>
        <p:spPr>
          <a:xfrm>
            <a:off x="9011183" y="1261872"/>
            <a:ext cx="2613584" cy="3566160"/>
          </a:xfrm>
          <a:prstGeom prst="roundRect">
            <a:avLst>
              <a:gd name="adj" fmla="val 3149"/>
            </a:avLst>
          </a:prstGeom>
          <a:solidFill>
            <a:srgbClr val="FFFFFF"/>
          </a:solidFill>
          <a:ln w="12700">
            <a:solidFill>
              <a:srgbClr val="D3DEE7"/>
            </a:solidFill>
            <a:prstDash val="solid"/>
          </a:ln>
        </p:spPr>
        <p:txBody>
          <a:bodyPr/>
          <a:lstStyle/>
          <a:p>
            <a:endParaRPr lang="en-US"/>
          </a:p>
        </p:txBody>
      </p:sp>
      <p:sp>
        <p:nvSpPr>
          <p:cNvPr id="25" name="Shape 23"/>
          <p:cNvSpPr/>
          <p:nvPr/>
        </p:nvSpPr>
        <p:spPr>
          <a:xfrm>
            <a:off x="9011183" y="1261872"/>
            <a:ext cx="2613584" cy="566928"/>
          </a:xfrm>
          <a:prstGeom prst="roundRect">
            <a:avLst>
              <a:gd name="adj" fmla="val 14516"/>
            </a:avLst>
          </a:prstGeom>
          <a:solidFill>
            <a:srgbClr val="C4560C"/>
          </a:solidFill>
          <a:ln w="12700">
            <a:solidFill>
              <a:srgbClr val="C4560C"/>
            </a:solidFill>
            <a:prstDash val="solid"/>
          </a:ln>
        </p:spPr>
        <p:txBody>
          <a:bodyPr/>
          <a:lstStyle/>
          <a:p>
            <a:endParaRPr lang="en-US"/>
          </a:p>
        </p:txBody>
      </p:sp>
      <p:sp>
        <p:nvSpPr>
          <p:cNvPr id="26" name="Shape 24"/>
          <p:cNvSpPr/>
          <p:nvPr/>
        </p:nvSpPr>
        <p:spPr>
          <a:xfrm>
            <a:off x="9011183" y="1627632"/>
            <a:ext cx="2613584" cy="201168"/>
          </a:xfrm>
          <a:prstGeom prst="rect">
            <a:avLst/>
          </a:prstGeom>
          <a:solidFill>
            <a:srgbClr val="C4560C"/>
          </a:solidFill>
          <a:ln w="12700">
            <a:solidFill>
              <a:srgbClr val="C4560C"/>
            </a:solidFill>
            <a:prstDash val="solid"/>
          </a:ln>
        </p:spPr>
        <p:txBody>
          <a:bodyPr/>
          <a:lstStyle/>
          <a:p>
            <a:endParaRPr lang="en-US"/>
          </a:p>
        </p:txBody>
      </p:sp>
      <p:sp>
        <p:nvSpPr>
          <p:cNvPr id="27" name="Text 25"/>
          <p:cNvSpPr txBox="1"/>
          <p:nvPr/>
        </p:nvSpPr>
        <p:spPr>
          <a:xfrm>
            <a:off x="9230639" y="1261872"/>
            <a:ext cx="2174672" cy="56692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Final exam  ·  30%</a:t>
            </a:r>
            <a:endParaRPr lang="en-US" sz="1400" dirty="0"/>
          </a:p>
        </p:txBody>
      </p:sp>
      <p:sp>
        <p:nvSpPr>
          <p:cNvPr id="28" name="Text 26"/>
          <p:cNvSpPr txBox="1"/>
          <p:nvPr/>
        </p:nvSpPr>
        <p:spPr>
          <a:xfrm>
            <a:off x="9267215" y="2011680"/>
            <a:ext cx="2119808" cy="12801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Date set by the registrar</a:t>
            </a:r>
            <a:endParaRPr lang="en-US" sz="1250" dirty="0"/>
          </a:p>
          <a:p>
            <a:pPr marL="177800" indent="-177800">
              <a:spcAft>
                <a:spcPts val="700"/>
              </a:spcAft>
              <a:buSzPct val="100000"/>
              <a:buChar char="•"/>
            </a:pPr>
            <a:r>
              <a:rPr lang="en-US" sz="1250" dirty="0">
                <a:solidFill>
                  <a:srgbClr val="0F2942"/>
                </a:solidFill>
                <a:latin typeface="Calibri" pitchFamily="34" charset="0"/>
                <a:ea typeface="Calibri" pitchFamily="34" charset="-122"/>
                <a:cs typeface="Calibri" pitchFamily="34" charset="-120"/>
              </a:rPr>
              <a:t>Practical problems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POLICIES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Lab Bonus and Attendance</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261872"/>
            <a:ext cx="5346040" cy="4434840"/>
          </a:xfrm>
          <a:prstGeom prst="roundRect">
            <a:avLst>
              <a:gd name="adj" fmla="val 1856"/>
            </a:avLst>
          </a:prstGeom>
          <a:solidFill>
            <a:srgbClr val="FBEEE0"/>
          </a:solidFill>
          <a:ln w="12700">
            <a:solidFill>
              <a:srgbClr val="FBEEE0"/>
            </a:solidFill>
            <a:prstDash val="solid"/>
          </a:ln>
        </p:spPr>
        <p:txBody>
          <a:bodyPr/>
          <a:lstStyle/>
          <a:p>
            <a:endParaRPr lang="en-US"/>
          </a:p>
        </p:txBody>
      </p:sp>
      <p:sp>
        <p:nvSpPr>
          <p:cNvPr id="7" name="Text 5"/>
          <p:cNvSpPr txBox="1"/>
          <p:nvPr/>
        </p:nvSpPr>
        <p:spPr>
          <a:xfrm>
            <a:off x="859536" y="1499616"/>
            <a:ext cx="4760824" cy="329184"/>
          </a:xfrm>
          <a:prstGeom prst="rect">
            <a:avLst/>
          </a:prstGeom>
          <a:noFill/>
          <a:ln/>
        </p:spPr>
        <p:txBody>
          <a:bodyPr wrap="square" lIns="0" tIns="0" rIns="0" bIns="0" rtlCol="0" anchor="ctr"/>
          <a:lstStyle/>
          <a:p>
            <a:pPr marL="0" indent="0">
              <a:buNone/>
            </a:pPr>
            <a:r>
              <a:rPr lang="en-US" sz="1700" b="1" dirty="0">
                <a:solidFill>
                  <a:srgbClr val="9A430A"/>
                </a:solidFill>
                <a:latin typeface="Calibri" pitchFamily="34" charset="0"/>
                <a:ea typeface="Calibri" pitchFamily="34" charset="-122"/>
                <a:cs typeface="Calibri" pitchFamily="34" charset="-120"/>
              </a:rPr>
              <a:t>Tutorial / lab attendance bonus</a:t>
            </a:r>
            <a:endParaRPr lang="en-US" sz="1700" dirty="0"/>
          </a:p>
        </p:txBody>
      </p:sp>
      <p:sp>
        <p:nvSpPr>
          <p:cNvPr id="8" name="Text 6"/>
          <p:cNvSpPr txBox="1"/>
          <p:nvPr/>
        </p:nvSpPr>
        <p:spPr>
          <a:xfrm>
            <a:off x="859536" y="1828800"/>
            <a:ext cx="4760824" cy="457200"/>
          </a:xfrm>
          <a:prstGeom prst="rect">
            <a:avLst/>
          </a:prstGeom>
          <a:noFill/>
          <a:ln/>
        </p:spPr>
        <p:txBody>
          <a:bodyPr wrap="square" lIns="0" tIns="0" rIns="0" bIns="0" rtlCol="0" anchor="t"/>
          <a:lstStyle/>
          <a:p>
            <a:pPr marL="0" indent="0">
              <a:buNone/>
            </a:pPr>
            <a:r>
              <a:rPr lang="en-US" sz="1250" dirty="0">
                <a:solidFill>
                  <a:srgbClr val="3A536B"/>
                </a:solidFill>
                <a:latin typeface="Calibri" pitchFamily="34" charset="0"/>
                <a:ea typeface="Calibri" pitchFamily="34" charset="-122"/>
                <a:cs typeface="Calibri" pitchFamily="34" charset="-120"/>
              </a:rPr>
              <a:t>Optional. Attendance is taken at the start; stay for the full session to be counted.</a:t>
            </a:r>
            <a:endParaRPr lang="en-US" sz="1250" dirty="0"/>
          </a:p>
        </p:txBody>
      </p:sp>
      <p:sp>
        <p:nvSpPr>
          <p:cNvPr id="9" name="Shape 7"/>
          <p:cNvSpPr/>
          <p:nvPr/>
        </p:nvSpPr>
        <p:spPr>
          <a:xfrm>
            <a:off x="859536" y="2395728"/>
            <a:ext cx="4760824" cy="475488"/>
          </a:xfrm>
          <a:prstGeom prst="roundRect">
            <a:avLst>
              <a:gd name="adj" fmla="val 17308"/>
            </a:avLst>
          </a:prstGeom>
          <a:solidFill>
            <a:srgbClr val="FFFFFF"/>
          </a:solidFill>
          <a:ln w="12700">
            <a:solidFill>
              <a:srgbClr val="FFFFFF"/>
            </a:solidFill>
            <a:prstDash val="solid"/>
          </a:ln>
        </p:spPr>
        <p:txBody>
          <a:bodyPr/>
          <a:lstStyle/>
          <a:p>
            <a:endParaRPr lang="en-US"/>
          </a:p>
        </p:txBody>
      </p:sp>
      <p:sp>
        <p:nvSpPr>
          <p:cNvPr id="10" name="Text 8"/>
          <p:cNvSpPr txBox="1"/>
          <p:nvPr/>
        </p:nvSpPr>
        <p:spPr>
          <a:xfrm>
            <a:off x="1069848" y="2395728"/>
            <a:ext cx="3334360" cy="475488"/>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 80% of labs</a:t>
            </a:r>
            <a:endParaRPr lang="en-US" sz="1350" dirty="0"/>
          </a:p>
        </p:txBody>
      </p:sp>
      <p:sp>
        <p:nvSpPr>
          <p:cNvPr id="11" name="Text 9"/>
          <p:cNvSpPr txBox="1"/>
          <p:nvPr/>
        </p:nvSpPr>
        <p:spPr>
          <a:xfrm>
            <a:off x="4038448" y="2395728"/>
            <a:ext cx="1371600" cy="475488"/>
          </a:xfrm>
          <a:prstGeom prst="rect">
            <a:avLst/>
          </a:prstGeom>
          <a:noFill/>
          <a:ln/>
        </p:spPr>
        <p:txBody>
          <a:bodyPr wrap="square" lIns="0" tIns="0" rIns="0" bIns="0" rtlCol="0" anchor="ctr"/>
          <a:lstStyle/>
          <a:p>
            <a:pPr marL="0" indent="0" algn="r">
              <a:buNone/>
            </a:pPr>
            <a:r>
              <a:rPr lang="en-US" sz="1500" b="1" dirty="0">
                <a:solidFill>
                  <a:srgbClr val="9A430A"/>
                </a:solidFill>
                <a:latin typeface="Calibri" pitchFamily="34" charset="0"/>
                <a:ea typeface="Calibri" pitchFamily="34" charset="-122"/>
                <a:cs typeface="Calibri" pitchFamily="34" charset="-120"/>
              </a:rPr>
              <a:t>+3%</a:t>
            </a:r>
            <a:endParaRPr lang="en-US" sz="1500" dirty="0"/>
          </a:p>
        </p:txBody>
      </p:sp>
      <p:sp>
        <p:nvSpPr>
          <p:cNvPr id="12" name="Shape 10"/>
          <p:cNvSpPr/>
          <p:nvPr/>
        </p:nvSpPr>
        <p:spPr>
          <a:xfrm>
            <a:off x="859536" y="2944368"/>
            <a:ext cx="4760824" cy="475488"/>
          </a:xfrm>
          <a:prstGeom prst="roundRect">
            <a:avLst>
              <a:gd name="adj" fmla="val 17308"/>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1069848" y="2944368"/>
            <a:ext cx="3334360" cy="475488"/>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 70% of labs</a:t>
            </a:r>
            <a:endParaRPr lang="en-US" sz="1350" dirty="0"/>
          </a:p>
        </p:txBody>
      </p:sp>
      <p:sp>
        <p:nvSpPr>
          <p:cNvPr id="14" name="Text 12"/>
          <p:cNvSpPr txBox="1"/>
          <p:nvPr/>
        </p:nvSpPr>
        <p:spPr>
          <a:xfrm>
            <a:off x="4038448" y="2944368"/>
            <a:ext cx="1371600" cy="475488"/>
          </a:xfrm>
          <a:prstGeom prst="rect">
            <a:avLst/>
          </a:prstGeom>
          <a:noFill/>
          <a:ln/>
        </p:spPr>
        <p:txBody>
          <a:bodyPr wrap="square" lIns="0" tIns="0" rIns="0" bIns="0" rtlCol="0" anchor="ctr"/>
          <a:lstStyle/>
          <a:p>
            <a:pPr marL="0" indent="0" algn="r">
              <a:buNone/>
            </a:pPr>
            <a:r>
              <a:rPr lang="en-US" sz="1500" b="1" dirty="0">
                <a:solidFill>
                  <a:srgbClr val="9A430A"/>
                </a:solidFill>
                <a:latin typeface="Calibri" pitchFamily="34" charset="0"/>
                <a:ea typeface="Calibri" pitchFamily="34" charset="-122"/>
                <a:cs typeface="Calibri" pitchFamily="34" charset="-120"/>
              </a:rPr>
              <a:t>+2%</a:t>
            </a:r>
            <a:endParaRPr lang="en-US" sz="1500" dirty="0"/>
          </a:p>
        </p:txBody>
      </p:sp>
      <p:sp>
        <p:nvSpPr>
          <p:cNvPr id="15" name="Shape 13"/>
          <p:cNvSpPr/>
          <p:nvPr/>
        </p:nvSpPr>
        <p:spPr>
          <a:xfrm>
            <a:off x="859536" y="3493008"/>
            <a:ext cx="4760824" cy="475488"/>
          </a:xfrm>
          <a:prstGeom prst="roundRect">
            <a:avLst>
              <a:gd name="adj" fmla="val 17308"/>
            </a:avLst>
          </a:prstGeom>
          <a:solidFill>
            <a:srgbClr val="FFFFFF"/>
          </a:solidFill>
          <a:ln w="12700">
            <a:solidFill>
              <a:srgbClr val="FFFFFF"/>
            </a:solidFill>
            <a:prstDash val="solid"/>
          </a:ln>
        </p:spPr>
        <p:txBody>
          <a:bodyPr/>
          <a:lstStyle/>
          <a:p>
            <a:endParaRPr lang="en-US"/>
          </a:p>
        </p:txBody>
      </p:sp>
      <p:sp>
        <p:nvSpPr>
          <p:cNvPr id="16" name="Text 14"/>
          <p:cNvSpPr txBox="1"/>
          <p:nvPr/>
        </p:nvSpPr>
        <p:spPr>
          <a:xfrm>
            <a:off x="1069848" y="3493008"/>
            <a:ext cx="3334360" cy="475488"/>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 60% of labs</a:t>
            </a:r>
            <a:endParaRPr lang="en-US" sz="1350" dirty="0"/>
          </a:p>
        </p:txBody>
      </p:sp>
      <p:sp>
        <p:nvSpPr>
          <p:cNvPr id="17" name="Text 15"/>
          <p:cNvSpPr txBox="1"/>
          <p:nvPr/>
        </p:nvSpPr>
        <p:spPr>
          <a:xfrm>
            <a:off x="4038448" y="3493008"/>
            <a:ext cx="1371600" cy="475488"/>
          </a:xfrm>
          <a:prstGeom prst="rect">
            <a:avLst/>
          </a:prstGeom>
          <a:noFill/>
          <a:ln/>
        </p:spPr>
        <p:txBody>
          <a:bodyPr wrap="square" lIns="0" tIns="0" rIns="0" bIns="0" rtlCol="0" anchor="ctr"/>
          <a:lstStyle/>
          <a:p>
            <a:pPr marL="0" indent="0" algn="r">
              <a:buNone/>
            </a:pPr>
            <a:r>
              <a:rPr lang="en-US" sz="1500" b="1" dirty="0">
                <a:solidFill>
                  <a:srgbClr val="9A430A"/>
                </a:solidFill>
                <a:latin typeface="Calibri" pitchFamily="34" charset="0"/>
                <a:ea typeface="Calibri" pitchFamily="34" charset="-122"/>
                <a:cs typeface="Calibri" pitchFamily="34" charset="-120"/>
              </a:rPr>
              <a:t>+1%</a:t>
            </a:r>
            <a:endParaRPr lang="en-US" sz="1500" dirty="0"/>
          </a:p>
        </p:txBody>
      </p:sp>
      <p:sp>
        <p:nvSpPr>
          <p:cNvPr id="18" name="Shape 16"/>
          <p:cNvSpPr/>
          <p:nvPr/>
        </p:nvSpPr>
        <p:spPr>
          <a:xfrm>
            <a:off x="859536" y="4041648"/>
            <a:ext cx="4760824" cy="475488"/>
          </a:xfrm>
          <a:prstGeom prst="roundRect">
            <a:avLst>
              <a:gd name="adj" fmla="val 17308"/>
            </a:avLst>
          </a:prstGeom>
          <a:solidFill>
            <a:srgbClr val="FFFFFF"/>
          </a:solidFill>
          <a:ln w="12700">
            <a:solidFill>
              <a:srgbClr val="FFFFFF"/>
            </a:solidFill>
            <a:prstDash val="solid"/>
          </a:ln>
        </p:spPr>
        <p:txBody>
          <a:bodyPr/>
          <a:lstStyle/>
          <a:p>
            <a:endParaRPr lang="en-US"/>
          </a:p>
        </p:txBody>
      </p:sp>
      <p:sp>
        <p:nvSpPr>
          <p:cNvPr id="19" name="Text 17"/>
          <p:cNvSpPr txBox="1"/>
          <p:nvPr/>
        </p:nvSpPr>
        <p:spPr>
          <a:xfrm>
            <a:off x="1069848" y="4041648"/>
            <a:ext cx="3334360" cy="475488"/>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&lt; 60% of labs</a:t>
            </a:r>
            <a:endParaRPr lang="en-US" sz="1350" dirty="0"/>
          </a:p>
        </p:txBody>
      </p:sp>
      <p:sp>
        <p:nvSpPr>
          <p:cNvPr id="20" name="Text 18"/>
          <p:cNvSpPr txBox="1"/>
          <p:nvPr/>
        </p:nvSpPr>
        <p:spPr>
          <a:xfrm>
            <a:off x="4038448" y="4041648"/>
            <a:ext cx="1371600" cy="475488"/>
          </a:xfrm>
          <a:prstGeom prst="rect">
            <a:avLst/>
          </a:prstGeom>
          <a:noFill/>
          <a:ln/>
        </p:spPr>
        <p:txBody>
          <a:bodyPr wrap="square" lIns="0" tIns="0" rIns="0" bIns="0" rtlCol="0" anchor="ctr"/>
          <a:lstStyle/>
          <a:p>
            <a:pPr marL="0" indent="0" algn="r">
              <a:buNone/>
            </a:pPr>
            <a:r>
              <a:rPr lang="en-US" sz="1500" b="1" dirty="0">
                <a:solidFill>
                  <a:srgbClr val="4B6377"/>
                </a:solidFill>
                <a:latin typeface="Calibri" pitchFamily="34" charset="0"/>
                <a:ea typeface="Calibri" pitchFamily="34" charset="-122"/>
                <a:cs typeface="Calibri" pitchFamily="34" charset="-120"/>
              </a:rPr>
              <a:t>no bonus</a:t>
            </a:r>
            <a:endParaRPr lang="en-US" sz="1500" dirty="0"/>
          </a:p>
        </p:txBody>
      </p:sp>
      <p:sp>
        <p:nvSpPr>
          <p:cNvPr id="21" name="Text 19"/>
          <p:cNvSpPr txBox="1"/>
          <p:nvPr/>
        </p:nvSpPr>
        <p:spPr>
          <a:xfrm>
            <a:off x="859536" y="4718304"/>
            <a:ext cx="4760824" cy="731520"/>
          </a:xfrm>
          <a:prstGeom prst="rect">
            <a:avLst/>
          </a:prstGeom>
          <a:noFill/>
          <a:ln/>
        </p:spPr>
        <p:txBody>
          <a:bodyPr wrap="square" lIns="0" tIns="0" rIns="0" bIns="0" rtlCol="0" anchor="t"/>
          <a:lstStyle/>
          <a:p>
            <a:pPr marL="0" indent="0">
              <a:buNone/>
            </a:pPr>
            <a:r>
              <a:rPr lang="en-US" sz="1150" i="1" dirty="0">
                <a:solidFill>
                  <a:srgbClr val="3A536B"/>
                </a:solidFill>
                <a:latin typeface="Calibri" pitchFamily="34" charset="0"/>
                <a:ea typeface="Calibri" pitchFamily="34" charset="-122"/>
                <a:cs typeface="Calibri" pitchFamily="34" charset="-120"/>
              </a:rPr>
              <a:t>Permanent scheduling conflict? Ask the tutor about alternative credit: watch all recordings, complete every lab problem, submit your solutions.</a:t>
            </a:r>
            <a:endParaRPr lang="en-US" sz="1150" dirty="0"/>
          </a:p>
        </p:txBody>
      </p:sp>
      <p:sp>
        <p:nvSpPr>
          <p:cNvPr id="22" name="Shape 20"/>
          <p:cNvSpPr/>
          <p:nvPr/>
        </p:nvSpPr>
        <p:spPr>
          <a:xfrm>
            <a:off x="6278728" y="1261872"/>
            <a:ext cx="5346040" cy="4434840"/>
          </a:xfrm>
          <a:prstGeom prst="roundRect">
            <a:avLst>
              <a:gd name="adj" fmla="val 1856"/>
            </a:avLst>
          </a:prstGeom>
          <a:solidFill>
            <a:srgbClr val="F1F5F9"/>
          </a:solidFill>
          <a:ln w="12700">
            <a:solidFill>
              <a:srgbClr val="F1F5F9"/>
            </a:solidFill>
            <a:prstDash val="solid"/>
          </a:ln>
        </p:spPr>
        <p:txBody>
          <a:bodyPr/>
          <a:lstStyle/>
          <a:p>
            <a:endParaRPr lang="en-US"/>
          </a:p>
        </p:txBody>
      </p:sp>
      <p:sp>
        <p:nvSpPr>
          <p:cNvPr id="23" name="Text 21"/>
          <p:cNvSpPr txBox="1"/>
          <p:nvPr/>
        </p:nvSpPr>
        <p:spPr>
          <a:xfrm>
            <a:off x="6571336" y="1499616"/>
            <a:ext cx="4760824" cy="329184"/>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Attendance in lectures is mandatory</a:t>
            </a:r>
            <a:endParaRPr lang="en-US" sz="1700" dirty="0"/>
          </a:p>
        </p:txBody>
      </p:sp>
      <p:sp>
        <p:nvSpPr>
          <p:cNvPr id="24" name="Text 22"/>
          <p:cNvSpPr txBox="1"/>
          <p:nvPr/>
        </p:nvSpPr>
        <p:spPr>
          <a:xfrm>
            <a:off x="6571336" y="1828800"/>
            <a:ext cx="4760824" cy="457200"/>
          </a:xfrm>
          <a:prstGeom prst="rect">
            <a:avLst/>
          </a:prstGeom>
          <a:noFill/>
          <a:ln/>
        </p:spPr>
        <p:txBody>
          <a:bodyPr wrap="square" lIns="0" tIns="0" rIns="0" bIns="0" rtlCol="0" anchor="t"/>
          <a:lstStyle/>
          <a:p>
            <a:pPr marL="0" indent="0">
              <a:buNone/>
            </a:pPr>
            <a:r>
              <a:rPr lang="en-US" sz="1250" dirty="0">
                <a:solidFill>
                  <a:srgbClr val="3A536B"/>
                </a:solidFill>
                <a:latin typeface="Calibri" pitchFamily="34" charset="0"/>
                <a:ea typeface="Calibri" pitchFamily="34" charset="-122"/>
                <a:cs typeface="Calibri" pitchFamily="34" charset="-120"/>
              </a:rPr>
              <a:t>Monitored every session. Three late arrivals count as one absence.</a:t>
            </a:r>
            <a:endParaRPr lang="en-US" sz="1250" dirty="0"/>
          </a:p>
        </p:txBody>
      </p:sp>
      <p:sp>
        <p:nvSpPr>
          <p:cNvPr id="25" name="Shape 23"/>
          <p:cNvSpPr/>
          <p:nvPr/>
        </p:nvSpPr>
        <p:spPr>
          <a:xfrm>
            <a:off x="6571336" y="2395728"/>
            <a:ext cx="4760824" cy="438912"/>
          </a:xfrm>
          <a:prstGeom prst="roundRect">
            <a:avLst>
              <a:gd name="adj" fmla="val 18750"/>
            </a:avLst>
          </a:prstGeom>
          <a:solidFill>
            <a:srgbClr val="FFFFFF"/>
          </a:solidFill>
          <a:ln w="12700">
            <a:solidFill>
              <a:srgbClr val="FFFFFF"/>
            </a:solidFill>
            <a:prstDash val="solid"/>
          </a:ln>
        </p:spPr>
        <p:txBody>
          <a:bodyPr/>
          <a:lstStyle/>
          <a:p>
            <a:endParaRPr lang="en-US"/>
          </a:p>
        </p:txBody>
      </p:sp>
      <p:sp>
        <p:nvSpPr>
          <p:cNvPr id="26" name="Text 24"/>
          <p:cNvSpPr txBox="1"/>
          <p:nvPr/>
        </p:nvSpPr>
        <p:spPr>
          <a:xfrm>
            <a:off x="6781648" y="2395728"/>
            <a:ext cx="3334360" cy="438912"/>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Up to 3 absences</a:t>
            </a:r>
            <a:endParaRPr lang="en-US" sz="1350" dirty="0"/>
          </a:p>
        </p:txBody>
      </p:sp>
      <p:sp>
        <p:nvSpPr>
          <p:cNvPr id="27" name="Text 25"/>
          <p:cNvSpPr txBox="1"/>
          <p:nvPr/>
        </p:nvSpPr>
        <p:spPr>
          <a:xfrm>
            <a:off x="9658807" y="2395728"/>
            <a:ext cx="1463040" cy="438912"/>
          </a:xfrm>
          <a:prstGeom prst="rect">
            <a:avLst/>
          </a:prstGeom>
          <a:noFill/>
          <a:ln/>
        </p:spPr>
        <p:txBody>
          <a:bodyPr wrap="square" lIns="0" tIns="0" rIns="0" bIns="0" rtlCol="0" anchor="ctr"/>
          <a:lstStyle/>
          <a:p>
            <a:pPr marL="0" indent="0" algn="r">
              <a:buNone/>
            </a:pPr>
            <a:r>
              <a:rPr lang="en-US" sz="1350" b="1" dirty="0">
                <a:solidFill>
                  <a:srgbClr val="176240"/>
                </a:solidFill>
                <a:latin typeface="Calibri" pitchFamily="34" charset="0"/>
                <a:ea typeface="Calibri" pitchFamily="34" charset="-122"/>
                <a:cs typeface="Calibri" pitchFamily="34" charset="-120"/>
              </a:rPr>
              <a:t>no penalty</a:t>
            </a:r>
            <a:endParaRPr lang="en-US" sz="1350" dirty="0"/>
          </a:p>
        </p:txBody>
      </p:sp>
      <p:sp>
        <p:nvSpPr>
          <p:cNvPr id="28" name="Shape 26"/>
          <p:cNvSpPr/>
          <p:nvPr/>
        </p:nvSpPr>
        <p:spPr>
          <a:xfrm>
            <a:off x="6571336" y="2907792"/>
            <a:ext cx="4760824" cy="438912"/>
          </a:xfrm>
          <a:prstGeom prst="roundRect">
            <a:avLst>
              <a:gd name="adj" fmla="val 18750"/>
            </a:avLst>
          </a:prstGeom>
          <a:solidFill>
            <a:srgbClr val="FFFFFF"/>
          </a:solidFill>
          <a:ln w="12700">
            <a:solidFill>
              <a:srgbClr val="FFFFFF"/>
            </a:solidFill>
            <a:prstDash val="solid"/>
          </a:ln>
        </p:spPr>
        <p:txBody>
          <a:bodyPr/>
          <a:lstStyle/>
          <a:p>
            <a:endParaRPr lang="en-US"/>
          </a:p>
        </p:txBody>
      </p:sp>
      <p:sp>
        <p:nvSpPr>
          <p:cNvPr id="29" name="Text 27"/>
          <p:cNvSpPr txBox="1"/>
          <p:nvPr/>
        </p:nvSpPr>
        <p:spPr>
          <a:xfrm>
            <a:off x="6781648" y="2907792"/>
            <a:ext cx="3334360" cy="438912"/>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4 absences</a:t>
            </a:r>
            <a:endParaRPr lang="en-US" sz="1350" dirty="0"/>
          </a:p>
        </p:txBody>
      </p:sp>
      <p:sp>
        <p:nvSpPr>
          <p:cNvPr id="30" name="Text 28"/>
          <p:cNvSpPr txBox="1"/>
          <p:nvPr/>
        </p:nvSpPr>
        <p:spPr>
          <a:xfrm>
            <a:off x="9658807" y="2907792"/>
            <a:ext cx="1463040" cy="438912"/>
          </a:xfrm>
          <a:prstGeom prst="rect">
            <a:avLst/>
          </a:prstGeom>
          <a:noFill/>
          <a:ln/>
        </p:spPr>
        <p:txBody>
          <a:bodyPr wrap="square" lIns="0" tIns="0" rIns="0" bIns="0" rtlCol="0" anchor="ctr"/>
          <a:lstStyle/>
          <a:p>
            <a:pPr marL="0" indent="0" algn="r">
              <a:buNone/>
            </a:pPr>
            <a:r>
              <a:rPr lang="en-US" sz="1350" b="1" dirty="0">
                <a:solidFill>
                  <a:srgbClr val="3A536B"/>
                </a:solidFill>
                <a:latin typeface="Calibri" pitchFamily="34" charset="0"/>
                <a:ea typeface="Calibri" pitchFamily="34" charset="-122"/>
                <a:cs typeface="Calibri" pitchFamily="34" charset="-120"/>
              </a:rPr>
              <a:t>−1 point</a:t>
            </a:r>
            <a:endParaRPr lang="en-US" sz="1350" dirty="0"/>
          </a:p>
        </p:txBody>
      </p:sp>
      <p:sp>
        <p:nvSpPr>
          <p:cNvPr id="31" name="Shape 29"/>
          <p:cNvSpPr/>
          <p:nvPr/>
        </p:nvSpPr>
        <p:spPr>
          <a:xfrm>
            <a:off x="6571336" y="3419856"/>
            <a:ext cx="4760824" cy="438912"/>
          </a:xfrm>
          <a:prstGeom prst="roundRect">
            <a:avLst>
              <a:gd name="adj" fmla="val 18750"/>
            </a:avLst>
          </a:prstGeom>
          <a:solidFill>
            <a:srgbClr val="FFFFFF"/>
          </a:solidFill>
          <a:ln w="12700">
            <a:solidFill>
              <a:srgbClr val="FFFFFF"/>
            </a:solidFill>
            <a:prstDash val="solid"/>
          </a:ln>
        </p:spPr>
        <p:txBody>
          <a:bodyPr/>
          <a:lstStyle/>
          <a:p>
            <a:endParaRPr lang="en-US"/>
          </a:p>
        </p:txBody>
      </p:sp>
      <p:sp>
        <p:nvSpPr>
          <p:cNvPr id="32" name="Text 30"/>
          <p:cNvSpPr txBox="1"/>
          <p:nvPr/>
        </p:nvSpPr>
        <p:spPr>
          <a:xfrm>
            <a:off x="6781648" y="3419856"/>
            <a:ext cx="3334360" cy="438912"/>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5 absences</a:t>
            </a:r>
            <a:endParaRPr lang="en-US" sz="1350" dirty="0"/>
          </a:p>
        </p:txBody>
      </p:sp>
      <p:sp>
        <p:nvSpPr>
          <p:cNvPr id="33" name="Text 31"/>
          <p:cNvSpPr txBox="1"/>
          <p:nvPr/>
        </p:nvSpPr>
        <p:spPr>
          <a:xfrm>
            <a:off x="9658807" y="3419856"/>
            <a:ext cx="1463040" cy="438912"/>
          </a:xfrm>
          <a:prstGeom prst="rect">
            <a:avLst/>
          </a:prstGeom>
          <a:noFill/>
          <a:ln/>
        </p:spPr>
        <p:txBody>
          <a:bodyPr wrap="square" lIns="0" tIns="0" rIns="0" bIns="0" rtlCol="0" anchor="ctr"/>
          <a:lstStyle/>
          <a:p>
            <a:pPr marL="0" indent="0" algn="r">
              <a:buNone/>
            </a:pPr>
            <a:r>
              <a:rPr lang="en-US" sz="1350" b="1" dirty="0">
                <a:solidFill>
                  <a:srgbClr val="3A536B"/>
                </a:solidFill>
                <a:latin typeface="Calibri" pitchFamily="34" charset="0"/>
                <a:ea typeface="Calibri" pitchFamily="34" charset="-122"/>
                <a:cs typeface="Calibri" pitchFamily="34" charset="-120"/>
              </a:rPr>
              <a:t>−3 points</a:t>
            </a:r>
            <a:endParaRPr lang="en-US" sz="1350" dirty="0"/>
          </a:p>
        </p:txBody>
      </p:sp>
      <p:sp>
        <p:nvSpPr>
          <p:cNvPr id="34" name="Shape 32"/>
          <p:cNvSpPr/>
          <p:nvPr/>
        </p:nvSpPr>
        <p:spPr>
          <a:xfrm>
            <a:off x="6571336" y="3931920"/>
            <a:ext cx="4760824" cy="438912"/>
          </a:xfrm>
          <a:prstGeom prst="roundRect">
            <a:avLst>
              <a:gd name="adj" fmla="val 18750"/>
            </a:avLst>
          </a:prstGeom>
          <a:solidFill>
            <a:srgbClr val="FFFFFF"/>
          </a:solidFill>
          <a:ln w="12700">
            <a:solidFill>
              <a:srgbClr val="FFFFFF"/>
            </a:solidFill>
            <a:prstDash val="solid"/>
          </a:ln>
        </p:spPr>
        <p:txBody>
          <a:bodyPr/>
          <a:lstStyle/>
          <a:p>
            <a:endParaRPr lang="en-US"/>
          </a:p>
        </p:txBody>
      </p:sp>
      <p:sp>
        <p:nvSpPr>
          <p:cNvPr id="35" name="Text 33"/>
          <p:cNvSpPr txBox="1"/>
          <p:nvPr/>
        </p:nvSpPr>
        <p:spPr>
          <a:xfrm>
            <a:off x="6781648" y="3931920"/>
            <a:ext cx="3334360" cy="438912"/>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6 absences</a:t>
            </a:r>
            <a:endParaRPr lang="en-US" sz="1350" dirty="0"/>
          </a:p>
        </p:txBody>
      </p:sp>
      <p:sp>
        <p:nvSpPr>
          <p:cNvPr id="36" name="Text 34"/>
          <p:cNvSpPr txBox="1"/>
          <p:nvPr/>
        </p:nvSpPr>
        <p:spPr>
          <a:xfrm>
            <a:off x="9658807" y="3931920"/>
            <a:ext cx="1463040" cy="438912"/>
          </a:xfrm>
          <a:prstGeom prst="rect">
            <a:avLst/>
          </a:prstGeom>
          <a:noFill/>
          <a:ln/>
        </p:spPr>
        <p:txBody>
          <a:bodyPr wrap="square" lIns="0" tIns="0" rIns="0" bIns="0" rtlCol="0" anchor="ctr"/>
          <a:lstStyle/>
          <a:p>
            <a:pPr marL="0" indent="0" algn="r">
              <a:buNone/>
            </a:pPr>
            <a:r>
              <a:rPr lang="en-US" sz="1350" b="1" dirty="0">
                <a:solidFill>
                  <a:srgbClr val="9A430A"/>
                </a:solidFill>
                <a:latin typeface="Calibri" pitchFamily="34" charset="0"/>
                <a:ea typeface="Calibri" pitchFamily="34" charset="-122"/>
                <a:cs typeface="Calibri" pitchFamily="34" charset="-120"/>
              </a:rPr>
              <a:t>−6 points</a:t>
            </a:r>
            <a:endParaRPr lang="en-US" sz="1350" dirty="0"/>
          </a:p>
        </p:txBody>
      </p:sp>
      <p:sp>
        <p:nvSpPr>
          <p:cNvPr id="37" name="Shape 35"/>
          <p:cNvSpPr/>
          <p:nvPr/>
        </p:nvSpPr>
        <p:spPr>
          <a:xfrm>
            <a:off x="6571336" y="4443984"/>
            <a:ext cx="4760824" cy="438912"/>
          </a:xfrm>
          <a:prstGeom prst="roundRect">
            <a:avLst>
              <a:gd name="adj" fmla="val 18750"/>
            </a:avLst>
          </a:prstGeom>
          <a:solidFill>
            <a:srgbClr val="FFFFFF"/>
          </a:solidFill>
          <a:ln w="12700">
            <a:solidFill>
              <a:srgbClr val="FFFFFF"/>
            </a:solidFill>
            <a:prstDash val="solid"/>
          </a:ln>
        </p:spPr>
        <p:txBody>
          <a:bodyPr/>
          <a:lstStyle/>
          <a:p>
            <a:endParaRPr lang="en-US"/>
          </a:p>
        </p:txBody>
      </p:sp>
      <p:sp>
        <p:nvSpPr>
          <p:cNvPr id="38" name="Text 36"/>
          <p:cNvSpPr txBox="1"/>
          <p:nvPr/>
        </p:nvSpPr>
        <p:spPr>
          <a:xfrm>
            <a:off x="6781648" y="4443984"/>
            <a:ext cx="3334360" cy="438912"/>
          </a:xfrm>
          <a:prstGeom prst="rect">
            <a:avLst/>
          </a:prstGeom>
          <a:noFill/>
          <a:ln/>
        </p:spPr>
        <p:txBody>
          <a:bodyPr wrap="square" lIns="0" tIns="0" rIns="0" bIns="0" rtlCol="0" anchor="ctr"/>
          <a:lstStyle/>
          <a:p>
            <a:pPr marL="0" indent="0">
              <a:buNone/>
            </a:pPr>
            <a:r>
              <a:rPr lang="en-US" sz="1350" dirty="0">
                <a:solidFill>
                  <a:srgbClr val="0F2942"/>
                </a:solidFill>
                <a:latin typeface="Calibri" pitchFamily="34" charset="0"/>
                <a:ea typeface="Calibri" pitchFamily="34" charset="-122"/>
                <a:cs typeface="Calibri" pitchFamily="34" charset="-120"/>
              </a:rPr>
              <a:t>7 or more</a:t>
            </a:r>
            <a:endParaRPr lang="en-US" sz="1350" dirty="0"/>
          </a:p>
        </p:txBody>
      </p:sp>
      <p:sp>
        <p:nvSpPr>
          <p:cNvPr id="39" name="Text 37"/>
          <p:cNvSpPr txBox="1"/>
          <p:nvPr/>
        </p:nvSpPr>
        <p:spPr>
          <a:xfrm>
            <a:off x="9658807" y="4443984"/>
            <a:ext cx="1463040" cy="438912"/>
          </a:xfrm>
          <a:prstGeom prst="rect">
            <a:avLst/>
          </a:prstGeom>
          <a:noFill/>
          <a:ln/>
        </p:spPr>
        <p:txBody>
          <a:bodyPr wrap="square" lIns="0" tIns="0" rIns="0" bIns="0" rtlCol="0" anchor="ctr"/>
          <a:lstStyle/>
          <a:p>
            <a:pPr marL="0" indent="0" algn="r">
              <a:buNone/>
            </a:pPr>
            <a:r>
              <a:rPr lang="en-US" sz="1350" b="1" dirty="0">
                <a:solidFill>
                  <a:srgbClr val="9C241C"/>
                </a:solidFill>
                <a:latin typeface="Calibri" pitchFamily="34" charset="0"/>
                <a:ea typeface="Calibri" pitchFamily="34" charset="-122"/>
                <a:cs typeface="Calibri" pitchFamily="34" charset="-120"/>
              </a:rPr>
              <a:t>automatic F</a:t>
            </a:r>
            <a:endParaRPr lang="en-US" sz="1350" dirty="0"/>
          </a:p>
        </p:txBody>
      </p:sp>
      <p:sp>
        <p:nvSpPr>
          <p:cNvPr id="40" name="Text 38"/>
          <p:cNvSpPr txBox="1"/>
          <p:nvPr/>
        </p:nvSpPr>
        <p:spPr>
          <a:xfrm>
            <a:off x="6571336" y="5084064"/>
            <a:ext cx="4760824" cy="731520"/>
          </a:xfrm>
          <a:prstGeom prst="rect">
            <a:avLst/>
          </a:prstGeom>
          <a:noFill/>
          <a:ln/>
        </p:spPr>
        <p:txBody>
          <a:bodyPr wrap="square" lIns="0" tIns="0" rIns="0" bIns="0" rtlCol="0" anchor="t"/>
          <a:lstStyle/>
          <a:p>
            <a:pPr marL="0" indent="0">
              <a:buNone/>
            </a:pPr>
            <a:r>
              <a:rPr lang="en-US" sz="1150" i="1" dirty="0">
                <a:solidFill>
                  <a:srgbClr val="9C241C"/>
                </a:solidFill>
                <a:latin typeface="Calibri" pitchFamily="34" charset="0"/>
                <a:ea typeface="Calibri" pitchFamily="34" charset="-122"/>
                <a:cs typeface="Calibri" pitchFamily="34" charset="-120"/>
              </a:rPr>
              <a:t>Miss 25% or more of the course and you are withdrawn — even when the absences are excused.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POLICIES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The Rest of the Syllabus in One Slide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Full text on Canvas. Read it — none of this is negotiable once it bites.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66928" y="1536192"/>
            <a:ext cx="3551834" cy="1572768"/>
          </a:xfrm>
          <a:prstGeom prst="roundRect">
            <a:avLst>
              <a:gd name="adj" fmla="val 5233"/>
            </a:avLst>
          </a:prstGeom>
          <a:solidFill>
            <a:srgbClr val="F1F5F9"/>
          </a:solidFill>
          <a:ln w="12700">
            <a:solidFill>
              <a:srgbClr val="F1F5F9"/>
            </a:solidFill>
            <a:prstDash val="solid"/>
          </a:ln>
        </p:spPr>
        <p:txBody>
          <a:bodyPr/>
          <a:lstStyle/>
          <a:p>
            <a:endParaRPr lang="en-US"/>
          </a:p>
        </p:txBody>
      </p:sp>
      <p:sp>
        <p:nvSpPr>
          <p:cNvPr id="8" name="Text 6"/>
          <p:cNvSpPr txBox="1"/>
          <p:nvPr/>
        </p:nvSpPr>
        <p:spPr>
          <a:xfrm>
            <a:off x="786384" y="1700784"/>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Academic integrity</a:t>
            </a:r>
            <a:endParaRPr lang="en-US" sz="1450" dirty="0"/>
          </a:p>
        </p:txBody>
      </p:sp>
      <p:sp>
        <p:nvSpPr>
          <p:cNvPr id="9" name="Text 7"/>
          <p:cNvSpPr txBox="1"/>
          <p:nvPr/>
        </p:nvSpPr>
        <p:spPr>
          <a:xfrm>
            <a:off x="786384" y="2029968"/>
            <a:ext cx="3112922" cy="950976"/>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Plagiarism includes uncited AI-generated text. Minor: −5%. Major or repeat: F and a report to the Dean. Fabricated data, reused work and cheating all mean exclusion from the course.</a:t>
            </a:r>
            <a:endParaRPr lang="en-US" sz="1150" dirty="0"/>
          </a:p>
        </p:txBody>
      </p:sp>
      <p:sp>
        <p:nvSpPr>
          <p:cNvPr id="10" name="Shape 8"/>
          <p:cNvSpPr/>
          <p:nvPr/>
        </p:nvSpPr>
        <p:spPr>
          <a:xfrm>
            <a:off x="4319930" y="1536192"/>
            <a:ext cx="3551834" cy="1572768"/>
          </a:xfrm>
          <a:prstGeom prst="roundRect">
            <a:avLst>
              <a:gd name="adj" fmla="val 5233"/>
            </a:avLst>
          </a:prstGeom>
          <a:solidFill>
            <a:srgbClr val="FFFFFF"/>
          </a:solidFill>
          <a:ln w="12700">
            <a:solidFill>
              <a:srgbClr val="D3DEE7"/>
            </a:solidFill>
            <a:prstDash val="solid"/>
          </a:ln>
        </p:spPr>
        <p:txBody>
          <a:bodyPr/>
          <a:lstStyle/>
          <a:p>
            <a:endParaRPr lang="en-US"/>
          </a:p>
        </p:txBody>
      </p:sp>
      <p:sp>
        <p:nvSpPr>
          <p:cNvPr id="11" name="Text 9"/>
          <p:cNvSpPr txBox="1"/>
          <p:nvPr/>
        </p:nvSpPr>
        <p:spPr>
          <a:xfrm>
            <a:off x="4539386" y="1700784"/>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Late submissions</a:t>
            </a:r>
            <a:endParaRPr lang="en-US" sz="1450" dirty="0"/>
          </a:p>
        </p:txBody>
      </p:sp>
      <p:sp>
        <p:nvSpPr>
          <p:cNvPr id="12" name="Text 10"/>
          <p:cNvSpPr txBox="1"/>
          <p:nvPr/>
        </p:nvSpPr>
        <p:spPr>
          <a:xfrm>
            <a:off x="4539386" y="2029968"/>
            <a:ext cx="3112922" cy="950976"/>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0–24 h: −10%.  24–48 h: −20%.  48–72 h: −30%.  Beyond 72 h: zero. Final-exam work is never accepted late.</a:t>
            </a:r>
            <a:endParaRPr lang="en-US" sz="1150" dirty="0"/>
          </a:p>
        </p:txBody>
      </p:sp>
      <p:sp>
        <p:nvSpPr>
          <p:cNvPr id="13" name="Shape 11"/>
          <p:cNvSpPr/>
          <p:nvPr/>
        </p:nvSpPr>
        <p:spPr>
          <a:xfrm>
            <a:off x="8072933" y="1536192"/>
            <a:ext cx="3551834" cy="1572768"/>
          </a:xfrm>
          <a:prstGeom prst="roundRect">
            <a:avLst>
              <a:gd name="adj" fmla="val 5233"/>
            </a:avLst>
          </a:prstGeom>
          <a:solidFill>
            <a:srgbClr val="F1F5F9"/>
          </a:solidFill>
          <a:ln w="12700">
            <a:solidFill>
              <a:srgbClr val="F1F5F9"/>
            </a:solidFill>
            <a:prstDash val="solid"/>
          </a:ln>
        </p:spPr>
        <p:txBody>
          <a:bodyPr/>
          <a:lstStyle/>
          <a:p>
            <a:endParaRPr lang="en-US"/>
          </a:p>
        </p:txBody>
      </p:sp>
      <p:sp>
        <p:nvSpPr>
          <p:cNvPr id="14" name="Text 12"/>
          <p:cNvSpPr txBox="1"/>
          <p:nvPr/>
        </p:nvSpPr>
        <p:spPr>
          <a:xfrm>
            <a:off x="8292389" y="1700784"/>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Rescheduling assessments</a:t>
            </a:r>
            <a:endParaRPr lang="en-US" sz="1450" dirty="0"/>
          </a:p>
        </p:txBody>
      </p:sp>
      <p:sp>
        <p:nvSpPr>
          <p:cNvPr id="15" name="Text 13"/>
          <p:cNvSpPr txBox="1"/>
          <p:nvPr/>
        </p:nvSpPr>
        <p:spPr>
          <a:xfrm>
            <a:off x="8292389" y="2029968"/>
            <a:ext cx="3112922" cy="950976"/>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Only for documented medical or serious reasons, and you must tell me in advance. Co-curricular activities do not qualify.</a:t>
            </a:r>
            <a:endParaRPr lang="en-US" sz="1150" dirty="0"/>
          </a:p>
        </p:txBody>
      </p:sp>
      <p:sp>
        <p:nvSpPr>
          <p:cNvPr id="16" name="Shape 14"/>
          <p:cNvSpPr/>
          <p:nvPr/>
        </p:nvSpPr>
        <p:spPr>
          <a:xfrm>
            <a:off x="566928" y="3328416"/>
            <a:ext cx="3551834" cy="1572768"/>
          </a:xfrm>
          <a:prstGeom prst="roundRect">
            <a:avLst>
              <a:gd name="adj" fmla="val 5233"/>
            </a:avLst>
          </a:prstGeom>
          <a:solidFill>
            <a:srgbClr val="FFFFFF"/>
          </a:solidFill>
          <a:ln w="12700">
            <a:solidFill>
              <a:srgbClr val="D3DEE7"/>
            </a:solidFill>
            <a:prstDash val="solid"/>
          </a:ln>
        </p:spPr>
        <p:txBody>
          <a:bodyPr/>
          <a:lstStyle/>
          <a:p>
            <a:endParaRPr lang="en-US"/>
          </a:p>
        </p:txBody>
      </p:sp>
      <p:sp>
        <p:nvSpPr>
          <p:cNvPr id="17" name="Text 15"/>
          <p:cNvSpPr txBox="1"/>
          <p:nvPr/>
        </p:nvSpPr>
        <p:spPr>
          <a:xfrm>
            <a:off x="786384" y="3493008"/>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Conduct and devices</a:t>
            </a:r>
            <a:endParaRPr lang="en-US" sz="1450" dirty="0"/>
          </a:p>
        </p:txBody>
      </p:sp>
      <p:sp>
        <p:nvSpPr>
          <p:cNvPr id="18" name="Text 16"/>
          <p:cNvSpPr txBox="1"/>
          <p:nvPr/>
        </p:nvSpPr>
        <p:spPr>
          <a:xfrm>
            <a:off x="786384" y="3822192"/>
            <a:ext cx="3112922" cy="950976"/>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Phones out of sight unless I say otherwise. Stay for the full 80 minutes. Disruptive behaviour: warning, then removal.</a:t>
            </a:r>
            <a:endParaRPr lang="en-US" sz="1150" dirty="0"/>
          </a:p>
        </p:txBody>
      </p:sp>
      <p:sp>
        <p:nvSpPr>
          <p:cNvPr id="19" name="Shape 17"/>
          <p:cNvSpPr/>
          <p:nvPr/>
        </p:nvSpPr>
        <p:spPr>
          <a:xfrm>
            <a:off x="4319930" y="3328416"/>
            <a:ext cx="3551834" cy="1572768"/>
          </a:xfrm>
          <a:prstGeom prst="roundRect">
            <a:avLst>
              <a:gd name="adj" fmla="val 5233"/>
            </a:avLst>
          </a:prstGeom>
          <a:solidFill>
            <a:srgbClr val="F1F5F9"/>
          </a:solidFill>
          <a:ln w="12700">
            <a:solidFill>
              <a:srgbClr val="F1F5F9"/>
            </a:solidFill>
            <a:prstDash val="solid"/>
          </a:ln>
        </p:spPr>
        <p:txBody>
          <a:bodyPr/>
          <a:lstStyle/>
          <a:p>
            <a:endParaRPr lang="en-US"/>
          </a:p>
        </p:txBody>
      </p:sp>
      <p:sp>
        <p:nvSpPr>
          <p:cNvPr id="20" name="Text 18"/>
          <p:cNvSpPr txBox="1"/>
          <p:nvPr/>
        </p:nvSpPr>
        <p:spPr>
          <a:xfrm>
            <a:off x="4539386" y="3493008"/>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Recordings and IP</a:t>
            </a:r>
            <a:endParaRPr lang="en-US" sz="1450" dirty="0"/>
          </a:p>
        </p:txBody>
      </p:sp>
      <p:sp>
        <p:nvSpPr>
          <p:cNvPr id="21" name="Text 19"/>
          <p:cNvSpPr txBox="1"/>
          <p:nvPr/>
        </p:nvSpPr>
        <p:spPr>
          <a:xfrm>
            <a:off x="4539386" y="3822192"/>
            <a:ext cx="3112922" cy="950976"/>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Slides, recordings and materials are the instructor's property. Sharing them outside Canvas or Zoom is an integrity violation.</a:t>
            </a:r>
            <a:endParaRPr lang="en-US" sz="1150" dirty="0"/>
          </a:p>
        </p:txBody>
      </p:sp>
      <p:sp>
        <p:nvSpPr>
          <p:cNvPr id="22" name="Shape 20"/>
          <p:cNvSpPr/>
          <p:nvPr/>
        </p:nvSpPr>
        <p:spPr>
          <a:xfrm>
            <a:off x="8072933" y="3328416"/>
            <a:ext cx="3551834" cy="1572768"/>
          </a:xfrm>
          <a:prstGeom prst="roundRect">
            <a:avLst>
              <a:gd name="adj" fmla="val 5233"/>
            </a:avLst>
          </a:prstGeom>
          <a:solidFill>
            <a:srgbClr val="FFFFFF"/>
          </a:solidFill>
          <a:ln w="12700">
            <a:solidFill>
              <a:srgbClr val="D3DEE7"/>
            </a:solidFill>
            <a:prstDash val="solid"/>
          </a:ln>
        </p:spPr>
        <p:txBody>
          <a:bodyPr/>
          <a:lstStyle/>
          <a:p>
            <a:endParaRPr lang="en-US"/>
          </a:p>
        </p:txBody>
      </p:sp>
      <p:sp>
        <p:nvSpPr>
          <p:cNvPr id="23" name="Text 21"/>
          <p:cNvSpPr txBox="1"/>
          <p:nvPr/>
        </p:nvSpPr>
        <p:spPr>
          <a:xfrm>
            <a:off x="8292389" y="3493008"/>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No extra credit</a:t>
            </a:r>
            <a:endParaRPr lang="en-US" sz="1450" dirty="0"/>
          </a:p>
        </p:txBody>
      </p:sp>
      <p:sp>
        <p:nvSpPr>
          <p:cNvPr id="24" name="Text 22"/>
          <p:cNvSpPr txBox="1"/>
          <p:nvPr/>
        </p:nvSpPr>
        <p:spPr>
          <a:xfrm>
            <a:off x="8292389" y="3822192"/>
            <a:ext cx="3112922" cy="950976"/>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Grades come only from the components listed in the syllabus. Do not ask to retake an assessment or for a discretionary change.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RESOURCES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Textbooks, Canvas and Your Toolchain</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66928" y="1261872"/>
            <a:ext cx="5346040" cy="4206240"/>
          </a:xfrm>
          <a:prstGeom prst="roundRect">
            <a:avLst>
              <a:gd name="adj" fmla="val 1957"/>
            </a:avLst>
          </a:prstGeom>
          <a:solidFill>
            <a:srgbClr val="F1F5F9"/>
          </a:solidFill>
          <a:ln w="12700">
            <a:solidFill>
              <a:srgbClr val="F1F5F9"/>
            </a:solidFill>
            <a:prstDash val="solid"/>
          </a:ln>
        </p:spPr>
        <p:txBody>
          <a:bodyPr/>
          <a:lstStyle/>
          <a:p>
            <a:endParaRPr lang="en-US"/>
          </a:p>
        </p:txBody>
      </p:sp>
      <p:sp>
        <p:nvSpPr>
          <p:cNvPr id="7" name="Text 5"/>
          <p:cNvSpPr txBox="1"/>
          <p:nvPr/>
        </p:nvSpPr>
        <p:spPr>
          <a:xfrm>
            <a:off x="859536" y="1499616"/>
            <a:ext cx="4760824"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Recommended reading</a:t>
            </a:r>
            <a:endParaRPr lang="en-US" sz="1700" dirty="0"/>
          </a:p>
        </p:txBody>
      </p:sp>
      <p:sp>
        <p:nvSpPr>
          <p:cNvPr id="8" name="Shape 6"/>
          <p:cNvSpPr/>
          <p:nvPr/>
        </p:nvSpPr>
        <p:spPr>
          <a:xfrm>
            <a:off x="859536" y="1947672"/>
            <a:ext cx="4760824" cy="1024128"/>
          </a:xfrm>
          <a:prstGeom prst="roundRect">
            <a:avLst>
              <a:gd name="adj" fmla="val 8036"/>
            </a:avLst>
          </a:prstGeom>
          <a:solidFill>
            <a:srgbClr val="FFFFFF"/>
          </a:solidFill>
          <a:ln w="12700">
            <a:solidFill>
              <a:srgbClr val="FFFFFF"/>
            </a:solidFill>
            <a:prstDash val="solid"/>
          </a:ln>
        </p:spPr>
        <p:txBody>
          <a:bodyPr/>
          <a:lstStyle/>
          <a:p>
            <a:endParaRPr lang="en-US"/>
          </a:p>
        </p:txBody>
      </p:sp>
      <p:sp>
        <p:nvSpPr>
          <p:cNvPr id="9" name="Text 7"/>
          <p:cNvSpPr txBox="1"/>
          <p:nvPr/>
        </p:nvSpPr>
        <p:spPr>
          <a:xfrm>
            <a:off x="1060704" y="2066544"/>
            <a:ext cx="4340200" cy="201168"/>
          </a:xfrm>
          <a:prstGeom prst="rect">
            <a:avLst/>
          </a:prstGeom>
          <a:noFill/>
          <a:ln/>
        </p:spPr>
        <p:txBody>
          <a:bodyPr wrap="square" lIns="0" tIns="0" rIns="0" bIns="0" rtlCol="0" anchor="ctr"/>
          <a:lstStyle/>
          <a:p>
            <a:pPr marL="0" indent="0">
              <a:buNone/>
            </a:pPr>
            <a:r>
              <a:rPr lang="en-US" sz="900" b="1" kern="0" spc="120" dirty="0">
                <a:solidFill>
                  <a:srgbClr val="9A430A"/>
                </a:solidFill>
                <a:latin typeface="Calibri" pitchFamily="34" charset="0"/>
                <a:ea typeface="Calibri" pitchFamily="34" charset="-122"/>
                <a:cs typeface="Calibri" pitchFamily="34" charset="-120"/>
              </a:rPr>
              <a:t>PRIMARY</a:t>
            </a:r>
            <a:endParaRPr lang="en-US" sz="900" dirty="0"/>
          </a:p>
        </p:txBody>
      </p:sp>
      <p:sp>
        <p:nvSpPr>
          <p:cNvPr id="10" name="Text 8"/>
          <p:cNvSpPr txBox="1"/>
          <p:nvPr/>
        </p:nvSpPr>
        <p:spPr>
          <a:xfrm>
            <a:off x="1060704" y="2276856"/>
            <a:ext cx="4340200" cy="530352"/>
          </a:xfrm>
          <a:prstGeom prst="rect">
            <a:avLst/>
          </a:prstGeom>
          <a:noFill/>
          <a:ln/>
        </p:spPr>
        <p:txBody>
          <a:bodyPr wrap="square" lIns="0" tIns="0" rIns="0" bIns="0" rtlCol="0" anchor="t"/>
          <a:lstStyle/>
          <a:p>
            <a:pPr marL="0" indent="0">
              <a:buNone/>
            </a:pPr>
            <a:r>
              <a:rPr lang="en-US" sz="1200" dirty="0">
                <a:solidFill>
                  <a:srgbClr val="0F2942"/>
                </a:solidFill>
                <a:latin typeface="Calibri" pitchFamily="34" charset="0"/>
                <a:ea typeface="Calibri" pitchFamily="34" charset="-122"/>
                <a:cs typeface="Calibri" pitchFamily="34" charset="-120"/>
              </a:rPr>
              <a:t>Liang, Y. D. — Introduction to Java Programming and Data Structures, Comprehensive Version, 13th ed., Pearson, 2024.</a:t>
            </a:r>
            <a:endParaRPr lang="en-US" sz="1200" dirty="0"/>
          </a:p>
        </p:txBody>
      </p:sp>
      <p:sp>
        <p:nvSpPr>
          <p:cNvPr id="11" name="Shape 9"/>
          <p:cNvSpPr/>
          <p:nvPr/>
        </p:nvSpPr>
        <p:spPr>
          <a:xfrm>
            <a:off x="859536" y="3081528"/>
            <a:ext cx="4760824" cy="1024128"/>
          </a:xfrm>
          <a:prstGeom prst="roundRect">
            <a:avLst>
              <a:gd name="adj" fmla="val 8036"/>
            </a:avLst>
          </a:prstGeom>
          <a:solidFill>
            <a:srgbClr val="FFFFFF"/>
          </a:solidFill>
          <a:ln w="12700">
            <a:solidFill>
              <a:srgbClr val="FFFFFF"/>
            </a:solidFill>
            <a:prstDash val="solid"/>
          </a:ln>
        </p:spPr>
        <p:txBody>
          <a:bodyPr/>
          <a:lstStyle/>
          <a:p>
            <a:endParaRPr lang="en-US"/>
          </a:p>
        </p:txBody>
      </p:sp>
      <p:sp>
        <p:nvSpPr>
          <p:cNvPr id="12" name="Text 10"/>
          <p:cNvSpPr txBox="1"/>
          <p:nvPr/>
        </p:nvSpPr>
        <p:spPr>
          <a:xfrm>
            <a:off x="1060704" y="3200400"/>
            <a:ext cx="4340200" cy="201168"/>
          </a:xfrm>
          <a:prstGeom prst="rect">
            <a:avLst/>
          </a:prstGeom>
          <a:noFill/>
          <a:ln/>
        </p:spPr>
        <p:txBody>
          <a:bodyPr wrap="square" lIns="0" tIns="0" rIns="0" bIns="0" rtlCol="0" anchor="ctr"/>
          <a:lstStyle/>
          <a:p>
            <a:pPr marL="0" indent="0">
              <a:buNone/>
            </a:pPr>
            <a:r>
              <a:rPr lang="en-US" sz="900" b="1" kern="0" spc="120" dirty="0">
                <a:solidFill>
                  <a:srgbClr val="4B6377"/>
                </a:solidFill>
                <a:latin typeface="Calibri" pitchFamily="34" charset="0"/>
                <a:ea typeface="Calibri" pitchFamily="34" charset="-122"/>
                <a:cs typeface="Calibri" pitchFamily="34" charset="-120"/>
              </a:rPr>
              <a:t>SUPPLEMENTARY</a:t>
            </a:r>
            <a:endParaRPr lang="en-US" sz="900" dirty="0"/>
          </a:p>
        </p:txBody>
      </p:sp>
      <p:sp>
        <p:nvSpPr>
          <p:cNvPr id="13" name="Text 11"/>
          <p:cNvSpPr txBox="1"/>
          <p:nvPr/>
        </p:nvSpPr>
        <p:spPr>
          <a:xfrm>
            <a:off x="1060704" y="3410712"/>
            <a:ext cx="4340200" cy="530352"/>
          </a:xfrm>
          <a:prstGeom prst="rect">
            <a:avLst/>
          </a:prstGeom>
          <a:noFill/>
          <a:ln/>
        </p:spPr>
        <p:txBody>
          <a:bodyPr wrap="square" lIns="0" tIns="0" rIns="0" bIns="0" rtlCol="0" anchor="t"/>
          <a:lstStyle/>
          <a:p>
            <a:pPr marL="0" indent="0">
              <a:buNone/>
            </a:pPr>
            <a:r>
              <a:rPr lang="en-US" sz="1200" dirty="0">
                <a:solidFill>
                  <a:srgbClr val="0F2942"/>
                </a:solidFill>
                <a:latin typeface="Calibri" pitchFamily="34" charset="0"/>
                <a:ea typeface="Calibri" pitchFamily="34" charset="-122"/>
                <a:cs typeface="Calibri" pitchFamily="34" charset="-120"/>
              </a:rPr>
              <a:t>Gaddis, T. — Starting Out with Java: From Control Structures through Objects, 8th ed., Pearson, 2024.</a:t>
            </a:r>
            <a:endParaRPr lang="en-US" sz="1200" dirty="0"/>
          </a:p>
        </p:txBody>
      </p:sp>
      <p:sp>
        <p:nvSpPr>
          <p:cNvPr id="14" name="Shape 12"/>
          <p:cNvSpPr/>
          <p:nvPr/>
        </p:nvSpPr>
        <p:spPr>
          <a:xfrm>
            <a:off x="859536" y="4215384"/>
            <a:ext cx="4760824" cy="1024128"/>
          </a:xfrm>
          <a:prstGeom prst="roundRect">
            <a:avLst>
              <a:gd name="adj" fmla="val 8036"/>
            </a:avLst>
          </a:prstGeom>
          <a:solidFill>
            <a:srgbClr val="FFFFFF"/>
          </a:solidFill>
          <a:ln w="12700">
            <a:solidFill>
              <a:srgbClr val="FFFFFF"/>
            </a:solidFill>
            <a:prstDash val="solid"/>
          </a:ln>
        </p:spPr>
        <p:txBody>
          <a:bodyPr/>
          <a:lstStyle/>
          <a:p>
            <a:endParaRPr lang="en-US"/>
          </a:p>
        </p:txBody>
      </p:sp>
      <p:sp>
        <p:nvSpPr>
          <p:cNvPr id="15" name="Text 13"/>
          <p:cNvSpPr txBox="1"/>
          <p:nvPr/>
        </p:nvSpPr>
        <p:spPr>
          <a:xfrm>
            <a:off x="1060704" y="4334256"/>
            <a:ext cx="4340200" cy="201168"/>
          </a:xfrm>
          <a:prstGeom prst="rect">
            <a:avLst/>
          </a:prstGeom>
          <a:noFill/>
          <a:ln/>
        </p:spPr>
        <p:txBody>
          <a:bodyPr wrap="square" lIns="0" tIns="0" rIns="0" bIns="0" rtlCol="0" anchor="ctr"/>
          <a:lstStyle/>
          <a:p>
            <a:pPr marL="0" indent="0">
              <a:buNone/>
            </a:pPr>
            <a:r>
              <a:rPr lang="en-US" sz="900" b="1" kern="0" spc="120" dirty="0">
                <a:solidFill>
                  <a:srgbClr val="4B6377"/>
                </a:solidFill>
                <a:latin typeface="Calibri" pitchFamily="34" charset="0"/>
                <a:ea typeface="Calibri" pitchFamily="34" charset="-122"/>
                <a:cs typeface="Calibri" pitchFamily="34" charset="-120"/>
              </a:rPr>
              <a:t>SUPPLEMENTARY</a:t>
            </a:r>
            <a:endParaRPr lang="en-US" sz="900" dirty="0"/>
          </a:p>
        </p:txBody>
      </p:sp>
      <p:sp>
        <p:nvSpPr>
          <p:cNvPr id="16" name="Text 14"/>
          <p:cNvSpPr txBox="1"/>
          <p:nvPr/>
        </p:nvSpPr>
        <p:spPr>
          <a:xfrm>
            <a:off x="1060704" y="4544568"/>
            <a:ext cx="4340200" cy="530352"/>
          </a:xfrm>
          <a:prstGeom prst="rect">
            <a:avLst/>
          </a:prstGeom>
          <a:noFill/>
          <a:ln/>
        </p:spPr>
        <p:txBody>
          <a:bodyPr wrap="square" lIns="0" tIns="0" rIns="0" bIns="0" rtlCol="0" anchor="t"/>
          <a:lstStyle/>
          <a:p>
            <a:pPr marL="0" indent="0">
              <a:buNone/>
            </a:pPr>
            <a:r>
              <a:rPr lang="en-US" sz="1200" dirty="0">
                <a:solidFill>
                  <a:srgbClr val="0F2942"/>
                </a:solidFill>
                <a:latin typeface="Calibri" pitchFamily="34" charset="0"/>
                <a:ea typeface="Calibri" pitchFamily="34" charset="-122"/>
                <a:cs typeface="Calibri" pitchFamily="34" charset="-120"/>
              </a:rPr>
              <a:t>Farrell, J. — Java Programming, 10th ed., Cengage, 2023.</a:t>
            </a:r>
            <a:endParaRPr lang="en-US" sz="1200" dirty="0"/>
          </a:p>
        </p:txBody>
      </p:sp>
      <p:sp>
        <p:nvSpPr>
          <p:cNvPr id="17" name="Shape 15"/>
          <p:cNvSpPr/>
          <p:nvPr/>
        </p:nvSpPr>
        <p:spPr>
          <a:xfrm>
            <a:off x="6278728" y="1261872"/>
            <a:ext cx="5346040" cy="4206240"/>
          </a:xfrm>
          <a:prstGeom prst="roundRect">
            <a:avLst>
              <a:gd name="adj" fmla="val 1957"/>
            </a:avLst>
          </a:prstGeom>
          <a:solidFill>
            <a:srgbClr val="E4ECF4"/>
          </a:solidFill>
          <a:ln w="12700">
            <a:solidFill>
              <a:srgbClr val="E4ECF4"/>
            </a:solidFill>
            <a:prstDash val="solid"/>
          </a:ln>
        </p:spPr>
        <p:txBody>
          <a:bodyPr/>
          <a:lstStyle/>
          <a:p>
            <a:endParaRPr lang="en-US"/>
          </a:p>
        </p:txBody>
      </p:sp>
      <p:sp>
        <p:nvSpPr>
          <p:cNvPr id="18" name="Text 16"/>
          <p:cNvSpPr txBox="1"/>
          <p:nvPr/>
        </p:nvSpPr>
        <p:spPr>
          <a:xfrm>
            <a:off x="6571336" y="1499616"/>
            <a:ext cx="4760824"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What to install this week</a:t>
            </a:r>
            <a:endParaRPr lang="en-US" sz="1700" dirty="0"/>
          </a:p>
        </p:txBody>
      </p:sp>
      <p:sp>
        <p:nvSpPr>
          <p:cNvPr id="19" name="Shape 17"/>
          <p:cNvSpPr/>
          <p:nvPr/>
        </p:nvSpPr>
        <p:spPr>
          <a:xfrm>
            <a:off x="6571336" y="2020824"/>
            <a:ext cx="365760" cy="365760"/>
          </a:xfrm>
          <a:prstGeom prst="ellipse">
            <a:avLst/>
          </a:prstGeom>
          <a:solidFill>
            <a:srgbClr val="C4560C"/>
          </a:solidFill>
          <a:ln w="12700">
            <a:solidFill>
              <a:srgbClr val="C4560C"/>
            </a:solidFill>
            <a:prstDash val="solid"/>
          </a:ln>
        </p:spPr>
        <p:txBody>
          <a:bodyPr/>
          <a:lstStyle/>
          <a:p>
            <a:endParaRPr lang="en-US"/>
          </a:p>
        </p:txBody>
      </p:sp>
      <p:sp>
        <p:nvSpPr>
          <p:cNvPr id="20" name="Text 18"/>
          <p:cNvSpPr txBox="1"/>
          <p:nvPr/>
        </p:nvSpPr>
        <p:spPr>
          <a:xfrm>
            <a:off x="6571336" y="20208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9"/>
          <p:cNvSpPr txBox="1"/>
          <p:nvPr/>
        </p:nvSpPr>
        <p:spPr>
          <a:xfrm>
            <a:off x="7083400" y="1947672"/>
            <a:ext cx="4248760" cy="292608"/>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JDK 25 (LTS)</a:t>
            </a:r>
            <a:endParaRPr lang="en-US" sz="1450" dirty="0"/>
          </a:p>
        </p:txBody>
      </p:sp>
      <p:sp>
        <p:nvSpPr>
          <p:cNvPr id="22" name="Text 20"/>
          <p:cNvSpPr txBox="1"/>
          <p:nvPr/>
        </p:nvSpPr>
        <p:spPr>
          <a:xfrm>
            <a:off x="7083400" y="2240280"/>
            <a:ext cx="4248760" cy="77724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The course baseline. Download from oracle.com/java or use an OpenJDK build such as Eclipse Temurin.</a:t>
            </a:r>
            <a:endParaRPr lang="en-US" sz="1150" dirty="0"/>
          </a:p>
        </p:txBody>
      </p:sp>
      <p:sp>
        <p:nvSpPr>
          <p:cNvPr id="23" name="Shape 21"/>
          <p:cNvSpPr/>
          <p:nvPr/>
        </p:nvSpPr>
        <p:spPr>
          <a:xfrm>
            <a:off x="6571336" y="3163824"/>
            <a:ext cx="365760" cy="365760"/>
          </a:xfrm>
          <a:prstGeom prst="ellipse">
            <a:avLst/>
          </a:prstGeom>
          <a:solidFill>
            <a:srgbClr val="C4560C"/>
          </a:solidFill>
          <a:ln w="12700">
            <a:solidFill>
              <a:srgbClr val="C4560C"/>
            </a:solidFill>
            <a:prstDash val="solid"/>
          </a:ln>
        </p:spPr>
        <p:txBody>
          <a:bodyPr/>
          <a:lstStyle/>
          <a:p>
            <a:endParaRPr lang="en-US"/>
          </a:p>
        </p:txBody>
      </p:sp>
      <p:sp>
        <p:nvSpPr>
          <p:cNvPr id="24" name="Text 22"/>
          <p:cNvSpPr txBox="1"/>
          <p:nvPr/>
        </p:nvSpPr>
        <p:spPr>
          <a:xfrm>
            <a:off x="6571336" y="31638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3"/>
          <p:cNvSpPr txBox="1"/>
          <p:nvPr/>
        </p:nvSpPr>
        <p:spPr>
          <a:xfrm>
            <a:off x="7083400" y="3090672"/>
            <a:ext cx="4248760" cy="292608"/>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IntelliJ IDEA</a:t>
            </a:r>
            <a:endParaRPr lang="en-US" sz="1450" dirty="0"/>
          </a:p>
        </p:txBody>
      </p:sp>
      <p:sp>
        <p:nvSpPr>
          <p:cNvPr id="26" name="Text 24"/>
          <p:cNvSpPr txBox="1"/>
          <p:nvPr/>
        </p:nvSpPr>
        <p:spPr>
          <a:xfrm>
            <a:off x="7083400" y="3383280"/>
            <a:ext cx="4248760" cy="77724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Apply with your AUBG email to the JetBrains Student Pack for a free Ultimate licence.</a:t>
            </a:r>
            <a:endParaRPr lang="en-US" sz="1150" dirty="0"/>
          </a:p>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jetbrains.com/academy/student-pack</a:t>
            </a:r>
            <a:endParaRPr lang="en-US" sz="1150" dirty="0"/>
          </a:p>
        </p:txBody>
      </p:sp>
      <p:sp>
        <p:nvSpPr>
          <p:cNvPr id="27" name="Shape 25"/>
          <p:cNvSpPr/>
          <p:nvPr/>
        </p:nvSpPr>
        <p:spPr>
          <a:xfrm>
            <a:off x="6571336" y="4306824"/>
            <a:ext cx="365760" cy="365760"/>
          </a:xfrm>
          <a:prstGeom prst="ellipse">
            <a:avLst/>
          </a:prstGeom>
          <a:solidFill>
            <a:srgbClr val="C4560C"/>
          </a:solidFill>
          <a:ln w="12700">
            <a:solidFill>
              <a:srgbClr val="C4560C"/>
            </a:solidFill>
            <a:prstDash val="solid"/>
          </a:ln>
        </p:spPr>
        <p:txBody>
          <a:bodyPr/>
          <a:lstStyle/>
          <a:p>
            <a:endParaRPr lang="en-US"/>
          </a:p>
        </p:txBody>
      </p:sp>
      <p:sp>
        <p:nvSpPr>
          <p:cNvPr id="28" name="Text 26"/>
          <p:cNvSpPr txBox="1"/>
          <p:nvPr/>
        </p:nvSpPr>
        <p:spPr>
          <a:xfrm>
            <a:off x="6571336" y="43068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7"/>
          <p:cNvSpPr txBox="1"/>
          <p:nvPr/>
        </p:nvSpPr>
        <p:spPr>
          <a:xfrm>
            <a:off x="7083400" y="4233672"/>
            <a:ext cx="4248760" cy="292608"/>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Canvas</a:t>
            </a:r>
            <a:endParaRPr lang="en-US" sz="1450" dirty="0"/>
          </a:p>
        </p:txBody>
      </p:sp>
      <p:sp>
        <p:nvSpPr>
          <p:cNvPr id="30" name="Text 28"/>
          <p:cNvSpPr txBox="1"/>
          <p:nvPr/>
        </p:nvSpPr>
        <p:spPr>
          <a:xfrm>
            <a:off x="7083400" y="4526280"/>
            <a:ext cx="4248760" cy="77724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Syllabus, slides, recordings, quizzes and every submission.</a:t>
            </a:r>
            <a:endParaRPr lang="en-US" sz="1150" dirty="0"/>
          </a:p>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aubg.instructure.com</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DECLARATION OF ETHICS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Where These Materials Come From</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66928" y="1581912"/>
            <a:ext cx="11057839" cy="1078992"/>
          </a:xfrm>
          <a:prstGeom prst="roundRect">
            <a:avLst>
              <a:gd name="adj" fmla="val 7627"/>
            </a:avLst>
          </a:prstGeom>
          <a:solidFill>
            <a:srgbClr val="F1F5F9"/>
          </a:solidFill>
          <a:ln w="12700">
            <a:solidFill>
              <a:srgbClr val="F1F5F9"/>
            </a:solidFill>
            <a:prstDash val="solid"/>
          </a:ln>
        </p:spPr>
        <p:txBody>
          <a:bodyPr/>
          <a:lstStyle/>
          <a:p>
            <a:endParaRPr lang="en-US"/>
          </a:p>
        </p:txBody>
      </p:sp>
      <p:sp>
        <p:nvSpPr>
          <p:cNvPr id="7" name="Shape 5"/>
          <p:cNvSpPr/>
          <p:nvPr/>
        </p:nvSpPr>
        <p:spPr>
          <a:xfrm>
            <a:off x="841248" y="1911096"/>
            <a:ext cx="420624" cy="420624"/>
          </a:xfrm>
          <a:prstGeom prst="ellipse">
            <a:avLst/>
          </a:prstGeom>
          <a:solidFill>
            <a:srgbClr val="0F2942"/>
          </a:solidFill>
          <a:ln w="12700">
            <a:solidFill>
              <a:srgbClr val="0F2942"/>
            </a:solidFill>
            <a:prstDash val="solid"/>
          </a:ln>
        </p:spPr>
        <p:txBody>
          <a:bodyPr/>
          <a:lstStyle/>
          <a:p>
            <a:endParaRPr lang="en-US"/>
          </a:p>
        </p:txBody>
      </p:sp>
      <p:sp>
        <p:nvSpPr>
          <p:cNvPr id="8" name="Text 6"/>
          <p:cNvSpPr txBox="1"/>
          <p:nvPr/>
        </p:nvSpPr>
        <p:spPr>
          <a:xfrm>
            <a:off x="841248" y="191109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63040" y="1764792"/>
            <a:ext cx="9869119" cy="310896"/>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Publisher instructor resources</a:t>
            </a:r>
            <a:endParaRPr lang="en-US" sz="1500" dirty="0"/>
          </a:p>
        </p:txBody>
      </p:sp>
      <p:sp>
        <p:nvSpPr>
          <p:cNvPr id="10" name="Text 8"/>
          <p:cNvSpPr txBox="1"/>
          <p:nvPr/>
        </p:nvSpPr>
        <p:spPr>
          <a:xfrm>
            <a:off x="1463040" y="2084832"/>
            <a:ext cx="9869119" cy="457200"/>
          </a:xfrm>
          <a:prstGeom prst="rect">
            <a:avLst/>
          </a:prstGeom>
          <a:noFill/>
          <a:ln/>
        </p:spPr>
        <p:txBody>
          <a:bodyPr wrap="square" lIns="0" tIns="0" rIns="0" bIns="0" rtlCol="0" anchor="t"/>
          <a:lstStyle/>
          <a:p>
            <a:pPr marL="0" indent="0">
              <a:buNone/>
            </a:pPr>
            <a:r>
              <a:rPr lang="en-US" sz="1250" dirty="0">
                <a:solidFill>
                  <a:srgbClr val="3A536B"/>
                </a:solidFill>
                <a:latin typeface="Calibri" pitchFamily="34" charset="0"/>
                <a:ea typeface="Calibri" pitchFamily="34" charset="-122"/>
                <a:cs typeface="Calibri" pitchFamily="34" charset="-120"/>
              </a:rPr>
              <a:t>Sample presentation slides and supplementary teaching materials supplied with the reference textbooks listed in the syllabus. AI Tools were used to format these slides.</a:t>
            </a:r>
            <a:endParaRPr lang="en-US" sz="1250" dirty="0"/>
          </a:p>
        </p:txBody>
      </p:sp>
      <p:sp>
        <p:nvSpPr>
          <p:cNvPr id="11" name="Shape 9"/>
          <p:cNvSpPr/>
          <p:nvPr/>
        </p:nvSpPr>
        <p:spPr>
          <a:xfrm>
            <a:off x="566928" y="2770632"/>
            <a:ext cx="11057839" cy="1078992"/>
          </a:xfrm>
          <a:prstGeom prst="roundRect">
            <a:avLst>
              <a:gd name="adj" fmla="val 7627"/>
            </a:avLst>
          </a:prstGeom>
          <a:solidFill>
            <a:srgbClr val="FFFFFF"/>
          </a:solidFill>
          <a:ln w="12700">
            <a:solidFill>
              <a:srgbClr val="D3DEE7"/>
            </a:solidFill>
            <a:prstDash val="solid"/>
          </a:ln>
        </p:spPr>
        <p:txBody>
          <a:bodyPr/>
          <a:lstStyle/>
          <a:p>
            <a:endParaRPr lang="en-US"/>
          </a:p>
        </p:txBody>
      </p:sp>
      <p:sp>
        <p:nvSpPr>
          <p:cNvPr id="12" name="Shape 10"/>
          <p:cNvSpPr/>
          <p:nvPr/>
        </p:nvSpPr>
        <p:spPr>
          <a:xfrm>
            <a:off x="841248" y="3099816"/>
            <a:ext cx="420624" cy="420624"/>
          </a:xfrm>
          <a:prstGeom prst="ellipse">
            <a:avLst/>
          </a:prstGeom>
          <a:solidFill>
            <a:srgbClr val="0F2942"/>
          </a:solidFill>
          <a:ln w="12700">
            <a:solidFill>
              <a:srgbClr val="0F2942"/>
            </a:solidFill>
            <a:prstDash val="solid"/>
          </a:ln>
        </p:spPr>
        <p:txBody>
          <a:bodyPr/>
          <a:lstStyle/>
          <a:p>
            <a:endParaRPr lang="en-US"/>
          </a:p>
        </p:txBody>
      </p:sp>
      <p:sp>
        <p:nvSpPr>
          <p:cNvPr id="13" name="Text 11"/>
          <p:cNvSpPr txBox="1"/>
          <p:nvPr/>
        </p:nvSpPr>
        <p:spPr>
          <a:xfrm>
            <a:off x="841248" y="3099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463040" y="2953512"/>
            <a:ext cx="9869119" cy="310896"/>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Source code and demo applications</a:t>
            </a:r>
            <a:endParaRPr lang="en-US" sz="1500" dirty="0"/>
          </a:p>
        </p:txBody>
      </p:sp>
      <p:sp>
        <p:nvSpPr>
          <p:cNvPr id="15" name="Text 13"/>
          <p:cNvSpPr txBox="1"/>
          <p:nvPr/>
        </p:nvSpPr>
        <p:spPr>
          <a:xfrm>
            <a:off x="1463040" y="3273552"/>
            <a:ext cx="9869119" cy="457200"/>
          </a:xfrm>
          <a:prstGeom prst="rect">
            <a:avLst/>
          </a:prstGeom>
          <a:noFill/>
          <a:ln/>
        </p:spPr>
        <p:txBody>
          <a:bodyPr wrap="square" lIns="0" tIns="0" rIns="0" bIns="0" rtlCol="0" anchor="t"/>
          <a:lstStyle/>
          <a:p>
            <a:pPr marL="0" indent="0">
              <a:buNone/>
            </a:pPr>
            <a:r>
              <a:rPr lang="en-US" sz="1250" dirty="0">
                <a:solidFill>
                  <a:srgbClr val="3A536B"/>
                </a:solidFill>
                <a:latin typeface="Calibri" pitchFamily="34" charset="0"/>
                <a:ea typeface="Calibri" pitchFamily="34" charset="-122"/>
                <a:cs typeface="Calibri" pitchFamily="34" charset="-120"/>
              </a:rPr>
              <a:t>Examples derived from the reference textbooks and their accompanying instructor resources, plus curated academic resources.</a:t>
            </a:r>
            <a:endParaRPr lang="en-US" sz="1250" dirty="0"/>
          </a:p>
        </p:txBody>
      </p:sp>
      <p:sp>
        <p:nvSpPr>
          <p:cNvPr id="16" name="Shape 14"/>
          <p:cNvSpPr/>
          <p:nvPr/>
        </p:nvSpPr>
        <p:spPr>
          <a:xfrm>
            <a:off x="566928" y="3959352"/>
            <a:ext cx="11057839" cy="1078992"/>
          </a:xfrm>
          <a:prstGeom prst="roundRect">
            <a:avLst>
              <a:gd name="adj" fmla="val 7627"/>
            </a:avLst>
          </a:prstGeom>
          <a:solidFill>
            <a:srgbClr val="F1F5F9"/>
          </a:solidFill>
          <a:ln w="12700">
            <a:solidFill>
              <a:srgbClr val="F1F5F9"/>
            </a:solidFill>
            <a:prstDash val="solid"/>
          </a:ln>
        </p:spPr>
        <p:txBody>
          <a:bodyPr/>
          <a:lstStyle/>
          <a:p>
            <a:endParaRPr lang="en-US"/>
          </a:p>
        </p:txBody>
      </p:sp>
      <p:sp>
        <p:nvSpPr>
          <p:cNvPr id="17" name="Shape 15"/>
          <p:cNvSpPr/>
          <p:nvPr/>
        </p:nvSpPr>
        <p:spPr>
          <a:xfrm>
            <a:off x="841248" y="4288536"/>
            <a:ext cx="420624" cy="420624"/>
          </a:xfrm>
          <a:prstGeom prst="ellipse">
            <a:avLst/>
          </a:prstGeom>
          <a:solidFill>
            <a:srgbClr val="0F2942"/>
          </a:solidFill>
          <a:ln w="12700">
            <a:solidFill>
              <a:srgbClr val="0F2942"/>
            </a:solidFill>
            <a:prstDash val="solid"/>
          </a:ln>
        </p:spPr>
        <p:txBody>
          <a:bodyPr/>
          <a:lstStyle/>
          <a:p>
            <a:endParaRPr lang="en-US"/>
          </a:p>
        </p:txBody>
      </p:sp>
      <p:sp>
        <p:nvSpPr>
          <p:cNvPr id="18" name="Text 16"/>
          <p:cNvSpPr txBox="1"/>
          <p:nvPr/>
        </p:nvSpPr>
        <p:spPr>
          <a:xfrm>
            <a:off x="841248" y="428853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463040" y="4142232"/>
            <a:ext cx="9869119" cy="310896"/>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Instructor-generated content</a:t>
            </a:r>
            <a:endParaRPr lang="en-US" sz="1500" dirty="0"/>
          </a:p>
        </p:txBody>
      </p:sp>
      <p:sp>
        <p:nvSpPr>
          <p:cNvPr id="20" name="Text 18"/>
          <p:cNvSpPr txBox="1"/>
          <p:nvPr/>
        </p:nvSpPr>
        <p:spPr>
          <a:xfrm>
            <a:off x="1463040" y="4462272"/>
            <a:ext cx="9869119" cy="457200"/>
          </a:xfrm>
          <a:prstGeom prst="rect">
            <a:avLst/>
          </a:prstGeom>
          <a:noFill/>
          <a:ln/>
        </p:spPr>
        <p:txBody>
          <a:bodyPr wrap="square" lIns="0" tIns="0" rIns="0" bIns="0" rtlCol="0" anchor="t"/>
          <a:lstStyle/>
          <a:p>
            <a:pPr marL="0" indent="0">
              <a:buNone/>
            </a:pPr>
            <a:r>
              <a:rPr lang="en-US" sz="1250" dirty="0">
                <a:solidFill>
                  <a:srgbClr val="3A536B"/>
                </a:solidFill>
                <a:latin typeface="Calibri" pitchFamily="34" charset="0"/>
                <a:ea typeface="Calibri" pitchFamily="34" charset="-122"/>
                <a:cs typeface="Calibri" pitchFamily="34" charset="-120"/>
              </a:rPr>
              <a:t>Modifications, updates, restructuring and additional explanations developed by the instructor to align with this course's objectives.</a:t>
            </a:r>
            <a:endParaRPr lang="en-US" sz="1250" dirty="0"/>
          </a:p>
        </p:txBody>
      </p:sp>
      <p:sp>
        <p:nvSpPr>
          <p:cNvPr id="21" name="Text 19"/>
          <p:cNvSpPr txBox="1"/>
          <p:nvPr/>
        </p:nvSpPr>
        <p:spPr>
          <a:xfrm>
            <a:off x="566928" y="5294376"/>
            <a:ext cx="11057839" cy="329184"/>
          </a:xfrm>
          <a:prstGeom prst="rect">
            <a:avLst/>
          </a:prstGeom>
          <a:noFill/>
          <a:ln/>
        </p:spPr>
        <p:txBody>
          <a:bodyPr wrap="square" lIns="0" tIns="0" rIns="0" bIns="0" rtlCol="0" anchor="ctr"/>
          <a:lstStyle/>
          <a:p>
            <a:pPr marL="0" indent="0">
              <a:buNone/>
            </a:pPr>
            <a:r>
              <a:rPr lang="en-US" sz="1350" i="1" dirty="0">
                <a:solidFill>
                  <a:srgbClr val="9A430A"/>
                </a:solidFill>
                <a:latin typeface="Calibri" pitchFamily="34" charset="0"/>
                <a:ea typeface="Calibri" pitchFamily="34" charset="-122"/>
                <a:cs typeface="Calibri" pitchFamily="34" charset="-120"/>
              </a:rPr>
              <a:t>The same standard applies to your work: cite what you did not write — including anything produced by an AI tool.</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1E5"/>
        </a:solidFill>
        <a:effectLst/>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marL="0" indent="0">
              <a:buNone/>
            </a:pPr>
            <a:r>
              <a:rPr lang="en-US" sz="1200" b="1" kern="0" spc="200" dirty="0">
                <a:solidFill>
                  <a:srgbClr val="9A430A"/>
                </a:solidFill>
                <a:latin typeface="Calibri" pitchFamily="34" charset="0"/>
                <a:ea typeface="Calibri" pitchFamily="34" charset="-122"/>
                <a:cs typeface="Calibri" pitchFamily="34" charset="-120"/>
              </a:rPr>
              <a:t>CHECKPOINT 1</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marL="0" indent="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marL="0" indent="0" algn="r">
              <a:buNone/>
            </a:pPr>
            <a:r>
              <a:rPr lang="en-US" sz="1250" dirty="0">
                <a:solidFill>
                  <a:srgbClr val="4B6377"/>
                </a:solidFill>
                <a:latin typeface="Calibri" pitchFamily="34" charset="0"/>
                <a:ea typeface="Calibri" pitchFamily="34" charset="-122"/>
                <a:cs typeface="Calibri" pitchFamily="34" charset="-120"/>
              </a:rPr>
              <a:t>Covering the course orientation</a:t>
            </a:r>
            <a:endParaRPr lang="en-US" sz="1250" dirty="0"/>
          </a:p>
        </p:txBody>
      </p:sp>
      <p:sp>
        <p:nvSpPr>
          <p:cNvPr id="5" name="Shape 3"/>
          <p:cNvSpPr/>
          <p:nvPr/>
        </p:nvSpPr>
        <p:spPr>
          <a:xfrm>
            <a:off x="566928" y="2203704"/>
            <a:ext cx="11057839" cy="1152144"/>
          </a:xfrm>
          <a:prstGeom prst="roundRect">
            <a:avLst>
              <a:gd name="adj" fmla="val 7143"/>
            </a:avLst>
          </a:prstGeom>
          <a:solidFill>
            <a:srgbClr val="FFFFFF"/>
          </a:solidFill>
          <a:ln w="12700">
            <a:solidFill>
              <a:srgbClr val="D3DEE7"/>
            </a:solidFill>
            <a:prstDash val="solid"/>
          </a:ln>
        </p:spPr>
        <p:txBody>
          <a:bodyPr/>
          <a:lstStyle/>
          <a:p>
            <a:endParaRPr lang="en-US"/>
          </a:p>
        </p:txBody>
      </p:sp>
      <p:sp>
        <p:nvSpPr>
          <p:cNvPr id="6" name="Shape 4"/>
          <p:cNvSpPr/>
          <p:nvPr/>
        </p:nvSpPr>
        <p:spPr>
          <a:xfrm>
            <a:off x="841248" y="2441448"/>
            <a:ext cx="402336" cy="402336"/>
          </a:xfrm>
          <a:prstGeom prst="ellipse">
            <a:avLst/>
          </a:prstGeom>
          <a:solidFill>
            <a:srgbClr val="C4560C"/>
          </a:solidFill>
          <a:ln w="12700">
            <a:solidFill>
              <a:srgbClr val="C4560C"/>
            </a:solidFill>
            <a:prstDash val="solid"/>
          </a:ln>
        </p:spPr>
        <p:txBody>
          <a:bodyPr/>
          <a:lstStyle/>
          <a:p>
            <a:endParaRPr lang="en-US"/>
          </a:p>
        </p:txBody>
      </p:sp>
      <p:sp>
        <p:nvSpPr>
          <p:cNvPr id="7" name="Text 5"/>
          <p:cNvSpPr txBox="1"/>
          <p:nvPr/>
        </p:nvSpPr>
        <p:spPr>
          <a:xfrm>
            <a:off x="841248" y="2441448"/>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2368296"/>
            <a:ext cx="9823399" cy="658368"/>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How many quizzes are there this semester, what is each worth, and which weeks does Quiz 1 cover?</a:t>
            </a:r>
            <a:endParaRPr lang="en-US" sz="1550" dirty="0"/>
          </a:p>
        </p:txBody>
      </p:sp>
      <p:sp>
        <p:nvSpPr>
          <p:cNvPr id="9" name="Shape 7"/>
          <p:cNvSpPr/>
          <p:nvPr/>
        </p:nvSpPr>
        <p:spPr>
          <a:xfrm>
            <a:off x="566928" y="3575304"/>
            <a:ext cx="11057839" cy="914400"/>
          </a:xfrm>
          <a:prstGeom prst="roundRect">
            <a:avLst>
              <a:gd name="adj" fmla="val 9000"/>
            </a:avLst>
          </a:prstGeom>
          <a:solidFill>
            <a:srgbClr val="FFFFFF"/>
          </a:solidFill>
          <a:ln w="12700">
            <a:solidFill>
              <a:srgbClr val="D3DEE7"/>
            </a:solidFill>
            <a:prstDash val="solid"/>
          </a:ln>
        </p:spPr>
        <p:txBody>
          <a:bodyPr/>
          <a:lstStyle/>
          <a:p>
            <a:endParaRPr lang="en-US"/>
          </a:p>
        </p:txBody>
      </p:sp>
      <p:sp>
        <p:nvSpPr>
          <p:cNvPr id="10" name="Shape 8"/>
          <p:cNvSpPr/>
          <p:nvPr/>
        </p:nvSpPr>
        <p:spPr>
          <a:xfrm>
            <a:off x="841248" y="3813048"/>
            <a:ext cx="402336" cy="402336"/>
          </a:xfrm>
          <a:prstGeom prst="ellipse">
            <a:avLst/>
          </a:prstGeom>
          <a:solidFill>
            <a:srgbClr val="C4560C"/>
          </a:solidFill>
          <a:ln w="12700">
            <a:solidFill>
              <a:srgbClr val="C4560C"/>
            </a:solidFill>
            <a:prstDash val="solid"/>
          </a:ln>
        </p:spPr>
        <p:txBody>
          <a:bodyPr/>
          <a:lstStyle/>
          <a:p>
            <a:endParaRPr lang="en-US"/>
          </a:p>
        </p:txBody>
      </p:sp>
      <p:sp>
        <p:nvSpPr>
          <p:cNvPr id="11" name="Text 9"/>
          <p:cNvSpPr txBox="1"/>
          <p:nvPr/>
        </p:nvSpPr>
        <p:spPr>
          <a:xfrm>
            <a:off x="841248" y="3813048"/>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739896"/>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You upload your project 30 hours after the deadline. What happens to your mark?</a:t>
            </a:r>
            <a:endParaRPr lang="en-US" sz="1550" dirty="0"/>
          </a:p>
        </p:txBody>
      </p:sp>
      <p:sp>
        <p:nvSpPr>
          <p:cNvPr id="13" name="Shape 11"/>
          <p:cNvSpPr/>
          <p:nvPr/>
        </p:nvSpPr>
        <p:spPr>
          <a:xfrm>
            <a:off x="566928" y="4709160"/>
            <a:ext cx="11057839" cy="914400"/>
          </a:xfrm>
          <a:prstGeom prst="roundRect">
            <a:avLst>
              <a:gd name="adj" fmla="val 9000"/>
            </a:avLst>
          </a:prstGeom>
          <a:solidFill>
            <a:srgbClr val="FFFFFF"/>
          </a:solidFill>
          <a:ln w="12700">
            <a:solidFill>
              <a:srgbClr val="D3DEE7"/>
            </a:solidFill>
            <a:prstDash val="solid"/>
          </a:ln>
        </p:spPr>
        <p:txBody>
          <a:bodyPr/>
          <a:lstStyle/>
          <a:p>
            <a:endParaRPr lang="en-US"/>
          </a:p>
        </p:txBody>
      </p:sp>
      <p:sp>
        <p:nvSpPr>
          <p:cNvPr id="14" name="Shape 12"/>
          <p:cNvSpPr/>
          <p:nvPr/>
        </p:nvSpPr>
        <p:spPr>
          <a:xfrm>
            <a:off x="841248" y="4946904"/>
            <a:ext cx="402336" cy="402336"/>
          </a:xfrm>
          <a:prstGeom prst="ellipse">
            <a:avLst/>
          </a:prstGeom>
          <a:solidFill>
            <a:srgbClr val="C4560C"/>
          </a:solidFill>
          <a:ln w="12700">
            <a:solidFill>
              <a:srgbClr val="C4560C"/>
            </a:solidFill>
            <a:prstDash val="solid"/>
          </a:ln>
        </p:spPr>
        <p:txBody>
          <a:bodyPr/>
          <a:lstStyle/>
          <a:p>
            <a:endParaRPr lang="en-US"/>
          </a:p>
        </p:txBody>
      </p:sp>
      <p:sp>
        <p:nvSpPr>
          <p:cNvPr id="15" name="Text 13"/>
          <p:cNvSpPr txBox="1"/>
          <p:nvPr/>
        </p:nvSpPr>
        <p:spPr>
          <a:xfrm>
            <a:off x="841248" y="4946904"/>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6" name="Text 14"/>
          <p:cNvSpPr txBox="1"/>
          <p:nvPr/>
        </p:nvSpPr>
        <p:spPr>
          <a:xfrm>
            <a:off x="1435608" y="4873752"/>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You attend 7 of the 11 tutorial sessions. How much bonus have you earned?</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F2F7"/>
        </a:solidFill>
        <a:effectLst/>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marL="0" indent="0">
              <a:buNone/>
            </a:pPr>
            <a:r>
              <a:rPr lang="en-US" sz="1300" b="1" kern="0" spc="240" dirty="0">
                <a:solidFill>
                  <a:srgbClr val="9A430A"/>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marL="0" indent="0">
              <a:lnSpc>
                <a:spcPct val="105000"/>
              </a:lnSpc>
              <a:buNone/>
            </a:pPr>
            <a:r>
              <a:rPr lang="en-US" sz="4400" b="1" dirty="0">
                <a:solidFill>
                  <a:srgbClr val="0F2942"/>
                </a:solidFill>
                <a:latin typeface="Cambria" pitchFamily="34" charset="0"/>
                <a:ea typeface="Cambria" pitchFamily="34" charset="-122"/>
                <a:cs typeface="Cambria" pitchFamily="34" charset="-120"/>
              </a:rPr>
              <a:t>Java Basics and</a:t>
            </a:r>
            <a:endParaRPr lang="en-US" sz="4400" dirty="0"/>
          </a:p>
          <a:p>
            <a:pPr marL="0" indent="0">
              <a:lnSpc>
                <a:spcPct val="105000"/>
              </a:lnSpc>
              <a:buNone/>
            </a:pPr>
            <a:r>
              <a:rPr lang="en-US" sz="4400" b="1" dirty="0">
                <a:solidFill>
                  <a:srgbClr val="0F2942"/>
                </a:solidFill>
                <a:latin typeface="Cambria" pitchFamily="34" charset="0"/>
                <a:ea typeface="Cambria" pitchFamily="34" charset="-122"/>
                <a:cs typeface="Cambria" pitchFamily="34" charset="-120"/>
              </a:rPr>
              <a:t>Environment Setup</a:t>
            </a:r>
            <a:endParaRPr lang="en-US" sz="4400" dirty="0"/>
          </a:p>
        </p:txBody>
      </p:sp>
      <p:sp>
        <p:nvSpPr>
          <p:cNvPr id="4" name="Text 2"/>
          <p:cNvSpPr txBox="1"/>
          <p:nvPr/>
        </p:nvSpPr>
        <p:spPr>
          <a:xfrm>
            <a:off x="566928" y="4526280"/>
            <a:ext cx="8046720" cy="365760"/>
          </a:xfrm>
          <a:prstGeom prst="rect">
            <a:avLst/>
          </a:prstGeom>
          <a:noFill/>
          <a:ln/>
        </p:spPr>
        <p:txBody>
          <a:bodyPr wrap="square" lIns="0" tIns="0" rIns="0" bIns="0" rtlCol="0" anchor="ctr"/>
          <a:lstStyle/>
          <a:p>
            <a:pPr marL="0" indent="0">
              <a:buNone/>
            </a:pPr>
            <a:r>
              <a:rPr lang="en-US" sz="1500" dirty="0">
                <a:solidFill>
                  <a:srgbClr val="3A536B"/>
                </a:solidFill>
                <a:latin typeface="Calibri" pitchFamily="34" charset="0"/>
                <a:ea typeface="Calibri" pitchFamily="34" charset="-122"/>
                <a:cs typeface="Calibri" pitchFamily="34" charset="-120"/>
              </a:rPr>
              <a:t>What Java is, how it runs, and how to write and run your first program.</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marL="0" indent="0" algn="r">
              <a:buNone/>
            </a:pPr>
            <a:r>
              <a:rPr lang="en-US" sz="13000" b="1" dirty="0">
                <a:solidFill>
                  <a:srgbClr val="CFDCE8"/>
                </a:solidFill>
                <a:latin typeface="Cambria" pitchFamily="34" charset="0"/>
                <a:ea typeface="Cambria" pitchFamily="34" charset="-122"/>
                <a:cs typeface="Cambria" pitchFamily="34" charset="-120"/>
              </a:rPr>
              <a:t>01</a:t>
            </a:r>
            <a:endParaRPr lang="en-US" sz="1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CHAPTER 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What You Should Be Able to Do After Today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66928" y="1261872"/>
            <a:ext cx="5391760" cy="786384"/>
          </a:xfrm>
          <a:prstGeom prst="roundRect">
            <a:avLst>
              <a:gd name="adj" fmla="val 10465"/>
            </a:avLst>
          </a:prstGeom>
          <a:solidFill>
            <a:srgbClr val="F1F5F9"/>
          </a:solidFill>
          <a:ln w="12700">
            <a:solidFill>
              <a:srgbClr val="F1F5F9"/>
            </a:solidFill>
            <a:prstDash val="solid"/>
          </a:ln>
        </p:spPr>
        <p:txBody>
          <a:bodyPr/>
          <a:lstStyle/>
          <a:p>
            <a:endParaRPr lang="en-US"/>
          </a:p>
        </p:txBody>
      </p:sp>
      <p:sp>
        <p:nvSpPr>
          <p:cNvPr id="7" name="Shape 5"/>
          <p:cNvSpPr/>
          <p:nvPr/>
        </p:nvSpPr>
        <p:spPr>
          <a:xfrm>
            <a:off x="804672" y="1453896"/>
            <a:ext cx="402336" cy="402336"/>
          </a:xfrm>
          <a:prstGeom prst="ellipse">
            <a:avLst/>
          </a:prstGeom>
          <a:solidFill>
            <a:srgbClr val="0F2942"/>
          </a:solidFill>
          <a:ln w="12700">
            <a:solidFill>
              <a:srgbClr val="0F2942"/>
            </a:solidFill>
            <a:prstDash val="solid"/>
          </a:ln>
        </p:spPr>
        <p:txBody>
          <a:bodyPr/>
          <a:lstStyle/>
          <a:p>
            <a:endParaRPr lang="en-US"/>
          </a:p>
        </p:txBody>
      </p:sp>
      <p:sp>
        <p:nvSpPr>
          <p:cNvPr id="8" name="Text 6"/>
          <p:cNvSpPr txBox="1"/>
          <p:nvPr/>
        </p:nvSpPr>
        <p:spPr>
          <a:xfrm>
            <a:off x="804672" y="145389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89888" y="1353312"/>
            <a:ext cx="4294480" cy="603504"/>
          </a:xfrm>
          <a:prstGeom prst="rect">
            <a:avLst/>
          </a:prstGeom>
          <a:noFill/>
          <a:ln/>
        </p:spPr>
        <p:txBody>
          <a:bodyPr wrap="square" lIns="0" tIns="0" rIns="0" bIns="0" rtlCol="0" anchor="ctr"/>
          <a:lstStyle/>
          <a:p>
            <a:pPr marL="0" indent="0">
              <a:lnSpc>
                <a:spcPct val="105000"/>
              </a:lnSpc>
              <a:buNone/>
            </a:pPr>
            <a:r>
              <a:rPr lang="en-US" sz="1300" dirty="0">
                <a:solidFill>
                  <a:srgbClr val="3A536B"/>
                </a:solidFill>
                <a:latin typeface="Calibri" pitchFamily="34" charset="0"/>
                <a:ea typeface="Calibri" pitchFamily="34" charset="-122"/>
                <a:cs typeface="Calibri" pitchFamily="34" charset="-120"/>
              </a:rPr>
              <a:t>Explain what the Java language specification, the API, the JDK and an IDE each are.</a:t>
            </a:r>
            <a:endParaRPr lang="en-US" sz="1300" dirty="0"/>
          </a:p>
        </p:txBody>
      </p:sp>
      <p:sp>
        <p:nvSpPr>
          <p:cNvPr id="10" name="Shape 8"/>
          <p:cNvSpPr/>
          <p:nvPr/>
        </p:nvSpPr>
        <p:spPr>
          <a:xfrm>
            <a:off x="6233008" y="1261872"/>
            <a:ext cx="5391760" cy="786384"/>
          </a:xfrm>
          <a:prstGeom prst="roundRect">
            <a:avLst>
              <a:gd name="adj" fmla="val 10465"/>
            </a:avLst>
          </a:prstGeom>
          <a:solidFill>
            <a:srgbClr val="FFFFFF"/>
          </a:solidFill>
          <a:ln w="12700">
            <a:solidFill>
              <a:srgbClr val="D3DEE7"/>
            </a:solidFill>
            <a:prstDash val="solid"/>
          </a:ln>
        </p:spPr>
        <p:txBody>
          <a:bodyPr/>
          <a:lstStyle/>
          <a:p>
            <a:endParaRPr lang="en-US"/>
          </a:p>
        </p:txBody>
      </p:sp>
      <p:sp>
        <p:nvSpPr>
          <p:cNvPr id="11" name="Shape 9"/>
          <p:cNvSpPr/>
          <p:nvPr/>
        </p:nvSpPr>
        <p:spPr>
          <a:xfrm>
            <a:off x="6470752" y="1453896"/>
            <a:ext cx="402336" cy="402336"/>
          </a:xfrm>
          <a:prstGeom prst="ellipse">
            <a:avLst/>
          </a:prstGeom>
          <a:solidFill>
            <a:srgbClr val="0F2942"/>
          </a:solidFill>
          <a:ln w="12700">
            <a:solidFill>
              <a:srgbClr val="0F2942"/>
            </a:solidFill>
            <a:prstDash val="solid"/>
          </a:ln>
        </p:spPr>
        <p:txBody>
          <a:bodyPr/>
          <a:lstStyle/>
          <a:p>
            <a:endParaRPr lang="en-US"/>
          </a:p>
        </p:txBody>
      </p:sp>
      <p:sp>
        <p:nvSpPr>
          <p:cNvPr id="12" name="Text 10"/>
          <p:cNvSpPr txBox="1"/>
          <p:nvPr/>
        </p:nvSpPr>
        <p:spPr>
          <a:xfrm>
            <a:off x="6470752" y="145389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7055968" y="1353312"/>
            <a:ext cx="4294480" cy="603504"/>
          </a:xfrm>
          <a:prstGeom prst="rect">
            <a:avLst/>
          </a:prstGeom>
          <a:noFill/>
          <a:ln/>
        </p:spPr>
        <p:txBody>
          <a:bodyPr wrap="square" lIns="0" tIns="0" rIns="0" bIns="0" rtlCol="0" anchor="ctr"/>
          <a:lstStyle/>
          <a:p>
            <a:pPr marL="0" indent="0">
              <a:lnSpc>
                <a:spcPct val="105000"/>
              </a:lnSpc>
              <a:buNone/>
            </a:pPr>
            <a:r>
              <a:rPr lang="en-US" sz="1300" dirty="0">
                <a:solidFill>
                  <a:srgbClr val="3A536B"/>
                </a:solidFill>
                <a:latin typeface="Calibri" pitchFamily="34" charset="0"/>
                <a:ea typeface="Calibri" pitchFamily="34" charset="-122"/>
                <a:cs typeface="Calibri" pitchFamily="34" charset="-120"/>
              </a:rPr>
              <a:t>Write a simple Java program from scratch.</a:t>
            </a:r>
            <a:endParaRPr lang="en-US" sz="1300" dirty="0"/>
          </a:p>
        </p:txBody>
      </p:sp>
      <p:sp>
        <p:nvSpPr>
          <p:cNvPr id="14" name="Shape 12"/>
          <p:cNvSpPr/>
          <p:nvPr/>
        </p:nvSpPr>
        <p:spPr>
          <a:xfrm>
            <a:off x="566928" y="2221992"/>
            <a:ext cx="5391760" cy="786384"/>
          </a:xfrm>
          <a:prstGeom prst="roundRect">
            <a:avLst>
              <a:gd name="adj" fmla="val 10465"/>
            </a:avLst>
          </a:prstGeom>
          <a:solidFill>
            <a:srgbClr val="F1F5F9"/>
          </a:solidFill>
          <a:ln w="12700">
            <a:solidFill>
              <a:srgbClr val="F1F5F9"/>
            </a:solidFill>
            <a:prstDash val="solid"/>
          </a:ln>
        </p:spPr>
        <p:txBody>
          <a:bodyPr/>
          <a:lstStyle/>
          <a:p>
            <a:endParaRPr lang="en-US"/>
          </a:p>
        </p:txBody>
      </p:sp>
      <p:sp>
        <p:nvSpPr>
          <p:cNvPr id="15" name="Shape 13"/>
          <p:cNvSpPr/>
          <p:nvPr/>
        </p:nvSpPr>
        <p:spPr>
          <a:xfrm>
            <a:off x="804672" y="2414016"/>
            <a:ext cx="402336" cy="402336"/>
          </a:xfrm>
          <a:prstGeom prst="ellipse">
            <a:avLst/>
          </a:prstGeom>
          <a:solidFill>
            <a:srgbClr val="0F2942"/>
          </a:solidFill>
          <a:ln w="12700">
            <a:solidFill>
              <a:srgbClr val="0F2942"/>
            </a:solidFill>
            <a:prstDash val="solid"/>
          </a:ln>
        </p:spPr>
        <p:txBody>
          <a:bodyPr/>
          <a:lstStyle/>
          <a:p>
            <a:endParaRPr lang="en-US"/>
          </a:p>
        </p:txBody>
      </p:sp>
      <p:sp>
        <p:nvSpPr>
          <p:cNvPr id="16" name="Text 14"/>
          <p:cNvSpPr txBox="1"/>
          <p:nvPr/>
        </p:nvSpPr>
        <p:spPr>
          <a:xfrm>
            <a:off x="804672" y="24140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89888" y="2313432"/>
            <a:ext cx="4294480" cy="603504"/>
          </a:xfrm>
          <a:prstGeom prst="rect">
            <a:avLst/>
          </a:prstGeom>
          <a:noFill/>
          <a:ln/>
        </p:spPr>
        <p:txBody>
          <a:bodyPr wrap="square" lIns="0" tIns="0" rIns="0" bIns="0" rtlCol="0" anchor="ctr"/>
          <a:lstStyle/>
          <a:p>
            <a:pPr marL="0" indent="0">
              <a:lnSpc>
                <a:spcPct val="105000"/>
              </a:lnSpc>
              <a:buNone/>
            </a:pPr>
            <a:r>
              <a:rPr lang="en-US" sz="1300" dirty="0">
                <a:solidFill>
                  <a:srgbClr val="3A536B"/>
                </a:solidFill>
                <a:latin typeface="Calibri" pitchFamily="34" charset="0"/>
                <a:ea typeface="Calibri" pitchFamily="34" charset="-122"/>
                <a:cs typeface="Calibri" pitchFamily="34" charset="-120"/>
              </a:rPr>
              <a:t>Display output on the console.</a:t>
            </a:r>
            <a:endParaRPr lang="en-US" sz="1300" dirty="0"/>
          </a:p>
        </p:txBody>
      </p:sp>
      <p:sp>
        <p:nvSpPr>
          <p:cNvPr id="18" name="Shape 16"/>
          <p:cNvSpPr/>
          <p:nvPr/>
        </p:nvSpPr>
        <p:spPr>
          <a:xfrm>
            <a:off x="6233008" y="2221992"/>
            <a:ext cx="5391760" cy="786384"/>
          </a:xfrm>
          <a:prstGeom prst="roundRect">
            <a:avLst>
              <a:gd name="adj" fmla="val 10465"/>
            </a:avLst>
          </a:prstGeom>
          <a:solidFill>
            <a:srgbClr val="FFFFFF"/>
          </a:solidFill>
          <a:ln w="12700">
            <a:solidFill>
              <a:srgbClr val="D3DEE7"/>
            </a:solidFill>
            <a:prstDash val="solid"/>
          </a:ln>
        </p:spPr>
        <p:txBody>
          <a:bodyPr/>
          <a:lstStyle/>
          <a:p>
            <a:endParaRPr lang="en-US"/>
          </a:p>
        </p:txBody>
      </p:sp>
      <p:sp>
        <p:nvSpPr>
          <p:cNvPr id="19" name="Shape 17"/>
          <p:cNvSpPr/>
          <p:nvPr/>
        </p:nvSpPr>
        <p:spPr>
          <a:xfrm>
            <a:off x="6470752" y="2414016"/>
            <a:ext cx="402336" cy="402336"/>
          </a:xfrm>
          <a:prstGeom prst="ellipse">
            <a:avLst/>
          </a:prstGeom>
          <a:solidFill>
            <a:srgbClr val="0F2942"/>
          </a:solidFill>
          <a:ln w="12700">
            <a:solidFill>
              <a:srgbClr val="0F2942"/>
            </a:solidFill>
            <a:prstDash val="solid"/>
          </a:ln>
        </p:spPr>
        <p:txBody>
          <a:bodyPr/>
          <a:lstStyle/>
          <a:p>
            <a:endParaRPr lang="en-US"/>
          </a:p>
        </p:txBody>
      </p:sp>
      <p:sp>
        <p:nvSpPr>
          <p:cNvPr id="20" name="Text 18"/>
          <p:cNvSpPr txBox="1"/>
          <p:nvPr/>
        </p:nvSpPr>
        <p:spPr>
          <a:xfrm>
            <a:off x="6470752" y="24140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7055968" y="2313432"/>
            <a:ext cx="4294480" cy="603504"/>
          </a:xfrm>
          <a:prstGeom prst="rect">
            <a:avLst/>
          </a:prstGeom>
          <a:noFill/>
          <a:ln/>
        </p:spPr>
        <p:txBody>
          <a:bodyPr wrap="square" lIns="0" tIns="0" rIns="0" bIns="0" rtlCol="0" anchor="ctr"/>
          <a:lstStyle/>
          <a:p>
            <a:pPr marL="0" indent="0">
              <a:lnSpc>
                <a:spcPct val="105000"/>
              </a:lnSpc>
              <a:buNone/>
            </a:pPr>
            <a:r>
              <a:rPr lang="en-US" sz="1300" dirty="0">
                <a:solidFill>
                  <a:srgbClr val="3A536B"/>
                </a:solidFill>
                <a:latin typeface="Calibri" pitchFamily="34" charset="0"/>
                <a:ea typeface="Calibri" pitchFamily="34" charset="-122"/>
                <a:cs typeface="Calibri" pitchFamily="34" charset="-120"/>
              </a:rPr>
              <a:t>Describe the basic syntax of a Java program.</a:t>
            </a:r>
            <a:endParaRPr lang="en-US" sz="1300" dirty="0"/>
          </a:p>
        </p:txBody>
      </p:sp>
      <p:sp>
        <p:nvSpPr>
          <p:cNvPr id="22" name="Shape 20"/>
          <p:cNvSpPr/>
          <p:nvPr/>
        </p:nvSpPr>
        <p:spPr>
          <a:xfrm>
            <a:off x="566928" y="3182112"/>
            <a:ext cx="5391760" cy="786384"/>
          </a:xfrm>
          <a:prstGeom prst="roundRect">
            <a:avLst>
              <a:gd name="adj" fmla="val 10465"/>
            </a:avLst>
          </a:prstGeom>
          <a:solidFill>
            <a:srgbClr val="F1F5F9"/>
          </a:solidFill>
          <a:ln w="12700">
            <a:solidFill>
              <a:srgbClr val="F1F5F9"/>
            </a:solidFill>
            <a:prstDash val="solid"/>
          </a:ln>
        </p:spPr>
        <p:txBody>
          <a:bodyPr/>
          <a:lstStyle/>
          <a:p>
            <a:endParaRPr lang="en-US"/>
          </a:p>
        </p:txBody>
      </p:sp>
      <p:sp>
        <p:nvSpPr>
          <p:cNvPr id="23" name="Shape 21"/>
          <p:cNvSpPr/>
          <p:nvPr/>
        </p:nvSpPr>
        <p:spPr>
          <a:xfrm>
            <a:off x="804672" y="3374136"/>
            <a:ext cx="402336" cy="402336"/>
          </a:xfrm>
          <a:prstGeom prst="ellipse">
            <a:avLst/>
          </a:prstGeom>
          <a:solidFill>
            <a:srgbClr val="0F2942"/>
          </a:solidFill>
          <a:ln w="12700">
            <a:solidFill>
              <a:srgbClr val="0F2942"/>
            </a:solidFill>
            <a:prstDash val="solid"/>
          </a:ln>
        </p:spPr>
        <p:txBody>
          <a:bodyPr/>
          <a:lstStyle/>
          <a:p>
            <a:endParaRPr lang="en-US"/>
          </a:p>
        </p:txBody>
      </p:sp>
      <p:sp>
        <p:nvSpPr>
          <p:cNvPr id="24" name="Text 22"/>
          <p:cNvSpPr txBox="1"/>
          <p:nvPr/>
        </p:nvSpPr>
        <p:spPr>
          <a:xfrm>
            <a:off x="804672" y="337413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1389888" y="3273552"/>
            <a:ext cx="4294480" cy="603504"/>
          </a:xfrm>
          <a:prstGeom prst="rect">
            <a:avLst/>
          </a:prstGeom>
          <a:noFill/>
          <a:ln/>
        </p:spPr>
        <p:txBody>
          <a:bodyPr wrap="square" lIns="0" tIns="0" rIns="0" bIns="0" rtlCol="0" anchor="ctr"/>
          <a:lstStyle/>
          <a:p>
            <a:pPr marL="0" indent="0">
              <a:lnSpc>
                <a:spcPct val="105000"/>
              </a:lnSpc>
              <a:buNone/>
            </a:pPr>
            <a:r>
              <a:rPr lang="en-US" sz="1300" dirty="0">
                <a:solidFill>
                  <a:srgbClr val="3A536B"/>
                </a:solidFill>
                <a:latin typeface="Calibri" pitchFamily="34" charset="0"/>
                <a:ea typeface="Calibri" pitchFamily="34" charset="-122"/>
                <a:cs typeface="Calibri" pitchFamily="34" charset="-120"/>
              </a:rPr>
              <a:t>Create, compile and run a Java program.</a:t>
            </a:r>
            <a:endParaRPr lang="en-US" sz="1300" dirty="0"/>
          </a:p>
        </p:txBody>
      </p:sp>
      <p:sp>
        <p:nvSpPr>
          <p:cNvPr id="26" name="Shape 24"/>
          <p:cNvSpPr/>
          <p:nvPr/>
        </p:nvSpPr>
        <p:spPr>
          <a:xfrm>
            <a:off x="6233008" y="3182112"/>
            <a:ext cx="5391760" cy="786384"/>
          </a:xfrm>
          <a:prstGeom prst="roundRect">
            <a:avLst>
              <a:gd name="adj" fmla="val 10465"/>
            </a:avLst>
          </a:prstGeom>
          <a:solidFill>
            <a:srgbClr val="FFFFFF"/>
          </a:solidFill>
          <a:ln w="12700">
            <a:solidFill>
              <a:srgbClr val="D3DEE7"/>
            </a:solidFill>
            <a:prstDash val="solid"/>
          </a:ln>
        </p:spPr>
        <p:txBody>
          <a:bodyPr/>
          <a:lstStyle/>
          <a:p>
            <a:endParaRPr lang="en-US"/>
          </a:p>
        </p:txBody>
      </p:sp>
      <p:sp>
        <p:nvSpPr>
          <p:cNvPr id="27" name="Shape 25"/>
          <p:cNvSpPr/>
          <p:nvPr/>
        </p:nvSpPr>
        <p:spPr>
          <a:xfrm>
            <a:off x="6470752" y="3374136"/>
            <a:ext cx="402336" cy="402336"/>
          </a:xfrm>
          <a:prstGeom prst="ellipse">
            <a:avLst/>
          </a:prstGeom>
          <a:solidFill>
            <a:srgbClr val="0F2942"/>
          </a:solidFill>
          <a:ln w="12700">
            <a:solidFill>
              <a:srgbClr val="0F2942"/>
            </a:solidFill>
            <a:prstDash val="solid"/>
          </a:ln>
        </p:spPr>
        <p:txBody>
          <a:bodyPr/>
          <a:lstStyle/>
          <a:p>
            <a:endParaRPr lang="en-US"/>
          </a:p>
        </p:txBody>
      </p:sp>
      <p:sp>
        <p:nvSpPr>
          <p:cNvPr id="28" name="Text 26"/>
          <p:cNvSpPr txBox="1"/>
          <p:nvPr/>
        </p:nvSpPr>
        <p:spPr>
          <a:xfrm>
            <a:off x="6470752" y="337413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7"/>
          <p:cNvSpPr txBox="1"/>
          <p:nvPr/>
        </p:nvSpPr>
        <p:spPr>
          <a:xfrm>
            <a:off x="7055968" y="3273552"/>
            <a:ext cx="4294480" cy="603504"/>
          </a:xfrm>
          <a:prstGeom prst="rect">
            <a:avLst/>
          </a:prstGeom>
          <a:noFill/>
          <a:ln/>
        </p:spPr>
        <p:txBody>
          <a:bodyPr wrap="square" lIns="0" tIns="0" rIns="0" bIns="0" rtlCol="0" anchor="ctr"/>
          <a:lstStyle/>
          <a:p>
            <a:pPr marL="0" indent="0">
              <a:lnSpc>
                <a:spcPct val="105000"/>
              </a:lnSpc>
              <a:buNone/>
            </a:pPr>
            <a:r>
              <a:rPr lang="en-US" sz="1300" dirty="0">
                <a:solidFill>
                  <a:srgbClr val="3A536B"/>
                </a:solidFill>
                <a:latin typeface="Calibri" pitchFamily="34" charset="0"/>
                <a:ea typeface="Calibri" pitchFamily="34" charset="-122"/>
                <a:cs typeface="Calibri" pitchFamily="34" charset="-120"/>
              </a:rPr>
              <a:t>Use sound Java programming style and document your programs properly.</a:t>
            </a:r>
            <a:endParaRPr lang="en-US" sz="1300" dirty="0"/>
          </a:p>
        </p:txBody>
      </p:sp>
      <p:sp>
        <p:nvSpPr>
          <p:cNvPr id="30" name="Shape 28"/>
          <p:cNvSpPr/>
          <p:nvPr/>
        </p:nvSpPr>
        <p:spPr>
          <a:xfrm>
            <a:off x="566928" y="4142232"/>
            <a:ext cx="5391760" cy="786384"/>
          </a:xfrm>
          <a:prstGeom prst="roundRect">
            <a:avLst>
              <a:gd name="adj" fmla="val 10465"/>
            </a:avLst>
          </a:prstGeom>
          <a:solidFill>
            <a:srgbClr val="F1F5F9"/>
          </a:solidFill>
          <a:ln w="12700">
            <a:solidFill>
              <a:srgbClr val="F1F5F9"/>
            </a:solidFill>
            <a:prstDash val="solid"/>
          </a:ln>
        </p:spPr>
        <p:txBody>
          <a:bodyPr/>
          <a:lstStyle/>
          <a:p>
            <a:endParaRPr lang="en-US"/>
          </a:p>
        </p:txBody>
      </p:sp>
      <p:sp>
        <p:nvSpPr>
          <p:cNvPr id="31" name="Shape 29"/>
          <p:cNvSpPr/>
          <p:nvPr/>
        </p:nvSpPr>
        <p:spPr>
          <a:xfrm>
            <a:off x="804672" y="4334256"/>
            <a:ext cx="402336" cy="402336"/>
          </a:xfrm>
          <a:prstGeom prst="ellipse">
            <a:avLst/>
          </a:prstGeom>
          <a:solidFill>
            <a:srgbClr val="0F2942"/>
          </a:solidFill>
          <a:ln w="12700">
            <a:solidFill>
              <a:srgbClr val="0F2942"/>
            </a:solidFill>
            <a:prstDash val="solid"/>
          </a:ln>
        </p:spPr>
        <p:txBody>
          <a:bodyPr/>
          <a:lstStyle/>
          <a:p>
            <a:endParaRPr lang="en-US"/>
          </a:p>
        </p:txBody>
      </p:sp>
      <p:sp>
        <p:nvSpPr>
          <p:cNvPr id="32" name="Text 30"/>
          <p:cNvSpPr txBox="1"/>
          <p:nvPr/>
        </p:nvSpPr>
        <p:spPr>
          <a:xfrm>
            <a:off x="804672" y="433425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3" name="Text 31"/>
          <p:cNvSpPr txBox="1"/>
          <p:nvPr/>
        </p:nvSpPr>
        <p:spPr>
          <a:xfrm>
            <a:off x="1389888" y="4233672"/>
            <a:ext cx="4294480" cy="603504"/>
          </a:xfrm>
          <a:prstGeom prst="rect">
            <a:avLst/>
          </a:prstGeom>
          <a:noFill/>
          <a:ln/>
        </p:spPr>
        <p:txBody>
          <a:bodyPr wrap="square" lIns="0" tIns="0" rIns="0" bIns="0" rtlCol="0" anchor="ctr"/>
          <a:lstStyle/>
          <a:p>
            <a:pPr marL="0" indent="0">
              <a:lnSpc>
                <a:spcPct val="105000"/>
              </a:lnSpc>
              <a:buNone/>
            </a:pPr>
            <a:r>
              <a:rPr lang="en-US" sz="1300" dirty="0">
                <a:solidFill>
                  <a:srgbClr val="3A536B"/>
                </a:solidFill>
                <a:latin typeface="Calibri" pitchFamily="34" charset="0"/>
                <a:ea typeface="Calibri" pitchFamily="34" charset="-122"/>
                <a:cs typeface="Calibri" pitchFamily="34" charset="-120"/>
              </a:rPr>
              <a:t>Tell syntax errors, runtime errors and logic errors apart.</a:t>
            </a:r>
            <a:endParaRPr lang="en-US" sz="1300" dirty="0"/>
          </a:p>
        </p:txBody>
      </p:sp>
      <p:sp>
        <p:nvSpPr>
          <p:cNvPr id="34" name="Shape 32"/>
          <p:cNvSpPr/>
          <p:nvPr/>
        </p:nvSpPr>
        <p:spPr>
          <a:xfrm>
            <a:off x="6233008" y="4142232"/>
            <a:ext cx="5391760" cy="786384"/>
          </a:xfrm>
          <a:prstGeom prst="roundRect">
            <a:avLst>
              <a:gd name="adj" fmla="val 10465"/>
            </a:avLst>
          </a:prstGeom>
          <a:solidFill>
            <a:srgbClr val="FFFFFF"/>
          </a:solidFill>
          <a:ln w="12700">
            <a:solidFill>
              <a:srgbClr val="D3DEE7"/>
            </a:solidFill>
            <a:prstDash val="solid"/>
          </a:ln>
        </p:spPr>
        <p:txBody>
          <a:bodyPr/>
          <a:lstStyle/>
          <a:p>
            <a:endParaRPr lang="en-US"/>
          </a:p>
        </p:txBody>
      </p:sp>
      <p:sp>
        <p:nvSpPr>
          <p:cNvPr id="35" name="Shape 33"/>
          <p:cNvSpPr/>
          <p:nvPr/>
        </p:nvSpPr>
        <p:spPr>
          <a:xfrm>
            <a:off x="6470752" y="4334256"/>
            <a:ext cx="402336" cy="402336"/>
          </a:xfrm>
          <a:prstGeom prst="ellipse">
            <a:avLst/>
          </a:prstGeom>
          <a:solidFill>
            <a:srgbClr val="0F2942"/>
          </a:solidFill>
          <a:ln w="12700">
            <a:solidFill>
              <a:srgbClr val="0F2942"/>
            </a:solidFill>
            <a:prstDash val="solid"/>
          </a:ln>
        </p:spPr>
        <p:txBody>
          <a:bodyPr/>
          <a:lstStyle/>
          <a:p>
            <a:endParaRPr lang="en-US"/>
          </a:p>
        </p:txBody>
      </p:sp>
      <p:sp>
        <p:nvSpPr>
          <p:cNvPr id="36" name="Text 34"/>
          <p:cNvSpPr txBox="1"/>
          <p:nvPr/>
        </p:nvSpPr>
        <p:spPr>
          <a:xfrm>
            <a:off x="6470752" y="433425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7" name="Text 35"/>
          <p:cNvSpPr txBox="1"/>
          <p:nvPr/>
        </p:nvSpPr>
        <p:spPr>
          <a:xfrm>
            <a:off x="7055968" y="4233672"/>
            <a:ext cx="4294480" cy="603504"/>
          </a:xfrm>
          <a:prstGeom prst="rect">
            <a:avLst/>
          </a:prstGeom>
          <a:noFill/>
          <a:ln/>
        </p:spPr>
        <p:txBody>
          <a:bodyPr wrap="square" lIns="0" tIns="0" rIns="0" bIns="0" rtlCol="0" anchor="ctr"/>
          <a:lstStyle/>
          <a:p>
            <a:pPr marL="0" indent="0">
              <a:lnSpc>
                <a:spcPct val="105000"/>
              </a:lnSpc>
              <a:buNone/>
            </a:pPr>
            <a:r>
              <a:rPr lang="en-US" sz="1300" dirty="0">
                <a:solidFill>
                  <a:srgbClr val="3A536B"/>
                </a:solidFill>
                <a:latin typeface="Calibri" pitchFamily="34" charset="0"/>
                <a:ea typeface="Calibri" pitchFamily="34" charset="-122"/>
                <a:cs typeface="Calibri" pitchFamily="34" charset="-120"/>
              </a:rPr>
              <a:t>Develop and run Java programs using IntelliJ IDEA.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HOW PROGRAMS RUN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A Computer Cannot Read Your Source Code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A program written in a high-level language is a source program. It must be translated into machine code before anything happens. There are two classic strategies.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566928" y="1581912"/>
            <a:ext cx="5346040" cy="3566160"/>
          </a:xfrm>
          <a:prstGeom prst="roundRect">
            <a:avLst>
              <a:gd name="adj" fmla="val 2308"/>
            </a:avLst>
          </a:prstGeom>
          <a:solidFill>
            <a:srgbClr val="F1F5F9"/>
          </a:solidFill>
          <a:ln w="12700">
            <a:solidFill>
              <a:srgbClr val="F1F5F9"/>
            </a:solidFill>
            <a:prstDash val="solid"/>
          </a:ln>
        </p:spPr>
        <p:txBody>
          <a:bodyPr/>
          <a:lstStyle/>
          <a:p>
            <a:endParaRPr lang="en-US"/>
          </a:p>
        </p:txBody>
      </p:sp>
      <p:sp>
        <p:nvSpPr>
          <p:cNvPr id="8" name="Text 6"/>
          <p:cNvSpPr txBox="1"/>
          <p:nvPr/>
        </p:nvSpPr>
        <p:spPr>
          <a:xfrm>
            <a:off x="841248" y="1783080"/>
            <a:ext cx="4797400"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An interpreter</a:t>
            </a:r>
            <a:endParaRPr lang="en-US" sz="1700" dirty="0"/>
          </a:p>
        </p:txBody>
      </p:sp>
      <p:sp>
        <p:nvSpPr>
          <p:cNvPr id="9" name="Text 7"/>
          <p:cNvSpPr txBox="1"/>
          <p:nvPr/>
        </p:nvSpPr>
        <p:spPr>
          <a:xfrm>
            <a:off x="841248" y="2130552"/>
            <a:ext cx="4797400" cy="868680"/>
          </a:xfrm>
          <a:prstGeom prst="rect">
            <a:avLst/>
          </a:prstGeom>
          <a:noFill/>
          <a:ln/>
        </p:spPr>
        <p:txBody>
          <a:bodyPr wrap="square" lIns="0" tIns="0" rIns="0" bIns="0" rtlCol="0" anchor="t"/>
          <a:lstStyle/>
          <a:p>
            <a:pPr marL="0" indent="0">
              <a:lnSpc>
                <a:spcPct val="110000"/>
              </a:lnSpc>
              <a:buNone/>
            </a:pPr>
            <a:r>
              <a:rPr lang="en-US" sz="1250" dirty="0">
                <a:solidFill>
                  <a:srgbClr val="3A536B"/>
                </a:solidFill>
                <a:latin typeface="Calibri" pitchFamily="34" charset="0"/>
                <a:ea typeface="Calibri" pitchFamily="34" charset="-122"/>
                <a:cs typeface="Calibri" pitchFamily="34" charset="-120"/>
              </a:rPr>
              <a:t>Reads one statement, translates it to machine code, and executes it immediately — then moves to the next. A single source statement may become several machine instructions.</a:t>
            </a:r>
            <a:endParaRPr lang="en-US" sz="1250" dirty="0"/>
          </a:p>
        </p:txBody>
      </p:sp>
      <p:sp>
        <p:nvSpPr>
          <p:cNvPr id="10" name="Shape 8"/>
          <p:cNvSpPr/>
          <p:nvPr/>
        </p:nvSpPr>
        <p:spPr>
          <a:xfrm>
            <a:off x="841248" y="3364992"/>
            <a:ext cx="1416253" cy="868680"/>
          </a:xfrm>
          <a:prstGeom prst="roundRect">
            <a:avLst>
              <a:gd name="adj" fmla="val 8421"/>
            </a:avLst>
          </a:prstGeom>
          <a:solidFill>
            <a:srgbClr val="FFFFFF"/>
          </a:solidFill>
          <a:ln w="15875">
            <a:solidFill>
              <a:srgbClr val="D3DEE7"/>
            </a:solidFill>
            <a:prstDash val="solid"/>
          </a:ln>
        </p:spPr>
        <p:txBody>
          <a:bodyPr/>
          <a:lstStyle/>
          <a:p>
            <a:endParaRPr lang="en-US"/>
          </a:p>
        </p:txBody>
      </p:sp>
      <p:sp>
        <p:nvSpPr>
          <p:cNvPr id="11" name="Text 9"/>
          <p:cNvSpPr txBox="1"/>
          <p:nvPr/>
        </p:nvSpPr>
        <p:spPr>
          <a:xfrm>
            <a:off x="896112" y="3364992"/>
            <a:ext cx="1306525" cy="868680"/>
          </a:xfrm>
          <a:prstGeom prst="rect">
            <a:avLst/>
          </a:prstGeom>
          <a:noFill/>
          <a:ln/>
        </p:spPr>
        <p:txBody>
          <a:bodyPr wrap="square" lIns="0" tIns="0" rIns="0" bIns="0" rtlCol="0" anchor="ctr"/>
          <a:lstStyle/>
          <a:p>
            <a:pPr marL="0" indent="0" algn="ctr">
              <a:lnSpc>
                <a:spcPct val="100000"/>
              </a:lnSpc>
              <a:buNone/>
            </a:pPr>
            <a:r>
              <a:rPr lang="en-US" sz="1200" b="1" dirty="0">
                <a:solidFill>
                  <a:srgbClr val="0F2942"/>
                </a:solidFill>
                <a:latin typeface="Calibri" pitchFamily="34" charset="0"/>
                <a:ea typeface="Calibri" pitchFamily="34" charset="-122"/>
                <a:cs typeface="Calibri" pitchFamily="34" charset="-120"/>
              </a:rPr>
              <a:t>Source</a:t>
            </a:r>
            <a:endParaRPr lang="en-US" sz="1200" dirty="0"/>
          </a:p>
          <a:p>
            <a:pPr marL="0" indent="0" algn="ctr">
              <a:lnSpc>
                <a:spcPct val="100000"/>
              </a:lnSpc>
              <a:buNone/>
            </a:pPr>
            <a:r>
              <a:rPr lang="en-US" sz="1200" b="1" dirty="0">
                <a:solidFill>
                  <a:srgbClr val="0F2942"/>
                </a:solidFill>
                <a:latin typeface="Calibri" pitchFamily="34" charset="0"/>
                <a:ea typeface="Calibri" pitchFamily="34" charset="-122"/>
                <a:cs typeface="Calibri" pitchFamily="34" charset="-120"/>
              </a:rPr>
              <a:t>code</a:t>
            </a:r>
            <a:endParaRPr lang="en-US" sz="1200" dirty="0"/>
          </a:p>
        </p:txBody>
      </p:sp>
      <p:sp>
        <p:nvSpPr>
          <p:cNvPr id="12" name="Text 10"/>
          <p:cNvSpPr txBox="1"/>
          <p:nvPr/>
        </p:nvSpPr>
        <p:spPr>
          <a:xfrm>
            <a:off x="2257501" y="3364992"/>
            <a:ext cx="274320" cy="868680"/>
          </a:xfrm>
          <a:prstGeom prst="rect">
            <a:avLst/>
          </a:prstGeom>
          <a:noFill/>
          <a:ln/>
        </p:spPr>
        <p:txBody>
          <a:bodyPr wrap="square" lIns="0" tIns="0" rIns="0" bIns="0" rtlCol="0" anchor="ctr"/>
          <a:lstStyle/>
          <a:p>
            <a:pPr marL="0" indent="0" algn="ctr">
              <a:buNone/>
            </a:pPr>
            <a:r>
              <a:rPr lang="en-US" sz="1600" b="1" dirty="0">
                <a:solidFill>
                  <a:srgbClr val="9A430A"/>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2531821" y="3364992"/>
            <a:ext cx="1416253" cy="868680"/>
          </a:xfrm>
          <a:prstGeom prst="roundRect">
            <a:avLst>
              <a:gd name="adj" fmla="val 8421"/>
            </a:avLst>
          </a:prstGeom>
          <a:solidFill>
            <a:srgbClr val="FBEEE0"/>
          </a:solidFill>
          <a:ln w="15875">
            <a:solidFill>
              <a:srgbClr val="C4560C"/>
            </a:solidFill>
            <a:prstDash val="solid"/>
          </a:ln>
        </p:spPr>
        <p:txBody>
          <a:bodyPr/>
          <a:lstStyle/>
          <a:p>
            <a:endParaRPr lang="en-US"/>
          </a:p>
        </p:txBody>
      </p:sp>
      <p:sp>
        <p:nvSpPr>
          <p:cNvPr id="14" name="Text 12"/>
          <p:cNvSpPr txBox="1"/>
          <p:nvPr/>
        </p:nvSpPr>
        <p:spPr>
          <a:xfrm>
            <a:off x="2586685" y="3364992"/>
            <a:ext cx="1306525" cy="868680"/>
          </a:xfrm>
          <a:prstGeom prst="rect">
            <a:avLst/>
          </a:prstGeom>
          <a:noFill/>
          <a:ln/>
        </p:spPr>
        <p:txBody>
          <a:bodyPr wrap="square" lIns="0" tIns="0" rIns="0" bIns="0" rtlCol="0" anchor="ctr"/>
          <a:lstStyle/>
          <a:p>
            <a:pPr marL="0" indent="0" algn="ctr">
              <a:lnSpc>
                <a:spcPct val="100000"/>
              </a:lnSpc>
              <a:buNone/>
            </a:pPr>
            <a:r>
              <a:rPr lang="en-US" sz="1200" b="1" dirty="0">
                <a:solidFill>
                  <a:srgbClr val="9A430A"/>
                </a:solidFill>
                <a:latin typeface="Calibri" pitchFamily="34" charset="0"/>
                <a:ea typeface="Calibri" pitchFamily="34" charset="-122"/>
                <a:cs typeface="Calibri" pitchFamily="34" charset="-120"/>
              </a:rPr>
              <a:t>Interpreter</a:t>
            </a:r>
            <a:endParaRPr lang="en-US" sz="1200" dirty="0"/>
          </a:p>
        </p:txBody>
      </p:sp>
      <p:sp>
        <p:nvSpPr>
          <p:cNvPr id="15" name="Text 13"/>
          <p:cNvSpPr txBox="1"/>
          <p:nvPr/>
        </p:nvSpPr>
        <p:spPr>
          <a:xfrm>
            <a:off x="3948074" y="3364992"/>
            <a:ext cx="274320" cy="868680"/>
          </a:xfrm>
          <a:prstGeom prst="rect">
            <a:avLst/>
          </a:prstGeom>
          <a:noFill/>
          <a:ln/>
        </p:spPr>
        <p:txBody>
          <a:bodyPr wrap="square" lIns="0" tIns="0" rIns="0" bIns="0" rtlCol="0" anchor="ctr"/>
          <a:lstStyle/>
          <a:p>
            <a:pPr marL="0" indent="0" algn="ctr">
              <a:buNone/>
            </a:pPr>
            <a:r>
              <a:rPr lang="en-US" sz="1600" b="1" dirty="0">
                <a:solidFill>
                  <a:srgbClr val="9A430A"/>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4222394" y="3364992"/>
            <a:ext cx="1416253" cy="868680"/>
          </a:xfrm>
          <a:prstGeom prst="roundRect">
            <a:avLst>
              <a:gd name="adj" fmla="val 8421"/>
            </a:avLst>
          </a:prstGeom>
          <a:solidFill>
            <a:srgbClr val="FFFFFF"/>
          </a:solidFill>
          <a:ln w="15875">
            <a:solidFill>
              <a:srgbClr val="D3DEE7"/>
            </a:solidFill>
            <a:prstDash val="solid"/>
          </a:ln>
        </p:spPr>
        <p:txBody>
          <a:bodyPr/>
          <a:lstStyle/>
          <a:p>
            <a:endParaRPr lang="en-US"/>
          </a:p>
        </p:txBody>
      </p:sp>
      <p:sp>
        <p:nvSpPr>
          <p:cNvPr id="17" name="Text 15"/>
          <p:cNvSpPr txBox="1"/>
          <p:nvPr/>
        </p:nvSpPr>
        <p:spPr>
          <a:xfrm>
            <a:off x="4277258" y="3364992"/>
            <a:ext cx="1306525" cy="868680"/>
          </a:xfrm>
          <a:prstGeom prst="rect">
            <a:avLst/>
          </a:prstGeom>
          <a:noFill/>
          <a:ln/>
        </p:spPr>
        <p:txBody>
          <a:bodyPr wrap="square" lIns="0" tIns="0" rIns="0" bIns="0" rtlCol="0" anchor="ctr"/>
          <a:lstStyle/>
          <a:p>
            <a:pPr marL="0" indent="0" algn="ctr">
              <a:lnSpc>
                <a:spcPct val="100000"/>
              </a:lnSpc>
              <a:buNone/>
            </a:pPr>
            <a:r>
              <a:rPr lang="en-US" sz="1200" b="1" dirty="0">
                <a:solidFill>
                  <a:srgbClr val="0F2942"/>
                </a:solidFill>
                <a:latin typeface="Calibri" pitchFamily="34" charset="0"/>
                <a:ea typeface="Calibri" pitchFamily="34" charset="-122"/>
                <a:cs typeface="Calibri" pitchFamily="34" charset="-120"/>
              </a:rPr>
              <a:t>Output</a:t>
            </a:r>
            <a:endParaRPr lang="en-US" sz="1200" dirty="0"/>
          </a:p>
        </p:txBody>
      </p:sp>
      <p:sp>
        <p:nvSpPr>
          <p:cNvPr id="18" name="Text 16"/>
          <p:cNvSpPr txBox="1"/>
          <p:nvPr/>
        </p:nvSpPr>
        <p:spPr>
          <a:xfrm>
            <a:off x="841248" y="4306824"/>
            <a:ext cx="4797400" cy="256032"/>
          </a:xfrm>
          <a:prstGeom prst="rect">
            <a:avLst/>
          </a:prstGeom>
          <a:noFill/>
          <a:ln/>
        </p:spPr>
        <p:txBody>
          <a:bodyPr wrap="square" lIns="0" tIns="0" rIns="0" bIns="0" rtlCol="0" anchor="ctr"/>
          <a:lstStyle/>
          <a:p>
            <a:pPr marL="0" indent="0" algn="ctr">
              <a:buNone/>
            </a:pPr>
            <a:r>
              <a:rPr lang="en-US" sz="1150" dirty="0">
                <a:solidFill>
                  <a:srgbClr val="3A536B"/>
                </a:solidFill>
                <a:latin typeface="Calibri" pitchFamily="34" charset="0"/>
                <a:ea typeface="Calibri" pitchFamily="34" charset="-122"/>
                <a:cs typeface="Calibri" pitchFamily="34" charset="-120"/>
              </a:rPr>
              <a:t>…repeated, one statement at a time</a:t>
            </a:r>
            <a:endParaRPr lang="en-US" sz="1150" dirty="0"/>
          </a:p>
        </p:txBody>
      </p:sp>
      <p:sp>
        <p:nvSpPr>
          <p:cNvPr id="19" name="Text 17"/>
          <p:cNvSpPr txBox="1"/>
          <p:nvPr/>
        </p:nvSpPr>
        <p:spPr>
          <a:xfrm>
            <a:off x="841248" y="4645152"/>
            <a:ext cx="4797400" cy="274320"/>
          </a:xfrm>
          <a:prstGeom prst="rect">
            <a:avLst/>
          </a:prstGeom>
          <a:noFill/>
          <a:ln/>
        </p:spPr>
        <p:txBody>
          <a:bodyPr wrap="square" lIns="0" tIns="0" rIns="0" bIns="0" rtlCol="0" anchor="ctr"/>
          <a:lstStyle/>
          <a:p>
            <a:pPr marL="0" indent="0">
              <a:buNone/>
            </a:pPr>
            <a:r>
              <a:rPr lang="en-US" sz="1150" i="1" dirty="0">
                <a:solidFill>
                  <a:srgbClr val="4B6377"/>
                </a:solidFill>
                <a:latin typeface="Calibri" pitchFamily="34" charset="0"/>
                <a:ea typeface="Calibri" pitchFamily="34" charset="-122"/>
                <a:cs typeface="Calibri" pitchFamily="34" charset="-120"/>
              </a:rPr>
              <a:t>Slower to run, but no separate build step.</a:t>
            </a:r>
            <a:endParaRPr lang="en-US" sz="1150" dirty="0"/>
          </a:p>
        </p:txBody>
      </p:sp>
      <p:sp>
        <p:nvSpPr>
          <p:cNvPr id="20" name="Shape 18"/>
          <p:cNvSpPr/>
          <p:nvPr/>
        </p:nvSpPr>
        <p:spPr>
          <a:xfrm>
            <a:off x="6278728" y="1581912"/>
            <a:ext cx="5346040" cy="3566160"/>
          </a:xfrm>
          <a:prstGeom prst="roundRect">
            <a:avLst>
              <a:gd name="adj" fmla="val 2308"/>
            </a:avLst>
          </a:prstGeom>
          <a:solidFill>
            <a:srgbClr val="F1F5F9"/>
          </a:solidFill>
          <a:ln w="12700">
            <a:solidFill>
              <a:srgbClr val="F1F5F9"/>
            </a:solidFill>
            <a:prstDash val="solid"/>
          </a:ln>
        </p:spPr>
        <p:txBody>
          <a:bodyPr/>
          <a:lstStyle/>
          <a:p>
            <a:endParaRPr lang="en-US"/>
          </a:p>
        </p:txBody>
      </p:sp>
      <p:sp>
        <p:nvSpPr>
          <p:cNvPr id="21" name="Text 19"/>
          <p:cNvSpPr txBox="1"/>
          <p:nvPr/>
        </p:nvSpPr>
        <p:spPr>
          <a:xfrm>
            <a:off x="6553048" y="1783080"/>
            <a:ext cx="4797400"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A compiler</a:t>
            </a:r>
            <a:endParaRPr lang="en-US" sz="1700" dirty="0"/>
          </a:p>
        </p:txBody>
      </p:sp>
      <p:sp>
        <p:nvSpPr>
          <p:cNvPr id="22" name="Text 20"/>
          <p:cNvSpPr txBox="1"/>
          <p:nvPr/>
        </p:nvSpPr>
        <p:spPr>
          <a:xfrm>
            <a:off x="6553048" y="2130552"/>
            <a:ext cx="4797400" cy="868680"/>
          </a:xfrm>
          <a:prstGeom prst="rect">
            <a:avLst/>
          </a:prstGeom>
          <a:noFill/>
          <a:ln/>
        </p:spPr>
        <p:txBody>
          <a:bodyPr wrap="square" lIns="0" tIns="0" rIns="0" bIns="0" rtlCol="0" anchor="t"/>
          <a:lstStyle/>
          <a:p>
            <a:pPr marL="0" indent="0">
              <a:lnSpc>
                <a:spcPct val="110000"/>
              </a:lnSpc>
              <a:buNone/>
            </a:pPr>
            <a:r>
              <a:rPr lang="en-US" sz="1250" dirty="0">
                <a:solidFill>
                  <a:srgbClr val="3A536B"/>
                </a:solidFill>
                <a:latin typeface="Calibri" pitchFamily="34" charset="0"/>
                <a:ea typeface="Calibri" pitchFamily="34" charset="-122"/>
                <a:cs typeface="Calibri" pitchFamily="34" charset="-120"/>
              </a:rPr>
              <a:t>Translates the whole source program into a machine-code file in one pass. That file is then executed — and can be executed again without re-translating.</a:t>
            </a:r>
            <a:endParaRPr lang="en-US" sz="1250" dirty="0"/>
          </a:p>
        </p:txBody>
      </p:sp>
      <p:sp>
        <p:nvSpPr>
          <p:cNvPr id="23" name="Shape 21"/>
          <p:cNvSpPr/>
          <p:nvPr/>
        </p:nvSpPr>
        <p:spPr>
          <a:xfrm>
            <a:off x="6553048" y="3364992"/>
            <a:ext cx="1034758" cy="868680"/>
          </a:xfrm>
          <a:prstGeom prst="roundRect">
            <a:avLst>
              <a:gd name="adj" fmla="val 8421"/>
            </a:avLst>
          </a:prstGeom>
          <a:solidFill>
            <a:srgbClr val="FFFFFF"/>
          </a:solidFill>
          <a:ln w="15875">
            <a:solidFill>
              <a:srgbClr val="D3DEE7"/>
            </a:solidFill>
            <a:prstDash val="solid"/>
          </a:ln>
        </p:spPr>
        <p:txBody>
          <a:bodyPr/>
          <a:lstStyle/>
          <a:p>
            <a:endParaRPr lang="en-US"/>
          </a:p>
        </p:txBody>
      </p:sp>
      <p:sp>
        <p:nvSpPr>
          <p:cNvPr id="24" name="Text 22"/>
          <p:cNvSpPr txBox="1"/>
          <p:nvPr/>
        </p:nvSpPr>
        <p:spPr>
          <a:xfrm>
            <a:off x="6607912" y="3364992"/>
            <a:ext cx="92503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0F2942"/>
                </a:solidFill>
                <a:latin typeface="Calibri" pitchFamily="34" charset="0"/>
                <a:ea typeface="Calibri" pitchFamily="34" charset="-122"/>
                <a:cs typeface="Calibri" pitchFamily="34" charset="-120"/>
              </a:rPr>
              <a:t>Source</a:t>
            </a:r>
            <a:endParaRPr lang="en-US" sz="1100" dirty="0"/>
          </a:p>
          <a:p>
            <a:pPr marL="0" indent="0" algn="ctr">
              <a:lnSpc>
                <a:spcPct val="100000"/>
              </a:lnSpc>
              <a:buNone/>
            </a:pPr>
            <a:r>
              <a:rPr lang="en-US" sz="1100" b="1" dirty="0">
                <a:solidFill>
                  <a:srgbClr val="0F2942"/>
                </a:solidFill>
                <a:latin typeface="Calibri" pitchFamily="34" charset="0"/>
                <a:ea typeface="Calibri" pitchFamily="34" charset="-122"/>
                <a:cs typeface="Calibri" pitchFamily="34" charset="-120"/>
              </a:rPr>
              <a:t>code</a:t>
            </a:r>
            <a:endParaRPr lang="en-US" sz="1100" dirty="0"/>
          </a:p>
        </p:txBody>
      </p:sp>
      <p:sp>
        <p:nvSpPr>
          <p:cNvPr id="25" name="Text 23"/>
          <p:cNvSpPr txBox="1"/>
          <p:nvPr/>
        </p:nvSpPr>
        <p:spPr>
          <a:xfrm>
            <a:off x="7587806" y="3364992"/>
            <a:ext cx="219456" cy="868680"/>
          </a:xfrm>
          <a:prstGeom prst="rect">
            <a:avLst/>
          </a:prstGeom>
          <a:noFill/>
          <a:ln/>
        </p:spPr>
        <p:txBody>
          <a:bodyPr wrap="square" lIns="0" tIns="0" rIns="0" bIns="0" rtlCol="0" anchor="ctr"/>
          <a:lstStyle/>
          <a:p>
            <a:pPr marL="0" indent="0" algn="ctr">
              <a:buNone/>
            </a:pPr>
            <a:r>
              <a:rPr lang="en-US" sz="1600" b="1" dirty="0">
                <a:solidFill>
                  <a:srgbClr val="9A430A"/>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7807262" y="3364992"/>
            <a:ext cx="1034758" cy="868680"/>
          </a:xfrm>
          <a:prstGeom prst="roundRect">
            <a:avLst>
              <a:gd name="adj" fmla="val 8421"/>
            </a:avLst>
          </a:prstGeom>
          <a:solidFill>
            <a:srgbClr val="FBEEE0"/>
          </a:solidFill>
          <a:ln w="15875">
            <a:solidFill>
              <a:srgbClr val="C4560C"/>
            </a:solidFill>
            <a:prstDash val="solid"/>
          </a:ln>
        </p:spPr>
        <p:txBody>
          <a:bodyPr/>
          <a:lstStyle/>
          <a:p>
            <a:endParaRPr lang="en-US"/>
          </a:p>
        </p:txBody>
      </p:sp>
      <p:sp>
        <p:nvSpPr>
          <p:cNvPr id="27" name="Text 25"/>
          <p:cNvSpPr txBox="1"/>
          <p:nvPr/>
        </p:nvSpPr>
        <p:spPr>
          <a:xfrm>
            <a:off x="7862126" y="3364992"/>
            <a:ext cx="92503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9A430A"/>
                </a:solidFill>
                <a:latin typeface="Calibri" pitchFamily="34" charset="0"/>
                <a:ea typeface="Calibri" pitchFamily="34" charset="-122"/>
                <a:cs typeface="Calibri" pitchFamily="34" charset="-120"/>
              </a:rPr>
              <a:t>Compiler</a:t>
            </a:r>
            <a:endParaRPr lang="en-US" sz="1100" dirty="0"/>
          </a:p>
        </p:txBody>
      </p:sp>
      <p:sp>
        <p:nvSpPr>
          <p:cNvPr id="28" name="Text 26"/>
          <p:cNvSpPr txBox="1"/>
          <p:nvPr/>
        </p:nvSpPr>
        <p:spPr>
          <a:xfrm>
            <a:off x="8842019" y="3364992"/>
            <a:ext cx="219456" cy="868680"/>
          </a:xfrm>
          <a:prstGeom prst="rect">
            <a:avLst/>
          </a:prstGeom>
          <a:noFill/>
          <a:ln/>
        </p:spPr>
        <p:txBody>
          <a:bodyPr wrap="square" lIns="0" tIns="0" rIns="0" bIns="0" rtlCol="0" anchor="ctr"/>
          <a:lstStyle/>
          <a:p>
            <a:pPr marL="0" indent="0" algn="ctr">
              <a:buNone/>
            </a:pPr>
            <a:r>
              <a:rPr lang="en-US" sz="1600" b="1" dirty="0">
                <a:solidFill>
                  <a:srgbClr val="9A430A"/>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9061475" y="3364992"/>
            <a:ext cx="1034758" cy="868680"/>
          </a:xfrm>
          <a:prstGeom prst="roundRect">
            <a:avLst>
              <a:gd name="adj" fmla="val 8421"/>
            </a:avLst>
          </a:prstGeom>
          <a:solidFill>
            <a:srgbClr val="FFFFFF"/>
          </a:solidFill>
          <a:ln w="15875">
            <a:solidFill>
              <a:srgbClr val="D3DEE7"/>
            </a:solidFill>
            <a:prstDash val="solid"/>
          </a:ln>
        </p:spPr>
        <p:txBody>
          <a:bodyPr/>
          <a:lstStyle/>
          <a:p>
            <a:endParaRPr lang="en-US"/>
          </a:p>
        </p:txBody>
      </p:sp>
      <p:sp>
        <p:nvSpPr>
          <p:cNvPr id="30" name="Text 28"/>
          <p:cNvSpPr txBox="1"/>
          <p:nvPr/>
        </p:nvSpPr>
        <p:spPr>
          <a:xfrm>
            <a:off x="9116339" y="3364992"/>
            <a:ext cx="92503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0F2942"/>
                </a:solidFill>
                <a:latin typeface="Calibri" pitchFamily="34" charset="0"/>
                <a:ea typeface="Calibri" pitchFamily="34" charset="-122"/>
                <a:cs typeface="Calibri" pitchFamily="34" charset="-120"/>
              </a:rPr>
              <a:t>Machine-</a:t>
            </a:r>
            <a:endParaRPr lang="en-US" sz="1100" dirty="0"/>
          </a:p>
          <a:p>
            <a:pPr marL="0" indent="0" algn="ctr">
              <a:lnSpc>
                <a:spcPct val="100000"/>
              </a:lnSpc>
              <a:buNone/>
            </a:pPr>
            <a:r>
              <a:rPr lang="en-US" sz="1100" b="1" dirty="0">
                <a:solidFill>
                  <a:srgbClr val="0F2942"/>
                </a:solidFill>
                <a:latin typeface="Calibri" pitchFamily="34" charset="0"/>
                <a:ea typeface="Calibri" pitchFamily="34" charset="-122"/>
                <a:cs typeface="Calibri" pitchFamily="34" charset="-120"/>
              </a:rPr>
              <a:t>code file</a:t>
            </a:r>
            <a:endParaRPr lang="en-US" sz="1100" dirty="0"/>
          </a:p>
        </p:txBody>
      </p:sp>
      <p:sp>
        <p:nvSpPr>
          <p:cNvPr id="31" name="Text 29"/>
          <p:cNvSpPr txBox="1"/>
          <p:nvPr/>
        </p:nvSpPr>
        <p:spPr>
          <a:xfrm>
            <a:off x="10096233" y="3364992"/>
            <a:ext cx="219456" cy="868680"/>
          </a:xfrm>
          <a:prstGeom prst="rect">
            <a:avLst/>
          </a:prstGeom>
          <a:noFill/>
          <a:ln/>
        </p:spPr>
        <p:txBody>
          <a:bodyPr wrap="square" lIns="0" tIns="0" rIns="0" bIns="0" rtlCol="0" anchor="ctr"/>
          <a:lstStyle/>
          <a:p>
            <a:pPr marL="0" indent="0" algn="ctr">
              <a:buNone/>
            </a:pPr>
            <a:r>
              <a:rPr lang="en-US" sz="1600" b="1" dirty="0">
                <a:solidFill>
                  <a:srgbClr val="9A430A"/>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10315689" y="3364992"/>
            <a:ext cx="1034758" cy="868680"/>
          </a:xfrm>
          <a:prstGeom prst="roundRect">
            <a:avLst>
              <a:gd name="adj" fmla="val 8421"/>
            </a:avLst>
          </a:prstGeom>
          <a:solidFill>
            <a:srgbClr val="FFFFFF"/>
          </a:solidFill>
          <a:ln w="15875">
            <a:solidFill>
              <a:srgbClr val="D3DEE7"/>
            </a:solidFill>
            <a:prstDash val="solid"/>
          </a:ln>
        </p:spPr>
        <p:txBody>
          <a:bodyPr/>
          <a:lstStyle/>
          <a:p>
            <a:endParaRPr lang="en-US"/>
          </a:p>
        </p:txBody>
      </p:sp>
      <p:sp>
        <p:nvSpPr>
          <p:cNvPr id="33" name="Text 31"/>
          <p:cNvSpPr txBox="1"/>
          <p:nvPr/>
        </p:nvSpPr>
        <p:spPr>
          <a:xfrm>
            <a:off x="10370553" y="3364992"/>
            <a:ext cx="92503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0F2942"/>
                </a:solidFill>
                <a:latin typeface="Calibri" pitchFamily="34" charset="0"/>
                <a:ea typeface="Calibri" pitchFamily="34" charset="-122"/>
                <a:cs typeface="Calibri" pitchFamily="34" charset="-120"/>
              </a:rPr>
              <a:t>Output</a:t>
            </a:r>
            <a:endParaRPr lang="en-US" sz="1100" dirty="0"/>
          </a:p>
        </p:txBody>
      </p:sp>
      <p:sp>
        <p:nvSpPr>
          <p:cNvPr id="34" name="Text 32"/>
          <p:cNvSpPr txBox="1"/>
          <p:nvPr/>
        </p:nvSpPr>
        <p:spPr>
          <a:xfrm>
            <a:off x="6553048" y="4306824"/>
            <a:ext cx="4797400" cy="256032"/>
          </a:xfrm>
          <a:prstGeom prst="rect">
            <a:avLst/>
          </a:prstGeom>
          <a:noFill/>
          <a:ln/>
        </p:spPr>
        <p:txBody>
          <a:bodyPr wrap="square" lIns="0" tIns="0" rIns="0" bIns="0" rtlCol="0" anchor="ctr"/>
          <a:lstStyle/>
          <a:p>
            <a:pPr marL="0" indent="0" algn="ctr">
              <a:buNone/>
            </a:pPr>
            <a:r>
              <a:rPr lang="en-US" sz="1150" dirty="0">
                <a:solidFill>
                  <a:srgbClr val="3A536B"/>
                </a:solidFill>
                <a:latin typeface="Calibri" pitchFamily="34" charset="0"/>
                <a:ea typeface="Calibri" pitchFamily="34" charset="-122"/>
                <a:cs typeface="Calibri" pitchFamily="34" charset="-120"/>
              </a:rPr>
              <a:t>…translated once, then run as often as you like</a:t>
            </a:r>
            <a:endParaRPr lang="en-US" sz="1150" dirty="0"/>
          </a:p>
        </p:txBody>
      </p:sp>
      <p:sp>
        <p:nvSpPr>
          <p:cNvPr id="35" name="Text 33"/>
          <p:cNvSpPr txBox="1"/>
          <p:nvPr/>
        </p:nvSpPr>
        <p:spPr>
          <a:xfrm>
            <a:off x="6553048" y="4645152"/>
            <a:ext cx="4797400" cy="274320"/>
          </a:xfrm>
          <a:prstGeom prst="rect">
            <a:avLst/>
          </a:prstGeom>
          <a:noFill/>
          <a:ln/>
        </p:spPr>
        <p:txBody>
          <a:bodyPr wrap="square" lIns="0" tIns="0" rIns="0" bIns="0" rtlCol="0" anchor="ctr"/>
          <a:lstStyle/>
          <a:p>
            <a:pPr marL="0" indent="0">
              <a:buNone/>
            </a:pPr>
            <a:r>
              <a:rPr lang="en-US" sz="1150" i="1" dirty="0">
                <a:solidFill>
                  <a:srgbClr val="4B6377"/>
                </a:solidFill>
                <a:latin typeface="Calibri" pitchFamily="34" charset="0"/>
                <a:ea typeface="Calibri" pitchFamily="34" charset="-122"/>
                <a:cs typeface="Calibri" pitchFamily="34" charset="-120"/>
              </a:rPr>
              <a:t>Faster to run, but the output only runs on one platform.</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HOW PROGRAMS RUN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Java Does Both — and That Is the Whole Trick</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javac compiles your source once into bytecode. The JVM then runs that bytecode on any platform.</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20</a:t>
            </a:r>
            <a:endParaRPr lang="en-US" sz="900" dirty="0"/>
          </a:p>
        </p:txBody>
      </p:sp>
      <p:sp>
        <p:nvSpPr>
          <p:cNvPr id="7" name="Text 5"/>
          <p:cNvSpPr txBox="1"/>
          <p:nvPr/>
        </p:nvSpPr>
        <p:spPr>
          <a:xfrm>
            <a:off x="6412687" y="1627632"/>
            <a:ext cx="5212080" cy="237744"/>
          </a:xfrm>
          <a:prstGeom prst="rect">
            <a:avLst/>
          </a:prstGeom>
          <a:noFill/>
          <a:ln/>
        </p:spPr>
        <p:txBody>
          <a:bodyPr wrap="square" lIns="0" tIns="0" rIns="0" bIns="0" rtlCol="0" anchor="ctr"/>
          <a:lstStyle/>
          <a:p>
            <a:pPr marL="0" indent="0" algn="ctr">
              <a:buNone/>
            </a:pPr>
            <a:r>
              <a:rPr lang="en-US" sz="1000" b="1" kern="0" spc="140" dirty="0">
                <a:solidFill>
                  <a:srgbClr val="9A430A"/>
                </a:solidFill>
                <a:latin typeface="Calibri" pitchFamily="34" charset="0"/>
                <a:ea typeface="Calibri" pitchFamily="34" charset="-122"/>
                <a:cs typeface="Calibri" pitchFamily="34" charset="-120"/>
              </a:rPr>
              <a:t>THE RUNTIME STACK</a:t>
            </a:r>
            <a:endParaRPr lang="en-US" sz="1000" dirty="0"/>
          </a:p>
        </p:txBody>
      </p:sp>
      <p:sp>
        <p:nvSpPr>
          <p:cNvPr id="8" name="Shape 6"/>
          <p:cNvSpPr/>
          <p:nvPr/>
        </p:nvSpPr>
        <p:spPr>
          <a:xfrm>
            <a:off x="6412687" y="1956816"/>
            <a:ext cx="5212080" cy="603504"/>
          </a:xfrm>
          <a:prstGeom prst="roundRect">
            <a:avLst>
              <a:gd name="adj" fmla="val 10606"/>
            </a:avLst>
          </a:prstGeom>
          <a:solidFill>
            <a:srgbClr val="FBEEE0"/>
          </a:solidFill>
          <a:ln w="15875">
            <a:solidFill>
              <a:srgbClr val="C4560C"/>
            </a:solidFill>
            <a:prstDash val="solid"/>
          </a:ln>
        </p:spPr>
        <p:txBody>
          <a:bodyPr/>
          <a:lstStyle/>
          <a:p>
            <a:endParaRPr lang="en-US"/>
          </a:p>
        </p:txBody>
      </p:sp>
      <p:sp>
        <p:nvSpPr>
          <p:cNvPr id="9" name="Text 7"/>
          <p:cNvSpPr txBox="1"/>
          <p:nvPr/>
        </p:nvSpPr>
        <p:spPr>
          <a:xfrm>
            <a:off x="6595567" y="1956816"/>
            <a:ext cx="4846320" cy="603504"/>
          </a:xfrm>
          <a:prstGeom prst="rect">
            <a:avLst/>
          </a:prstGeom>
          <a:noFill/>
          <a:ln/>
        </p:spPr>
        <p:txBody>
          <a:bodyPr wrap="square" lIns="0" tIns="0" rIns="0" bIns="0" rtlCol="0" anchor="ctr"/>
          <a:lstStyle/>
          <a:p>
            <a:pPr marL="0" indent="0" algn="ctr">
              <a:buNone/>
            </a:pPr>
            <a:r>
              <a:rPr lang="en-US" sz="1350" b="1" dirty="0">
                <a:solidFill>
                  <a:srgbClr val="9A430A"/>
                </a:solidFill>
                <a:latin typeface="Calibri" pitchFamily="34" charset="0"/>
                <a:ea typeface="Calibri" pitchFamily="34" charset="-122"/>
                <a:cs typeface="Calibri" pitchFamily="34" charset="-120"/>
              </a:rPr>
              <a:t>Your application bytecode  ( .class )</a:t>
            </a:r>
            <a:endParaRPr lang="en-US" sz="1350" dirty="0"/>
          </a:p>
        </p:txBody>
      </p:sp>
      <p:sp>
        <p:nvSpPr>
          <p:cNvPr id="10" name="Shape 8"/>
          <p:cNvSpPr/>
          <p:nvPr/>
        </p:nvSpPr>
        <p:spPr>
          <a:xfrm>
            <a:off x="6412687" y="2651760"/>
            <a:ext cx="5212080" cy="603504"/>
          </a:xfrm>
          <a:prstGeom prst="roundRect">
            <a:avLst>
              <a:gd name="adj" fmla="val 10606"/>
            </a:avLst>
          </a:prstGeom>
          <a:solidFill>
            <a:srgbClr val="E7F0F7"/>
          </a:solidFill>
          <a:ln w="15875">
            <a:solidFill>
              <a:srgbClr val="175680"/>
            </a:solidFill>
            <a:prstDash val="solid"/>
          </a:ln>
        </p:spPr>
        <p:txBody>
          <a:bodyPr/>
          <a:lstStyle/>
          <a:p>
            <a:endParaRPr lang="en-US"/>
          </a:p>
        </p:txBody>
      </p:sp>
      <p:sp>
        <p:nvSpPr>
          <p:cNvPr id="11" name="Text 9"/>
          <p:cNvSpPr txBox="1"/>
          <p:nvPr/>
        </p:nvSpPr>
        <p:spPr>
          <a:xfrm>
            <a:off x="6595567" y="2651760"/>
            <a:ext cx="4846320" cy="603504"/>
          </a:xfrm>
          <a:prstGeom prst="rect">
            <a:avLst/>
          </a:prstGeom>
          <a:noFill/>
          <a:ln/>
        </p:spPr>
        <p:txBody>
          <a:bodyPr wrap="square" lIns="0" tIns="0" rIns="0" bIns="0" rtlCol="0" anchor="ctr"/>
          <a:lstStyle/>
          <a:p>
            <a:pPr marL="0" indent="0" algn="ctr">
              <a:buNone/>
            </a:pPr>
            <a:r>
              <a:rPr lang="en-US" sz="1350" b="1" dirty="0">
                <a:solidFill>
                  <a:srgbClr val="175680"/>
                </a:solidFill>
                <a:latin typeface="Calibri" pitchFamily="34" charset="0"/>
                <a:ea typeface="Calibri" pitchFamily="34" charset="-122"/>
                <a:cs typeface="Calibri" pitchFamily="34" charset="-120"/>
              </a:rPr>
              <a:t>Java SE standard library APIs</a:t>
            </a:r>
            <a:endParaRPr lang="en-US" sz="1350" dirty="0"/>
          </a:p>
        </p:txBody>
      </p:sp>
      <p:sp>
        <p:nvSpPr>
          <p:cNvPr id="12" name="Shape 10"/>
          <p:cNvSpPr/>
          <p:nvPr/>
        </p:nvSpPr>
        <p:spPr>
          <a:xfrm>
            <a:off x="6412687" y="3346704"/>
            <a:ext cx="5212080" cy="603504"/>
          </a:xfrm>
          <a:prstGeom prst="roundRect">
            <a:avLst>
              <a:gd name="adj" fmla="val 10606"/>
            </a:avLst>
          </a:prstGeom>
          <a:solidFill>
            <a:srgbClr val="E4ECF4"/>
          </a:solidFill>
          <a:ln w="15875">
            <a:solidFill>
              <a:srgbClr val="1D4468"/>
            </a:solidFill>
            <a:prstDash val="solid"/>
          </a:ln>
        </p:spPr>
        <p:txBody>
          <a:bodyPr/>
          <a:lstStyle/>
          <a:p>
            <a:endParaRPr lang="en-US"/>
          </a:p>
        </p:txBody>
      </p:sp>
      <p:sp>
        <p:nvSpPr>
          <p:cNvPr id="13" name="Text 11"/>
          <p:cNvSpPr txBox="1"/>
          <p:nvPr/>
        </p:nvSpPr>
        <p:spPr>
          <a:xfrm>
            <a:off x="6595567" y="3346704"/>
            <a:ext cx="4846320" cy="603504"/>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Java Virtual Machine  ( JVM )</a:t>
            </a:r>
            <a:endParaRPr lang="en-US" sz="1350" dirty="0"/>
          </a:p>
        </p:txBody>
      </p:sp>
      <p:sp>
        <p:nvSpPr>
          <p:cNvPr id="14" name="Shape 12"/>
          <p:cNvSpPr/>
          <p:nvPr/>
        </p:nvSpPr>
        <p:spPr>
          <a:xfrm>
            <a:off x="6412687" y="4041648"/>
            <a:ext cx="5212080" cy="603504"/>
          </a:xfrm>
          <a:prstGeom prst="roundRect">
            <a:avLst>
              <a:gd name="adj" fmla="val 10606"/>
            </a:avLst>
          </a:prstGeom>
          <a:solidFill>
            <a:srgbClr val="F1F5F9"/>
          </a:solidFill>
          <a:ln w="12700">
            <a:solidFill>
              <a:srgbClr val="D3DEE7"/>
            </a:solidFill>
            <a:prstDash val="solid"/>
          </a:ln>
        </p:spPr>
        <p:txBody>
          <a:bodyPr/>
          <a:lstStyle/>
          <a:p>
            <a:endParaRPr lang="en-US"/>
          </a:p>
        </p:txBody>
      </p:sp>
      <p:sp>
        <p:nvSpPr>
          <p:cNvPr id="15" name="Text 13"/>
          <p:cNvSpPr txBox="1"/>
          <p:nvPr/>
        </p:nvSpPr>
        <p:spPr>
          <a:xfrm>
            <a:off x="6595567" y="4041648"/>
            <a:ext cx="4846320" cy="603504"/>
          </a:xfrm>
          <a:prstGeom prst="rect">
            <a:avLst/>
          </a:prstGeom>
          <a:noFill/>
          <a:ln/>
        </p:spPr>
        <p:txBody>
          <a:bodyPr wrap="square" lIns="0" tIns="0" rIns="0" bIns="0" rtlCol="0" anchor="ctr"/>
          <a:lstStyle/>
          <a:p>
            <a:pPr marL="0" indent="0" algn="ctr">
              <a:buNone/>
            </a:pPr>
            <a:r>
              <a:rPr lang="en-US" sz="1350" dirty="0">
                <a:solidFill>
                  <a:srgbClr val="3A536B"/>
                </a:solidFill>
                <a:latin typeface="Calibri" pitchFamily="34" charset="0"/>
                <a:ea typeface="Calibri" pitchFamily="34" charset="-122"/>
                <a:cs typeface="Calibri" pitchFamily="34" charset="-120"/>
              </a:rPr>
              <a:t>Operating system</a:t>
            </a:r>
            <a:endParaRPr lang="en-US" sz="1350" dirty="0"/>
          </a:p>
        </p:txBody>
      </p:sp>
      <p:sp>
        <p:nvSpPr>
          <p:cNvPr id="16" name="Shape 14"/>
          <p:cNvSpPr/>
          <p:nvPr/>
        </p:nvSpPr>
        <p:spPr>
          <a:xfrm>
            <a:off x="6412687" y="4736592"/>
            <a:ext cx="5212080" cy="603504"/>
          </a:xfrm>
          <a:prstGeom prst="roundRect">
            <a:avLst>
              <a:gd name="adj" fmla="val 10606"/>
            </a:avLst>
          </a:prstGeom>
          <a:solidFill>
            <a:srgbClr val="F1F5F9"/>
          </a:solidFill>
          <a:ln w="12700">
            <a:solidFill>
              <a:srgbClr val="D3DEE7"/>
            </a:solidFill>
            <a:prstDash val="solid"/>
          </a:ln>
        </p:spPr>
        <p:txBody>
          <a:bodyPr/>
          <a:lstStyle/>
          <a:p>
            <a:endParaRPr lang="en-US"/>
          </a:p>
        </p:txBody>
      </p:sp>
      <p:sp>
        <p:nvSpPr>
          <p:cNvPr id="17" name="Text 15"/>
          <p:cNvSpPr txBox="1"/>
          <p:nvPr/>
        </p:nvSpPr>
        <p:spPr>
          <a:xfrm>
            <a:off x="6595567" y="4736592"/>
            <a:ext cx="4846320" cy="603504"/>
          </a:xfrm>
          <a:prstGeom prst="rect">
            <a:avLst/>
          </a:prstGeom>
          <a:noFill/>
          <a:ln/>
        </p:spPr>
        <p:txBody>
          <a:bodyPr wrap="square" lIns="0" tIns="0" rIns="0" bIns="0" rtlCol="0" anchor="ctr"/>
          <a:lstStyle/>
          <a:p>
            <a:pPr marL="0" indent="0" algn="ctr">
              <a:buNone/>
            </a:pPr>
            <a:r>
              <a:rPr lang="en-US" sz="1350" dirty="0">
                <a:solidFill>
                  <a:srgbClr val="3A536B"/>
                </a:solidFill>
                <a:latin typeface="Calibri" pitchFamily="34" charset="0"/>
                <a:ea typeface="Calibri" pitchFamily="34" charset="-122"/>
                <a:cs typeface="Calibri" pitchFamily="34" charset="-120"/>
              </a:rPr>
              <a:t>Hardware</a:t>
            </a:r>
            <a:endParaRPr lang="en-US" sz="1350" dirty="0"/>
          </a:p>
        </p:txBody>
      </p:sp>
      <p:sp>
        <p:nvSpPr>
          <p:cNvPr id="18" name="Text 16"/>
          <p:cNvSpPr txBox="1"/>
          <p:nvPr/>
        </p:nvSpPr>
        <p:spPr>
          <a:xfrm>
            <a:off x="6412687" y="5504688"/>
            <a:ext cx="5212080" cy="640080"/>
          </a:xfrm>
          <a:prstGeom prst="rect">
            <a:avLst/>
          </a:prstGeom>
          <a:noFill/>
          <a:ln/>
        </p:spPr>
        <p:txBody>
          <a:bodyPr wrap="square" lIns="0" tIns="0" rIns="0" bIns="0" rtlCol="0" anchor="t"/>
          <a:lstStyle/>
          <a:p>
            <a:pPr marL="0" indent="0" algn="ctr">
              <a:lnSpc>
                <a:spcPct val="112000"/>
              </a:lnSpc>
              <a:buNone/>
            </a:pPr>
            <a:r>
              <a:rPr lang="en-US" sz="1200" dirty="0">
                <a:solidFill>
                  <a:srgbClr val="3A536B"/>
                </a:solidFill>
                <a:latin typeface="Calibri" pitchFamily="34" charset="0"/>
                <a:ea typeface="Calibri" pitchFamily="34" charset="-122"/>
                <a:cs typeface="Calibri" pitchFamily="34" charset="-120"/>
              </a:rPr>
              <a:t>Everything above the dividing line is the same file on every machine. Everything below it changes — and the JVM absorbs the difference.</a:t>
            </a:r>
            <a:endParaRPr lang="en-US" sz="1200" dirty="0"/>
          </a:p>
        </p:txBody>
      </p:sp>
      <p:sp>
        <p:nvSpPr>
          <p:cNvPr id="19" name="Shape 17"/>
          <p:cNvSpPr/>
          <p:nvPr/>
        </p:nvSpPr>
        <p:spPr>
          <a:xfrm>
            <a:off x="566928" y="1682496"/>
            <a:ext cx="384048" cy="384048"/>
          </a:xfrm>
          <a:prstGeom prst="ellipse">
            <a:avLst/>
          </a:prstGeom>
          <a:solidFill>
            <a:srgbClr val="0F2942"/>
          </a:solidFill>
          <a:ln w="12700">
            <a:solidFill>
              <a:srgbClr val="0F2942"/>
            </a:solidFill>
            <a:prstDash val="solid"/>
          </a:ln>
        </p:spPr>
        <p:txBody>
          <a:bodyPr/>
          <a:lstStyle/>
          <a:p>
            <a:endParaRPr lang="en-US"/>
          </a:p>
        </p:txBody>
      </p:sp>
      <p:sp>
        <p:nvSpPr>
          <p:cNvPr id="20" name="Text 18"/>
          <p:cNvSpPr txBox="1"/>
          <p:nvPr/>
        </p:nvSpPr>
        <p:spPr>
          <a:xfrm>
            <a:off x="566928" y="16824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9"/>
          <p:cNvSpPr txBox="1"/>
          <p:nvPr/>
        </p:nvSpPr>
        <p:spPr>
          <a:xfrm>
            <a:off x="1097280" y="1627632"/>
            <a:ext cx="4754880" cy="274320"/>
          </a:xfrm>
          <a:prstGeom prst="rect">
            <a:avLst/>
          </a:prstGeom>
          <a:noFill/>
          <a:ln/>
        </p:spPr>
        <p:txBody>
          <a:bodyPr wrap="square" lIns="0" tIns="0" rIns="0" bIns="0" rtlCol="0" anchor="ctr"/>
          <a:lstStyle/>
          <a:p>
            <a:pPr marL="0" indent="0">
              <a:buNone/>
            </a:pPr>
            <a:r>
              <a:rPr lang="en-US" sz="1400" b="1" dirty="0">
                <a:solidFill>
                  <a:srgbClr val="0F2942"/>
                </a:solidFill>
                <a:latin typeface="Courier New" pitchFamily="34" charset="0"/>
                <a:ea typeface="Courier New" pitchFamily="34" charset="-122"/>
                <a:cs typeface="Courier New" pitchFamily="34" charset="-120"/>
              </a:rPr>
              <a:t>Welcome.java</a:t>
            </a:r>
            <a:endParaRPr lang="en-US" sz="1400" dirty="0"/>
          </a:p>
        </p:txBody>
      </p:sp>
      <p:sp>
        <p:nvSpPr>
          <p:cNvPr id="22" name="Text 20"/>
          <p:cNvSpPr txBox="1"/>
          <p:nvPr/>
        </p:nvSpPr>
        <p:spPr>
          <a:xfrm>
            <a:off x="1097280" y="1920240"/>
            <a:ext cx="4754880" cy="566928"/>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Your source code — plain text you write.</a:t>
            </a:r>
            <a:endParaRPr lang="en-US" sz="1250" dirty="0"/>
          </a:p>
        </p:txBody>
      </p:sp>
      <p:sp>
        <p:nvSpPr>
          <p:cNvPr id="23" name="Shape 21"/>
          <p:cNvSpPr/>
          <p:nvPr/>
        </p:nvSpPr>
        <p:spPr>
          <a:xfrm>
            <a:off x="566928" y="2624328"/>
            <a:ext cx="384048" cy="384048"/>
          </a:xfrm>
          <a:prstGeom prst="ellipse">
            <a:avLst/>
          </a:prstGeom>
          <a:solidFill>
            <a:srgbClr val="0F2942"/>
          </a:solidFill>
          <a:ln w="12700">
            <a:solidFill>
              <a:srgbClr val="0F2942"/>
            </a:solidFill>
            <a:prstDash val="solid"/>
          </a:ln>
        </p:spPr>
        <p:txBody>
          <a:bodyPr/>
          <a:lstStyle/>
          <a:p>
            <a:endParaRPr lang="en-US"/>
          </a:p>
        </p:txBody>
      </p:sp>
      <p:sp>
        <p:nvSpPr>
          <p:cNvPr id="24" name="Text 22"/>
          <p:cNvSpPr txBox="1"/>
          <p:nvPr/>
        </p:nvSpPr>
        <p:spPr>
          <a:xfrm>
            <a:off x="566928" y="26243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3"/>
          <p:cNvSpPr txBox="1"/>
          <p:nvPr/>
        </p:nvSpPr>
        <p:spPr>
          <a:xfrm>
            <a:off x="1097280" y="2569464"/>
            <a:ext cx="4754880" cy="274320"/>
          </a:xfrm>
          <a:prstGeom prst="rect">
            <a:avLst/>
          </a:prstGeom>
          <a:noFill/>
          <a:ln/>
        </p:spPr>
        <p:txBody>
          <a:bodyPr wrap="square" lIns="0" tIns="0" rIns="0" bIns="0" rtlCol="0" anchor="ctr"/>
          <a:lstStyle/>
          <a:p>
            <a:pPr marL="0" indent="0">
              <a:buNone/>
            </a:pPr>
            <a:r>
              <a:rPr lang="en-US" sz="1400" b="1" dirty="0">
                <a:solidFill>
                  <a:srgbClr val="0F2942"/>
                </a:solidFill>
                <a:latin typeface="Courier New" pitchFamily="34" charset="0"/>
                <a:ea typeface="Courier New" pitchFamily="34" charset="-122"/>
                <a:cs typeface="Courier New" pitchFamily="34" charset="-120"/>
              </a:rPr>
              <a:t>javac Welcome.java</a:t>
            </a:r>
            <a:endParaRPr lang="en-US" sz="1400" dirty="0"/>
          </a:p>
        </p:txBody>
      </p:sp>
      <p:sp>
        <p:nvSpPr>
          <p:cNvPr id="26" name="Text 24"/>
          <p:cNvSpPr txBox="1"/>
          <p:nvPr/>
        </p:nvSpPr>
        <p:spPr>
          <a:xfrm>
            <a:off x="1097280" y="2862072"/>
            <a:ext cx="4754880" cy="566928"/>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The compiler checks syntax and emits bytecode.</a:t>
            </a:r>
            <a:endParaRPr lang="en-US" sz="1250" dirty="0"/>
          </a:p>
        </p:txBody>
      </p:sp>
      <p:sp>
        <p:nvSpPr>
          <p:cNvPr id="27" name="Shape 25"/>
          <p:cNvSpPr/>
          <p:nvPr/>
        </p:nvSpPr>
        <p:spPr>
          <a:xfrm>
            <a:off x="566928" y="3566160"/>
            <a:ext cx="384048" cy="384048"/>
          </a:xfrm>
          <a:prstGeom prst="ellipse">
            <a:avLst/>
          </a:prstGeom>
          <a:solidFill>
            <a:srgbClr val="0F2942"/>
          </a:solidFill>
          <a:ln w="12700">
            <a:solidFill>
              <a:srgbClr val="0F2942"/>
            </a:solidFill>
            <a:prstDash val="solid"/>
          </a:ln>
        </p:spPr>
        <p:txBody>
          <a:bodyPr/>
          <a:lstStyle/>
          <a:p>
            <a:endParaRPr lang="en-US"/>
          </a:p>
        </p:txBody>
      </p:sp>
      <p:sp>
        <p:nvSpPr>
          <p:cNvPr id="28" name="Text 26"/>
          <p:cNvSpPr txBox="1"/>
          <p:nvPr/>
        </p:nvSpPr>
        <p:spPr>
          <a:xfrm>
            <a:off x="566928" y="35661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7"/>
          <p:cNvSpPr txBox="1"/>
          <p:nvPr/>
        </p:nvSpPr>
        <p:spPr>
          <a:xfrm>
            <a:off x="1097280" y="3511296"/>
            <a:ext cx="4754880" cy="274320"/>
          </a:xfrm>
          <a:prstGeom prst="rect">
            <a:avLst/>
          </a:prstGeom>
          <a:noFill/>
          <a:ln/>
        </p:spPr>
        <p:txBody>
          <a:bodyPr wrap="square" lIns="0" tIns="0" rIns="0" bIns="0" rtlCol="0" anchor="ctr"/>
          <a:lstStyle/>
          <a:p>
            <a:pPr marL="0" indent="0">
              <a:buNone/>
            </a:pPr>
            <a:r>
              <a:rPr lang="en-US" sz="1400" b="1" dirty="0">
                <a:solidFill>
                  <a:srgbClr val="0F2942"/>
                </a:solidFill>
                <a:latin typeface="Courier New" pitchFamily="34" charset="0"/>
                <a:ea typeface="Courier New" pitchFamily="34" charset="-122"/>
                <a:cs typeface="Courier New" pitchFamily="34" charset="-120"/>
              </a:rPr>
              <a:t>Welcome.class</a:t>
            </a:r>
            <a:endParaRPr lang="en-US" sz="1400" dirty="0"/>
          </a:p>
        </p:txBody>
      </p:sp>
      <p:sp>
        <p:nvSpPr>
          <p:cNvPr id="30" name="Text 28"/>
          <p:cNvSpPr txBox="1"/>
          <p:nvPr/>
        </p:nvSpPr>
        <p:spPr>
          <a:xfrm>
            <a:off x="1097280" y="3803904"/>
            <a:ext cx="4754880" cy="566928"/>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Bytecode: instructions for a machine that does not exist in hardware.</a:t>
            </a:r>
            <a:endParaRPr lang="en-US" sz="1250" dirty="0"/>
          </a:p>
        </p:txBody>
      </p:sp>
      <p:sp>
        <p:nvSpPr>
          <p:cNvPr id="31" name="Shape 29"/>
          <p:cNvSpPr/>
          <p:nvPr/>
        </p:nvSpPr>
        <p:spPr>
          <a:xfrm>
            <a:off x="566928" y="4507992"/>
            <a:ext cx="384048" cy="384048"/>
          </a:xfrm>
          <a:prstGeom prst="ellipse">
            <a:avLst/>
          </a:prstGeom>
          <a:solidFill>
            <a:srgbClr val="C4560C"/>
          </a:solidFill>
          <a:ln w="12700">
            <a:solidFill>
              <a:srgbClr val="C4560C"/>
            </a:solidFill>
            <a:prstDash val="solid"/>
          </a:ln>
        </p:spPr>
        <p:txBody>
          <a:bodyPr/>
          <a:lstStyle/>
          <a:p>
            <a:endParaRPr lang="en-US"/>
          </a:p>
        </p:txBody>
      </p:sp>
      <p:sp>
        <p:nvSpPr>
          <p:cNvPr id="32" name="Text 30"/>
          <p:cNvSpPr txBox="1"/>
          <p:nvPr/>
        </p:nvSpPr>
        <p:spPr>
          <a:xfrm>
            <a:off x="566928" y="4507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1097280" y="4453128"/>
            <a:ext cx="4754880" cy="274320"/>
          </a:xfrm>
          <a:prstGeom prst="rect">
            <a:avLst/>
          </a:prstGeom>
          <a:noFill/>
          <a:ln/>
        </p:spPr>
        <p:txBody>
          <a:bodyPr wrap="square" lIns="0" tIns="0" rIns="0" bIns="0" rtlCol="0" anchor="ctr"/>
          <a:lstStyle/>
          <a:p>
            <a:pPr marL="0" indent="0">
              <a:buNone/>
            </a:pPr>
            <a:r>
              <a:rPr lang="en-US" sz="1400" b="1" dirty="0">
                <a:solidFill>
                  <a:srgbClr val="0F2942"/>
                </a:solidFill>
                <a:latin typeface="Courier New" pitchFamily="34" charset="0"/>
                <a:ea typeface="Courier New" pitchFamily="34" charset="-122"/>
                <a:cs typeface="Courier New" pitchFamily="34" charset="-120"/>
              </a:rPr>
              <a:t>java Welcome</a:t>
            </a:r>
            <a:endParaRPr lang="en-US" sz="1400" dirty="0"/>
          </a:p>
        </p:txBody>
      </p:sp>
      <p:sp>
        <p:nvSpPr>
          <p:cNvPr id="34" name="Text 32"/>
          <p:cNvSpPr txBox="1"/>
          <p:nvPr/>
        </p:nvSpPr>
        <p:spPr>
          <a:xfrm>
            <a:off x="1097280" y="4745736"/>
            <a:ext cx="4754880" cy="566928"/>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The JVM loads the bytecode, verifies it, then interprets it — and JIT-compiles the hot parts to native code.</a:t>
            </a:r>
            <a:endParaRPr lang="en-US" sz="1250" dirty="0"/>
          </a:p>
        </p:txBody>
      </p:sp>
      <p:sp>
        <p:nvSpPr>
          <p:cNvPr id="35" name="Shape 33"/>
          <p:cNvSpPr/>
          <p:nvPr/>
        </p:nvSpPr>
        <p:spPr>
          <a:xfrm>
            <a:off x="566928" y="5413248"/>
            <a:ext cx="5303520" cy="786384"/>
          </a:xfrm>
          <a:prstGeom prst="roundRect">
            <a:avLst>
              <a:gd name="adj" fmla="val 10465"/>
            </a:avLst>
          </a:prstGeom>
          <a:solidFill>
            <a:srgbClr val="FBEEE0"/>
          </a:solidFill>
          <a:ln w="12700">
            <a:solidFill>
              <a:srgbClr val="FBEEE0"/>
            </a:solidFill>
            <a:prstDash val="solid"/>
          </a:ln>
        </p:spPr>
        <p:txBody>
          <a:bodyPr/>
          <a:lstStyle/>
          <a:p>
            <a:endParaRPr lang="en-US"/>
          </a:p>
        </p:txBody>
      </p:sp>
      <p:sp>
        <p:nvSpPr>
          <p:cNvPr id="36" name="Text 34"/>
          <p:cNvSpPr txBox="1"/>
          <p:nvPr/>
        </p:nvSpPr>
        <p:spPr>
          <a:xfrm>
            <a:off x="822960" y="5413248"/>
            <a:ext cx="4800600" cy="786384"/>
          </a:xfrm>
          <a:prstGeom prst="rect">
            <a:avLst/>
          </a:prstGeom>
          <a:noFill/>
          <a:ln/>
        </p:spPr>
        <p:txBody>
          <a:bodyPr wrap="square" lIns="0" tIns="0" rIns="0" bIns="0" rtlCol="0" anchor="ctr"/>
          <a:lstStyle/>
          <a:p>
            <a:pPr marL="0" indent="0">
              <a:lnSpc>
                <a:spcPct val="110000"/>
              </a:lnSpc>
              <a:buNone/>
            </a:pPr>
            <a:r>
              <a:rPr lang="en-US" sz="1250" b="1" dirty="0">
                <a:solidFill>
                  <a:srgbClr val="9A430A"/>
                </a:solidFill>
                <a:latin typeface="Calibri" pitchFamily="34" charset="0"/>
                <a:ea typeface="Calibri" pitchFamily="34" charset="-122"/>
                <a:cs typeface="Calibri" pitchFamily="34" charset="-120"/>
              </a:rPr>
              <a:t>Write once, run anywhere.</a:t>
            </a:r>
            <a:r>
              <a:rPr lang="en-US" sz="1250" dirty="0">
                <a:solidFill>
                  <a:srgbClr val="3A536B"/>
                </a:solidFill>
                <a:latin typeface="Calibri" pitchFamily="34" charset="0"/>
                <a:ea typeface="Calibri" pitchFamily="34" charset="-122"/>
                <a:cs typeface="Calibri" pitchFamily="34" charset="-120"/>
              </a:rPr>
              <a:t>  The same .class file runs on Windows, macOS and Linux.</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THE PLATFORM</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“Java” Means Three Things at Once</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21</a:t>
            </a:r>
            <a:endParaRPr lang="en-US" sz="900" dirty="0"/>
          </a:p>
        </p:txBody>
      </p:sp>
      <p:pic>
        <p:nvPicPr>
          <p:cNvPr id="6" name="Image 0" descr="/tmp/claude-0/-home-claude/2201f084-95a3-5f5a-bbe4-f09dbccc49bf/scratchpad/work/build/img/platform.png"/>
          <p:cNvPicPr>
            <a:picLocks noChangeAspect="1"/>
          </p:cNvPicPr>
          <p:nvPr/>
        </p:nvPicPr>
        <p:blipFill>
          <a:blip r:embed="rId3"/>
          <a:stretch>
            <a:fillRect/>
          </a:stretch>
        </p:blipFill>
        <p:spPr>
          <a:xfrm>
            <a:off x="6641287" y="1856232"/>
            <a:ext cx="4983480" cy="3134264"/>
          </a:xfrm>
          <a:prstGeom prst="rect">
            <a:avLst/>
          </a:prstGeom>
        </p:spPr>
      </p:pic>
      <p:sp>
        <p:nvSpPr>
          <p:cNvPr id="7" name="Shape 4"/>
          <p:cNvSpPr/>
          <p:nvPr/>
        </p:nvSpPr>
        <p:spPr>
          <a:xfrm>
            <a:off x="566928" y="1307592"/>
            <a:ext cx="5669280" cy="1024128"/>
          </a:xfrm>
          <a:prstGeom prst="roundRect">
            <a:avLst>
              <a:gd name="adj" fmla="val 8036"/>
            </a:avLst>
          </a:prstGeom>
          <a:solidFill>
            <a:srgbClr val="F1F5F9"/>
          </a:solidFill>
          <a:ln w="12700">
            <a:solidFill>
              <a:srgbClr val="F1F5F9"/>
            </a:solidFill>
            <a:prstDash val="solid"/>
          </a:ln>
        </p:spPr>
        <p:txBody>
          <a:bodyPr/>
          <a:lstStyle/>
          <a:p>
            <a:endParaRPr lang="en-US"/>
          </a:p>
        </p:txBody>
      </p:sp>
      <p:sp>
        <p:nvSpPr>
          <p:cNvPr id="8" name="Text 5"/>
          <p:cNvSpPr txBox="1"/>
          <p:nvPr/>
        </p:nvSpPr>
        <p:spPr>
          <a:xfrm>
            <a:off x="841248" y="1472184"/>
            <a:ext cx="5120640" cy="292608"/>
          </a:xfrm>
          <a:prstGeom prst="rect">
            <a:avLst/>
          </a:prstGeom>
          <a:noFill/>
          <a:ln/>
        </p:spPr>
        <p:txBody>
          <a:bodyPr wrap="square" lIns="0" tIns="0" rIns="0" bIns="0" rtlCol="0" anchor="ctr"/>
          <a:lstStyle/>
          <a:p>
            <a:pPr marL="0" indent="0">
              <a:buNone/>
            </a:pPr>
            <a:r>
              <a:rPr lang="en-US" sz="1550" b="1" dirty="0">
                <a:solidFill>
                  <a:srgbClr val="0F2942"/>
                </a:solidFill>
                <a:latin typeface="Calibri" pitchFamily="34" charset="0"/>
                <a:ea typeface="Calibri" pitchFamily="34" charset="-122"/>
                <a:cs typeface="Calibri" pitchFamily="34" charset="-120"/>
              </a:rPr>
              <a:t>The language</a:t>
            </a:r>
            <a:endParaRPr lang="en-US" sz="1550" dirty="0"/>
          </a:p>
        </p:txBody>
      </p:sp>
      <p:sp>
        <p:nvSpPr>
          <p:cNvPr id="9" name="Text 6"/>
          <p:cNvSpPr txBox="1"/>
          <p:nvPr/>
        </p:nvSpPr>
        <p:spPr>
          <a:xfrm>
            <a:off x="841248" y="1783080"/>
            <a:ext cx="5120640" cy="457200"/>
          </a:xfrm>
          <a:prstGeom prst="rect">
            <a:avLst/>
          </a:prstGeom>
          <a:noFill/>
          <a:ln/>
        </p:spPr>
        <p:txBody>
          <a:bodyPr wrap="square" lIns="0" tIns="0" rIns="0" bIns="0" rtlCol="0" anchor="t"/>
          <a:lstStyle/>
          <a:p>
            <a:pPr marL="0" indent="0">
              <a:buNone/>
            </a:pPr>
            <a:r>
              <a:rPr lang="en-US" sz="1250" dirty="0">
                <a:solidFill>
                  <a:srgbClr val="3A536B"/>
                </a:solidFill>
                <a:latin typeface="Calibri" pitchFamily="34" charset="0"/>
                <a:ea typeface="Calibri" pitchFamily="34" charset="-122"/>
                <a:cs typeface="Calibri" pitchFamily="34" charset="-120"/>
              </a:rPr>
              <a:t>Syntax and semantics — the rules you are learning this semester.</a:t>
            </a:r>
            <a:endParaRPr lang="en-US" sz="1250" dirty="0"/>
          </a:p>
        </p:txBody>
      </p:sp>
      <p:sp>
        <p:nvSpPr>
          <p:cNvPr id="10" name="Shape 7"/>
          <p:cNvSpPr/>
          <p:nvPr/>
        </p:nvSpPr>
        <p:spPr>
          <a:xfrm>
            <a:off x="566928" y="2441448"/>
            <a:ext cx="5669280" cy="1024128"/>
          </a:xfrm>
          <a:prstGeom prst="roundRect">
            <a:avLst>
              <a:gd name="adj" fmla="val 8036"/>
            </a:avLst>
          </a:prstGeom>
          <a:solidFill>
            <a:srgbClr val="F1F5F9"/>
          </a:solidFill>
          <a:ln w="12700">
            <a:solidFill>
              <a:srgbClr val="F1F5F9"/>
            </a:solidFill>
            <a:prstDash val="solid"/>
          </a:ln>
        </p:spPr>
        <p:txBody>
          <a:bodyPr/>
          <a:lstStyle/>
          <a:p>
            <a:endParaRPr lang="en-US"/>
          </a:p>
        </p:txBody>
      </p:sp>
      <p:sp>
        <p:nvSpPr>
          <p:cNvPr id="11" name="Text 8"/>
          <p:cNvSpPr txBox="1"/>
          <p:nvPr/>
        </p:nvSpPr>
        <p:spPr>
          <a:xfrm>
            <a:off x="841248" y="2606040"/>
            <a:ext cx="5120640" cy="292608"/>
          </a:xfrm>
          <a:prstGeom prst="rect">
            <a:avLst/>
          </a:prstGeom>
          <a:noFill/>
          <a:ln/>
        </p:spPr>
        <p:txBody>
          <a:bodyPr wrap="square" lIns="0" tIns="0" rIns="0" bIns="0" rtlCol="0" anchor="ctr"/>
          <a:lstStyle/>
          <a:p>
            <a:pPr marL="0" indent="0">
              <a:buNone/>
            </a:pPr>
            <a:r>
              <a:rPr lang="en-US" sz="1550" b="1" dirty="0">
                <a:solidFill>
                  <a:srgbClr val="175680"/>
                </a:solidFill>
                <a:latin typeface="Calibri" pitchFamily="34" charset="0"/>
                <a:ea typeface="Calibri" pitchFamily="34" charset="-122"/>
                <a:cs typeface="Calibri" pitchFamily="34" charset="-120"/>
              </a:rPr>
              <a:t>The standard library (API)</a:t>
            </a:r>
            <a:endParaRPr lang="en-US" sz="1550" dirty="0"/>
          </a:p>
        </p:txBody>
      </p:sp>
      <p:sp>
        <p:nvSpPr>
          <p:cNvPr id="12" name="Text 9"/>
          <p:cNvSpPr txBox="1"/>
          <p:nvPr/>
        </p:nvSpPr>
        <p:spPr>
          <a:xfrm>
            <a:off x="841248" y="2916936"/>
            <a:ext cx="5120640" cy="457200"/>
          </a:xfrm>
          <a:prstGeom prst="rect">
            <a:avLst/>
          </a:prstGeom>
          <a:noFill/>
          <a:ln/>
        </p:spPr>
        <p:txBody>
          <a:bodyPr wrap="square" lIns="0" tIns="0" rIns="0" bIns="0" rtlCol="0" anchor="t"/>
          <a:lstStyle/>
          <a:p>
            <a:pPr marL="0" indent="0">
              <a:buNone/>
            </a:pPr>
            <a:r>
              <a:rPr lang="en-US" sz="1250" dirty="0">
                <a:solidFill>
                  <a:srgbClr val="3A536B"/>
                </a:solidFill>
                <a:latin typeface="Calibri" pitchFamily="34" charset="0"/>
                <a:ea typeface="Calibri" pitchFamily="34" charset="-122"/>
                <a:cs typeface="Calibri" pitchFamily="34" charset="-120"/>
              </a:rPr>
              <a:t>Thousands of ready-made classes: java.lang, java.util, java.io and the rest.</a:t>
            </a:r>
            <a:endParaRPr lang="en-US" sz="1250" dirty="0"/>
          </a:p>
        </p:txBody>
      </p:sp>
      <p:sp>
        <p:nvSpPr>
          <p:cNvPr id="13" name="Shape 10"/>
          <p:cNvSpPr/>
          <p:nvPr/>
        </p:nvSpPr>
        <p:spPr>
          <a:xfrm>
            <a:off x="566928" y="3575304"/>
            <a:ext cx="5669280" cy="1024128"/>
          </a:xfrm>
          <a:prstGeom prst="roundRect">
            <a:avLst>
              <a:gd name="adj" fmla="val 8036"/>
            </a:avLst>
          </a:prstGeom>
          <a:solidFill>
            <a:srgbClr val="F1F5F9"/>
          </a:solidFill>
          <a:ln w="12700">
            <a:solidFill>
              <a:srgbClr val="F1F5F9"/>
            </a:solidFill>
            <a:prstDash val="solid"/>
          </a:ln>
        </p:spPr>
        <p:txBody>
          <a:bodyPr/>
          <a:lstStyle/>
          <a:p>
            <a:endParaRPr lang="en-US"/>
          </a:p>
        </p:txBody>
      </p:sp>
      <p:sp>
        <p:nvSpPr>
          <p:cNvPr id="14" name="Text 11"/>
          <p:cNvSpPr txBox="1"/>
          <p:nvPr/>
        </p:nvSpPr>
        <p:spPr>
          <a:xfrm>
            <a:off x="841248" y="3739896"/>
            <a:ext cx="5120640" cy="292608"/>
          </a:xfrm>
          <a:prstGeom prst="rect">
            <a:avLst/>
          </a:prstGeom>
          <a:noFill/>
          <a:ln/>
        </p:spPr>
        <p:txBody>
          <a:bodyPr wrap="square" lIns="0" tIns="0" rIns="0" bIns="0" rtlCol="0" anchor="ctr"/>
          <a:lstStyle/>
          <a:p>
            <a:pPr marL="0" indent="0">
              <a:buNone/>
            </a:pPr>
            <a:r>
              <a:rPr lang="en-US" sz="1550" b="1" dirty="0">
                <a:solidFill>
                  <a:srgbClr val="9A430A"/>
                </a:solidFill>
                <a:latin typeface="Calibri" pitchFamily="34" charset="0"/>
                <a:ea typeface="Calibri" pitchFamily="34" charset="-122"/>
                <a:cs typeface="Calibri" pitchFamily="34" charset="-120"/>
              </a:rPr>
              <a:t>The runtime (JVM)</a:t>
            </a:r>
            <a:endParaRPr lang="en-US" sz="1550" dirty="0"/>
          </a:p>
        </p:txBody>
      </p:sp>
      <p:sp>
        <p:nvSpPr>
          <p:cNvPr id="15" name="Text 12"/>
          <p:cNvSpPr txBox="1"/>
          <p:nvPr/>
        </p:nvSpPr>
        <p:spPr>
          <a:xfrm>
            <a:off x="841248" y="4050792"/>
            <a:ext cx="5120640" cy="457200"/>
          </a:xfrm>
          <a:prstGeom prst="rect">
            <a:avLst/>
          </a:prstGeom>
          <a:noFill/>
          <a:ln/>
        </p:spPr>
        <p:txBody>
          <a:bodyPr wrap="square" lIns="0" tIns="0" rIns="0" bIns="0" rtlCol="0" anchor="t"/>
          <a:lstStyle/>
          <a:p>
            <a:pPr marL="0" indent="0">
              <a:buNone/>
            </a:pPr>
            <a:r>
              <a:rPr lang="en-US" sz="1250" dirty="0">
                <a:solidFill>
                  <a:srgbClr val="3A536B"/>
                </a:solidFill>
                <a:latin typeface="Calibri" pitchFamily="34" charset="0"/>
                <a:ea typeface="Calibri" pitchFamily="34" charset="-122"/>
                <a:cs typeface="Calibri" pitchFamily="34" charset="-120"/>
              </a:rPr>
              <a:t>The virtual machine that loads, verifies and executes bytecode.</a:t>
            </a:r>
            <a:endParaRPr lang="en-US" sz="1250" dirty="0"/>
          </a:p>
        </p:txBody>
      </p:sp>
      <p:sp>
        <p:nvSpPr>
          <p:cNvPr id="16" name="Shape 13"/>
          <p:cNvSpPr/>
          <p:nvPr/>
        </p:nvSpPr>
        <p:spPr>
          <a:xfrm>
            <a:off x="566928" y="4754880"/>
            <a:ext cx="5669280" cy="1051560"/>
          </a:xfrm>
          <a:prstGeom prst="roundRect">
            <a:avLst>
              <a:gd name="adj" fmla="val 7826"/>
            </a:avLst>
          </a:prstGeom>
          <a:solidFill>
            <a:srgbClr val="E4ECF4"/>
          </a:solidFill>
          <a:ln w="12700">
            <a:solidFill>
              <a:srgbClr val="E4ECF4"/>
            </a:solidFill>
            <a:prstDash val="solid"/>
          </a:ln>
        </p:spPr>
        <p:txBody>
          <a:bodyPr/>
          <a:lstStyle/>
          <a:p>
            <a:endParaRPr lang="en-US"/>
          </a:p>
        </p:txBody>
      </p:sp>
      <p:sp>
        <p:nvSpPr>
          <p:cNvPr id="17" name="Text 14"/>
          <p:cNvSpPr txBox="1"/>
          <p:nvPr/>
        </p:nvSpPr>
        <p:spPr>
          <a:xfrm>
            <a:off x="841248" y="4754880"/>
            <a:ext cx="5120640" cy="1051560"/>
          </a:xfrm>
          <a:prstGeom prst="rect">
            <a:avLst/>
          </a:prstGeom>
          <a:noFill/>
          <a:ln/>
        </p:spPr>
        <p:txBody>
          <a:bodyPr wrap="square" lIns="0" tIns="0" rIns="0" bIns="0" rtlCol="0" anchor="ctr"/>
          <a:lstStyle/>
          <a:p>
            <a:pPr marL="0" indent="0">
              <a:lnSpc>
                <a:spcPct val="112000"/>
              </a:lnSpc>
              <a:buNone/>
            </a:pPr>
            <a:r>
              <a:rPr lang="en-US" sz="1250" b="1" dirty="0">
                <a:solidFill>
                  <a:srgbClr val="9A430A"/>
                </a:solidFill>
                <a:latin typeface="Calibri" pitchFamily="34" charset="0"/>
                <a:ea typeface="Calibri" pitchFamily="34" charset="-122"/>
                <a:cs typeface="Calibri" pitchFamily="34" charset="-120"/>
              </a:rPr>
              <a:t>JDK = JRE + development tools.  </a:t>
            </a:r>
            <a:r>
              <a:rPr lang="en-US" sz="1250" dirty="0">
                <a:solidFill>
                  <a:srgbClr val="3A536B"/>
                </a:solidFill>
                <a:latin typeface="Calibri" pitchFamily="34" charset="0"/>
                <a:ea typeface="Calibri" pitchFamily="34" charset="-122"/>
                <a:cs typeface="Calibri" pitchFamily="34" charset="-120"/>
              </a:rPr>
              <a:t>The JRE (library + JVM) runs Java programs; the JDK adds javac, the debugger and jshell so you can write them. Install the JDK.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MOTIVATION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Why Java, and Why in Your Second Year</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A general-purpose language designed for reliable, scalable, cross-platform software.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566928" y="1536192"/>
            <a:ext cx="3551834" cy="1664208"/>
          </a:xfrm>
          <a:prstGeom prst="roundRect">
            <a:avLst>
              <a:gd name="adj" fmla="val 4945"/>
            </a:avLst>
          </a:prstGeom>
          <a:solidFill>
            <a:srgbClr val="FFFFFF"/>
          </a:solidFill>
          <a:ln w="12700">
            <a:solidFill>
              <a:srgbClr val="D3DEE7"/>
            </a:solidFill>
            <a:prstDash val="solid"/>
          </a:ln>
        </p:spPr>
        <p:txBody>
          <a:bodyPr/>
          <a:lstStyle/>
          <a:p>
            <a:endParaRPr lang="en-US"/>
          </a:p>
        </p:txBody>
      </p:sp>
      <p:sp>
        <p:nvSpPr>
          <p:cNvPr id="8" name="Shape 6"/>
          <p:cNvSpPr/>
          <p:nvPr/>
        </p:nvSpPr>
        <p:spPr>
          <a:xfrm>
            <a:off x="822960" y="1773936"/>
            <a:ext cx="402336" cy="402336"/>
          </a:xfrm>
          <a:prstGeom prst="ellipse">
            <a:avLst/>
          </a:prstGeom>
          <a:solidFill>
            <a:srgbClr val="175680"/>
          </a:solidFill>
          <a:ln w="12700">
            <a:solidFill>
              <a:srgbClr val="175680"/>
            </a:solidFill>
            <a:prstDash val="solid"/>
          </a:ln>
        </p:spPr>
        <p:txBody>
          <a:bodyPr/>
          <a:lstStyle/>
          <a:p>
            <a:endParaRPr lang="en-US"/>
          </a:p>
        </p:txBody>
      </p:sp>
      <p:sp>
        <p:nvSpPr>
          <p:cNvPr id="9" name="Text 7"/>
          <p:cNvSpPr txBox="1"/>
          <p:nvPr/>
        </p:nvSpPr>
        <p:spPr>
          <a:xfrm>
            <a:off x="822960" y="177393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8"/>
          <p:cNvSpPr txBox="1"/>
          <p:nvPr/>
        </p:nvSpPr>
        <p:spPr>
          <a:xfrm>
            <a:off x="1371600" y="1755648"/>
            <a:ext cx="2500274" cy="438912"/>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Platform independent</a:t>
            </a:r>
            <a:endParaRPr lang="en-US" sz="1450" dirty="0"/>
          </a:p>
        </p:txBody>
      </p:sp>
      <p:sp>
        <p:nvSpPr>
          <p:cNvPr id="11" name="Text 9"/>
          <p:cNvSpPr txBox="1"/>
          <p:nvPr/>
        </p:nvSpPr>
        <p:spPr>
          <a:xfrm>
            <a:off x="822960" y="2313432"/>
            <a:ext cx="3039770" cy="749808"/>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Write once, run anywhere. Your program runs on any system with a JVM.</a:t>
            </a:r>
            <a:endParaRPr lang="en-US" sz="1200" dirty="0"/>
          </a:p>
        </p:txBody>
      </p:sp>
      <p:sp>
        <p:nvSpPr>
          <p:cNvPr id="12" name="Shape 10"/>
          <p:cNvSpPr/>
          <p:nvPr/>
        </p:nvSpPr>
        <p:spPr>
          <a:xfrm>
            <a:off x="4319930" y="1536192"/>
            <a:ext cx="3551834" cy="1664208"/>
          </a:xfrm>
          <a:prstGeom prst="roundRect">
            <a:avLst>
              <a:gd name="adj" fmla="val 4945"/>
            </a:avLst>
          </a:prstGeom>
          <a:solidFill>
            <a:srgbClr val="FFFFFF"/>
          </a:solidFill>
          <a:ln w="12700">
            <a:solidFill>
              <a:srgbClr val="D3DEE7"/>
            </a:solidFill>
            <a:prstDash val="solid"/>
          </a:ln>
        </p:spPr>
        <p:txBody>
          <a:bodyPr/>
          <a:lstStyle/>
          <a:p>
            <a:endParaRPr lang="en-US"/>
          </a:p>
        </p:txBody>
      </p:sp>
      <p:sp>
        <p:nvSpPr>
          <p:cNvPr id="13" name="Shape 11"/>
          <p:cNvSpPr/>
          <p:nvPr/>
        </p:nvSpPr>
        <p:spPr>
          <a:xfrm>
            <a:off x="4575962" y="1773936"/>
            <a:ext cx="402336" cy="402336"/>
          </a:xfrm>
          <a:prstGeom prst="ellipse">
            <a:avLst/>
          </a:prstGeom>
          <a:solidFill>
            <a:srgbClr val="9A430A"/>
          </a:solidFill>
          <a:ln w="12700">
            <a:solidFill>
              <a:srgbClr val="9A430A"/>
            </a:solidFill>
            <a:prstDash val="solid"/>
          </a:ln>
        </p:spPr>
        <p:txBody>
          <a:bodyPr/>
          <a:lstStyle/>
          <a:p>
            <a:endParaRPr lang="en-US"/>
          </a:p>
        </p:txBody>
      </p:sp>
      <p:sp>
        <p:nvSpPr>
          <p:cNvPr id="14" name="Text 12"/>
          <p:cNvSpPr txBox="1"/>
          <p:nvPr/>
        </p:nvSpPr>
        <p:spPr>
          <a:xfrm>
            <a:off x="4575962" y="177393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5124602" y="1755648"/>
            <a:ext cx="2500274" cy="438912"/>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Industry relevance</a:t>
            </a:r>
            <a:endParaRPr lang="en-US" sz="1450" dirty="0"/>
          </a:p>
        </p:txBody>
      </p:sp>
      <p:sp>
        <p:nvSpPr>
          <p:cNvPr id="16" name="Text 14"/>
          <p:cNvSpPr txBox="1"/>
          <p:nvPr/>
        </p:nvSpPr>
        <p:spPr>
          <a:xfrm>
            <a:off x="4575962" y="2313432"/>
            <a:ext cx="3039770" cy="749808"/>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Enterprise systems, web and cloud back-ends, Android, and large distributed systems.</a:t>
            </a:r>
            <a:endParaRPr lang="en-US" sz="1200" dirty="0"/>
          </a:p>
        </p:txBody>
      </p:sp>
      <p:sp>
        <p:nvSpPr>
          <p:cNvPr id="17" name="Shape 15"/>
          <p:cNvSpPr/>
          <p:nvPr/>
        </p:nvSpPr>
        <p:spPr>
          <a:xfrm>
            <a:off x="8072933" y="1536192"/>
            <a:ext cx="3551834" cy="1664208"/>
          </a:xfrm>
          <a:prstGeom prst="roundRect">
            <a:avLst>
              <a:gd name="adj" fmla="val 4945"/>
            </a:avLst>
          </a:prstGeom>
          <a:solidFill>
            <a:srgbClr val="FFFFFF"/>
          </a:solidFill>
          <a:ln w="12700">
            <a:solidFill>
              <a:srgbClr val="D3DEE7"/>
            </a:solidFill>
            <a:prstDash val="solid"/>
          </a:ln>
        </p:spPr>
        <p:txBody>
          <a:bodyPr/>
          <a:lstStyle/>
          <a:p>
            <a:endParaRPr lang="en-US"/>
          </a:p>
        </p:txBody>
      </p:sp>
      <p:sp>
        <p:nvSpPr>
          <p:cNvPr id="18" name="Shape 16"/>
          <p:cNvSpPr/>
          <p:nvPr/>
        </p:nvSpPr>
        <p:spPr>
          <a:xfrm>
            <a:off x="8328965" y="1773936"/>
            <a:ext cx="402336" cy="402336"/>
          </a:xfrm>
          <a:prstGeom prst="ellipse">
            <a:avLst/>
          </a:prstGeom>
          <a:solidFill>
            <a:srgbClr val="176240"/>
          </a:solidFill>
          <a:ln w="12700">
            <a:solidFill>
              <a:srgbClr val="176240"/>
            </a:solidFill>
            <a:prstDash val="solid"/>
          </a:ln>
        </p:spPr>
        <p:txBody>
          <a:bodyPr/>
          <a:lstStyle/>
          <a:p>
            <a:endParaRPr lang="en-US"/>
          </a:p>
        </p:txBody>
      </p:sp>
      <p:sp>
        <p:nvSpPr>
          <p:cNvPr id="19" name="Text 17"/>
          <p:cNvSpPr txBox="1"/>
          <p:nvPr/>
        </p:nvSpPr>
        <p:spPr>
          <a:xfrm>
            <a:off x="8328965" y="177393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0" name="Text 18"/>
          <p:cNvSpPr txBox="1"/>
          <p:nvPr/>
        </p:nvSpPr>
        <p:spPr>
          <a:xfrm>
            <a:off x="8877605" y="1755648"/>
            <a:ext cx="2500274" cy="438912"/>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Object-oriented foundations</a:t>
            </a:r>
            <a:endParaRPr lang="en-US" sz="1450" dirty="0"/>
          </a:p>
        </p:txBody>
      </p:sp>
      <p:sp>
        <p:nvSpPr>
          <p:cNvPr id="21" name="Text 19"/>
          <p:cNvSpPr txBox="1"/>
          <p:nvPr/>
        </p:nvSpPr>
        <p:spPr>
          <a:xfrm>
            <a:off x="8328965" y="2313432"/>
            <a:ext cx="3039770" cy="749808"/>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Strong support for classes, objects, inheritance and polymorphism — ideal for learning design.</a:t>
            </a:r>
            <a:endParaRPr lang="en-US" sz="1200" dirty="0"/>
          </a:p>
        </p:txBody>
      </p:sp>
      <p:sp>
        <p:nvSpPr>
          <p:cNvPr id="22" name="Shape 20"/>
          <p:cNvSpPr/>
          <p:nvPr/>
        </p:nvSpPr>
        <p:spPr>
          <a:xfrm>
            <a:off x="566928" y="3438144"/>
            <a:ext cx="3551834" cy="1664208"/>
          </a:xfrm>
          <a:prstGeom prst="roundRect">
            <a:avLst>
              <a:gd name="adj" fmla="val 4945"/>
            </a:avLst>
          </a:prstGeom>
          <a:solidFill>
            <a:srgbClr val="FFFFFF"/>
          </a:solidFill>
          <a:ln w="12700">
            <a:solidFill>
              <a:srgbClr val="D3DEE7"/>
            </a:solidFill>
            <a:prstDash val="solid"/>
          </a:ln>
        </p:spPr>
        <p:txBody>
          <a:bodyPr/>
          <a:lstStyle/>
          <a:p>
            <a:endParaRPr lang="en-US"/>
          </a:p>
        </p:txBody>
      </p:sp>
      <p:sp>
        <p:nvSpPr>
          <p:cNvPr id="23" name="Shape 21"/>
          <p:cNvSpPr/>
          <p:nvPr/>
        </p:nvSpPr>
        <p:spPr>
          <a:xfrm>
            <a:off x="822960" y="3675888"/>
            <a:ext cx="402336" cy="402336"/>
          </a:xfrm>
          <a:prstGeom prst="ellipse">
            <a:avLst/>
          </a:prstGeom>
          <a:solidFill>
            <a:srgbClr val="1D4468"/>
          </a:solidFill>
          <a:ln w="12700">
            <a:solidFill>
              <a:srgbClr val="1D4468"/>
            </a:solidFill>
            <a:prstDash val="solid"/>
          </a:ln>
        </p:spPr>
        <p:txBody>
          <a:bodyPr/>
          <a:lstStyle/>
          <a:p>
            <a:endParaRPr lang="en-US"/>
          </a:p>
        </p:txBody>
      </p:sp>
      <p:sp>
        <p:nvSpPr>
          <p:cNvPr id="24" name="Text 22"/>
          <p:cNvSpPr txBox="1"/>
          <p:nvPr/>
        </p:nvSpPr>
        <p:spPr>
          <a:xfrm>
            <a:off x="822960" y="367588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3"/>
          <p:cNvSpPr txBox="1"/>
          <p:nvPr/>
        </p:nvSpPr>
        <p:spPr>
          <a:xfrm>
            <a:off x="1371600" y="3657600"/>
            <a:ext cx="2500274" cy="438912"/>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Robust and secure</a:t>
            </a:r>
            <a:endParaRPr lang="en-US" sz="1450" dirty="0"/>
          </a:p>
        </p:txBody>
      </p:sp>
      <p:sp>
        <p:nvSpPr>
          <p:cNvPr id="26" name="Text 24"/>
          <p:cNvSpPr txBox="1"/>
          <p:nvPr/>
        </p:nvSpPr>
        <p:spPr>
          <a:xfrm>
            <a:off x="822960" y="4215384"/>
            <a:ext cx="3039770" cy="749808"/>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Automatic memory management, exception handling and built-in security mechanisms.</a:t>
            </a:r>
            <a:endParaRPr lang="en-US" sz="1200" dirty="0"/>
          </a:p>
        </p:txBody>
      </p:sp>
      <p:sp>
        <p:nvSpPr>
          <p:cNvPr id="27" name="Shape 25"/>
          <p:cNvSpPr/>
          <p:nvPr/>
        </p:nvSpPr>
        <p:spPr>
          <a:xfrm>
            <a:off x="4319930" y="3438144"/>
            <a:ext cx="3551834" cy="1664208"/>
          </a:xfrm>
          <a:prstGeom prst="roundRect">
            <a:avLst>
              <a:gd name="adj" fmla="val 4945"/>
            </a:avLst>
          </a:prstGeom>
          <a:solidFill>
            <a:srgbClr val="FFFFFF"/>
          </a:solidFill>
          <a:ln w="12700">
            <a:solidFill>
              <a:srgbClr val="D3DEE7"/>
            </a:solidFill>
            <a:prstDash val="solid"/>
          </a:ln>
        </p:spPr>
        <p:txBody>
          <a:bodyPr/>
          <a:lstStyle/>
          <a:p>
            <a:endParaRPr lang="en-US"/>
          </a:p>
        </p:txBody>
      </p:sp>
      <p:sp>
        <p:nvSpPr>
          <p:cNvPr id="28" name="Shape 26"/>
          <p:cNvSpPr/>
          <p:nvPr/>
        </p:nvSpPr>
        <p:spPr>
          <a:xfrm>
            <a:off x="4575962" y="3675888"/>
            <a:ext cx="402336" cy="402336"/>
          </a:xfrm>
          <a:prstGeom prst="ellipse">
            <a:avLst/>
          </a:prstGeom>
          <a:solidFill>
            <a:srgbClr val="175680"/>
          </a:solidFill>
          <a:ln w="12700">
            <a:solidFill>
              <a:srgbClr val="175680"/>
            </a:solidFill>
            <a:prstDash val="solid"/>
          </a:ln>
        </p:spPr>
        <p:txBody>
          <a:bodyPr/>
          <a:lstStyle/>
          <a:p>
            <a:endParaRPr lang="en-US"/>
          </a:p>
        </p:txBody>
      </p:sp>
      <p:sp>
        <p:nvSpPr>
          <p:cNvPr id="29" name="Text 27"/>
          <p:cNvSpPr txBox="1"/>
          <p:nvPr/>
        </p:nvSpPr>
        <p:spPr>
          <a:xfrm>
            <a:off x="4575962" y="367588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0" name="Text 28"/>
          <p:cNvSpPr txBox="1"/>
          <p:nvPr/>
        </p:nvSpPr>
        <p:spPr>
          <a:xfrm>
            <a:off x="5124602" y="3657600"/>
            <a:ext cx="2500274" cy="438912"/>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A very large ecosystem</a:t>
            </a:r>
            <a:endParaRPr lang="en-US" sz="1450" dirty="0"/>
          </a:p>
        </p:txBody>
      </p:sp>
      <p:sp>
        <p:nvSpPr>
          <p:cNvPr id="31" name="Text 29"/>
          <p:cNvSpPr txBox="1"/>
          <p:nvPr/>
        </p:nvSpPr>
        <p:spPr>
          <a:xfrm>
            <a:off x="4575962" y="4215384"/>
            <a:ext cx="3039770" cy="749808"/>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Rich standard libraries and mature frameworks such as Spring, Jakarta EE and JavaFX.</a:t>
            </a:r>
            <a:endParaRPr lang="en-US" sz="1200" dirty="0"/>
          </a:p>
        </p:txBody>
      </p:sp>
      <p:sp>
        <p:nvSpPr>
          <p:cNvPr id="32" name="Shape 30"/>
          <p:cNvSpPr/>
          <p:nvPr/>
        </p:nvSpPr>
        <p:spPr>
          <a:xfrm>
            <a:off x="8072933" y="3438144"/>
            <a:ext cx="3551834" cy="1664208"/>
          </a:xfrm>
          <a:prstGeom prst="roundRect">
            <a:avLst>
              <a:gd name="adj" fmla="val 4945"/>
            </a:avLst>
          </a:prstGeom>
          <a:solidFill>
            <a:srgbClr val="FFFFFF"/>
          </a:solidFill>
          <a:ln w="12700">
            <a:solidFill>
              <a:srgbClr val="D3DEE7"/>
            </a:solidFill>
            <a:prstDash val="solid"/>
          </a:ln>
        </p:spPr>
        <p:txBody>
          <a:bodyPr/>
          <a:lstStyle/>
          <a:p>
            <a:endParaRPr lang="en-US"/>
          </a:p>
        </p:txBody>
      </p:sp>
      <p:sp>
        <p:nvSpPr>
          <p:cNvPr id="33" name="Shape 31"/>
          <p:cNvSpPr/>
          <p:nvPr/>
        </p:nvSpPr>
        <p:spPr>
          <a:xfrm>
            <a:off x="8328965" y="3675888"/>
            <a:ext cx="402336" cy="402336"/>
          </a:xfrm>
          <a:prstGeom prst="ellipse">
            <a:avLst/>
          </a:prstGeom>
          <a:solidFill>
            <a:srgbClr val="9A430A"/>
          </a:solidFill>
          <a:ln w="12700">
            <a:solidFill>
              <a:srgbClr val="9A430A"/>
            </a:solidFill>
            <a:prstDash val="solid"/>
          </a:ln>
        </p:spPr>
        <p:txBody>
          <a:bodyPr/>
          <a:lstStyle/>
          <a:p>
            <a:endParaRPr lang="en-US"/>
          </a:p>
        </p:txBody>
      </p:sp>
      <p:sp>
        <p:nvSpPr>
          <p:cNvPr id="34" name="Text 32"/>
          <p:cNvSpPr txBox="1"/>
          <p:nvPr/>
        </p:nvSpPr>
        <p:spPr>
          <a:xfrm>
            <a:off x="8328965" y="367588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5" name="Text 33"/>
          <p:cNvSpPr txBox="1"/>
          <p:nvPr/>
        </p:nvSpPr>
        <p:spPr>
          <a:xfrm>
            <a:off x="8877605" y="3657600"/>
            <a:ext cx="2500274" cy="438912"/>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Longevity</a:t>
            </a:r>
            <a:endParaRPr lang="en-US" sz="1450" dirty="0"/>
          </a:p>
        </p:txBody>
      </p:sp>
      <p:sp>
        <p:nvSpPr>
          <p:cNvPr id="36" name="Text 34"/>
          <p:cNvSpPr txBox="1"/>
          <p:nvPr/>
        </p:nvSpPr>
        <p:spPr>
          <a:xfrm>
            <a:off x="8328965" y="4215384"/>
            <a:ext cx="3039770" cy="749808"/>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Long-term support releases every two years keep production systems on stable ground.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HISTORY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Thirty Years of Java, in Seven Moments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566928" y="1581912"/>
            <a:ext cx="1469963" cy="2880360"/>
          </a:xfrm>
          <a:prstGeom prst="roundRect">
            <a:avLst>
              <a:gd name="adj" fmla="val 5599"/>
            </a:avLst>
          </a:prstGeom>
          <a:solidFill>
            <a:srgbClr val="F1F5F9"/>
          </a:solidFill>
          <a:ln w="12700">
            <a:solidFill>
              <a:srgbClr val="F1F5F9"/>
            </a:solidFill>
            <a:prstDash val="solid"/>
          </a:ln>
        </p:spPr>
        <p:txBody>
          <a:bodyPr/>
          <a:lstStyle/>
          <a:p>
            <a:endParaRPr lang="en-US"/>
          </a:p>
        </p:txBody>
      </p:sp>
      <p:sp>
        <p:nvSpPr>
          <p:cNvPr id="7" name="Text 5"/>
          <p:cNvSpPr txBox="1"/>
          <p:nvPr/>
        </p:nvSpPr>
        <p:spPr>
          <a:xfrm>
            <a:off x="713232" y="1801368"/>
            <a:ext cx="1177355" cy="402336"/>
          </a:xfrm>
          <a:prstGeom prst="rect">
            <a:avLst/>
          </a:prstGeom>
          <a:noFill/>
          <a:ln/>
        </p:spPr>
        <p:txBody>
          <a:bodyPr wrap="square" lIns="0" tIns="0" rIns="0" bIns="0" rtlCol="0" anchor="ctr"/>
          <a:lstStyle/>
          <a:p>
            <a:pPr marL="0" indent="0" algn="ctr">
              <a:buNone/>
            </a:pPr>
            <a:r>
              <a:rPr lang="en-US" sz="2600" b="1" dirty="0">
                <a:solidFill>
                  <a:srgbClr val="9A430A"/>
                </a:solidFill>
                <a:latin typeface="Cambria" pitchFamily="34" charset="0"/>
                <a:ea typeface="Cambria" pitchFamily="34" charset="-122"/>
                <a:cs typeface="Cambria" pitchFamily="34" charset="-120"/>
              </a:rPr>
              <a:t>1991</a:t>
            </a:r>
            <a:endParaRPr lang="en-US" sz="2600" dirty="0"/>
          </a:p>
        </p:txBody>
      </p:sp>
      <p:sp>
        <p:nvSpPr>
          <p:cNvPr id="8" name="Text 6"/>
          <p:cNvSpPr txBox="1"/>
          <p:nvPr/>
        </p:nvSpPr>
        <p:spPr>
          <a:xfrm>
            <a:off x="694944" y="2295144"/>
            <a:ext cx="1213931" cy="640080"/>
          </a:xfrm>
          <a:prstGeom prst="rect">
            <a:avLst/>
          </a:prstGeom>
          <a:noFill/>
          <a:ln/>
        </p:spPr>
        <p:txBody>
          <a:bodyPr wrap="square" lIns="0" tIns="0" rIns="0" bIns="0" rtlCol="0" anchor="t"/>
          <a:lstStyle/>
          <a:p>
            <a:pPr marL="0" indent="0" algn="ctr">
              <a:buNone/>
            </a:pPr>
            <a:r>
              <a:rPr lang="en-US" sz="1250" b="1" dirty="0">
                <a:solidFill>
                  <a:srgbClr val="0F2942"/>
                </a:solidFill>
                <a:latin typeface="Calibri" pitchFamily="34" charset="0"/>
                <a:ea typeface="Calibri" pitchFamily="34" charset="-122"/>
                <a:cs typeface="Calibri" pitchFamily="34" charset="-120"/>
              </a:rPr>
              <a:t>The Green Project</a:t>
            </a:r>
            <a:endParaRPr lang="en-US" sz="1250" dirty="0"/>
          </a:p>
        </p:txBody>
      </p:sp>
      <p:sp>
        <p:nvSpPr>
          <p:cNvPr id="9" name="Text 7"/>
          <p:cNvSpPr txBox="1"/>
          <p:nvPr/>
        </p:nvSpPr>
        <p:spPr>
          <a:xfrm>
            <a:off x="694944" y="2999232"/>
            <a:ext cx="1213931" cy="1325880"/>
          </a:xfrm>
          <a:prstGeom prst="rect">
            <a:avLst/>
          </a:prstGeom>
          <a:noFill/>
          <a:ln/>
        </p:spPr>
        <p:txBody>
          <a:bodyPr wrap="square" lIns="0" tIns="0" rIns="0" bIns="0" rtlCol="0" anchor="t"/>
          <a:lstStyle/>
          <a:p>
            <a:pPr marL="0" indent="0" algn="ctr">
              <a:lnSpc>
                <a:spcPct val="110000"/>
              </a:lnSpc>
              <a:buNone/>
            </a:pPr>
            <a:r>
              <a:rPr lang="en-US" sz="1100" dirty="0">
                <a:solidFill>
                  <a:srgbClr val="3A536B"/>
                </a:solidFill>
                <a:latin typeface="Calibri" pitchFamily="34" charset="0"/>
                <a:ea typeface="Calibri" pitchFamily="34" charset="-122"/>
                <a:cs typeface="Calibri" pitchFamily="34" charset="-120"/>
              </a:rPr>
              <a:t>A team at Sun Microsystems starts work on a language for consumer devices.</a:t>
            </a:r>
            <a:endParaRPr lang="en-US" sz="1100" dirty="0"/>
          </a:p>
        </p:txBody>
      </p:sp>
      <p:sp>
        <p:nvSpPr>
          <p:cNvPr id="10" name="Shape 8"/>
          <p:cNvSpPr/>
          <p:nvPr/>
        </p:nvSpPr>
        <p:spPr>
          <a:xfrm>
            <a:off x="2164907" y="1581912"/>
            <a:ext cx="1469963" cy="2880360"/>
          </a:xfrm>
          <a:prstGeom prst="roundRect">
            <a:avLst>
              <a:gd name="adj" fmla="val 5599"/>
            </a:avLst>
          </a:prstGeom>
          <a:solidFill>
            <a:srgbClr val="F1F5F9"/>
          </a:solidFill>
          <a:ln w="12700">
            <a:solidFill>
              <a:srgbClr val="F1F5F9"/>
            </a:solidFill>
            <a:prstDash val="solid"/>
          </a:ln>
        </p:spPr>
        <p:txBody>
          <a:bodyPr/>
          <a:lstStyle/>
          <a:p>
            <a:endParaRPr lang="en-US"/>
          </a:p>
        </p:txBody>
      </p:sp>
      <p:sp>
        <p:nvSpPr>
          <p:cNvPr id="11" name="Text 9"/>
          <p:cNvSpPr txBox="1"/>
          <p:nvPr/>
        </p:nvSpPr>
        <p:spPr>
          <a:xfrm>
            <a:off x="2311211" y="1801368"/>
            <a:ext cx="1177355" cy="402336"/>
          </a:xfrm>
          <a:prstGeom prst="rect">
            <a:avLst/>
          </a:prstGeom>
          <a:noFill/>
          <a:ln/>
        </p:spPr>
        <p:txBody>
          <a:bodyPr wrap="square" lIns="0" tIns="0" rIns="0" bIns="0" rtlCol="0" anchor="ctr"/>
          <a:lstStyle/>
          <a:p>
            <a:pPr marL="0" indent="0" algn="ctr">
              <a:buNone/>
            </a:pPr>
            <a:r>
              <a:rPr lang="en-US" sz="2600" b="1" dirty="0">
                <a:solidFill>
                  <a:srgbClr val="9A430A"/>
                </a:solidFill>
                <a:latin typeface="Cambria" pitchFamily="34" charset="0"/>
                <a:ea typeface="Cambria" pitchFamily="34" charset="-122"/>
                <a:cs typeface="Cambria" pitchFamily="34" charset="-120"/>
              </a:rPr>
              <a:t>1995</a:t>
            </a:r>
            <a:endParaRPr lang="en-US" sz="2600" dirty="0"/>
          </a:p>
        </p:txBody>
      </p:sp>
      <p:sp>
        <p:nvSpPr>
          <p:cNvPr id="12" name="Text 10"/>
          <p:cNvSpPr txBox="1"/>
          <p:nvPr/>
        </p:nvSpPr>
        <p:spPr>
          <a:xfrm>
            <a:off x="2292923" y="2295144"/>
            <a:ext cx="1213931" cy="640080"/>
          </a:xfrm>
          <a:prstGeom prst="rect">
            <a:avLst/>
          </a:prstGeom>
          <a:noFill/>
          <a:ln/>
        </p:spPr>
        <p:txBody>
          <a:bodyPr wrap="square" lIns="0" tIns="0" rIns="0" bIns="0" rtlCol="0" anchor="t"/>
          <a:lstStyle/>
          <a:p>
            <a:pPr marL="0" indent="0" algn="ctr">
              <a:buNone/>
            </a:pPr>
            <a:r>
              <a:rPr lang="en-US" sz="1250" b="1" dirty="0">
                <a:solidFill>
                  <a:srgbClr val="0F2942"/>
                </a:solidFill>
                <a:latin typeface="Calibri" pitchFamily="34" charset="0"/>
                <a:ea typeface="Calibri" pitchFamily="34" charset="-122"/>
                <a:cs typeface="Calibri" pitchFamily="34" charset="-120"/>
              </a:rPr>
              <a:t>Java 1.0 released</a:t>
            </a:r>
            <a:endParaRPr lang="en-US" sz="1250" dirty="0"/>
          </a:p>
        </p:txBody>
      </p:sp>
      <p:sp>
        <p:nvSpPr>
          <p:cNvPr id="13" name="Text 11"/>
          <p:cNvSpPr txBox="1"/>
          <p:nvPr/>
        </p:nvSpPr>
        <p:spPr>
          <a:xfrm>
            <a:off x="2292923" y="2999232"/>
            <a:ext cx="1213931" cy="1325880"/>
          </a:xfrm>
          <a:prstGeom prst="rect">
            <a:avLst/>
          </a:prstGeom>
          <a:noFill/>
          <a:ln/>
        </p:spPr>
        <p:txBody>
          <a:bodyPr wrap="square" lIns="0" tIns="0" rIns="0" bIns="0" rtlCol="0" anchor="t"/>
          <a:lstStyle/>
          <a:p>
            <a:pPr marL="0" indent="0" algn="ctr">
              <a:lnSpc>
                <a:spcPct val="110000"/>
              </a:lnSpc>
              <a:buNone/>
            </a:pPr>
            <a:r>
              <a:rPr lang="en-US" sz="1100" dirty="0">
                <a:solidFill>
                  <a:srgbClr val="3A536B"/>
                </a:solidFill>
                <a:latin typeface="Calibri" pitchFamily="34" charset="0"/>
                <a:ea typeface="Calibri" pitchFamily="34" charset="-122"/>
                <a:cs typeface="Calibri" pitchFamily="34" charset="-120"/>
              </a:rPr>
              <a:t>Sun launches Java publicly. Applets make it famous almost overnight.</a:t>
            </a:r>
            <a:endParaRPr lang="en-US" sz="1100" dirty="0"/>
          </a:p>
        </p:txBody>
      </p:sp>
      <p:sp>
        <p:nvSpPr>
          <p:cNvPr id="14" name="Shape 12"/>
          <p:cNvSpPr/>
          <p:nvPr/>
        </p:nvSpPr>
        <p:spPr>
          <a:xfrm>
            <a:off x="3762887" y="1581912"/>
            <a:ext cx="1469963" cy="2880360"/>
          </a:xfrm>
          <a:prstGeom prst="roundRect">
            <a:avLst>
              <a:gd name="adj" fmla="val 5599"/>
            </a:avLst>
          </a:prstGeom>
          <a:solidFill>
            <a:srgbClr val="F1F5F9"/>
          </a:solidFill>
          <a:ln w="12700">
            <a:solidFill>
              <a:srgbClr val="F1F5F9"/>
            </a:solidFill>
            <a:prstDash val="solid"/>
          </a:ln>
        </p:spPr>
        <p:txBody>
          <a:bodyPr/>
          <a:lstStyle/>
          <a:p>
            <a:endParaRPr lang="en-US"/>
          </a:p>
        </p:txBody>
      </p:sp>
      <p:sp>
        <p:nvSpPr>
          <p:cNvPr id="15" name="Text 13"/>
          <p:cNvSpPr txBox="1"/>
          <p:nvPr/>
        </p:nvSpPr>
        <p:spPr>
          <a:xfrm>
            <a:off x="3909191" y="1801368"/>
            <a:ext cx="1177355" cy="402336"/>
          </a:xfrm>
          <a:prstGeom prst="rect">
            <a:avLst/>
          </a:prstGeom>
          <a:noFill/>
          <a:ln/>
        </p:spPr>
        <p:txBody>
          <a:bodyPr wrap="square" lIns="0" tIns="0" rIns="0" bIns="0" rtlCol="0" anchor="ctr"/>
          <a:lstStyle/>
          <a:p>
            <a:pPr marL="0" indent="0" algn="ctr">
              <a:buNone/>
            </a:pPr>
            <a:r>
              <a:rPr lang="en-US" sz="2600" b="1" dirty="0">
                <a:solidFill>
                  <a:srgbClr val="9A430A"/>
                </a:solidFill>
                <a:latin typeface="Cambria" pitchFamily="34" charset="0"/>
                <a:ea typeface="Cambria" pitchFamily="34" charset="-122"/>
                <a:cs typeface="Cambria" pitchFamily="34" charset="-120"/>
              </a:rPr>
              <a:t>2004</a:t>
            </a:r>
            <a:endParaRPr lang="en-US" sz="2600" dirty="0"/>
          </a:p>
        </p:txBody>
      </p:sp>
      <p:sp>
        <p:nvSpPr>
          <p:cNvPr id="16" name="Text 14"/>
          <p:cNvSpPr txBox="1"/>
          <p:nvPr/>
        </p:nvSpPr>
        <p:spPr>
          <a:xfrm>
            <a:off x="3890903" y="2295144"/>
            <a:ext cx="1213931" cy="640080"/>
          </a:xfrm>
          <a:prstGeom prst="rect">
            <a:avLst/>
          </a:prstGeom>
          <a:noFill/>
          <a:ln/>
        </p:spPr>
        <p:txBody>
          <a:bodyPr wrap="square" lIns="0" tIns="0" rIns="0" bIns="0" rtlCol="0" anchor="t"/>
          <a:lstStyle/>
          <a:p>
            <a:pPr marL="0" indent="0" algn="ctr">
              <a:buNone/>
            </a:pPr>
            <a:r>
              <a:rPr lang="en-US" sz="1250" b="1" dirty="0">
                <a:solidFill>
                  <a:srgbClr val="0F2942"/>
                </a:solidFill>
                <a:latin typeface="Calibri" pitchFamily="34" charset="0"/>
                <a:ea typeface="Calibri" pitchFamily="34" charset="-122"/>
                <a:cs typeface="Calibri" pitchFamily="34" charset="-120"/>
              </a:rPr>
              <a:t>Java 5</a:t>
            </a:r>
            <a:endParaRPr lang="en-US" sz="1250" dirty="0"/>
          </a:p>
        </p:txBody>
      </p:sp>
      <p:sp>
        <p:nvSpPr>
          <p:cNvPr id="17" name="Text 15"/>
          <p:cNvSpPr txBox="1"/>
          <p:nvPr/>
        </p:nvSpPr>
        <p:spPr>
          <a:xfrm>
            <a:off x="3890903" y="2999232"/>
            <a:ext cx="1213931" cy="1325880"/>
          </a:xfrm>
          <a:prstGeom prst="rect">
            <a:avLst/>
          </a:prstGeom>
          <a:noFill/>
          <a:ln/>
        </p:spPr>
        <p:txBody>
          <a:bodyPr wrap="square" lIns="0" tIns="0" rIns="0" bIns="0" rtlCol="0" anchor="t"/>
          <a:lstStyle/>
          <a:p>
            <a:pPr marL="0" indent="0" algn="ctr">
              <a:lnSpc>
                <a:spcPct val="110000"/>
              </a:lnSpc>
              <a:buNone/>
            </a:pPr>
            <a:r>
              <a:rPr lang="en-US" sz="1100" dirty="0">
                <a:solidFill>
                  <a:srgbClr val="3A536B"/>
                </a:solidFill>
                <a:latin typeface="Calibri" pitchFamily="34" charset="0"/>
                <a:ea typeface="Calibri" pitchFamily="34" charset="-122"/>
                <a:cs typeface="Calibri" pitchFamily="34" charset="-120"/>
              </a:rPr>
              <a:t>Generics, annotations and the enhanced for-loop — the language grows up.</a:t>
            </a:r>
            <a:endParaRPr lang="en-US" sz="1100" dirty="0"/>
          </a:p>
        </p:txBody>
      </p:sp>
      <p:sp>
        <p:nvSpPr>
          <p:cNvPr id="18" name="Shape 16"/>
          <p:cNvSpPr/>
          <p:nvPr/>
        </p:nvSpPr>
        <p:spPr>
          <a:xfrm>
            <a:off x="5360866" y="1581912"/>
            <a:ext cx="1469963" cy="2880360"/>
          </a:xfrm>
          <a:prstGeom prst="roundRect">
            <a:avLst>
              <a:gd name="adj" fmla="val 5599"/>
            </a:avLst>
          </a:prstGeom>
          <a:solidFill>
            <a:srgbClr val="F1F5F9"/>
          </a:solidFill>
          <a:ln w="12700">
            <a:solidFill>
              <a:srgbClr val="F1F5F9"/>
            </a:solidFill>
            <a:prstDash val="solid"/>
          </a:ln>
        </p:spPr>
        <p:txBody>
          <a:bodyPr/>
          <a:lstStyle/>
          <a:p>
            <a:endParaRPr lang="en-US"/>
          </a:p>
        </p:txBody>
      </p:sp>
      <p:sp>
        <p:nvSpPr>
          <p:cNvPr id="19" name="Text 17"/>
          <p:cNvSpPr txBox="1"/>
          <p:nvPr/>
        </p:nvSpPr>
        <p:spPr>
          <a:xfrm>
            <a:off x="5507170" y="1801368"/>
            <a:ext cx="1177355" cy="402336"/>
          </a:xfrm>
          <a:prstGeom prst="rect">
            <a:avLst/>
          </a:prstGeom>
          <a:noFill/>
          <a:ln/>
        </p:spPr>
        <p:txBody>
          <a:bodyPr wrap="square" lIns="0" tIns="0" rIns="0" bIns="0" rtlCol="0" anchor="ctr"/>
          <a:lstStyle/>
          <a:p>
            <a:pPr marL="0" indent="0" algn="ctr">
              <a:buNone/>
            </a:pPr>
            <a:r>
              <a:rPr lang="en-US" sz="2600" b="1" dirty="0">
                <a:solidFill>
                  <a:srgbClr val="9A430A"/>
                </a:solidFill>
                <a:latin typeface="Cambria" pitchFamily="34" charset="0"/>
                <a:ea typeface="Cambria" pitchFamily="34" charset="-122"/>
                <a:cs typeface="Cambria" pitchFamily="34" charset="-120"/>
              </a:rPr>
              <a:t>2010</a:t>
            </a:r>
            <a:endParaRPr lang="en-US" sz="2600" dirty="0"/>
          </a:p>
        </p:txBody>
      </p:sp>
      <p:sp>
        <p:nvSpPr>
          <p:cNvPr id="20" name="Text 18"/>
          <p:cNvSpPr txBox="1"/>
          <p:nvPr/>
        </p:nvSpPr>
        <p:spPr>
          <a:xfrm>
            <a:off x="5488882" y="2295144"/>
            <a:ext cx="1213931" cy="640080"/>
          </a:xfrm>
          <a:prstGeom prst="rect">
            <a:avLst/>
          </a:prstGeom>
          <a:noFill/>
          <a:ln/>
        </p:spPr>
        <p:txBody>
          <a:bodyPr wrap="square" lIns="0" tIns="0" rIns="0" bIns="0" rtlCol="0" anchor="t"/>
          <a:lstStyle/>
          <a:p>
            <a:pPr marL="0" indent="0" algn="ctr">
              <a:buNone/>
            </a:pPr>
            <a:r>
              <a:rPr lang="en-US" sz="1250" b="1" dirty="0">
                <a:solidFill>
                  <a:srgbClr val="0F2942"/>
                </a:solidFill>
                <a:latin typeface="Calibri" pitchFamily="34" charset="0"/>
                <a:ea typeface="Calibri" pitchFamily="34" charset="-122"/>
                <a:cs typeface="Calibri" pitchFamily="34" charset="-120"/>
              </a:rPr>
              <a:t>Oracle acquires Sun</a:t>
            </a:r>
            <a:endParaRPr lang="en-US" sz="1250" dirty="0"/>
          </a:p>
        </p:txBody>
      </p:sp>
      <p:sp>
        <p:nvSpPr>
          <p:cNvPr id="21" name="Text 19"/>
          <p:cNvSpPr txBox="1"/>
          <p:nvPr/>
        </p:nvSpPr>
        <p:spPr>
          <a:xfrm>
            <a:off x="5488882" y="2999232"/>
            <a:ext cx="1213931" cy="1325880"/>
          </a:xfrm>
          <a:prstGeom prst="rect">
            <a:avLst/>
          </a:prstGeom>
          <a:noFill/>
          <a:ln/>
        </p:spPr>
        <p:txBody>
          <a:bodyPr wrap="square" lIns="0" tIns="0" rIns="0" bIns="0" rtlCol="0" anchor="t"/>
          <a:lstStyle/>
          <a:p>
            <a:pPr marL="0" indent="0" algn="ctr">
              <a:lnSpc>
                <a:spcPct val="110000"/>
              </a:lnSpc>
              <a:buNone/>
            </a:pPr>
            <a:r>
              <a:rPr lang="en-US" sz="1100" dirty="0">
                <a:solidFill>
                  <a:srgbClr val="3A536B"/>
                </a:solidFill>
                <a:latin typeface="Calibri" pitchFamily="34" charset="0"/>
                <a:ea typeface="Calibri" pitchFamily="34" charset="-122"/>
                <a:cs typeface="Calibri" pitchFamily="34" charset="-120"/>
              </a:rPr>
              <a:t>Stewardship of Java passes to Oracle; OpenJDK becomes the reference implementation.</a:t>
            </a:r>
            <a:endParaRPr lang="en-US" sz="1100" dirty="0"/>
          </a:p>
        </p:txBody>
      </p:sp>
      <p:sp>
        <p:nvSpPr>
          <p:cNvPr id="22" name="Shape 20"/>
          <p:cNvSpPr/>
          <p:nvPr/>
        </p:nvSpPr>
        <p:spPr>
          <a:xfrm>
            <a:off x="6958845" y="1581912"/>
            <a:ext cx="1469963" cy="2880360"/>
          </a:xfrm>
          <a:prstGeom prst="roundRect">
            <a:avLst>
              <a:gd name="adj" fmla="val 5599"/>
            </a:avLst>
          </a:prstGeom>
          <a:solidFill>
            <a:srgbClr val="F1F5F9"/>
          </a:solidFill>
          <a:ln w="12700">
            <a:solidFill>
              <a:srgbClr val="F1F5F9"/>
            </a:solidFill>
            <a:prstDash val="solid"/>
          </a:ln>
        </p:spPr>
        <p:txBody>
          <a:bodyPr/>
          <a:lstStyle/>
          <a:p>
            <a:endParaRPr lang="en-US"/>
          </a:p>
        </p:txBody>
      </p:sp>
      <p:sp>
        <p:nvSpPr>
          <p:cNvPr id="23" name="Text 21"/>
          <p:cNvSpPr txBox="1"/>
          <p:nvPr/>
        </p:nvSpPr>
        <p:spPr>
          <a:xfrm>
            <a:off x="7105149" y="1801368"/>
            <a:ext cx="1177355" cy="402336"/>
          </a:xfrm>
          <a:prstGeom prst="rect">
            <a:avLst/>
          </a:prstGeom>
          <a:noFill/>
          <a:ln/>
        </p:spPr>
        <p:txBody>
          <a:bodyPr wrap="square" lIns="0" tIns="0" rIns="0" bIns="0" rtlCol="0" anchor="ctr"/>
          <a:lstStyle/>
          <a:p>
            <a:pPr marL="0" indent="0" algn="ctr">
              <a:buNone/>
            </a:pPr>
            <a:r>
              <a:rPr lang="en-US" sz="2600" b="1" dirty="0">
                <a:solidFill>
                  <a:srgbClr val="9A430A"/>
                </a:solidFill>
                <a:latin typeface="Cambria" pitchFamily="34" charset="0"/>
                <a:ea typeface="Cambria" pitchFamily="34" charset="-122"/>
                <a:cs typeface="Cambria" pitchFamily="34" charset="-120"/>
              </a:rPr>
              <a:t>2014</a:t>
            </a:r>
            <a:endParaRPr lang="en-US" sz="2600" dirty="0"/>
          </a:p>
        </p:txBody>
      </p:sp>
      <p:sp>
        <p:nvSpPr>
          <p:cNvPr id="24" name="Text 22"/>
          <p:cNvSpPr txBox="1"/>
          <p:nvPr/>
        </p:nvSpPr>
        <p:spPr>
          <a:xfrm>
            <a:off x="7086861" y="2295144"/>
            <a:ext cx="1213931" cy="640080"/>
          </a:xfrm>
          <a:prstGeom prst="rect">
            <a:avLst/>
          </a:prstGeom>
          <a:noFill/>
          <a:ln/>
        </p:spPr>
        <p:txBody>
          <a:bodyPr wrap="square" lIns="0" tIns="0" rIns="0" bIns="0" rtlCol="0" anchor="t"/>
          <a:lstStyle/>
          <a:p>
            <a:pPr marL="0" indent="0" algn="ctr">
              <a:buNone/>
            </a:pPr>
            <a:r>
              <a:rPr lang="en-US" sz="1250" b="1" dirty="0">
                <a:solidFill>
                  <a:srgbClr val="0F2942"/>
                </a:solidFill>
                <a:latin typeface="Calibri" pitchFamily="34" charset="0"/>
                <a:ea typeface="Calibri" pitchFamily="34" charset="-122"/>
                <a:cs typeface="Calibri" pitchFamily="34" charset="-120"/>
              </a:rPr>
              <a:t>Java 8 (LTS)</a:t>
            </a:r>
            <a:endParaRPr lang="en-US" sz="1250" dirty="0"/>
          </a:p>
        </p:txBody>
      </p:sp>
      <p:sp>
        <p:nvSpPr>
          <p:cNvPr id="25" name="Text 23"/>
          <p:cNvSpPr txBox="1"/>
          <p:nvPr/>
        </p:nvSpPr>
        <p:spPr>
          <a:xfrm>
            <a:off x="7086861" y="2999232"/>
            <a:ext cx="1213931" cy="1325880"/>
          </a:xfrm>
          <a:prstGeom prst="rect">
            <a:avLst/>
          </a:prstGeom>
          <a:noFill/>
          <a:ln/>
        </p:spPr>
        <p:txBody>
          <a:bodyPr wrap="square" lIns="0" tIns="0" rIns="0" bIns="0" rtlCol="0" anchor="t"/>
          <a:lstStyle/>
          <a:p>
            <a:pPr marL="0" indent="0" algn="ctr">
              <a:lnSpc>
                <a:spcPct val="110000"/>
              </a:lnSpc>
              <a:buNone/>
            </a:pPr>
            <a:r>
              <a:rPr lang="en-US" sz="1100" dirty="0">
                <a:solidFill>
                  <a:srgbClr val="3A536B"/>
                </a:solidFill>
                <a:latin typeface="Calibri" pitchFamily="34" charset="0"/>
                <a:ea typeface="Calibri" pitchFamily="34" charset="-122"/>
                <a:cs typeface="Calibri" pitchFamily="34" charset="-120"/>
              </a:rPr>
              <a:t>Lambdas, the Stream API and a sane date-and-time API. Still widely deployed.</a:t>
            </a:r>
            <a:endParaRPr lang="en-US" sz="1100" dirty="0"/>
          </a:p>
        </p:txBody>
      </p:sp>
      <p:sp>
        <p:nvSpPr>
          <p:cNvPr id="26" name="Shape 24"/>
          <p:cNvSpPr/>
          <p:nvPr/>
        </p:nvSpPr>
        <p:spPr>
          <a:xfrm>
            <a:off x="8556825" y="1581912"/>
            <a:ext cx="1469963" cy="2880360"/>
          </a:xfrm>
          <a:prstGeom prst="roundRect">
            <a:avLst>
              <a:gd name="adj" fmla="val 5599"/>
            </a:avLst>
          </a:prstGeom>
          <a:solidFill>
            <a:srgbClr val="F1F5F9"/>
          </a:solidFill>
          <a:ln w="12700">
            <a:solidFill>
              <a:srgbClr val="F1F5F9"/>
            </a:solidFill>
            <a:prstDash val="solid"/>
          </a:ln>
        </p:spPr>
        <p:txBody>
          <a:bodyPr/>
          <a:lstStyle/>
          <a:p>
            <a:endParaRPr lang="en-US"/>
          </a:p>
        </p:txBody>
      </p:sp>
      <p:sp>
        <p:nvSpPr>
          <p:cNvPr id="27" name="Text 25"/>
          <p:cNvSpPr txBox="1"/>
          <p:nvPr/>
        </p:nvSpPr>
        <p:spPr>
          <a:xfrm>
            <a:off x="8703129" y="1801368"/>
            <a:ext cx="1177355" cy="402336"/>
          </a:xfrm>
          <a:prstGeom prst="rect">
            <a:avLst/>
          </a:prstGeom>
          <a:noFill/>
          <a:ln/>
        </p:spPr>
        <p:txBody>
          <a:bodyPr wrap="square" lIns="0" tIns="0" rIns="0" bIns="0" rtlCol="0" anchor="ctr"/>
          <a:lstStyle/>
          <a:p>
            <a:pPr marL="0" indent="0" algn="ctr">
              <a:buNone/>
            </a:pPr>
            <a:r>
              <a:rPr lang="en-US" sz="2600" b="1" dirty="0">
                <a:solidFill>
                  <a:srgbClr val="9A430A"/>
                </a:solidFill>
                <a:latin typeface="Cambria" pitchFamily="34" charset="0"/>
                <a:ea typeface="Cambria" pitchFamily="34" charset="-122"/>
                <a:cs typeface="Cambria" pitchFamily="34" charset="-120"/>
              </a:rPr>
              <a:t>2017</a:t>
            </a:r>
            <a:endParaRPr lang="en-US" sz="2600" dirty="0"/>
          </a:p>
        </p:txBody>
      </p:sp>
      <p:sp>
        <p:nvSpPr>
          <p:cNvPr id="28" name="Text 26"/>
          <p:cNvSpPr txBox="1"/>
          <p:nvPr/>
        </p:nvSpPr>
        <p:spPr>
          <a:xfrm>
            <a:off x="8684841" y="2295144"/>
            <a:ext cx="1213931" cy="640080"/>
          </a:xfrm>
          <a:prstGeom prst="rect">
            <a:avLst/>
          </a:prstGeom>
          <a:noFill/>
          <a:ln/>
        </p:spPr>
        <p:txBody>
          <a:bodyPr wrap="square" lIns="0" tIns="0" rIns="0" bIns="0" rtlCol="0" anchor="t"/>
          <a:lstStyle/>
          <a:p>
            <a:pPr marL="0" indent="0" algn="ctr">
              <a:buNone/>
            </a:pPr>
            <a:r>
              <a:rPr lang="en-US" sz="1250" b="1" dirty="0">
                <a:solidFill>
                  <a:srgbClr val="0F2942"/>
                </a:solidFill>
                <a:latin typeface="Calibri" pitchFamily="34" charset="0"/>
                <a:ea typeface="Calibri" pitchFamily="34" charset="-122"/>
                <a:cs typeface="Calibri" pitchFamily="34" charset="-120"/>
              </a:rPr>
              <a:t>Six-month cadence</a:t>
            </a:r>
            <a:endParaRPr lang="en-US" sz="1250" dirty="0"/>
          </a:p>
        </p:txBody>
      </p:sp>
      <p:sp>
        <p:nvSpPr>
          <p:cNvPr id="29" name="Text 27"/>
          <p:cNvSpPr txBox="1"/>
          <p:nvPr/>
        </p:nvSpPr>
        <p:spPr>
          <a:xfrm>
            <a:off x="8684841" y="2999232"/>
            <a:ext cx="1213931" cy="1325880"/>
          </a:xfrm>
          <a:prstGeom prst="rect">
            <a:avLst/>
          </a:prstGeom>
          <a:noFill/>
          <a:ln/>
        </p:spPr>
        <p:txBody>
          <a:bodyPr wrap="square" lIns="0" tIns="0" rIns="0" bIns="0" rtlCol="0" anchor="t"/>
          <a:lstStyle/>
          <a:p>
            <a:pPr marL="0" indent="0" algn="ctr">
              <a:lnSpc>
                <a:spcPct val="110000"/>
              </a:lnSpc>
              <a:buNone/>
            </a:pPr>
            <a:r>
              <a:rPr lang="en-US" sz="1100" dirty="0">
                <a:solidFill>
                  <a:srgbClr val="3A536B"/>
                </a:solidFill>
                <a:latin typeface="Calibri" pitchFamily="34" charset="0"/>
                <a:ea typeface="Calibri" pitchFamily="34" charset="-122"/>
                <a:cs typeface="Calibri" pitchFamily="34" charset="-120"/>
              </a:rPr>
              <a:t>Java 9 ships modules, and releases move to a fixed March / September rhythm.</a:t>
            </a:r>
            <a:endParaRPr lang="en-US" sz="1100" dirty="0"/>
          </a:p>
        </p:txBody>
      </p:sp>
      <p:sp>
        <p:nvSpPr>
          <p:cNvPr id="30" name="Shape 28"/>
          <p:cNvSpPr/>
          <p:nvPr/>
        </p:nvSpPr>
        <p:spPr>
          <a:xfrm>
            <a:off x="10154804" y="1581912"/>
            <a:ext cx="1469963" cy="2880360"/>
          </a:xfrm>
          <a:prstGeom prst="roundRect">
            <a:avLst>
              <a:gd name="adj" fmla="val 5599"/>
            </a:avLst>
          </a:prstGeom>
          <a:solidFill>
            <a:srgbClr val="FBEEE0"/>
          </a:solidFill>
          <a:ln w="12700">
            <a:solidFill>
              <a:srgbClr val="FBEEE0"/>
            </a:solidFill>
            <a:prstDash val="solid"/>
          </a:ln>
        </p:spPr>
        <p:txBody>
          <a:bodyPr/>
          <a:lstStyle/>
          <a:p>
            <a:endParaRPr lang="en-US"/>
          </a:p>
        </p:txBody>
      </p:sp>
      <p:sp>
        <p:nvSpPr>
          <p:cNvPr id="31" name="Text 29"/>
          <p:cNvSpPr txBox="1"/>
          <p:nvPr/>
        </p:nvSpPr>
        <p:spPr>
          <a:xfrm>
            <a:off x="10301108" y="1801368"/>
            <a:ext cx="1177355" cy="402336"/>
          </a:xfrm>
          <a:prstGeom prst="rect">
            <a:avLst/>
          </a:prstGeom>
          <a:noFill/>
          <a:ln/>
        </p:spPr>
        <p:txBody>
          <a:bodyPr wrap="square" lIns="0" tIns="0" rIns="0" bIns="0" rtlCol="0" anchor="ctr"/>
          <a:lstStyle/>
          <a:p>
            <a:pPr marL="0" indent="0" algn="ctr">
              <a:buNone/>
            </a:pPr>
            <a:r>
              <a:rPr lang="en-US" sz="2600" b="1" dirty="0">
                <a:solidFill>
                  <a:srgbClr val="9A430A"/>
                </a:solidFill>
                <a:latin typeface="Cambria" pitchFamily="34" charset="0"/>
                <a:ea typeface="Cambria" pitchFamily="34" charset="-122"/>
                <a:cs typeface="Cambria" pitchFamily="34" charset="-120"/>
              </a:rPr>
              <a:t>2025</a:t>
            </a:r>
            <a:endParaRPr lang="en-US" sz="2600" dirty="0"/>
          </a:p>
        </p:txBody>
      </p:sp>
      <p:sp>
        <p:nvSpPr>
          <p:cNvPr id="32" name="Text 30"/>
          <p:cNvSpPr txBox="1"/>
          <p:nvPr/>
        </p:nvSpPr>
        <p:spPr>
          <a:xfrm>
            <a:off x="10282820" y="2295144"/>
            <a:ext cx="1213931" cy="640080"/>
          </a:xfrm>
          <a:prstGeom prst="rect">
            <a:avLst/>
          </a:prstGeom>
          <a:noFill/>
          <a:ln/>
        </p:spPr>
        <p:txBody>
          <a:bodyPr wrap="square" lIns="0" tIns="0" rIns="0" bIns="0" rtlCol="0" anchor="t"/>
          <a:lstStyle/>
          <a:p>
            <a:pPr marL="0" indent="0" algn="ctr">
              <a:buNone/>
            </a:pPr>
            <a:r>
              <a:rPr lang="en-US" sz="1250" b="1" dirty="0">
                <a:solidFill>
                  <a:srgbClr val="0F2942"/>
                </a:solidFill>
                <a:latin typeface="Calibri" pitchFamily="34" charset="0"/>
                <a:ea typeface="Calibri" pitchFamily="34" charset="-122"/>
                <a:cs typeface="Calibri" pitchFamily="34" charset="-120"/>
              </a:rPr>
              <a:t>Java 25 (LTS)</a:t>
            </a:r>
            <a:endParaRPr lang="en-US" sz="1250" dirty="0"/>
          </a:p>
        </p:txBody>
      </p:sp>
      <p:sp>
        <p:nvSpPr>
          <p:cNvPr id="33" name="Text 31"/>
          <p:cNvSpPr txBox="1"/>
          <p:nvPr/>
        </p:nvSpPr>
        <p:spPr>
          <a:xfrm>
            <a:off x="10282820" y="2999232"/>
            <a:ext cx="1213931" cy="1325880"/>
          </a:xfrm>
          <a:prstGeom prst="rect">
            <a:avLst/>
          </a:prstGeom>
          <a:noFill/>
          <a:ln/>
        </p:spPr>
        <p:txBody>
          <a:bodyPr wrap="square" lIns="0" tIns="0" rIns="0" bIns="0" rtlCol="0" anchor="t"/>
          <a:lstStyle/>
          <a:p>
            <a:pPr marL="0" indent="0" algn="ctr">
              <a:lnSpc>
                <a:spcPct val="110000"/>
              </a:lnSpc>
              <a:buNone/>
            </a:pPr>
            <a:r>
              <a:rPr lang="en-US" sz="1100" dirty="0">
                <a:solidFill>
                  <a:srgbClr val="3A536B"/>
                </a:solidFill>
                <a:latin typeface="Calibri" pitchFamily="34" charset="0"/>
                <a:ea typeface="Calibri" pitchFamily="34" charset="-122"/>
                <a:cs typeface="Calibri" pitchFamily="34" charset="-120"/>
              </a:rPr>
              <a:t>The current long-term-support release — and the baseline for this course.</a:t>
            </a:r>
            <a:endParaRPr lang="en-US" sz="1100" dirty="0"/>
          </a:p>
        </p:txBody>
      </p:sp>
      <p:sp>
        <p:nvSpPr>
          <p:cNvPr id="34" name="Text 32"/>
          <p:cNvSpPr txBox="1"/>
          <p:nvPr/>
        </p:nvSpPr>
        <p:spPr>
          <a:xfrm>
            <a:off x="566928" y="4645152"/>
            <a:ext cx="11057839" cy="274320"/>
          </a:xfrm>
          <a:prstGeom prst="rect">
            <a:avLst/>
          </a:prstGeom>
          <a:noFill/>
          <a:ln/>
        </p:spPr>
        <p:txBody>
          <a:bodyPr wrap="square" lIns="0" tIns="0" rIns="0" bIns="0" rtlCol="0" anchor="ctr"/>
          <a:lstStyle/>
          <a:p>
            <a:pPr marL="0" indent="0" algn="ctr">
              <a:buNone/>
            </a:pPr>
            <a:r>
              <a:rPr lang="en-US" sz="1250" i="1" dirty="0">
                <a:solidFill>
                  <a:srgbClr val="4B6377"/>
                </a:solidFill>
                <a:latin typeface="Calibri" pitchFamily="34" charset="0"/>
                <a:ea typeface="Calibri" pitchFamily="34" charset="-122"/>
                <a:cs typeface="Calibri" pitchFamily="34" charset="-120"/>
              </a:rPr>
              <a:t>“Write once, run anywhere” was the 1995 pitch — and the JVM is what made it true.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RELEASE MODEL</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How Java Versions Work Today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Since 2017 a feature release ships every six months, in March and September. Every second year one of them is designated Long-Term Support.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24</a:t>
            </a:r>
            <a:endParaRPr lang="en-US" sz="900" dirty="0"/>
          </a:p>
        </p:txBody>
      </p:sp>
      <p:sp>
        <p:nvSpPr>
          <p:cNvPr id="7" name="Text 5"/>
          <p:cNvSpPr txBox="1"/>
          <p:nvPr/>
        </p:nvSpPr>
        <p:spPr>
          <a:xfrm>
            <a:off x="566928" y="1627632"/>
            <a:ext cx="7315200" cy="237744"/>
          </a:xfrm>
          <a:prstGeom prst="rect">
            <a:avLst/>
          </a:prstGeom>
          <a:noFill/>
          <a:ln/>
        </p:spPr>
        <p:txBody>
          <a:bodyPr wrap="square" lIns="0" tIns="0" rIns="0" bIns="0" rtlCol="0" anchor="ctr"/>
          <a:lstStyle/>
          <a:p>
            <a:pPr marL="0" indent="0">
              <a:buNone/>
            </a:pPr>
            <a:r>
              <a:rPr lang="en-US" sz="1000" b="1" kern="0" spc="140" dirty="0">
                <a:solidFill>
                  <a:srgbClr val="9A430A"/>
                </a:solidFill>
                <a:latin typeface="Calibri" pitchFamily="34" charset="0"/>
                <a:ea typeface="Calibri" pitchFamily="34" charset="-122"/>
                <a:cs typeface="Calibri" pitchFamily="34" charset="-120"/>
              </a:rPr>
              <a:t>LONG-TERM SUPPORT RELEASES</a:t>
            </a:r>
            <a:endParaRPr lang="en-US" sz="1000" dirty="0"/>
          </a:p>
        </p:txBody>
      </p:sp>
      <p:sp>
        <p:nvSpPr>
          <p:cNvPr id="8" name="Shape 6"/>
          <p:cNvSpPr/>
          <p:nvPr/>
        </p:nvSpPr>
        <p:spPr>
          <a:xfrm>
            <a:off x="566928" y="1956816"/>
            <a:ext cx="1705813" cy="1371600"/>
          </a:xfrm>
          <a:prstGeom prst="roundRect">
            <a:avLst>
              <a:gd name="adj" fmla="val 6000"/>
            </a:avLst>
          </a:prstGeom>
          <a:solidFill>
            <a:srgbClr val="F1F5F9"/>
          </a:solidFill>
          <a:ln w="12700">
            <a:solidFill>
              <a:srgbClr val="F1F5F9"/>
            </a:solidFill>
            <a:prstDash val="solid"/>
          </a:ln>
        </p:spPr>
        <p:txBody>
          <a:bodyPr/>
          <a:lstStyle/>
          <a:p>
            <a:endParaRPr lang="en-US"/>
          </a:p>
        </p:txBody>
      </p:sp>
      <p:sp>
        <p:nvSpPr>
          <p:cNvPr id="9" name="Text 7"/>
          <p:cNvSpPr txBox="1"/>
          <p:nvPr/>
        </p:nvSpPr>
        <p:spPr>
          <a:xfrm>
            <a:off x="566928" y="2176272"/>
            <a:ext cx="1705813" cy="457200"/>
          </a:xfrm>
          <a:prstGeom prst="rect">
            <a:avLst/>
          </a:prstGeom>
          <a:noFill/>
          <a:ln/>
        </p:spPr>
        <p:txBody>
          <a:bodyPr wrap="square" lIns="0" tIns="0" rIns="0" bIns="0" rtlCol="0" anchor="ctr"/>
          <a:lstStyle/>
          <a:p>
            <a:pPr marL="0" indent="0" algn="ctr">
              <a:buNone/>
            </a:pPr>
            <a:r>
              <a:rPr lang="en-US" sz="2700" b="1" dirty="0">
                <a:solidFill>
                  <a:srgbClr val="0F2942"/>
                </a:solidFill>
                <a:latin typeface="Cambria" pitchFamily="34" charset="0"/>
                <a:ea typeface="Cambria" pitchFamily="34" charset="-122"/>
                <a:cs typeface="Cambria" pitchFamily="34" charset="-120"/>
              </a:rPr>
              <a:t>Java 8</a:t>
            </a:r>
            <a:endParaRPr lang="en-US" sz="2700" dirty="0"/>
          </a:p>
        </p:txBody>
      </p:sp>
      <p:sp>
        <p:nvSpPr>
          <p:cNvPr id="10" name="Text 8"/>
          <p:cNvSpPr txBox="1"/>
          <p:nvPr/>
        </p:nvSpPr>
        <p:spPr>
          <a:xfrm>
            <a:off x="566928" y="2670048"/>
            <a:ext cx="1705813" cy="256032"/>
          </a:xfrm>
          <a:prstGeom prst="rect">
            <a:avLst/>
          </a:prstGeom>
          <a:noFill/>
          <a:ln/>
        </p:spPr>
        <p:txBody>
          <a:bodyPr wrap="square" lIns="0" tIns="0" rIns="0" bIns="0" rtlCol="0" anchor="ctr"/>
          <a:lstStyle/>
          <a:p>
            <a:pPr marL="0" indent="0" algn="ctr">
              <a:buNone/>
            </a:pPr>
            <a:r>
              <a:rPr lang="en-US" sz="1200" dirty="0">
                <a:solidFill>
                  <a:srgbClr val="4B6377"/>
                </a:solidFill>
                <a:latin typeface="Calibri" pitchFamily="34" charset="0"/>
                <a:ea typeface="Calibri" pitchFamily="34" charset="-122"/>
                <a:cs typeface="Calibri" pitchFamily="34" charset="-120"/>
              </a:rPr>
              <a:t>Mar 2014</a:t>
            </a:r>
            <a:endParaRPr lang="en-US" sz="1200" dirty="0"/>
          </a:p>
        </p:txBody>
      </p:sp>
      <p:sp>
        <p:nvSpPr>
          <p:cNvPr id="11" name="Text 9"/>
          <p:cNvSpPr txBox="1"/>
          <p:nvPr/>
        </p:nvSpPr>
        <p:spPr>
          <a:xfrm>
            <a:off x="566928" y="2926080"/>
            <a:ext cx="1705813" cy="256032"/>
          </a:xfrm>
          <a:prstGeom prst="rect">
            <a:avLst/>
          </a:prstGeom>
          <a:noFill/>
          <a:ln/>
        </p:spPr>
        <p:txBody>
          <a:bodyPr wrap="square" lIns="0" tIns="0" rIns="0" bIns="0" rtlCol="0" anchor="ctr"/>
          <a:lstStyle/>
          <a:p>
            <a:pPr marL="0" indent="0" algn="ctr">
              <a:buNone/>
            </a:pPr>
            <a:r>
              <a:rPr lang="en-US" sz="1050" b="1" dirty="0">
                <a:solidFill>
                  <a:srgbClr val="4B6377"/>
                </a:solidFill>
                <a:latin typeface="Calibri" pitchFamily="34" charset="0"/>
                <a:ea typeface="Calibri" pitchFamily="34" charset="-122"/>
                <a:cs typeface="Calibri" pitchFamily="34" charset="-120"/>
              </a:rPr>
              <a:t>superseded</a:t>
            </a:r>
            <a:endParaRPr lang="en-US" sz="1050" dirty="0"/>
          </a:p>
        </p:txBody>
      </p:sp>
      <p:sp>
        <p:nvSpPr>
          <p:cNvPr id="12" name="Shape 10"/>
          <p:cNvSpPr/>
          <p:nvPr/>
        </p:nvSpPr>
        <p:spPr>
          <a:xfrm>
            <a:off x="2437333" y="1956816"/>
            <a:ext cx="1705813" cy="1371600"/>
          </a:xfrm>
          <a:prstGeom prst="roundRect">
            <a:avLst>
              <a:gd name="adj" fmla="val 6000"/>
            </a:avLst>
          </a:prstGeom>
          <a:solidFill>
            <a:srgbClr val="F1F5F9"/>
          </a:solidFill>
          <a:ln w="12700">
            <a:solidFill>
              <a:srgbClr val="F1F5F9"/>
            </a:solidFill>
            <a:prstDash val="solid"/>
          </a:ln>
        </p:spPr>
        <p:txBody>
          <a:bodyPr/>
          <a:lstStyle/>
          <a:p>
            <a:endParaRPr lang="en-US"/>
          </a:p>
        </p:txBody>
      </p:sp>
      <p:sp>
        <p:nvSpPr>
          <p:cNvPr id="13" name="Text 11"/>
          <p:cNvSpPr txBox="1"/>
          <p:nvPr/>
        </p:nvSpPr>
        <p:spPr>
          <a:xfrm>
            <a:off x="2437333" y="2176272"/>
            <a:ext cx="1705813" cy="457200"/>
          </a:xfrm>
          <a:prstGeom prst="rect">
            <a:avLst/>
          </a:prstGeom>
          <a:noFill/>
          <a:ln/>
        </p:spPr>
        <p:txBody>
          <a:bodyPr wrap="square" lIns="0" tIns="0" rIns="0" bIns="0" rtlCol="0" anchor="ctr"/>
          <a:lstStyle/>
          <a:p>
            <a:pPr marL="0" indent="0" algn="ctr">
              <a:buNone/>
            </a:pPr>
            <a:r>
              <a:rPr lang="en-US" sz="2700" b="1" dirty="0">
                <a:solidFill>
                  <a:srgbClr val="0F2942"/>
                </a:solidFill>
                <a:latin typeface="Cambria" pitchFamily="34" charset="0"/>
                <a:ea typeface="Cambria" pitchFamily="34" charset="-122"/>
                <a:cs typeface="Cambria" pitchFamily="34" charset="-120"/>
              </a:rPr>
              <a:t>Java 11</a:t>
            </a:r>
            <a:endParaRPr lang="en-US" sz="2700" dirty="0"/>
          </a:p>
        </p:txBody>
      </p:sp>
      <p:sp>
        <p:nvSpPr>
          <p:cNvPr id="14" name="Text 12"/>
          <p:cNvSpPr txBox="1"/>
          <p:nvPr/>
        </p:nvSpPr>
        <p:spPr>
          <a:xfrm>
            <a:off x="2437333" y="2670048"/>
            <a:ext cx="1705813" cy="256032"/>
          </a:xfrm>
          <a:prstGeom prst="rect">
            <a:avLst/>
          </a:prstGeom>
          <a:noFill/>
          <a:ln/>
        </p:spPr>
        <p:txBody>
          <a:bodyPr wrap="square" lIns="0" tIns="0" rIns="0" bIns="0" rtlCol="0" anchor="ctr"/>
          <a:lstStyle/>
          <a:p>
            <a:pPr marL="0" indent="0" algn="ctr">
              <a:buNone/>
            </a:pPr>
            <a:r>
              <a:rPr lang="en-US" sz="1200" dirty="0">
                <a:solidFill>
                  <a:srgbClr val="4B6377"/>
                </a:solidFill>
                <a:latin typeface="Calibri" pitchFamily="34" charset="0"/>
                <a:ea typeface="Calibri" pitchFamily="34" charset="-122"/>
                <a:cs typeface="Calibri" pitchFamily="34" charset="-120"/>
              </a:rPr>
              <a:t>Sep 2018</a:t>
            </a:r>
            <a:endParaRPr lang="en-US" sz="1200" dirty="0"/>
          </a:p>
        </p:txBody>
      </p:sp>
      <p:sp>
        <p:nvSpPr>
          <p:cNvPr id="15" name="Text 13"/>
          <p:cNvSpPr txBox="1"/>
          <p:nvPr/>
        </p:nvSpPr>
        <p:spPr>
          <a:xfrm>
            <a:off x="2437333" y="2926080"/>
            <a:ext cx="1705813" cy="256032"/>
          </a:xfrm>
          <a:prstGeom prst="rect">
            <a:avLst/>
          </a:prstGeom>
          <a:noFill/>
          <a:ln/>
        </p:spPr>
        <p:txBody>
          <a:bodyPr wrap="square" lIns="0" tIns="0" rIns="0" bIns="0" rtlCol="0" anchor="ctr"/>
          <a:lstStyle/>
          <a:p>
            <a:pPr marL="0" indent="0" algn="ctr">
              <a:buNone/>
            </a:pPr>
            <a:r>
              <a:rPr lang="en-US" sz="1050" b="1" dirty="0">
                <a:solidFill>
                  <a:srgbClr val="4B6377"/>
                </a:solidFill>
                <a:latin typeface="Calibri" pitchFamily="34" charset="0"/>
                <a:ea typeface="Calibri" pitchFamily="34" charset="-122"/>
                <a:cs typeface="Calibri" pitchFamily="34" charset="-120"/>
              </a:rPr>
              <a:t>superseded</a:t>
            </a:r>
            <a:endParaRPr lang="en-US" sz="1050" dirty="0"/>
          </a:p>
        </p:txBody>
      </p:sp>
      <p:sp>
        <p:nvSpPr>
          <p:cNvPr id="16" name="Shape 14"/>
          <p:cNvSpPr/>
          <p:nvPr/>
        </p:nvSpPr>
        <p:spPr>
          <a:xfrm>
            <a:off x="4307738" y="1956816"/>
            <a:ext cx="1705813" cy="1371600"/>
          </a:xfrm>
          <a:prstGeom prst="roundRect">
            <a:avLst>
              <a:gd name="adj" fmla="val 6000"/>
            </a:avLst>
          </a:prstGeom>
          <a:solidFill>
            <a:srgbClr val="F1F5F9"/>
          </a:solidFill>
          <a:ln w="12700">
            <a:solidFill>
              <a:srgbClr val="F1F5F9"/>
            </a:solidFill>
            <a:prstDash val="solid"/>
          </a:ln>
        </p:spPr>
        <p:txBody>
          <a:bodyPr/>
          <a:lstStyle/>
          <a:p>
            <a:endParaRPr lang="en-US"/>
          </a:p>
        </p:txBody>
      </p:sp>
      <p:sp>
        <p:nvSpPr>
          <p:cNvPr id="17" name="Text 15"/>
          <p:cNvSpPr txBox="1"/>
          <p:nvPr/>
        </p:nvSpPr>
        <p:spPr>
          <a:xfrm>
            <a:off x="4307738" y="2176272"/>
            <a:ext cx="1705813" cy="457200"/>
          </a:xfrm>
          <a:prstGeom prst="rect">
            <a:avLst/>
          </a:prstGeom>
          <a:noFill/>
          <a:ln/>
        </p:spPr>
        <p:txBody>
          <a:bodyPr wrap="square" lIns="0" tIns="0" rIns="0" bIns="0" rtlCol="0" anchor="ctr"/>
          <a:lstStyle/>
          <a:p>
            <a:pPr marL="0" indent="0" algn="ctr">
              <a:buNone/>
            </a:pPr>
            <a:r>
              <a:rPr lang="en-US" sz="2700" b="1" dirty="0">
                <a:solidFill>
                  <a:srgbClr val="0F2942"/>
                </a:solidFill>
                <a:latin typeface="Cambria" pitchFamily="34" charset="0"/>
                <a:ea typeface="Cambria" pitchFamily="34" charset="-122"/>
                <a:cs typeface="Cambria" pitchFamily="34" charset="-120"/>
              </a:rPr>
              <a:t>Java 17</a:t>
            </a:r>
            <a:endParaRPr lang="en-US" sz="2700" dirty="0"/>
          </a:p>
        </p:txBody>
      </p:sp>
      <p:sp>
        <p:nvSpPr>
          <p:cNvPr id="18" name="Text 16"/>
          <p:cNvSpPr txBox="1"/>
          <p:nvPr/>
        </p:nvSpPr>
        <p:spPr>
          <a:xfrm>
            <a:off x="4307738" y="2670048"/>
            <a:ext cx="1705813" cy="256032"/>
          </a:xfrm>
          <a:prstGeom prst="rect">
            <a:avLst/>
          </a:prstGeom>
          <a:noFill/>
          <a:ln/>
        </p:spPr>
        <p:txBody>
          <a:bodyPr wrap="square" lIns="0" tIns="0" rIns="0" bIns="0" rtlCol="0" anchor="ctr"/>
          <a:lstStyle/>
          <a:p>
            <a:pPr marL="0" indent="0" algn="ctr">
              <a:buNone/>
            </a:pPr>
            <a:r>
              <a:rPr lang="en-US" sz="1200" dirty="0">
                <a:solidFill>
                  <a:srgbClr val="4B6377"/>
                </a:solidFill>
                <a:latin typeface="Calibri" pitchFamily="34" charset="0"/>
                <a:ea typeface="Calibri" pitchFamily="34" charset="-122"/>
                <a:cs typeface="Calibri" pitchFamily="34" charset="-120"/>
              </a:rPr>
              <a:t>Sep 2021</a:t>
            </a:r>
            <a:endParaRPr lang="en-US" sz="1200" dirty="0"/>
          </a:p>
        </p:txBody>
      </p:sp>
      <p:sp>
        <p:nvSpPr>
          <p:cNvPr id="19" name="Text 17"/>
          <p:cNvSpPr txBox="1"/>
          <p:nvPr/>
        </p:nvSpPr>
        <p:spPr>
          <a:xfrm>
            <a:off x="4307738" y="2926080"/>
            <a:ext cx="1705813" cy="256032"/>
          </a:xfrm>
          <a:prstGeom prst="rect">
            <a:avLst/>
          </a:prstGeom>
          <a:noFill/>
          <a:ln/>
        </p:spPr>
        <p:txBody>
          <a:bodyPr wrap="square" lIns="0" tIns="0" rIns="0" bIns="0" rtlCol="0" anchor="ctr"/>
          <a:lstStyle/>
          <a:p>
            <a:pPr marL="0" indent="0" algn="ctr">
              <a:buNone/>
            </a:pPr>
            <a:r>
              <a:rPr lang="en-US" sz="1050" b="1" dirty="0">
                <a:solidFill>
                  <a:srgbClr val="4B6377"/>
                </a:solidFill>
                <a:latin typeface="Calibri" pitchFamily="34" charset="0"/>
                <a:ea typeface="Calibri" pitchFamily="34" charset="-122"/>
                <a:cs typeface="Calibri" pitchFamily="34" charset="-120"/>
              </a:rPr>
              <a:t>superseded</a:t>
            </a:r>
            <a:endParaRPr lang="en-US" sz="1050" dirty="0"/>
          </a:p>
        </p:txBody>
      </p:sp>
      <p:sp>
        <p:nvSpPr>
          <p:cNvPr id="20" name="Shape 18"/>
          <p:cNvSpPr/>
          <p:nvPr/>
        </p:nvSpPr>
        <p:spPr>
          <a:xfrm>
            <a:off x="6178144" y="1956816"/>
            <a:ext cx="1705813" cy="1371600"/>
          </a:xfrm>
          <a:prstGeom prst="roundRect">
            <a:avLst>
              <a:gd name="adj" fmla="val 6000"/>
            </a:avLst>
          </a:prstGeom>
          <a:solidFill>
            <a:srgbClr val="F1F5F9"/>
          </a:solidFill>
          <a:ln w="12700">
            <a:solidFill>
              <a:srgbClr val="F1F5F9"/>
            </a:solidFill>
            <a:prstDash val="solid"/>
          </a:ln>
        </p:spPr>
        <p:txBody>
          <a:bodyPr/>
          <a:lstStyle/>
          <a:p>
            <a:endParaRPr lang="en-US"/>
          </a:p>
        </p:txBody>
      </p:sp>
      <p:sp>
        <p:nvSpPr>
          <p:cNvPr id="21" name="Text 19"/>
          <p:cNvSpPr txBox="1"/>
          <p:nvPr/>
        </p:nvSpPr>
        <p:spPr>
          <a:xfrm>
            <a:off x="6178144" y="2176272"/>
            <a:ext cx="1705813" cy="457200"/>
          </a:xfrm>
          <a:prstGeom prst="rect">
            <a:avLst/>
          </a:prstGeom>
          <a:noFill/>
          <a:ln/>
        </p:spPr>
        <p:txBody>
          <a:bodyPr wrap="square" lIns="0" tIns="0" rIns="0" bIns="0" rtlCol="0" anchor="ctr"/>
          <a:lstStyle/>
          <a:p>
            <a:pPr marL="0" indent="0" algn="ctr">
              <a:buNone/>
            </a:pPr>
            <a:r>
              <a:rPr lang="en-US" sz="2700" b="1" dirty="0">
                <a:solidFill>
                  <a:srgbClr val="0F2942"/>
                </a:solidFill>
                <a:latin typeface="Cambria" pitchFamily="34" charset="0"/>
                <a:ea typeface="Cambria" pitchFamily="34" charset="-122"/>
                <a:cs typeface="Cambria" pitchFamily="34" charset="-120"/>
              </a:rPr>
              <a:t>Java 21</a:t>
            </a:r>
            <a:endParaRPr lang="en-US" sz="2700" dirty="0"/>
          </a:p>
        </p:txBody>
      </p:sp>
      <p:sp>
        <p:nvSpPr>
          <p:cNvPr id="22" name="Text 20"/>
          <p:cNvSpPr txBox="1"/>
          <p:nvPr/>
        </p:nvSpPr>
        <p:spPr>
          <a:xfrm>
            <a:off x="6178144" y="2670048"/>
            <a:ext cx="1705813" cy="256032"/>
          </a:xfrm>
          <a:prstGeom prst="rect">
            <a:avLst/>
          </a:prstGeom>
          <a:noFill/>
          <a:ln/>
        </p:spPr>
        <p:txBody>
          <a:bodyPr wrap="square" lIns="0" tIns="0" rIns="0" bIns="0" rtlCol="0" anchor="ctr"/>
          <a:lstStyle/>
          <a:p>
            <a:pPr marL="0" indent="0" algn="ctr">
              <a:buNone/>
            </a:pPr>
            <a:r>
              <a:rPr lang="en-US" sz="1200" dirty="0">
                <a:solidFill>
                  <a:srgbClr val="4B6377"/>
                </a:solidFill>
                <a:latin typeface="Calibri" pitchFamily="34" charset="0"/>
                <a:ea typeface="Calibri" pitchFamily="34" charset="-122"/>
                <a:cs typeface="Calibri" pitchFamily="34" charset="-120"/>
              </a:rPr>
              <a:t>Sep 2023</a:t>
            </a:r>
            <a:endParaRPr lang="en-US" sz="1200" dirty="0"/>
          </a:p>
        </p:txBody>
      </p:sp>
      <p:sp>
        <p:nvSpPr>
          <p:cNvPr id="23" name="Text 21"/>
          <p:cNvSpPr txBox="1"/>
          <p:nvPr/>
        </p:nvSpPr>
        <p:spPr>
          <a:xfrm>
            <a:off x="6178144" y="2926080"/>
            <a:ext cx="1705813" cy="256032"/>
          </a:xfrm>
          <a:prstGeom prst="rect">
            <a:avLst/>
          </a:prstGeom>
          <a:noFill/>
          <a:ln/>
        </p:spPr>
        <p:txBody>
          <a:bodyPr wrap="square" lIns="0" tIns="0" rIns="0" bIns="0" rtlCol="0" anchor="ctr"/>
          <a:lstStyle/>
          <a:p>
            <a:pPr marL="0" indent="0" algn="ctr">
              <a:buNone/>
            </a:pPr>
            <a:r>
              <a:rPr lang="en-US" sz="1050" b="1" dirty="0">
                <a:solidFill>
                  <a:srgbClr val="4B6377"/>
                </a:solidFill>
                <a:latin typeface="Calibri" pitchFamily="34" charset="0"/>
                <a:ea typeface="Calibri" pitchFamily="34" charset="-122"/>
                <a:cs typeface="Calibri" pitchFamily="34" charset="-120"/>
              </a:rPr>
              <a:t>superseded</a:t>
            </a:r>
            <a:endParaRPr lang="en-US" sz="1050" dirty="0"/>
          </a:p>
        </p:txBody>
      </p:sp>
      <p:sp>
        <p:nvSpPr>
          <p:cNvPr id="24" name="Shape 22"/>
          <p:cNvSpPr/>
          <p:nvPr/>
        </p:nvSpPr>
        <p:spPr>
          <a:xfrm>
            <a:off x="8048549" y="1956816"/>
            <a:ext cx="1705813" cy="1371600"/>
          </a:xfrm>
          <a:prstGeom prst="roundRect">
            <a:avLst>
              <a:gd name="adj" fmla="val 6000"/>
            </a:avLst>
          </a:prstGeom>
          <a:solidFill>
            <a:srgbClr val="FBEEE0"/>
          </a:solidFill>
          <a:ln w="12700">
            <a:solidFill>
              <a:srgbClr val="FBEEE0"/>
            </a:solidFill>
            <a:prstDash val="solid"/>
          </a:ln>
        </p:spPr>
        <p:txBody>
          <a:bodyPr/>
          <a:lstStyle/>
          <a:p>
            <a:endParaRPr lang="en-US"/>
          </a:p>
        </p:txBody>
      </p:sp>
      <p:sp>
        <p:nvSpPr>
          <p:cNvPr id="25" name="Text 23"/>
          <p:cNvSpPr txBox="1"/>
          <p:nvPr/>
        </p:nvSpPr>
        <p:spPr>
          <a:xfrm>
            <a:off x="8048549" y="2176272"/>
            <a:ext cx="1705813" cy="457200"/>
          </a:xfrm>
          <a:prstGeom prst="rect">
            <a:avLst/>
          </a:prstGeom>
          <a:noFill/>
          <a:ln/>
        </p:spPr>
        <p:txBody>
          <a:bodyPr wrap="square" lIns="0" tIns="0" rIns="0" bIns="0" rtlCol="0" anchor="ctr"/>
          <a:lstStyle/>
          <a:p>
            <a:pPr marL="0" indent="0" algn="ctr">
              <a:buNone/>
            </a:pPr>
            <a:r>
              <a:rPr lang="en-US" sz="2700" b="1" dirty="0">
                <a:solidFill>
                  <a:srgbClr val="9A430A"/>
                </a:solidFill>
                <a:latin typeface="Cambria" pitchFamily="34" charset="0"/>
                <a:ea typeface="Cambria" pitchFamily="34" charset="-122"/>
                <a:cs typeface="Cambria" pitchFamily="34" charset="-120"/>
              </a:rPr>
              <a:t>Java 25</a:t>
            </a:r>
            <a:endParaRPr lang="en-US" sz="2700" dirty="0"/>
          </a:p>
        </p:txBody>
      </p:sp>
      <p:sp>
        <p:nvSpPr>
          <p:cNvPr id="26" name="Text 24"/>
          <p:cNvSpPr txBox="1"/>
          <p:nvPr/>
        </p:nvSpPr>
        <p:spPr>
          <a:xfrm>
            <a:off x="8048549" y="2670048"/>
            <a:ext cx="1705813" cy="256032"/>
          </a:xfrm>
          <a:prstGeom prst="rect">
            <a:avLst/>
          </a:prstGeom>
          <a:noFill/>
          <a:ln/>
        </p:spPr>
        <p:txBody>
          <a:bodyPr wrap="square" lIns="0" tIns="0" rIns="0" bIns="0" rtlCol="0" anchor="ctr"/>
          <a:lstStyle/>
          <a:p>
            <a:pPr marL="0" indent="0" algn="ctr">
              <a:buNone/>
            </a:pPr>
            <a:r>
              <a:rPr lang="en-US" sz="1200" dirty="0">
                <a:solidFill>
                  <a:srgbClr val="3A536B"/>
                </a:solidFill>
                <a:latin typeface="Calibri" pitchFamily="34" charset="0"/>
                <a:ea typeface="Calibri" pitchFamily="34" charset="-122"/>
                <a:cs typeface="Calibri" pitchFamily="34" charset="-120"/>
              </a:rPr>
              <a:t>Sep 2025</a:t>
            </a:r>
            <a:endParaRPr lang="en-US" sz="1200" dirty="0"/>
          </a:p>
        </p:txBody>
      </p:sp>
      <p:sp>
        <p:nvSpPr>
          <p:cNvPr id="27" name="Text 25"/>
          <p:cNvSpPr txBox="1"/>
          <p:nvPr/>
        </p:nvSpPr>
        <p:spPr>
          <a:xfrm>
            <a:off x="8048549" y="2926080"/>
            <a:ext cx="1705813" cy="256032"/>
          </a:xfrm>
          <a:prstGeom prst="rect">
            <a:avLst/>
          </a:prstGeom>
          <a:noFill/>
          <a:ln/>
        </p:spPr>
        <p:txBody>
          <a:bodyPr wrap="square" lIns="0" tIns="0" rIns="0" bIns="0" rtlCol="0" anchor="ctr"/>
          <a:lstStyle/>
          <a:p>
            <a:pPr marL="0" indent="0" algn="ctr">
              <a:buNone/>
            </a:pPr>
            <a:r>
              <a:rPr lang="en-US" sz="1050" b="1" dirty="0">
                <a:solidFill>
                  <a:srgbClr val="9A430A"/>
                </a:solidFill>
                <a:latin typeface="Calibri" pitchFamily="34" charset="0"/>
                <a:ea typeface="Calibri" pitchFamily="34" charset="-122"/>
                <a:cs typeface="Calibri" pitchFamily="34" charset="-120"/>
              </a:rPr>
              <a:t>current LTS</a:t>
            </a:r>
            <a:endParaRPr lang="en-US" sz="1050" dirty="0"/>
          </a:p>
        </p:txBody>
      </p:sp>
      <p:sp>
        <p:nvSpPr>
          <p:cNvPr id="28" name="Shape 26"/>
          <p:cNvSpPr/>
          <p:nvPr/>
        </p:nvSpPr>
        <p:spPr>
          <a:xfrm>
            <a:off x="9918954" y="1956816"/>
            <a:ext cx="1705813" cy="1371600"/>
          </a:xfrm>
          <a:prstGeom prst="roundRect">
            <a:avLst>
              <a:gd name="adj" fmla="val 6000"/>
            </a:avLst>
          </a:prstGeom>
          <a:solidFill>
            <a:srgbClr val="FFFFFF"/>
          </a:solidFill>
          <a:ln w="12700">
            <a:solidFill>
              <a:srgbClr val="D3DEE7"/>
            </a:solidFill>
            <a:prstDash val="solid"/>
          </a:ln>
        </p:spPr>
        <p:txBody>
          <a:bodyPr/>
          <a:lstStyle/>
          <a:p>
            <a:endParaRPr lang="en-US"/>
          </a:p>
        </p:txBody>
      </p:sp>
      <p:sp>
        <p:nvSpPr>
          <p:cNvPr id="29" name="Text 27"/>
          <p:cNvSpPr txBox="1"/>
          <p:nvPr/>
        </p:nvSpPr>
        <p:spPr>
          <a:xfrm>
            <a:off x="9918954" y="2176272"/>
            <a:ext cx="1705813" cy="457200"/>
          </a:xfrm>
          <a:prstGeom prst="rect">
            <a:avLst/>
          </a:prstGeom>
          <a:noFill/>
          <a:ln/>
        </p:spPr>
        <p:txBody>
          <a:bodyPr wrap="square" lIns="0" tIns="0" rIns="0" bIns="0" rtlCol="0" anchor="ctr"/>
          <a:lstStyle/>
          <a:p>
            <a:pPr marL="0" indent="0" algn="ctr">
              <a:buNone/>
            </a:pPr>
            <a:r>
              <a:rPr lang="en-US" sz="2700" b="1" dirty="0">
                <a:solidFill>
                  <a:srgbClr val="0F2942"/>
                </a:solidFill>
                <a:latin typeface="Cambria" pitchFamily="34" charset="0"/>
                <a:ea typeface="Cambria" pitchFamily="34" charset="-122"/>
                <a:cs typeface="Cambria" pitchFamily="34" charset="-120"/>
              </a:rPr>
              <a:t>Java 29</a:t>
            </a:r>
            <a:endParaRPr lang="en-US" sz="2700" dirty="0"/>
          </a:p>
        </p:txBody>
      </p:sp>
      <p:sp>
        <p:nvSpPr>
          <p:cNvPr id="30" name="Text 28"/>
          <p:cNvSpPr txBox="1"/>
          <p:nvPr/>
        </p:nvSpPr>
        <p:spPr>
          <a:xfrm>
            <a:off x="9918954" y="2670048"/>
            <a:ext cx="1705813" cy="256032"/>
          </a:xfrm>
          <a:prstGeom prst="rect">
            <a:avLst/>
          </a:prstGeom>
          <a:noFill/>
          <a:ln/>
        </p:spPr>
        <p:txBody>
          <a:bodyPr wrap="square" lIns="0" tIns="0" rIns="0" bIns="0" rtlCol="0" anchor="ctr"/>
          <a:lstStyle/>
          <a:p>
            <a:pPr marL="0" indent="0" algn="ctr">
              <a:buNone/>
            </a:pPr>
            <a:r>
              <a:rPr lang="en-US" sz="1200" dirty="0">
                <a:solidFill>
                  <a:srgbClr val="4B6377"/>
                </a:solidFill>
                <a:latin typeface="Calibri" pitchFamily="34" charset="0"/>
                <a:ea typeface="Calibri" pitchFamily="34" charset="-122"/>
                <a:cs typeface="Calibri" pitchFamily="34" charset="-120"/>
              </a:rPr>
              <a:t>Sep 2027</a:t>
            </a:r>
            <a:endParaRPr lang="en-US" sz="1200" dirty="0"/>
          </a:p>
        </p:txBody>
      </p:sp>
      <p:sp>
        <p:nvSpPr>
          <p:cNvPr id="31" name="Text 29"/>
          <p:cNvSpPr txBox="1"/>
          <p:nvPr/>
        </p:nvSpPr>
        <p:spPr>
          <a:xfrm>
            <a:off x="9918954" y="2926080"/>
            <a:ext cx="1705813" cy="256032"/>
          </a:xfrm>
          <a:prstGeom prst="rect">
            <a:avLst/>
          </a:prstGeom>
          <a:noFill/>
          <a:ln/>
        </p:spPr>
        <p:txBody>
          <a:bodyPr wrap="square" lIns="0" tIns="0" rIns="0" bIns="0" rtlCol="0" anchor="ctr"/>
          <a:lstStyle/>
          <a:p>
            <a:pPr marL="0" indent="0" algn="ctr">
              <a:buNone/>
            </a:pPr>
            <a:r>
              <a:rPr lang="en-US" sz="1050" b="1" dirty="0">
                <a:solidFill>
                  <a:srgbClr val="176240"/>
                </a:solidFill>
                <a:latin typeface="Calibri" pitchFamily="34" charset="0"/>
                <a:ea typeface="Calibri" pitchFamily="34" charset="-122"/>
                <a:cs typeface="Calibri" pitchFamily="34" charset="-120"/>
              </a:rPr>
              <a:t>next LTS</a:t>
            </a:r>
            <a:endParaRPr lang="en-US" sz="1050" dirty="0"/>
          </a:p>
        </p:txBody>
      </p:sp>
      <p:sp>
        <p:nvSpPr>
          <p:cNvPr id="32" name="Shape 30"/>
          <p:cNvSpPr/>
          <p:nvPr/>
        </p:nvSpPr>
        <p:spPr>
          <a:xfrm>
            <a:off x="566928" y="3593592"/>
            <a:ext cx="3551834" cy="1691640"/>
          </a:xfrm>
          <a:prstGeom prst="roundRect">
            <a:avLst>
              <a:gd name="adj" fmla="val 4865"/>
            </a:avLst>
          </a:prstGeom>
          <a:solidFill>
            <a:srgbClr val="F1F5F9"/>
          </a:solidFill>
          <a:ln w="12700">
            <a:solidFill>
              <a:srgbClr val="F1F5F9"/>
            </a:solidFill>
            <a:prstDash val="solid"/>
          </a:ln>
        </p:spPr>
        <p:txBody>
          <a:bodyPr/>
          <a:lstStyle/>
          <a:p>
            <a:endParaRPr lang="en-US"/>
          </a:p>
        </p:txBody>
      </p:sp>
      <p:sp>
        <p:nvSpPr>
          <p:cNvPr id="33" name="Text 31"/>
          <p:cNvSpPr txBox="1"/>
          <p:nvPr/>
        </p:nvSpPr>
        <p:spPr>
          <a:xfrm>
            <a:off x="786384" y="3758184"/>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Where we are now</a:t>
            </a:r>
            <a:endParaRPr lang="en-US" sz="1450" dirty="0"/>
          </a:p>
        </p:txBody>
      </p:sp>
      <p:sp>
        <p:nvSpPr>
          <p:cNvPr id="34" name="Text 32"/>
          <p:cNvSpPr txBox="1"/>
          <p:nvPr/>
        </p:nvSpPr>
        <p:spPr>
          <a:xfrm>
            <a:off x="786384" y="4087368"/>
            <a:ext cx="3112922" cy="1069848"/>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Java 26 shipped in March 2026. Java 27 is due on 15 September 2026 — one week into this course. Neither is LTS.</a:t>
            </a:r>
            <a:endParaRPr lang="en-US" sz="1250" dirty="0"/>
          </a:p>
        </p:txBody>
      </p:sp>
      <p:sp>
        <p:nvSpPr>
          <p:cNvPr id="35" name="Shape 33"/>
          <p:cNvSpPr/>
          <p:nvPr/>
        </p:nvSpPr>
        <p:spPr>
          <a:xfrm>
            <a:off x="4319930" y="3593592"/>
            <a:ext cx="3551834" cy="1691640"/>
          </a:xfrm>
          <a:prstGeom prst="roundRect">
            <a:avLst>
              <a:gd name="adj" fmla="val 4865"/>
            </a:avLst>
          </a:prstGeom>
          <a:solidFill>
            <a:srgbClr val="FBEEE0"/>
          </a:solidFill>
          <a:ln w="12700">
            <a:solidFill>
              <a:srgbClr val="FBEEE0"/>
            </a:solidFill>
            <a:prstDash val="solid"/>
          </a:ln>
        </p:spPr>
        <p:txBody>
          <a:bodyPr/>
          <a:lstStyle/>
          <a:p>
            <a:endParaRPr lang="en-US"/>
          </a:p>
        </p:txBody>
      </p:sp>
      <p:sp>
        <p:nvSpPr>
          <p:cNvPr id="36" name="Text 34"/>
          <p:cNvSpPr txBox="1"/>
          <p:nvPr/>
        </p:nvSpPr>
        <p:spPr>
          <a:xfrm>
            <a:off x="4539386" y="3758184"/>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What this course uses</a:t>
            </a:r>
            <a:endParaRPr lang="en-US" sz="1450" dirty="0"/>
          </a:p>
        </p:txBody>
      </p:sp>
      <p:sp>
        <p:nvSpPr>
          <p:cNvPr id="37" name="Text 35"/>
          <p:cNvSpPr txBox="1"/>
          <p:nvPr/>
        </p:nvSpPr>
        <p:spPr>
          <a:xfrm>
            <a:off x="4539386" y="4087368"/>
            <a:ext cx="3112922" cy="1069848"/>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JDK 25 (LTS). Everything you write will compile and run on it, and it will still be supported long after you graduate.</a:t>
            </a:r>
            <a:endParaRPr lang="en-US" sz="1250" dirty="0"/>
          </a:p>
        </p:txBody>
      </p:sp>
      <p:sp>
        <p:nvSpPr>
          <p:cNvPr id="38" name="Shape 36"/>
          <p:cNvSpPr/>
          <p:nvPr/>
        </p:nvSpPr>
        <p:spPr>
          <a:xfrm>
            <a:off x="8072933" y="3593592"/>
            <a:ext cx="3551834" cy="1691640"/>
          </a:xfrm>
          <a:prstGeom prst="roundRect">
            <a:avLst>
              <a:gd name="adj" fmla="val 4865"/>
            </a:avLst>
          </a:prstGeom>
          <a:solidFill>
            <a:srgbClr val="FFFFFF"/>
          </a:solidFill>
          <a:ln w="12700">
            <a:solidFill>
              <a:srgbClr val="D3DEE7"/>
            </a:solidFill>
            <a:prstDash val="solid"/>
          </a:ln>
        </p:spPr>
        <p:txBody>
          <a:bodyPr/>
          <a:lstStyle/>
          <a:p>
            <a:endParaRPr lang="en-US"/>
          </a:p>
        </p:txBody>
      </p:sp>
      <p:sp>
        <p:nvSpPr>
          <p:cNvPr id="39" name="Text 37"/>
          <p:cNvSpPr txBox="1"/>
          <p:nvPr/>
        </p:nvSpPr>
        <p:spPr>
          <a:xfrm>
            <a:off x="8292389" y="3758184"/>
            <a:ext cx="3112922" cy="310896"/>
          </a:xfrm>
          <a:prstGeom prst="rect">
            <a:avLst/>
          </a:prstGeom>
          <a:noFill/>
          <a:ln/>
        </p:spPr>
        <p:txBody>
          <a:bodyPr wrap="square" lIns="0" tIns="0" rIns="0" bIns="0" rtlCol="0" anchor="t"/>
          <a:lstStyle/>
          <a:p>
            <a:pPr marL="0" indent="0">
              <a:buNone/>
            </a:pPr>
            <a:r>
              <a:rPr lang="en-US" sz="1450" b="1" dirty="0">
                <a:solidFill>
                  <a:srgbClr val="0F2942"/>
                </a:solidFill>
                <a:latin typeface="Calibri" pitchFamily="34" charset="0"/>
                <a:ea typeface="Calibri" pitchFamily="34" charset="-122"/>
                <a:cs typeface="Calibri" pitchFamily="34" charset="-120"/>
              </a:rPr>
              <a:t>Why LTS matters to you</a:t>
            </a:r>
            <a:endParaRPr lang="en-US" sz="1450" dirty="0"/>
          </a:p>
        </p:txBody>
      </p:sp>
      <p:sp>
        <p:nvSpPr>
          <p:cNvPr id="40" name="Text 38"/>
          <p:cNvSpPr txBox="1"/>
          <p:nvPr/>
        </p:nvSpPr>
        <p:spPr>
          <a:xfrm>
            <a:off x="8292389" y="4087368"/>
            <a:ext cx="3112922" cy="1069848"/>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Employers run LTS versions in production. Learning on one means the code you write here is the code they recognise.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1E5"/>
        </a:solidFill>
        <a:effectLst/>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marL="0" indent="0">
              <a:buNone/>
            </a:pPr>
            <a:r>
              <a:rPr lang="en-US" sz="1200" b="1" kern="0" spc="200" dirty="0">
                <a:solidFill>
                  <a:srgbClr val="9A430A"/>
                </a:solidFill>
                <a:latin typeface="Calibri" pitchFamily="34" charset="0"/>
                <a:ea typeface="Calibri" pitchFamily="34" charset="-122"/>
                <a:cs typeface="Calibri" pitchFamily="34" charset="-120"/>
              </a:rPr>
              <a:t>CHECKPOINT 2</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marL="0" indent="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marL="0" indent="0" algn="r">
              <a:buNone/>
            </a:pPr>
            <a:r>
              <a:rPr lang="en-US" sz="1250" dirty="0">
                <a:solidFill>
                  <a:srgbClr val="4B6377"/>
                </a:solidFill>
                <a:latin typeface="Calibri" pitchFamily="34" charset="0"/>
                <a:ea typeface="Calibri" pitchFamily="34" charset="-122"/>
                <a:cs typeface="Calibri" pitchFamily="34" charset="-120"/>
              </a:rPr>
              <a:t>Covering slides 17–24</a:t>
            </a:r>
            <a:endParaRPr lang="en-US" sz="1250" dirty="0"/>
          </a:p>
        </p:txBody>
      </p:sp>
      <p:sp>
        <p:nvSpPr>
          <p:cNvPr id="5" name="Shape 3"/>
          <p:cNvSpPr/>
          <p:nvPr/>
        </p:nvSpPr>
        <p:spPr>
          <a:xfrm>
            <a:off x="566928" y="2084832"/>
            <a:ext cx="11057839" cy="1152144"/>
          </a:xfrm>
          <a:prstGeom prst="roundRect">
            <a:avLst>
              <a:gd name="adj" fmla="val 7143"/>
            </a:avLst>
          </a:prstGeom>
          <a:solidFill>
            <a:srgbClr val="FFFFFF"/>
          </a:solidFill>
          <a:ln w="12700">
            <a:solidFill>
              <a:srgbClr val="D3DEE7"/>
            </a:solidFill>
            <a:prstDash val="solid"/>
          </a:ln>
        </p:spPr>
        <p:txBody>
          <a:bodyPr/>
          <a:lstStyle/>
          <a:p>
            <a:endParaRPr lang="en-US"/>
          </a:p>
        </p:txBody>
      </p:sp>
      <p:sp>
        <p:nvSpPr>
          <p:cNvPr id="6" name="Shape 4"/>
          <p:cNvSpPr/>
          <p:nvPr/>
        </p:nvSpPr>
        <p:spPr>
          <a:xfrm>
            <a:off x="841248" y="2322576"/>
            <a:ext cx="402336" cy="402336"/>
          </a:xfrm>
          <a:prstGeom prst="ellipse">
            <a:avLst/>
          </a:prstGeom>
          <a:solidFill>
            <a:srgbClr val="C4560C"/>
          </a:solidFill>
          <a:ln w="12700">
            <a:solidFill>
              <a:srgbClr val="C4560C"/>
            </a:solidFill>
            <a:prstDash val="solid"/>
          </a:ln>
        </p:spPr>
        <p:txBody>
          <a:bodyPr/>
          <a:lstStyle/>
          <a:p>
            <a:endParaRPr lang="en-US"/>
          </a:p>
        </p:txBody>
      </p:sp>
      <p:sp>
        <p:nvSpPr>
          <p:cNvPr id="7" name="Text 5"/>
          <p:cNvSpPr txBox="1"/>
          <p:nvPr/>
        </p:nvSpPr>
        <p:spPr>
          <a:xfrm>
            <a:off x="841248" y="232257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2249424"/>
            <a:ext cx="9823399" cy="658368"/>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What exactly does javac produce, and why can that output run on Windows, macOS and Linux without being changed?</a:t>
            </a:r>
            <a:endParaRPr lang="en-US" sz="1550" dirty="0"/>
          </a:p>
        </p:txBody>
      </p:sp>
      <p:sp>
        <p:nvSpPr>
          <p:cNvPr id="9" name="Shape 7"/>
          <p:cNvSpPr/>
          <p:nvPr/>
        </p:nvSpPr>
        <p:spPr>
          <a:xfrm>
            <a:off x="566928" y="3456432"/>
            <a:ext cx="11057839" cy="914400"/>
          </a:xfrm>
          <a:prstGeom prst="roundRect">
            <a:avLst>
              <a:gd name="adj" fmla="val 9000"/>
            </a:avLst>
          </a:prstGeom>
          <a:solidFill>
            <a:srgbClr val="FFFFFF"/>
          </a:solidFill>
          <a:ln w="12700">
            <a:solidFill>
              <a:srgbClr val="D3DEE7"/>
            </a:solidFill>
            <a:prstDash val="solid"/>
          </a:ln>
        </p:spPr>
        <p:txBody>
          <a:bodyPr/>
          <a:lstStyle/>
          <a:p>
            <a:endParaRPr lang="en-US"/>
          </a:p>
        </p:txBody>
      </p:sp>
      <p:sp>
        <p:nvSpPr>
          <p:cNvPr id="10" name="Shape 8"/>
          <p:cNvSpPr/>
          <p:nvPr/>
        </p:nvSpPr>
        <p:spPr>
          <a:xfrm>
            <a:off x="841248" y="3694176"/>
            <a:ext cx="402336" cy="402336"/>
          </a:xfrm>
          <a:prstGeom prst="ellipse">
            <a:avLst/>
          </a:prstGeom>
          <a:solidFill>
            <a:srgbClr val="C4560C"/>
          </a:solidFill>
          <a:ln w="12700">
            <a:solidFill>
              <a:srgbClr val="C4560C"/>
            </a:solidFill>
            <a:prstDash val="solid"/>
          </a:ln>
        </p:spPr>
        <p:txBody>
          <a:bodyPr/>
          <a:lstStyle/>
          <a:p>
            <a:endParaRPr lang="en-US"/>
          </a:p>
        </p:txBody>
      </p:sp>
      <p:sp>
        <p:nvSpPr>
          <p:cNvPr id="11" name="Text 9"/>
          <p:cNvSpPr txBox="1"/>
          <p:nvPr/>
        </p:nvSpPr>
        <p:spPr>
          <a:xfrm>
            <a:off x="841248" y="369417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621024"/>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Java 25 is an “LTS” release. What does that mean, and when is the next one due?</a:t>
            </a:r>
            <a:endParaRPr lang="en-US" sz="1550" dirty="0"/>
          </a:p>
        </p:txBody>
      </p:sp>
      <p:sp>
        <p:nvSpPr>
          <p:cNvPr id="13" name="Shape 11"/>
          <p:cNvSpPr/>
          <p:nvPr/>
        </p:nvSpPr>
        <p:spPr>
          <a:xfrm>
            <a:off x="566928" y="4590288"/>
            <a:ext cx="11057839" cy="1152144"/>
          </a:xfrm>
          <a:prstGeom prst="roundRect">
            <a:avLst>
              <a:gd name="adj" fmla="val 7143"/>
            </a:avLst>
          </a:prstGeom>
          <a:solidFill>
            <a:srgbClr val="FFFFFF"/>
          </a:solidFill>
          <a:ln w="12700">
            <a:solidFill>
              <a:srgbClr val="D3DEE7"/>
            </a:solidFill>
            <a:prstDash val="solid"/>
          </a:ln>
        </p:spPr>
        <p:txBody>
          <a:bodyPr/>
          <a:lstStyle/>
          <a:p>
            <a:endParaRPr lang="en-US"/>
          </a:p>
        </p:txBody>
      </p:sp>
      <p:sp>
        <p:nvSpPr>
          <p:cNvPr id="14" name="Shape 12"/>
          <p:cNvSpPr/>
          <p:nvPr/>
        </p:nvSpPr>
        <p:spPr>
          <a:xfrm>
            <a:off x="841248" y="4828032"/>
            <a:ext cx="402336" cy="402336"/>
          </a:xfrm>
          <a:prstGeom prst="ellipse">
            <a:avLst/>
          </a:prstGeom>
          <a:solidFill>
            <a:srgbClr val="C4560C"/>
          </a:solidFill>
          <a:ln w="12700">
            <a:solidFill>
              <a:srgbClr val="C4560C"/>
            </a:solidFill>
            <a:prstDash val="solid"/>
          </a:ln>
        </p:spPr>
        <p:txBody>
          <a:bodyPr/>
          <a:lstStyle/>
          <a:p>
            <a:endParaRPr lang="en-US"/>
          </a:p>
        </p:txBody>
      </p:sp>
      <p:sp>
        <p:nvSpPr>
          <p:cNvPr id="15" name="Text 13"/>
          <p:cNvSpPr txBox="1"/>
          <p:nvPr/>
        </p:nvSpPr>
        <p:spPr>
          <a:xfrm>
            <a:off x="841248" y="482803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6" name="Text 14"/>
          <p:cNvSpPr txBox="1"/>
          <p:nvPr/>
        </p:nvSpPr>
        <p:spPr>
          <a:xfrm>
            <a:off x="1435608" y="4754880"/>
            <a:ext cx="9823399" cy="658368"/>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Which one of these is NOT part of the JDK — javac, the JVM, the standard library, or IntelliJ IDEA?</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CHARACTERISTICS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Eleven Claims Java Makes About Itself</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The classic list from the original Java white paper. Some have aged better than others — we will take them in groups.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566928" y="1627632"/>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8" name="Text 6"/>
          <p:cNvSpPr txBox="1"/>
          <p:nvPr/>
        </p:nvSpPr>
        <p:spPr>
          <a:xfrm>
            <a:off x="676656" y="1627632"/>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Simple</a:t>
            </a:r>
            <a:endParaRPr lang="en-US" sz="1350" dirty="0"/>
          </a:p>
        </p:txBody>
      </p:sp>
      <p:sp>
        <p:nvSpPr>
          <p:cNvPr id="9" name="Shape 7"/>
          <p:cNvSpPr/>
          <p:nvPr/>
        </p:nvSpPr>
        <p:spPr>
          <a:xfrm>
            <a:off x="3381680" y="1627632"/>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10" name="Text 8"/>
          <p:cNvSpPr txBox="1"/>
          <p:nvPr/>
        </p:nvSpPr>
        <p:spPr>
          <a:xfrm>
            <a:off x="3491408" y="1627632"/>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Object-Oriented</a:t>
            </a:r>
            <a:endParaRPr lang="en-US" sz="1350" dirty="0"/>
          </a:p>
        </p:txBody>
      </p:sp>
      <p:sp>
        <p:nvSpPr>
          <p:cNvPr id="11" name="Shape 9"/>
          <p:cNvSpPr/>
          <p:nvPr/>
        </p:nvSpPr>
        <p:spPr>
          <a:xfrm>
            <a:off x="6196432" y="1627632"/>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12" name="Text 10"/>
          <p:cNvSpPr txBox="1"/>
          <p:nvPr/>
        </p:nvSpPr>
        <p:spPr>
          <a:xfrm>
            <a:off x="6306160" y="1627632"/>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Distributed</a:t>
            </a:r>
            <a:endParaRPr lang="en-US" sz="1350" dirty="0"/>
          </a:p>
        </p:txBody>
      </p:sp>
      <p:sp>
        <p:nvSpPr>
          <p:cNvPr id="13" name="Shape 11"/>
          <p:cNvSpPr/>
          <p:nvPr/>
        </p:nvSpPr>
        <p:spPr>
          <a:xfrm>
            <a:off x="9011183" y="1627632"/>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14" name="Text 12"/>
          <p:cNvSpPr txBox="1"/>
          <p:nvPr/>
        </p:nvSpPr>
        <p:spPr>
          <a:xfrm>
            <a:off x="9120911" y="1627632"/>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Interpreted</a:t>
            </a:r>
            <a:endParaRPr lang="en-US" sz="1350" dirty="0"/>
          </a:p>
        </p:txBody>
      </p:sp>
      <p:sp>
        <p:nvSpPr>
          <p:cNvPr id="15" name="Shape 13"/>
          <p:cNvSpPr/>
          <p:nvPr/>
        </p:nvSpPr>
        <p:spPr>
          <a:xfrm>
            <a:off x="566928" y="2414016"/>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16" name="Text 14"/>
          <p:cNvSpPr txBox="1"/>
          <p:nvPr/>
        </p:nvSpPr>
        <p:spPr>
          <a:xfrm>
            <a:off x="676656" y="2414016"/>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Robust</a:t>
            </a:r>
            <a:endParaRPr lang="en-US" sz="1350" dirty="0"/>
          </a:p>
        </p:txBody>
      </p:sp>
      <p:sp>
        <p:nvSpPr>
          <p:cNvPr id="17" name="Shape 15"/>
          <p:cNvSpPr/>
          <p:nvPr/>
        </p:nvSpPr>
        <p:spPr>
          <a:xfrm>
            <a:off x="3381680" y="2414016"/>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18" name="Text 16"/>
          <p:cNvSpPr txBox="1"/>
          <p:nvPr/>
        </p:nvSpPr>
        <p:spPr>
          <a:xfrm>
            <a:off x="3491408" y="2414016"/>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Secure</a:t>
            </a:r>
            <a:endParaRPr lang="en-US" sz="1350" dirty="0"/>
          </a:p>
        </p:txBody>
      </p:sp>
      <p:sp>
        <p:nvSpPr>
          <p:cNvPr id="19" name="Shape 17"/>
          <p:cNvSpPr/>
          <p:nvPr/>
        </p:nvSpPr>
        <p:spPr>
          <a:xfrm>
            <a:off x="6196432" y="2414016"/>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20" name="Text 18"/>
          <p:cNvSpPr txBox="1"/>
          <p:nvPr/>
        </p:nvSpPr>
        <p:spPr>
          <a:xfrm>
            <a:off x="6306160" y="2414016"/>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Architecture-Neutral</a:t>
            </a:r>
            <a:endParaRPr lang="en-US" sz="1350" dirty="0"/>
          </a:p>
        </p:txBody>
      </p:sp>
      <p:sp>
        <p:nvSpPr>
          <p:cNvPr id="21" name="Shape 19"/>
          <p:cNvSpPr/>
          <p:nvPr/>
        </p:nvSpPr>
        <p:spPr>
          <a:xfrm>
            <a:off x="9011183" y="2414016"/>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22" name="Text 20"/>
          <p:cNvSpPr txBox="1"/>
          <p:nvPr/>
        </p:nvSpPr>
        <p:spPr>
          <a:xfrm>
            <a:off x="9120911" y="2414016"/>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Portable</a:t>
            </a:r>
            <a:endParaRPr lang="en-US" sz="1350" dirty="0"/>
          </a:p>
        </p:txBody>
      </p:sp>
      <p:sp>
        <p:nvSpPr>
          <p:cNvPr id="23" name="Shape 21"/>
          <p:cNvSpPr/>
          <p:nvPr/>
        </p:nvSpPr>
        <p:spPr>
          <a:xfrm>
            <a:off x="566928" y="3200400"/>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24" name="Text 22"/>
          <p:cNvSpPr txBox="1"/>
          <p:nvPr/>
        </p:nvSpPr>
        <p:spPr>
          <a:xfrm>
            <a:off x="676656" y="3200400"/>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High Performance</a:t>
            </a:r>
            <a:endParaRPr lang="en-US" sz="1350" dirty="0"/>
          </a:p>
        </p:txBody>
      </p:sp>
      <p:sp>
        <p:nvSpPr>
          <p:cNvPr id="25" name="Shape 23"/>
          <p:cNvSpPr/>
          <p:nvPr/>
        </p:nvSpPr>
        <p:spPr>
          <a:xfrm>
            <a:off x="3381680" y="3200400"/>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26" name="Text 24"/>
          <p:cNvSpPr txBox="1"/>
          <p:nvPr/>
        </p:nvSpPr>
        <p:spPr>
          <a:xfrm>
            <a:off x="3491408" y="3200400"/>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Multithreaded</a:t>
            </a:r>
            <a:endParaRPr lang="en-US" sz="1350" dirty="0"/>
          </a:p>
        </p:txBody>
      </p:sp>
      <p:sp>
        <p:nvSpPr>
          <p:cNvPr id="27" name="Shape 25"/>
          <p:cNvSpPr/>
          <p:nvPr/>
        </p:nvSpPr>
        <p:spPr>
          <a:xfrm>
            <a:off x="6196432" y="3200400"/>
            <a:ext cx="2613584" cy="658368"/>
          </a:xfrm>
          <a:prstGeom prst="roundRect">
            <a:avLst>
              <a:gd name="adj" fmla="val 12500"/>
            </a:avLst>
          </a:prstGeom>
          <a:solidFill>
            <a:srgbClr val="F1F5F9"/>
          </a:solidFill>
          <a:ln w="12700">
            <a:solidFill>
              <a:srgbClr val="F1F5F9"/>
            </a:solidFill>
            <a:prstDash val="solid"/>
          </a:ln>
        </p:spPr>
        <p:txBody>
          <a:bodyPr/>
          <a:lstStyle/>
          <a:p>
            <a:endParaRPr lang="en-US"/>
          </a:p>
        </p:txBody>
      </p:sp>
      <p:sp>
        <p:nvSpPr>
          <p:cNvPr id="28" name="Text 26"/>
          <p:cNvSpPr txBox="1"/>
          <p:nvPr/>
        </p:nvSpPr>
        <p:spPr>
          <a:xfrm>
            <a:off x="6306160" y="3200400"/>
            <a:ext cx="2394128" cy="658368"/>
          </a:xfrm>
          <a:prstGeom prst="rect">
            <a:avLst/>
          </a:prstGeom>
          <a:noFill/>
          <a:ln/>
        </p:spPr>
        <p:txBody>
          <a:bodyPr wrap="square" lIns="0" tIns="0" rIns="0" bIns="0" rtlCol="0" anchor="ctr"/>
          <a:lstStyle/>
          <a:p>
            <a:pPr marL="0" indent="0" algn="ctr">
              <a:buNone/>
            </a:pPr>
            <a:r>
              <a:rPr lang="en-US" sz="1350" b="1" dirty="0">
                <a:solidFill>
                  <a:srgbClr val="0F2942"/>
                </a:solidFill>
                <a:latin typeface="Calibri" pitchFamily="34" charset="0"/>
                <a:ea typeface="Calibri" pitchFamily="34" charset="-122"/>
                <a:cs typeface="Calibri" pitchFamily="34" charset="-120"/>
              </a:rPr>
              <a:t>Dynamic</a:t>
            </a:r>
            <a:endParaRPr lang="en-US" sz="1350" dirty="0"/>
          </a:p>
        </p:txBody>
      </p:sp>
      <p:sp>
        <p:nvSpPr>
          <p:cNvPr id="29" name="Shape 27"/>
          <p:cNvSpPr/>
          <p:nvPr/>
        </p:nvSpPr>
        <p:spPr>
          <a:xfrm>
            <a:off x="566928" y="4142232"/>
            <a:ext cx="11057839" cy="1371600"/>
          </a:xfrm>
          <a:prstGeom prst="roundRect">
            <a:avLst>
              <a:gd name="adj" fmla="val 6000"/>
            </a:avLst>
          </a:prstGeom>
          <a:solidFill>
            <a:srgbClr val="FBEEE0"/>
          </a:solidFill>
          <a:ln w="12700">
            <a:solidFill>
              <a:srgbClr val="FBEEE0"/>
            </a:solidFill>
            <a:prstDash val="solid"/>
          </a:ln>
        </p:spPr>
        <p:txBody>
          <a:bodyPr/>
          <a:lstStyle/>
          <a:p>
            <a:endParaRPr lang="en-US"/>
          </a:p>
        </p:txBody>
      </p:sp>
      <p:sp>
        <p:nvSpPr>
          <p:cNvPr id="30" name="Text 28"/>
          <p:cNvSpPr txBox="1"/>
          <p:nvPr/>
        </p:nvSpPr>
        <p:spPr>
          <a:xfrm>
            <a:off x="877824" y="4325112"/>
            <a:ext cx="10436047" cy="1005840"/>
          </a:xfrm>
          <a:prstGeom prst="rect">
            <a:avLst/>
          </a:prstGeom>
          <a:noFill/>
          <a:ln/>
        </p:spPr>
        <p:txBody>
          <a:bodyPr wrap="square" lIns="0" tIns="0" rIns="0" bIns="0" rtlCol="0" anchor="t"/>
          <a:lstStyle/>
          <a:p>
            <a:pPr marL="0" indent="0">
              <a:lnSpc>
                <a:spcPct val="115000"/>
              </a:lnSpc>
              <a:buNone/>
            </a:pPr>
            <a:r>
              <a:rPr lang="en-US" sz="1300" b="1" dirty="0">
                <a:solidFill>
                  <a:srgbClr val="9A430A"/>
                </a:solidFill>
                <a:latin typeface="Calibri" pitchFamily="34" charset="0"/>
                <a:ea typeface="Calibri" pitchFamily="34" charset="-122"/>
                <a:cs typeface="Calibri" pitchFamily="34" charset="-120"/>
              </a:rPr>
              <a:t>A word of caution.  </a:t>
            </a:r>
            <a:r>
              <a:rPr lang="en-US" sz="1300" dirty="0">
                <a:solidFill>
                  <a:srgbClr val="3A536B"/>
                </a:solidFill>
                <a:latin typeface="Calibri" pitchFamily="34" charset="0"/>
                <a:ea typeface="Calibri" pitchFamily="34" charset="-122"/>
                <a:cs typeface="Calibri" pitchFamily="34" charset="-120"/>
              </a:rPr>
              <a:t>This list was written in 1995. It is still the framing your textbook uses, so you need to know it — but two of the eleven now need footnotes. “Interpreted” understates what a modern JVM does, and “distributed” described a networking story that has since been replaced by HTTP APIs and frameworks. We will flag both as we go.</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CHARACTERISTICS  ·  1 OF 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Simple, Object-Oriented, Distributed</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66928" y="1261872"/>
            <a:ext cx="3551834" cy="2103120"/>
          </a:xfrm>
          <a:prstGeom prst="roundRect">
            <a:avLst>
              <a:gd name="adj" fmla="val 3913"/>
            </a:avLst>
          </a:prstGeom>
          <a:solidFill>
            <a:srgbClr val="F1F5F9"/>
          </a:solidFill>
          <a:ln w="12700">
            <a:solidFill>
              <a:srgbClr val="F1F5F9"/>
            </a:solidFill>
            <a:prstDash val="solid"/>
          </a:ln>
        </p:spPr>
        <p:txBody>
          <a:bodyPr/>
          <a:lstStyle/>
          <a:p>
            <a:endParaRPr lang="en-US"/>
          </a:p>
        </p:txBody>
      </p:sp>
      <p:sp>
        <p:nvSpPr>
          <p:cNvPr id="7" name="Text 5"/>
          <p:cNvSpPr txBox="1"/>
          <p:nvPr/>
        </p:nvSpPr>
        <p:spPr>
          <a:xfrm>
            <a:off x="822960" y="1481328"/>
            <a:ext cx="3039770" cy="384048"/>
          </a:xfrm>
          <a:prstGeom prst="rect">
            <a:avLst/>
          </a:prstGeom>
          <a:noFill/>
          <a:ln/>
        </p:spPr>
        <p:txBody>
          <a:bodyPr wrap="square" lIns="0" tIns="0" rIns="0" bIns="0" rtlCol="0" anchor="ctr"/>
          <a:lstStyle/>
          <a:p>
            <a:pPr marL="0" indent="0">
              <a:buNone/>
            </a:pPr>
            <a:r>
              <a:rPr lang="en-US" sz="2100" b="1" dirty="0">
                <a:solidFill>
                  <a:srgbClr val="0F2942"/>
                </a:solidFill>
                <a:latin typeface="Cambria" pitchFamily="34" charset="0"/>
                <a:ea typeface="Cambria" pitchFamily="34" charset="-122"/>
                <a:cs typeface="Cambria" pitchFamily="34" charset="-120"/>
              </a:rPr>
              <a:t>Simple</a:t>
            </a:r>
            <a:endParaRPr lang="en-US" sz="2100" dirty="0"/>
          </a:p>
        </p:txBody>
      </p:sp>
      <p:sp>
        <p:nvSpPr>
          <p:cNvPr id="8" name="Text 6"/>
          <p:cNvSpPr txBox="1"/>
          <p:nvPr/>
        </p:nvSpPr>
        <p:spPr>
          <a:xfrm>
            <a:off x="822960" y="1920240"/>
            <a:ext cx="3039770" cy="1316736"/>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Java is modelled on C++ but deliberately smaller. Some people call it “C++ with the sharp edges removed” — the same expressive power with far fewer ways to hurt yourself.</a:t>
            </a:r>
            <a:endParaRPr lang="en-US" sz="1250" dirty="0"/>
          </a:p>
        </p:txBody>
      </p:sp>
      <p:sp>
        <p:nvSpPr>
          <p:cNvPr id="9" name="Shape 7"/>
          <p:cNvSpPr/>
          <p:nvPr/>
        </p:nvSpPr>
        <p:spPr>
          <a:xfrm>
            <a:off x="4319930" y="1261872"/>
            <a:ext cx="3551834" cy="2103120"/>
          </a:xfrm>
          <a:prstGeom prst="roundRect">
            <a:avLst>
              <a:gd name="adj" fmla="val 3913"/>
            </a:avLst>
          </a:prstGeom>
          <a:solidFill>
            <a:srgbClr val="F1F5F9"/>
          </a:solidFill>
          <a:ln w="12700">
            <a:solidFill>
              <a:srgbClr val="F1F5F9"/>
            </a:solidFill>
            <a:prstDash val="solid"/>
          </a:ln>
        </p:spPr>
        <p:txBody>
          <a:bodyPr/>
          <a:lstStyle/>
          <a:p>
            <a:endParaRPr lang="en-US"/>
          </a:p>
        </p:txBody>
      </p:sp>
      <p:sp>
        <p:nvSpPr>
          <p:cNvPr id="10" name="Text 8"/>
          <p:cNvSpPr txBox="1"/>
          <p:nvPr/>
        </p:nvSpPr>
        <p:spPr>
          <a:xfrm>
            <a:off x="4575962" y="1481328"/>
            <a:ext cx="3039770" cy="384048"/>
          </a:xfrm>
          <a:prstGeom prst="rect">
            <a:avLst/>
          </a:prstGeom>
          <a:noFill/>
          <a:ln/>
        </p:spPr>
        <p:txBody>
          <a:bodyPr wrap="square" lIns="0" tIns="0" rIns="0" bIns="0" rtlCol="0" anchor="ctr"/>
          <a:lstStyle/>
          <a:p>
            <a:pPr marL="0" indent="0">
              <a:buNone/>
            </a:pPr>
            <a:r>
              <a:rPr lang="en-US" sz="2100" b="1" dirty="0">
                <a:solidFill>
                  <a:srgbClr val="9A430A"/>
                </a:solidFill>
                <a:latin typeface="Cambria" pitchFamily="34" charset="0"/>
                <a:ea typeface="Cambria" pitchFamily="34" charset="-122"/>
                <a:cs typeface="Cambria" pitchFamily="34" charset="-120"/>
              </a:rPr>
              <a:t>Object-Oriented</a:t>
            </a:r>
            <a:endParaRPr lang="en-US" sz="2100" dirty="0"/>
          </a:p>
        </p:txBody>
      </p:sp>
      <p:sp>
        <p:nvSpPr>
          <p:cNvPr id="11" name="Text 9"/>
          <p:cNvSpPr txBox="1"/>
          <p:nvPr/>
        </p:nvSpPr>
        <p:spPr>
          <a:xfrm>
            <a:off x="4575962" y="1920240"/>
            <a:ext cx="3039770" cy="1316736"/>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Many OO languages started out procedural and grew objects later. Java was object-oriented from the first line of its design, which is why encapsulation, inheritance and polymorphism feel native rather than bolted on.</a:t>
            </a:r>
            <a:endParaRPr lang="en-US" sz="1250" dirty="0"/>
          </a:p>
        </p:txBody>
      </p:sp>
      <p:sp>
        <p:nvSpPr>
          <p:cNvPr id="12" name="Shape 10"/>
          <p:cNvSpPr/>
          <p:nvPr/>
        </p:nvSpPr>
        <p:spPr>
          <a:xfrm>
            <a:off x="8072933" y="1261872"/>
            <a:ext cx="3551834" cy="2103120"/>
          </a:xfrm>
          <a:prstGeom prst="roundRect">
            <a:avLst>
              <a:gd name="adj" fmla="val 3913"/>
            </a:avLst>
          </a:prstGeom>
          <a:solidFill>
            <a:srgbClr val="F1F5F9"/>
          </a:solidFill>
          <a:ln w="12700">
            <a:solidFill>
              <a:srgbClr val="F1F5F9"/>
            </a:solidFill>
            <a:prstDash val="solid"/>
          </a:ln>
        </p:spPr>
        <p:txBody>
          <a:bodyPr/>
          <a:lstStyle/>
          <a:p>
            <a:endParaRPr lang="en-US"/>
          </a:p>
        </p:txBody>
      </p:sp>
      <p:sp>
        <p:nvSpPr>
          <p:cNvPr id="13" name="Text 11"/>
          <p:cNvSpPr txBox="1"/>
          <p:nvPr/>
        </p:nvSpPr>
        <p:spPr>
          <a:xfrm>
            <a:off x="8328965" y="1481328"/>
            <a:ext cx="3039770" cy="384048"/>
          </a:xfrm>
          <a:prstGeom prst="rect">
            <a:avLst/>
          </a:prstGeom>
          <a:noFill/>
          <a:ln/>
        </p:spPr>
        <p:txBody>
          <a:bodyPr wrap="square" lIns="0" tIns="0" rIns="0" bIns="0" rtlCol="0" anchor="ctr"/>
          <a:lstStyle/>
          <a:p>
            <a:pPr marL="0" indent="0">
              <a:buNone/>
            </a:pPr>
            <a:r>
              <a:rPr lang="en-US" sz="2100" b="1" dirty="0">
                <a:solidFill>
                  <a:srgbClr val="175680"/>
                </a:solidFill>
                <a:latin typeface="Cambria" pitchFamily="34" charset="0"/>
                <a:ea typeface="Cambria" pitchFamily="34" charset="-122"/>
                <a:cs typeface="Cambria" pitchFamily="34" charset="-120"/>
              </a:rPr>
              <a:t>Distributed</a:t>
            </a:r>
            <a:endParaRPr lang="en-US" sz="2100" dirty="0"/>
          </a:p>
        </p:txBody>
      </p:sp>
      <p:sp>
        <p:nvSpPr>
          <p:cNvPr id="14" name="Text 12"/>
          <p:cNvSpPr txBox="1"/>
          <p:nvPr/>
        </p:nvSpPr>
        <p:spPr>
          <a:xfrm>
            <a:off x="8328965" y="1920240"/>
            <a:ext cx="3039770" cy="1316736"/>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Networking is in the standard library, so reading from a remote server looks much like reading from a file. In practice most modern distributed Java is written with HTTP clients and frameworks on top of this foundation.</a:t>
            </a:r>
            <a:endParaRPr lang="en-US" sz="1250" dirty="0"/>
          </a:p>
        </p:txBody>
      </p:sp>
      <p:sp>
        <p:nvSpPr>
          <p:cNvPr id="15" name="Text 13"/>
          <p:cNvSpPr txBox="1"/>
          <p:nvPr/>
        </p:nvSpPr>
        <p:spPr>
          <a:xfrm>
            <a:off x="566928" y="3593592"/>
            <a:ext cx="11057839" cy="310896"/>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What “simple” actually means, concretely</a:t>
            </a:r>
            <a:endParaRPr lang="en-US" sz="1600" dirty="0"/>
          </a:p>
        </p:txBody>
      </p:sp>
      <p:sp>
        <p:nvSpPr>
          <p:cNvPr id="16" name="Shape 14"/>
          <p:cNvSpPr/>
          <p:nvPr/>
        </p:nvSpPr>
        <p:spPr>
          <a:xfrm>
            <a:off x="566928" y="3977640"/>
            <a:ext cx="2613584" cy="1097280"/>
          </a:xfrm>
          <a:prstGeom prst="roundRect">
            <a:avLst>
              <a:gd name="adj" fmla="val 7500"/>
            </a:avLst>
          </a:prstGeom>
          <a:solidFill>
            <a:srgbClr val="FFFFFF"/>
          </a:solidFill>
          <a:ln w="12700">
            <a:solidFill>
              <a:srgbClr val="D3DEE7"/>
            </a:solidFill>
            <a:prstDash val="solid"/>
          </a:ln>
        </p:spPr>
        <p:txBody>
          <a:bodyPr/>
          <a:lstStyle/>
          <a:p>
            <a:endParaRPr lang="en-US"/>
          </a:p>
        </p:txBody>
      </p:sp>
      <p:sp>
        <p:nvSpPr>
          <p:cNvPr id="17" name="Text 15"/>
          <p:cNvSpPr txBox="1"/>
          <p:nvPr/>
        </p:nvSpPr>
        <p:spPr>
          <a:xfrm>
            <a:off x="768096" y="4105656"/>
            <a:ext cx="2211248" cy="274320"/>
          </a:xfrm>
          <a:prstGeom prst="rect">
            <a:avLst/>
          </a:prstGeom>
          <a:noFill/>
          <a:ln/>
        </p:spPr>
        <p:txBody>
          <a:bodyPr wrap="square" lIns="0" tIns="0" rIns="0" bIns="0" rtlCol="0" anchor="ctr"/>
          <a:lstStyle/>
          <a:p>
            <a:pPr marL="0" indent="0">
              <a:buNone/>
            </a:pPr>
            <a:r>
              <a:rPr lang="en-US" sz="1250" b="1" dirty="0">
                <a:solidFill>
                  <a:srgbClr val="9A430A"/>
                </a:solidFill>
                <a:latin typeface="Calibri" pitchFamily="34" charset="0"/>
                <a:ea typeface="Calibri" pitchFamily="34" charset="-122"/>
                <a:cs typeface="Calibri" pitchFamily="34" charset="-120"/>
              </a:rPr>
              <a:t>Automatic garbage collection</a:t>
            </a:r>
            <a:endParaRPr lang="en-US" sz="1250" dirty="0"/>
          </a:p>
        </p:txBody>
      </p:sp>
      <p:sp>
        <p:nvSpPr>
          <p:cNvPr id="18" name="Text 16"/>
          <p:cNvSpPr txBox="1"/>
          <p:nvPr/>
        </p:nvSpPr>
        <p:spPr>
          <a:xfrm>
            <a:off x="768096" y="4379976"/>
            <a:ext cx="2211248" cy="603504"/>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You never allocate or free memory by hand.</a:t>
            </a:r>
            <a:endParaRPr lang="en-US" sz="1150" dirty="0"/>
          </a:p>
        </p:txBody>
      </p:sp>
      <p:sp>
        <p:nvSpPr>
          <p:cNvPr id="19" name="Shape 17"/>
          <p:cNvSpPr/>
          <p:nvPr/>
        </p:nvSpPr>
        <p:spPr>
          <a:xfrm>
            <a:off x="3381680" y="3977640"/>
            <a:ext cx="2613584" cy="1097280"/>
          </a:xfrm>
          <a:prstGeom prst="roundRect">
            <a:avLst>
              <a:gd name="adj" fmla="val 7500"/>
            </a:avLst>
          </a:prstGeom>
          <a:solidFill>
            <a:srgbClr val="FFFFFF"/>
          </a:solidFill>
          <a:ln w="12700">
            <a:solidFill>
              <a:srgbClr val="D3DEE7"/>
            </a:solidFill>
            <a:prstDash val="solid"/>
          </a:ln>
        </p:spPr>
        <p:txBody>
          <a:bodyPr/>
          <a:lstStyle/>
          <a:p>
            <a:endParaRPr lang="en-US"/>
          </a:p>
        </p:txBody>
      </p:sp>
      <p:sp>
        <p:nvSpPr>
          <p:cNvPr id="20" name="Text 18"/>
          <p:cNvSpPr txBox="1"/>
          <p:nvPr/>
        </p:nvSpPr>
        <p:spPr>
          <a:xfrm>
            <a:off x="3582848" y="4105656"/>
            <a:ext cx="2211248" cy="274320"/>
          </a:xfrm>
          <a:prstGeom prst="rect">
            <a:avLst/>
          </a:prstGeom>
          <a:noFill/>
          <a:ln/>
        </p:spPr>
        <p:txBody>
          <a:bodyPr wrap="square" lIns="0" tIns="0" rIns="0" bIns="0" rtlCol="0" anchor="ctr"/>
          <a:lstStyle/>
          <a:p>
            <a:pPr marL="0" indent="0">
              <a:buNone/>
            </a:pPr>
            <a:r>
              <a:rPr lang="en-US" sz="1250" b="1" dirty="0">
                <a:solidFill>
                  <a:srgbClr val="9A430A"/>
                </a:solidFill>
                <a:latin typeface="Calibri" pitchFamily="34" charset="0"/>
                <a:ea typeface="Calibri" pitchFamily="34" charset="-122"/>
                <a:cs typeface="Calibri" pitchFamily="34" charset="-120"/>
              </a:rPr>
              <a:t>References, not pointers</a:t>
            </a:r>
            <a:endParaRPr lang="en-US" sz="1250" dirty="0"/>
          </a:p>
        </p:txBody>
      </p:sp>
      <p:sp>
        <p:nvSpPr>
          <p:cNvPr id="21" name="Text 19"/>
          <p:cNvSpPr txBox="1"/>
          <p:nvPr/>
        </p:nvSpPr>
        <p:spPr>
          <a:xfrm>
            <a:off x="3582848" y="4379976"/>
            <a:ext cx="2211248" cy="603504"/>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No pointer arithmetic, and none of the bugs that come with it.</a:t>
            </a:r>
            <a:endParaRPr lang="en-US" sz="1150" dirty="0"/>
          </a:p>
        </p:txBody>
      </p:sp>
      <p:sp>
        <p:nvSpPr>
          <p:cNvPr id="22" name="Shape 20"/>
          <p:cNvSpPr/>
          <p:nvPr/>
        </p:nvSpPr>
        <p:spPr>
          <a:xfrm>
            <a:off x="6196432" y="3977640"/>
            <a:ext cx="2613584" cy="1097280"/>
          </a:xfrm>
          <a:prstGeom prst="roundRect">
            <a:avLst>
              <a:gd name="adj" fmla="val 7500"/>
            </a:avLst>
          </a:prstGeom>
          <a:solidFill>
            <a:srgbClr val="FFFFFF"/>
          </a:solidFill>
          <a:ln w="12700">
            <a:solidFill>
              <a:srgbClr val="D3DEE7"/>
            </a:solidFill>
            <a:prstDash val="solid"/>
          </a:ln>
        </p:spPr>
        <p:txBody>
          <a:bodyPr/>
          <a:lstStyle/>
          <a:p>
            <a:endParaRPr lang="en-US"/>
          </a:p>
        </p:txBody>
      </p:sp>
      <p:sp>
        <p:nvSpPr>
          <p:cNvPr id="23" name="Text 21"/>
          <p:cNvSpPr txBox="1"/>
          <p:nvPr/>
        </p:nvSpPr>
        <p:spPr>
          <a:xfrm>
            <a:off x="6397600" y="4105656"/>
            <a:ext cx="2211248" cy="274320"/>
          </a:xfrm>
          <a:prstGeom prst="rect">
            <a:avLst/>
          </a:prstGeom>
          <a:noFill/>
          <a:ln/>
        </p:spPr>
        <p:txBody>
          <a:bodyPr wrap="square" lIns="0" tIns="0" rIns="0" bIns="0" rtlCol="0" anchor="ctr"/>
          <a:lstStyle/>
          <a:p>
            <a:pPr marL="0" indent="0">
              <a:buNone/>
            </a:pPr>
            <a:r>
              <a:rPr lang="en-US" sz="1250" b="1" dirty="0">
                <a:solidFill>
                  <a:srgbClr val="9A430A"/>
                </a:solidFill>
                <a:latin typeface="Calibri" pitchFamily="34" charset="0"/>
                <a:ea typeface="Calibri" pitchFamily="34" charset="-122"/>
                <a:cs typeface="Calibri" pitchFamily="34" charset="-120"/>
              </a:rPr>
              <a:t>Fewer constructs</a:t>
            </a:r>
            <a:endParaRPr lang="en-US" sz="1250" dirty="0"/>
          </a:p>
        </p:txBody>
      </p:sp>
      <p:sp>
        <p:nvSpPr>
          <p:cNvPr id="24" name="Text 22"/>
          <p:cNvSpPr txBox="1"/>
          <p:nvPr/>
        </p:nvSpPr>
        <p:spPr>
          <a:xfrm>
            <a:off x="6397600" y="4379976"/>
            <a:ext cx="2211248" cy="603504"/>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No multiple inheritance of classes, no operator overloading, no preprocessor macros.</a:t>
            </a:r>
            <a:endParaRPr lang="en-US" sz="1150" dirty="0"/>
          </a:p>
        </p:txBody>
      </p:sp>
      <p:sp>
        <p:nvSpPr>
          <p:cNvPr id="25" name="Shape 23"/>
          <p:cNvSpPr/>
          <p:nvPr/>
        </p:nvSpPr>
        <p:spPr>
          <a:xfrm>
            <a:off x="9011183" y="3977640"/>
            <a:ext cx="2613584" cy="1097280"/>
          </a:xfrm>
          <a:prstGeom prst="roundRect">
            <a:avLst>
              <a:gd name="adj" fmla="val 7500"/>
            </a:avLst>
          </a:prstGeom>
          <a:solidFill>
            <a:srgbClr val="FFFFFF"/>
          </a:solidFill>
          <a:ln w="12700">
            <a:solidFill>
              <a:srgbClr val="D3DEE7"/>
            </a:solidFill>
            <a:prstDash val="solid"/>
          </a:ln>
        </p:spPr>
        <p:txBody>
          <a:bodyPr/>
          <a:lstStyle/>
          <a:p>
            <a:endParaRPr lang="en-US"/>
          </a:p>
        </p:txBody>
      </p:sp>
      <p:sp>
        <p:nvSpPr>
          <p:cNvPr id="26" name="Text 24"/>
          <p:cNvSpPr txBox="1"/>
          <p:nvPr/>
        </p:nvSpPr>
        <p:spPr>
          <a:xfrm>
            <a:off x="9212351" y="4105656"/>
            <a:ext cx="2211248" cy="274320"/>
          </a:xfrm>
          <a:prstGeom prst="rect">
            <a:avLst/>
          </a:prstGeom>
          <a:noFill/>
          <a:ln/>
        </p:spPr>
        <p:txBody>
          <a:bodyPr wrap="square" lIns="0" tIns="0" rIns="0" bIns="0" rtlCol="0" anchor="ctr"/>
          <a:lstStyle/>
          <a:p>
            <a:pPr marL="0" indent="0">
              <a:buNone/>
            </a:pPr>
            <a:r>
              <a:rPr lang="en-US" sz="1250" b="1" dirty="0">
                <a:solidFill>
                  <a:srgbClr val="9A430A"/>
                </a:solidFill>
                <a:latin typeface="Calibri" pitchFamily="34" charset="0"/>
                <a:ea typeface="Calibri" pitchFamily="34" charset="-122"/>
                <a:cs typeface="Calibri" pitchFamily="34" charset="-120"/>
              </a:rPr>
              <a:t>Errors caught early</a:t>
            </a:r>
            <a:endParaRPr lang="en-US" sz="1250" dirty="0"/>
          </a:p>
        </p:txBody>
      </p:sp>
      <p:sp>
        <p:nvSpPr>
          <p:cNvPr id="27" name="Text 25"/>
          <p:cNvSpPr txBox="1"/>
          <p:nvPr/>
        </p:nvSpPr>
        <p:spPr>
          <a:xfrm>
            <a:off x="9212351" y="4379976"/>
            <a:ext cx="2211248" cy="603504"/>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The compiler rejects a large class of mistakes before your program ever runs.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CHARACTERISTICS  ·  2 OF 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Interpreted, Robust, Secure</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66928" y="1261872"/>
            <a:ext cx="3551834" cy="2148840"/>
          </a:xfrm>
          <a:prstGeom prst="roundRect">
            <a:avLst>
              <a:gd name="adj" fmla="val 3830"/>
            </a:avLst>
          </a:prstGeom>
          <a:solidFill>
            <a:srgbClr val="F1F5F9"/>
          </a:solidFill>
          <a:ln w="12700">
            <a:solidFill>
              <a:srgbClr val="F1F5F9"/>
            </a:solidFill>
            <a:prstDash val="solid"/>
          </a:ln>
        </p:spPr>
        <p:txBody>
          <a:bodyPr/>
          <a:lstStyle/>
          <a:p>
            <a:endParaRPr lang="en-US"/>
          </a:p>
        </p:txBody>
      </p:sp>
      <p:sp>
        <p:nvSpPr>
          <p:cNvPr id="7" name="Text 5"/>
          <p:cNvSpPr txBox="1"/>
          <p:nvPr/>
        </p:nvSpPr>
        <p:spPr>
          <a:xfrm>
            <a:off x="822960" y="1481328"/>
            <a:ext cx="3039770" cy="384048"/>
          </a:xfrm>
          <a:prstGeom prst="rect">
            <a:avLst/>
          </a:prstGeom>
          <a:noFill/>
          <a:ln/>
        </p:spPr>
        <p:txBody>
          <a:bodyPr wrap="square" lIns="0" tIns="0" rIns="0" bIns="0" rtlCol="0" anchor="ctr"/>
          <a:lstStyle/>
          <a:p>
            <a:pPr marL="0" indent="0">
              <a:buNone/>
            </a:pPr>
            <a:r>
              <a:rPr lang="en-US" sz="2100" b="1" dirty="0">
                <a:solidFill>
                  <a:srgbClr val="0F2942"/>
                </a:solidFill>
                <a:latin typeface="Cambria" pitchFamily="34" charset="0"/>
                <a:ea typeface="Cambria" pitchFamily="34" charset="-122"/>
                <a:cs typeface="Cambria" pitchFamily="34" charset="-120"/>
              </a:rPr>
              <a:t>Interpreted</a:t>
            </a:r>
            <a:endParaRPr lang="en-US" sz="2100" dirty="0"/>
          </a:p>
        </p:txBody>
      </p:sp>
      <p:sp>
        <p:nvSpPr>
          <p:cNvPr id="8" name="Text 6"/>
          <p:cNvSpPr txBox="1"/>
          <p:nvPr/>
        </p:nvSpPr>
        <p:spPr>
          <a:xfrm>
            <a:off x="822960" y="1920240"/>
            <a:ext cx="3039770" cy="137160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Your source compiles to bytecode, and the JVM executes it. Because bytecode is machine-independent, it runs anywhere a JVM exists.</a:t>
            </a:r>
            <a:endParaRPr lang="en-US" sz="1250" dirty="0"/>
          </a:p>
        </p:txBody>
      </p:sp>
      <p:sp>
        <p:nvSpPr>
          <p:cNvPr id="9" name="Shape 7"/>
          <p:cNvSpPr/>
          <p:nvPr/>
        </p:nvSpPr>
        <p:spPr>
          <a:xfrm>
            <a:off x="4319930" y="1261872"/>
            <a:ext cx="3551834" cy="2148840"/>
          </a:xfrm>
          <a:prstGeom prst="roundRect">
            <a:avLst>
              <a:gd name="adj" fmla="val 3830"/>
            </a:avLst>
          </a:prstGeom>
          <a:solidFill>
            <a:srgbClr val="F1F5F9"/>
          </a:solidFill>
          <a:ln w="12700">
            <a:solidFill>
              <a:srgbClr val="F1F5F9"/>
            </a:solidFill>
            <a:prstDash val="solid"/>
          </a:ln>
        </p:spPr>
        <p:txBody>
          <a:bodyPr/>
          <a:lstStyle/>
          <a:p>
            <a:endParaRPr lang="en-US"/>
          </a:p>
        </p:txBody>
      </p:sp>
      <p:sp>
        <p:nvSpPr>
          <p:cNvPr id="10" name="Text 8"/>
          <p:cNvSpPr txBox="1"/>
          <p:nvPr/>
        </p:nvSpPr>
        <p:spPr>
          <a:xfrm>
            <a:off x="4575962" y="1481328"/>
            <a:ext cx="3039770" cy="384048"/>
          </a:xfrm>
          <a:prstGeom prst="rect">
            <a:avLst/>
          </a:prstGeom>
          <a:noFill/>
          <a:ln/>
        </p:spPr>
        <p:txBody>
          <a:bodyPr wrap="square" lIns="0" tIns="0" rIns="0" bIns="0" rtlCol="0" anchor="ctr"/>
          <a:lstStyle/>
          <a:p>
            <a:pPr marL="0" indent="0">
              <a:buNone/>
            </a:pPr>
            <a:r>
              <a:rPr lang="en-US" sz="2100" b="1" dirty="0">
                <a:solidFill>
                  <a:srgbClr val="176240"/>
                </a:solidFill>
                <a:latin typeface="Cambria" pitchFamily="34" charset="0"/>
                <a:ea typeface="Cambria" pitchFamily="34" charset="-122"/>
                <a:cs typeface="Cambria" pitchFamily="34" charset="-120"/>
              </a:rPr>
              <a:t>Robust</a:t>
            </a:r>
            <a:endParaRPr lang="en-US" sz="2100" dirty="0"/>
          </a:p>
        </p:txBody>
      </p:sp>
      <p:sp>
        <p:nvSpPr>
          <p:cNvPr id="11" name="Text 9"/>
          <p:cNvSpPr txBox="1"/>
          <p:nvPr/>
        </p:nvSpPr>
        <p:spPr>
          <a:xfrm>
            <a:off x="4575962" y="1920240"/>
            <a:ext cx="3039770" cy="137160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The compiler catches at build time what many languages only discover at run time. Error-prone constructs were removed outright, and exception handling gives you a disciplined way to deal with what remains.</a:t>
            </a:r>
            <a:endParaRPr lang="en-US" sz="1250" dirty="0"/>
          </a:p>
        </p:txBody>
      </p:sp>
      <p:sp>
        <p:nvSpPr>
          <p:cNvPr id="12" name="Shape 10"/>
          <p:cNvSpPr/>
          <p:nvPr/>
        </p:nvSpPr>
        <p:spPr>
          <a:xfrm>
            <a:off x="8072933" y="1261872"/>
            <a:ext cx="3551834" cy="2148840"/>
          </a:xfrm>
          <a:prstGeom prst="roundRect">
            <a:avLst>
              <a:gd name="adj" fmla="val 3830"/>
            </a:avLst>
          </a:prstGeom>
          <a:solidFill>
            <a:srgbClr val="F1F5F9"/>
          </a:solidFill>
          <a:ln w="12700">
            <a:solidFill>
              <a:srgbClr val="F1F5F9"/>
            </a:solidFill>
            <a:prstDash val="solid"/>
          </a:ln>
        </p:spPr>
        <p:txBody>
          <a:bodyPr/>
          <a:lstStyle/>
          <a:p>
            <a:endParaRPr lang="en-US"/>
          </a:p>
        </p:txBody>
      </p:sp>
      <p:sp>
        <p:nvSpPr>
          <p:cNvPr id="13" name="Text 11"/>
          <p:cNvSpPr txBox="1"/>
          <p:nvPr/>
        </p:nvSpPr>
        <p:spPr>
          <a:xfrm>
            <a:off x="8328965" y="1481328"/>
            <a:ext cx="3039770" cy="384048"/>
          </a:xfrm>
          <a:prstGeom prst="rect">
            <a:avLst/>
          </a:prstGeom>
          <a:noFill/>
          <a:ln/>
        </p:spPr>
        <p:txBody>
          <a:bodyPr wrap="square" lIns="0" tIns="0" rIns="0" bIns="0" rtlCol="0" anchor="ctr"/>
          <a:lstStyle/>
          <a:p>
            <a:pPr marL="0" indent="0">
              <a:buNone/>
            </a:pPr>
            <a:r>
              <a:rPr lang="en-US" sz="2100" b="1" dirty="0">
                <a:solidFill>
                  <a:srgbClr val="175680"/>
                </a:solidFill>
                <a:latin typeface="Cambria" pitchFamily="34" charset="0"/>
                <a:ea typeface="Cambria" pitchFamily="34" charset="-122"/>
                <a:cs typeface="Cambria" pitchFamily="34" charset="-120"/>
              </a:rPr>
              <a:t>Secure</a:t>
            </a:r>
            <a:endParaRPr lang="en-US" sz="2100" dirty="0"/>
          </a:p>
        </p:txBody>
      </p:sp>
      <p:sp>
        <p:nvSpPr>
          <p:cNvPr id="14" name="Text 12"/>
          <p:cNvSpPr txBox="1"/>
          <p:nvPr/>
        </p:nvSpPr>
        <p:spPr>
          <a:xfrm>
            <a:off x="8328965" y="1920240"/>
            <a:ext cx="3039770" cy="137160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The JVM verifies bytecode before executing it and enforces access rules, so a stray or hostile class cannot simply reach into memory it does not own.</a:t>
            </a:r>
            <a:endParaRPr lang="en-US" sz="1250" dirty="0"/>
          </a:p>
        </p:txBody>
      </p:sp>
      <p:sp>
        <p:nvSpPr>
          <p:cNvPr id="15" name="Shape 13"/>
          <p:cNvSpPr/>
          <p:nvPr/>
        </p:nvSpPr>
        <p:spPr>
          <a:xfrm>
            <a:off x="566928" y="3657600"/>
            <a:ext cx="11057839" cy="1417320"/>
          </a:xfrm>
          <a:prstGeom prst="roundRect">
            <a:avLst>
              <a:gd name="adj" fmla="val 5806"/>
            </a:avLst>
          </a:prstGeom>
          <a:solidFill>
            <a:srgbClr val="FBEEE0"/>
          </a:solidFill>
          <a:ln w="12700">
            <a:solidFill>
              <a:srgbClr val="FBEEE0"/>
            </a:solidFill>
            <a:prstDash val="solid"/>
          </a:ln>
        </p:spPr>
        <p:txBody>
          <a:bodyPr/>
          <a:lstStyle/>
          <a:p>
            <a:endParaRPr lang="en-US"/>
          </a:p>
        </p:txBody>
      </p:sp>
      <p:sp>
        <p:nvSpPr>
          <p:cNvPr id="16" name="Text 14"/>
          <p:cNvSpPr txBox="1"/>
          <p:nvPr/>
        </p:nvSpPr>
        <p:spPr>
          <a:xfrm>
            <a:off x="877824" y="3840480"/>
            <a:ext cx="10436047" cy="292608"/>
          </a:xfrm>
          <a:prstGeom prst="rect">
            <a:avLst/>
          </a:prstGeom>
          <a:noFill/>
          <a:ln/>
        </p:spPr>
        <p:txBody>
          <a:bodyPr wrap="square" lIns="0" tIns="0" rIns="0" bIns="0" rtlCol="0" anchor="ctr"/>
          <a:lstStyle/>
          <a:p>
            <a:pPr marL="0" indent="0">
              <a:buNone/>
            </a:pPr>
            <a:r>
              <a:rPr lang="en-US" sz="1500" b="1" dirty="0">
                <a:solidFill>
                  <a:srgbClr val="9A430A"/>
                </a:solidFill>
                <a:latin typeface="Calibri" pitchFamily="34" charset="0"/>
                <a:ea typeface="Calibri" pitchFamily="34" charset="-122"/>
                <a:cs typeface="Calibri" pitchFamily="34" charset="-120"/>
              </a:rPr>
              <a:t>Correction worth making: “interpreted” is only half the story</a:t>
            </a:r>
            <a:endParaRPr lang="en-US" sz="1500" dirty="0"/>
          </a:p>
        </p:txBody>
      </p:sp>
      <p:sp>
        <p:nvSpPr>
          <p:cNvPr id="17" name="Text 15"/>
          <p:cNvSpPr txBox="1"/>
          <p:nvPr/>
        </p:nvSpPr>
        <p:spPr>
          <a:xfrm>
            <a:off x="877824" y="4169664"/>
            <a:ext cx="10436047" cy="777240"/>
          </a:xfrm>
          <a:prstGeom prst="rect">
            <a:avLst/>
          </a:prstGeom>
          <a:noFill/>
          <a:ln/>
        </p:spPr>
        <p:txBody>
          <a:bodyPr wrap="square" lIns="0" tIns="0" rIns="0" bIns="0" rtlCol="0" anchor="t"/>
          <a:lstStyle/>
          <a:p>
            <a:pPr marL="0" indent="0">
              <a:lnSpc>
                <a:spcPct val="115000"/>
              </a:lnSpc>
              <a:buNone/>
            </a:pPr>
            <a:r>
              <a:rPr lang="en-US" sz="1250" dirty="0">
                <a:solidFill>
                  <a:srgbClr val="3A536B"/>
                </a:solidFill>
                <a:latin typeface="Calibri" pitchFamily="34" charset="0"/>
                <a:ea typeface="Calibri" pitchFamily="34" charset="-122"/>
                <a:cs typeface="Calibri" pitchFamily="34" charset="-120"/>
              </a:rPr>
              <a:t>A modern JVM starts by interpreting bytecode, but it also watches which methods run often and hands those to a just-in-time compiler, which turns them into native machine code while the program is running. Long-running Java code therefore executes at speeds close to compiled C++ — which is exactly why the old “slow because interpreted” reputation no longer holds.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CHARACTERISTICS  ·  3 OF 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Neutral, Portable, Fast, Threaded, Dynamic</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66928" y="1261872"/>
            <a:ext cx="3551834" cy="1737360"/>
          </a:xfrm>
          <a:prstGeom prst="roundRect">
            <a:avLst>
              <a:gd name="adj" fmla="val 4737"/>
            </a:avLst>
          </a:prstGeom>
          <a:solidFill>
            <a:srgbClr val="F1F5F9"/>
          </a:solidFill>
          <a:ln w="12700">
            <a:solidFill>
              <a:srgbClr val="F1F5F9"/>
            </a:solidFill>
            <a:prstDash val="solid"/>
          </a:ln>
        </p:spPr>
        <p:txBody>
          <a:bodyPr/>
          <a:lstStyle/>
          <a:p>
            <a:endParaRPr lang="en-US"/>
          </a:p>
        </p:txBody>
      </p:sp>
      <p:sp>
        <p:nvSpPr>
          <p:cNvPr id="7" name="Text 5"/>
          <p:cNvSpPr txBox="1"/>
          <p:nvPr/>
        </p:nvSpPr>
        <p:spPr>
          <a:xfrm>
            <a:off x="822960" y="1444752"/>
            <a:ext cx="3039770" cy="365760"/>
          </a:xfrm>
          <a:prstGeom prst="rect">
            <a:avLst/>
          </a:prstGeom>
          <a:noFill/>
          <a:ln/>
        </p:spPr>
        <p:txBody>
          <a:bodyPr wrap="square" lIns="0" tIns="0" rIns="0" bIns="0" rtlCol="0" anchor="ctr"/>
          <a:lstStyle/>
          <a:p>
            <a:pPr marL="0" indent="0">
              <a:buNone/>
            </a:pPr>
            <a:r>
              <a:rPr lang="en-US" sz="1800" b="1" dirty="0">
                <a:solidFill>
                  <a:srgbClr val="0F2942"/>
                </a:solidFill>
                <a:latin typeface="Cambria" pitchFamily="34" charset="0"/>
                <a:ea typeface="Cambria" pitchFamily="34" charset="-122"/>
                <a:cs typeface="Cambria" pitchFamily="34" charset="-120"/>
              </a:rPr>
              <a:t>Architecture-Neutral</a:t>
            </a:r>
            <a:endParaRPr lang="en-US" sz="1800" dirty="0"/>
          </a:p>
        </p:txBody>
      </p:sp>
      <p:sp>
        <p:nvSpPr>
          <p:cNvPr id="8" name="Text 6"/>
          <p:cNvSpPr txBox="1"/>
          <p:nvPr/>
        </p:nvSpPr>
        <p:spPr>
          <a:xfrm>
            <a:off x="822960" y="1865376"/>
            <a:ext cx="3039770" cy="1005840"/>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One program, compiled once, runs on any platform with a JVM. This is the guarantee everything else rests on.</a:t>
            </a:r>
            <a:endParaRPr lang="en-US" sz="1200" dirty="0"/>
          </a:p>
        </p:txBody>
      </p:sp>
      <p:sp>
        <p:nvSpPr>
          <p:cNvPr id="9" name="Shape 7"/>
          <p:cNvSpPr/>
          <p:nvPr/>
        </p:nvSpPr>
        <p:spPr>
          <a:xfrm>
            <a:off x="4319930" y="1261872"/>
            <a:ext cx="3551834" cy="1737360"/>
          </a:xfrm>
          <a:prstGeom prst="roundRect">
            <a:avLst>
              <a:gd name="adj" fmla="val 4737"/>
            </a:avLst>
          </a:prstGeom>
          <a:solidFill>
            <a:srgbClr val="FFFFFF"/>
          </a:solidFill>
          <a:ln w="12700">
            <a:solidFill>
              <a:srgbClr val="D3DEE7"/>
            </a:solidFill>
            <a:prstDash val="solid"/>
          </a:ln>
        </p:spPr>
        <p:txBody>
          <a:bodyPr/>
          <a:lstStyle/>
          <a:p>
            <a:endParaRPr lang="en-US"/>
          </a:p>
        </p:txBody>
      </p:sp>
      <p:sp>
        <p:nvSpPr>
          <p:cNvPr id="10" name="Text 8"/>
          <p:cNvSpPr txBox="1"/>
          <p:nvPr/>
        </p:nvSpPr>
        <p:spPr>
          <a:xfrm>
            <a:off x="4575962" y="1444752"/>
            <a:ext cx="3039770" cy="365760"/>
          </a:xfrm>
          <a:prstGeom prst="rect">
            <a:avLst/>
          </a:prstGeom>
          <a:noFill/>
          <a:ln/>
        </p:spPr>
        <p:txBody>
          <a:bodyPr wrap="square" lIns="0" tIns="0" rIns="0" bIns="0" rtlCol="0" anchor="ctr"/>
          <a:lstStyle/>
          <a:p>
            <a:pPr marL="0" indent="0">
              <a:buNone/>
            </a:pPr>
            <a:r>
              <a:rPr lang="en-US" sz="1800" b="1" dirty="0">
                <a:solidFill>
                  <a:srgbClr val="175680"/>
                </a:solidFill>
                <a:latin typeface="Cambria" pitchFamily="34" charset="0"/>
                <a:ea typeface="Cambria" pitchFamily="34" charset="-122"/>
                <a:cs typeface="Cambria" pitchFamily="34" charset="-120"/>
              </a:rPr>
              <a:t>Portable</a:t>
            </a:r>
            <a:endParaRPr lang="en-US" sz="1800" dirty="0"/>
          </a:p>
        </p:txBody>
      </p:sp>
      <p:sp>
        <p:nvSpPr>
          <p:cNvPr id="11" name="Text 9"/>
          <p:cNvSpPr txBox="1"/>
          <p:nvPr/>
        </p:nvSpPr>
        <p:spPr>
          <a:xfrm>
            <a:off x="4575962" y="1865376"/>
            <a:ext cx="3039770" cy="1005840"/>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Because Java is architecture-neutral, programs move between platforms without being recompiled.</a:t>
            </a:r>
            <a:endParaRPr lang="en-US" sz="1200" dirty="0"/>
          </a:p>
        </p:txBody>
      </p:sp>
      <p:sp>
        <p:nvSpPr>
          <p:cNvPr id="12" name="Shape 10"/>
          <p:cNvSpPr/>
          <p:nvPr/>
        </p:nvSpPr>
        <p:spPr>
          <a:xfrm>
            <a:off x="8072933" y="1261872"/>
            <a:ext cx="3551834" cy="1737360"/>
          </a:xfrm>
          <a:prstGeom prst="roundRect">
            <a:avLst>
              <a:gd name="adj" fmla="val 4737"/>
            </a:avLst>
          </a:prstGeom>
          <a:solidFill>
            <a:srgbClr val="F1F5F9"/>
          </a:solidFill>
          <a:ln w="12700">
            <a:solidFill>
              <a:srgbClr val="F1F5F9"/>
            </a:solidFill>
            <a:prstDash val="solid"/>
          </a:ln>
        </p:spPr>
        <p:txBody>
          <a:bodyPr/>
          <a:lstStyle/>
          <a:p>
            <a:endParaRPr lang="en-US"/>
          </a:p>
        </p:txBody>
      </p:sp>
      <p:sp>
        <p:nvSpPr>
          <p:cNvPr id="13" name="Text 11"/>
          <p:cNvSpPr txBox="1"/>
          <p:nvPr/>
        </p:nvSpPr>
        <p:spPr>
          <a:xfrm>
            <a:off x="8328965" y="1444752"/>
            <a:ext cx="3039770" cy="365760"/>
          </a:xfrm>
          <a:prstGeom prst="rect">
            <a:avLst/>
          </a:prstGeom>
          <a:noFill/>
          <a:ln/>
        </p:spPr>
        <p:txBody>
          <a:bodyPr wrap="square" lIns="0" tIns="0" rIns="0" bIns="0" rtlCol="0" anchor="ctr"/>
          <a:lstStyle/>
          <a:p>
            <a:pPr marL="0" indent="0">
              <a:buNone/>
            </a:pPr>
            <a:r>
              <a:rPr lang="en-US" sz="1800" b="1" dirty="0">
                <a:solidFill>
                  <a:srgbClr val="176240"/>
                </a:solidFill>
                <a:latin typeface="Cambria" pitchFamily="34" charset="0"/>
                <a:ea typeface="Cambria" pitchFamily="34" charset="-122"/>
                <a:cs typeface="Cambria" pitchFamily="34" charset="-120"/>
              </a:rPr>
              <a:t>High Performance</a:t>
            </a:r>
            <a:endParaRPr lang="en-US" sz="1800" dirty="0"/>
          </a:p>
        </p:txBody>
      </p:sp>
      <p:sp>
        <p:nvSpPr>
          <p:cNvPr id="14" name="Text 12"/>
          <p:cNvSpPr txBox="1"/>
          <p:nvPr/>
        </p:nvSpPr>
        <p:spPr>
          <a:xfrm>
            <a:off x="8328965" y="1865376"/>
            <a:ext cx="3039770" cy="1005840"/>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Performance has improved with every release: JIT compilation, generational garbage collectors and escape analysis.</a:t>
            </a:r>
            <a:endParaRPr lang="en-US" sz="1200" dirty="0"/>
          </a:p>
        </p:txBody>
      </p:sp>
      <p:sp>
        <p:nvSpPr>
          <p:cNvPr id="15" name="Shape 13"/>
          <p:cNvSpPr/>
          <p:nvPr/>
        </p:nvSpPr>
        <p:spPr>
          <a:xfrm>
            <a:off x="566928" y="3182112"/>
            <a:ext cx="3551834" cy="1737360"/>
          </a:xfrm>
          <a:prstGeom prst="roundRect">
            <a:avLst>
              <a:gd name="adj" fmla="val 4737"/>
            </a:avLst>
          </a:prstGeom>
          <a:solidFill>
            <a:srgbClr val="FFFFFF"/>
          </a:solidFill>
          <a:ln w="12700">
            <a:solidFill>
              <a:srgbClr val="D3DEE7"/>
            </a:solidFill>
            <a:prstDash val="solid"/>
          </a:ln>
        </p:spPr>
        <p:txBody>
          <a:bodyPr/>
          <a:lstStyle/>
          <a:p>
            <a:endParaRPr lang="en-US"/>
          </a:p>
        </p:txBody>
      </p:sp>
      <p:sp>
        <p:nvSpPr>
          <p:cNvPr id="16" name="Text 14"/>
          <p:cNvSpPr txBox="1"/>
          <p:nvPr/>
        </p:nvSpPr>
        <p:spPr>
          <a:xfrm>
            <a:off x="822960" y="3364992"/>
            <a:ext cx="3039770" cy="365760"/>
          </a:xfrm>
          <a:prstGeom prst="rect">
            <a:avLst/>
          </a:prstGeom>
          <a:noFill/>
          <a:ln/>
        </p:spPr>
        <p:txBody>
          <a:bodyPr wrap="square" lIns="0" tIns="0" rIns="0" bIns="0" rtlCol="0" anchor="ctr"/>
          <a:lstStyle/>
          <a:p>
            <a:pPr marL="0" indent="0">
              <a:buNone/>
            </a:pPr>
            <a:r>
              <a:rPr lang="en-US" sz="1800" b="1" dirty="0">
                <a:solidFill>
                  <a:srgbClr val="9A430A"/>
                </a:solidFill>
                <a:latin typeface="Cambria" pitchFamily="34" charset="0"/>
                <a:ea typeface="Cambria" pitchFamily="34" charset="-122"/>
                <a:cs typeface="Cambria" pitchFamily="34" charset="-120"/>
              </a:rPr>
              <a:t>Multithreaded</a:t>
            </a:r>
            <a:endParaRPr lang="en-US" sz="1800" dirty="0"/>
          </a:p>
        </p:txBody>
      </p:sp>
      <p:sp>
        <p:nvSpPr>
          <p:cNvPr id="17" name="Text 15"/>
          <p:cNvSpPr txBox="1"/>
          <p:nvPr/>
        </p:nvSpPr>
        <p:spPr>
          <a:xfrm>
            <a:off x="822960" y="3785616"/>
            <a:ext cx="3039770" cy="1005840"/>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Concurrency is built into the language and library rather than borrowed from the operating system. Virtual threads, added in Java 21, make it cheap to run millions of concurrent tasks.</a:t>
            </a:r>
            <a:endParaRPr lang="en-US" sz="1200" dirty="0"/>
          </a:p>
        </p:txBody>
      </p:sp>
      <p:sp>
        <p:nvSpPr>
          <p:cNvPr id="18" name="Shape 16"/>
          <p:cNvSpPr/>
          <p:nvPr/>
        </p:nvSpPr>
        <p:spPr>
          <a:xfrm>
            <a:off x="4319930" y="3182112"/>
            <a:ext cx="3551834" cy="1737360"/>
          </a:xfrm>
          <a:prstGeom prst="roundRect">
            <a:avLst>
              <a:gd name="adj" fmla="val 4737"/>
            </a:avLst>
          </a:prstGeom>
          <a:solidFill>
            <a:srgbClr val="F1F5F9"/>
          </a:solidFill>
          <a:ln w="12700">
            <a:solidFill>
              <a:srgbClr val="F1F5F9"/>
            </a:solidFill>
            <a:prstDash val="solid"/>
          </a:ln>
        </p:spPr>
        <p:txBody>
          <a:bodyPr/>
          <a:lstStyle/>
          <a:p>
            <a:endParaRPr lang="en-US"/>
          </a:p>
        </p:txBody>
      </p:sp>
      <p:sp>
        <p:nvSpPr>
          <p:cNvPr id="19" name="Text 17"/>
          <p:cNvSpPr txBox="1"/>
          <p:nvPr/>
        </p:nvSpPr>
        <p:spPr>
          <a:xfrm>
            <a:off x="4575962" y="3364992"/>
            <a:ext cx="3039770" cy="365760"/>
          </a:xfrm>
          <a:prstGeom prst="rect">
            <a:avLst/>
          </a:prstGeom>
          <a:noFill/>
          <a:ln/>
        </p:spPr>
        <p:txBody>
          <a:bodyPr wrap="square" lIns="0" tIns="0" rIns="0" bIns="0" rtlCol="0" anchor="ctr"/>
          <a:lstStyle/>
          <a:p>
            <a:pPr marL="0" indent="0">
              <a:buNone/>
            </a:pPr>
            <a:r>
              <a:rPr lang="en-US" sz="1800" b="1" dirty="0">
                <a:solidFill>
                  <a:srgbClr val="1D4468"/>
                </a:solidFill>
                <a:latin typeface="Cambria" pitchFamily="34" charset="0"/>
                <a:ea typeface="Cambria" pitchFamily="34" charset="-122"/>
                <a:cs typeface="Cambria" pitchFamily="34" charset="-120"/>
              </a:rPr>
              <a:t>Dynamic</a:t>
            </a:r>
            <a:endParaRPr lang="en-US" sz="1800" dirty="0"/>
          </a:p>
        </p:txBody>
      </p:sp>
      <p:sp>
        <p:nvSpPr>
          <p:cNvPr id="20" name="Text 18"/>
          <p:cNvSpPr txBox="1"/>
          <p:nvPr/>
        </p:nvSpPr>
        <p:spPr>
          <a:xfrm>
            <a:off x="4575962" y="3785616"/>
            <a:ext cx="3039770" cy="1005840"/>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Classes are loaded on demand at run time, so new code can be added without recompiling or reinstalling the whole application.</a:t>
            </a:r>
            <a:endParaRPr lang="en-US" sz="1200" dirty="0"/>
          </a:p>
        </p:txBody>
      </p:sp>
      <p:sp>
        <p:nvSpPr>
          <p:cNvPr id="21" name="Shape 19"/>
          <p:cNvSpPr/>
          <p:nvPr/>
        </p:nvSpPr>
        <p:spPr>
          <a:xfrm>
            <a:off x="8072933" y="3182112"/>
            <a:ext cx="3551834" cy="1737360"/>
          </a:xfrm>
          <a:prstGeom prst="roundRect">
            <a:avLst>
              <a:gd name="adj" fmla="val 4737"/>
            </a:avLst>
          </a:prstGeom>
          <a:solidFill>
            <a:srgbClr val="E4ECF4"/>
          </a:solidFill>
          <a:ln w="12700">
            <a:solidFill>
              <a:srgbClr val="E4ECF4"/>
            </a:solidFill>
            <a:prstDash val="solid"/>
          </a:ln>
        </p:spPr>
        <p:txBody>
          <a:bodyPr/>
          <a:lstStyle/>
          <a:p>
            <a:endParaRPr lang="en-US"/>
          </a:p>
        </p:txBody>
      </p:sp>
      <p:sp>
        <p:nvSpPr>
          <p:cNvPr id="22" name="Text 20"/>
          <p:cNvSpPr txBox="1"/>
          <p:nvPr/>
        </p:nvSpPr>
        <p:spPr>
          <a:xfrm>
            <a:off x="8328965" y="3364992"/>
            <a:ext cx="3039770" cy="310896"/>
          </a:xfrm>
          <a:prstGeom prst="rect">
            <a:avLst/>
          </a:prstGeom>
          <a:noFill/>
          <a:ln/>
        </p:spPr>
        <p:txBody>
          <a:bodyPr wrap="square" lIns="0" tIns="0" rIns="0" bIns="0" rtlCol="0" anchor="ctr"/>
          <a:lstStyle/>
          <a:p>
            <a:pPr marL="0" indent="0">
              <a:buNone/>
            </a:pPr>
            <a:r>
              <a:rPr lang="en-US" sz="1300" b="1" dirty="0">
                <a:solidFill>
                  <a:srgbClr val="9A430A"/>
                </a:solidFill>
                <a:latin typeface="Calibri" pitchFamily="34" charset="0"/>
                <a:ea typeface="Calibri" pitchFamily="34" charset="-122"/>
                <a:cs typeface="Calibri" pitchFamily="34" charset="-120"/>
              </a:rPr>
              <a:t>In one sentence</a:t>
            </a:r>
            <a:endParaRPr lang="en-US" sz="1300" dirty="0"/>
          </a:p>
        </p:txBody>
      </p:sp>
      <p:sp>
        <p:nvSpPr>
          <p:cNvPr id="23" name="Text 21"/>
          <p:cNvSpPr txBox="1"/>
          <p:nvPr/>
        </p:nvSpPr>
        <p:spPr>
          <a:xfrm>
            <a:off x="8328965" y="3712464"/>
            <a:ext cx="3039770" cy="100584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Java trades a little raw control for a great deal of safety, portability and tooling — and for most software that is a very good trade.</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THE WIDER PLATFORM</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Editions, and the Tools You Will Actually Use</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30</a:t>
            </a:r>
            <a:endParaRPr lang="en-US" sz="900" dirty="0"/>
          </a:p>
        </p:txBody>
      </p:sp>
      <p:sp>
        <p:nvSpPr>
          <p:cNvPr id="6" name="Text 4"/>
          <p:cNvSpPr txBox="1"/>
          <p:nvPr/>
        </p:nvSpPr>
        <p:spPr>
          <a:xfrm>
            <a:off x="566928" y="1261872"/>
            <a:ext cx="5346040" cy="292608"/>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Platform editions</a:t>
            </a:r>
            <a:endParaRPr lang="en-US" sz="1600" dirty="0"/>
          </a:p>
        </p:txBody>
      </p:sp>
      <p:sp>
        <p:nvSpPr>
          <p:cNvPr id="7" name="Shape 5"/>
          <p:cNvSpPr/>
          <p:nvPr/>
        </p:nvSpPr>
        <p:spPr>
          <a:xfrm>
            <a:off x="566928" y="1645920"/>
            <a:ext cx="5346040" cy="1097280"/>
          </a:xfrm>
          <a:prstGeom prst="roundRect">
            <a:avLst>
              <a:gd name="adj" fmla="val 7500"/>
            </a:avLst>
          </a:prstGeom>
          <a:solidFill>
            <a:srgbClr val="F1F5F9"/>
          </a:solidFill>
          <a:ln w="12700">
            <a:solidFill>
              <a:srgbClr val="F1F5F9"/>
            </a:solidFill>
            <a:prstDash val="solid"/>
          </a:ln>
        </p:spPr>
        <p:txBody>
          <a:bodyPr/>
          <a:lstStyle/>
          <a:p>
            <a:endParaRPr lang="en-US"/>
          </a:p>
        </p:txBody>
      </p:sp>
      <p:sp>
        <p:nvSpPr>
          <p:cNvPr id="8" name="Text 6"/>
          <p:cNvSpPr txBox="1"/>
          <p:nvPr/>
        </p:nvSpPr>
        <p:spPr>
          <a:xfrm>
            <a:off x="822960" y="1792224"/>
            <a:ext cx="4833976" cy="274320"/>
          </a:xfrm>
          <a:prstGeom prst="rect">
            <a:avLst/>
          </a:prstGeom>
          <a:noFill/>
          <a:ln/>
        </p:spPr>
        <p:txBody>
          <a:bodyPr wrap="square" lIns="0" tIns="0" rIns="0" bIns="0" rtlCol="0" anchor="ctr"/>
          <a:lstStyle/>
          <a:p>
            <a:pPr marL="0" indent="0">
              <a:buNone/>
            </a:pPr>
            <a:r>
              <a:rPr lang="en-US" sz="1400" b="1" dirty="0">
                <a:solidFill>
                  <a:srgbClr val="9A430A"/>
                </a:solidFill>
                <a:latin typeface="Calibri" pitchFamily="34" charset="0"/>
                <a:ea typeface="Calibri" pitchFamily="34" charset="-122"/>
                <a:cs typeface="Calibri" pitchFamily="34" charset="-120"/>
              </a:rPr>
              <a:t>Java SE — Standard Edition</a:t>
            </a:r>
            <a:endParaRPr lang="en-US" sz="1400" dirty="0"/>
          </a:p>
        </p:txBody>
      </p:sp>
      <p:sp>
        <p:nvSpPr>
          <p:cNvPr id="9" name="Text 7"/>
          <p:cNvSpPr txBox="1"/>
          <p:nvPr/>
        </p:nvSpPr>
        <p:spPr>
          <a:xfrm>
            <a:off x="822960" y="2084832"/>
            <a:ext cx="4833976" cy="566928"/>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The core platform. Desktop and standalone applications, and the base every other edition builds on. This is what we use.</a:t>
            </a:r>
            <a:endParaRPr lang="en-US" sz="1150" dirty="0"/>
          </a:p>
        </p:txBody>
      </p:sp>
      <p:sp>
        <p:nvSpPr>
          <p:cNvPr id="10" name="Shape 8"/>
          <p:cNvSpPr/>
          <p:nvPr/>
        </p:nvSpPr>
        <p:spPr>
          <a:xfrm>
            <a:off x="566928" y="2834640"/>
            <a:ext cx="5346040" cy="1097280"/>
          </a:xfrm>
          <a:prstGeom prst="roundRect">
            <a:avLst>
              <a:gd name="adj" fmla="val 7500"/>
            </a:avLst>
          </a:prstGeom>
          <a:solidFill>
            <a:srgbClr val="F1F5F9"/>
          </a:solidFill>
          <a:ln w="12700">
            <a:solidFill>
              <a:srgbClr val="F1F5F9"/>
            </a:solidFill>
            <a:prstDash val="solid"/>
          </a:ln>
        </p:spPr>
        <p:txBody>
          <a:bodyPr/>
          <a:lstStyle/>
          <a:p>
            <a:endParaRPr lang="en-US"/>
          </a:p>
        </p:txBody>
      </p:sp>
      <p:sp>
        <p:nvSpPr>
          <p:cNvPr id="11" name="Text 9"/>
          <p:cNvSpPr txBox="1"/>
          <p:nvPr/>
        </p:nvSpPr>
        <p:spPr>
          <a:xfrm>
            <a:off x="822960" y="2980944"/>
            <a:ext cx="4833976" cy="274320"/>
          </a:xfrm>
          <a:prstGeom prst="rect">
            <a:avLst/>
          </a:prstGeom>
          <a:noFill/>
          <a:ln/>
        </p:spPr>
        <p:txBody>
          <a:bodyPr wrap="square" lIns="0" tIns="0" rIns="0" bIns="0" rtlCol="0" anchor="ctr"/>
          <a:lstStyle/>
          <a:p>
            <a:pPr marL="0" indent="0">
              <a:buNone/>
            </a:pPr>
            <a:r>
              <a:rPr lang="en-US" sz="1400" b="1" dirty="0">
                <a:solidFill>
                  <a:srgbClr val="175680"/>
                </a:solidFill>
                <a:latin typeface="Calibri" pitchFamily="34" charset="0"/>
                <a:ea typeface="Calibri" pitchFamily="34" charset="-122"/>
                <a:cs typeface="Calibri" pitchFamily="34" charset="-120"/>
              </a:rPr>
              <a:t>Jakarta EE — formerly Java EE</a:t>
            </a:r>
            <a:endParaRPr lang="en-US" sz="1400" dirty="0"/>
          </a:p>
        </p:txBody>
      </p:sp>
      <p:sp>
        <p:nvSpPr>
          <p:cNvPr id="12" name="Text 10"/>
          <p:cNvSpPr txBox="1"/>
          <p:nvPr/>
        </p:nvSpPr>
        <p:spPr>
          <a:xfrm>
            <a:off x="822960" y="3273552"/>
            <a:ext cx="4833976" cy="566928"/>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Server-side APIs for enterprise applications. Renamed Jakarta EE in 2018 when stewardship moved to the Eclipse Foundation; today most teams reach it through Spring Boot.</a:t>
            </a:r>
            <a:endParaRPr lang="en-US" sz="1150" dirty="0"/>
          </a:p>
        </p:txBody>
      </p:sp>
      <p:sp>
        <p:nvSpPr>
          <p:cNvPr id="13" name="Shape 11"/>
          <p:cNvSpPr/>
          <p:nvPr/>
        </p:nvSpPr>
        <p:spPr>
          <a:xfrm>
            <a:off x="566928" y="4023360"/>
            <a:ext cx="5346040" cy="1097280"/>
          </a:xfrm>
          <a:prstGeom prst="roundRect">
            <a:avLst>
              <a:gd name="adj" fmla="val 7500"/>
            </a:avLst>
          </a:prstGeom>
          <a:solidFill>
            <a:srgbClr val="F1F5F9"/>
          </a:solidFill>
          <a:ln w="12700">
            <a:solidFill>
              <a:srgbClr val="F1F5F9"/>
            </a:solidFill>
            <a:prstDash val="solid"/>
          </a:ln>
        </p:spPr>
        <p:txBody>
          <a:bodyPr/>
          <a:lstStyle/>
          <a:p>
            <a:endParaRPr lang="en-US"/>
          </a:p>
        </p:txBody>
      </p:sp>
      <p:sp>
        <p:nvSpPr>
          <p:cNvPr id="14" name="Text 12"/>
          <p:cNvSpPr txBox="1"/>
          <p:nvPr/>
        </p:nvSpPr>
        <p:spPr>
          <a:xfrm>
            <a:off x="822960" y="4169664"/>
            <a:ext cx="4833976" cy="274320"/>
          </a:xfrm>
          <a:prstGeom prst="rect">
            <a:avLst/>
          </a:prstGeom>
          <a:noFill/>
          <a:ln/>
        </p:spPr>
        <p:txBody>
          <a:bodyPr wrap="square" lIns="0" tIns="0" rIns="0" bIns="0" rtlCol="0" anchor="ctr"/>
          <a:lstStyle/>
          <a:p>
            <a:pPr marL="0" indent="0">
              <a:buNone/>
            </a:pPr>
            <a:r>
              <a:rPr lang="en-US" sz="1400" b="1" dirty="0">
                <a:solidFill>
                  <a:srgbClr val="3A536B"/>
                </a:solidFill>
                <a:latin typeface="Calibri" pitchFamily="34" charset="0"/>
                <a:ea typeface="Calibri" pitchFamily="34" charset="-122"/>
                <a:cs typeface="Calibri" pitchFamily="34" charset="-120"/>
              </a:rPr>
              <a:t>Java ME — Micro Edition</a:t>
            </a:r>
            <a:endParaRPr lang="en-US" sz="1400" dirty="0"/>
          </a:p>
        </p:txBody>
      </p:sp>
      <p:sp>
        <p:nvSpPr>
          <p:cNvPr id="15" name="Text 13"/>
          <p:cNvSpPr txBox="1"/>
          <p:nvPr/>
        </p:nvSpPr>
        <p:spPr>
          <a:xfrm>
            <a:off x="822960" y="4462272"/>
            <a:ext cx="4833976" cy="566928"/>
          </a:xfrm>
          <a:prstGeom prst="rect">
            <a:avLst/>
          </a:prstGeom>
          <a:noFill/>
          <a:ln/>
        </p:spPr>
        <p:txBody>
          <a:bodyPr wrap="square" lIns="0" tIns="0" rIns="0" bIns="0" rtlCol="0" anchor="t"/>
          <a:lstStyle/>
          <a:p>
            <a:pPr marL="0" indent="0">
              <a:lnSpc>
                <a:spcPct val="108000"/>
              </a:lnSpc>
              <a:buNone/>
            </a:pPr>
            <a:r>
              <a:rPr lang="en-US" sz="1150" dirty="0">
                <a:solidFill>
                  <a:srgbClr val="3A536B"/>
                </a:solidFill>
                <a:latin typeface="Calibri" pitchFamily="34" charset="0"/>
                <a:ea typeface="Calibri" pitchFamily="34" charset="-122"/>
                <a:cs typeface="Calibri" pitchFamily="34" charset="-120"/>
              </a:rPr>
              <a:t>Built for early mobile phones and embedded devices. Largely historical now. Android uses Java syntax but its own runtime and libraries, not Java ME.</a:t>
            </a:r>
            <a:endParaRPr lang="en-US" sz="1150" dirty="0"/>
          </a:p>
        </p:txBody>
      </p:sp>
      <p:sp>
        <p:nvSpPr>
          <p:cNvPr id="16" name="Text 14"/>
          <p:cNvSpPr txBox="1"/>
          <p:nvPr/>
        </p:nvSpPr>
        <p:spPr>
          <a:xfrm>
            <a:off x="6278728" y="1261872"/>
            <a:ext cx="5346040" cy="292608"/>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Integrated development environments</a:t>
            </a:r>
            <a:endParaRPr lang="en-US" sz="1600" dirty="0"/>
          </a:p>
        </p:txBody>
      </p:sp>
      <p:sp>
        <p:nvSpPr>
          <p:cNvPr id="17" name="Shape 15"/>
          <p:cNvSpPr/>
          <p:nvPr/>
        </p:nvSpPr>
        <p:spPr>
          <a:xfrm>
            <a:off x="6278728" y="1645920"/>
            <a:ext cx="5346040" cy="859536"/>
          </a:xfrm>
          <a:prstGeom prst="roundRect">
            <a:avLst>
              <a:gd name="adj" fmla="val 9574"/>
            </a:avLst>
          </a:prstGeom>
          <a:solidFill>
            <a:srgbClr val="FBEEE0"/>
          </a:solidFill>
          <a:ln w="12700">
            <a:solidFill>
              <a:srgbClr val="FBEEE0"/>
            </a:solidFill>
            <a:prstDash val="solid"/>
          </a:ln>
        </p:spPr>
        <p:txBody>
          <a:bodyPr/>
          <a:lstStyle/>
          <a:p>
            <a:endParaRPr lang="en-US"/>
          </a:p>
        </p:txBody>
      </p:sp>
      <p:sp>
        <p:nvSpPr>
          <p:cNvPr id="18" name="Text 16"/>
          <p:cNvSpPr txBox="1"/>
          <p:nvPr/>
        </p:nvSpPr>
        <p:spPr>
          <a:xfrm>
            <a:off x="6534760" y="1755648"/>
            <a:ext cx="4833976" cy="274320"/>
          </a:xfrm>
          <a:prstGeom prst="rect">
            <a:avLst/>
          </a:prstGeom>
          <a:noFill/>
          <a:ln/>
        </p:spPr>
        <p:txBody>
          <a:bodyPr wrap="square" lIns="0" tIns="0" rIns="0" bIns="0" rtlCol="0" anchor="ctr"/>
          <a:lstStyle/>
          <a:p>
            <a:pPr marL="0" indent="0">
              <a:buNone/>
            </a:pPr>
            <a:r>
              <a:rPr lang="en-US" sz="1400" b="1" dirty="0">
                <a:solidFill>
                  <a:srgbClr val="9A430A"/>
                </a:solidFill>
                <a:latin typeface="Calibri" pitchFamily="34" charset="0"/>
                <a:ea typeface="Calibri" pitchFamily="34" charset="-122"/>
                <a:cs typeface="Calibri" pitchFamily="34" charset="-120"/>
              </a:rPr>
              <a:t>IntelliJ IDEA</a:t>
            </a:r>
            <a:endParaRPr lang="en-US" sz="1400" dirty="0"/>
          </a:p>
        </p:txBody>
      </p:sp>
      <p:sp>
        <p:nvSpPr>
          <p:cNvPr id="19" name="Text 17"/>
          <p:cNvSpPr txBox="1"/>
          <p:nvPr/>
        </p:nvSpPr>
        <p:spPr>
          <a:xfrm>
            <a:off x="6534760" y="2048256"/>
            <a:ext cx="4833976" cy="402336"/>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Our IDE for this course. Free Ultimate licence via the JetBrains Student Pack.</a:t>
            </a:r>
            <a:endParaRPr lang="en-US" sz="1150" dirty="0"/>
          </a:p>
        </p:txBody>
      </p:sp>
      <p:sp>
        <p:nvSpPr>
          <p:cNvPr id="20" name="Shape 18"/>
          <p:cNvSpPr/>
          <p:nvPr/>
        </p:nvSpPr>
        <p:spPr>
          <a:xfrm>
            <a:off x="6278728" y="2596896"/>
            <a:ext cx="5346040" cy="859536"/>
          </a:xfrm>
          <a:prstGeom prst="roundRect">
            <a:avLst>
              <a:gd name="adj" fmla="val 9574"/>
            </a:avLst>
          </a:prstGeom>
          <a:solidFill>
            <a:srgbClr val="FFFFFF"/>
          </a:solidFill>
          <a:ln w="12700">
            <a:solidFill>
              <a:srgbClr val="D3DEE7"/>
            </a:solidFill>
            <a:prstDash val="solid"/>
          </a:ln>
        </p:spPr>
        <p:txBody>
          <a:bodyPr/>
          <a:lstStyle/>
          <a:p>
            <a:endParaRPr lang="en-US"/>
          </a:p>
        </p:txBody>
      </p:sp>
      <p:sp>
        <p:nvSpPr>
          <p:cNvPr id="21" name="Text 19"/>
          <p:cNvSpPr txBox="1"/>
          <p:nvPr/>
        </p:nvSpPr>
        <p:spPr>
          <a:xfrm>
            <a:off x="6534760" y="2706624"/>
            <a:ext cx="4833976" cy="274320"/>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Eclipse</a:t>
            </a:r>
            <a:endParaRPr lang="en-US" sz="1400" dirty="0"/>
          </a:p>
        </p:txBody>
      </p:sp>
      <p:sp>
        <p:nvSpPr>
          <p:cNvPr id="22" name="Text 20"/>
          <p:cNvSpPr txBox="1"/>
          <p:nvPr/>
        </p:nvSpPr>
        <p:spPr>
          <a:xfrm>
            <a:off x="6534760" y="2999232"/>
            <a:ext cx="4833976" cy="402336"/>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Long-established, open source, still widely used in industry.</a:t>
            </a:r>
            <a:endParaRPr lang="en-US" sz="1150" dirty="0"/>
          </a:p>
        </p:txBody>
      </p:sp>
      <p:sp>
        <p:nvSpPr>
          <p:cNvPr id="23" name="Shape 21"/>
          <p:cNvSpPr/>
          <p:nvPr/>
        </p:nvSpPr>
        <p:spPr>
          <a:xfrm>
            <a:off x="6278728" y="3547872"/>
            <a:ext cx="5346040" cy="859536"/>
          </a:xfrm>
          <a:prstGeom prst="roundRect">
            <a:avLst>
              <a:gd name="adj" fmla="val 9574"/>
            </a:avLst>
          </a:prstGeom>
          <a:solidFill>
            <a:srgbClr val="FFFFFF"/>
          </a:solidFill>
          <a:ln w="12700">
            <a:solidFill>
              <a:srgbClr val="D3DEE7"/>
            </a:solidFill>
            <a:prstDash val="solid"/>
          </a:ln>
        </p:spPr>
        <p:txBody>
          <a:bodyPr/>
          <a:lstStyle/>
          <a:p>
            <a:endParaRPr lang="en-US"/>
          </a:p>
        </p:txBody>
      </p:sp>
      <p:sp>
        <p:nvSpPr>
          <p:cNvPr id="24" name="Text 22"/>
          <p:cNvSpPr txBox="1"/>
          <p:nvPr/>
        </p:nvSpPr>
        <p:spPr>
          <a:xfrm>
            <a:off x="6534760" y="3657600"/>
            <a:ext cx="4833976" cy="274320"/>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NetBeans</a:t>
            </a:r>
            <a:endParaRPr lang="en-US" sz="1400" dirty="0"/>
          </a:p>
        </p:txBody>
      </p:sp>
      <p:sp>
        <p:nvSpPr>
          <p:cNvPr id="25" name="Text 23"/>
          <p:cNvSpPr txBox="1"/>
          <p:nvPr/>
        </p:nvSpPr>
        <p:spPr>
          <a:xfrm>
            <a:off x="6534760" y="3950208"/>
            <a:ext cx="4833976" cy="402336"/>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Apache project; good built-in support for JavaFX and Maven.</a:t>
            </a:r>
            <a:endParaRPr lang="en-US" sz="1150" dirty="0"/>
          </a:p>
        </p:txBody>
      </p:sp>
      <p:sp>
        <p:nvSpPr>
          <p:cNvPr id="26" name="Shape 24"/>
          <p:cNvSpPr/>
          <p:nvPr/>
        </p:nvSpPr>
        <p:spPr>
          <a:xfrm>
            <a:off x="6278728" y="4498848"/>
            <a:ext cx="5346040" cy="859536"/>
          </a:xfrm>
          <a:prstGeom prst="roundRect">
            <a:avLst>
              <a:gd name="adj" fmla="val 9574"/>
            </a:avLst>
          </a:prstGeom>
          <a:solidFill>
            <a:srgbClr val="FFFFFF"/>
          </a:solidFill>
          <a:ln w="12700">
            <a:solidFill>
              <a:srgbClr val="D3DEE7"/>
            </a:solidFill>
            <a:prstDash val="solid"/>
          </a:ln>
        </p:spPr>
        <p:txBody>
          <a:bodyPr/>
          <a:lstStyle/>
          <a:p>
            <a:endParaRPr lang="en-US"/>
          </a:p>
        </p:txBody>
      </p:sp>
      <p:sp>
        <p:nvSpPr>
          <p:cNvPr id="27" name="Text 25"/>
          <p:cNvSpPr txBox="1"/>
          <p:nvPr/>
        </p:nvSpPr>
        <p:spPr>
          <a:xfrm>
            <a:off x="6534760" y="4608576"/>
            <a:ext cx="4833976" cy="274320"/>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VS Code</a:t>
            </a:r>
            <a:endParaRPr lang="en-US" sz="1400" dirty="0"/>
          </a:p>
        </p:txBody>
      </p:sp>
      <p:sp>
        <p:nvSpPr>
          <p:cNvPr id="28" name="Text 26"/>
          <p:cNvSpPr txBox="1"/>
          <p:nvPr/>
        </p:nvSpPr>
        <p:spPr>
          <a:xfrm>
            <a:off x="6534760" y="4901184"/>
            <a:ext cx="4833976" cy="402336"/>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Lightweight, with a solid Java extension pack — fine for small programs, less so for large projects.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1E5"/>
        </a:solidFill>
        <a:effectLst/>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marL="0" indent="0">
              <a:buNone/>
            </a:pPr>
            <a:r>
              <a:rPr lang="en-US" sz="1200" b="1" kern="0" spc="200" dirty="0">
                <a:solidFill>
                  <a:srgbClr val="9A430A"/>
                </a:solidFill>
                <a:latin typeface="Calibri" pitchFamily="34" charset="0"/>
                <a:ea typeface="Calibri" pitchFamily="34" charset="-122"/>
                <a:cs typeface="Calibri" pitchFamily="34" charset="-120"/>
              </a:rPr>
              <a:t>CHECKPOINT 3</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marL="0" indent="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marL="0" indent="0" algn="r">
              <a:buNone/>
            </a:pPr>
            <a:r>
              <a:rPr lang="en-US" sz="1250" dirty="0">
                <a:solidFill>
                  <a:srgbClr val="4B6377"/>
                </a:solidFill>
                <a:latin typeface="Calibri" pitchFamily="34" charset="0"/>
                <a:ea typeface="Calibri" pitchFamily="34" charset="-122"/>
                <a:cs typeface="Calibri" pitchFamily="34" charset="-120"/>
              </a:rPr>
              <a:t>Covering slides 26–30</a:t>
            </a:r>
            <a:endParaRPr lang="en-US" sz="1250" dirty="0"/>
          </a:p>
        </p:txBody>
      </p:sp>
      <p:sp>
        <p:nvSpPr>
          <p:cNvPr id="5" name="Shape 3"/>
          <p:cNvSpPr/>
          <p:nvPr/>
        </p:nvSpPr>
        <p:spPr>
          <a:xfrm>
            <a:off x="566928" y="1844162"/>
            <a:ext cx="11057839" cy="914400"/>
          </a:xfrm>
          <a:prstGeom prst="roundRect">
            <a:avLst>
              <a:gd name="adj" fmla="val 9000"/>
            </a:avLst>
          </a:prstGeom>
          <a:solidFill>
            <a:srgbClr val="FFFFFF"/>
          </a:solidFill>
          <a:ln w="12700">
            <a:solidFill>
              <a:srgbClr val="D3DEE7"/>
            </a:solidFill>
            <a:prstDash val="solid"/>
          </a:ln>
        </p:spPr>
        <p:txBody>
          <a:bodyPr/>
          <a:lstStyle/>
          <a:p>
            <a:endParaRPr lang="en-US"/>
          </a:p>
        </p:txBody>
      </p:sp>
      <p:sp>
        <p:nvSpPr>
          <p:cNvPr id="6" name="Shape 4"/>
          <p:cNvSpPr/>
          <p:nvPr/>
        </p:nvSpPr>
        <p:spPr>
          <a:xfrm>
            <a:off x="841248" y="2081906"/>
            <a:ext cx="402336" cy="402336"/>
          </a:xfrm>
          <a:prstGeom prst="ellipse">
            <a:avLst/>
          </a:prstGeom>
          <a:solidFill>
            <a:srgbClr val="C4560C"/>
          </a:solidFill>
          <a:ln w="12700">
            <a:solidFill>
              <a:srgbClr val="C4560C"/>
            </a:solidFill>
            <a:prstDash val="solid"/>
          </a:ln>
        </p:spPr>
        <p:txBody>
          <a:bodyPr/>
          <a:lstStyle/>
          <a:p>
            <a:endParaRPr lang="en-US"/>
          </a:p>
        </p:txBody>
      </p:sp>
      <p:sp>
        <p:nvSpPr>
          <p:cNvPr id="7" name="Text 5"/>
          <p:cNvSpPr txBox="1"/>
          <p:nvPr/>
        </p:nvSpPr>
        <p:spPr>
          <a:xfrm>
            <a:off x="841248" y="208190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2008754"/>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Java is described as “interpreted”. In what sense is that only half true on a modern JVM?</a:t>
            </a:r>
            <a:endParaRPr lang="en-US" sz="1550" dirty="0"/>
          </a:p>
        </p:txBody>
      </p:sp>
      <p:sp>
        <p:nvSpPr>
          <p:cNvPr id="9" name="Shape 7"/>
          <p:cNvSpPr/>
          <p:nvPr/>
        </p:nvSpPr>
        <p:spPr>
          <a:xfrm>
            <a:off x="566928" y="2978018"/>
            <a:ext cx="11057839" cy="914400"/>
          </a:xfrm>
          <a:prstGeom prst="roundRect">
            <a:avLst>
              <a:gd name="adj" fmla="val 9000"/>
            </a:avLst>
          </a:prstGeom>
          <a:solidFill>
            <a:srgbClr val="FFFFFF"/>
          </a:solidFill>
          <a:ln w="12700">
            <a:solidFill>
              <a:srgbClr val="D3DEE7"/>
            </a:solidFill>
            <a:prstDash val="solid"/>
          </a:ln>
        </p:spPr>
        <p:txBody>
          <a:bodyPr/>
          <a:lstStyle/>
          <a:p>
            <a:endParaRPr lang="en-US"/>
          </a:p>
        </p:txBody>
      </p:sp>
      <p:sp>
        <p:nvSpPr>
          <p:cNvPr id="10" name="Shape 8"/>
          <p:cNvSpPr/>
          <p:nvPr/>
        </p:nvSpPr>
        <p:spPr>
          <a:xfrm>
            <a:off x="841248" y="3215762"/>
            <a:ext cx="402336" cy="402336"/>
          </a:xfrm>
          <a:prstGeom prst="ellipse">
            <a:avLst/>
          </a:prstGeom>
          <a:solidFill>
            <a:srgbClr val="C4560C"/>
          </a:solidFill>
          <a:ln w="12700">
            <a:solidFill>
              <a:srgbClr val="C4560C"/>
            </a:solidFill>
            <a:prstDash val="solid"/>
          </a:ln>
        </p:spPr>
        <p:txBody>
          <a:bodyPr/>
          <a:lstStyle/>
          <a:p>
            <a:endParaRPr lang="en-US"/>
          </a:p>
        </p:txBody>
      </p:sp>
      <p:sp>
        <p:nvSpPr>
          <p:cNvPr id="11" name="Text 9"/>
          <p:cNvSpPr txBox="1"/>
          <p:nvPr/>
        </p:nvSpPr>
        <p:spPr>
          <a:xfrm>
            <a:off x="841248" y="321576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142610"/>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Name two things Java deliberately removed from C++ in the name of simplicity.</a:t>
            </a:r>
            <a:endParaRPr lang="en-US" sz="1550" dirty="0"/>
          </a:p>
        </p:txBody>
      </p:sp>
      <p:sp>
        <p:nvSpPr>
          <p:cNvPr id="13" name="Shape 11"/>
          <p:cNvSpPr/>
          <p:nvPr/>
        </p:nvSpPr>
        <p:spPr>
          <a:xfrm>
            <a:off x="566928" y="4111874"/>
            <a:ext cx="11057839" cy="1871228"/>
          </a:xfrm>
          <a:prstGeom prst="roundRect">
            <a:avLst>
              <a:gd name="adj" fmla="val 4398"/>
            </a:avLst>
          </a:prstGeom>
          <a:solidFill>
            <a:srgbClr val="FFFFFF"/>
          </a:solidFill>
          <a:ln w="12700">
            <a:solidFill>
              <a:srgbClr val="D3DEE7"/>
            </a:solidFill>
            <a:prstDash val="solid"/>
          </a:ln>
        </p:spPr>
        <p:txBody>
          <a:bodyPr/>
          <a:lstStyle/>
          <a:p>
            <a:endParaRPr lang="en-US"/>
          </a:p>
        </p:txBody>
      </p:sp>
      <p:sp>
        <p:nvSpPr>
          <p:cNvPr id="14" name="Shape 12"/>
          <p:cNvSpPr/>
          <p:nvPr/>
        </p:nvSpPr>
        <p:spPr>
          <a:xfrm>
            <a:off x="841248" y="4349618"/>
            <a:ext cx="402336" cy="402336"/>
          </a:xfrm>
          <a:prstGeom prst="ellipse">
            <a:avLst/>
          </a:prstGeom>
          <a:solidFill>
            <a:srgbClr val="C4560C"/>
          </a:solidFill>
          <a:ln w="12700">
            <a:solidFill>
              <a:srgbClr val="C4560C"/>
            </a:solidFill>
            <a:prstDash val="solid"/>
          </a:ln>
        </p:spPr>
        <p:txBody>
          <a:bodyPr/>
          <a:lstStyle/>
          <a:p>
            <a:endParaRPr lang="en-US"/>
          </a:p>
        </p:txBody>
      </p:sp>
      <p:sp>
        <p:nvSpPr>
          <p:cNvPr id="15" name="Text 13"/>
          <p:cNvSpPr txBox="1"/>
          <p:nvPr/>
        </p:nvSpPr>
        <p:spPr>
          <a:xfrm>
            <a:off x="841248" y="4349618"/>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6" name="Text 14"/>
          <p:cNvSpPr txBox="1"/>
          <p:nvPr/>
        </p:nvSpPr>
        <p:spPr>
          <a:xfrm>
            <a:off x="1435608" y="4276466"/>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What kind of error is this — syntax, runtime, or logic? And what tells you so?</a:t>
            </a:r>
            <a:endParaRPr lang="en-US" sz="1550" dirty="0"/>
          </a:p>
        </p:txBody>
      </p:sp>
      <p:sp>
        <p:nvSpPr>
          <p:cNvPr id="17" name="Shape 15"/>
          <p:cNvSpPr/>
          <p:nvPr/>
        </p:nvSpPr>
        <p:spPr>
          <a:xfrm>
            <a:off x="1435608" y="4751954"/>
            <a:ext cx="6949440" cy="755660"/>
          </a:xfrm>
          <a:prstGeom prst="roundRect">
            <a:avLst>
              <a:gd name="adj" fmla="val 8470"/>
            </a:avLst>
          </a:prstGeom>
          <a:solidFill>
            <a:srgbClr val="EDF2F7"/>
          </a:solidFill>
          <a:ln w="12700">
            <a:solidFill>
              <a:srgbClr val="CFDBE5"/>
            </a:solidFill>
            <a:prstDash val="solid"/>
          </a:ln>
        </p:spPr>
        <p:txBody>
          <a:bodyPr/>
          <a:lstStyle/>
          <a:p>
            <a:endParaRPr lang="en-US"/>
          </a:p>
        </p:txBody>
      </p:sp>
      <p:sp>
        <p:nvSpPr>
          <p:cNvPr id="18" name="Text 16"/>
          <p:cNvSpPr txBox="1"/>
          <p:nvPr/>
        </p:nvSpPr>
        <p:spPr>
          <a:xfrm>
            <a:off x="1600200" y="4889114"/>
            <a:ext cx="6620256" cy="554492"/>
          </a:xfrm>
          <a:prstGeom prst="rect">
            <a:avLst/>
          </a:prstGeom>
          <a:noFill/>
          <a:ln/>
        </p:spPr>
        <p:txBody>
          <a:bodyPr wrap="square" lIns="0" tIns="0" rIns="0" bIns="0" rtlCol="0" anchor="t"/>
          <a:lstStyle/>
          <a:p>
            <a:pPr marL="0" indent="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scores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new</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int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6B3FA0"/>
                </a:solidFill>
                <a:latin typeface="Courier New" pitchFamily="34" charset="0"/>
                <a:ea typeface="Courier New" pitchFamily="34" charset="-122"/>
                <a:cs typeface="Courier New" pitchFamily="34" charset="-120"/>
              </a:rPr>
              <a:t>3</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out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println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scores</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6B3FA0"/>
                </a:solidFill>
                <a:latin typeface="Courier New" pitchFamily="34" charset="0"/>
                <a:ea typeface="Courier New" pitchFamily="34" charset="-122"/>
                <a:cs typeface="Courier New" pitchFamily="34" charset="-120"/>
              </a:rPr>
              <a:t>3</a:t>
            </a: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F2F7"/>
        </a:solidFill>
        <a:effectLst/>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marL="0" indent="0">
              <a:buNone/>
            </a:pPr>
            <a:r>
              <a:rPr lang="en-US" sz="1300" b="1" kern="0" spc="240" dirty="0">
                <a:solidFill>
                  <a:srgbClr val="9A430A"/>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marL="0" indent="0">
              <a:lnSpc>
                <a:spcPct val="105000"/>
              </a:lnSpc>
              <a:buNone/>
            </a:pPr>
            <a:r>
              <a:rPr lang="en-US" sz="4400" b="1" dirty="0">
                <a:solidFill>
                  <a:srgbClr val="0F2942"/>
                </a:solidFill>
                <a:latin typeface="Cambria" pitchFamily="34" charset="0"/>
                <a:ea typeface="Cambria" pitchFamily="34" charset="-122"/>
                <a:cs typeface="Cambria" pitchFamily="34" charset="-120"/>
              </a:rPr>
              <a:t>Your First</a:t>
            </a:r>
            <a:endParaRPr lang="en-US" sz="4400" dirty="0"/>
          </a:p>
          <a:p>
            <a:pPr marL="0" indent="0">
              <a:lnSpc>
                <a:spcPct val="105000"/>
              </a:lnSpc>
              <a:buNone/>
            </a:pPr>
            <a:r>
              <a:rPr lang="en-US" sz="4400" b="1" dirty="0">
                <a:solidFill>
                  <a:srgbClr val="0F2942"/>
                </a:solidFill>
                <a:latin typeface="Cambria" pitchFamily="34" charset="0"/>
                <a:ea typeface="Cambria" pitchFamily="34" charset="-122"/>
                <a:cs typeface="Cambria" pitchFamily="34" charset="-120"/>
              </a:rPr>
              <a:t>Java Program</a:t>
            </a:r>
            <a:endParaRPr lang="en-US" sz="4400" dirty="0"/>
          </a:p>
        </p:txBody>
      </p:sp>
      <p:sp>
        <p:nvSpPr>
          <p:cNvPr id="4" name="Text 2"/>
          <p:cNvSpPr txBox="1"/>
          <p:nvPr/>
        </p:nvSpPr>
        <p:spPr>
          <a:xfrm>
            <a:off x="566928" y="4526280"/>
            <a:ext cx="8046720" cy="365760"/>
          </a:xfrm>
          <a:prstGeom prst="rect">
            <a:avLst/>
          </a:prstGeom>
          <a:noFill/>
          <a:ln/>
        </p:spPr>
        <p:txBody>
          <a:bodyPr wrap="square" lIns="0" tIns="0" rIns="0" bIns="0" rtlCol="0" anchor="ctr"/>
          <a:lstStyle/>
          <a:p>
            <a:pPr marL="0" indent="0">
              <a:buNone/>
            </a:pPr>
            <a:r>
              <a:rPr lang="en-US" sz="1500" dirty="0">
                <a:solidFill>
                  <a:srgbClr val="3A536B"/>
                </a:solidFill>
                <a:latin typeface="Calibri" pitchFamily="34" charset="0"/>
                <a:ea typeface="Calibri" pitchFamily="34" charset="-122"/>
                <a:cs typeface="Calibri" pitchFamily="34" charset="-120"/>
              </a:rPr>
              <a:t>Six lines of code, and every one of them has something to teach.</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marL="0" indent="0" algn="r">
              <a:buNone/>
            </a:pPr>
            <a:r>
              <a:rPr lang="en-US" sz="13000" b="1" dirty="0">
                <a:solidFill>
                  <a:srgbClr val="CFDCE8"/>
                </a:solidFill>
                <a:latin typeface="Cambria" pitchFamily="34" charset="0"/>
                <a:ea typeface="Cambria" pitchFamily="34" charset="-122"/>
                <a:cs typeface="Cambria" pitchFamily="34" charset="-120"/>
              </a:rPr>
              <a:t>02</a:t>
            </a:r>
            <a:endParaRPr lang="en-US" sz="13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LISTING 1.1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Welcome.java</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Type this yourself. Do not paste it — the muscle memory matters more than you think.</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33</a:t>
            </a:r>
            <a:endParaRPr lang="en-US" sz="900" dirty="0"/>
          </a:p>
        </p:txBody>
      </p:sp>
      <p:sp>
        <p:nvSpPr>
          <p:cNvPr id="7" name="Shape 5"/>
          <p:cNvSpPr/>
          <p:nvPr/>
        </p:nvSpPr>
        <p:spPr>
          <a:xfrm>
            <a:off x="566928" y="1536192"/>
            <a:ext cx="6766560" cy="2220163"/>
          </a:xfrm>
          <a:prstGeom prst="roundRect">
            <a:avLst>
              <a:gd name="adj" fmla="val 2883"/>
            </a:avLst>
          </a:prstGeom>
          <a:solidFill>
            <a:srgbClr val="EDF2F7"/>
          </a:solidFill>
          <a:ln w="12700">
            <a:solidFill>
              <a:srgbClr val="CFDBE5"/>
            </a:solidFill>
            <a:prstDash val="solid"/>
          </a:ln>
        </p:spPr>
        <p:txBody>
          <a:bodyPr/>
          <a:lstStyle/>
          <a:p>
            <a:endParaRPr lang="en-US"/>
          </a:p>
        </p:txBody>
      </p:sp>
      <p:sp>
        <p:nvSpPr>
          <p:cNvPr id="8" name="Text 6"/>
          <p:cNvSpPr txBox="1"/>
          <p:nvPr/>
        </p:nvSpPr>
        <p:spPr>
          <a:xfrm>
            <a:off x="713232" y="1581912"/>
            <a:ext cx="6473952" cy="182880"/>
          </a:xfrm>
          <a:prstGeom prst="rect">
            <a:avLst/>
          </a:prstGeom>
          <a:noFill/>
          <a:ln/>
        </p:spPr>
        <p:txBody>
          <a:bodyPr wrap="square" lIns="0" tIns="0" rIns="0" bIns="0" rtlCol="0" anchor="ctr"/>
          <a:lstStyle/>
          <a:p>
            <a:pPr marL="0" indent="0">
              <a:buNone/>
            </a:pPr>
            <a:r>
              <a:rPr lang="en-US" sz="950" b="1" kern="0" spc="100" dirty="0">
                <a:solidFill>
                  <a:srgbClr val="3A536B"/>
                </a:solidFill>
                <a:latin typeface="Calibri" pitchFamily="34" charset="0"/>
                <a:ea typeface="Calibri" pitchFamily="34" charset="-122"/>
                <a:cs typeface="Calibri" pitchFamily="34" charset="-120"/>
              </a:rPr>
              <a:t>Welcome.java</a:t>
            </a:r>
            <a:endParaRPr lang="en-US" sz="950" dirty="0"/>
          </a:p>
        </p:txBody>
      </p:sp>
      <p:sp>
        <p:nvSpPr>
          <p:cNvPr id="9" name="Text 7"/>
          <p:cNvSpPr txBox="1"/>
          <p:nvPr/>
        </p:nvSpPr>
        <p:spPr>
          <a:xfrm>
            <a:off x="731520" y="1810512"/>
            <a:ext cx="6437376" cy="1890979"/>
          </a:xfrm>
          <a:prstGeom prst="rect">
            <a:avLst/>
          </a:prstGeom>
          <a:noFill/>
          <a:ln/>
        </p:spPr>
        <p:txBody>
          <a:bodyPr wrap="square" lIns="0" tIns="0" rIns="0" bIns="0" rtlCol="0" anchor="t"/>
          <a:lstStyle/>
          <a:p>
            <a:pPr marL="0" indent="0">
              <a:lnSpc>
                <a:spcPct val="112000"/>
              </a:lnSpc>
              <a:buNone/>
            </a:pPr>
            <a:r>
              <a:rPr lang="en-US" sz="1500" dirty="0">
                <a:solidFill>
                  <a:srgbClr val="415C6E"/>
                </a:solidFill>
                <a:latin typeface="Courier New" pitchFamily="34" charset="0"/>
                <a:ea typeface="Courier New" pitchFamily="34" charset="-122"/>
                <a:cs typeface="Courier New" pitchFamily="34" charset="-120"/>
              </a:rPr>
              <a:t>// This program prints Welcome to Java!</a:t>
            </a:r>
            <a:endParaRPr lang="en-US" sz="1500" dirty="0"/>
          </a:p>
          <a:p>
            <a:pPr marL="0" indent="0">
              <a:lnSpc>
                <a:spcPct val="112000"/>
              </a:lnSpc>
              <a:buNone/>
            </a:pPr>
            <a:r>
              <a:rPr lang="en-US" sz="1500" dirty="0">
                <a:solidFill>
                  <a:srgbClr val="9A3412"/>
                </a:solidFill>
                <a:latin typeface="Courier New" pitchFamily="34" charset="0"/>
                <a:ea typeface="Courier New" pitchFamily="34" charset="-122"/>
                <a:cs typeface="Courier New" pitchFamily="34" charset="-120"/>
              </a:rPr>
              <a:t>public</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9A3412"/>
                </a:solidFill>
                <a:latin typeface="Courier New" pitchFamily="34" charset="0"/>
                <a:ea typeface="Courier New" pitchFamily="34" charset="-122"/>
                <a:cs typeface="Courier New" pitchFamily="34" charset="-120"/>
              </a:rPr>
              <a:t>class</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14568A"/>
                </a:solidFill>
                <a:latin typeface="Courier New" pitchFamily="34" charset="0"/>
                <a:ea typeface="Courier New" pitchFamily="34" charset="-122"/>
                <a:cs typeface="Courier New" pitchFamily="34" charset="-120"/>
              </a:rPr>
              <a:t>Welcome</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33485C"/>
                </a:solidFill>
                <a:latin typeface="Courier New" pitchFamily="34" charset="0"/>
                <a:ea typeface="Courier New" pitchFamily="34" charset="-122"/>
                <a:cs typeface="Courier New" pitchFamily="34" charset="-120"/>
              </a:rPr>
              <a:t>{</a:t>
            </a:r>
            <a:endParaRPr lang="en-US" sz="1500" dirty="0"/>
          </a:p>
          <a:p>
            <a:pPr marL="0" indent="0">
              <a:lnSpc>
                <a:spcPct val="112000"/>
              </a:lnSpc>
              <a:buNone/>
            </a:pP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9A3412"/>
                </a:solidFill>
                <a:latin typeface="Courier New" pitchFamily="34" charset="0"/>
                <a:ea typeface="Courier New" pitchFamily="34" charset="-122"/>
                <a:cs typeface="Courier New" pitchFamily="34" charset="-120"/>
              </a:rPr>
              <a:t>public</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9A3412"/>
                </a:solidFill>
                <a:latin typeface="Courier New" pitchFamily="34" charset="0"/>
                <a:ea typeface="Courier New" pitchFamily="34" charset="-122"/>
                <a:cs typeface="Courier New" pitchFamily="34" charset="-120"/>
              </a:rPr>
              <a:t>static</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9A3412"/>
                </a:solidFill>
                <a:latin typeface="Courier New" pitchFamily="34" charset="0"/>
                <a:ea typeface="Courier New" pitchFamily="34" charset="-122"/>
                <a:cs typeface="Courier New" pitchFamily="34" charset="-120"/>
              </a:rPr>
              <a:t>void</a:t>
            </a:r>
            <a:r>
              <a:rPr lang="en-US" sz="1500" dirty="0">
                <a:solidFill>
                  <a:srgbClr val="14293C"/>
                </a:solidFill>
                <a:latin typeface="Courier New" pitchFamily="34" charset="0"/>
                <a:ea typeface="Courier New" pitchFamily="34" charset="-122"/>
                <a:cs typeface="Courier New" pitchFamily="34" charset="-120"/>
              </a:rPr>
              <a:t> main</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568A"/>
                </a:solidFill>
                <a:latin typeface="Courier New" pitchFamily="34" charset="0"/>
                <a:ea typeface="Courier New" pitchFamily="34" charset="-122"/>
                <a:cs typeface="Courier New" pitchFamily="34" charset="-120"/>
              </a:rPr>
              <a:t>String</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293C"/>
                </a:solidFill>
                <a:latin typeface="Courier New" pitchFamily="34" charset="0"/>
                <a:ea typeface="Courier New" pitchFamily="34" charset="-122"/>
                <a:cs typeface="Courier New" pitchFamily="34" charset="-120"/>
              </a:rPr>
              <a:t> args</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33485C"/>
                </a:solidFill>
                <a:latin typeface="Courier New" pitchFamily="34" charset="0"/>
                <a:ea typeface="Courier New" pitchFamily="34" charset="-122"/>
                <a:cs typeface="Courier New" pitchFamily="34" charset="-120"/>
              </a:rPr>
              <a:t>{</a:t>
            </a:r>
            <a:endParaRPr lang="en-US" sz="1500" dirty="0"/>
          </a:p>
          <a:p>
            <a:pPr marL="0" indent="0">
              <a:lnSpc>
                <a:spcPct val="112000"/>
              </a:lnSpc>
              <a:buNone/>
            </a:pP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14568A"/>
                </a:solidFill>
                <a:latin typeface="Courier New" pitchFamily="34" charset="0"/>
                <a:ea typeface="Courier New" pitchFamily="34" charset="-122"/>
                <a:cs typeface="Courier New" pitchFamily="34" charset="-120"/>
              </a:rPr>
              <a:t>System</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293C"/>
                </a:solidFill>
                <a:latin typeface="Courier New" pitchFamily="34" charset="0"/>
                <a:ea typeface="Courier New" pitchFamily="34" charset="-122"/>
                <a:cs typeface="Courier New" pitchFamily="34" charset="-120"/>
              </a:rPr>
              <a:t>out</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293C"/>
                </a:solidFill>
                <a:latin typeface="Courier New" pitchFamily="34" charset="0"/>
                <a:ea typeface="Courier New" pitchFamily="34" charset="-122"/>
                <a:cs typeface="Courier New" pitchFamily="34" charset="-120"/>
              </a:rPr>
              <a:t>println</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614A"/>
                </a:solidFill>
                <a:latin typeface="Courier New" pitchFamily="34" charset="0"/>
                <a:ea typeface="Courier New" pitchFamily="34" charset="-122"/>
                <a:cs typeface="Courier New" pitchFamily="34" charset="-120"/>
              </a:rPr>
              <a:t>"Welcome to Java!"</a:t>
            </a:r>
            <a:r>
              <a:rPr lang="en-US" sz="1500" dirty="0">
                <a:solidFill>
                  <a:srgbClr val="33485C"/>
                </a:solidFill>
                <a:latin typeface="Courier New" pitchFamily="34" charset="0"/>
                <a:ea typeface="Courier New" pitchFamily="34" charset="-122"/>
                <a:cs typeface="Courier New" pitchFamily="34" charset="-120"/>
              </a:rPr>
              <a:t>);</a:t>
            </a:r>
            <a:endParaRPr lang="en-US" sz="1500" dirty="0"/>
          </a:p>
          <a:p>
            <a:pPr marL="0" indent="0">
              <a:lnSpc>
                <a:spcPct val="112000"/>
              </a:lnSpc>
              <a:buNone/>
            </a:pP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33485C"/>
                </a:solidFill>
                <a:latin typeface="Courier New" pitchFamily="34" charset="0"/>
                <a:ea typeface="Courier New" pitchFamily="34" charset="-122"/>
                <a:cs typeface="Courier New" pitchFamily="34" charset="-120"/>
              </a:rPr>
              <a:t>}</a:t>
            </a:r>
            <a:endParaRPr lang="en-US" sz="1500" dirty="0"/>
          </a:p>
          <a:p>
            <a:pPr marL="0" indent="0">
              <a:lnSpc>
                <a:spcPct val="112000"/>
              </a:lnSpc>
              <a:buNone/>
            </a:pPr>
            <a:r>
              <a:rPr lang="en-US" sz="1500" dirty="0">
                <a:solidFill>
                  <a:srgbClr val="33485C"/>
                </a:solidFill>
                <a:latin typeface="Courier New" pitchFamily="34" charset="0"/>
                <a:ea typeface="Courier New" pitchFamily="34" charset="-122"/>
                <a:cs typeface="Courier New" pitchFamily="34" charset="-120"/>
              </a:rPr>
              <a:t>}</a:t>
            </a:r>
            <a:endParaRPr lang="en-US" sz="1500" dirty="0"/>
          </a:p>
        </p:txBody>
      </p:sp>
      <p:sp>
        <p:nvSpPr>
          <p:cNvPr id="10" name="Shape 8"/>
          <p:cNvSpPr/>
          <p:nvPr/>
        </p:nvSpPr>
        <p:spPr>
          <a:xfrm>
            <a:off x="566928" y="4030675"/>
            <a:ext cx="6766560" cy="738378"/>
          </a:xfrm>
          <a:prstGeom prst="roundRect">
            <a:avLst>
              <a:gd name="adj" fmla="val 8669"/>
            </a:avLst>
          </a:prstGeom>
          <a:solidFill>
            <a:srgbClr val="FFFFFF"/>
          </a:solidFill>
          <a:ln w="12700">
            <a:solidFill>
              <a:srgbClr val="4B6377"/>
            </a:solidFill>
            <a:prstDash val="solid"/>
          </a:ln>
        </p:spPr>
        <p:txBody>
          <a:bodyPr/>
          <a:lstStyle/>
          <a:p>
            <a:endParaRPr lang="en-US"/>
          </a:p>
        </p:txBody>
      </p:sp>
      <p:sp>
        <p:nvSpPr>
          <p:cNvPr id="11" name="Text 9"/>
          <p:cNvSpPr txBox="1"/>
          <p:nvPr/>
        </p:nvSpPr>
        <p:spPr>
          <a:xfrm>
            <a:off x="713232" y="4103827"/>
            <a:ext cx="6473952" cy="182880"/>
          </a:xfrm>
          <a:prstGeom prst="rect">
            <a:avLst/>
          </a:prstGeom>
          <a:noFill/>
          <a:ln/>
        </p:spPr>
        <p:txBody>
          <a:bodyPr wrap="square" lIns="0" tIns="0" rIns="0" bIns="0" rtlCol="0" anchor="ctr"/>
          <a:lstStyle/>
          <a:p>
            <a:pPr marL="0" indent="0">
              <a:buNone/>
            </a:pPr>
            <a:r>
              <a:rPr lang="en-US" sz="950" b="1" kern="0" spc="10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4304995"/>
            <a:ext cx="6473952" cy="372618"/>
          </a:xfrm>
          <a:prstGeom prst="rect">
            <a:avLst/>
          </a:prstGeom>
          <a:noFill/>
          <a:ln/>
        </p:spPr>
        <p:txBody>
          <a:bodyPr wrap="square" lIns="0" tIns="0" rIns="0" bIns="0" rtlCol="0" anchor="t"/>
          <a:lstStyle/>
          <a:p>
            <a:pPr marL="0" indent="0">
              <a:lnSpc>
                <a:spcPct val="110000"/>
              </a:lnSpc>
              <a:buNone/>
            </a:pPr>
            <a:r>
              <a:rPr lang="en-US" sz="1500" dirty="0">
                <a:solidFill>
                  <a:srgbClr val="0F2942"/>
                </a:solidFill>
                <a:latin typeface="Courier New" pitchFamily="34" charset="0"/>
                <a:ea typeface="Courier New" pitchFamily="34" charset="-122"/>
                <a:cs typeface="Courier New" pitchFamily="34" charset="-120"/>
              </a:rPr>
              <a:t>Welcome to Java!</a:t>
            </a:r>
            <a:endParaRPr lang="en-US" sz="1500" dirty="0"/>
          </a:p>
        </p:txBody>
      </p:sp>
      <p:sp>
        <p:nvSpPr>
          <p:cNvPr id="13" name="Shape 11"/>
          <p:cNvSpPr/>
          <p:nvPr/>
        </p:nvSpPr>
        <p:spPr>
          <a:xfrm>
            <a:off x="7607808" y="1536192"/>
            <a:ext cx="4016959" cy="1371600"/>
          </a:xfrm>
          <a:prstGeom prst="roundRect">
            <a:avLst>
              <a:gd name="adj" fmla="val 6000"/>
            </a:avLst>
          </a:prstGeom>
          <a:solidFill>
            <a:srgbClr val="FBEEE0"/>
          </a:solidFill>
          <a:ln w="12700">
            <a:solidFill>
              <a:srgbClr val="FBEEE0"/>
            </a:solidFill>
            <a:prstDash val="solid"/>
          </a:ln>
        </p:spPr>
        <p:txBody>
          <a:bodyPr/>
          <a:lstStyle/>
          <a:p>
            <a:endParaRPr lang="en-US"/>
          </a:p>
        </p:txBody>
      </p:sp>
      <p:sp>
        <p:nvSpPr>
          <p:cNvPr id="14" name="Shape 12"/>
          <p:cNvSpPr/>
          <p:nvPr/>
        </p:nvSpPr>
        <p:spPr>
          <a:xfrm>
            <a:off x="7808976" y="1728216"/>
            <a:ext cx="329184" cy="329184"/>
          </a:xfrm>
          <a:prstGeom prst="ellipse">
            <a:avLst/>
          </a:prstGeom>
          <a:solidFill>
            <a:srgbClr val="9A430A"/>
          </a:solidFill>
          <a:ln w="12700">
            <a:solidFill>
              <a:srgbClr val="9A430A"/>
            </a:solidFill>
            <a:prstDash val="solid"/>
          </a:ln>
        </p:spPr>
        <p:txBody>
          <a:bodyPr/>
          <a:lstStyle/>
          <a:p>
            <a:endParaRPr lang="en-US"/>
          </a:p>
        </p:txBody>
      </p:sp>
      <p:sp>
        <p:nvSpPr>
          <p:cNvPr id="15" name="Text 13"/>
          <p:cNvSpPr txBox="1"/>
          <p:nvPr/>
        </p:nvSpPr>
        <p:spPr>
          <a:xfrm>
            <a:off x="7808976" y="17282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8247888" y="1709928"/>
            <a:ext cx="3175711" cy="365760"/>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One rule you cannot break</a:t>
            </a:r>
            <a:endParaRPr lang="en-US" sz="1450" dirty="0"/>
          </a:p>
        </p:txBody>
      </p:sp>
      <p:sp>
        <p:nvSpPr>
          <p:cNvPr id="17" name="Text 15"/>
          <p:cNvSpPr txBox="1"/>
          <p:nvPr/>
        </p:nvSpPr>
        <p:spPr>
          <a:xfrm>
            <a:off x="7827264" y="2157984"/>
            <a:ext cx="3578047" cy="621792"/>
          </a:xfrm>
          <a:prstGeom prst="rect">
            <a:avLst/>
          </a:prstGeom>
          <a:noFill/>
          <a:ln/>
        </p:spPr>
        <p:txBody>
          <a:bodyPr wrap="square" lIns="0" tIns="0" rIns="0" bIns="0" rtlCol="0" anchor="t"/>
          <a:lstStyle/>
          <a:p>
            <a:pPr marL="0" indent="0">
              <a:lnSpc>
                <a:spcPct val="108000"/>
              </a:lnSpc>
              <a:buNone/>
            </a:pPr>
            <a:r>
              <a:rPr lang="en-US" sz="1200" dirty="0">
                <a:solidFill>
                  <a:srgbClr val="3A536B"/>
                </a:solidFill>
                <a:latin typeface="Calibri" pitchFamily="34" charset="0"/>
                <a:ea typeface="Calibri" pitchFamily="34" charset="-122"/>
                <a:cs typeface="Calibri" pitchFamily="34" charset="-120"/>
              </a:rPr>
              <a:t>A file containing a public class must be named after that class. Class Welcome lives in Welcome.java — same spelling, same capitalisation.</a:t>
            </a:r>
            <a:endParaRPr lang="en-US" sz="1200" dirty="0"/>
          </a:p>
        </p:txBody>
      </p:sp>
      <p:sp>
        <p:nvSpPr>
          <p:cNvPr id="18" name="Shape 16"/>
          <p:cNvSpPr/>
          <p:nvPr/>
        </p:nvSpPr>
        <p:spPr>
          <a:xfrm>
            <a:off x="7607808" y="3017520"/>
            <a:ext cx="4016959" cy="1371600"/>
          </a:xfrm>
          <a:prstGeom prst="roundRect">
            <a:avLst>
              <a:gd name="adj" fmla="val 6000"/>
            </a:avLst>
          </a:prstGeom>
          <a:solidFill>
            <a:srgbClr val="F1F5F9"/>
          </a:solidFill>
          <a:ln w="12700">
            <a:solidFill>
              <a:srgbClr val="F1F5F9"/>
            </a:solidFill>
            <a:prstDash val="solid"/>
          </a:ln>
        </p:spPr>
        <p:txBody>
          <a:bodyPr/>
          <a:lstStyle/>
          <a:p>
            <a:endParaRPr lang="en-US"/>
          </a:p>
        </p:txBody>
      </p:sp>
      <p:sp>
        <p:nvSpPr>
          <p:cNvPr id="19" name="Shape 17"/>
          <p:cNvSpPr/>
          <p:nvPr/>
        </p:nvSpPr>
        <p:spPr>
          <a:xfrm>
            <a:off x="7808976" y="3209544"/>
            <a:ext cx="329184" cy="329184"/>
          </a:xfrm>
          <a:prstGeom prst="ellipse">
            <a:avLst/>
          </a:prstGeom>
          <a:solidFill>
            <a:srgbClr val="0F2942"/>
          </a:solidFill>
          <a:ln w="12700">
            <a:solidFill>
              <a:srgbClr val="0F2942"/>
            </a:solidFill>
            <a:prstDash val="solid"/>
          </a:ln>
        </p:spPr>
        <p:txBody>
          <a:bodyPr/>
          <a:lstStyle/>
          <a:p>
            <a:endParaRPr lang="en-US"/>
          </a:p>
        </p:txBody>
      </p:sp>
      <p:sp>
        <p:nvSpPr>
          <p:cNvPr id="20" name="Text 18"/>
          <p:cNvSpPr txBox="1"/>
          <p:nvPr/>
        </p:nvSpPr>
        <p:spPr>
          <a:xfrm>
            <a:off x="7808976" y="32095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txBox="1"/>
          <p:nvPr/>
        </p:nvSpPr>
        <p:spPr>
          <a:xfrm>
            <a:off x="8247888" y="3191256"/>
            <a:ext cx="3175711" cy="365760"/>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Case matters everywhere</a:t>
            </a:r>
            <a:endParaRPr lang="en-US" sz="1450" dirty="0"/>
          </a:p>
        </p:txBody>
      </p:sp>
      <p:sp>
        <p:nvSpPr>
          <p:cNvPr id="22" name="Text 20"/>
          <p:cNvSpPr txBox="1"/>
          <p:nvPr/>
        </p:nvSpPr>
        <p:spPr>
          <a:xfrm>
            <a:off x="7827264" y="3639312"/>
            <a:ext cx="3578047" cy="621792"/>
          </a:xfrm>
          <a:prstGeom prst="rect">
            <a:avLst/>
          </a:prstGeom>
          <a:noFill/>
          <a:ln/>
        </p:spPr>
        <p:txBody>
          <a:bodyPr wrap="square" lIns="0" tIns="0" rIns="0" bIns="0" rtlCol="0" anchor="t"/>
          <a:lstStyle/>
          <a:p>
            <a:pPr marL="0" indent="0">
              <a:lnSpc>
                <a:spcPct val="108000"/>
              </a:lnSpc>
              <a:buNone/>
            </a:pPr>
            <a:r>
              <a:rPr lang="en-US" sz="1200" dirty="0">
                <a:solidFill>
                  <a:srgbClr val="3A536B"/>
                </a:solidFill>
                <a:latin typeface="Calibri" pitchFamily="34" charset="0"/>
                <a:ea typeface="Calibri" pitchFamily="34" charset="-122"/>
                <a:cs typeface="Calibri" pitchFamily="34" charset="-120"/>
              </a:rPr>
              <a:t>Main is not main. Println is not println. Java is case-sensitive from top to bottom.</a:t>
            </a:r>
            <a:endParaRPr lang="en-US" sz="1200" dirty="0"/>
          </a:p>
        </p:txBody>
      </p:sp>
      <p:sp>
        <p:nvSpPr>
          <p:cNvPr id="23" name="Shape 21"/>
          <p:cNvSpPr/>
          <p:nvPr/>
        </p:nvSpPr>
        <p:spPr>
          <a:xfrm>
            <a:off x="7607808" y="4498848"/>
            <a:ext cx="4016959" cy="1371600"/>
          </a:xfrm>
          <a:prstGeom prst="roundRect">
            <a:avLst>
              <a:gd name="adj" fmla="val 6000"/>
            </a:avLst>
          </a:prstGeom>
          <a:solidFill>
            <a:srgbClr val="F1F5F9"/>
          </a:solidFill>
          <a:ln w="12700">
            <a:solidFill>
              <a:srgbClr val="F1F5F9"/>
            </a:solidFill>
            <a:prstDash val="solid"/>
          </a:ln>
        </p:spPr>
        <p:txBody>
          <a:bodyPr/>
          <a:lstStyle/>
          <a:p>
            <a:endParaRPr lang="en-US"/>
          </a:p>
        </p:txBody>
      </p:sp>
      <p:sp>
        <p:nvSpPr>
          <p:cNvPr id="24" name="Shape 22"/>
          <p:cNvSpPr/>
          <p:nvPr/>
        </p:nvSpPr>
        <p:spPr>
          <a:xfrm>
            <a:off x="7808976" y="4690872"/>
            <a:ext cx="329184" cy="329184"/>
          </a:xfrm>
          <a:prstGeom prst="ellipse">
            <a:avLst/>
          </a:prstGeom>
          <a:solidFill>
            <a:srgbClr val="0F2942"/>
          </a:solidFill>
          <a:ln w="12700">
            <a:solidFill>
              <a:srgbClr val="0F2942"/>
            </a:solidFill>
            <a:prstDash val="solid"/>
          </a:ln>
        </p:spPr>
        <p:txBody>
          <a:bodyPr/>
          <a:lstStyle/>
          <a:p>
            <a:endParaRPr lang="en-US"/>
          </a:p>
        </p:txBody>
      </p:sp>
      <p:sp>
        <p:nvSpPr>
          <p:cNvPr id="25" name="Text 23"/>
          <p:cNvSpPr txBox="1"/>
          <p:nvPr/>
        </p:nvSpPr>
        <p:spPr>
          <a:xfrm>
            <a:off x="7808976" y="46908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txBox="1"/>
          <p:nvPr/>
        </p:nvSpPr>
        <p:spPr>
          <a:xfrm>
            <a:off x="8247888" y="4672584"/>
            <a:ext cx="3175711" cy="365760"/>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Where execution begins</a:t>
            </a:r>
            <a:endParaRPr lang="en-US" sz="1450" dirty="0"/>
          </a:p>
        </p:txBody>
      </p:sp>
      <p:sp>
        <p:nvSpPr>
          <p:cNvPr id="27" name="Text 25"/>
          <p:cNvSpPr txBox="1"/>
          <p:nvPr/>
        </p:nvSpPr>
        <p:spPr>
          <a:xfrm>
            <a:off x="7827264" y="5120640"/>
            <a:ext cx="3578047" cy="621792"/>
          </a:xfrm>
          <a:prstGeom prst="rect">
            <a:avLst/>
          </a:prstGeom>
          <a:noFill/>
          <a:ln/>
        </p:spPr>
        <p:txBody>
          <a:bodyPr wrap="square" lIns="0" tIns="0" rIns="0" bIns="0" rtlCol="0" anchor="t"/>
          <a:lstStyle/>
          <a:p>
            <a:pPr marL="0" indent="0">
              <a:lnSpc>
                <a:spcPct val="108000"/>
              </a:lnSpc>
              <a:buNone/>
            </a:pPr>
            <a:r>
              <a:rPr lang="en-US" sz="1200" dirty="0">
                <a:solidFill>
                  <a:srgbClr val="3A536B"/>
                </a:solidFill>
                <a:latin typeface="Calibri" pitchFamily="34" charset="0"/>
                <a:ea typeface="Calibri" pitchFamily="34" charset="-122"/>
                <a:cs typeface="Calibri" pitchFamily="34" charset="-120"/>
              </a:rPr>
              <a:t>Running the class means running its main method. Nothing else happens on its own.</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ANATOMY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Seven Things in Six Lines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66928" y="1261872"/>
            <a:ext cx="6492240" cy="2073859"/>
          </a:xfrm>
          <a:prstGeom prst="roundRect">
            <a:avLst>
              <a:gd name="adj" fmla="val 3086"/>
            </a:avLst>
          </a:prstGeom>
          <a:solidFill>
            <a:srgbClr val="EDF2F7"/>
          </a:solidFill>
          <a:ln w="12700">
            <a:solidFill>
              <a:srgbClr val="CFDBE5"/>
            </a:solidFill>
            <a:prstDash val="solid"/>
          </a:ln>
        </p:spPr>
        <p:txBody>
          <a:bodyPr/>
          <a:lstStyle/>
          <a:p>
            <a:endParaRPr lang="en-US"/>
          </a:p>
        </p:txBody>
      </p:sp>
      <p:sp>
        <p:nvSpPr>
          <p:cNvPr id="7" name="Text 5"/>
          <p:cNvSpPr txBox="1"/>
          <p:nvPr/>
        </p:nvSpPr>
        <p:spPr>
          <a:xfrm>
            <a:off x="731520" y="1399032"/>
            <a:ext cx="6163056" cy="1872691"/>
          </a:xfrm>
          <a:prstGeom prst="rect">
            <a:avLst/>
          </a:prstGeom>
          <a:noFill/>
          <a:ln/>
        </p:spPr>
        <p:txBody>
          <a:bodyPr wrap="square" lIns="0" tIns="0" rIns="0" bIns="0" rtlCol="0" anchor="t"/>
          <a:lstStyle/>
          <a:p>
            <a:pPr marL="0" indent="0">
              <a:lnSpc>
                <a:spcPct val="112000"/>
              </a:lnSpc>
              <a:buNone/>
            </a:pPr>
            <a:r>
              <a:rPr lang="en-US" sz="1500" dirty="0">
                <a:solidFill>
                  <a:srgbClr val="415C6E"/>
                </a:solidFill>
                <a:latin typeface="Courier New" pitchFamily="34" charset="0"/>
                <a:ea typeface="Courier New" pitchFamily="34" charset="-122"/>
                <a:cs typeface="Courier New" pitchFamily="34" charset="-120"/>
              </a:rPr>
              <a:t>// This program prints Welcome to Java!</a:t>
            </a:r>
            <a:endParaRPr lang="en-US" sz="1500" dirty="0"/>
          </a:p>
          <a:p>
            <a:pPr marL="0" indent="0">
              <a:lnSpc>
                <a:spcPct val="112000"/>
              </a:lnSpc>
              <a:buNone/>
            </a:pPr>
            <a:r>
              <a:rPr lang="en-US" sz="1500" dirty="0">
                <a:solidFill>
                  <a:srgbClr val="9A3412"/>
                </a:solidFill>
                <a:latin typeface="Courier New" pitchFamily="34" charset="0"/>
                <a:ea typeface="Courier New" pitchFamily="34" charset="-122"/>
                <a:cs typeface="Courier New" pitchFamily="34" charset="-120"/>
              </a:rPr>
              <a:t>public</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9A3412"/>
                </a:solidFill>
                <a:latin typeface="Courier New" pitchFamily="34" charset="0"/>
                <a:ea typeface="Courier New" pitchFamily="34" charset="-122"/>
                <a:cs typeface="Courier New" pitchFamily="34" charset="-120"/>
              </a:rPr>
              <a:t>class</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14568A"/>
                </a:solidFill>
                <a:latin typeface="Courier New" pitchFamily="34" charset="0"/>
                <a:ea typeface="Courier New" pitchFamily="34" charset="-122"/>
                <a:cs typeface="Courier New" pitchFamily="34" charset="-120"/>
              </a:rPr>
              <a:t>Welcome</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33485C"/>
                </a:solidFill>
                <a:latin typeface="Courier New" pitchFamily="34" charset="0"/>
                <a:ea typeface="Courier New" pitchFamily="34" charset="-122"/>
                <a:cs typeface="Courier New" pitchFamily="34" charset="-120"/>
              </a:rPr>
              <a:t>{</a:t>
            </a:r>
            <a:endParaRPr lang="en-US" sz="1500" dirty="0"/>
          </a:p>
          <a:p>
            <a:pPr marL="0" indent="0">
              <a:lnSpc>
                <a:spcPct val="112000"/>
              </a:lnSpc>
              <a:buNone/>
            </a:pP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9A3412"/>
                </a:solidFill>
                <a:latin typeface="Courier New" pitchFamily="34" charset="0"/>
                <a:ea typeface="Courier New" pitchFamily="34" charset="-122"/>
                <a:cs typeface="Courier New" pitchFamily="34" charset="-120"/>
              </a:rPr>
              <a:t>public</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9A3412"/>
                </a:solidFill>
                <a:latin typeface="Courier New" pitchFamily="34" charset="0"/>
                <a:ea typeface="Courier New" pitchFamily="34" charset="-122"/>
                <a:cs typeface="Courier New" pitchFamily="34" charset="-120"/>
              </a:rPr>
              <a:t>static</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9A3412"/>
                </a:solidFill>
                <a:latin typeface="Courier New" pitchFamily="34" charset="0"/>
                <a:ea typeface="Courier New" pitchFamily="34" charset="-122"/>
                <a:cs typeface="Courier New" pitchFamily="34" charset="-120"/>
              </a:rPr>
              <a:t>void</a:t>
            </a:r>
            <a:r>
              <a:rPr lang="en-US" sz="1500" dirty="0">
                <a:solidFill>
                  <a:srgbClr val="14293C"/>
                </a:solidFill>
                <a:latin typeface="Courier New" pitchFamily="34" charset="0"/>
                <a:ea typeface="Courier New" pitchFamily="34" charset="-122"/>
                <a:cs typeface="Courier New" pitchFamily="34" charset="-120"/>
              </a:rPr>
              <a:t> main</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568A"/>
                </a:solidFill>
                <a:latin typeface="Courier New" pitchFamily="34" charset="0"/>
                <a:ea typeface="Courier New" pitchFamily="34" charset="-122"/>
                <a:cs typeface="Courier New" pitchFamily="34" charset="-120"/>
              </a:rPr>
              <a:t>String</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293C"/>
                </a:solidFill>
                <a:latin typeface="Courier New" pitchFamily="34" charset="0"/>
                <a:ea typeface="Courier New" pitchFamily="34" charset="-122"/>
                <a:cs typeface="Courier New" pitchFamily="34" charset="-120"/>
              </a:rPr>
              <a:t> args</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33485C"/>
                </a:solidFill>
                <a:latin typeface="Courier New" pitchFamily="34" charset="0"/>
                <a:ea typeface="Courier New" pitchFamily="34" charset="-122"/>
                <a:cs typeface="Courier New" pitchFamily="34" charset="-120"/>
              </a:rPr>
              <a:t>{</a:t>
            </a:r>
            <a:endParaRPr lang="en-US" sz="1500" dirty="0"/>
          </a:p>
          <a:p>
            <a:pPr marL="0" indent="0">
              <a:lnSpc>
                <a:spcPct val="112000"/>
              </a:lnSpc>
              <a:buNone/>
            </a:pP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14568A"/>
                </a:solidFill>
                <a:latin typeface="Courier New" pitchFamily="34" charset="0"/>
                <a:ea typeface="Courier New" pitchFamily="34" charset="-122"/>
                <a:cs typeface="Courier New" pitchFamily="34" charset="-120"/>
              </a:rPr>
              <a:t>System</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293C"/>
                </a:solidFill>
                <a:latin typeface="Courier New" pitchFamily="34" charset="0"/>
                <a:ea typeface="Courier New" pitchFamily="34" charset="-122"/>
                <a:cs typeface="Courier New" pitchFamily="34" charset="-120"/>
              </a:rPr>
              <a:t>out</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293C"/>
                </a:solidFill>
                <a:latin typeface="Courier New" pitchFamily="34" charset="0"/>
                <a:ea typeface="Courier New" pitchFamily="34" charset="-122"/>
                <a:cs typeface="Courier New" pitchFamily="34" charset="-120"/>
              </a:rPr>
              <a:t>println</a:t>
            </a:r>
            <a:r>
              <a:rPr lang="en-US" sz="1500" dirty="0">
                <a:solidFill>
                  <a:srgbClr val="33485C"/>
                </a:solidFill>
                <a:latin typeface="Courier New" pitchFamily="34" charset="0"/>
                <a:ea typeface="Courier New" pitchFamily="34" charset="-122"/>
                <a:cs typeface="Courier New" pitchFamily="34" charset="-120"/>
              </a:rPr>
              <a:t>(</a:t>
            </a:r>
            <a:r>
              <a:rPr lang="en-US" sz="1500" dirty="0">
                <a:solidFill>
                  <a:srgbClr val="14614A"/>
                </a:solidFill>
                <a:latin typeface="Courier New" pitchFamily="34" charset="0"/>
                <a:ea typeface="Courier New" pitchFamily="34" charset="-122"/>
                <a:cs typeface="Courier New" pitchFamily="34" charset="-120"/>
              </a:rPr>
              <a:t>"Welcome to Java!"</a:t>
            </a:r>
            <a:r>
              <a:rPr lang="en-US" sz="1500" dirty="0">
                <a:solidFill>
                  <a:srgbClr val="33485C"/>
                </a:solidFill>
                <a:latin typeface="Courier New" pitchFamily="34" charset="0"/>
                <a:ea typeface="Courier New" pitchFamily="34" charset="-122"/>
                <a:cs typeface="Courier New" pitchFamily="34" charset="-120"/>
              </a:rPr>
              <a:t>);</a:t>
            </a:r>
            <a:endParaRPr lang="en-US" sz="1500" dirty="0"/>
          </a:p>
          <a:p>
            <a:pPr marL="0" indent="0">
              <a:lnSpc>
                <a:spcPct val="112000"/>
              </a:lnSpc>
              <a:buNone/>
            </a:pPr>
            <a:r>
              <a:rPr lang="en-US" sz="1500" dirty="0">
                <a:solidFill>
                  <a:srgbClr val="14293C"/>
                </a:solidFill>
                <a:latin typeface="Courier New" pitchFamily="34" charset="0"/>
                <a:ea typeface="Courier New" pitchFamily="34" charset="-122"/>
                <a:cs typeface="Courier New" pitchFamily="34" charset="-120"/>
              </a:rPr>
              <a:t>    </a:t>
            </a:r>
            <a:r>
              <a:rPr lang="en-US" sz="1500" dirty="0">
                <a:solidFill>
                  <a:srgbClr val="33485C"/>
                </a:solidFill>
                <a:latin typeface="Courier New" pitchFamily="34" charset="0"/>
                <a:ea typeface="Courier New" pitchFamily="34" charset="-122"/>
                <a:cs typeface="Courier New" pitchFamily="34" charset="-120"/>
              </a:rPr>
              <a:t>}</a:t>
            </a:r>
            <a:endParaRPr lang="en-US" sz="1500" dirty="0"/>
          </a:p>
          <a:p>
            <a:pPr marL="0" indent="0">
              <a:lnSpc>
                <a:spcPct val="112000"/>
              </a:lnSpc>
              <a:buNone/>
            </a:pPr>
            <a:r>
              <a:rPr lang="en-US" sz="1500" dirty="0">
                <a:solidFill>
                  <a:srgbClr val="33485C"/>
                </a:solidFill>
                <a:latin typeface="Courier New" pitchFamily="34" charset="0"/>
                <a:ea typeface="Courier New" pitchFamily="34" charset="-122"/>
                <a:cs typeface="Courier New" pitchFamily="34" charset="-120"/>
              </a:rPr>
              <a:t>}</a:t>
            </a:r>
            <a:endParaRPr lang="en-US" sz="1500" dirty="0"/>
          </a:p>
        </p:txBody>
      </p:sp>
      <p:sp>
        <p:nvSpPr>
          <p:cNvPr id="8" name="Shape 6"/>
          <p:cNvSpPr/>
          <p:nvPr/>
        </p:nvSpPr>
        <p:spPr>
          <a:xfrm>
            <a:off x="566928" y="3591763"/>
            <a:ext cx="6492240" cy="738378"/>
          </a:xfrm>
          <a:prstGeom prst="roundRect">
            <a:avLst>
              <a:gd name="adj" fmla="val 8669"/>
            </a:avLst>
          </a:prstGeom>
          <a:solidFill>
            <a:srgbClr val="FFFFFF"/>
          </a:solidFill>
          <a:ln w="12700">
            <a:solidFill>
              <a:srgbClr val="4B6377"/>
            </a:solidFill>
            <a:prstDash val="solid"/>
          </a:ln>
        </p:spPr>
        <p:txBody>
          <a:bodyPr/>
          <a:lstStyle/>
          <a:p>
            <a:endParaRPr lang="en-US"/>
          </a:p>
        </p:txBody>
      </p:sp>
      <p:sp>
        <p:nvSpPr>
          <p:cNvPr id="9" name="Text 7"/>
          <p:cNvSpPr txBox="1"/>
          <p:nvPr/>
        </p:nvSpPr>
        <p:spPr>
          <a:xfrm>
            <a:off x="713232" y="3664915"/>
            <a:ext cx="6199632" cy="182880"/>
          </a:xfrm>
          <a:prstGeom prst="rect">
            <a:avLst/>
          </a:prstGeom>
          <a:noFill/>
          <a:ln/>
        </p:spPr>
        <p:txBody>
          <a:bodyPr wrap="square" lIns="0" tIns="0" rIns="0" bIns="0" rtlCol="0" anchor="ctr"/>
          <a:lstStyle/>
          <a:p>
            <a:pPr marL="0" indent="0">
              <a:buNone/>
            </a:pPr>
            <a:r>
              <a:rPr lang="en-US" sz="950" b="1" kern="0" spc="100" dirty="0">
                <a:solidFill>
                  <a:srgbClr val="3A536B"/>
                </a:solidFill>
                <a:latin typeface="Calibri" pitchFamily="34" charset="0"/>
                <a:ea typeface="Calibri" pitchFamily="34" charset="-122"/>
                <a:cs typeface="Calibri" pitchFamily="34" charset="-120"/>
              </a:rPr>
              <a:t>OUTPUT</a:t>
            </a:r>
            <a:endParaRPr lang="en-US" sz="950" dirty="0"/>
          </a:p>
        </p:txBody>
      </p:sp>
      <p:sp>
        <p:nvSpPr>
          <p:cNvPr id="10" name="Text 8"/>
          <p:cNvSpPr txBox="1"/>
          <p:nvPr/>
        </p:nvSpPr>
        <p:spPr>
          <a:xfrm>
            <a:off x="713232" y="3866083"/>
            <a:ext cx="6199632" cy="372618"/>
          </a:xfrm>
          <a:prstGeom prst="rect">
            <a:avLst/>
          </a:prstGeom>
          <a:noFill/>
          <a:ln/>
        </p:spPr>
        <p:txBody>
          <a:bodyPr wrap="square" lIns="0" tIns="0" rIns="0" bIns="0" rtlCol="0" anchor="t"/>
          <a:lstStyle/>
          <a:p>
            <a:pPr marL="0" indent="0">
              <a:lnSpc>
                <a:spcPct val="110000"/>
              </a:lnSpc>
              <a:buNone/>
            </a:pPr>
            <a:r>
              <a:rPr lang="en-US" sz="1500" dirty="0">
                <a:solidFill>
                  <a:srgbClr val="0F2942"/>
                </a:solidFill>
                <a:latin typeface="Courier New" pitchFamily="34" charset="0"/>
                <a:ea typeface="Courier New" pitchFamily="34" charset="-122"/>
                <a:cs typeface="Courier New" pitchFamily="34" charset="-120"/>
              </a:rPr>
              <a:t>Welcome to Java!</a:t>
            </a:r>
            <a:endParaRPr lang="en-US" sz="1500" dirty="0"/>
          </a:p>
        </p:txBody>
      </p:sp>
      <p:sp>
        <p:nvSpPr>
          <p:cNvPr id="11" name="Text 9"/>
          <p:cNvSpPr txBox="1"/>
          <p:nvPr/>
        </p:nvSpPr>
        <p:spPr>
          <a:xfrm>
            <a:off x="566928" y="4524451"/>
            <a:ext cx="6492240" cy="73152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Six lines, seven ideas. We will take them one at a time over the next three slides — and you will meet every one of them again in every program you write this semester.</a:t>
            </a:r>
            <a:endParaRPr lang="en-US" sz="1250" dirty="0"/>
          </a:p>
        </p:txBody>
      </p:sp>
      <p:sp>
        <p:nvSpPr>
          <p:cNvPr id="12" name="Shape 10"/>
          <p:cNvSpPr/>
          <p:nvPr/>
        </p:nvSpPr>
        <p:spPr>
          <a:xfrm>
            <a:off x="7379208" y="1261872"/>
            <a:ext cx="4245559" cy="566928"/>
          </a:xfrm>
          <a:prstGeom prst="roundRect">
            <a:avLst>
              <a:gd name="adj" fmla="val 14516"/>
            </a:avLst>
          </a:prstGeom>
          <a:solidFill>
            <a:srgbClr val="F1F5F9"/>
          </a:solidFill>
          <a:ln w="12700">
            <a:solidFill>
              <a:srgbClr val="F1F5F9"/>
            </a:solidFill>
            <a:prstDash val="solid"/>
          </a:ln>
        </p:spPr>
        <p:txBody>
          <a:bodyPr/>
          <a:lstStyle/>
          <a:p>
            <a:endParaRPr lang="en-US"/>
          </a:p>
        </p:txBody>
      </p:sp>
      <p:sp>
        <p:nvSpPr>
          <p:cNvPr id="13" name="Shape 11"/>
          <p:cNvSpPr/>
          <p:nvPr/>
        </p:nvSpPr>
        <p:spPr>
          <a:xfrm>
            <a:off x="7543800" y="1380744"/>
            <a:ext cx="329184" cy="329184"/>
          </a:xfrm>
          <a:prstGeom prst="ellipse">
            <a:avLst/>
          </a:prstGeom>
          <a:solidFill>
            <a:srgbClr val="C4560C"/>
          </a:solidFill>
          <a:ln w="12700">
            <a:solidFill>
              <a:srgbClr val="C4560C"/>
            </a:solidFill>
            <a:prstDash val="solid"/>
          </a:ln>
        </p:spPr>
        <p:txBody>
          <a:bodyPr/>
          <a:lstStyle/>
          <a:p>
            <a:endParaRPr lang="en-US"/>
          </a:p>
        </p:txBody>
      </p:sp>
      <p:sp>
        <p:nvSpPr>
          <p:cNvPr id="14" name="Text 12"/>
          <p:cNvSpPr txBox="1"/>
          <p:nvPr/>
        </p:nvSpPr>
        <p:spPr>
          <a:xfrm>
            <a:off x="7543800" y="13807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13"/>
          <p:cNvSpPr txBox="1"/>
          <p:nvPr/>
        </p:nvSpPr>
        <p:spPr>
          <a:xfrm>
            <a:off x="7982712" y="1261872"/>
            <a:ext cx="3468319" cy="566928"/>
          </a:xfrm>
          <a:prstGeom prst="rect">
            <a:avLst/>
          </a:prstGeom>
          <a:noFill/>
          <a:ln/>
        </p:spPr>
        <p:txBody>
          <a:bodyPr wrap="square" lIns="0" tIns="0" rIns="0" bIns="0" rtlCol="0" anchor="ctr"/>
          <a:lstStyle/>
          <a:p>
            <a:pPr marL="0" indent="0">
              <a:lnSpc>
                <a:spcPct val="105000"/>
              </a:lnSpc>
              <a:buNone/>
            </a:pPr>
            <a:r>
              <a:rPr lang="en-US" sz="1150" b="1" dirty="0">
                <a:solidFill>
                  <a:srgbClr val="0F2942"/>
                </a:solidFill>
                <a:latin typeface="Calibri" pitchFamily="34" charset="0"/>
                <a:ea typeface="Calibri" pitchFamily="34" charset="-122"/>
                <a:cs typeface="Calibri" pitchFamily="34" charset="-120"/>
              </a:rPr>
              <a:t>Class name  </a:t>
            </a:r>
            <a:r>
              <a:rPr lang="en-US" sz="1150" dirty="0">
                <a:solidFill>
                  <a:srgbClr val="3A536B"/>
                </a:solidFill>
                <a:latin typeface="Calibri" pitchFamily="34" charset="0"/>
                <a:ea typeface="Calibri" pitchFamily="34" charset="-122"/>
                <a:cs typeface="Calibri" pitchFamily="34" charset="-120"/>
              </a:rPr>
              <a:t>Welcome — every program needs at least one class.</a:t>
            </a:r>
            <a:endParaRPr lang="en-US" sz="1150" dirty="0"/>
          </a:p>
        </p:txBody>
      </p:sp>
      <p:sp>
        <p:nvSpPr>
          <p:cNvPr id="16" name="Shape 14"/>
          <p:cNvSpPr/>
          <p:nvPr/>
        </p:nvSpPr>
        <p:spPr>
          <a:xfrm>
            <a:off x="7379208" y="1883664"/>
            <a:ext cx="4245559" cy="566928"/>
          </a:xfrm>
          <a:prstGeom prst="roundRect">
            <a:avLst>
              <a:gd name="adj" fmla="val 14516"/>
            </a:avLst>
          </a:prstGeom>
          <a:solidFill>
            <a:srgbClr val="FFFFFF"/>
          </a:solidFill>
          <a:ln w="12700">
            <a:solidFill>
              <a:srgbClr val="D3DEE7"/>
            </a:solidFill>
            <a:prstDash val="solid"/>
          </a:ln>
        </p:spPr>
        <p:txBody>
          <a:bodyPr/>
          <a:lstStyle/>
          <a:p>
            <a:endParaRPr lang="en-US"/>
          </a:p>
        </p:txBody>
      </p:sp>
      <p:sp>
        <p:nvSpPr>
          <p:cNvPr id="17" name="Shape 15"/>
          <p:cNvSpPr/>
          <p:nvPr/>
        </p:nvSpPr>
        <p:spPr>
          <a:xfrm>
            <a:off x="7543800" y="2002536"/>
            <a:ext cx="329184" cy="329184"/>
          </a:xfrm>
          <a:prstGeom prst="ellipse">
            <a:avLst/>
          </a:prstGeom>
          <a:solidFill>
            <a:srgbClr val="C4560C"/>
          </a:solidFill>
          <a:ln w="12700">
            <a:solidFill>
              <a:srgbClr val="C4560C"/>
            </a:solidFill>
            <a:prstDash val="solid"/>
          </a:ln>
        </p:spPr>
        <p:txBody>
          <a:bodyPr/>
          <a:lstStyle/>
          <a:p>
            <a:endParaRPr lang="en-US"/>
          </a:p>
        </p:txBody>
      </p:sp>
      <p:sp>
        <p:nvSpPr>
          <p:cNvPr id="18" name="Text 16"/>
          <p:cNvSpPr txBox="1"/>
          <p:nvPr/>
        </p:nvSpPr>
        <p:spPr>
          <a:xfrm>
            <a:off x="7543800" y="200253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7"/>
          <p:cNvSpPr txBox="1"/>
          <p:nvPr/>
        </p:nvSpPr>
        <p:spPr>
          <a:xfrm>
            <a:off x="7982712" y="1883664"/>
            <a:ext cx="3468319" cy="566928"/>
          </a:xfrm>
          <a:prstGeom prst="rect">
            <a:avLst/>
          </a:prstGeom>
          <a:noFill/>
          <a:ln/>
        </p:spPr>
        <p:txBody>
          <a:bodyPr wrap="square" lIns="0" tIns="0" rIns="0" bIns="0" rtlCol="0" anchor="ctr"/>
          <a:lstStyle/>
          <a:p>
            <a:pPr marL="0" indent="0">
              <a:lnSpc>
                <a:spcPct val="105000"/>
              </a:lnSpc>
              <a:buNone/>
            </a:pPr>
            <a:r>
              <a:rPr lang="en-US" sz="1150" b="1" dirty="0">
                <a:solidFill>
                  <a:srgbClr val="0F2942"/>
                </a:solidFill>
                <a:latin typeface="Calibri" pitchFamily="34" charset="0"/>
                <a:ea typeface="Calibri" pitchFamily="34" charset="-122"/>
                <a:cs typeface="Calibri" pitchFamily="34" charset="-120"/>
              </a:rPr>
              <a:t>Main method  </a:t>
            </a:r>
            <a:r>
              <a:rPr lang="en-US" sz="1150" dirty="0">
                <a:solidFill>
                  <a:srgbClr val="3A536B"/>
                </a:solidFill>
                <a:latin typeface="Calibri" pitchFamily="34" charset="0"/>
                <a:ea typeface="Calibri" pitchFamily="34" charset="-122"/>
                <a:cs typeface="Calibri" pitchFamily="34" charset="-120"/>
              </a:rPr>
              <a:t>Where execution starts.</a:t>
            </a:r>
            <a:endParaRPr lang="en-US" sz="1150" dirty="0"/>
          </a:p>
        </p:txBody>
      </p:sp>
      <p:sp>
        <p:nvSpPr>
          <p:cNvPr id="20" name="Shape 18"/>
          <p:cNvSpPr/>
          <p:nvPr/>
        </p:nvSpPr>
        <p:spPr>
          <a:xfrm>
            <a:off x="7379208" y="2505456"/>
            <a:ext cx="4245559" cy="566928"/>
          </a:xfrm>
          <a:prstGeom prst="roundRect">
            <a:avLst>
              <a:gd name="adj" fmla="val 14516"/>
            </a:avLst>
          </a:prstGeom>
          <a:solidFill>
            <a:srgbClr val="F1F5F9"/>
          </a:solidFill>
          <a:ln w="12700">
            <a:solidFill>
              <a:srgbClr val="F1F5F9"/>
            </a:solidFill>
            <a:prstDash val="solid"/>
          </a:ln>
        </p:spPr>
        <p:txBody>
          <a:bodyPr/>
          <a:lstStyle/>
          <a:p>
            <a:endParaRPr lang="en-US"/>
          </a:p>
        </p:txBody>
      </p:sp>
      <p:sp>
        <p:nvSpPr>
          <p:cNvPr id="21" name="Shape 19"/>
          <p:cNvSpPr/>
          <p:nvPr/>
        </p:nvSpPr>
        <p:spPr>
          <a:xfrm>
            <a:off x="7543800" y="2624328"/>
            <a:ext cx="329184" cy="329184"/>
          </a:xfrm>
          <a:prstGeom prst="ellipse">
            <a:avLst/>
          </a:prstGeom>
          <a:solidFill>
            <a:srgbClr val="C4560C"/>
          </a:solidFill>
          <a:ln w="12700">
            <a:solidFill>
              <a:srgbClr val="C4560C"/>
            </a:solidFill>
            <a:prstDash val="solid"/>
          </a:ln>
        </p:spPr>
        <p:txBody>
          <a:bodyPr/>
          <a:lstStyle/>
          <a:p>
            <a:endParaRPr lang="en-US"/>
          </a:p>
        </p:txBody>
      </p:sp>
      <p:sp>
        <p:nvSpPr>
          <p:cNvPr id="22" name="Text 20"/>
          <p:cNvSpPr txBox="1"/>
          <p:nvPr/>
        </p:nvSpPr>
        <p:spPr>
          <a:xfrm>
            <a:off x="7543800" y="262432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21"/>
          <p:cNvSpPr txBox="1"/>
          <p:nvPr/>
        </p:nvSpPr>
        <p:spPr>
          <a:xfrm>
            <a:off x="7982712" y="2505456"/>
            <a:ext cx="3468319" cy="566928"/>
          </a:xfrm>
          <a:prstGeom prst="rect">
            <a:avLst/>
          </a:prstGeom>
          <a:noFill/>
          <a:ln/>
        </p:spPr>
        <p:txBody>
          <a:bodyPr wrap="square" lIns="0" tIns="0" rIns="0" bIns="0" rtlCol="0" anchor="ctr"/>
          <a:lstStyle/>
          <a:p>
            <a:pPr marL="0" indent="0">
              <a:lnSpc>
                <a:spcPct val="105000"/>
              </a:lnSpc>
              <a:buNone/>
            </a:pPr>
            <a:r>
              <a:rPr lang="en-US" sz="1150" b="1" dirty="0">
                <a:solidFill>
                  <a:srgbClr val="0F2942"/>
                </a:solidFill>
                <a:latin typeface="Calibri" pitchFamily="34" charset="0"/>
                <a:ea typeface="Calibri" pitchFamily="34" charset="-122"/>
                <a:cs typeface="Calibri" pitchFamily="34" charset="-120"/>
              </a:rPr>
              <a:t>Statement  </a:t>
            </a:r>
            <a:r>
              <a:rPr lang="en-US" sz="1150" dirty="0">
                <a:solidFill>
                  <a:srgbClr val="3A536B"/>
                </a:solidFill>
                <a:latin typeface="Calibri" pitchFamily="34" charset="0"/>
                <a:ea typeface="Calibri" pitchFamily="34" charset="-122"/>
                <a:cs typeface="Calibri" pitchFamily="34" charset="-120"/>
              </a:rPr>
              <a:t>One action; here, printing a line.</a:t>
            </a:r>
            <a:endParaRPr lang="en-US" sz="1150" dirty="0"/>
          </a:p>
        </p:txBody>
      </p:sp>
      <p:sp>
        <p:nvSpPr>
          <p:cNvPr id="24" name="Shape 22"/>
          <p:cNvSpPr/>
          <p:nvPr/>
        </p:nvSpPr>
        <p:spPr>
          <a:xfrm>
            <a:off x="7379208" y="3127248"/>
            <a:ext cx="4245559" cy="566928"/>
          </a:xfrm>
          <a:prstGeom prst="roundRect">
            <a:avLst>
              <a:gd name="adj" fmla="val 14516"/>
            </a:avLst>
          </a:prstGeom>
          <a:solidFill>
            <a:srgbClr val="FFFFFF"/>
          </a:solidFill>
          <a:ln w="12700">
            <a:solidFill>
              <a:srgbClr val="D3DEE7"/>
            </a:solidFill>
            <a:prstDash val="solid"/>
          </a:ln>
        </p:spPr>
        <p:txBody>
          <a:bodyPr/>
          <a:lstStyle/>
          <a:p>
            <a:endParaRPr lang="en-US"/>
          </a:p>
        </p:txBody>
      </p:sp>
      <p:sp>
        <p:nvSpPr>
          <p:cNvPr id="25" name="Shape 23"/>
          <p:cNvSpPr/>
          <p:nvPr/>
        </p:nvSpPr>
        <p:spPr>
          <a:xfrm>
            <a:off x="7543800" y="3246120"/>
            <a:ext cx="329184" cy="329184"/>
          </a:xfrm>
          <a:prstGeom prst="ellipse">
            <a:avLst/>
          </a:prstGeom>
          <a:solidFill>
            <a:srgbClr val="C4560C"/>
          </a:solidFill>
          <a:ln w="12700">
            <a:solidFill>
              <a:srgbClr val="C4560C"/>
            </a:solidFill>
            <a:prstDash val="solid"/>
          </a:ln>
        </p:spPr>
        <p:txBody>
          <a:bodyPr/>
          <a:lstStyle/>
          <a:p>
            <a:endParaRPr lang="en-US"/>
          </a:p>
        </p:txBody>
      </p:sp>
      <p:sp>
        <p:nvSpPr>
          <p:cNvPr id="26" name="Text 24"/>
          <p:cNvSpPr txBox="1"/>
          <p:nvPr/>
        </p:nvSpPr>
        <p:spPr>
          <a:xfrm>
            <a:off x="7543800" y="3246120"/>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txBox="1"/>
          <p:nvPr/>
        </p:nvSpPr>
        <p:spPr>
          <a:xfrm>
            <a:off x="7982712" y="3127248"/>
            <a:ext cx="3468319" cy="566928"/>
          </a:xfrm>
          <a:prstGeom prst="rect">
            <a:avLst/>
          </a:prstGeom>
          <a:noFill/>
          <a:ln/>
        </p:spPr>
        <p:txBody>
          <a:bodyPr wrap="square" lIns="0" tIns="0" rIns="0" bIns="0" rtlCol="0" anchor="ctr"/>
          <a:lstStyle/>
          <a:p>
            <a:pPr marL="0" indent="0">
              <a:lnSpc>
                <a:spcPct val="105000"/>
              </a:lnSpc>
              <a:buNone/>
            </a:pPr>
            <a:r>
              <a:rPr lang="en-US" sz="1150" b="1" dirty="0">
                <a:solidFill>
                  <a:srgbClr val="0F2942"/>
                </a:solidFill>
                <a:latin typeface="Calibri" pitchFamily="34" charset="0"/>
                <a:ea typeface="Calibri" pitchFamily="34" charset="-122"/>
                <a:cs typeface="Calibri" pitchFamily="34" charset="-120"/>
              </a:rPr>
              <a:t>Statement terminator  </a:t>
            </a:r>
            <a:r>
              <a:rPr lang="en-US" sz="1150" dirty="0">
                <a:solidFill>
                  <a:srgbClr val="3A536B"/>
                </a:solidFill>
                <a:latin typeface="Calibri" pitchFamily="34" charset="0"/>
                <a:ea typeface="Calibri" pitchFamily="34" charset="-122"/>
                <a:cs typeface="Calibri" pitchFamily="34" charset="-120"/>
              </a:rPr>
              <a:t>The semicolon ending every statement.</a:t>
            </a:r>
            <a:endParaRPr lang="en-US" sz="1150" dirty="0"/>
          </a:p>
        </p:txBody>
      </p:sp>
      <p:sp>
        <p:nvSpPr>
          <p:cNvPr id="28" name="Shape 26"/>
          <p:cNvSpPr/>
          <p:nvPr/>
        </p:nvSpPr>
        <p:spPr>
          <a:xfrm>
            <a:off x="7379208" y="3749040"/>
            <a:ext cx="4245559" cy="566928"/>
          </a:xfrm>
          <a:prstGeom prst="roundRect">
            <a:avLst>
              <a:gd name="adj" fmla="val 14516"/>
            </a:avLst>
          </a:prstGeom>
          <a:solidFill>
            <a:srgbClr val="F1F5F9"/>
          </a:solidFill>
          <a:ln w="12700">
            <a:solidFill>
              <a:srgbClr val="F1F5F9"/>
            </a:solidFill>
            <a:prstDash val="solid"/>
          </a:ln>
        </p:spPr>
        <p:txBody>
          <a:bodyPr/>
          <a:lstStyle/>
          <a:p>
            <a:endParaRPr lang="en-US"/>
          </a:p>
        </p:txBody>
      </p:sp>
      <p:sp>
        <p:nvSpPr>
          <p:cNvPr id="29" name="Shape 27"/>
          <p:cNvSpPr/>
          <p:nvPr/>
        </p:nvSpPr>
        <p:spPr>
          <a:xfrm>
            <a:off x="7543800" y="3867912"/>
            <a:ext cx="329184" cy="329184"/>
          </a:xfrm>
          <a:prstGeom prst="ellipse">
            <a:avLst/>
          </a:prstGeom>
          <a:solidFill>
            <a:srgbClr val="C4560C"/>
          </a:solidFill>
          <a:ln w="12700">
            <a:solidFill>
              <a:srgbClr val="C4560C"/>
            </a:solidFill>
            <a:prstDash val="solid"/>
          </a:ln>
        </p:spPr>
        <p:txBody>
          <a:bodyPr/>
          <a:lstStyle/>
          <a:p>
            <a:endParaRPr lang="en-US"/>
          </a:p>
        </p:txBody>
      </p:sp>
      <p:sp>
        <p:nvSpPr>
          <p:cNvPr id="30" name="Text 28"/>
          <p:cNvSpPr txBox="1"/>
          <p:nvPr/>
        </p:nvSpPr>
        <p:spPr>
          <a:xfrm>
            <a:off x="7543800" y="386791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7982712" y="3749040"/>
            <a:ext cx="3468319" cy="566928"/>
          </a:xfrm>
          <a:prstGeom prst="rect">
            <a:avLst/>
          </a:prstGeom>
          <a:noFill/>
          <a:ln/>
        </p:spPr>
        <p:txBody>
          <a:bodyPr wrap="square" lIns="0" tIns="0" rIns="0" bIns="0" rtlCol="0" anchor="ctr"/>
          <a:lstStyle/>
          <a:p>
            <a:pPr marL="0" indent="0">
              <a:lnSpc>
                <a:spcPct val="105000"/>
              </a:lnSpc>
              <a:buNone/>
            </a:pPr>
            <a:r>
              <a:rPr lang="en-US" sz="1150" b="1" dirty="0">
                <a:solidFill>
                  <a:srgbClr val="0F2942"/>
                </a:solidFill>
                <a:latin typeface="Calibri" pitchFamily="34" charset="0"/>
                <a:ea typeface="Calibri" pitchFamily="34" charset="-122"/>
                <a:cs typeface="Calibri" pitchFamily="34" charset="-120"/>
              </a:rPr>
              <a:t>Reserved words  </a:t>
            </a:r>
            <a:r>
              <a:rPr lang="en-US" sz="1150" dirty="0">
                <a:solidFill>
                  <a:srgbClr val="3A536B"/>
                </a:solidFill>
                <a:latin typeface="Calibri" pitchFamily="34" charset="0"/>
                <a:ea typeface="Calibri" pitchFamily="34" charset="-122"/>
                <a:cs typeface="Calibri" pitchFamily="34" charset="-120"/>
              </a:rPr>
              <a:t>public, class, static, void — meanings fixed by the language.</a:t>
            </a:r>
            <a:endParaRPr lang="en-US" sz="1150" dirty="0"/>
          </a:p>
        </p:txBody>
      </p:sp>
      <p:sp>
        <p:nvSpPr>
          <p:cNvPr id="32" name="Shape 30"/>
          <p:cNvSpPr/>
          <p:nvPr/>
        </p:nvSpPr>
        <p:spPr>
          <a:xfrm>
            <a:off x="7379208" y="4370832"/>
            <a:ext cx="4245559" cy="566928"/>
          </a:xfrm>
          <a:prstGeom prst="roundRect">
            <a:avLst>
              <a:gd name="adj" fmla="val 14516"/>
            </a:avLst>
          </a:prstGeom>
          <a:solidFill>
            <a:srgbClr val="FFFFFF"/>
          </a:solidFill>
          <a:ln w="12700">
            <a:solidFill>
              <a:srgbClr val="D3DEE7"/>
            </a:solidFill>
            <a:prstDash val="solid"/>
          </a:ln>
        </p:spPr>
        <p:txBody>
          <a:bodyPr/>
          <a:lstStyle/>
          <a:p>
            <a:endParaRPr lang="en-US"/>
          </a:p>
        </p:txBody>
      </p:sp>
      <p:sp>
        <p:nvSpPr>
          <p:cNvPr id="33" name="Shape 31"/>
          <p:cNvSpPr/>
          <p:nvPr/>
        </p:nvSpPr>
        <p:spPr>
          <a:xfrm>
            <a:off x="7543800" y="4489704"/>
            <a:ext cx="329184" cy="329184"/>
          </a:xfrm>
          <a:prstGeom prst="ellipse">
            <a:avLst/>
          </a:prstGeom>
          <a:solidFill>
            <a:srgbClr val="C4560C"/>
          </a:solidFill>
          <a:ln w="12700">
            <a:solidFill>
              <a:srgbClr val="C4560C"/>
            </a:solidFill>
            <a:prstDash val="solid"/>
          </a:ln>
        </p:spPr>
        <p:txBody>
          <a:bodyPr/>
          <a:lstStyle/>
          <a:p>
            <a:endParaRPr lang="en-US"/>
          </a:p>
        </p:txBody>
      </p:sp>
      <p:sp>
        <p:nvSpPr>
          <p:cNvPr id="34" name="Text 32"/>
          <p:cNvSpPr txBox="1"/>
          <p:nvPr/>
        </p:nvSpPr>
        <p:spPr>
          <a:xfrm>
            <a:off x="7543800" y="448970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3"/>
          <p:cNvSpPr txBox="1"/>
          <p:nvPr/>
        </p:nvSpPr>
        <p:spPr>
          <a:xfrm>
            <a:off x="7982712" y="4370832"/>
            <a:ext cx="3468319" cy="566928"/>
          </a:xfrm>
          <a:prstGeom prst="rect">
            <a:avLst/>
          </a:prstGeom>
          <a:noFill/>
          <a:ln/>
        </p:spPr>
        <p:txBody>
          <a:bodyPr wrap="square" lIns="0" tIns="0" rIns="0" bIns="0" rtlCol="0" anchor="ctr"/>
          <a:lstStyle/>
          <a:p>
            <a:pPr marL="0" indent="0">
              <a:lnSpc>
                <a:spcPct val="105000"/>
              </a:lnSpc>
              <a:buNone/>
            </a:pPr>
            <a:r>
              <a:rPr lang="en-US" sz="1150" b="1" dirty="0">
                <a:solidFill>
                  <a:srgbClr val="0F2942"/>
                </a:solidFill>
                <a:latin typeface="Calibri" pitchFamily="34" charset="0"/>
                <a:ea typeface="Calibri" pitchFamily="34" charset="-122"/>
                <a:cs typeface="Calibri" pitchFamily="34" charset="-120"/>
              </a:rPr>
              <a:t>Comments  </a:t>
            </a:r>
            <a:r>
              <a:rPr lang="en-US" sz="1150" dirty="0">
                <a:solidFill>
                  <a:srgbClr val="3A536B"/>
                </a:solidFill>
                <a:latin typeface="Calibri" pitchFamily="34" charset="0"/>
                <a:ea typeface="Calibri" pitchFamily="34" charset="-122"/>
                <a:cs typeface="Calibri" pitchFamily="34" charset="-120"/>
              </a:rPr>
              <a:t>// text the compiler ignores and humans read.</a:t>
            </a:r>
            <a:endParaRPr lang="en-US" sz="1150" dirty="0"/>
          </a:p>
        </p:txBody>
      </p:sp>
      <p:sp>
        <p:nvSpPr>
          <p:cNvPr id="36" name="Shape 34"/>
          <p:cNvSpPr/>
          <p:nvPr/>
        </p:nvSpPr>
        <p:spPr>
          <a:xfrm>
            <a:off x="7379208" y="4992624"/>
            <a:ext cx="4245559" cy="566928"/>
          </a:xfrm>
          <a:prstGeom prst="roundRect">
            <a:avLst>
              <a:gd name="adj" fmla="val 14516"/>
            </a:avLst>
          </a:prstGeom>
          <a:solidFill>
            <a:srgbClr val="F1F5F9"/>
          </a:solidFill>
          <a:ln w="12700">
            <a:solidFill>
              <a:srgbClr val="F1F5F9"/>
            </a:solidFill>
            <a:prstDash val="solid"/>
          </a:ln>
        </p:spPr>
        <p:txBody>
          <a:bodyPr/>
          <a:lstStyle/>
          <a:p>
            <a:endParaRPr lang="en-US"/>
          </a:p>
        </p:txBody>
      </p:sp>
      <p:sp>
        <p:nvSpPr>
          <p:cNvPr id="37" name="Shape 35"/>
          <p:cNvSpPr/>
          <p:nvPr/>
        </p:nvSpPr>
        <p:spPr>
          <a:xfrm>
            <a:off x="7543800" y="5111496"/>
            <a:ext cx="329184" cy="329184"/>
          </a:xfrm>
          <a:prstGeom prst="ellipse">
            <a:avLst/>
          </a:prstGeom>
          <a:solidFill>
            <a:srgbClr val="C4560C"/>
          </a:solidFill>
          <a:ln w="12700">
            <a:solidFill>
              <a:srgbClr val="C4560C"/>
            </a:solidFill>
            <a:prstDash val="solid"/>
          </a:ln>
        </p:spPr>
        <p:txBody>
          <a:bodyPr/>
          <a:lstStyle/>
          <a:p>
            <a:endParaRPr lang="en-US"/>
          </a:p>
        </p:txBody>
      </p:sp>
      <p:sp>
        <p:nvSpPr>
          <p:cNvPr id="38" name="Text 36"/>
          <p:cNvSpPr txBox="1"/>
          <p:nvPr/>
        </p:nvSpPr>
        <p:spPr>
          <a:xfrm>
            <a:off x="7543800" y="51114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9" name="Text 37"/>
          <p:cNvSpPr txBox="1"/>
          <p:nvPr/>
        </p:nvSpPr>
        <p:spPr>
          <a:xfrm>
            <a:off x="7982712" y="4992624"/>
            <a:ext cx="3468319" cy="566928"/>
          </a:xfrm>
          <a:prstGeom prst="rect">
            <a:avLst/>
          </a:prstGeom>
          <a:noFill/>
          <a:ln/>
        </p:spPr>
        <p:txBody>
          <a:bodyPr wrap="square" lIns="0" tIns="0" rIns="0" bIns="0" rtlCol="0" anchor="ctr"/>
          <a:lstStyle/>
          <a:p>
            <a:pPr marL="0" indent="0">
              <a:lnSpc>
                <a:spcPct val="105000"/>
              </a:lnSpc>
              <a:buNone/>
            </a:pPr>
            <a:r>
              <a:rPr lang="en-US" sz="1150" b="1" dirty="0">
                <a:solidFill>
                  <a:srgbClr val="0F2942"/>
                </a:solidFill>
                <a:latin typeface="Calibri" pitchFamily="34" charset="0"/>
                <a:ea typeface="Calibri" pitchFamily="34" charset="-122"/>
                <a:cs typeface="Calibri" pitchFamily="34" charset="-120"/>
              </a:rPr>
              <a:t>Blocks  </a:t>
            </a:r>
            <a:r>
              <a:rPr lang="en-US" sz="1150" dirty="0">
                <a:solidFill>
                  <a:srgbClr val="3A536B"/>
                </a:solidFill>
                <a:latin typeface="Calibri" pitchFamily="34" charset="0"/>
                <a:ea typeface="Calibri" pitchFamily="34" charset="-122"/>
                <a:cs typeface="Calibri" pitchFamily="34" charset="-120"/>
              </a:rPr>
              <a:t>Braces { } grouping the parts together.</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ANATOMY  ·  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The Class Name and the Main Method</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35</a:t>
            </a:r>
            <a:endParaRPr lang="en-US" sz="900" dirty="0"/>
          </a:p>
        </p:txBody>
      </p:sp>
      <p:sp>
        <p:nvSpPr>
          <p:cNvPr id="6" name="Text 4"/>
          <p:cNvSpPr txBox="1"/>
          <p:nvPr/>
        </p:nvSpPr>
        <p:spPr>
          <a:xfrm>
            <a:off x="566928" y="1261872"/>
            <a:ext cx="5346040"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The class name</a:t>
            </a:r>
            <a:endParaRPr lang="en-US" sz="1700" dirty="0"/>
          </a:p>
        </p:txBody>
      </p:sp>
      <p:sp>
        <p:nvSpPr>
          <p:cNvPr id="7" name="Shape 5"/>
          <p:cNvSpPr/>
          <p:nvPr/>
        </p:nvSpPr>
        <p:spPr>
          <a:xfrm>
            <a:off x="566928" y="1664208"/>
            <a:ext cx="5346040" cy="1143366"/>
          </a:xfrm>
          <a:prstGeom prst="roundRect">
            <a:avLst>
              <a:gd name="adj" fmla="val 5598"/>
            </a:avLst>
          </a:prstGeom>
          <a:solidFill>
            <a:srgbClr val="EDF2F7"/>
          </a:solidFill>
          <a:ln w="12700">
            <a:solidFill>
              <a:srgbClr val="CFDBE5"/>
            </a:solidFill>
            <a:prstDash val="solid"/>
          </a:ln>
        </p:spPr>
        <p:txBody>
          <a:bodyPr/>
          <a:lstStyle/>
          <a:p>
            <a:endParaRPr lang="en-US"/>
          </a:p>
        </p:txBody>
      </p:sp>
      <p:sp>
        <p:nvSpPr>
          <p:cNvPr id="8" name="Text 6"/>
          <p:cNvSpPr txBox="1"/>
          <p:nvPr/>
        </p:nvSpPr>
        <p:spPr>
          <a:xfrm>
            <a:off x="731520" y="1801368"/>
            <a:ext cx="5016856" cy="942198"/>
          </a:xfrm>
          <a:prstGeom prst="rect">
            <a:avLst/>
          </a:prstGeom>
          <a:noFill/>
          <a:ln/>
        </p:spPr>
        <p:txBody>
          <a:bodyPr wrap="square" lIns="0" tIns="0" rIns="0" bIns="0" rtlCol="0" anchor="t"/>
          <a:lstStyle/>
          <a:p>
            <a:pPr marL="0" indent="0">
              <a:lnSpc>
                <a:spcPct val="112000"/>
              </a:lnSpc>
              <a:buNone/>
            </a:pPr>
            <a:r>
              <a:rPr lang="en-US" sz="1400" dirty="0">
                <a:solidFill>
                  <a:srgbClr val="9A3412"/>
                </a:solidFill>
                <a:latin typeface="Courier New" pitchFamily="34" charset="0"/>
                <a:ea typeface="Courier New" pitchFamily="34" charset="-122"/>
                <a:cs typeface="Courier New" pitchFamily="34" charset="-120"/>
              </a:rPr>
              <a:t>public</a:t>
            </a:r>
            <a:r>
              <a:rPr lang="en-US" sz="1400" dirty="0">
                <a:solidFill>
                  <a:srgbClr val="14293C"/>
                </a:solidFill>
                <a:latin typeface="Courier New" pitchFamily="34" charset="0"/>
                <a:ea typeface="Courier New" pitchFamily="34" charset="-122"/>
                <a:cs typeface="Courier New" pitchFamily="34" charset="-120"/>
              </a:rPr>
              <a:t> </a:t>
            </a:r>
            <a:r>
              <a:rPr lang="en-US" sz="1400" dirty="0">
                <a:solidFill>
                  <a:srgbClr val="9A3412"/>
                </a:solidFill>
                <a:latin typeface="Courier New" pitchFamily="34" charset="0"/>
                <a:ea typeface="Courier New" pitchFamily="34" charset="-122"/>
                <a:cs typeface="Courier New" pitchFamily="34" charset="-120"/>
              </a:rPr>
              <a:t>class</a:t>
            </a:r>
            <a:r>
              <a:rPr lang="en-US" sz="1400" dirty="0">
                <a:solidFill>
                  <a:srgbClr val="14293C"/>
                </a:solidFill>
                <a:latin typeface="Courier New" pitchFamily="34" charset="0"/>
                <a:ea typeface="Courier New" pitchFamily="34" charset="-122"/>
                <a:cs typeface="Courier New" pitchFamily="34" charset="-120"/>
              </a:rPr>
              <a:t> </a:t>
            </a:r>
            <a:r>
              <a:rPr lang="en-US" sz="1400" dirty="0">
                <a:solidFill>
                  <a:srgbClr val="14568A"/>
                </a:solidFill>
                <a:latin typeface="Courier New" pitchFamily="34" charset="0"/>
                <a:ea typeface="Courier New" pitchFamily="34" charset="-122"/>
                <a:cs typeface="Courier New" pitchFamily="34" charset="-120"/>
              </a:rPr>
              <a:t>Welcome</a:t>
            </a:r>
            <a:r>
              <a:rPr lang="en-US" sz="1400" dirty="0">
                <a:solidFill>
                  <a:srgbClr val="14293C"/>
                </a:solidFill>
                <a:latin typeface="Courier New" pitchFamily="34" charset="0"/>
                <a:ea typeface="Courier New" pitchFamily="34" charset="-122"/>
                <a:cs typeface="Courier New" pitchFamily="34" charset="-120"/>
              </a:rPr>
              <a:t> </a:t>
            </a:r>
            <a:r>
              <a:rPr lang="en-US" sz="1400" dirty="0">
                <a:solidFill>
                  <a:srgbClr val="33485C"/>
                </a:solidFill>
                <a:latin typeface="Courier New" pitchFamily="34" charset="0"/>
                <a:ea typeface="Courier New" pitchFamily="34" charset="-122"/>
                <a:cs typeface="Courier New" pitchFamily="34" charset="-120"/>
              </a:rPr>
              <a:t>{</a:t>
            </a:r>
            <a:endParaRPr lang="en-US" sz="1400" dirty="0"/>
          </a:p>
          <a:p>
            <a:pPr marL="0" indent="0">
              <a:lnSpc>
                <a:spcPct val="112000"/>
              </a:lnSpc>
              <a:buNone/>
            </a:pPr>
            <a:r>
              <a:rPr lang="en-US" sz="1400" dirty="0">
                <a:solidFill>
                  <a:srgbClr val="14293C"/>
                </a:solidFill>
                <a:latin typeface="Courier New" pitchFamily="34" charset="0"/>
                <a:ea typeface="Courier New" pitchFamily="34" charset="-122"/>
                <a:cs typeface="Courier New" pitchFamily="34" charset="-120"/>
              </a:rPr>
              <a:t>    </a:t>
            </a:r>
            <a:r>
              <a:rPr lang="en-US" sz="1400" dirty="0">
                <a:solidFill>
                  <a:srgbClr val="33485C"/>
                </a:solidFill>
                <a:latin typeface="Courier New" pitchFamily="34" charset="0"/>
                <a:ea typeface="Courier New" pitchFamily="34" charset="-122"/>
                <a:cs typeface="Courier New" pitchFamily="34" charset="-120"/>
              </a:rPr>
              <a:t>...</a:t>
            </a:r>
            <a:endParaRPr lang="en-US" sz="1400" dirty="0"/>
          </a:p>
          <a:p>
            <a:pPr marL="0" indent="0">
              <a:lnSpc>
                <a:spcPct val="112000"/>
              </a:lnSpc>
              <a:buNone/>
            </a:pPr>
            <a:r>
              <a:rPr lang="en-US" sz="1400" dirty="0">
                <a:solidFill>
                  <a:srgbClr val="33485C"/>
                </a:solidFill>
                <a:latin typeface="Courier New" pitchFamily="34" charset="0"/>
                <a:ea typeface="Courier New" pitchFamily="34" charset="-122"/>
                <a:cs typeface="Courier New" pitchFamily="34" charset="-120"/>
              </a:rPr>
              <a:t>}</a:t>
            </a:r>
            <a:endParaRPr lang="en-US" sz="1400" dirty="0"/>
          </a:p>
        </p:txBody>
      </p:sp>
      <p:sp>
        <p:nvSpPr>
          <p:cNvPr id="9" name="Text 7"/>
          <p:cNvSpPr txBox="1"/>
          <p:nvPr/>
        </p:nvSpPr>
        <p:spPr>
          <a:xfrm>
            <a:off x="566928" y="3027030"/>
            <a:ext cx="5346040" cy="960120"/>
          </a:xfrm>
          <a:prstGeom prst="rect">
            <a:avLst/>
          </a:prstGeom>
          <a:noFill/>
          <a:ln/>
        </p:spPr>
        <p:txBody>
          <a:bodyPr wrap="square" lIns="0" tIns="0" rIns="0" bIns="0" rtlCol="0" anchor="t"/>
          <a:lstStyle/>
          <a:p>
            <a:pPr marL="0" indent="0">
              <a:lnSpc>
                <a:spcPct val="112000"/>
              </a:lnSpc>
              <a:buNone/>
            </a:pPr>
            <a:r>
              <a:rPr lang="en-US" sz="1300" dirty="0">
                <a:solidFill>
                  <a:srgbClr val="3A536B"/>
                </a:solidFill>
                <a:latin typeface="Calibri" pitchFamily="34" charset="0"/>
                <a:ea typeface="Calibri" pitchFamily="34" charset="-122"/>
                <a:cs typeface="Calibri" pitchFamily="34" charset="-120"/>
              </a:rPr>
              <a:t>Every Java program needs at least one class, and every class has a name. By convention class names start with an uppercase letter and capitalise each subsequent word: Welcome, ComputeExpression, BankAccount.</a:t>
            </a:r>
            <a:endParaRPr lang="en-US" sz="1300" dirty="0"/>
          </a:p>
        </p:txBody>
      </p:sp>
      <p:sp>
        <p:nvSpPr>
          <p:cNvPr id="10" name="Shape 8"/>
          <p:cNvSpPr/>
          <p:nvPr/>
        </p:nvSpPr>
        <p:spPr>
          <a:xfrm>
            <a:off x="566928" y="4106022"/>
            <a:ext cx="5346040" cy="1188720"/>
          </a:xfrm>
          <a:prstGeom prst="roundRect">
            <a:avLst>
              <a:gd name="adj" fmla="val 6923"/>
            </a:avLst>
          </a:prstGeom>
          <a:solidFill>
            <a:srgbClr val="FBEEE0"/>
          </a:solidFill>
          <a:ln w="12700">
            <a:solidFill>
              <a:srgbClr val="FBEEE0"/>
            </a:solidFill>
            <a:prstDash val="solid"/>
          </a:ln>
        </p:spPr>
        <p:txBody>
          <a:bodyPr/>
          <a:lstStyle/>
          <a:p>
            <a:endParaRPr lang="en-US"/>
          </a:p>
        </p:txBody>
      </p:sp>
      <p:sp>
        <p:nvSpPr>
          <p:cNvPr id="11" name="Text 9"/>
          <p:cNvSpPr txBox="1"/>
          <p:nvPr/>
        </p:nvSpPr>
        <p:spPr>
          <a:xfrm>
            <a:off x="822960" y="4106022"/>
            <a:ext cx="4833976" cy="1188720"/>
          </a:xfrm>
          <a:prstGeom prst="rect">
            <a:avLst/>
          </a:prstGeom>
          <a:noFill/>
          <a:ln/>
        </p:spPr>
        <p:txBody>
          <a:bodyPr wrap="square" lIns="0" tIns="0" rIns="0" bIns="0" rtlCol="0" anchor="ctr"/>
          <a:lstStyle/>
          <a:p>
            <a:pPr marL="0" indent="0">
              <a:lnSpc>
                <a:spcPct val="112000"/>
              </a:lnSpc>
              <a:buNone/>
            </a:pPr>
            <a:r>
              <a:rPr lang="en-US" sz="1250" dirty="0">
                <a:solidFill>
                  <a:srgbClr val="9A430A"/>
                </a:solidFill>
                <a:latin typeface="Calibri" pitchFamily="34" charset="0"/>
                <a:ea typeface="Calibri" pitchFamily="34" charset="-122"/>
                <a:cs typeface="Calibri" pitchFamily="34" charset="-120"/>
              </a:rPr>
              <a:t>The class is not just a container here — it is the unit the JVM loads and runs. java Welcome means “load the class named Welcome and call its main method”.</a:t>
            </a:r>
            <a:endParaRPr lang="en-US" sz="1250" dirty="0"/>
          </a:p>
        </p:txBody>
      </p:sp>
      <p:sp>
        <p:nvSpPr>
          <p:cNvPr id="12" name="Text 10"/>
          <p:cNvSpPr txBox="1"/>
          <p:nvPr/>
        </p:nvSpPr>
        <p:spPr>
          <a:xfrm>
            <a:off x="6278728" y="1261872"/>
            <a:ext cx="5346040"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The main method</a:t>
            </a:r>
            <a:endParaRPr lang="en-US" sz="1700" dirty="0"/>
          </a:p>
        </p:txBody>
      </p:sp>
      <p:sp>
        <p:nvSpPr>
          <p:cNvPr id="13" name="Shape 11"/>
          <p:cNvSpPr/>
          <p:nvPr/>
        </p:nvSpPr>
        <p:spPr>
          <a:xfrm>
            <a:off x="6278728" y="1664208"/>
            <a:ext cx="5346040" cy="1056132"/>
          </a:xfrm>
          <a:prstGeom prst="roundRect">
            <a:avLst>
              <a:gd name="adj" fmla="val 6061"/>
            </a:avLst>
          </a:prstGeom>
          <a:solidFill>
            <a:srgbClr val="EDF2F7"/>
          </a:solidFill>
          <a:ln w="12700">
            <a:solidFill>
              <a:srgbClr val="CFDBE5"/>
            </a:solidFill>
            <a:prstDash val="solid"/>
          </a:ln>
        </p:spPr>
        <p:txBody>
          <a:bodyPr/>
          <a:lstStyle/>
          <a:p>
            <a:endParaRPr lang="en-US"/>
          </a:p>
        </p:txBody>
      </p:sp>
      <p:sp>
        <p:nvSpPr>
          <p:cNvPr id="14" name="Text 12"/>
          <p:cNvSpPr txBox="1"/>
          <p:nvPr/>
        </p:nvSpPr>
        <p:spPr>
          <a:xfrm>
            <a:off x="6443320" y="1801368"/>
            <a:ext cx="5016856" cy="854964"/>
          </a:xfrm>
          <a:prstGeom prst="rect">
            <a:avLst/>
          </a:prstGeom>
          <a:noFill/>
          <a:ln/>
        </p:spPr>
        <p:txBody>
          <a:bodyPr wrap="square" lIns="0" tIns="0" rIns="0" bIns="0" rtlCol="0" anchor="t"/>
          <a:lstStyle/>
          <a:p>
            <a:pPr marL="0" indent="0">
              <a:lnSpc>
                <a:spcPct val="112000"/>
              </a:lnSpc>
              <a:buNone/>
            </a:pPr>
            <a:r>
              <a:rPr lang="en-US" sz="1250" dirty="0">
                <a:solidFill>
                  <a:srgbClr val="9A3412"/>
                </a:solidFill>
                <a:latin typeface="Courier New" pitchFamily="34" charset="0"/>
                <a:ea typeface="Courier New" pitchFamily="34" charset="-122"/>
                <a:cs typeface="Courier New" pitchFamily="34" charset="-120"/>
              </a:rPr>
              <a:t>public</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9A3412"/>
                </a:solidFill>
                <a:latin typeface="Courier New" pitchFamily="34" charset="0"/>
                <a:ea typeface="Courier New" pitchFamily="34" charset="-122"/>
                <a:cs typeface="Courier New" pitchFamily="34" charset="-120"/>
              </a:rPr>
              <a:t>static</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9A3412"/>
                </a:solidFill>
                <a:latin typeface="Courier New" pitchFamily="34" charset="0"/>
                <a:ea typeface="Courier New" pitchFamily="34" charset="-122"/>
                <a:cs typeface="Courier New" pitchFamily="34" charset="-120"/>
              </a:rPr>
              <a:t>void</a:t>
            </a:r>
            <a:r>
              <a:rPr lang="en-US" sz="1250" dirty="0">
                <a:solidFill>
                  <a:srgbClr val="14293C"/>
                </a:solidFill>
                <a:latin typeface="Courier New" pitchFamily="34" charset="0"/>
                <a:ea typeface="Courier New" pitchFamily="34" charset="-122"/>
                <a:cs typeface="Courier New" pitchFamily="34" charset="-120"/>
              </a:rPr>
              <a:t> main</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568A"/>
                </a:solidFill>
                <a:latin typeface="Courier New" pitchFamily="34" charset="0"/>
                <a:ea typeface="Courier New" pitchFamily="34" charset="-122"/>
                <a:cs typeface="Courier New" pitchFamily="34" charset="-120"/>
              </a:rPr>
              <a:t>String</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 args</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5" name="Text 13"/>
          <p:cNvSpPr txBox="1"/>
          <p:nvPr/>
        </p:nvSpPr>
        <p:spPr>
          <a:xfrm>
            <a:off x="6278728" y="2958084"/>
            <a:ext cx="1417320" cy="365760"/>
          </a:xfrm>
          <a:prstGeom prst="rect">
            <a:avLst/>
          </a:prstGeom>
          <a:noFill/>
          <a:ln/>
        </p:spPr>
        <p:txBody>
          <a:bodyPr wrap="square" lIns="0" tIns="0" rIns="0" bIns="0" rtlCol="0" anchor="ctr"/>
          <a:lstStyle/>
          <a:p>
            <a:pPr marL="0" indent="0">
              <a:buNone/>
            </a:pPr>
            <a:r>
              <a:rPr lang="en-US" sz="1250" b="1" dirty="0">
                <a:solidFill>
                  <a:srgbClr val="9A430A"/>
                </a:solidFill>
                <a:latin typeface="Courier New" pitchFamily="34" charset="0"/>
                <a:ea typeface="Courier New" pitchFamily="34" charset="-122"/>
                <a:cs typeface="Courier New" pitchFamily="34" charset="-120"/>
              </a:rPr>
              <a:t>public</a:t>
            </a:r>
            <a:endParaRPr lang="en-US" sz="1250" dirty="0"/>
          </a:p>
        </p:txBody>
      </p:sp>
      <p:sp>
        <p:nvSpPr>
          <p:cNvPr id="16" name="Text 14"/>
          <p:cNvSpPr txBox="1"/>
          <p:nvPr/>
        </p:nvSpPr>
        <p:spPr>
          <a:xfrm>
            <a:off x="7760056" y="2958084"/>
            <a:ext cx="3864712" cy="365760"/>
          </a:xfrm>
          <a:prstGeom prst="rect">
            <a:avLst/>
          </a:prstGeom>
          <a:noFill/>
          <a:ln/>
        </p:spPr>
        <p:txBody>
          <a:bodyPr wrap="square" lIns="0" tIns="0" rIns="0" bIns="0" rtlCol="0" anchor="ctr"/>
          <a:lstStyle/>
          <a:p>
            <a:pPr marL="0" indent="0">
              <a:buNone/>
            </a:pPr>
            <a:r>
              <a:rPr lang="en-US" sz="1200" dirty="0">
                <a:solidFill>
                  <a:srgbClr val="3A536B"/>
                </a:solidFill>
                <a:latin typeface="Calibri" pitchFamily="34" charset="0"/>
                <a:ea typeface="Calibri" pitchFamily="34" charset="-122"/>
                <a:cs typeface="Calibri" pitchFamily="34" charset="-120"/>
              </a:rPr>
              <a:t>callable from outside the class — the JVM has to reach it</a:t>
            </a:r>
            <a:endParaRPr lang="en-US" sz="1200" dirty="0"/>
          </a:p>
        </p:txBody>
      </p:sp>
      <p:sp>
        <p:nvSpPr>
          <p:cNvPr id="17" name="Text 15"/>
          <p:cNvSpPr txBox="1"/>
          <p:nvPr/>
        </p:nvSpPr>
        <p:spPr>
          <a:xfrm>
            <a:off x="6278728" y="3378708"/>
            <a:ext cx="1417320" cy="365760"/>
          </a:xfrm>
          <a:prstGeom prst="rect">
            <a:avLst/>
          </a:prstGeom>
          <a:noFill/>
          <a:ln/>
        </p:spPr>
        <p:txBody>
          <a:bodyPr wrap="square" lIns="0" tIns="0" rIns="0" bIns="0" rtlCol="0" anchor="ctr"/>
          <a:lstStyle/>
          <a:p>
            <a:pPr marL="0" indent="0">
              <a:buNone/>
            </a:pPr>
            <a:r>
              <a:rPr lang="en-US" sz="1250" b="1" dirty="0">
                <a:solidFill>
                  <a:srgbClr val="9A430A"/>
                </a:solidFill>
                <a:latin typeface="Courier New" pitchFamily="34" charset="0"/>
                <a:ea typeface="Courier New" pitchFamily="34" charset="-122"/>
                <a:cs typeface="Courier New" pitchFamily="34" charset="-120"/>
              </a:rPr>
              <a:t>static</a:t>
            </a:r>
            <a:endParaRPr lang="en-US" sz="1250" dirty="0"/>
          </a:p>
        </p:txBody>
      </p:sp>
      <p:sp>
        <p:nvSpPr>
          <p:cNvPr id="18" name="Text 16"/>
          <p:cNvSpPr txBox="1"/>
          <p:nvPr/>
        </p:nvSpPr>
        <p:spPr>
          <a:xfrm>
            <a:off x="7760056" y="3378708"/>
            <a:ext cx="3864712" cy="365760"/>
          </a:xfrm>
          <a:prstGeom prst="rect">
            <a:avLst/>
          </a:prstGeom>
          <a:noFill/>
          <a:ln/>
        </p:spPr>
        <p:txBody>
          <a:bodyPr wrap="square" lIns="0" tIns="0" rIns="0" bIns="0" rtlCol="0" anchor="ctr"/>
          <a:lstStyle/>
          <a:p>
            <a:pPr marL="0" indent="0">
              <a:buNone/>
            </a:pPr>
            <a:r>
              <a:rPr lang="en-US" sz="1200" dirty="0">
                <a:solidFill>
                  <a:srgbClr val="3A536B"/>
                </a:solidFill>
                <a:latin typeface="Calibri" pitchFamily="34" charset="0"/>
                <a:ea typeface="Calibri" pitchFamily="34" charset="-122"/>
                <a:cs typeface="Calibri" pitchFamily="34" charset="-120"/>
              </a:rPr>
              <a:t>belongs to the class, so no object is needed to call it</a:t>
            </a:r>
            <a:endParaRPr lang="en-US" sz="1200" dirty="0"/>
          </a:p>
        </p:txBody>
      </p:sp>
      <p:sp>
        <p:nvSpPr>
          <p:cNvPr id="19" name="Text 17"/>
          <p:cNvSpPr txBox="1"/>
          <p:nvPr/>
        </p:nvSpPr>
        <p:spPr>
          <a:xfrm>
            <a:off x="6278728" y="3799332"/>
            <a:ext cx="1417320" cy="365760"/>
          </a:xfrm>
          <a:prstGeom prst="rect">
            <a:avLst/>
          </a:prstGeom>
          <a:noFill/>
          <a:ln/>
        </p:spPr>
        <p:txBody>
          <a:bodyPr wrap="square" lIns="0" tIns="0" rIns="0" bIns="0" rtlCol="0" anchor="ctr"/>
          <a:lstStyle/>
          <a:p>
            <a:pPr marL="0" indent="0">
              <a:buNone/>
            </a:pPr>
            <a:r>
              <a:rPr lang="en-US" sz="1250" b="1" dirty="0">
                <a:solidFill>
                  <a:srgbClr val="9A430A"/>
                </a:solidFill>
                <a:latin typeface="Courier New" pitchFamily="34" charset="0"/>
                <a:ea typeface="Courier New" pitchFamily="34" charset="-122"/>
                <a:cs typeface="Courier New" pitchFamily="34" charset="-120"/>
              </a:rPr>
              <a:t>void</a:t>
            </a:r>
            <a:endParaRPr lang="en-US" sz="1250" dirty="0"/>
          </a:p>
        </p:txBody>
      </p:sp>
      <p:sp>
        <p:nvSpPr>
          <p:cNvPr id="20" name="Text 18"/>
          <p:cNvSpPr txBox="1"/>
          <p:nvPr/>
        </p:nvSpPr>
        <p:spPr>
          <a:xfrm>
            <a:off x="7760056" y="3799332"/>
            <a:ext cx="3864712" cy="365760"/>
          </a:xfrm>
          <a:prstGeom prst="rect">
            <a:avLst/>
          </a:prstGeom>
          <a:noFill/>
          <a:ln/>
        </p:spPr>
        <p:txBody>
          <a:bodyPr wrap="square" lIns="0" tIns="0" rIns="0" bIns="0" rtlCol="0" anchor="ctr"/>
          <a:lstStyle/>
          <a:p>
            <a:pPr marL="0" indent="0">
              <a:buNone/>
            </a:pPr>
            <a:r>
              <a:rPr lang="en-US" sz="1200" dirty="0">
                <a:solidFill>
                  <a:srgbClr val="3A536B"/>
                </a:solidFill>
                <a:latin typeface="Calibri" pitchFamily="34" charset="0"/>
                <a:ea typeface="Calibri" pitchFamily="34" charset="-122"/>
                <a:cs typeface="Calibri" pitchFamily="34" charset="-120"/>
              </a:rPr>
              <a:t>returns nothing</a:t>
            </a:r>
            <a:endParaRPr lang="en-US" sz="1200" dirty="0"/>
          </a:p>
        </p:txBody>
      </p:sp>
      <p:sp>
        <p:nvSpPr>
          <p:cNvPr id="21" name="Text 19"/>
          <p:cNvSpPr txBox="1"/>
          <p:nvPr/>
        </p:nvSpPr>
        <p:spPr>
          <a:xfrm>
            <a:off x="6278728" y="4219956"/>
            <a:ext cx="1417320" cy="365760"/>
          </a:xfrm>
          <a:prstGeom prst="rect">
            <a:avLst/>
          </a:prstGeom>
          <a:noFill/>
          <a:ln/>
        </p:spPr>
        <p:txBody>
          <a:bodyPr wrap="square" lIns="0" tIns="0" rIns="0" bIns="0" rtlCol="0" anchor="ctr"/>
          <a:lstStyle/>
          <a:p>
            <a:pPr marL="0" indent="0">
              <a:buNone/>
            </a:pPr>
            <a:r>
              <a:rPr lang="en-US" sz="1250" b="1" dirty="0">
                <a:solidFill>
                  <a:srgbClr val="9A430A"/>
                </a:solidFill>
                <a:latin typeface="Courier New" pitchFamily="34" charset="0"/>
                <a:ea typeface="Courier New" pitchFamily="34" charset="-122"/>
                <a:cs typeface="Courier New" pitchFamily="34" charset="-120"/>
              </a:rPr>
              <a:t>String[] args</a:t>
            </a:r>
            <a:endParaRPr lang="en-US" sz="1250" dirty="0"/>
          </a:p>
        </p:txBody>
      </p:sp>
      <p:sp>
        <p:nvSpPr>
          <p:cNvPr id="22" name="Text 20"/>
          <p:cNvSpPr txBox="1"/>
          <p:nvPr/>
        </p:nvSpPr>
        <p:spPr>
          <a:xfrm>
            <a:off x="7760056" y="4219956"/>
            <a:ext cx="3864712" cy="365760"/>
          </a:xfrm>
          <a:prstGeom prst="rect">
            <a:avLst/>
          </a:prstGeom>
          <a:noFill/>
          <a:ln/>
        </p:spPr>
        <p:txBody>
          <a:bodyPr wrap="square" lIns="0" tIns="0" rIns="0" bIns="0" rtlCol="0" anchor="ctr"/>
          <a:lstStyle/>
          <a:p>
            <a:pPr marL="0" indent="0">
              <a:buNone/>
            </a:pPr>
            <a:r>
              <a:rPr lang="en-US" sz="1200" dirty="0">
                <a:solidFill>
                  <a:srgbClr val="3A536B"/>
                </a:solidFill>
                <a:latin typeface="Calibri" pitchFamily="34" charset="0"/>
                <a:ea typeface="Calibri" pitchFamily="34" charset="-122"/>
                <a:cs typeface="Calibri" pitchFamily="34" charset="-120"/>
              </a:rPr>
              <a:t>command-line arguments, handed to you as an array</a:t>
            </a:r>
            <a:endParaRPr lang="en-US" sz="1200" dirty="0"/>
          </a:p>
        </p:txBody>
      </p:sp>
      <p:sp>
        <p:nvSpPr>
          <p:cNvPr id="23" name="Shape 21"/>
          <p:cNvSpPr/>
          <p:nvPr/>
        </p:nvSpPr>
        <p:spPr>
          <a:xfrm>
            <a:off x="6278728" y="4786884"/>
            <a:ext cx="5346040" cy="822960"/>
          </a:xfrm>
          <a:prstGeom prst="roundRect">
            <a:avLst>
              <a:gd name="adj" fmla="val 10000"/>
            </a:avLst>
          </a:prstGeom>
          <a:solidFill>
            <a:srgbClr val="F1F5F9"/>
          </a:solidFill>
          <a:ln w="12700">
            <a:solidFill>
              <a:srgbClr val="F1F5F9"/>
            </a:solidFill>
            <a:prstDash val="solid"/>
          </a:ln>
        </p:spPr>
        <p:txBody>
          <a:bodyPr/>
          <a:lstStyle/>
          <a:p>
            <a:endParaRPr lang="en-US"/>
          </a:p>
        </p:txBody>
      </p:sp>
      <p:sp>
        <p:nvSpPr>
          <p:cNvPr id="24" name="Text 22"/>
          <p:cNvSpPr txBox="1"/>
          <p:nvPr/>
        </p:nvSpPr>
        <p:spPr>
          <a:xfrm>
            <a:off x="6534760" y="4786884"/>
            <a:ext cx="4833976" cy="822960"/>
          </a:xfrm>
          <a:prstGeom prst="rect">
            <a:avLst/>
          </a:prstGeom>
          <a:noFill/>
          <a:ln/>
        </p:spPr>
        <p:txBody>
          <a:bodyPr wrap="square" lIns="0" tIns="0" rIns="0" bIns="0" rtlCol="0" anchor="ctr"/>
          <a:lstStyle/>
          <a:p>
            <a:pPr marL="0" indent="0">
              <a:lnSpc>
                <a:spcPct val="110000"/>
              </a:lnSpc>
              <a:buNone/>
            </a:pPr>
            <a:r>
              <a:rPr lang="en-US" sz="1200" dirty="0">
                <a:solidFill>
                  <a:srgbClr val="0F2942"/>
                </a:solidFill>
                <a:latin typeface="Calibri" pitchFamily="34" charset="0"/>
                <a:ea typeface="Calibri" pitchFamily="34" charset="-122"/>
                <a:cs typeface="Calibri" pitchFamily="34" charset="-120"/>
              </a:rPr>
              <a:t>To run a class, that class must contain a method named main. Execution begins there and ends when it returns.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ANATOMY  ·  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Statements, Semicolons and Reserved Words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36</a:t>
            </a:r>
            <a:endParaRPr lang="en-US" sz="900" dirty="0"/>
          </a:p>
        </p:txBody>
      </p:sp>
      <p:sp>
        <p:nvSpPr>
          <p:cNvPr id="6" name="Text 4"/>
          <p:cNvSpPr txBox="1"/>
          <p:nvPr/>
        </p:nvSpPr>
        <p:spPr>
          <a:xfrm>
            <a:off x="566928" y="1261872"/>
            <a:ext cx="5346040"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A statement is one action</a:t>
            </a:r>
            <a:endParaRPr lang="en-US" sz="1700" dirty="0"/>
          </a:p>
        </p:txBody>
      </p:sp>
      <p:sp>
        <p:nvSpPr>
          <p:cNvPr id="7" name="Shape 5"/>
          <p:cNvSpPr/>
          <p:nvPr/>
        </p:nvSpPr>
        <p:spPr>
          <a:xfrm>
            <a:off x="566928" y="1664208"/>
            <a:ext cx="5346040" cy="571500"/>
          </a:xfrm>
          <a:prstGeom prst="roundRect">
            <a:avLst>
              <a:gd name="adj" fmla="val 11200"/>
            </a:avLst>
          </a:prstGeom>
          <a:solidFill>
            <a:srgbClr val="EDF2F7"/>
          </a:solidFill>
          <a:ln w="12700">
            <a:solidFill>
              <a:srgbClr val="CFDBE5"/>
            </a:solidFill>
            <a:prstDash val="solid"/>
          </a:ln>
        </p:spPr>
        <p:txBody>
          <a:bodyPr/>
          <a:lstStyle/>
          <a:p>
            <a:endParaRPr lang="en-US"/>
          </a:p>
        </p:txBody>
      </p:sp>
      <p:sp>
        <p:nvSpPr>
          <p:cNvPr id="8" name="Text 6"/>
          <p:cNvSpPr txBox="1"/>
          <p:nvPr/>
        </p:nvSpPr>
        <p:spPr>
          <a:xfrm>
            <a:off x="731520" y="1801368"/>
            <a:ext cx="5016856" cy="370332"/>
          </a:xfrm>
          <a:prstGeom prst="rect">
            <a:avLst/>
          </a:prstGeom>
          <a:noFill/>
          <a:ln/>
        </p:spPr>
        <p:txBody>
          <a:bodyPr wrap="square" lIns="0" tIns="0" rIns="0" bIns="0" rtlCol="0" anchor="t"/>
          <a:lstStyle/>
          <a:p>
            <a:pPr marL="0" indent="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out</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println</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614A"/>
                </a:solidFill>
                <a:latin typeface="Courier New" pitchFamily="34" charset="0"/>
                <a:ea typeface="Courier New" pitchFamily="34" charset="-122"/>
                <a:cs typeface="Courier New" pitchFamily="34" charset="-120"/>
              </a:rPr>
              <a:t>"Welcome to Java!"</a:t>
            </a: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9" name="Text 7"/>
          <p:cNvSpPr txBox="1"/>
          <p:nvPr/>
        </p:nvSpPr>
        <p:spPr>
          <a:xfrm>
            <a:off x="566928" y="2455164"/>
            <a:ext cx="5346040" cy="1097280"/>
          </a:xfrm>
          <a:prstGeom prst="rect">
            <a:avLst/>
          </a:prstGeom>
          <a:noFill/>
          <a:ln/>
        </p:spPr>
        <p:txBody>
          <a:bodyPr wrap="square" lIns="0" tIns="0" rIns="0" bIns="0" rtlCol="0" anchor="t"/>
          <a:lstStyle/>
          <a:p>
            <a:pPr marL="0" indent="0">
              <a:lnSpc>
                <a:spcPct val="112000"/>
              </a:lnSpc>
              <a:buNone/>
            </a:pPr>
            <a:r>
              <a:rPr lang="en-US" sz="1300" dirty="0">
                <a:solidFill>
                  <a:srgbClr val="3A536B"/>
                </a:solidFill>
                <a:latin typeface="Calibri" pitchFamily="34" charset="0"/>
                <a:ea typeface="Calibri" pitchFamily="34" charset="-122"/>
                <a:cs typeface="Calibri" pitchFamily="34" charset="-120"/>
              </a:rPr>
              <a:t>This one statement displays a line of text. Every statement in Java ends with a semicolon — the compiler uses it to know where one instruction stops and the next begins. A missing semicolon is the single most common error you will make this semester.</a:t>
            </a:r>
            <a:endParaRPr lang="en-US" sz="1300" dirty="0"/>
          </a:p>
        </p:txBody>
      </p:sp>
      <p:sp>
        <p:nvSpPr>
          <p:cNvPr id="10" name="Shape 8"/>
          <p:cNvSpPr/>
          <p:nvPr/>
        </p:nvSpPr>
        <p:spPr>
          <a:xfrm>
            <a:off x="566928" y="3653028"/>
            <a:ext cx="5346040" cy="1463040"/>
          </a:xfrm>
          <a:prstGeom prst="roundRect">
            <a:avLst>
              <a:gd name="adj" fmla="val 5625"/>
            </a:avLst>
          </a:prstGeom>
          <a:solidFill>
            <a:srgbClr val="F1F5F9"/>
          </a:solidFill>
          <a:ln w="12700">
            <a:solidFill>
              <a:srgbClr val="F1F5F9"/>
            </a:solidFill>
            <a:prstDash val="solid"/>
          </a:ln>
        </p:spPr>
        <p:txBody>
          <a:bodyPr/>
          <a:lstStyle/>
          <a:p>
            <a:endParaRPr lang="en-US"/>
          </a:p>
        </p:txBody>
      </p:sp>
      <p:sp>
        <p:nvSpPr>
          <p:cNvPr id="11" name="Text 9"/>
          <p:cNvSpPr txBox="1"/>
          <p:nvPr/>
        </p:nvSpPr>
        <p:spPr>
          <a:xfrm>
            <a:off x="822960" y="3817620"/>
            <a:ext cx="4833976" cy="274320"/>
          </a:xfrm>
          <a:prstGeom prst="rect">
            <a:avLst/>
          </a:prstGeom>
          <a:noFill/>
          <a:ln/>
        </p:spPr>
        <p:txBody>
          <a:bodyPr wrap="square" lIns="0" tIns="0" rIns="0" bIns="0" rtlCol="0" anchor="ctr"/>
          <a:lstStyle/>
          <a:p>
            <a:pPr marL="0" indent="0">
              <a:buNone/>
            </a:pPr>
            <a:r>
              <a:rPr lang="en-US" sz="1350" b="1" dirty="0">
                <a:solidFill>
                  <a:srgbClr val="0F2942"/>
                </a:solidFill>
                <a:latin typeface="Calibri" pitchFamily="34" charset="0"/>
                <a:ea typeface="Calibri" pitchFamily="34" charset="-122"/>
                <a:cs typeface="Calibri" pitchFamily="34" charset="-120"/>
              </a:rPr>
              <a:t>Line breaks are not statement boundaries</a:t>
            </a:r>
            <a:endParaRPr lang="en-US" sz="1350" dirty="0"/>
          </a:p>
        </p:txBody>
      </p:sp>
      <p:sp>
        <p:nvSpPr>
          <p:cNvPr id="12" name="Text 10"/>
          <p:cNvSpPr txBox="1"/>
          <p:nvPr/>
        </p:nvSpPr>
        <p:spPr>
          <a:xfrm>
            <a:off x="822960" y="4119372"/>
            <a:ext cx="4833976" cy="914400"/>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Java ignores where you press Enter. A statement can span three lines, and three statements can share one line. The semicolon decides — which is exactly why indentation is a courtesy to readers rather than a rule the compiler enforces.</a:t>
            </a:r>
            <a:endParaRPr lang="en-US" sz="1200" dirty="0"/>
          </a:p>
        </p:txBody>
      </p:sp>
      <p:sp>
        <p:nvSpPr>
          <p:cNvPr id="13" name="Text 11"/>
          <p:cNvSpPr txBox="1"/>
          <p:nvPr/>
        </p:nvSpPr>
        <p:spPr>
          <a:xfrm>
            <a:off x="6278728" y="1261872"/>
            <a:ext cx="5346040"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Reserved words (keywords)</a:t>
            </a:r>
            <a:endParaRPr lang="en-US" sz="1700" dirty="0"/>
          </a:p>
        </p:txBody>
      </p:sp>
      <p:sp>
        <p:nvSpPr>
          <p:cNvPr id="14" name="Text 12"/>
          <p:cNvSpPr txBox="1"/>
          <p:nvPr/>
        </p:nvSpPr>
        <p:spPr>
          <a:xfrm>
            <a:off x="6278728" y="1627632"/>
            <a:ext cx="5346040" cy="685800"/>
          </a:xfrm>
          <a:prstGeom prst="rect">
            <a:avLst/>
          </a:prstGeom>
          <a:noFill/>
          <a:ln/>
        </p:spPr>
        <p:txBody>
          <a:bodyPr wrap="square" lIns="0" tIns="0" rIns="0" bIns="0" rtlCol="0" anchor="t"/>
          <a:lstStyle/>
          <a:p>
            <a:pPr marL="0" indent="0">
              <a:lnSpc>
                <a:spcPct val="112000"/>
              </a:lnSpc>
              <a:buNone/>
            </a:pPr>
            <a:r>
              <a:rPr lang="en-US" sz="1300" dirty="0">
                <a:solidFill>
                  <a:srgbClr val="3A536B"/>
                </a:solidFill>
                <a:latin typeface="Calibri" pitchFamily="34" charset="0"/>
                <a:ea typeface="Calibri" pitchFamily="34" charset="-122"/>
                <a:cs typeface="Calibri" pitchFamily="34" charset="-120"/>
              </a:rPr>
              <a:t>Words with a fixed meaning to the compiler. You cannot use them as names. When the compiler sees class, it knows the next word names a class.</a:t>
            </a:r>
            <a:endParaRPr lang="en-US" sz="1300" dirty="0"/>
          </a:p>
        </p:txBody>
      </p:sp>
      <p:sp>
        <p:nvSpPr>
          <p:cNvPr id="15" name="Shape 13"/>
          <p:cNvSpPr/>
          <p:nvPr/>
        </p:nvSpPr>
        <p:spPr>
          <a:xfrm>
            <a:off x="6278728" y="2450592"/>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16" name="Text 14"/>
          <p:cNvSpPr txBox="1"/>
          <p:nvPr/>
        </p:nvSpPr>
        <p:spPr>
          <a:xfrm>
            <a:off x="6278728" y="2450592"/>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public</a:t>
            </a:r>
            <a:endParaRPr lang="en-US" sz="1050" dirty="0"/>
          </a:p>
        </p:txBody>
      </p:sp>
      <p:sp>
        <p:nvSpPr>
          <p:cNvPr id="17" name="Shape 15"/>
          <p:cNvSpPr/>
          <p:nvPr/>
        </p:nvSpPr>
        <p:spPr>
          <a:xfrm>
            <a:off x="7369881" y="2450592"/>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18" name="Text 16"/>
          <p:cNvSpPr txBox="1"/>
          <p:nvPr/>
        </p:nvSpPr>
        <p:spPr>
          <a:xfrm>
            <a:off x="7369881" y="2450592"/>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private</a:t>
            </a:r>
            <a:endParaRPr lang="en-US" sz="1050" dirty="0"/>
          </a:p>
        </p:txBody>
      </p:sp>
      <p:sp>
        <p:nvSpPr>
          <p:cNvPr id="19" name="Shape 17"/>
          <p:cNvSpPr/>
          <p:nvPr/>
        </p:nvSpPr>
        <p:spPr>
          <a:xfrm>
            <a:off x="8461035" y="2450592"/>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20" name="Text 18"/>
          <p:cNvSpPr txBox="1"/>
          <p:nvPr/>
        </p:nvSpPr>
        <p:spPr>
          <a:xfrm>
            <a:off x="8461035" y="2450592"/>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class</a:t>
            </a:r>
            <a:endParaRPr lang="en-US" sz="1050" dirty="0"/>
          </a:p>
        </p:txBody>
      </p:sp>
      <p:sp>
        <p:nvSpPr>
          <p:cNvPr id="21" name="Shape 19"/>
          <p:cNvSpPr/>
          <p:nvPr/>
        </p:nvSpPr>
        <p:spPr>
          <a:xfrm>
            <a:off x="9552188" y="2450592"/>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22" name="Text 20"/>
          <p:cNvSpPr txBox="1"/>
          <p:nvPr/>
        </p:nvSpPr>
        <p:spPr>
          <a:xfrm>
            <a:off x="9552188" y="2450592"/>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interface</a:t>
            </a:r>
            <a:endParaRPr lang="en-US" sz="1050" dirty="0"/>
          </a:p>
        </p:txBody>
      </p:sp>
      <p:sp>
        <p:nvSpPr>
          <p:cNvPr id="23" name="Shape 21"/>
          <p:cNvSpPr/>
          <p:nvPr/>
        </p:nvSpPr>
        <p:spPr>
          <a:xfrm>
            <a:off x="10643342" y="2450592"/>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24" name="Text 22"/>
          <p:cNvSpPr txBox="1"/>
          <p:nvPr/>
        </p:nvSpPr>
        <p:spPr>
          <a:xfrm>
            <a:off x="10643342" y="2450592"/>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static</a:t>
            </a:r>
            <a:endParaRPr lang="en-US" sz="1050" dirty="0"/>
          </a:p>
        </p:txBody>
      </p:sp>
      <p:sp>
        <p:nvSpPr>
          <p:cNvPr id="25" name="Shape 23"/>
          <p:cNvSpPr/>
          <p:nvPr/>
        </p:nvSpPr>
        <p:spPr>
          <a:xfrm>
            <a:off x="6278728" y="2852928"/>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26" name="Text 24"/>
          <p:cNvSpPr txBox="1"/>
          <p:nvPr/>
        </p:nvSpPr>
        <p:spPr>
          <a:xfrm>
            <a:off x="6278728" y="2852928"/>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final</a:t>
            </a:r>
            <a:endParaRPr lang="en-US" sz="1050" dirty="0"/>
          </a:p>
        </p:txBody>
      </p:sp>
      <p:sp>
        <p:nvSpPr>
          <p:cNvPr id="27" name="Shape 25"/>
          <p:cNvSpPr/>
          <p:nvPr/>
        </p:nvSpPr>
        <p:spPr>
          <a:xfrm>
            <a:off x="7369881" y="2852928"/>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28" name="Text 26"/>
          <p:cNvSpPr txBox="1"/>
          <p:nvPr/>
        </p:nvSpPr>
        <p:spPr>
          <a:xfrm>
            <a:off x="7369881" y="2852928"/>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void</a:t>
            </a:r>
            <a:endParaRPr lang="en-US" sz="1050" dirty="0"/>
          </a:p>
        </p:txBody>
      </p:sp>
      <p:sp>
        <p:nvSpPr>
          <p:cNvPr id="29" name="Shape 27"/>
          <p:cNvSpPr/>
          <p:nvPr/>
        </p:nvSpPr>
        <p:spPr>
          <a:xfrm>
            <a:off x="8461035" y="2852928"/>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30" name="Text 28"/>
          <p:cNvSpPr txBox="1"/>
          <p:nvPr/>
        </p:nvSpPr>
        <p:spPr>
          <a:xfrm>
            <a:off x="8461035" y="2852928"/>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int</a:t>
            </a:r>
            <a:endParaRPr lang="en-US" sz="1050" dirty="0"/>
          </a:p>
        </p:txBody>
      </p:sp>
      <p:sp>
        <p:nvSpPr>
          <p:cNvPr id="31" name="Shape 29"/>
          <p:cNvSpPr/>
          <p:nvPr/>
        </p:nvSpPr>
        <p:spPr>
          <a:xfrm>
            <a:off x="9552188" y="2852928"/>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32" name="Text 30"/>
          <p:cNvSpPr txBox="1"/>
          <p:nvPr/>
        </p:nvSpPr>
        <p:spPr>
          <a:xfrm>
            <a:off x="9552188" y="2852928"/>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double</a:t>
            </a:r>
            <a:endParaRPr lang="en-US" sz="1050" dirty="0"/>
          </a:p>
        </p:txBody>
      </p:sp>
      <p:sp>
        <p:nvSpPr>
          <p:cNvPr id="33" name="Shape 31"/>
          <p:cNvSpPr/>
          <p:nvPr/>
        </p:nvSpPr>
        <p:spPr>
          <a:xfrm>
            <a:off x="10643342" y="2852928"/>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34" name="Text 32"/>
          <p:cNvSpPr txBox="1"/>
          <p:nvPr/>
        </p:nvSpPr>
        <p:spPr>
          <a:xfrm>
            <a:off x="10643342" y="2852928"/>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boolean</a:t>
            </a:r>
            <a:endParaRPr lang="en-US" sz="1050" dirty="0"/>
          </a:p>
        </p:txBody>
      </p:sp>
      <p:sp>
        <p:nvSpPr>
          <p:cNvPr id="35" name="Shape 33"/>
          <p:cNvSpPr/>
          <p:nvPr/>
        </p:nvSpPr>
        <p:spPr>
          <a:xfrm>
            <a:off x="6278728" y="3255264"/>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36" name="Text 34"/>
          <p:cNvSpPr txBox="1"/>
          <p:nvPr/>
        </p:nvSpPr>
        <p:spPr>
          <a:xfrm>
            <a:off x="6278728" y="3255264"/>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char</a:t>
            </a:r>
            <a:endParaRPr lang="en-US" sz="1050" dirty="0"/>
          </a:p>
        </p:txBody>
      </p:sp>
      <p:sp>
        <p:nvSpPr>
          <p:cNvPr id="37" name="Shape 35"/>
          <p:cNvSpPr/>
          <p:nvPr/>
        </p:nvSpPr>
        <p:spPr>
          <a:xfrm>
            <a:off x="7369881" y="3255264"/>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38" name="Text 36"/>
          <p:cNvSpPr txBox="1"/>
          <p:nvPr/>
        </p:nvSpPr>
        <p:spPr>
          <a:xfrm>
            <a:off x="7369881" y="3255264"/>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if</a:t>
            </a:r>
            <a:endParaRPr lang="en-US" sz="1050" dirty="0"/>
          </a:p>
        </p:txBody>
      </p:sp>
      <p:sp>
        <p:nvSpPr>
          <p:cNvPr id="39" name="Shape 37"/>
          <p:cNvSpPr/>
          <p:nvPr/>
        </p:nvSpPr>
        <p:spPr>
          <a:xfrm>
            <a:off x="8461035" y="3255264"/>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40" name="Text 38"/>
          <p:cNvSpPr txBox="1"/>
          <p:nvPr/>
        </p:nvSpPr>
        <p:spPr>
          <a:xfrm>
            <a:off x="8461035" y="3255264"/>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else</a:t>
            </a:r>
            <a:endParaRPr lang="en-US" sz="1050" dirty="0"/>
          </a:p>
        </p:txBody>
      </p:sp>
      <p:sp>
        <p:nvSpPr>
          <p:cNvPr id="41" name="Shape 39"/>
          <p:cNvSpPr/>
          <p:nvPr/>
        </p:nvSpPr>
        <p:spPr>
          <a:xfrm>
            <a:off x="9552188" y="3255264"/>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42" name="Text 40"/>
          <p:cNvSpPr txBox="1"/>
          <p:nvPr/>
        </p:nvSpPr>
        <p:spPr>
          <a:xfrm>
            <a:off x="9552188" y="3255264"/>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switch</a:t>
            </a:r>
            <a:endParaRPr lang="en-US" sz="1050" dirty="0"/>
          </a:p>
        </p:txBody>
      </p:sp>
      <p:sp>
        <p:nvSpPr>
          <p:cNvPr id="43" name="Shape 41"/>
          <p:cNvSpPr/>
          <p:nvPr/>
        </p:nvSpPr>
        <p:spPr>
          <a:xfrm>
            <a:off x="10643342" y="3255264"/>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44" name="Text 42"/>
          <p:cNvSpPr txBox="1"/>
          <p:nvPr/>
        </p:nvSpPr>
        <p:spPr>
          <a:xfrm>
            <a:off x="10643342" y="3255264"/>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for</a:t>
            </a:r>
            <a:endParaRPr lang="en-US" sz="1050" dirty="0"/>
          </a:p>
        </p:txBody>
      </p:sp>
      <p:sp>
        <p:nvSpPr>
          <p:cNvPr id="45" name="Shape 43"/>
          <p:cNvSpPr/>
          <p:nvPr/>
        </p:nvSpPr>
        <p:spPr>
          <a:xfrm>
            <a:off x="6278728" y="3657600"/>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46" name="Text 44"/>
          <p:cNvSpPr txBox="1"/>
          <p:nvPr/>
        </p:nvSpPr>
        <p:spPr>
          <a:xfrm>
            <a:off x="6278728" y="3657600"/>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while</a:t>
            </a:r>
            <a:endParaRPr lang="en-US" sz="1050" dirty="0"/>
          </a:p>
        </p:txBody>
      </p:sp>
      <p:sp>
        <p:nvSpPr>
          <p:cNvPr id="47" name="Shape 45"/>
          <p:cNvSpPr/>
          <p:nvPr/>
        </p:nvSpPr>
        <p:spPr>
          <a:xfrm>
            <a:off x="7369881" y="3657600"/>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48" name="Text 46"/>
          <p:cNvSpPr txBox="1"/>
          <p:nvPr/>
        </p:nvSpPr>
        <p:spPr>
          <a:xfrm>
            <a:off x="7369881" y="3657600"/>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do</a:t>
            </a:r>
            <a:endParaRPr lang="en-US" sz="1050" dirty="0"/>
          </a:p>
        </p:txBody>
      </p:sp>
      <p:sp>
        <p:nvSpPr>
          <p:cNvPr id="49" name="Shape 47"/>
          <p:cNvSpPr/>
          <p:nvPr/>
        </p:nvSpPr>
        <p:spPr>
          <a:xfrm>
            <a:off x="8461035" y="3657600"/>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50" name="Text 48"/>
          <p:cNvSpPr txBox="1"/>
          <p:nvPr/>
        </p:nvSpPr>
        <p:spPr>
          <a:xfrm>
            <a:off x="8461035" y="3657600"/>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break</a:t>
            </a:r>
            <a:endParaRPr lang="en-US" sz="1050" dirty="0"/>
          </a:p>
        </p:txBody>
      </p:sp>
      <p:sp>
        <p:nvSpPr>
          <p:cNvPr id="51" name="Shape 49"/>
          <p:cNvSpPr/>
          <p:nvPr/>
        </p:nvSpPr>
        <p:spPr>
          <a:xfrm>
            <a:off x="9552188" y="3657600"/>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52" name="Text 50"/>
          <p:cNvSpPr txBox="1"/>
          <p:nvPr/>
        </p:nvSpPr>
        <p:spPr>
          <a:xfrm>
            <a:off x="9552188" y="3657600"/>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return</a:t>
            </a:r>
            <a:endParaRPr lang="en-US" sz="1050" dirty="0"/>
          </a:p>
        </p:txBody>
      </p:sp>
      <p:sp>
        <p:nvSpPr>
          <p:cNvPr id="53" name="Shape 51"/>
          <p:cNvSpPr/>
          <p:nvPr/>
        </p:nvSpPr>
        <p:spPr>
          <a:xfrm>
            <a:off x="10643342" y="3657600"/>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54" name="Text 52"/>
          <p:cNvSpPr txBox="1"/>
          <p:nvPr/>
        </p:nvSpPr>
        <p:spPr>
          <a:xfrm>
            <a:off x="10643342" y="3657600"/>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new</a:t>
            </a:r>
            <a:endParaRPr lang="en-US" sz="1050" dirty="0"/>
          </a:p>
        </p:txBody>
      </p:sp>
      <p:sp>
        <p:nvSpPr>
          <p:cNvPr id="55" name="Shape 53"/>
          <p:cNvSpPr/>
          <p:nvPr/>
        </p:nvSpPr>
        <p:spPr>
          <a:xfrm>
            <a:off x="6278728" y="4059936"/>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56" name="Text 54"/>
          <p:cNvSpPr txBox="1"/>
          <p:nvPr/>
        </p:nvSpPr>
        <p:spPr>
          <a:xfrm>
            <a:off x="6278728" y="4059936"/>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this</a:t>
            </a:r>
            <a:endParaRPr lang="en-US" sz="1050" dirty="0"/>
          </a:p>
        </p:txBody>
      </p:sp>
      <p:sp>
        <p:nvSpPr>
          <p:cNvPr id="57" name="Shape 55"/>
          <p:cNvSpPr/>
          <p:nvPr/>
        </p:nvSpPr>
        <p:spPr>
          <a:xfrm>
            <a:off x="7369881" y="4059936"/>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58" name="Text 56"/>
          <p:cNvSpPr txBox="1"/>
          <p:nvPr/>
        </p:nvSpPr>
        <p:spPr>
          <a:xfrm>
            <a:off x="7369881" y="4059936"/>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super</a:t>
            </a:r>
            <a:endParaRPr lang="en-US" sz="1050" dirty="0"/>
          </a:p>
        </p:txBody>
      </p:sp>
      <p:sp>
        <p:nvSpPr>
          <p:cNvPr id="59" name="Shape 57"/>
          <p:cNvSpPr/>
          <p:nvPr/>
        </p:nvSpPr>
        <p:spPr>
          <a:xfrm>
            <a:off x="8461035" y="4059936"/>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60" name="Text 58"/>
          <p:cNvSpPr txBox="1"/>
          <p:nvPr/>
        </p:nvSpPr>
        <p:spPr>
          <a:xfrm>
            <a:off x="8461035" y="4059936"/>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extends</a:t>
            </a:r>
            <a:endParaRPr lang="en-US" sz="1050" dirty="0"/>
          </a:p>
        </p:txBody>
      </p:sp>
      <p:sp>
        <p:nvSpPr>
          <p:cNvPr id="61" name="Shape 59"/>
          <p:cNvSpPr/>
          <p:nvPr/>
        </p:nvSpPr>
        <p:spPr>
          <a:xfrm>
            <a:off x="9552188" y="4059936"/>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62" name="Text 60"/>
          <p:cNvSpPr txBox="1"/>
          <p:nvPr/>
        </p:nvSpPr>
        <p:spPr>
          <a:xfrm>
            <a:off x="9552188" y="4059936"/>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try</a:t>
            </a:r>
            <a:endParaRPr lang="en-US" sz="1050" dirty="0"/>
          </a:p>
        </p:txBody>
      </p:sp>
      <p:sp>
        <p:nvSpPr>
          <p:cNvPr id="63" name="Shape 61"/>
          <p:cNvSpPr/>
          <p:nvPr/>
        </p:nvSpPr>
        <p:spPr>
          <a:xfrm>
            <a:off x="10643342" y="4059936"/>
            <a:ext cx="981426" cy="329184"/>
          </a:xfrm>
          <a:prstGeom prst="roundRect">
            <a:avLst>
              <a:gd name="adj" fmla="val 25000"/>
            </a:avLst>
          </a:prstGeom>
          <a:solidFill>
            <a:srgbClr val="E4ECF4"/>
          </a:solidFill>
          <a:ln w="12700">
            <a:solidFill>
              <a:srgbClr val="E4ECF4"/>
            </a:solidFill>
            <a:prstDash val="solid"/>
          </a:ln>
        </p:spPr>
        <p:txBody>
          <a:bodyPr/>
          <a:lstStyle/>
          <a:p>
            <a:endParaRPr lang="en-US"/>
          </a:p>
        </p:txBody>
      </p:sp>
      <p:sp>
        <p:nvSpPr>
          <p:cNvPr id="64" name="Text 62"/>
          <p:cNvSpPr txBox="1"/>
          <p:nvPr/>
        </p:nvSpPr>
        <p:spPr>
          <a:xfrm>
            <a:off x="10643342" y="4059936"/>
            <a:ext cx="981426" cy="329184"/>
          </a:xfrm>
          <a:prstGeom prst="rect">
            <a:avLst/>
          </a:prstGeom>
          <a:noFill/>
          <a:ln/>
        </p:spPr>
        <p:txBody>
          <a:bodyPr wrap="square" lIns="0" tIns="0" rIns="0" bIns="0" rtlCol="0" anchor="ctr"/>
          <a:lstStyle/>
          <a:p>
            <a:pPr marL="0" indent="0" algn="ctr">
              <a:buNone/>
            </a:pPr>
            <a:r>
              <a:rPr lang="en-US" sz="1050" b="1" dirty="0">
                <a:solidFill>
                  <a:srgbClr val="9A430A"/>
                </a:solidFill>
                <a:latin typeface="Courier New" pitchFamily="34" charset="0"/>
                <a:ea typeface="Courier New" pitchFamily="34" charset="-122"/>
                <a:cs typeface="Courier New" pitchFamily="34" charset="-120"/>
              </a:rPr>
              <a:t>catch</a:t>
            </a:r>
            <a:endParaRPr lang="en-US" sz="1050" dirty="0"/>
          </a:p>
        </p:txBody>
      </p:sp>
      <p:sp>
        <p:nvSpPr>
          <p:cNvPr id="65" name="Text 63"/>
          <p:cNvSpPr txBox="1"/>
          <p:nvPr/>
        </p:nvSpPr>
        <p:spPr>
          <a:xfrm>
            <a:off x="6278728" y="4462272"/>
            <a:ext cx="5346040" cy="237744"/>
          </a:xfrm>
          <a:prstGeom prst="rect">
            <a:avLst/>
          </a:prstGeom>
          <a:noFill/>
          <a:ln/>
        </p:spPr>
        <p:txBody>
          <a:bodyPr wrap="square" lIns="0" tIns="0" rIns="0" bIns="0" rtlCol="0" anchor="ctr"/>
          <a:lstStyle/>
          <a:p>
            <a:pPr marL="0" indent="0">
              <a:buNone/>
            </a:pPr>
            <a:r>
              <a:rPr lang="en-US" sz="1100" i="1" dirty="0">
                <a:solidFill>
                  <a:srgbClr val="4B6377"/>
                </a:solidFill>
                <a:latin typeface="Calibri" pitchFamily="34" charset="0"/>
                <a:ea typeface="Calibri" pitchFamily="34" charset="-122"/>
                <a:cs typeface="Calibri" pitchFamily="34" charset="-120"/>
              </a:rPr>
              <a:t>… and about twenty more.</a:t>
            </a:r>
            <a:endParaRPr lang="en-US" sz="1100" dirty="0"/>
          </a:p>
        </p:txBody>
      </p:sp>
      <p:sp>
        <p:nvSpPr>
          <p:cNvPr id="66" name="Shape 64"/>
          <p:cNvSpPr/>
          <p:nvPr/>
        </p:nvSpPr>
        <p:spPr>
          <a:xfrm>
            <a:off x="6278728" y="4754880"/>
            <a:ext cx="5346040" cy="822960"/>
          </a:xfrm>
          <a:prstGeom prst="roundRect">
            <a:avLst>
              <a:gd name="adj" fmla="val 10000"/>
            </a:avLst>
          </a:prstGeom>
          <a:solidFill>
            <a:srgbClr val="FBEEE0"/>
          </a:solidFill>
          <a:ln w="12700">
            <a:solidFill>
              <a:srgbClr val="FBEEE0"/>
            </a:solidFill>
            <a:prstDash val="solid"/>
          </a:ln>
        </p:spPr>
        <p:txBody>
          <a:bodyPr/>
          <a:lstStyle/>
          <a:p>
            <a:endParaRPr lang="en-US"/>
          </a:p>
        </p:txBody>
      </p:sp>
      <p:sp>
        <p:nvSpPr>
          <p:cNvPr id="67" name="Text 65"/>
          <p:cNvSpPr txBox="1"/>
          <p:nvPr/>
        </p:nvSpPr>
        <p:spPr>
          <a:xfrm>
            <a:off x="6534760" y="4754880"/>
            <a:ext cx="4833976" cy="822960"/>
          </a:xfrm>
          <a:prstGeom prst="rect">
            <a:avLst/>
          </a:prstGeom>
          <a:noFill/>
          <a:ln/>
        </p:spPr>
        <p:txBody>
          <a:bodyPr wrap="square" lIns="0" tIns="0" rIns="0" bIns="0" rtlCol="0" anchor="ctr"/>
          <a:lstStyle/>
          <a:p>
            <a:pPr marL="0" indent="0">
              <a:lnSpc>
                <a:spcPct val="110000"/>
              </a:lnSpc>
              <a:buNone/>
            </a:pPr>
            <a:r>
              <a:rPr lang="en-US" sz="1150" dirty="0">
                <a:solidFill>
                  <a:srgbClr val="9A430A"/>
                </a:solidFill>
                <a:latin typeface="Calibri" pitchFamily="34" charset="0"/>
                <a:ea typeface="Calibri" pitchFamily="34" charset="-122"/>
                <a:cs typeface="Calibri" pitchFamily="34" charset="-120"/>
              </a:rPr>
              <a:t>Note what is NOT a keyword: String, System and println are library names, not reserved words. You could legally name a variable string — please do not.</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ANATOMY  ·  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Blocks, Braces and the Special Symbols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37</a:t>
            </a:r>
            <a:endParaRPr lang="en-US" sz="900" dirty="0"/>
          </a:p>
        </p:txBody>
      </p:sp>
      <p:sp>
        <p:nvSpPr>
          <p:cNvPr id="6" name="Text 4"/>
          <p:cNvSpPr txBox="1"/>
          <p:nvPr/>
        </p:nvSpPr>
        <p:spPr>
          <a:xfrm>
            <a:off x="566928" y="1261872"/>
            <a:ext cx="5029200"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A block groups statements</a:t>
            </a:r>
            <a:endParaRPr lang="en-US" sz="1700" dirty="0"/>
          </a:p>
        </p:txBody>
      </p:sp>
      <p:sp>
        <p:nvSpPr>
          <p:cNvPr id="7" name="Shape 5"/>
          <p:cNvSpPr/>
          <p:nvPr/>
        </p:nvSpPr>
        <p:spPr>
          <a:xfrm>
            <a:off x="566928" y="1664208"/>
            <a:ext cx="5029200" cy="1443838"/>
          </a:xfrm>
          <a:prstGeom prst="roundRect">
            <a:avLst>
              <a:gd name="adj" fmla="val 4433"/>
            </a:avLst>
          </a:prstGeom>
          <a:solidFill>
            <a:srgbClr val="EDF2F7"/>
          </a:solidFill>
          <a:ln w="12700">
            <a:solidFill>
              <a:srgbClr val="CFDBE5"/>
            </a:solidFill>
            <a:prstDash val="solid"/>
          </a:ln>
        </p:spPr>
        <p:txBody>
          <a:bodyPr/>
          <a:lstStyle/>
          <a:p>
            <a:endParaRPr lang="en-US"/>
          </a:p>
        </p:txBody>
      </p:sp>
      <p:sp>
        <p:nvSpPr>
          <p:cNvPr id="8" name="Text 6"/>
          <p:cNvSpPr txBox="1"/>
          <p:nvPr/>
        </p:nvSpPr>
        <p:spPr>
          <a:xfrm>
            <a:off x="731520" y="1801368"/>
            <a:ext cx="4700016" cy="1242670"/>
          </a:xfrm>
          <a:prstGeom prst="rect">
            <a:avLst/>
          </a:prstGeom>
          <a:noFill/>
          <a:ln/>
        </p:spPr>
        <p:txBody>
          <a:bodyPr wrap="square" lIns="0" tIns="0" rIns="0" bIns="0" rtlCol="0" anchor="t"/>
          <a:lstStyle/>
          <a:p>
            <a:pPr marL="0" indent="0">
              <a:lnSpc>
                <a:spcPct val="112000"/>
              </a:lnSpc>
              <a:buNone/>
            </a:pPr>
            <a:r>
              <a:rPr lang="en-US" sz="1150" dirty="0">
                <a:solidFill>
                  <a:srgbClr val="9A3412"/>
                </a:solidFill>
                <a:latin typeface="Courier New" pitchFamily="34" charset="0"/>
                <a:ea typeface="Courier New" pitchFamily="34" charset="-122"/>
                <a:cs typeface="Courier New" pitchFamily="34" charset="-120"/>
              </a:rPr>
              <a:t>public</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9A3412"/>
                </a:solidFill>
                <a:latin typeface="Courier New" pitchFamily="34" charset="0"/>
                <a:ea typeface="Courier New" pitchFamily="34" charset="-122"/>
                <a:cs typeface="Courier New" pitchFamily="34" charset="-120"/>
              </a:rPr>
              <a:t>class</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14568A"/>
                </a:solidFill>
                <a:latin typeface="Courier New" pitchFamily="34" charset="0"/>
                <a:ea typeface="Courier New" pitchFamily="34" charset="-122"/>
                <a:cs typeface="Courier New" pitchFamily="34" charset="-120"/>
              </a:rPr>
              <a:t>Welcome</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415C6E"/>
                </a:solidFill>
                <a:latin typeface="Courier New" pitchFamily="34" charset="0"/>
                <a:ea typeface="Courier New" pitchFamily="34" charset="-122"/>
                <a:cs typeface="Courier New" pitchFamily="34" charset="-120"/>
              </a:rPr>
              <a:t>// class block</a:t>
            </a:r>
            <a:endParaRPr lang="en-US" sz="1150" dirty="0"/>
          </a:p>
          <a:p>
            <a:pPr marL="0" indent="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9A3412"/>
                </a:solidFill>
                <a:latin typeface="Courier New" pitchFamily="34" charset="0"/>
                <a:ea typeface="Courier New" pitchFamily="34" charset="-122"/>
                <a:cs typeface="Courier New" pitchFamily="34" charset="-120"/>
              </a:rPr>
              <a:t>public</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9A3412"/>
                </a:solidFill>
                <a:latin typeface="Courier New" pitchFamily="34" charset="0"/>
                <a:ea typeface="Courier New" pitchFamily="34" charset="-122"/>
                <a:cs typeface="Courier New" pitchFamily="34" charset="-120"/>
              </a:rPr>
              <a:t>static</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9A3412"/>
                </a:solidFill>
                <a:latin typeface="Courier New" pitchFamily="34" charset="0"/>
                <a:ea typeface="Courier New" pitchFamily="34" charset="-122"/>
                <a:cs typeface="Courier New" pitchFamily="34" charset="-120"/>
              </a:rPr>
              <a:t>void</a:t>
            </a:r>
            <a:r>
              <a:rPr lang="en-US" sz="1150" dirty="0">
                <a:solidFill>
                  <a:srgbClr val="14293C"/>
                </a:solidFill>
                <a:latin typeface="Courier New" pitchFamily="34" charset="0"/>
                <a:ea typeface="Courier New" pitchFamily="34" charset="-122"/>
                <a:cs typeface="Courier New" pitchFamily="34" charset="-120"/>
              </a:rPr>
              <a:t> main</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415C6E"/>
                </a:solidFill>
                <a:latin typeface="Courier New" pitchFamily="34" charset="0"/>
                <a:ea typeface="Courier New" pitchFamily="34" charset="-122"/>
                <a:cs typeface="Courier New" pitchFamily="34" charset="-120"/>
              </a:rPr>
              <a:t>// method block</a:t>
            </a:r>
            <a:endParaRPr lang="en-US" sz="1150" dirty="0"/>
          </a:p>
          <a:p>
            <a:pPr marL="0" indent="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14568A"/>
                </a:solidFill>
                <a:latin typeface="Courier New" pitchFamily="34" charset="0"/>
                <a:ea typeface="Courier New" pitchFamily="34" charset="-122"/>
                <a:cs typeface="Courier New" pitchFamily="34" charset="-120"/>
              </a:rPr>
              <a:t>System</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out</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println</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614A"/>
                </a:solidFill>
                <a:latin typeface="Courier New" pitchFamily="34" charset="0"/>
                <a:ea typeface="Courier New" pitchFamily="34" charset="-122"/>
                <a:cs typeface="Courier New" pitchFamily="34" charset="-120"/>
              </a:rPr>
              <a:t>"Hi"</a:t>
            </a: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marL="0" indent="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marL="0" indent="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9" name="Text 7"/>
          <p:cNvSpPr txBox="1"/>
          <p:nvPr/>
        </p:nvSpPr>
        <p:spPr>
          <a:xfrm>
            <a:off x="566928" y="3364078"/>
            <a:ext cx="5029200" cy="109728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A pair of braces forms a block. Blocks nest: the method block sits inside the class block. Every opening brace needs its closing partner — IntelliJ will match them for you, and will complain loudly when they do not line up.</a:t>
            </a:r>
            <a:endParaRPr lang="en-US" sz="1250" dirty="0"/>
          </a:p>
        </p:txBody>
      </p:sp>
      <p:sp>
        <p:nvSpPr>
          <p:cNvPr id="10" name="Text 8"/>
          <p:cNvSpPr txBox="1"/>
          <p:nvPr/>
        </p:nvSpPr>
        <p:spPr>
          <a:xfrm>
            <a:off x="5961888" y="1261872"/>
            <a:ext cx="5662879" cy="310896"/>
          </a:xfrm>
          <a:prstGeom prst="rect">
            <a:avLst/>
          </a:prstGeom>
          <a:noFill/>
          <a:ln/>
        </p:spPr>
        <p:txBody>
          <a:bodyPr wrap="square" lIns="0" tIns="0" rIns="0" bIns="0" rtlCol="0" anchor="ctr"/>
          <a:lstStyle/>
          <a:p>
            <a:pPr marL="0" indent="0">
              <a:buNone/>
            </a:pPr>
            <a:r>
              <a:rPr lang="en-US" sz="1700" b="1" dirty="0">
                <a:solidFill>
                  <a:srgbClr val="0F2942"/>
                </a:solidFill>
                <a:latin typeface="Calibri" pitchFamily="34" charset="0"/>
                <a:ea typeface="Calibri" pitchFamily="34" charset="-122"/>
                <a:cs typeface="Calibri" pitchFamily="34" charset="-120"/>
              </a:rPr>
              <a:t>Special symbols</a:t>
            </a:r>
            <a:endParaRPr lang="en-US" sz="17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61888" y="1664208"/>
          <a:ext cx="5662879" cy="3200400"/>
        </p:xfrm>
        <a:graphic>
          <a:graphicData uri="http://schemas.openxmlformats.org/drawingml/2006/table">
            <a:tbl>
              <a:tblPr/>
              <a:tblGrid>
                <a:gridCol w="7772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3193999">
                  <a:extLst>
                    <a:ext uri="{9D8B030D-6E8A-4147-A177-3AD203B41FA5}">
                      <a16:colId xmlns:a16="http://schemas.microsoft.com/office/drawing/2014/main" val="20002"/>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Symbol</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does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457200">
                <a:tc>
                  <a:txBody>
                    <a:bodyPr/>
                    <a:lstStyle/>
                    <a:p>
                      <a:pPr marL="0" indent="0" algn="ctr">
                        <a:buNone/>
                      </a:pPr>
                      <a:r>
                        <a:rPr lang="en-US" sz="1150" b="1" dirty="0">
                          <a:solidFill>
                            <a:srgbClr val="9A430A"/>
                          </a:solidFill>
                          <a:latin typeface="Courier New" pitchFamily="34" charset="0"/>
                          <a:ea typeface="Courier New" pitchFamily="34" charset="-122"/>
                          <a:cs typeface="Courier New" pitchFamily="34" charset="-120"/>
                        </a:rPr>
                        <a:t>{ }</a:t>
                      </a:r>
                      <a:endParaRPr lang="en-US" sz="115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Braces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Encloses a block of statements.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150" b="1" dirty="0">
                          <a:solidFill>
                            <a:srgbClr val="9A430A"/>
                          </a:solidFill>
                          <a:latin typeface="Courier New" pitchFamily="34" charset="0"/>
                          <a:ea typeface="Courier New" pitchFamily="34" charset="-122"/>
                          <a:cs typeface="Courier New" pitchFamily="34" charset="-120"/>
                        </a:rPr>
                        <a:t>( )</a:t>
                      </a:r>
                      <a:endParaRPr lang="en-US" sz="115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Parentheses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Used with methods, and to group expressions.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150" b="1" dirty="0">
                          <a:solidFill>
                            <a:srgbClr val="9A430A"/>
                          </a:solidFill>
                          <a:latin typeface="Courier New" pitchFamily="34" charset="0"/>
                          <a:ea typeface="Courier New" pitchFamily="34" charset="-122"/>
                          <a:cs typeface="Courier New" pitchFamily="34" charset="-120"/>
                        </a:rPr>
                        <a:t>[ ]</a:t>
                      </a:r>
                      <a:endParaRPr lang="en-US" sz="115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Brackets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Declares and indexes an array.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150" b="1" dirty="0">
                          <a:solidFill>
                            <a:srgbClr val="9A430A"/>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Double slashes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Starts a comment that runs to the end of the line.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ctr">
                        <a:buNone/>
                      </a:pPr>
                      <a:r>
                        <a:rPr lang="en-US" sz="1150" b="1" dirty="0">
                          <a:solidFill>
                            <a:srgbClr val="9A430A"/>
                          </a:solidFill>
                          <a:latin typeface="Courier New" pitchFamily="34" charset="0"/>
                          <a:ea typeface="Courier New" pitchFamily="34" charset="-122"/>
                          <a:cs typeface="Courier New" pitchFamily="34" charset="-120"/>
                        </a:rPr>
                        <a:t>" "</a:t>
                      </a:r>
                      <a:endParaRPr lang="en-US" sz="115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Quotation marks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Encloses a string — a sequence of characters.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ctr">
                        <a:buNone/>
                      </a:pPr>
                      <a:r>
                        <a:rPr lang="en-US" sz="1150" b="1" dirty="0">
                          <a:solidFill>
                            <a:srgbClr val="9A430A"/>
                          </a:solidFill>
                          <a:latin typeface="Courier New" pitchFamily="34" charset="0"/>
                          <a:ea typeface="Courier New" pitchFamily="34" charset="-122"/>
                          <a:cs typeface="Courier New" pitchFamily="34" charset="-120"/>
                        </a:rPr>
                        <a:t>;</a:t>
                      </a:r>
                      <a:endParaRPr lang="en-US" sz="115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Semicolon</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Marks the end of a statement.</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Shape 9"/>
          <p:cNvSpPr/>
          <p:nvPr/>
        </p:nvSpPr>
        <p:spPr>
          <a:xfrm>
            <a:off x="566928" y="4571086"/>
            <a:ext cx="5029200" cy="960120"/>
          </a:xfrm>
          <a:prstGeom prst="roundRect">
            <a:avLst>
              <a:gd name="adj" fmla="val 8571"/>
            </a:avLst>
          </a:prstGeom>
          <a:solidFill>
            <a:srgbClr val="F1F5F9"/>
          </a:solidFill>
          <a:ln w="12700">
            <a:solidFill>
              <a:srgbClr val="F1F5F9"/>
            </a:solidFill>
            <a:prstDash val="solid"/>
          </a:ln>
        </p:spPr>
        <p:txBody>
          <a:bodyPr/>
          <a:lstStyle/>
          <a:p>
            <a:endParaRPr lang="en-US"/>
          </a:p>
        </p:txBody>
      </p:sp>
      <p:sp>
        <p:nvSpPr>
          <p:cNvPr id="13" name="Text 10"/>
          <p:cNvSpPr txBox="1"/>
          <p:nvPr/>
        </p:nvSpPr>
        <p:spPr>
          <a:xfrm>
            <a:off x="822960" y="4571086"/>
            <a:ext cx="4517136" cy="960120"/>
          </a:xfrm>
          <a:prstGeom prst="rect">
            <a:avLst/>
          </a:prstGeom>
          <a:noFill/>
          <a:ln/>
        </p:spPr>
        <p:txBody>
          <a:bodyPr wrap="square" lIns="0" tIns="0" rIns="0" bIns="0" rtlCol="0" anchor="ctr"/>
          <a:lstStyle/>
          <a:p>
            <a:pPr marL="0" indent="0">
              <a:lnSpc>
                <a:spcPct val="110000"/>
              </a:lnSpc>
              <a:buNone/>
            </a:pPr>
            <a:r>
              <a:rPr lang="en-US" sz="1200" dirty="0">
                <a:solidFill>
                  <a:srgbClr val="0F2942"/>
                </a:solidFill>
                <a:latin typeface="Calibri" pitchFamily="34" charset="0"/>
                <a:ea typeface="Calibri" pitchFamily="34" charset="-122"/>
                <a:cs typeface="Calibri" pitchFamily="34" charset="-120"/>
              </a:rPr>
              <a:t>Braces group, parentheses call, brackets index. Confusing the three is the second most common beginner error, after the missing semicolon.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EXECUTION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Tracing the Program, Step by Step</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The JVM does exactly three things when you run java Welcome.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38</a:t>
            </a:r>
            <a:endParaRPr lang="en-US" sz="900" dirty="0"/>
          </a:p>
        </p:txBody>
      </p:sp>
      <p:sp>
        <p:nvSpPr>
          <p:cNvPr id="7" name="Shape 5"/>
          <p:cNvSpPr/>
          <p:nvPr/>
        </p:nvSpPr>
        <p:spPr>
          <a:xfrm>
            <a:off x="566928" y="1536192"/>
            <a:ext cx="3551834" cy="3291840"/>
          </a:xfrm>
          <a:prstGeom prst="roundRect">
            <a:avLst>
              <a:gd name="adj" fmla="val 2500"/>
            </a:avLst>
          </a:prstGeom>
          <a:solidFill>
            <a:srgbClr val="F1F5F9"/>
          </a:solidFill>
          <a:ln w="12700">
            <a:solidFill>
              <a:srgbClr val="F1F5F9"/>
            </a:solidFill>
            <a:prstDash val="solid"/>
          </a:ln>
        </p:spPr>
        <p:txBody>
          <a:bodyPr/>
          <a:lstStyle/>
          <a:p>
            <a:endParaRPr lang="en-US"/>
          </a:p>
        </p:txBody>
      </p:sp>
      <p:sp>
        <p:nvSpPr>
          <p:cNvPr id="8" name="Shape 6"/>
          <p:cNvSpPr/>
          <p:nvPr/>
        </p:nvSpPr>
        <p:spPr>
          <a:xfrm>
            <a:off x="804672" y="1755648"/>
            <a:ext cx="365760" cy="365760"/>
          </a:xfrm>
          <a:prstGeom prst="ellipse">
            <a:avLst/>
          </a:prstGeom>
          <a:solidFill>
            <a:srgbClr val="C4560C"/>
          </a:solidFill>
          <a:ln w="12700">
            <a:solidFill>
              <a:srgbClr val="C4560C"/>
            </a:solidFill>
            <a:prstDash val="solid"/>
          </a:ln>
        </p:spPr>
        <p:txBody>
          <a:bodyPr/>
          <a:lstStyle/>
          <a:p>
            <a:endParaRPr lang="en-US"/>
          </a:p>
        </p:txBody>
      </p:sp>
      <p:sp>
        <p:nvSpPr>
          <p:cNvPr id="9" name="Text 7"/>
          <p:cNvSpPr txBox="1"/>
          <p:nvPr/>
        </p:nvSpPr>
        <p:spPr>
          <a:xfrm>
            <a:off x="804672" y="17556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280160" y="1737360"/>
            <a:ext cx="2637434" cy="402336"/>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Enter the main method</a:t>
            </a:r>
            <a:endParaRPr lang="en-US" sz="1450" dirty="0"/>
          </a:p>
        </p:txBody>
      </p:sp>
      <p:sp>
        <p:nvSpPr>
          <p:cNvPr id="11" name="Shape 9"/>
          <p:cNvSpPr/>
          <p:nvPr/>
        </p:nvSpPr>
        <p:spPr>
          <a:xfrm>
            <a:off x="786384" y="2313432"/>
            <a:ext cx="3112922" cy="1346911"/>
          </a:xfrm>
          <a:prstGeom prst="roundRect">
            <a:avLst>
              <a:gd name="adj" fmla="val 4752"/>
            </a:avLst>
          </a:prstGeom>
          <a:solidFill>
            <a:srgbClr val="EDF2F7"/>
          </a:solidFill>
          <a:ln w="12700">
            <a:solidFill>
              <a:srgbClr val="CFDBE5"/>
            </a:solidFill>
            <a:prstDash val="solid"/>
          </a:ln>
        </p:spPr>
        <p:txBody>
          <a:bodyPr/>
          <a:lstStyle/>
          <a:p>
            <a:endParaRPr lang="en-US"/>
          </a:p>
        </p:txBody>
      </p:sp>
      <p:sp>
        <p:nvSpPr>
          <p:cNvPr id="12" name="Text 10"/>
          <p:cNvSpPr txBox="1"/>
          <p:nvPr/>
        </p:nvSpPr>
        <p:spPr>
          <a:xfrm>
            <a:off x="950976" y="2450592"/>
            <a:ext cx="2783738" cy="1145743"/>
          </a:xfrm>
          <a:prstGeom prst="rect">
            <a:avLst/>
          </a:prstGeom>
          <a:noFill/>
          <a:ln/>
        </p:spPr>
        <p:txBody>
          <a:bodyPr wrap="square" lIns="0" tIns="0" rIns="0" bIns="0" rtlCol="0" anchor="t"/>
          <a:lstStyle/>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public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class</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568A"/>
                </a:solidFill>
                <a:latin typeface="Courier New" pitchFamily="34" charset="0"/>
                <a:ea typeface="Courier New" pitchFamily="34" charset="-122"/>
                <a:cs typeface="Courier New" pitchFamily="34" charset="-120"/>
              </a:rPr>
              <a:t>Welcome</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b="1" dirty="0">
                <a:solidFill>
                  <a:srgbClr val="8A3B07"/>
                </a:solidFill>
                <a:latin typeface="Courier New" pitchFamily="34" charset="0"/>
                <a:ea typeface="Courier New" pitchFamily="34" charset="-122"/>
                <a:cs typeface="Courier New" pitchFamily="34" charset="-120"/>
              </a:rPr>
              <a:t>&gt;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public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static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void</a:t>
            </a:r>
            <a:r>
              <a:rPr lang="en-US" sz="1050" dirty="0">
                <a:solidFill>
                  <a:srgbClr val="14293C"/>
                </a:solidFill>
                <a:latin typeface="Courier New" pitchFamily="34" charset="0"/>
                <a:ea typeface="Courier New" pitchFamily="34" charset="-122"/>
                <a:cs typeface="Courier New" pitchFamily="34" charset="-120"/>
              </a:rPr>
              <a:t> main</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568A"/>
                </a:solidFill>
                <a:latin typeface="Courier New" pitchFamily="34" charset="0"/>
                <a:ea typeface="Courier New" pitchFamily="34" charset="-122"/>
                <a:cs typeface="Courier New" pitchFamily="34" charset="-120"/>
              </a:rPr>
              <a:t>System</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out</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println</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614A"/>
                </a:solidFill>
                <a:latin typeface="Courier New" pitchFamily="34" charset="0"/>
                <a:ea typeface="Courier New" pitchFamily="34" charset="-122"/>
                <a:cs typeface="Courier New" pitchFamily="34" charset="-120"/>
              </a:rPr>
              <a:t>"Hi"</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3" name="Text 11"/>
          <p:cNvSpPr txBox="1"/>
          <p:nvPr/>
        </p:nvSpPr>
        <p:spPr>
          <a:xfrm>
            <a:off x="786384" y="3888943"/>
            <a:ext cx="3112922" cy="1371600"/>
          </a:xfrm>
          <a:prstGeom prst="rect">
            <a:avLst/>
          </a:prstGeom>
          <a:noFill/>
          <a:ln/>
        </p:spPr>
        <p:txBody>
          <a:bodyPr wrap="square" lIns="0" tIns="0" rIns="0" bIns="0" rtlCol="0" anchor="t"/>
          <a:lstStyle/>
          <a:p>
            <a:pPr marL="0" indent="0">
              <a:lnSpc>
                <a:spcPct val="112000"/>
              </a:lnSpc>
              <a:buNone/>
            </a:pPr>
            <a:r>
              <a:rPr lang="en-US" sz="1200" dirty="0">
                <a:solidFill>
                  <a:srgbClr val="3A536B"/>
                </a:solidFill>
                <a:latin typeface="Calibri" pitchFamily="34" charset="0"/>
                <a:ea typeface="Calibri" pitchFamily="34" charset="-122"/>
                <a:cs typeface="Calibri" pitchFamily="34" charset="-120"/>
              </a:rPr>
              <a:t>The JVM loads the class and calls main. Control now sits at the start of the method body.</a:t>
            </a:r>
            <a:endParaRPr lang="en-US" sz="1200" dirty="0"/>
          </a:p>
        </p:txBody>
      </p:sp>
      <p:sp>
        <p:nvSpPr>
          <p:cNvPr id="14" name="Shape 12"/>
          <p:cNvSpPr/>
          <p:nvPr/>
        </p:nvSpPr>
        <p:spPr>
          <a:xfrm>
            <a:off x="4319930" y="1536192"/>
            <a:ext cx="3551834" cy="3291840"/>
          </a:xfrm>
          <a:prstGeom prst="roundRect">
            <a:avLst>
              <a:gd name="adj" fmla="val 2500"/>
            </a:avLst>
          </a:prstGeom>
          <a:solidFill>
            <a:srgbClr val="F1F5F9"/>
          </a:solidFill>
          <a:ln w="12700">
            <a:solidFill>
              <a:srgbClr val="F1F5F9"/>
            </a:solidFill>
            <a:prstDash val="solid"/>
          </a:ln>
        </p:spPr>
        <p:txBody>
          <a:bodyPr/>
          <a:lstStyle/>
          <a:p>
            <a:endParaRPr lang="en-US"/>
          </a:p>
        </p:txBody>
      </p:sp>
      <p:sp>
        <p:nvSpPr>
          <p:cNvPr id="15" name="Shape 13"/>
          <p:cNvSpPr/>
          <p:nvPr/>
        </p:nvSpPr>
        <p:spPr>
          <a:xfrm>
            <a:off x="4557674" y="1755648"/>
            <a:ext cx="365760" cy="365760"/>
          </a:xfrm>
          <a:prstGeom prst="ellipse">
            <a:avLst/>
          </a:prstGeom>
          <a:solidFill>
            <a:srgbClr val="C4560C"/>
          </a:solidFill>
          <a:ln w="12700">
            <a:solidFill>
              <a:srgbClr val="C4560C"/>
            </a:solidFill>
            <a:prstDash val="solid"/>
          </a:ln>
        </p:spPr>
        <p:txBody>
          <a:bodyPr/>
          <a:lstStyle/>
          <a:p>
            <a:endParaRPr lang="en-US"/>
          </a:p>
        </p:txBody>
      </p:sp>
      <p:sp>
        <p:nvSpPr>
          <p:cNvPr id="16" name="Text 14"/>
          <p:cNvSpPr txBox="1"/>
          <p:nvPr/>
        </p:nvSpPr>
        <p:spPr>
          <a:xfrm>
            <a:off x="4557674" y="17556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5033162" y="1737360"/>
            <a:ext cx="2637434" cy="402336"/>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Execute the statement</a:t>
            </a:r>
            <a:endParaRPr lang="en-US" sz="1450" dirty="0"/>
          </a:p>
        </p:txBody>
      </p:sp>
      <p:sp>
        <p:nvSpPr>
          <p:cNvPr id="18" name="Shape 16"/>
          <p:cNvSpPr/>
          <p:nvPr/>
        </p:nvSpPr>
        <p:spPr>
          <a:xfrm>
            <a:off x="4539386" y="2313432"/>
            <a:ext cx="3112922" cy="1346911"/>
          </a:xfrm>
          <a:prstGeom prst="roundRect">
            <a:avLst>
              <a:gd name="adj" fmla="val 4752"/>
            </a:avLst>
          </a:prstGeom>
          <a:solidFill>
            <a:srgbClr val="EDF2F7"/>
          </a:solidFill>
          <a:ln w="12700">
            <a:solidFill>
              <a:srgbClr val="CFDBE5"/>
            </a:solidFill>
            <a:prstDash val="solid"/>
          </a:ln>
        </p:spPr>
        <p:txBody>
          <a:bodyPr/>
          <a:lstStyle/>
          <a:p>
            <a:endParaRPr lang="en-US"/>
          </a:p>
        </p:txBody>
      </p:sp>
      <p:sp>
        <p:nvSpPr>
          <p:cNvPr id="19" name="Text 17"/>
          <p:cNvSpPr txBox="1"/>
          <p:nvPr/>
        </p:nvSpPr>
        <p:spPr>
          <a:xfrm>
            <a:off x="4703978" y="2450592"/>
            <a:ext cx="2783738" cy="1145743"/>
          </a:xfrm>
          <a:prstGeom prst="rect">
            <a:avLst/>
          </a:prstGeom>
          <a:noFill/>
          <a:ln/>
        </p:spPr>
        <p:txBody>
          <a:bodyPr wrap="square" lIns="0" tIns="0" rIns="0" bIns="0" rtlCol="0" anchor="t"/>
          <a:lstStyle/>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public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class</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568A"/>
                </a:solidFill>
                <a:latin typeface="Courier New" pitchFamily="34" charset="0"/>
                <a:ea typeface="Courier New" pitchFamily="34" charset="-122"/>
                <a:cs typeface="Courier New" pitchFamily="34" charset="-120"/>
              </a:rPr>
              <a:t>Welcome</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public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static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void</a:t>
            </a:r>
            <a:r>
              <a:rPr lang="en-US" sz="1050" dirty="0">
                <a:solidFill>
                  <a:srgbClr val="14293C"/>
                </a:solidFill>
                <a:latin typeface="Courier New" pitchFamily="34" charset="0"/>
                <a:ea typeface="Courier New" pitchFamily="34" charset="-122"/>
                <a:cs typeface="Courier New" pitchFamily="34" charset="-120"/>
              </a:rPr>
              <a:t> main</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b="1" dirty="0">
                <a:solidFill>
                  <a:srgbClr val="8A3B07"/>
                </a:solidFill>
                <a:latin typeface="Courier New" pitchFamily="34" charset="0"/>
                <a:ea typeface="Courier New" pitchFamily="34" charset="-122"/>
                <a:cs typeface="Courier New" pitchFamily="34" charset="-120"/>
              </a:rPr>
              <a:t>&gt;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568A"/>
                </a:solidFill>
                <a:latin typeface="Courier New" pitchFamily="34" charset="0"/>
                <a:ea typeface="Courier New" pitchFamily="34" charset="-122"/>
                <a:cs typeface="Courier New" pitchFamily="34" charset="-120"/>
              </a:rPr>
              <a:t>System</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out</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println</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614A"/>
                </a:solidFill>
                <a:latin typeface="Courier New" pitchFamily="34" charset="0"/>
                <a:ea typeface="Courier New" pitchFamily="34" charset="-122"/>
                <a:cs typeface="Courier New" pitchFamily="34" charset="-120"/>
              </a:rPr>
              <a:t>"Hi"</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20" name="Text 18"/>
          <p:cNvSpPr txBox="1"/>
          <p:nvPr/>
        </p:nvSpPr>
        <p:spPr>
          <a:xfrm>
            <a:off x="4539386" y="3888943"/>
            <a:ext cx="3112922" cy="1371600"/>
          </a:xfrm>
          <a:prstGeom prst="rect">
            <a:avLst/>
          </a:prstGeom>
          <a:noFill/>
          <a:ln/>
        </p:spPr>
        <p:txBody>
          <a:bodyPr wrap="square" lIns="0" tIns="0" rIns="0" bIns="0" rtlCol="0" anchor="t"/>
          <a:lstStyle/>
          <a:p>
            <a:pPr marL="0" indent="0">
              <a:lnSpc>
                <a:spcPct val="112000"/>
              </a:lnSpc>
              <a:buNone/>
            </a:pPr>
            <a:r>
              <a:rPr lang="en-US" sz="1200" dirty="0">
                <a:solidFill>
                  <a:srgbClr val="3A536B"/>
                </a:solidFill>
                <a:latin typeface="Calibri" pitchFamily="34" charset="0"/>
                <a:ea typeface="Calibri" pitchFamily="34" charset="-122"/>
                <a:cs typeface="Calibri" pitchFamily="34" charset="-120"/>
              </a:rPr>
              <a:t>The statement runs: the text is written to the console, and control moves on to the next line.</a:t>
            </a:r>
            <a:endParaRPr lang="en-US" sz="1200" dirty="0"/>
          </a:p>
        </p:txBody>
      </p:sp>
      <p:sp>
        <p:nvSpPr>
          <p:cNvPr id="21" name="Shape 19"/>
          <p:cNvSpPr/>
          <p:nvPr/>
        </p:nvSpPr>
        <p:spPr>
          <a:xfrm>
            <a:off x="8072933" y="1536192"/>
            <a:ext cx="3551834" cy="3291840"/>
          </a:xfrm>
          <a:prstGeom prst="roundRect">
            <a:avLst>
              <a:gd name="adj" fmla="val 2500"/>
            </a:avLst>
          </a:prstGeom>
          <a:solidFill>
            <a:srgbClr val="F1F5F9"/>
          </a:solidFill>
          <a:ln w="12700">
            <a:solidFill>
              <a:srgbClr val="F1F5F9"/>
            </a:solidFill>
            <a:prstDash val="solid"/>
          </a:ln>
        </p:spPr>
        <p:txBody>
          <a:bodyPr/>
          <a:lstStyle/>
          <a:p>
            <a:endParaRPr lang="en-US"/>
          </a:p>
        </p:txBody>
      </p:sp>
      <p:sp>
        <p:nvSpPr>
          <p:cNvPr id="22" name="Shape 20"/>
          <p:cNvSpPr/>
          <p:nvPr/>
        </p:nvSpPr>
        <p:spPr>
          <a:xfrm>
            <a:off x="8310677" y="1755648"/>
            <a:ext cx="365760" cy="365760"/>
          </a:xfrm>
          <a:prstGeom prst="ellipse">
            <a:avLst/>
          </a:prstGeom>
          <a:solidFill>
            <a:srgbClr val="C4560C"/>
          </a:solidFill>
          <a:ln w="12700">
            <a:solidFill>
              <a:srgbClr val="C4560C"/>
            </a:solidFill>
            <a:prstDash val="solid"/>
          </a:ln>
        </p:spPr>
        <p:txBody>
          <a:bodyPr/>
          <a:lstStyle/>
          <a:p>
            <a:endParaRPr lang="en-US"/>
          </a:p>
        </p:txBody>
      </p:sp>
      <p:sp>
        <p:nvSpPr>
          <p:cNvPr id="23" name="Text 21"/>
          <p:cNvSpPr txBox="1"/>
          <p:nvPr/>
        </p:nvSpPr>
        <p:spPr>
          <a:xfrm>
            <a:off x="8310677" y="17556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8786165" y="1737360"/>
            <a:ext cx="2637434" cy="402336"/>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Leave the main method</a:t>
            </a:r>
            <a:endParaRPr lang="en-US" sz="1450" dirty="0"/>
          </a:p>
        </p:txBody>
      </p:sp>
      <p:sp>
        <p:nvSpPr>
          <p:cNvPr id="25" name="Shape 23"/>
          <p:cNvSpPr/>
          <p:nvPr/>
        </p:nvSpPr>
        <p:spPr>
          <a:xfrm>
            <a:off x="8292389" y="2313432"/>
            <a:ext cx="3112922" cy="1346911"/>
          </a:xfrm>
          <a:prstGeom prst="roundRect">
            <a:avLst>
              <a:gd name="adj" fmla="val 4752"/>
            </a:avLst>
          </a:prstGeom>
          <a:solidFill>
            <a:srgbClr val="EDF2F7"/>
          </a:solidFill>
          <a:ln w="12700">
            <a:solidFill>
              <a:srgbClr val="CFDBE5"/>
            </a:solidFill>
            <a:prstDash val="solid"/>
          </a:ln>
        </p:spPr>
        <p:txBody>
          <a:bodyPr/>
          <a:lstStyle/>
          <a:p>
            <a:endParaRPr lang="en-US"/>
          </a:p>
        </p:txBody>
      </p:sp>
      <p:sp>
        <p:nvSpPr>
          <p:cNvPr id="26" name="Text 24"/>
          <p:cNvSpPr txBox="1"/>
          <p:nvPr/>
        </p:nvSpPr>
        <p:spPr>
          <a:xfrm>
            <a:off x="8456981" y="2450592"/>
            <a:ext cx="2783738" cy="1145743"/>
          </a:xfrm>
          <a:prstGeom prst="rect">
            <a:avLst/>
          </a:prstGeom>
          <a:noFill/>
          <a:ln/>
        </p:spPr>
        <p:txBody>
          <a:bodyPr wrap="square" lIns="0" tIns="0" rIns="0" bIns="0" rtlCol="0" anchor="t"/>
          <a:lstStyle/>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public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class</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568A"/>
                </a:solidFill>
                <a:latin typeface="Courier New" pitchFamily="34" charset="0"/>
                <a:ea typeface="Courier New" pitchFamily="34" charset="-122"/>
                <a:cs typeface="Courier New" pitchFamily="34" charset="-120"/>
              </a:rPr>
              <a:t>Welcome</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public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static</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void</a:t>
            </a:r>
            <a:r>
              <a:rPr lang="en-US" sz="1050" dirty="0">
                <a:solidFill>
                  <a:srgbClr val="14293C"/>
                </a:solidFill>
                <a:latin typeface="Courier New" pitchFamily="34" charset="0"/>
                <a:ea typeface="Courier New" pitchFamily="34" charset="-122"/>
                <a:cs typeface="Courier New" pitchFamily="34" charset="-120"/>
              </a:rPr>
              <a:t> main</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568A"/>
                </a:solidFill>
                <a:latin typeface="Courier New" pitchFamily="34" charset="0"/>
                <a:ea typeface="Courier New" pitchFamily="34" charset="-122"/>
                <a:cs typeface="Courier New" pitchFamily="34" charset="-120"/>
              </a:rPr>
              <a:t>System</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out</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println</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614A"/>
                </a:solidFill>
                <a:latin typeface="Courier New" pitchFamily="34" charset="0"/>
                <a:ea typeface="Courier New" pitchFamily="34" charset="-122"/>
                <a:cs typeface="Courier New" pitchFamily="34" charset="-120"/>
              </a:rPr>
              <a:t>"Hi"</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b="1" dirty="0">
                <a:solidFill>
                  <a:srgbClr val="8A3B07"/>
                </a:solidFill>
                <a:latin typeface="Courier New" pitchFamily="34" charset="0"/>
                <a:ea typeface="Courier New" pitchFamily="34" charset="-122"/>
                <a:cs typeface="Courier New" pitchFamily="34" charset="-120"/>
              </a:rPr>
              <a:t>&gt;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27" name="Text 25"/>
          <p:cNvSpPr txBox="1"/>
          <p:nvPr/>
        </p:nvSpPr>
        <p:spPr>
          <a:xfrm>
            <a:off x="8292389" y="3888943"/>
            <a:ext cx="3112922" cy="1371600"/>
          </a:xfrm>
          <a:prstGeom prst="rect">
            <a:avLst/>
          </a:prstGeom>
          <a:noFill/>
          <a:ln/>
        </p:spPr>
        <p:txBody>
          <a:bodyPr wrap="square" lIns="0" tIns="0" rIns="0" bIns="0" rtlCol="0" anchor="t"/>
          <a:lstStyle/>
          <a:p>
            <a:pPr marL="0" indent="0">
              <a:lnSpc>
                <a:spcPct val="112000"/>
              </a:lnSpc>
              <a:buNone/>
            </a:pPr>
            <a:r>
              <a:rPr lang="en-US" sz="1200" dirty="0">
                <a:solidFill>
                  <a:srgbClr val="3A536B"/>
                </a:solidFill>
                <a:latin typeface="Calibri" pitchFamily="34" charset="0"/>
                <a:ea typeface="Calibri" pitchFamily="34" charset="-122"/>
                <a:cs typeface="Calibri" pitchFamily="34" charset="-120"/>
              </a:rPr>
              <a:t>The closing brace ends main. With nothing left to run, the JVM exits and the program is over.</a:t>
            </a:r>
            <a:endParaRPr lang="en-US" sz="1200" dirty="0"/>
          </a:p>
        </p:txBody>
      </p:sp>
      <p:sp>
        <p:nvSpPr>
          <p:cNvPr id="28" name="Text 26"/>
          <p:cNvSpPr txBox="1"/>
          <p:nvPr/>
        </p:nvSpPr>
        <p:spPr>
          <a:xfrm>
            <a:off x="566928" y="5010912"/>
            <a:ext cx="11057839" cy="310896"/>
          </a:xfrm>
          <a:prstGeom prst="rect">
            <a:avLst/>
          </a:prstGeom>
          <a:noFill/>
          <a:ln/>
        </p:spPr>
        <p:txBody>
          <a:bodyPr wrap="square" lIns="0" tIns="0" rIns="0" bIns="0" rtlCol="0" anchor="ctr"/>
          <a:lstStyle/>
          <a:p>
            <a:pPr marL="0" indent="0" algn="ctr">
              <a:buNone/>
            </a:pPr>
            <a:r>
              <a:rPr lang="en-US" sz="1250" i="1" dirty="0">
                <a:solidFill>
                  <a:srgbClr val="4B6377"/>
                </a:solidFill>
                <a:latin typeface="Calibri" pitchFamily="34" charset="0"/>
                <a:ea typeface="Calibri" pitchFamily="34" charset="-122"/>
                <a:cs typeface="Calibri" pitchFamily="34" charset="-120"/>
              </a:rPr>
              <a:t>The “&gt;” marks the line the JVM is executing. In IntelliJ's debugger you will see exactly this, one step at a time.</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Two More Programs to Try Tonight</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39</a:t>
            </a:r>
            <a:endParaRPr lang="en-US" sz="900" dirty="0"/>
          </a:p>
        </p:txBody>
      </p:sp>
      <p:sp>
        <p:nvSpPr>
          <p:cNvPr id="6" name="Text 4"/>
          <p:cNvSpPr txBox="1"/>
          <p:nvPr/>
        </p:nvSpPr>
        <p:spPr>
          <a:xfrm>
            <a:off x="566928" y="1261872"/>
            <a:ext cx="5346040" cy="310896"/>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WelcomeWithThreeMessages</a:t>
            </a:r>
            <a:endParaRPr lang="en-US" sz="1600" dirty="0"/>
          </a:p>
        </p:txBody>
      </p:sp>
      <p:sp>
        <p:nvSpPr>
          <p:cNvPr id="7" name="Shape 5"/>
          <p:cNvSpPr/>
          <p:nvPr/>
        </p:nvSpPr>
        <p:spPr>
          <a:xfrm>
            <a:off x="566928" y="1664208"/>
            <a:ext cx="5346040" cy="1821851"/>
          </a:xfrm>
          <a:prstGeom prst="roundRect">
            <a:avLst>
              <a:gd name="adj" fmla="val 3513"/>
            </a:avLst>
          </a:prstGeom>
          <a:solidFill>
            <a:srgbClr val="EDF2F7"/>
          </a:solidFill>
          <a:ln w="12700">
            <a:solidFill>
              <a:srgbClr val="CFDBE5"/>
            </a:solidFill>
            <a:prstDash val="solid"/>
          </a:ln>
        </p:spPr>
        <p:txBody>
          <a:bodyPr/>
          <a:lstStyle/>
          <a:p>
            <a:endParaRPr lang="en-US"/>
          </a:p>
        </p:txBody>
      </p:sp>
      <p:sp>
        <p:nvSpPr>
          <p:cNvPr id="8" name="Text 6"/>
          <p:cNvSpPr txBox="1"/>
          <p:nvPr/>
        </p:nvSpPr>
        <p:spPr>
          <a:xfrm>
            <a:off x="731520" y="1801368"/>
            <a:ext cx="5016856" cy="1620683"/>
          </a:xfrm>
          <a:prstGeom prst="rect">
            <a:avLst/>
          </a:prstGeom>
          <a:noFill/>
          <a:ln/>
        </p:spPr>
        <p:txBody>
          <a:bodyPr wrap="square" lIns="0" tIns="0" rIns="0" bIns="0" rtlCol="0" anchor="t"/>
          <a:lstStyle/>
          <a:p>
            <a:pPr marL="0" indent="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class</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14568A"/>
                </a:solidFill>
                <a:latin typeface="Courier New" pitchFamily="34" charset="0"/>
                <a:ea typeface="Courier New" pitchFamily="34" charset="-122"/>
                <a:cs typeface="Courier New" pitchFamily="34" charset="-120"/>
              </a:rPr>
              <a:t>WelcomeWithThreeMessages</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public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static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void</a:t>
            </a:r>
            <a:r>
              <a:rPr lang="en-US" sz="1100" dirty="0">
                <a:solidFill>
                  <a:srgbClr val="14293C"/>
                </a:solidFill>
                <a:latin typeface="Courier New" pitchFamily="34" charset="0"/>
                <a:ea typeface="Courier New" pitchFamily="34" charset="-122"/>
                <a:cs typeface="Courier New" pitchFamily="34" charset="-120"/>
              </a:rPr>
              <a:t> main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568A"/>
                </a:solidFill>
                <a:latin typeface="Courier New" pitchFamily="34" charset="0"/>
                <a:ea typeface="Courier New" pitchFamily="34" charset="-122"/>
                <a:cs typeface="Courier New" pitchFamily="34" charset="-120"/>
              </a:rPr>
              <a:t>String</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args</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14568A"/>
                </a:solidFill>
                <a:latin typeface="Courier New" pitchFamily="34" charset="0"/>
                <a:ea typeface="Courier New" pitchFamily="34" charset="-122"/>
                <a:cs typeface="Courier New" pitchFamily="34" charset="-120"/>
              </a:rPr>
              <a:t>System</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out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println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614A"/>
                </a:solidFill>
                <a:latin typeface="Courier New" pitchFamily="34" charset="0"/>
                <a:ea typeface="Courier New" pitchFamily="34" charset="-122"/>
                <a:cs typeface="Courier New" pitchFamily="34" charset="-120"/>
              </a:rPr>
              <a:t>"Programming is fun!"</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14568A"/>
                </a:solidFill>
                <a:latin typeface="Courier New" pitchFamily="34" charset="0"/>
                <a:ea typeface="Courier New" pitchFamily="34" charset="-122"/>
                <a:cs typeface="Courier New" pitchFamily="34" charset="-120"/>
              </a:rPr>
              <a:t>System</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out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println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614A"/>
                </a:solidFill>
                <a:latin typeface="Courier New" pitchFamily="34" charset="0"/>
                <a:ea typeface="Courier New" pitchFamily="34" charset="-122"/>
                <a:cs typeface="Courier New" pitchFamily="34" charset="-120"/>
              </a:rPr>
              <a:t>"Fundamentals First"</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14568A"/>
                </a:solidFill>
                <a:latin typeface="Courier New" pitchFamily="34" charset="0"/>
                <a:ea typeface="Courier New" pitchFamily="34" charset="-122"/>
                <a:cs typeface="Courier New" pitchFamily="34" charset="-120"/>
              </a:rPr>
              <a:t>System</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out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println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614A"/>
                </a:solidFill>
                <a:latin typeface="Courier New" pitchFamily="34" charset="0"/>
                <a:ea typeface="Courier New" pitchFamily="34" charset="-122"/>
                <a:cs typeface="Courier New" pitchFamily="34" charset="-120"/>
              </a:rPr>
              <a:t>"Problem Driven"</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9" name="Shape 7"/>
          <p:cNvSpPr/>
          <p:nvPr/>
        </p:nvSpPr>
        <p:spPr>
          <a:xfrm>
            <a:off x="566928" y="3723803"/>
            <a:ext cx="5346040" cy="1103909"/>
          </a:xfrm>
          <a:prstGeom prst="roundRect">
            <a:avLst>
              <a:gd name="adj" fmla="val 5798"/>
            </a:avLst>
          </a:prstGeom>
          <a:solidFill>
            <a:srgbClr val="FFFFFF"/>
          </a:solidFill>
          <a:ln w="12700">
            <a:solidFill>
              <a:srgbClr val="4B6377"/>
            </a:solidFill>
            <a:prstDash val="solid"/>
          </a:ln>
        </p:spPr>
        <p:txBody>
          <a:bodyPr/>
          <a:lstStyle/>
          <a:p>
            <a:endParaRPr lang="en-US"/>
          </a:p>
        </p:txBody>
      </p:sp>
      <p:sp>
        <p:nvSpPr>
          <p:cNvPr id="10" name="Text 8"/>
          <p:cNvSpPr txBox="1"/>
          <p:nvPr/>
        </p:nvSpPr>
        <p:spPr>
          <a:xfrm>
            <a:off x="713232" y="3796955"/>
            <a:ext cx="5053432" cy="182880"/>
          </a:xfrm>
          <a:prstGeom prst="rect">
            <a:avLst/>
          </a:prstGeom>
          <a:noFill/>
          <a:ln/>
        </p:spPr>
        <p:txBody>
          <a:bodyPr wrap="square" lIns="0" tIns="0" rIns="0" bIns="0" rtlCol="0" anchor="ctr"/>
          <a:lstStyle/>
          <a:p>
            <a:pPr marL="0" indent="0">
              <a:buNone/>
            </a:pPr>
            <a:r>
              <a:rPr lang="en-US" sz="950" b="1" kern="0" spc="100" dirty="0">
                <a:solidFill>
                  <a:srgbClr val="3A536B"/>
                </a:solidFill>
                <a:latin typeface="Calibri" pitchFamily="34" charset="0"/>
                <a:ea typeface="Calibri" pitchFamily="34" charset="-122"/>
                <a:cs typeface="Calibri" pitchFamily="34" charset="-120"/>
              </a:rPr>
              <a:t>OUTPUT</a:t>
            </a:r>
            <a:endParaRPr lang="en-US" sz="950" dirty="0"/>
          </a:p>
        </p:txBody>
      </p:sp>
      <p:sp>
        <p:nvSpPr>
          <p:cNvPr id="11" name="Text 9"/>
          <p:cNvSpPr txBox="1"/>
          <p:nvPr/>
        </p:nvSpPr>
        <p:spPr>
          <a:xfrm>
            <a:off x="713232" y="3998123"/>
            <a:ext cx="5053432" cy="738149"/>
          </a:xfrm>
          <a:prstGeom prst="rect">
            <a:avLst/>
          </a:prstGeom>
          <a:noFill/>
          <a:ln/>
        </p:spPr>
        <p:txBody>
          <a:bodyPr wrap="square" lIns="0" tIns="0" rIns="0" bIns="0" rtlCol="0" anchor="t"/>
          <a:lstStyle/>
          <a:p>
            <a:pPr marL="0" indent="0">
              <a:lnSpc>
                <a:spcPct val="110000"/>
              </a:lnSpc>
              <a:buNone/>
            </a:pPr>
            <a:r>
              <a:rPr lang="en-US" sz="1150" dirty="0">
                <a:solidFill>
                  <a:srgbClr val="0F2942"/>
                </a:solidFill>
                <a:latin typeface="Courier New" pitchFamily="34" charset="0"/>
                <a:ea typeface="Courier New" pitchFamily="34" charset="-122"/>
                <a:cs typeface="Courier New" pitchFamily="34" charset="-120"/>
              </a:rPr>
              <a:t>Programming is fun!</a:t>
            </a:r>
            <a:endParaRPr lang="en-US" sz="1150" dirty="0"/>
          </a:p>
          <a:p>
            <a:pPr marL="0" indent="0">
              <a:lnSpc>
                <a:spcPct val="110000"/>
              </a:lnSpc>
              <a:buNone/>
            </a:pPr>
            <a:r>
              <a:rPr lang="en-US" sz="1150" dirty="0">
                <a:solidFill>
                  <a:srgbClr val="0F2942"/>
                </a:solidFill>
                <a:latin typeface="Courier New" pitchFamily="34" charset="0"/>
                <a:ea typeface="Courier New" pitchFamily="34" charset="-122"/>
                <a:cs typeface="Courier New" pitchFamily="34" charset="-120"/>
              </a:rPr>
              <a:t>Fundamentals First</a:t>
            </a:r>
            <a:endParaRPr lang="en-US" sz="1150" dirty="0"/>
          </a:p>
          <a:p>
            <a:pPr marL="0" indent="0">
              <a:lnSpc>
                <a:spcPct val="110000"/>
              </a:lnSpc>
              <a:buNone/>
            </a:pPr>
            <a:r>
              <a:rPr lang="en-US" sz="1150" dirty="0">
                <a:solidFill>
                  <a:srgbClr val="0F2942"/>
                </a:solidFill>
                <a:latin typeface="Courier New" pitchFamily="34" charset="0"/>
                <a:ea typeface="Courier New" pitchFamily="34" charset="-122"/>
                <a:cs typeface="Courier New" pitchFamily="34" charset="-120"/>
              </a:rPr>
              <a:t>Problem Driven</a:t>
            </a:r>
            <a:endParaRPr lang="en-US" sz="1150" dirty="0"/>
          </a:p>
        </p:txBody>
      </p:sp>
      <p:sp>
        <p:nvSpPr>
          <p:cNvPr id="12" name="Text 10"/>
          <p:cNvSpPr txBox="1"/>
          <p:nvPr/>
        </p:nvSpPr>
        <p:spPr>
          <a:xfrm>
            <a:off x="566928" y="5083744"/>
            <a:ext cx="5346040" cy="777240"/>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Statements run in order, top to bottom. Nothing surprising — but notice that println always moves to a new line afterwards, while print does not.</a:t>
            </a:r>
            <a:endParaRPr lang="en-US" sz="1200" dirty="0"/>
          </a:p>
        </p:txBody>
      </p:sp>
      <p:sp>
        <p:nvSpPr>
          <p:cNvPr id="13" name="Text 11"/>
          <p:cNvSpPr txBox="1"/>
          <p:nvPr/>
        </p:nvSpPr>
        <p:spPr>
          <a:xfrm>
            <a:off x="6278728" y="1261872"/>
            <a:ext cx="5346040" cy="310896"/>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ComputeExpression</a:t>
            </a:r>
            <a:endParaRPr lang="en-US" sz="1600" dirty="0"/>
          </a:p>
        </p:txBody>
      </p:sp>
      <p:sp>
        <p:nvSpPr>
          <p:cNvPr id="14" name="Shape 12"/>
          <p:cNvSpPr/>
          <p:nvPr/>
        </p:nvSpPr>
        <p:spPr>
          <a:xfrm>
            <a:off x="6278728" y="1664208"/>
            <a:ext cx="5346040" cy="1395374"/>
          </a:xfrm>
          <a:prstGeom prst="roundRect">
            <a:avLst>
              <a:gd name="adj" fmla="val 4587"/>
            </a:avLst>
          </a:prstGeom>
          <a:solidFill>
            <a:srgbClr val="EDF2F7"/>
          </a:solidFill>
          <a:ln w="12700">
            <a:solidFill>
              <a:srgbClr val="CFDBE5"/>
            </a:solidFill>
            <a:prstDash val="solid"/>
          </a:ln>
        </p:spPr>
        <p:txBody>
          <a:bodyPr/>
          <a:lstStyle/>
          <a:p>
            <a:endParaRPr lang="en-US"/>
          </a:p>
        </p:txBody>
      </p:sp>
      <p:sp>
        <p:nvSpPr>
          <p:cNvPr id="15" name="Text 13"/>
          <p:cNvSpPr txBox="1"/>
          <p:nvPr/>
        </p:nvSpPr>
        <p:spPr>
          <a:xfrm>
            <a:off x="6443320" y="1801368"/>
            <a:ext cx="5016856" cy="1194206"/>
          </a:xfrm>
          <a:prstGeom prst="rect">
            <a:avLst/>
          </a:prstGeom>
          <a:noFill/>
          <a:ln/>
        </p:spPr>
        <p:txBody>
          <a:bodyPr wrap="square" lIns="0" tIns="0" rIns="0" bIns="0" rtlCol="0" anchor="t"/>
          <a:lstStyle/>
          <a:p>
            <a:pPr marL="0" indent="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class</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14568A"/>
                </a:solidFill>
                <a:latin typeface="Courier New" pitchFamily="34" charset="0"/>
                <a:ea typeface="Courier New" pitchFamily="34" charset="-122"/>
                <a:cs typeface="Courier New" pitchFamily="34" charset="-120"/>
              </a:rPr>
              <a:t>ComputeExpression</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public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static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void</a:t>
            </a:r>
            <a:r>
              <a:rPr lang="en-US" sz="1100" dirty="0">
                <a:solidFill>
                  <a:srgbClr val="14293C"/>
                </a:solidFill>
                <a:latin typeface="Courier New" pitchFamily="34" charset="0"/>
                <a:ea typeface="Courier New" pitchFamily="34" charset="-122"/>
                <a:cs typeface="Courier New" pitchFamily="34" charset="-120"/>
              </a:rPr>
              <a:t> main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568A"/>
                </a:solidFill>
                <a:latin typeface="Courier New" pitchFamily="34" charset="0"/>
                <a:ea typeface="Courier New" pitchFamily="34" charset="-122"/>
                <a:cs typeface="Courier New" pitchFamily="34" charset="-120"/>
              </a:rPr>
              <a:t>String</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args</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14568A"/>
                </a:solidFill>
                <a:latin typeface="Courier New" pitchFamily="34" charset="0"/>
                <a:ea typeface="Courier New" pitchFamily="34" charset="-122"/>
                <a:cs typeface="Courier New" pitchFamily="34" charset="-120"/>
              </a:rPr>
              <a:t>System</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out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println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6B3FA0"/>
                </a:solidFill>
                <a:latin typeface="Courier New" pitchFamily="34" charset="0"/>
                <a:ea typeface="Courier New" pitchFamily="34" charset="-122"/>
                <a:cs typeface="Courier New" pitchFamily="34" charset="-120"/>
              </a:rPr>
              <a:t>10.5</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6B3FA0"/>
                </a:solidFill>
                <a:latin typeface="Courier New" pitchFamily="34" charset="0"/>
                <a:ea typeface="Courier New" pitchFamily="34" charset="-122"/>
                <a:cs typeface="Courier New" pitchFamily="34" charset="-120"/>
              </a:rPr>
              <a:t>2</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6B3FA0"/>
                </a:solidFill>
                <a:latin typeface="Courier New" pitchFamily="34" charset="0"/>
                <a:ea typeface="Courier New" pitchFamily="34" charset="-122"/>
                <a:cs typeface="Courier New" pitchFamily="34" charset="-120"/>
              </a:rPr>
              <a:t>3</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6B3FA0"/>
                </a:solidFill>
                <a:latin typeface="Courier New" pitchFamily="34" charset="0"/>
                <a:ea typeface="Courier New" pitchFamily="34" charset="-122"/>
                <a:cs typeface="Courier New" pitchFamily="34" charset="-120"/>
              </a:rPr>
              <a:t>45</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6B3FA0"/>
                </a:solidFill>
                <a:latin typeface="Courier New" pitchFamily="34" charset="0"/>
                <a:ea typeface="Courier New" pitchFamily="34" charset="-122"/>
                <a:cs typeface="Courier New" pitchFamily="34" charset="-120"/>
              </a:rPr>
              <a:t>3.5</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6" name="Shape 14"/>
          <p:cNvSpPr/>
          <p:nvPr/>
        </p:nvSpPr>
        <p:spPr>
          <a:xfrm>
            <a:off x="6278728" y="3297326"/>
            <a:ext cx="5346040" cy="672770"/>
          </a:xfrm>
          <a:prstGeom prst="roundRect">
            <a:avLst>
              <a:gd name="adj" fmla="val 9514"/>
            </a:avLst>
          </a:prstGeom>
          <a:solidFill>
            <a:srgbClr val="FFFFFF"/>
          </a:solidFill>
          <a:ln w="12700">
            <a:solidFill>
              <a:srgbClr val="4B6377"/>
            </a:solidFill>
            <a:prstDash val="solid"/>
          </a:ln>
        </p:spPr>
        <p:txBody>
          <a:bodyPr/>
          <a:lstStyle/>
          <a:p>
            <a:endParaRPr lang="en-US"/>
          </a:p>
        </p:txBody>
      </p:sp>
      <p:sp>
        <p:nvSpPr>
          <p:cNvPr id="17" name="Text 15"/>
          <p:cNvSpPr txBox="1"/>
          <p:nvPr/>
        </p:nvSpPr>
        <p:spPr>
          <a:xfrm>
            <a:off x="6425032" y="3370478"/>
            <a:ext cx="5053432" cy="182880"/>
          </a:xfrm>
          <a:prstGeom prst="rect">
            <a:avLst/>
          </a:prstGeom>
          <a:noFill/>
          <a:ln/>
        </p:spPr>
        <p:txBody>
          <a:bodyPr wrap="square" lIns="0" tIns="0" rIns="0" bIns="0" rtlCol="0" anchor="ctr"/>
          <a:lstStyle/>
          <a:p>
            <a:pPr marL="0" indent="0">
              <a:buNone/>
            </a:pPr>
            <a:r>
              <a:rPr lang="en-US" sz="950" b="1" kern="0" spc="100" dirty="0">
                <a:solidFill>
                  <a:srgbClr val="3A536B"/>
                </a:solidFill>
                <a:latin typeface="Calibri" pitchFamily="34" charset="0"/>
                <a:ea typeface="Calibri" pitchFamily="34" charset="-122"/>
                <a:cs typeface="Calibri" pitchFamily="34" charset="-120"/>
              </a:rPr>
              <a:t>OUTPUT</a:t>
            </a:r>
            <a:endParaRPr lang="en-US" sz="950" dirty="0"/>
          </a:p>
        </p:txBody>
      </p:sp>
      <p:sp>
        <p:nvSpPr>
          <p:cNvPr id="18" name="Text 16"/>
          <p:cNvSpPr txBox="1"/>
          <p:nvPr/>
        </p:nvSpPr>
        <p:spPr>
          <a:xfrm>
            <a:off x="6425032" y="3571646"/>
            <a:ext cx="5053432" cy="307010"/>
          </a:xfrm>
          <a:prstGeom prst="rect">
            <a:avLst/>
          </a:prstGeom>
          <a:noFill/>
          <a:ln/>
        </p:spPr>
        <p:txBody>
          <a:bodyPr wrap="square" lIns="0" tIns="0" rIns="0" bIns="0" rtlCol="0" anchor="t"/>
          <a:lstStyle/>
          <a:p>
            <a:pPr marL="0" indent="0">
              <a:lnSpc>
                <a:spcPct val="110000"/>
              </a:lnSpc>
              <a:buNone/>
            </a:pPr>
            <a:r>
              <a:rPr lang="en-US" sz="1150" dirty="0">
                <a:solidFill>
                  <a:srgbClr val="0F2942"/>
                </a:solidFill>
                <a:latin typeface="Courier New" pitchFamily="34" charset="0"/>
                <a:ea typeface="Courier New" pitchFamily="34" charset="-122"/>
                <a:cs typeface="Courier New" pitchFamily="34" charset="-120"/>
              </a:rPr>
              <a:t>0.39759036144578314</a:t>
            </a:r>
            <a:endParaRPr lang="en-US" sz="1150" dirty="0"/>
          </a:p>
        </p:txBody>
      </p:sp>
      <p:sp>
        <p:nvSpPr>
          <p:cNvPr id="19" name="Shape 17"/>
          <p:cNvSpPr/>
          <p:nvPr/>
        </p:nvSpPr>
        <p:spPr>
          <a:xfrm>
            <a:off x="6278728" y="4244416"/>
            <a:ext cx="5346040" cy="1691640"/>
          </a:xfrm>
          <a:prstGeom prst="roundRect">
            <a:avLst>
              <a:gd name="adj" fmla="val 4865"/>
            </a:avLst>
          </a:prstGeom>
          <a:solidFill>
            <a:srgbClr val="FBEEE0"/>
          </a:solidFill>
          <a:ln w="12700">
            <a:solidFill>
              <a:srgbClr val="FBEEE0"/>
            </a:solidFill>
            <a:prstDash val="solid"/>
          </a:ln>
        </p:spPr>
        <p:txBody>
          <a:bodyPr/>
          <a:lstStyle/>
          <a:p>
            <a:endParaRPr lang="en-US"/>
          </a:p>
        </p:txBody>
      </p:sp>
      <p:sp>
        <p:nvSpPr>
          <p:cNvPr id="20" name="Text 18"/>
          <p:cNvSpPr txBox="1"/>
          <p:nvPr/>
        </p:nvSpPr>
        <p:spPr>
          <a:xfrm>
            <a:off x="6534760" y="4409008"/>
            <a:ext cx="4833976" cy="274320"/>
          </a:xfrm>
          <a:prstGeom prst="rect">
            <a:avLst/>
          </a:prstGeom>
          <a:noFill/>
          <a:ln/>
        </p:spPr>
        <p:txBody>
          <a:bodyPr wrap="square" lIns="0" tIns="0" rIns="0" bIns="0" rtlCol="0" anchor="ctr"/>
          <a:lstStyle/>
          <a:p>
            <a:pPr marL="0" indent="0">
              <a:buNone/>
            </a:pPr>
            <a:r>
              <a:rPr lang="en-US" sz="1350" b="1" dirty="0">
                <a:solidFill>
                  <a:srgbClr val="9A430A"/>
                </a:solidFill>
                <a:latin typeface="Calibri" pitchFamily="34" charset="0"/>
                <a:ea typeface="Calibri" pitchFamily="34" charset="-122"/>
                <a:cs typeface="Calibri" pitchFamily="34" charset="-120"/>
              </a:rPr>
              <a:t>Why so many decimal places?</a:t>
            </a:r>
            <a:endParaRPr lang="en-US" sz="1350" dirty="0"/>
          </a:p>
        </p:txBody>
      </p:sp>
      <p:sp>
        <p:nvSpPr>
          <p:cNvPr id="21" name="Text 19"/>
          <p:cNvSpPr txBox="1"/>
          <p:nvPr/>
        </p:nvSpPr>
        <p:spPr>
          <a:xfrm>
            <a:off x="6534760" y="4719904"/>
            <a:ext cx="4833976" cy="1143000"/>
          </a:xfrm>
          <a:prstGeom prst="rect">
            <a:avLst/>
          </a:prstGeom>
          <a:noFill/>
          <a:ln/>
        </p:spPr>
        <p:txBody>
          <a:bodyPr wrap="square" lIns="0" tIns="0" rIns="0" bIns="0" rtlCol="0" anchor="t"/>
          <a:lstStyle/>
          <a:p>
            <a:pPr marL="0" indent="0">
              <a:lnSpc>
                <a:spcPct val="110000"/>
              </a:lnSpc>
              <a:buNone/>
            </a:pPr>
            <a:r>
              <a:rPr lang="en-US" sz="1200" dirty="0">
                <a:solidFill>
                  <a:srgbClr val="3A536B"/>
                </a:solidFill>
                <a:latin typeface="Calibri" pitchFamily="34" charset="0"/>
                <a:ea typeface="Calibri" pitchFamily="34" charset="-122"/>
                <a:cs typeface="Calibri" pitchFamily="34" charset="-120"/>
              </a:rPr>
              <a:t>Because 10.5 makes the whole expression double-precision. Change every number to an integer and the same expression prints 0 — integer division truncates. We will come back to this in Week 1's second session, and it is a favourite quiz question.</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TOOLCHAIN</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Compiling and Running Without an IDE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The IDE hides these two commands. It is worth knowing what it is doing on your behalf.</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40</a:t>
            </a:r>
            <a:endParaRPr lang="en-US" sz="900" dirty="0"/>
          </a:p>
        </p:txBody>
      </p:sp>
      <p:sp>
        <p:nvSpPr>
          <p:cNvPr id="7" name="Text 5"/>
          <p:cNvSpPr txBox="1"/>
          <p:nvPr/>
        </p:nvSpPr>
        <p:spPr>
          <a:xfrm>
            <a:off x="566928" y="1536192"/>
            <a:ext cx="5346040" cy="310896"/>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The classic two-step</a:t>
            </a:r>
            <a:endParaRPr lang="en-US" sz="1600" dirty="0"/>
          </a:p>
        </p:txBody>
      </p:sp>
      <p:sp>
        <p:nvSpPr>
          <p:cNvPr id="8" name="Shape 6"/>
          <p:cNvSpPr/>
          <p:nvPr/>
        </p:nvSpPr>
        <p:spPr>
          <a:xfrm>
            <a:off x="566928" y="1938528"/>
            <a:ext cx="5346040" cy="2267712"/>
          </a:xfrm>
          <a:prstGeom prst="roundRect">
            <a:avLst>
              <a:gd name="adj" fmla="val 2823"/>
            </a:avLst>
          </a:prstGeom>
          <a:solidFill>
            <a:srgbClr val="EDF2F7"/>
          </a:solidFill>
          <a:ln w="12700">
            <a:solidFill>
              <a:srgbClr val="CFDBE5"/>
            </a:solidFill>
            <a:prstDash val="solid"/>
          </a:ln>
        </p:spPr>
        <p:txBody>
          <a:bodyPr/>
          <a:lstStyle/>
          <a:p>
            <a:endParaRPr lang="en-US"/>
          </a:p>
        </p:txBody>
      </p:sp>
      <p:sp>
        <p:nvSpPr>
          <p:cNvPr id="9" name="Text 7"/>
          <p:cNvSpPr txBox="1"/>
          <p:nvPr/>
        </p:nvSpPr>
        <p:spPr>
          <a:xfrm>
            <a:off x="731520" y="2075688"/>
            <a:ext cx="5016856" cy="2066544"/>
          </a:xfrm>
          <a:prstGeom prst="rect">
            <a:avLst/>
          </a:prstGeom>
          <a:noFill/>
          <a:ln/>
        </p:spPr>
        <p:txBody>
          <a:bodyPr wrap="square" lIns="0" tIns="0" rIns="0" bIns="0" rtlCol="0" anchor="t"/>
          <a:lstStyle/>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check the compiler is on your PATH</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javac </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version</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compile</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14568A"/>
                </a:solidFill>
                <a:latin typeface="Courier New" pitchFamily="34" charset="0"/>
                <a:ea typeface="Courier New" pitchFamily="34" charset="-122"/>
                <a:cs typeface="Courier New" pitchFamily="34" charset="-120"/>
              </a:rPr>
              <a:t>Welcome</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java  </a:t>
            </a:r>
            <a:r>
              <a:rPr lang="en-US" sz="1250" dirty="0">
                <a:solidFill>
                  <a:srgbClr val="33485C"/>
                </a:solidFill>
                <a:latin typeface="Courier New" pitchFamily="34" charset="0"/>
                <a:ea typeface="Courier New" pitchFamily="34" charset="-122"/>
                <a:cs typeface="Courier New" pitchFamily="34" charset="-120"/>
              </a:rPr>
              <a:t>-&gt;</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14568A"/>
                </a:solidFill>
                <a:latin typeface="Courier New" pitchFamily="34" charset="0"/>
                <a:ea typeface="Courier New" pitchFamily="34" charset="-122"/>
                <a:cs typeface="Courier New" pitchFamily="34" charset="-120"/>
              </a:rPr>
              <a:t>Welcome</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9A3412"/>
                </a:solidFill>
                <a:latin typeface="Courier New" pitchFamily="34" charset="0"/>
                <a:ea typeface="Courier New" pitchFamily="34" charset="-122"/>
                <a:cs typeface="Courier New" pitchFamily="34" charset="-120"/>
              </a:rPr>
              <a:t>class</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javac </a:t>
            </a:r>
            <a:r>
              <a:rPr lang="en-US" sz="1250" dirty="0">
                <a:solidFill>
                  <a:srgbClr val="14568A"/>
                </a:solidFill>
                <a:latin typeface="Courier New" pitchFamily="34" charset="0"/>
                <a:ea typeface="Courier New" pitchFamily="34" charset="-122"/>
                <a:cs typeface="Courier New" pitchFamily="34" charset="-120"/>
              </a:rPr>
              <a:t>Welcome</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java</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run the </a:t>
            </a:r>
            <a:r>
              <a:rPr lang="en-US" sz="1250" dirty="0">
                <a:solidFill>
                  <a:srgbClr val="9A3412"/>
                </a:solidFill>
                <a:latin typeface="Courier New" pitchFamily="34" charset="0"/>
                <a:ea typeface="Courier New" pitchFamily="34" charset="-122"/>
                <a:cs typeface="Courier New" pitchFamily="34" charset="-120"/>
              </a:rPr>
              <a:t>class</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note</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 no </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9A3412"/>
                </a:solidFill>
                <a:latin typeface="Courier New" pitchFamily="34" charset="0"/>
                <a:ea typeface="Courier New" pitchFamily="34" charset="-122"/>
                <a:cs typeface="Courier New" pitchFamily="34" charset="-120"/>
              </a:rPr>
              <a:t>class</a:t>
            </a:r>
            <a:r>
              <a:rPr lang="en-US" sz="1250" dirty="0">
                <a:solidFill>
                  <a:srgbClr val="14293C"/>
                </a:solidFill>
                <a:latin typeface="Courier New" pitchFamily="34" charset="0"/>
                <a:ea typeface="Courier New" pitchFamily="34" charset="-122"/>
                <a:cs typeface="Courier New" pitchFamily="34" charset="-120"/>
              </a:rPr>
              <a:t> suffix</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java </a:t>
            </a:r>
            <a:r>
              <a:rPr lang="en-US" sz="1250" dirty="0">
                <a:solidFill>
                  <a:srgbClr val="14568A"/>
                </a:solidFill>
                <a:latin typeface="Courier New" pitchFamily="34" charset="0"/>
                <a:ea typeface="Courier New" pitchFamily="34" charset="-122"/>
                <a:cs typeface="Courier New" pitchFamily="34" charset="-120"/>
              </a:rPr>
              <a:t>Welcome</a:t>
            </a:r>
            <a:endParaRPr lang="en-US" sz="1250" dirty="0"/>
          </a:p>
        </p:txBody>
      </p:sp>
      <p:sp>
        <p:nvSpPr>
          <p:cNvPr id="10" name="Shape 8"/>
          <p:cNvSpPr/>
          <p:nvPr/>
        </p:nvSpPr>
        <p:spPr>
          <a:xfrm>
            <a:off x="566928" y="4416552"/>
            <a:ext cx="5346040" cy="1234440"/>
          </a:xfrm>
          <a:prstGeom prst="roundRect">
            <a:avLst>
              <a:gd name="adj" fmla="val 6667"/>
            </a:avLst>
          </a:prstGeom>
          <a:solidFill>
            <a:srgbClr val="F1F5F9"/>
          </a:solidFill>
          <a:ln w="12700">
            <a:solidFill>
              <a:srgbClr val="F1F5F9"/>
            </a:solidFill>
            <a:prstDash val="solid"/>
          </a:ln>
        </p:spPr>
        <p:txBody>
          <a:bodyPr/>
          <a:lstStyle/>
          <a:p>
            <a:endParaRPr lang="en-US"/>
          </a:p>
        </p:txBody>
      </p:sp>
      <p:sp>
        <p:nvSpPr>
          <p:cNvPr id="11" name="Text 9"/>
          <p:cNvSpPr txBox="1"/>
          <p:nvPr/>
        </p:nvSpPr>
        <p:spPr>
          <a:xfrm>
            <a:off x="822960" y="4416552"/>
            <a:ext cx="4833976" cy="1234440"/>
          </a:xfrm>
          <a:prstGeom prst="rect">
            <a:avLst/>
          </a:prstGeom>
          <a:noFill/>
          <a:ln/>
        </p:spPr>
        <p:txBody>
          <a:bodyPr wrap="square" lIns="0" tIns="0" rIns="0" bIns="0" rtlCol="0" anchor="ctr"/>
          <a:lstStyle/>
          <a:p>
            <a:pPr marL="0" indent="0">
              <a:lnSpc>
                <a:spcPct val="112000"/>
              </a:lnSpc>
              <a:buNone/>
            </a:pPr>
            <a:r>
              <a:rPr lang="en-US" sz="1250" dirty="0">
                <a:solidFill>
                  <a:srgbClr val="0F2942"/>
                </a:solidFill>
                <a:latin typeface="Calibri" pitchFamily="34" charset="0"/>
                <a:ea typeface="Calibri" pitchFamily="34" charset="-122"/>
                <a:cs typeface="Calibri" pitchFamily="34" charset="-120"/>
              </a:rPr>
              <a:t>javac compiles. java runs. Passing Welcome.class to the java command is a classic first-week mistake — it wants the class name, not the file name.</a:t>
            </a:r>
            <a:endParaRPr lang="en-US" sz="1250" dirty="0"/>
          </a:p>
        </p:txBody>
      </p:sp>
      <p:sp>
        <p:nvSpPr>
          <p:cNvPr id="12" name="Text 10"/>
          <p:cNvSpPr txBox="1"/>
          <p:nvPr/>
        </p:nvSpPr>
        <p:spPr>
          <a:xfrm>
            <a:off x="6278728" y="1536192"/>
            <a:ext cx="5346040" cy="310896"/>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The shortcut for a single file</a:t>
            </a:r>
            <a:endParaRPr lang="en-US" sz="1600" dirty="0"/>
          </a:p>
        </p:txBody>
      </p:sp>
      <p:sp>
        <p:nvSpPr>
          <p:cNvPr id="13" name="Shape 11"/>
          <p:cNvSpPr/>
          <p:nvPr/>
        </p:nvSpPr>
        <p:spPr>
          <a:xfrm>
            <a:off x="6278728" y="1938528"/>
            <a:ext cx="5346040" cy="813816"/>
          </a:xfrm>
          <a:prstGeom prst="roundRect">
            <a:avLst>
              <a:gd name="adj" fmla="val 7865"/>
            </a:avLst>
          </a:prstGeom>
          <a:solidFill>
            <a:srgbClr val="EDF2F7"/>
          </a:solidFill>
          <a:ln w="12700">
            <a:solidFill>
              <a:srgbClr val="CFDBE5"/>
            </a:solidFill>
            <a:prstDash val="solid"/>
          </a:ln>
        </p:spPr>
        <p:txBody>
          <a:bodyPr/>
          <a:lstStyle/>
          <a:p>
            <a:endParaRPr lang="en-US"/>
          </a:p>
        </p:txBody>
      </p:sp>
      <p:sp>
        <p:nvSpPr>
          <p:cNvPr id="14" name="Text 12"/>
          <p:cNvSpPr txBox="1"/>
          <p:nvPr/>
        </p:nvSpPr>
        <p:spPr>
          <a:xfrm>
            <a:off x="6443320" y="2075688"/>
            <a:ext cx="5016856" cy="612648"/>
          </a:xfrm>
          <a:prstGeom prst="rect">
            <a:avLst/>
          </a:prstGeom>
          <a:noFill/>
          <a:ln/>
        </p:spPr>
        <p:txBody>
          <a:bodyPr wrap="square" lIns="0" tIns="0" rIns="0" bIns="0" rtlCol="0" anchor="t"/>
          <a:lstStyle/>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since Java </a:t>
            </a:r>
            <a:r>
              <a:rPr lang="en-US" sz="1250" dirty="0">
                <a:solidFill>
                  <a:srgbClr val="6B3FA0"/>
                </a:solidFill>
                <a:latin typeface="Courier New" pitchFamily="34" charset="0"/>
                <a:ea typeface="Courier New" pitchFamily="34" charset="-122"/>
                <a:cs typeface="Courier New" pitchFamily="34" charset="-120"/>
              </a:rPr>
              <a:t>11</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 compile and run in one step</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java </a:t>
            </a:r>
            <a:r>
              <a:rPr lang="en-US" sz="1250" dirty="0">
                <a:solidFill>
                  <a:srgbClr val="14568A"/>
                </a:solidFill>
                <a:latin typeface="Courier New" pitchFamily="34" charset="0"/>
                <a:ea typeface="Courier New" pitchFamily="34" charset="-122"/>
                <a:cs typeface="Courier New" pitchFamily="34" charset="-120"/>
              </a:rPr>
              <a:t>Welcome</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java</a:t>
            </a:r>
            <a:endParaRPr lang="en-US" sz="1250" dirty="0"/>
          </a:p>
        </p:txBody>
      </p:sp>
      <p:sp>
        <p:nvSpPr>
          <p:cNvPr id="15" name="Text 13"/>
          <p:cNvSpPr txBox="1"/>
          <p:nvPr/>
        </p:nvSpPr>
        <p:spPr>
          <a:xfrm>
            <a:off x="6278728" y="2862072"/>
            <a:ext cx="5346040" cy="731520"/>
          </a:xfrm>
          <a:prstGeom prst="rect">
            <a:avLst/>
          </a:prstGeom>
          <a:noFill/>
          <a:ln/>
        </p:spPr>
        <p:txBody>
          <a:bodyPr wrap="square" lIns="0" tIns="0" rIns="0" bIns="0" rtlCol="0" anchor="t"/>
          <a:lstStyle/>
          <a:p>
            <a:pPr marL="0" indent="0">
              <a:lnSpc>
                <a:spcPct val="110000"/>
              </a:lnSpc>
              <a:buNone/>
            </a:pPr>
            <a:r>
              <a:rPr lang="en-US" sz="1250" dirty="0">
                <a:solidFill>
                  <a:srgbClr val="3A536B"/>
                </a:solidFill>
                <a:latin typeface="Calibri" pitchFamily="34" charset="0"/>
                <a:ea typeface="Calibri" pitchFamily="34" charset="-122"/>
                <a:cs typeface="Calibri" pitchFamily="34" charset="-120"/>
              </a:rPr>
              <a:t>Java compiles the file in memory and runs it immediately — no .class file is written. Perfect for a quick experiment, not for a real project.</a:t>
            </a:r>
            <a:endParaRPr lang="en-US" sz="1250" dirty="0"/>
          </a:p>
        </p:txBody>
      </p:sp>
      <p:sp>
        <p:nvSpPr>
          <p:cNvPr id="16" name="Shape 14"/>
          <p:cNvSpPr/>
          <p:nvPr/>
        </p:nvSpPr>
        <p:spPr>
          <a:xfrm>
            <a:off x="6278728" y="3685032"/>
            <a:ext cx="5346040" cy="1965960"/>
          </a:xfrm>
          <a:prstGeom prst="roundRect">
            <a:avLst>
              <a:gd name="adj" fmla="val 4186"/>
            </a:avLst>
          </a:prstGeom>
          <a:solidFill>
            <a:srgbClr val="FBEEE0"/>
          </a:solidFill>
          <a:ln w="12700">
            <a:solidFill>
              <a:srgbClr val="FBEEE0"/>
            </a:solidFill>
            <a:prstDash val="solid"/>
          </a:ln>
        </p:spPr>
        <p:txBody>
          <a:bodyPr/>
          <a:lstStyle/>
          <a:p>
            <a:endParaRPr lang="en-US"/>
          </a:p>
        </p:txBody>
      </p:sp>
      <p:sp>
        <p:nvSpPr>
          <p:cNvPr id="17" name="Text 15"/>
          <p:cNvSpPr txBox="1"/>
          <p:nvPr/>
        </p:nvSpPr>
        <p:spPr>
          <a:xfrm>
            <a:off x="6534760" y="3849624"/>
            <a:ext cx="4833976" cy="292608"/>
          </a:xfrm>
          <a:prstGeom prst="rect">
            <a:avLst/>
          </a:prstGeom>
          <a:noFill/>
          <a:ln/>
        </p:spPr>
        <p:txBody>
          <a:bodyPr wrap="square" lIns="0" tIns="0" rIns="0" bIns="0" rtlCol="0" anchor="ctr"/>
          <a:lstStyle/>
          <a:p>
            <a:pPr marL="0" indent="0">
              <a:buNone/>
            </a:pPr>
            <a:r>
              <a:rPr lang="en-US" sz="1350" b="1" dirty="0">
                <a:solidFill>
                  <a:srgbClr val="9A430A"/>
                </a:solidFill>
                <a:latin typeface="Calibri" pitchFamily="34" charset="0"/>
                <a:ea typeface="Calibri" pitchFamily="34" charset="-122"/>
                <a:cs typeface="Calibri" pitchFamily="34" charset="-120"/>
              </a:rPr>
              <a:t>You no longer set PATH and CLASSPATH by hand</a:t>
            </a:r>
            <a:endParaRPr lang="en-US" sz="1350" dirty="0"/>
          </a:p>
        </p:txBody>
      </p:sp>
      <p:sp>
        <p:nvSpPr>
          <p:cNvPr id="18" name="Text 16"/>
          <p:cNvSpPr txBox="1"/>
          <p:nvPr/>
        </p:nvSpPr>
        <p:spPr>
          <a:xfrm>
            <a:off x="6534760" y="4160520"/>
            <a:ext cx="4833976" cy="1371600"/>
          </a:xfrm>
          <a:prstGeom prst="rect">
            <a:avLst/>
          </a:prstGeom>
          <a:noFill/>
          <a:ln/>
        </p:spPr>
        <p:txBody>
          <a:bodyPr wrap="square" lIns="0" tIns="0" rIns="0" bIns="0" rtlCol="0" anchor="t"/>
          <a:lstStyle/>
          <a:p>
            <a:pPr marL="0" indent="0">
              <a:lnSpc>
                <a:spcPct val="112000"/>
              </a:lnSpc>
              <a:buNone/>
            </a:pPr>
            <a:r>
              <a:rPr lang="en-US" sz="1200" dirty="0">
                <a:solidFill>
                  <a:srgbClr val="3A536B"/>
                </a:solidFill>
                <a:latin typeface="Calibri" pitchFamily="34" charset="0"/>
                <a:ea typeface="Calibri" pitchFamily="34" charset="-122"/>
                <a:cs typeface="Calibri" pitchFamily="34" charset="-120"/>
              </a:rPr>
              <a:t>Older textbooks tell you to set path=...\jdk1.8.0\bin and classpath=. before compiling. Modern JDK installers put javac and java on your PATH, and the current directory is searched by default. If javac -version works, you are done.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WHAT'S NEW</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Java 25 Lets You Write Hello World in Three Lines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Compact source files and instance main methods (JEP 512) became a permanent language feature in Java 25.</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41</a:t>
            </a:r>
            <a:endParaRPr lang="en-US" sz="900" dirty="0"/>
          </a:p>
        </p:txBody>
      </p:sp>
      <p:sp>
        <p:nvSpPr>
          <p:cNvPr id="7" name="Text 5"/>
          <p:cNvSpPr txBox="1"/>
          <p:nvPr/>
        </p:nvSpPr>
        <p:spPr>
          <a:xfrm>
            <a:off x="566928" y="1536192"/>
            <a:ext cx="5346040" cy="292608"/>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What you will write in this course</a:t>
            </a:r>
            <a:endParaRPr lang="en-US" sz="1500" dirty="0"/>
          </a:p>
        </p:txBody>
      </p:sp>
      <p:sp>
        <p:nvSpPr>
          <p:cNvPr id="8" name="Shape 6"/>
          <p:cNvSpPr/>
          <p:nvPr/>
        </p:nvSpPr>
        <p:spPr>
          <a:xfrm>
            <a:off x="566928" y="1920240"/>
            <a:ext cx="5346040" cy="1783080"/>
          </a:xfrm>
          <a:prstGeom prst="roundRect">
            <a:avLst>
              <a:gd name="adj" fmla="val 3590"/>
            </a:avLst>
          </a:prstGeom>
          <a:solidFill>
            <a:srgbClr val="EDF2F7"/>
          </a:solidFill>
          <a:ln w="12700">
            <a:solidFill>
              <a:srgbClr val="CFDBE5"/>
            </a:solidFill>
            <a:prstDash val="solid"/>
          </a:ln>
        </p:spPr>
        <p:txBody>
          <a:bodyPr/>
          <a:lstStyle/>
          <a:p>
            <a:endParaRPr lang="en-US"/>
          </a:p>
        </p:txBody>
      </p:sp>
      <p:sp>
        <p:nvSpPr>
          <p:cNvPr id="9" name="Text 7"/>
          <p:cNvSpPr txBox="1"/>
          <p:nvPr/>
        </p:nvSpPr>
        <p:spPr>
          <a:xfrm>
            <a:off x="731520" y="2057400"/>
            <a:ext cx="5016856" cy="1581912"/>
          </a:xfrm>
          <a:prstGeom prst="rect">
            <a:avLst/>
          </a:prstGeom>
          <a:noFill/>
          <a:ln/>
        </p:spPr>
        <p:txBody>
          <a:bodyPr wrap="square" lIns="0" tIns="0" rIns="0" bIns="0" rtlCol="0" anchor="t"/>
          <a:lstStyle/>
          <a:p>
            <a:pPr marL="0" indent="0">
              <a:lnSpc>
                <a:spcPct val="112000"/>
              </a:lnSpc>
              <a:buNone/>
            </a:pPr>
            <a:r>
              <a:rPr lang="en-US" sz="1250" dirty="0">
                <a:solidFill>
                  <a:srgbClr val="415C6E"/>
                </a:solidFill>
                <a:latin typeface="Courier New" pitchFamily="34" charset="0"/>
                <a:ea typeface="Courier New" pitchFamily="34" charset="-122"/>
                <a:cs typeface="Courier New" pitchFamily="34" charset="-120"/>
              </a:rPr>
              <a:t>// This program prints Welcome to Java!</a:t>
            </a:r>
            <a:endParaRPr lang="en-US" sz="1250" dirty="0"/>
          </a:p>
          <a:p>
            <a:pPr marL="0" indent="0">
              <a:lnSpc>
                <a:spcPct val="112000"/>
              </a:lnSpc>
              <a:buNone/>
            </a:pPr>
            <a:r>
              <a:rPr lang="en-US" sz="1250" dirty="0">
                <a:solidFill>
                  <a:srgbClr val="9A3412"/>
                </a:solidFill>
                <a:latin typeface="Courier New" pitchFamily="34" charset="0"/>
                <a:ea typeface="Courier New" pitchFamily="34" charset="-122"/>
                <a:cs typeface="Courier New" pitchFamily="34" charset="-120"/>
              </a:rPr>
              <a:t>public</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9A3412"/>
                </a:solidFill>
                <a:latin typeface="Courier New" pitchFamily="34" charset="0"/>
                <a:ea typeface="Courier New" pitchFamily="34" charset="-122"/>
                <a:cs typeface="Courier New" pitchFamily="34" charset="-120"/>
              </a:rPr>
              <a:t>class</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14568A"/>
                </a:solidFill>
                <a:latin typeface="Courier New" pitchFamily="34" charset="0"/>
                <a:ea typeface="Courier New" pitchFamily="34" charset="-122"/>
                <a:cs typeface="Courier New" pitchFamily="34" charset="-120"/>
              </a:rPr>
              <a:t>Welcome</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9A3412"/>
                </a:solidFill>
                <a:latin typeface="Courier New" pitchFamily="34" charset="0"/>
                <a:ea typeface="Courier New" pitchFamily="34" charset="-122"/>
                <a:cs typeface="Courier New" pitchFamily="34" charset="-120"/>
              </a:rPr>
              <a:t>public</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9A3412"/>
                </a:solidFill>
                <a:latin typeface="Courier New" pitchFamily="34" charset="0"/>
                <a:ea typeface="Courier New" pitchFamily="34" charset="-122"/>
                <a:cs typeface="Courier New" pitchFamily="34" charset="-120"/>
              </a:rPr>
              <a:t>static</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9A3412"/>
                </a:solidFill>
                <a:latin typeface="Courier New" pitchFamily="34" charset="0"/>
                <a:ea typeface="Courier New" pitchFamily="34" charset="-122"/>
                <a:cs typeface="Courier New" pitchFamily="34" charset="-120"/>
              </a:rPr>
              <a:t>void</a:t>
            </a:r>
            <a:r>
              <a:rPr lang="en-US" sz="1250" dirty="0">
                <a:solidFill>
                  <a:srgbClr val="14293C"/>
                </a:solidFill>
                <a:latin typeface="Courier New" pitchFamily="34" charset="0"/>
                <a:ea typeface="Courier New" pitchFamily="34" charset="-122"/>
                <a:cs typeface="Courier New" pitchFamily="34" charset="-120"/>
              </a:rPr>
              <a:t> main</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568A"/>
                </a:solidFill>
                <a:latin typeface="Courier New" pitchFamily="34" charset="0"/>
                <a:ea typeface="Courier New" pitchFamily="34" charset="-122"/>
                <a:cs typeface="Courier New" pitchFamily="34" charset="-120"/>
              </a:rPr>
              <a:t>String</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 args</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14568A"/>
                </a:solidFill>
                <a:latin typeface="Courier New" pitchFamily="34" charset="0"/>
                <a:ea typeface="Courier New" pitchFamily="34" charset="-122"/>
                <a:cs typeface="Courier New" pitchFamily="34" charset="-120"/>
              </a:rPr>
              <a:t>System</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out</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println</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614A"/>
                </a:solidFill>
                <a:latin typeface="Courier New" pitchFamily="34" charset="0"/>
                <a:ea typeface="Courier New" pitchFamily="34" charset="-122"/>
                <a:cs typeface="Courier New" pitchFamily="34" charset="-120"/>
              </a:rPr>
              <a:t>"Welcome to Java!"</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0" name="Text 8"/>
          <p:cNvSpPr txBox="1"/>
          <p:nvPr/>
        </p:nvSpPr>
        <p:spPr>
          <a:xfrm>
            <a:off x="566928" y="3959352"/>
            <a:ext cx="5346040" cy="82296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The full, explicit form. It is what your textbook uses, what every existing Java codebase looks like, and what the quizzes and the final exam will ask for.</a:t>
            </a:r>
            <a:endParaRPr lang="en-US" sz="1250" dirty="0"/>
          </a:p>
        </p:txBody>
      </p:sp>
      <p:sp>
        <p:nvSpPr>
          <p:cNvPr id="11" name="Text 9"/>
          <p:cNvSpPr txBox="1"/>
          <p:nvPr/>
        </p:nvSpPr>
        <p:spPr>
          <a:xfrm>
            <a:off x="6278728" y="1536192"/>
            <a:ext cx="5346040" cy="292608"/>
          </a:xfrm>
          <a:prstGeom prst="rect">
            <a:avLst/>
          </a:prstGeom>
          <a:noFill/>
          <a:ln/>
        </p:spPr>
        <p:txBody>
          <a:bodyPr wrap="square" lIns="0" tIns="0" rIns="0" bIns="0" rtlCol="0" anchor="ctr"/>
          <a:lstStyle/>
          <a:p>
            <a:pPr marL="0" indent="0">
              <a:buNone/>
            </a:pPr>
            <a:r>
              <a:rPr lang="en-US" sz="1500" b="1" dirty="0">
                <a:solidFill>
                  <a:srgbClr val="9A430A"/>
                </a:solidFill>
                <a:latin typeface="Calibri" pitchFamily="34" charset="0"/>
                <a:ea typeface="Calibri" pitchFamily="34" charset="-122"/>
                <a:cs typeface="Calibri" pitchFamily="34" charset="-120"/>
              </a:rPr>
              <a:t>What Java 25 also allows</a:t>
            </a:r>
            <a:endParaRPr lang="en-US" sz="1500" dirty="0"/>
          </a:p>
        </p:txBody>
      </p:sp>
      <p:sp>
        <p:nvSpPr>
          <p:cNvPr id="12" name="Shape 10"/>
          <p:cNvSpPr/>
          <p:nvPr/>
        </p:nvSpPr>
        <p:spPr>
          <a:xfrm>
            <a:off x="6278728" y="1920240"/>
            <a:ext cx="5346040" cy="1298448"/>
          </a:xfrm>
          <a:prstGeom prst="roundRect">
            <a:avLst>
              <a:gd name="adj" fmla="val 4930"/>
            </a:avLst>
          </a:prstGeom>
          <a:solidFill>
            <a:srgbClr val="EDF2F7"/>
          </a:solidFill>
          <a:ln w="12700">
            <a:solidFill>
              <a:srgbClr val="CFDBE5"/>
            </a:solidFill>
            <a:prstDash val="solid"/>
          </a:ln>
        </p:spPr>
        <p:txBody>
          <a:bodyPr/>
          <a:lstStyle/>
          <a:p>
            <a:endParaRPr lang="en-US"/>
          </a:p>
        </p:txBody>
      </p:sp>
      <p:sp>
        <p:nvSpPr>
          <p:cNvPr id="13" name="Text 11"/>
          <p:cNvSpPr txBox="1"/>
          <p:nvPr/>
        </p:nvSpPr>
        <p:spPr>
          <a:xfrm>
            <a:off x="6443320" y="2057400"/>
            <a:ext cx="5016856" cy="1097280"/>
          </a:xfrm>
          <a:prstGeom prst="rect">
            <a:avLst/>
          </a:prstGeom>
          <a:noFill/>
          <a:ln/>
        </p:spPr>
        <p:txBody>
          <a:bodyPr wrap="square" lIns="0" tIns="0" rIns="0" bIns="0" rtlCol="0" anchor="t"/>
          <a:lstStyle/>
          <a:p>
            <a:pPr marL="0" indent="0">
              <a:lnSpc>
                <a:spcPct val="112000"/>
              </a:lnSpc>
              <a:buNone/>
            </a:pPr>
            <a:r>
              <a:rPr lang="en-US" sz="1250" dirty="0">
                <a:solidFill>
                  <a:srgbClr val="415C6E"/>
                </a:solidFill>
                <a:latin typeface="Courier New" pitchFamily="34" charset="0"/>
                <a:ea typeface="Courier New" pitchFamily="34" charset="-122"/>
                <a:cs typeface="Courier New" pitchFamily="34" charset="-120"/>
              </a:rPr>
              <a:t>// Welcome.java — a compact source file</a:t>
            </a:r>
            <a:endParaRPr lang="en-US" sz="1250" dirty="0"/>
          </a:p>
          <a:p>
            <a:pPr marL="0" indent="0">
              <a:lnSpc>
                <a:spcPct val="112000"/>
              </a:lnSpc>
              <a:buNone/>
            </a:pPr>
            <a:r>
              <a:rPr lang="en-US" sz="1250" dirty="0">
                <a:solidFill>
                  <a:srgbClr val="9A3412"/>
                </a:solidFill>
                <a:latin typeface="Courier New" pitchFamily="34" charset="0"/>
                <a:ea typeface="Courier New" pitchFamily="34" charset="-122"/>
                <a:cs typeface="Courier New" pitchFamily="34" charset="-120"/>
              </a:rPr>
              <a:t>void</a:t>
            </a:r>
            <a:r>
              <a:rPr lang="en-US" sz="1250" dirty="0">
                <a:solidFill>
                  <a:srgbClr val="14293C"/>
                </a:solidFill>
                <a:latin typeface="Courier New" pitchFamily="34" charset="0"/>
                <a:ea typeface="Courier New" pitchFamily="34" charset="-122"/>
                <a:cs typeface="Courier New" pitchFamily="34" charset="-120"/>
              </a:rPr>
              <a:t> main</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r>
              <a:rPr lang="en-US" sz="1250" dirty="0">
                <a:solidFill>
                  <a:srgbClr val="14568A"/>
                </a:solidFill>
                <a:latin typeface="Courier New" pitchFamily="34" charset="0"/>
                <a:ea typeface="Courier New" pitchFamily="34" charset="-122"/>
                <a:cs typeface="Courier New" pitchFamily="34" charset="-120"/>
              </a:rPr>
              <a:t>IO</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293C"/>
                </a:solidFill>
                <a:latin typeface="Courier New" pitchFamily="34" charset="0"/>
                <a:ea typeface="Courier New" pitchFamily="34" charset="-122"/>
                <a:cs typeface="Courier New" pitchFamily="34" charset="-120"/>
              </a:rPr>
              <a:t>println</a:t>
            </a:r>
            <a:r>
              <a:rPr lang="en-US" sz="1250" dirty="0">
                <a:solidFill>
                  <a:srgbClr val="33485C"/>
                </a:solidFill>
                <a:latin typeface="Courier New" pitchFamily="34" charset="0"/>
                <a:ea typeface="Courier New" pitchFamily="34" charset="-122"/>
                <a:cs typeface="Courier New" pitchFamily="34" charset="-120"/>
              </a:rPr>
              <a:t>(</a:t>
            </a:r>
            <a:r>
              <a:rPr lang="en-US" sz="1250" dirty="0">
                <a:solidFill>
                  <a:srgbClr val="14614A"/>
                </a:solidFill>
                <a:latin typeface="Courier New" pitchFamily="34" charset="0"/>
                <a:ea typeface="Courier New" pitchFamily="34" charset="-122"/>
                <a:cs typeface="Courier New" pitchFamily="34" charset="-120"/>
              </a:rPr>
              <a:t>"Welcome to Java!"</a:t>
            </a: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4" name="Text 12"/>
          <p:cNvSpPr txBox="1"/>
          <p:nvPr/>
        </p:nvSpPr>
        <p:spPr>
          <a:xfrm>
            <a:off x="6278728" y="3474720"/>
            <a:ext cx="5346040" cy="82296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No class declaration, no public, no static, no String[] args, and no System.out — the IO class is imported automatically. Run it with java Welcome.java.</a:t>
            </a:r>
            <a:endParaRPr lang="en-US" sz="1250" dirty="0"/>
          </a:p>
        </p:txBody>
      </p:sp>
      <p:sp>
        <p:nvSpPr>
          <p:cNvPr id="15" name="Shape 13"/>
          <p:cNvSpPr/>
          <p:nvPr/>
        </p:nvSpPr>
        <p:spPr>
          <a:xfrm>
            <a:off x="6278728" y="4425696"/>
            <a:ext cx="5346040" cy="1600200"/>
          </a:xfrm>
          <a:prstGeom prst="roundRect">
            <a:avLst>
              <a:gd name="adj" fmla="val 5143"/>
            </a:avLst>
          </a:prstGeom>
          <a:solidFill>
            <a:srgbClr val="FBEEE0"/>
          </a:solidFill>
          <a:ln w="12700">
            <a:solidFill>
              <a:srgbClr val="FBEEE0"/>
            </a:solidFill>
            <a:prstDash val="solid"/>
          </a:ln>
        </p:spPr>
        <p:txBody>
          <a:bodyPr/>
          <a:lstStyle/>
          <a:p>
            <a:endParaRPr lang="en-US"/>
          </a:p>
        </p:txBody>
      </p:sp>
      <p:sp>
        <p:nvSpPr>
          <p:cNvPr id="16" name="Text 14"/>
          <p:cNvSpPr txBox="1"/>
          <p:nvPr/>
        </p:nvSpPr>
        <p:spPr>
          <a:xfrm>
            <a:off x="6534760" y="4425696"/>
            <a:ext cx="4833976" cy="1600200"/>
          </a:xfrm>
          <a:prstGeom prst="rect">
            <a:avLst/>
          </a:prstGeom>
          <a:noFill/>
          <a:ln/>
        </p:spPr>
        <p:txBody>
          <a:bodyPr wrap="square" lIns="0" tIns="0" rIns="0" bIns="0" rtlCol="0" anchor="ctr"/>
          <a:lstStyle/>
          <a:p>
            <a:pPr marL="0" indent="0">
              <a:lnSpc>
                <a:spcPct val="112000"/>
              </a:lnSpc>
              <a:buNone/>
            </a:pPr>
            <a:r>
              <a:rPr lang="en-US" sz="1250" dirty="0">
                <a:solidFill>
                  <a:srgbClr val="9A430A"/>
                </a:solidFill>
                <a:latin typeface="Calibri" pitchFamily="34" charset="0"/>
                <a:ea typeface="Calibri" pitchFamily="34" charset="-122"/>
                <a:cs typeface="Calibri" pitchFamily="34" charset="-120"/>
              </a:rPr>
              <a:t>Why show you this at all? Because it removes four concepts you cannot yet explain from the very first program you write. Use it to experiment. Then write the full form for anything you hand in — that is the version the rest of the Java world reads.</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CF1E5"/>
        </a:solidFill>
        <a:effectLst/>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marL="0" indent="0">
              <a:buNone/>
            </a:pPr>
            <a:r>
              <a:rPr lang="en-US" sz="1200" b="1" kern="0" spc="200" dirty="0">
                <a:solidFill>
                  <a:srgbClr val="9A430A"/>
                </a:solidFill>
                <a:latin typeface="Calibri" pitchFamily="34" charset="0"/>
                <a:ea typeface="Calibri" pitchFamily="34" charset="-122"/>
                <a:cs typeface="Calibri" pitchFamily="34" charset="-120"/>
              </a:rPr>
              <a:t>CHECKPOINT 4</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marL="0" indent="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marL="0" indent="0" algn="r">
              <a:buNone/>
            </a:pPr>
            <a:r>
              <a:rPr lang="en-US" sz="1250" dirty="0">
                <a:solidFill>
                  <a:srgbClr val="4B6377"/>
                </a:solidFill>
                <a:latin typeface="Calibri" pitchFamily="34" charset="0"/>
                <a:ea typeface="Calibri" pitchFamily="34" charset="-122"/>
                <a:cs typeface="Calibri" pitchFamily="34" charset="-120"/>
              </a:rPr>
              <a:t>Covering slides 32–41</a:t>
            </a:r>
            <a:endParaRPr lang="en-US" sz="1250" dirty="0"/>
          </a:p>
        </p:txBody>
      </p:sp>
      <p:sp>
        <p:nvSpPr>
          <p:cNvPr id="5" name="Shape 3"/>
          <p:cNvSpPr/>
          <p:nvPr/>
        </p:nvSpPr>
        <p:spPr>
          <a:xfrm>
            <a:off x="566928" y="1536192"/>
            <a:ext cx="11057839" cy="914400"/>
          </a:xfrm>
          <a:prstGeom prst="roundRect">
            <a:avLst>
              <a:gd name="adj" fmla="val 9000"/>
            </a:avLst>
          </a:prstGeom>
          <a:solidFill>
            <a:srgbClr val="FFFFFF"/>
          </a:solidFill>
          <a:ln w="12700">
            <a:solidFill>
              <a:srgbClr val="D3DEE7"/>
            </a:solidFill>
            <a:prstDash val="solid"/>
          </a:ln>
        </p:spPr>
        <p:txBody>
          <a:bodyPr/>
          <a:lstStyle/>
          <a:p>
            <a:endParaRPr lang="en-US"/>
          </a:p>
        </p:txBody>
      </p:sp>
      <p:sp>
        <p:nvSpPr>
          <p:cNvPr id="6" name="Shape 4"/>
          <p:cNvSpPr/>
          <p:nvPr/>
        </p:nvSpPr>
        <p:spPr>
          <a:xfrm>
            <a:off x="841248" y="1773936"/>
            <a:ext cx="402336" cy="402336"/>
          </a:xfrm>
          <a:prstGeom prst="ellipse">
            <a:avLst/>
          </a:prstGeom>
          <a:solidFill>
            <a:srgbClr val="C4560C"/>
          </a:solidFill>
          <a:ln w="12700">
            <a:solidFill>
              <a:srgbClr val="C4560C"/>
            </a:solidFill>
            <a:prstDash val="solid"/>
          </a:ln>
        </p:spPr>
        <p:txBody>
          <a:bodyPr/>
          <a:lstStyle/>
          <a:p>
            <a:endParaRPr lang="en-US"/>
          </a:p>
        </p:txBody>
      </p:sp>
      <p:sp>
        <p:nvSpPr>
          <p:cNvPr id="7" name="Text 5"/>
          <p:cNvSpPr txBox="1"/>
          <p:nvPr/>
        </p:nvSpPr>
        <p:spPr>
          <a:xfrm>
            <a:off x="841248" y="177393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700784"/>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Why must the file containing public class Welcome be called Welcome.java and nothing else?</a:t>
            </a:r>
            <a:endParaRPr lang="en-US" sz="1550" dirty="0"/>
          </a:p>
        </p:txBody>
      </p:sp>
      <p:sp>
        <p:nvSpPr>
          <p:cNvPr id="9" name="Shape 7"/>
          <p:cNvSpPr/>
          <p:nvPr/>
        </p:nvSpPr>
        <p:spPr>
          <a:xfrm>
            <a:off x="566928" y="2670048"/>
            <a:ext cx="11057839" cy="914400"/>
          </a:xfrm>
          <a:prstGeom prst="roundRect">
            <a:avLst>
              <a:gd name="adj" fmla="val 9000"/>
            </a:avLst>
          </a:prstGeom>
          <a:solidFill>
            <a:srgbClr val="FFFFFF"/>
          </a:solidFill>
          <a:ln w="12700">
            <a:solidFill>
              <a:srgbClr val="D3DEE7"/>
            </a:solidFill>
            <a:prstDash val="solid"/>
          </a:ln>
        </p:spPr>
        <p:txBody>
          <a:bodyPr/>
          <a:lstStyle/>
          <a:p>
            <a:endParaRPr lang="en-US"/>
          </a:p>
        </p:txBody>
      </p:sp>
      <p:sp>
        <p:nvSpPr>
          <p:cNvPr id="10" name="Shape 8"/>
          <p:cNvSpPr/>
          <p:nvPr/>
        </p:nvSpPr>
        <p:spPr>
          <a:xfrm>
            <a:off x="841248" y="2907792"/>
            <a:ext cx="402336" cy="402336"/>
          </a:xfrm>
          <a:prstGeom prst="ellipse">
            <a:avLst/>
          </a:prstGeom>
          <a:solidFill>
            <a:srgbClr val="C4560C"/>
          </a:solidFill>
          <a:ln w="12700">
            <a:solidFill>
              <a:srgbClr val="C4560C"/>
            </a:solidFill>
            <a:prstDash val="solid"/>
          </a:ln>
        </p:spPr>
        <p:txBody>
          <a:bodyPr/>
          <a:lstStyle/>
          <a:p>
            <a:endParaRPr lang="en-US"/>
          </a:p>
        </p:txBody>
      </p:sp>
      <p:sp>
        <p:nvSpPr>
          <p:cNvPr id="11" name="Text 9"/>
          <p:cNvSpPr txBox="1"/>
          <p:nvPr/>
        </p:nvSpPr>
        <p:spPr>
          <a:xfrm>
            <a:off x="841248" y="2907792"/>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834640"/>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What is the difference between what javac Welcome.java does and what java Welcome does?</a:t>
            </a:r>
            <a:endParaRPr lang="en-US" sz="1550" dirty="0"/>
          </a:p>
        </p:txBody>
      </p:sp>
      <p:sp>
        <p:nvSpPr>
          <p:cNvPr id="13" name="Shape 11"/>
          <p:cNvSpPr/>
          <p:nvPr/>
        </p:nvSpPr>
        <p:spPr>
          <a:xfrm>
            <a:off x="566928" y="3803904"/>
            <a:ext cx="11057839" cy="2510942"/>
          </a:xfrm>
          <a:prstGeom prst="roundRect">
            <a:avLst>
              <a:gd name="adj" fmla="val 3277"/>
            </a:avLst>
          </a:prstGeom>
          <a:solidFill>
            <a:srgbClr val="FFFFFF"/>
          </a:solidFill>
          <a:ln w="12700">
            <a:solidFill>
              <a:srgbClr val="D3DEE7"/>
            </a:solidFill>
            <a:prstDash val="solid"/>
          </a:ln>
        </p:spPr>
        <p:txBody>
          <a:bodyPr/>
          <a:lstStyle/>
          <a:p>
            <a:endParaRPr lang="en-US"/>
          </a:p>
        </p:txBody>
      </p:sp>
      <p:sp>
        <p:nvSpPr>
          <p:cNvPr id="14" name="Shape 12"/>
          <p:cNvSpPr/>
          <p:nvPr/>
        </p:nvSpPr>
        <p:spPr>
          <a:xfrm>
            <a:off x="841248" y="4041648"/>
            <a:ext cx="402336" cy="402336"/>
          </a:xfrm>
          <a:prstGeom prst="ellipse">
            <a:avLst/>
          </a:prstGeom>
          <a:solidFill>
            <a:srgbClr val="C4560C"/>
          </a:solidFill>
          <a:ln w="12700">
            <a:solidFill>
              <a:srgbClr val="C4560C"/>
            </a:solidFill>
            <a:prstDash val="solid"/>
          </a:ln>
        </p:spPr>
        <p:txBody>
          <a:bodyPr/>
          <a:lstStyle/>
          <a:p>
            <a:endParaRPr lang="en-US"/>
          </a:p>
        </p:txBody>
      </p:sp>
      <p:sp>
        <p:nvSpPr>
          <p:cNvPr id="15" name="Text 13"/>
          <p:cNvSpPr txBox="1"/>
          <p:nvPr/>
        </p:nvSpPr>
        <p:spPr>
          <a:xfrm>
            <a:off x="841248" y="4041648"/>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6" name="Text 14"/>
          <p:cNvSpPr txBox="1"/>
          <p:nvPr/>
        </p:nvSpPr>
        <p:spPr>
          <a:xfrm>
            <a:off x="1435608" y="3968496"/>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Three things are wrong here. Find them.</a:t>
            </a:r>
            <a:endParaRPr lang="en-US" sz="1550" dirty="0"/>
          </a:p>
        </p:txBody>
      </p:sp>
      <p:sp>
        <p:nvSpPr>
          <p:cNvPr id="17" name="Shape 15"/>
          <p:cNvSpPr/>
          <p:nvPr/>
        </p:nvSpPr>
        <p:spPr>
          <a:xfrm>
            <a:off x="1435608" y="4443984"/>
            <a:ext cx="6949440" cy="1395374"/>
          </a:xfrm>
          <a:prstGeom prst="roundRect">
            <a:avLst>
              <a:gd name="adj" fmla="val 4587"/>
            </a:avLst>
          </a:prstGeom>
          <a:solidFill>
            <a:srgbClr val="EDF2F7"/>
          </a:solidFill>
          <a:ln w="12700">
            <a:solidFill>
              <a:srgbClr val="CFDBE5"/>
            </a:solidFill>
            <a:prstDash val="solid"/>
          </a:ln>
        </p:spPr>
        <p:txBody>
          <a:bodyPr/>
          <a:lstStyle/>
          <a:p>
            <a:endParaRPr lang="en-US"/>
          </a:p>
        </p:txBody>
      </p:sp>
      <p:sp>
        <p:nvSpPr>
          <p:cNvPr id="18" name="Text 16"/>
          <p:cNvSpPr txBox="1"/>
          <p:nvPr/>
        </p:nvSpPr>
        <p:spPr>
          <a:xfrm>
            <a:off x="1600200" y="4581144"/>
            <a:ext cx="6620256" cy="1194206"/>
          </a:xfrm>
          <a:prstGeom prst="rect">
            <a:avLst/>
          </a:prstGeom>
          <a:noFill/>
          <a:ln/>
        </p:spPr>
        <p:txBody>
          <a:bodyPr wrap="square" lIns="0" tIns="0" rIns="0" bIns="0" rtlCol="0" anchor="t"/>
          <a:lstStyle/>
          <a:p>
            <a:pPr marL="0" indent="0">
              <a:lnSpc>
                <a:spcPct val="112000"/>
              </a:lnSpc>
              <a:buNone/>
            </a:pPr>
            <a:r>
              <a:rPr lang="en-US" sz="1100" dirty="0">
                <a:solidFill>
                  <a:srgbClr val="9A3412"/>
                </a:solidFill>
                <a:latin typeface="Courier New" pitchFamily="34" charset="0"/>
                <a:ea typeface="Courier New" pitchFamily="34" charset="-122"/>
                <a:cs typeface="Courier New" pitchFamily="34" charset="-120"/>
              </a:rPr>
              <a:t>public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class</a:t>
            </a:r>
            <a:r>
              <a:rPr lang="en-US" sz="1100" dirty="0">
                <a:solidFill>
                  <a:srgbClr val="14293C"/>
                </a:solidFill>
                <a:latin typeface="Courier New" pitchFamily="34" charset="0"/>
                <a:ea typeface="Courier New" pitchFamily="34" charset="-122"/>
                <a:cs typeface="Courier New" pitchFamily="34" charset="-120"/>
              </a:rPr>
              <a:t> hello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public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static</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9A3412"/>
                </a:solidFill>
                <a:latin typeface="Courier New" pitchFamily="34" charset="0"/>
                <a:ea typeface="Courier New" pitchFamily="34" charset="-122"/>
                <a:cs typeface="Courier New" pitchFamily="34" charset="-120"/>
              </a:rPr>
              <a:t>void</a:t>
            </a:r>
            <a:r>
              <a:rPr lang="en-US" sz="1100" dirty="0">
                <a:solidFill>
                  <a:srgbClr val="14293C"/>
                </a:solidFill>
                <a:latin typeface="Courier New" pitchFamily="34" charset="0"/>
                <a:ea typeface="Courier New" pitchFamily="34" charset="-122"/>
                <a:cs typeface="Courier New" pitchFamily="34" charset="-120"/>
              </a:rPr>
              <a:t> main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568A"/>
                </a:solidFill>
                <a:latin typeface="Courier New" pitchFamily="34" charset="0"/>
                <a:ea typeface="Courier New" pitchFamily="34" charset="-122"/>
                <a:cs typeface="Courier New" pitchFamily="34" charset="-120"/>
              </a:rPr>
              <a:t>String</a:t>
            </a:r>
            <a:r>
              <a:rPr lang="en-US" sz="1100" dirty="0">
                <a:solidFill>
                  <a:srgbClr val="14293C"/>
                </a:solidFill>
                <a:latin typeface="Courier New" pitchFamily="34" charset="0"/>
                <a:ea typeface="Courier New" pitchFamily="34" charset="-122"/>
                <a:cs typeface="Courier New" pitchFamily="34" charset="-120"/>
              </a:rPr>
              <a:t> args</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14568A"/>
                </a:solidFill>
                <a:latin typeface="Courier New" pitchFamily="34" charset="0"/>
                <a:ea typeface="Courier New" pitchFamily="34" charset="-122"/>
                <a:cs typeface="Courier New" pitchFamily="34" charset="-120"/>
              </a:rPr>
              <a:t>System</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out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println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614A"/>
                </a:solidFill>
                <a:latin typeface="Courier New" pitchFamily="34" charset="0"/>
                <a:ea typeface="Courier New" pitchFamily="34" charset="-122"/>
                <a:cs typeface="Courier New" pitchFamily="34" charset="-120"/>
              </a:rPr>
              <a:t>"Hi"</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marL="0" indent="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STYLE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Code Is Read Far More Often Than It Is Written</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Programming style and documentation are graded in this course, on every assignment and on the project.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43</a:t>
            </a:r>
            <a:endParaRPr lang="en-US" sz="900" dirty="0"/>
          </a:p>
        </p:txBody>
      </p:sp>
      <p:sp>
        <p:nvSpPr>
          <p:cNvPr id="7" name="Shape 5"/>
          <p:cNvSpPr/>
          <p:nvPr/>
        </p:nvSpPr>
        <p:spPr>
          <a:xfrm>
            <a:off x="566928" y="1627632"/>
            <a:ext cx="2613584" cy="1600200"/>
          </a:xfrm>
          <a:prstGeom prst="roundRect">
            <a:avLst>
              <a:gd name="adj" fmla="val 5143"/>
            </a:avLst>
          </a:prstGeom>
          <a:solidFill>
            <a:srgbClr val="F1F5F9"/>
          </a:solidFill>
          <a:ln w="12700">
            <a:solidFill>
              <a:srgbClr val="F1F5F9"/>
            </a:solidFill>
            <a:prstDash val="solid"/>
          </a:ln>
        </p:spPr>
        <p:txBody>
          <a:bodyPr/>
          <a:lstStyle/>
          <a:p>
            <a:endParaRPr lang="en-US"/>
          </a:p>
        </p:txBody>
      </p:sp>
      <p:sp>
        <p:nvSpPr>
          <p:cNvPr id="8" name="Shape 6"/>
          <p:cNvSpPr/>
          <p:nvPr/>
        </p:nvSpPr>
        <p:spPr>
          <a:xfrm>
            <a:off x="804672" y="1865376"/>
            <a:ext cx="420624" cy="420624"/>
          </a:xfrm>
          <a:prstGeom prst="ellipse">
            <a:avLst/>
          </a:prstGeom>
          <a:solidFill>
            <a:srgbClr val="0F2942"/>
          </a:solidFill>
          <a:ln w="12700">
            <a:solidFill>
              <a:srgbClr val="0F2942"/>
            </a:solidFill>
            <a:prstDash val="solid"/>
          </a:ln>
        </p:spPr>
        <p:txBody>
          <a:bodyPr/>
          <a:lstStyle/>
          <a:p>
            <a:endParaRPr lang="en-US"/>
          </a:p>
        </p:txBody>
      </p:sp>
      <p:sp>
        <p:nvSpPr>
          <p:cNvPr id="9" name="Text 7"/>
          <p:cNvSpPr txBox="1"/>
          <p:nvPr/>
        </p:nvSpPr>
        <p:spPr>
          <a:xfrm>
            <a:off x="804672" y="18653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804672" y="2404872"/>
            <a:ext cx="2138096" cy="310896"/>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Appropriate comments</a:t>
            </a:r>
            <a:endParaRPr lang="en-US" sz="1450" dirty="0"/>
          </a:p>
        </p:txBody>
      </p:sp>
      <p:sp>
        <p:nvSpPr>
          <p:cNvPr id="11" name="Text 9"/>
          <p:cNvSpPr txBox="1"/>
          <p:nvPr/>
        </p:nvSpPr>
        <p:spPr>
          <a:xfrm>
            <a:off x="804672" y="2706624"/>
            <a:ext cx="2138096" cy="457200"/>
          </a:xfrm>
          <a:prstGeom prst="rect">
            <a:avLst/>
          </a:prstGeom>
          <a:noFill/>
          <a:ln/>
        </p:spPr>
        <p:txBody>
          <a:bodyPr wrap="square" lIns="0" tIns="0" rIns="0" bIns="0" rtlCol="0" anchor="t"/>
          <a:lstStyle/>
          <a:p>
            <a:pPr marL="0" indent="0">
              <a:buNone/>
            </a:pPr>
            <a:r>
              <a:rPr lang="en-US" sz="1200" dirty="0">
                <a:solidFill>
                  <a:srgbClr val="3A536B"/>
                </a:solidFill>
                <a:latin typeface="Calibri" pitchFamily="34" charset="0"/>
                <a:ea typeface="Calibri" pitchFamily="34" charset="-122"/>
                <a:cs typeface="Calibri" pitchFamily="34" charset="-120"/>
              </a:rPr>
              <a:t>Explain why, not what. The code already says what.</a:t>
            </a:r>
            <a:endParaRPr lang="en-US" sz="1200" dirty="0"/>
          </a:p>
        </p:txBody>
      </p:sp>
      <p:sp>
        <p:nvSpPr>
          <p:cNvPr id="12" name="Shape 10"/>
          <p:cNvSpPr/>
          <p:nvPr/>
        </p:nvSpPr>
        <p:spPr>
          <a:xfrm>
            <a:off x="3381680" y="1627632"/>
            <a:ext cx="2613584" cy="1600200"/>
          </a:xfrm>
          <a:prstGeom prst="roundRect">
            <a:avLst>
              <a:gd name="adj" fmla="val 5143"/>
            </a:avLst>
          </a:prstGeom>
          <a:solidFill>
            <a:srgbClr val="F1F5F9"/>
          </a:solidFill>
          <a:ln w="12700">
            <a:solidFill>
              <a:srgbClr val="F1F5F9"/>
            </a:solidFill>
            <a:prstDash val="solid"/>
          </a:ln>
        </p:spPr>
        <p:txBody>
          <a:bodyPr/>
          <a:lstStyle/>
          <a:p>
            <a:endParaRPr lang="en-US"/>
          </a:p>
        </p:txBody>
      </p:sp>
      <p:sp>
        <p:nvSpPr>
          <p:cNvPr id="13" name="Shape 11"/>
          <p:cNvSpPr/>
          <p:nvPr/>
        </p:nvSpPr>
        <p:spPr>
          <a:xfrm>
            <a:off x="3619424" y="1865376"/>
            <a:ext cx="420624" cy="420624"/>
          </a:xfrm>
          <a:prstGeom prst="ellipse">
            <a:avLst/>
          </a:prstGeom>
          <a:solidFill>
            <a:srgbClr val="9A430A"/>
          </a:solidFill>
          <a:ln w="12700">
            <a:solidFill>
              <a:srgbClr val="9A430A"/>
            </a:solidFill>
            <a:prstDash val="solid"/>
          </a:ln>
        </p:spPr>
        <p:txBody>
          <a:bodyPr/>
          <a:lstStyle/>
          <a:p>
            <a:endParaRPr lang="en-US"/>
          </a:p>
        </p:txBody>
      </p:sp>
      <p:sp>
        <p:nvSpPr>
          <p:cNvPr id="14" name="Text 12"/>
          <p:cNvSpPr txBox="1"/>
          <p:nvPr/>
        </p:nvSpPr>
        <p:spPr>
          <a:xfrm>
            <a:off x="3619424" y="18653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3619424" y="2404872"/>
            <a:ext cx="2138096" cy="310896"/>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Naming conventions</a:t>
            </a:r>
            <a:endParaRPr lang="en-US" sz="1450" dirty="0"/>
          </a:p>
        </p:txBody>
      </p:sp>
      <p:sp>
        <p:nvSpPr>
          <p:cNvPr id="16" name="Text 14"/>
          <p:cNvSpPr txBox="1"/>
          <p:nvPr/>
        </p:nvSpPr>
        <p:spPr>
          <a:xfrm>
            <a:off x="3619424" y="2706624"/>
            <a:ext cx="2138096" cy="457200"/>
          </a:xfrm>
          <a:prstGeom prst="rect">
            <a:avLst/>
          </a:prstGeom>
          <a:noFill/>
          <a:ln/>
        </p:spPr>
        <p:txBody>
          <a:bodyPr wrap="square" lIns="0" tIns="0" rIns="0" bIns="0" rtlCol="0" anchor="t"/>
          <a:lstStyle/>
          <a:p>
            <a:pPr marL="0" indent="0">
              <a:buNone/>
            </a:pPr>
            <a:r>
              <a:rPr lang="en-US" sz="1200" dirty="0">
                <a:solidFill>
                  <a:srgbClr val="3A536B"/>
                </a:solidFill>
                <a:latin typeface="Calibri" pitchFamily="34" charset="0"/>
                <a:ea typeface="Calibri" pitchFamily="34" charset="-122"/>
                <a:cs typeface="Calibri" pitchFamily="34" charset="-120"/>
              </a:rPr>
              <a:t>Descriptive names, applied consistently.</a:t>
            </a:r>
            <a:endParaRPr lang="en-US" sz="1200" dirty="0"/>
          </a:p>
        </p:txBody>
      </p:sp>
      <p:sp>
        <p:nvSpPr>
          <p:cNvPr id="17" name="Shape 15"/>
          <p:cNvSpPr/>
          <p:nvPr/>
        </p:nvSpPr>
        <p:spPr>
          <a:xfrm>
            <a:off x="6196432" y="1627632"/>
            <a:ext cx="2613584" cy="1600200"/>
          </a:xfrm>
          <a:prstGeom prst="roundRect">
            <a:avLst>
              <a:gd name="adj" fmla="val 5143"/>
            </a:avLst>
          </a:prstGeom>
          <a:solidFill>
            <a:srgbClr val="F1F5F9"/>
          </a:solidFill>
          <a:ln w="12700">
            <a:solidFill>
              <a:srgbClr val="F1F5F9"/>
            </a:solidFill>
            <a:prstDash val="solid"/>
          </a:ln>
        </p:spPr>
        <p:txBody>
          <a:bodyPr/>
          <a:lstStyle/>
          <a:p>
            <a:endParaRPr lang="en-US"/>
          </a:p>
        </p:txBody>
      </p:sp>
      <p:sp>
        <p:nvSpPr>
          <p:cNvPr id="18" name="Shape 16"/>
          <p:cNvSpPr/>
          <p:nvPr/>
        </p:nvSpPr>
        <p:spPr>
          <a:xfrm>
            <a:off x="6434176" y="1865376"/>
            <a:ext cx="420624" cy="420624"/>
          </a:xfrm>
          <a:prstGeom prst="ellipse">
            <a:avLst/>
          </a:prstGeom>
          <a:solidFill>
            <a:srgbClr val="175680"/>
          </a:solidFill>
          <a:ln w="12700">
            <a:solidFill>
              <a:srgbClr val="175680"/>
            </a:solidFill>
            <a:prstDash val="solid"/>
          </a:ln>
        </p:spPr>
        <p:txBody>
          <a:bodyPr/>
          <a:lstStyle/>
          <a:p>
            <a:endParaRPr lang="en-US"/>
          </a:p>
        </p:txBody>
      </p:sp>
      <p:sp>
        <p:nvSpPr>
          <p:cNvPr id="19" name="Text 17"/>
          <p:cNvSpPr txBox="1"/>
          <p:nvPr/>
        </p:nvSpPr>
        <p:spPr>
          <a:xfrm>
            <a:off x="6434176" y="18653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6434176" y="2404872"/>
            <a:ext cx="2138096" cy="310896"/>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Indentation and spacing</a:t>
            </a:r>
            <a:endParaRPr lang="en-US" sz="1450" dirty="0"/>
          </a:p>
        </p:txBody>
      </p:sp>
      <p:sp>
        <p:nvSpPr>
          <p:cNvPr id="21" name="Text 19"/>
          <p:cNvSpPr txBox="1"/>
          <p:nvPr/>
        </p:nvSpPr>
        <p:spPr>
          <a:xfrm>
            <a:off x="6434176" y="2706624"/>
            <a:ext cx="2138096" cy="457200"/>
          </a:xfrm>
          <a:prstGeom prst="rect">
            <a:avLst/>
          </a:prstGeom>
          <a:noFill/>
          <a:ln/>
        </p:spPr>
        <p:txBody>
          <a:bodyPr wrap="square" lIns="0" tIns="0" rIns="0" bIns="0" rtlCol="0" anchor="t"/>
          <a:lstStyle/>
          <a:p>
            <a:pPr marL="0" indent="0">
              <a:buNone/>
            </a:pPr>
            <a:r>
              <a:rPr lang="en-US" sz="1200" dirty="0">
                <a:solidFill>
                  <a:srgbClr val="3A536B"/>
                </a:solidFill>
                <a:latin typeface="Calibri" pitchFamily="34" charset="0"/>
                <a:ea typeface="Calibri" pitchFamily="34" charset="-122"/>
                <a:cs typeface="Calibri" pitchFamily="34" charset="-120"/>
              </a:rPr>
              <a:t>Structure you can see at a glance.</a:t>
            </a:r>
            <a:endParaRPr lang="en-US" sz="1200" dirty="0"/>
          </a:p>
        </p:txBody>
      </p:sp>
      <p:sp>
        <p:nvSpPr>
          <p:cNvPr id="22" name="Shape 20"/>
          <p:cNvSpPr/>
          <p:nvPr/>
        </p:nvSpPr>
        <p:spPr>
          <a:xfrm>
            <a:off x="9011183" y="1627632"/>
            <a:ext cx="2613584" cy="1600200"/>
          </a:xfrm>
          <a:prstGeom prst="roundRect">
            <a:avLst>
              <a:gd name="adj" fmla="val 5143"/>
            </a:avLst>
          </a:prstGeom>
          <a:solidFill>
            <a:srgbClr val="F1F5F9"/>
          </a:solidFill>
          <a:ln w="12700">
            <a:solidFill>
              <a:srgbClr val="F1F5F9"/>
            </a:solidFill>
            <a:prstDash val="solid"/>
          </a:ln>
        </p:spPr>
        <p:txBody>
          <a:bodyPr/>
          <a:lstStyle/>
          <a:p>
            <a:endParaRPr lang="en-US"/>
          </a:p>
        </p:txBody>
      </p:sp>
      <p:sp>
        <p:nvSpPr>
          <p:cNvPr id="23" name="Shape 21"/>
          <p:cNvSpPr/>
          <p:nvPr/>
        </p:nvSpPr>
        <p:spPr>
          <a:xfrm>
            <a:off x="9248927" y="1865376"/>
            <a:ext cx="420624" cy="420624"/>
          </a:xfrm>
          <a:prstGeom prst="ellipse">
            <a:avLst/>
          </a:prstGeom>
          <a:solidFill>
            <a:srgbClr val="176240"/>
          </a:solidFill>
          <a:ln w="12700">
            <a:solidFill>
              <a:srgbClr val="176240"/>
            </a:solidFill>
            <a:prstDash val="solid"/>
          </a:ln>
        </p:spPr>
        <p:txBody>
          <a:bodyPr/>
          <a:lstStyle/>
          <a:p>
            <a:endParaRPr lang="en-US"/>
          </a:p>
        </p:txBody>
      </p:sp>
      <p:sp>
        <p:nvSpPr>
          <p:cNvPr id="24" name="Text 22"/>
          <p:cNvSpPr txBox="1"/>
          <p:nvPr/>
        </p:nvSpPr>
        <p:spPr>
          <a:xfrm>
            <a:off x="9248927" y="18653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9248927" y="2404872"/>
            <a:ext cx="2138096" cy="310896"/>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Block styles</a:t>
            </a:r>
            <a:endParaRPr lang="en-US" sz="1450" dirty="0"/>
          </a:p>
        </p:txBody>
      </p:sp>
      <p:sp>
        <p:nvSpPr>
          <p:cNvPr id="26" name="Text 24"/>
          <p:cNvSpPr txBox="1"/>
          <p:nvPr/>
        </p:nvSpPr>
        <p:spPr>
          <a:xfrm>
            <a:off x="9248927" y="2706624"/>
            <a:ext cx="2138096" cy="457200"/>
          </a:xfrm>
          <a:prstGeom prst="rect">
            <a:avLst/>
          </a:prstGeom>
          <a:noFill/>
          <a:ln/>
        </p:spPr>
        <p:txBody>
          <a:bodyPr wrap="square" lIns="0" tIns="0" rIns="0" bIns="0" rtlCol="0" anchor="t"/>
          <a:lstStyle/>
          <a:p>
            <a:pPr marL="0" indent="0">
              <a:buNone/>
            </a:pPr>
            <a:r>
              <a:rPr lang="en-US" sz="1200" dirty="0">
                <a:solidFill>
                  <a:srgbClr val="3A536B"/>
                </a:solidFill>
                <a:latin typeface="Calibri" pitchFamily="34" charset="0"/>
                <a:ea typeface="Calibri" pitchFamily="34" charset="-122"/>
                <a:cs typeface="Calibri" pitchFamily="34" charset="-120"/>
              </a:rPr>
              <a:t>One brace convention, used everywhere.</a:t>
            </a:r>
            <a:endParaRPr lang="en-US" sz="1200" dirty="0"/>
          </a:p>
        </p:txBody>
      </p:sp>
      <p:sp>
        <p:nvSpPr>
          <p:cNvPr id="27" name="Text 25"/>
          <p:cNvSpPr txBox="1"/>
          <p:nvPr/>
        </p:nvSpPr>
        <p:spPr>
          <a:xfrm>
            <a:off x="566928" y="3502152"/>
            <a:ext cx="5346040" cy="292608"/>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The three comment forms</a:t>
            </a:r>
            <a:endParaRPr lang="en-US" sz="1500" dirty="0"/>
          </a:p>
        </p:txBody>
      </p:sp>
      <p:sp>
        <p:nvSpPr>
          <p:cNvPr id="28" name="Shape 26"/>
          <p:cNvSpPr/>
          <p:nvPr/>
        </p:nvSpPr>
        <p:spPr>
          <a:xfrm>
            <a:off x="566928" y="3886200"/>
            <a:ext cx="5346040" cy="1957548"/>
          </a:xfrm>
          <a:prstGeom prst="roundRect">
            <a:avLst>
              <a:gd name="adj" fmla="val 3270"/>
            </a:avLst>
          </a:prstGeom>
          <a:solidFill>
            <a:srgbClr val="EDF2F7"/>
          </a:solidFill>
          <a:ln w="12700">
            <a:solidFill>
              <a:srgbClr val="CFDBE5"/>
            </a:solidFill>
            <a:prstDash val="solid"/>
          </a:ln>
        </p:spPr>
        <p:txBody>
          <a:bodyPr/>
          <a:lstStyle/>
          <a:p>
            <a:endParaRPr lang="en-US"/>
          </a:p>
        </p:txBody>
      </p:sp>
      <p:sp>
        <p:nvSpPr>
          <p:cNvPr id="29" name="Text 27"/>
          <p:cNvSpPr txBox="1"/>
          <p:nvPr/>
        </p:nvSpPr>
        <p:spPr>
          <a:xfrm>
            <a:off x="731520" y="4023360"/>
            <a:ext cx="5016856" cy="1756380"/>
          </a:xfrm>
          <a:prstGeom prst="rect">
            <a:avLst/>
          </a:prstGeom>
          <a:noFill/>
          <a:ln/>
        </p:spPr>
        <p:txBody>
          <a:bodyPr wrap="square" lIns="0" tIns="0" rIns="0" bIns="0" rtlCol="0" anchor="t"/>
          <a:lstStyle/>
          <a:p>
            <a:pPr marL="0" indent="0">
              <a:lnSpc>
                <a:spcPct val="112000"/>
              </a:lnSpc>
              <a:buNone/>
            </a:pPr>
            <a:r>
              <a:rPr lang="en-US" sz="1200" dirty="0">
                <a:solidFill>
                  <a:srgbClr val="415C6E"/>
                </a:solidFill>
                <a:latin typeface="Courier New" pitchFamily="34" charset="0"/>
                <a:ea typeface="Courier New" pitchFamily="34" charset="-122"/>
                <a:cs typeface="Courier New" pitchFamily="34" charset="-120"/>
              </a:rPr>
              <a:t>// a single-line comment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 comment that runs</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over several lines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 Javadoc comment — tools turn</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these into API documentation</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30" name="Text 28"/>
          <p:cNvSpPr txBox="1"/>
          <p:nvPr/>
        </p:nvSpPr>
        <p:spPr>
          <a:xfrm>
            <a:off x="6278728" y="3502152"/>
            <a:ext cx="5346040" cy="292608"/>
          </a:xfrm>
          <a:prstGeom prst="rect">
            <a:avLst/>
          </a:prstGeom>
          <a:noFill/>
          <a:ln/>
        </p:spPr>
        <p:txBody>
          <a:bodyPr wrap="square" lIns="0" tIns="0" rIns="0" bIns="0" rtlCol="0" anchor="ctr"/>
          <a:lstStyle/>
          <a:p>
            <a:pPr marL="0" indent="0">
              <a:buNone/>
            </a:pPr>
            <a:r>
              <a:rPr lang="en-US" sz="1500" b="1" dirty="0">
                <a:solidFill>
                  <a:srgbClr val="0F2942"/>
                </a:solidFill>
                <a:latin typeface="Calibri" pitchFamily="34" charset="0"/>
                <a:ea typeface="Calibri" pitchFamily="34" charset="-122"/>
                <a:cs typeface="Calibri" pitchFamily="34" charset="-120"/>
              </a:rPr>
              <a:t>What belongs at the top of every file you submit</a:t>
            </a:r>
            <a:endParaRPr lang="en-US" sz="1500" dirty="0"/>
          </a:p>
        </p:txBody>
      </p:sp>
      <p:sp>
        <p:nvSpPr>
          <p:cNvPr id="31" name="Shape 29"/>
          <p:cNvSpPr/>
          <p:nvPr/>
        </p:nvSpPr>
        <p:spPr>
          <a:xfrm>
            <a:off x="6278728" y="3886200"/>
            <a:ext cx="5346040" cy="1874520"/>
          </a:xfrm>
          <a:prstGeom prst="roundRect">
            <a:avLst>
              <a:gd name="adj" fmla="val 4390"/>
            </a:avLst>
          </a:prstGeom>
          <a:solidFill>
            <a:srgbClr val="F1F5F9"/>
          </a:solidFill>
          <a:ln w="12700">
            <a:solidFill>
              <a:srgbClr val="F1F5F9"/>
            </a:solidFill>
            <a:prstDash val="solid"/>
          </a:ln>
        </p:spPr>
        <p:txBody>
          <a:bodyPr/>
          <a:lstStyle/>
          <a:p>
            <a:endParaRPr lang="en-US"/>
          </a:p>
        </p:txBody>
      </p:sp>
      <p:sp>
        <p:nvSpPr>
          <p:cNvPr id="32" name="Text 30"/>
          <p:cNvSpPr txBox="1"/>
          <p:nvPr/>
        </p:nvSpPr>
        <p:spPr>
          <a:xfrm>
            <a:off x="6553048" y="4069080"/>
            <a:ext cx="4797400" cy="155448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3A536B"/>
                </a:solidFill>
                <a:latin typeface="Calibri" pitchFamily="34" charset="0"/>
                <a:ea typeface="Calibri" pitchFamily="34" charset="-122"/>
                <a:cs typeface="Calibri" pitchFamily="34" charset="-120"/>
              </a:rPr>
              <a:t>A summary of what the program does and how.</a:t>
            </a:r>
            <a:endParaRPr lang="en-US" sz="1250" dirty="0"/>
          </a:p>
          <a:p>
            <a:pPr marL="177800" indent="-177800">
              <a:spcAft>
                <a:spcPts val="900"/>
              </a:spcAft>
              <a:buSzPct val="100000"/>
              <a:buChar char="•"/>
            </a:pPr>
            <a:r>
              <a:rPr lang="en-US" sz="1250" dirty="0">
                <a:solidFill>
                  <a:srgbClr val="3A536B"/>
                </a:solidFill>
                <a:latin typeface="Calibri" pitchFamily="34" charset="0"/>
                <a:ea typeface="Calibri" pitchFamily="34" charset="-122"/>
                <a:cs typeface="Calibri" pitchFamily="34" charset="-120"/>
              </a:rPr>
              <a:t>Its key features and any notable data structures or techniques.</a:t>
            </a:r>
            <a:endParaRPr lang="en-US" sz="1250" dirty="0"/>
          </a:p>
          <a:p>
            <a:pPr marL="177800" indent="-177800">
              <a:spcAft>
                <a:spcPts val="900"/>
              </a:spcAft>
              <a:buSzPct val="100000"/>
              <a:buChar char="•"/>
            </a:pPr>
            <a:r>
              <a:rPr lang="en-US" sz="1250" dirty="0">
                <a:solidFill>
                  <a:srgbClr val="3A536B"/>
                </a:solidFill>
                <a:latin typeface="Calibri" pitchFamily="34" charset="0"/>
                <a:ea typeface="Calibri" pitchFamily="34" charset="-122"/>
                <a:cs typeface="Calibri" pitchFamily="34" charset="-120"/>
              </a:rPr>
              <a:t>Your name, section, the instructor, and the date.</a:t>
            </a:r>
            <a:endParaRPr lang="en-US" sz="1250" dirty="0"/>
          </a:p>
          <a:p>
            <a:pPr marL="177800" indent="-177800">
              <a:spcAft>
                <a:spcPts val="900"/>
              </a:spcAft>
              <a:buSzPct val="100000"/>
              <a:buChar char="•"/>
            </a:pPr>
            <a:r>
              <a:rPr lang="en-US" sz="1250" dirty="0">
                <a:solidFill>
                  <a:srgbClr val="3A536B"/>
                </a:solidFill>
                <a:latin typeface="Calibri" pitchFamily="34" charset="0"/>
                <a:ea typeface="Calibri" pitchFamily="34" charset="-122"/>
                <a:cs typeface="Calibri" pitchFamily="34" charset="-120"/>
              </a:rPr>
              <a:t>Anything you did not write yourself, with its source cited.</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STYLE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Naming Conventions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Choose meaningful, descriptive names — then capitalise them the way every other Java programmer does.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44</a:t>
            </a:r>
            <a:endParaRPr lang="en-US" sz="9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3401568"/>
        </p:xfrm>
        <a:graphic>
          <a:graphicData uri="http://schemas.openxmlformats.org/drawingml/2006/table">
            <a:tbl>
              <a:tblPr/>
              <a:tblGrid>
                <a:gridCol w="22860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562856">
                  <a:extLst>
                    <a:ext uri="{9D8B030D-6E8A-4147-A177-3AD203B41FA5}">
                      <a16:colId xmlns:a16="http://schemas.microsoft.com/office/drawing/2014/main" val="20002"/>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Convention</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Examples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Classes and interfaces</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UpperCamelCase — capitalise every word, including the first</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0F2942"/>
                          </a:solidFill>
                          <a:latin typeface="Courier New" pitchFamily="34" charset="0"/>
                          <a:ea typeface="Courier New" pitchFamily="34" charset="-122"/>
                          <a:cs typeface="Courier New" pitchFamily="34" charset="-120"/>
                        </a:rPr>
                        <a:t>Welcome    ComputeExpression    BankAccount</a:t>
                      </a:r>
                      <a:endParaRPr lang="en-US" sz="120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Variables</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lowerCamelCase — first word lowercase, capitalise the rest</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0F2942"/>
                          </a:solidFill>
                          <a:latin typeface="Courier New" pitchFamily="34" charset="0"/>
                          <a:ea typeface="Courier New" pitchFamily="34" charset="-122"/>
                          <a:cs typeface="Courier New" pitchFamily="34" charset="-120"/>
                        </a:rPr>
                        <a:t>radius    maxScore    numberOfStudents</a:t>
                      </a:r>
                      <a:endParaRPr lang="en-US" sz="120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Methods</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lowerCamelCase, and usually a verb phrase</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0F2942"/>
                          </a:solidFill>
                          <a:latin typeface="Courier New" pitchFamily="34" charset="0"/>
                          <a:ea typeface="Courier New" pitchFamily="34" charset="-122"/>
                          <a:cs typeface="Courier New" pitchFamily="34" charset="-120"/>
                        </a:rPr>
                        <a:t>getArea()    computeTotal()    isValid()</a:t>
                      </a:r>
                      <a:endParaRPr lang="en-US" sz="120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Constants</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UPPER_SNAKE_CASE — all capitals, words joined by underscores</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0F2942"/>
                          </a:solidFill>
                          <a:latin typeface="Courier New" pitchFamily="34" charset="0"/>
                          <a:ea typeface="Courier New" pitchFamily="34" charset="-122"/>
                          <a:cs typeface="Courier New" pitchFamily="34" charset="-120"/>
                        </a:rPr>
                        <a:t>PI    MAX_VALUE    DEFAULT_TIMEOUT</a:t>
                      </a:r>
                      <a:endParaRPr lang="en-US" sz="120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Packages</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3A536B"/>
                          </a:solidFill>
                          <a:latin typeface="Calibri" pitchFamily="34" charset="0"/>
                          <a:ea typeface="Calibri" pitchFamily="34" charset="-122"/>
                          <a:cs typeface="Calibri" pitchFamily="34" charset="-120"/>
                        </a:rPr>
                        <a:t>all lowercase, dotted, usually a reversed domain</a:t>
                      </a:r>
                      <a:endParaRPr lang="en-US" sz="120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200" dirty="0">
                          <a:solidFill>
                            <a:srgbClr val="0F2942"/>
                          </a:solidFill>
                          <a:latin typeface="Courier New" pitchFamily="34" charset="0"/>
                          <a:ea typeface="Courier New" pitchFamily="34" charset="-122"/>
                          <a:cs typeface="Courier New" pitchFamily="34" charset="-120"/>
                        </a:rPr>
                        <a:t>java.util    bg.aubg.cos2030.week1</a:t>
                      </a:r>
                      <a:endParaRPr lang="en-US" sz="1200" dirty="0">
                        <a:latin typeface="Courier New" charset="0"/>
                        <a:ea typeface="Courier New" charset="0"/>
                        <a:cs typeface="Courier New"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Shape 5"/>
          <p:cNvSpPr/>
          <p:nvPr/>
        </p:nvSpPr>
        <p:spPr>
          <a:xfrm>
            <a:off x="566928" y="5193792"/>
            <a:ext cx="5391760" cy="868680"/>
          </a:xfrm>
          <a:prstGeom prst="roundRect">
            <a:avLst>
              <a:gd name="adj" fmla="val 9474"/>
            </a:avLst>
          </a:prstGeom>
          <a:solidFill>
            <a:srgbClr val="E6F2EC"/>
          </a:solidFill>
          <a:ln w="12700">
            <a:solidFill>
              <a:srgbClr val="E6F2EC"/>
            </a:solidFill>
            <a:prstDash val="solid"/>
          </a:ln>
        </p:spPr>
        <p:txBody>
          <a:bodyPr/>
          <a:lstStyle/>
          <a:p>
            <a:endParaRPr lang="en-US"/>
          </a:p>
        </p:txBody>
      </p:sp>
      <p:sp>
        <p:nvSpPr>
          <p:cNvPr id="9" name="Text 6"/>
          <p:cNvSpPr txBox="1"/>
          <p:nvPr/>
        </p:nvSpPr>
        <p:spPr>
          <a:xfrm>
            <a:off x="822960" y="5193792"/>
            <a:ext cx="4879696" cy="868680"/>
          </a:xfrm>
          <a:prstGeom prst="rect">
            <a:avLst/>
          </a:prstGeom>
          <a:noFill/>
          <a:ln/>
        </p:spPr>
        <p:txBody>
          <a:bodyPr wrap="square" lIns="0" tIns="0" rIns="0" bIns="0" rtlCol="0" anchor="ctr"/>
          <a:lstStyle/>
          <a:p>
            <a:pPr marL="0" indent="0">
              <a:lnSpc>
                <a:spcPct val="110000"/>
              </a:lnSpc>
              <a:buNone/>
            </a:pPr>
            <a:r>
              <a:rPr lang="en-US" sz="1250" b="1" dirty="0">
                <a:solidFill>
                  <a:srgbClr val="176240"/>
                </a:solidFill>
                <a:latin typeface="Calibri" pitchFamily="34" charset="0"/>
                <a:ea typeface="Calibri" pitchFamily="34" charset="-122"/>
                <a:cs typeface="Calibri" pitchFamily="34" charset="-120"/>
              </a:rPr>
              <a:t>Do:  </a:t>
            </a:r>
            <a:r>
              <a:rPr lang="en-US" sz="1250" dirty="0">
                <a:solidFill>
                  <a:srgbClr val="0F2942"/>
                </a:solidFill>
                <a:latin typeface="Courier New" pitchFamily="34" charset="0"/>
                <a:ea typeface="Courier New" pitchFamily="34" charset="-122"/>
                <a:cs typeface="Courier New" pitchFamily="34" charset="-120"/>
              </a:rPr>
              <a:t>double interestRate;   </a:t>
            </a:r>
            <a:r>
              <a:rPr lang="en-US" sz="1250" dirty="0">
                <a:solidFill>
                  <a:srgbClr val="3A536B"/>
                </a:solidFill>
                <a:latin typeface="Calibri" pitchFamily="34" charset="0"/>
                <a:ea typeface="Calibri" pitchFamily="34" charset="-122"/>
                <a:cs typeface="Calibri" pitchFamily="34" charset="-120"/>
              </a:rPr>
              <a:t>the name tells you what it holds.</a:t>
            </a:r>
            <a:endParaRPr lang="en-US" sz="1250" dirty="0"/>
          </a:p>
        </p:txBody>
      </p:sp>
      <p:sp>
        <p:nvSpPr>
          <p:cNvPr id="10" name="Shape 7"/>
          <p:cNvSpPr/>
          <p:nvPr/>
        </p:nvSpPr>
        <p:spPr>
          <a:xfrm>
            <a:off x="6233008" y="5193792"/>
            <a:ext cx="5391760" cy="868680"/>
          </a:xfrm>
          <a:prstGeom prst="roundRect">
            <a:avLst>
              <a:gd name="adj" fmla="val 9474"/>
            </a:avLst>
          </a:prstGeom>
          <a:solidFill>
            <a:srgbClr val="FBEAE8"/>
          </a:solidFill>
          <a:ln w="12700">
            <a:solidFill>
              <a:srgbClr val="FBEAE8"/>
            </a:solidFill>
            <a:prstDash val="solid"/>
          </a:ln>
        </p:spPr>
        <p:txBody>
          <a:bodyPr/>
          <a:lstStyle/>
          <a:p>
            <a:endParaRPr lang="en-US"/>
          </a:p>
        </p:txBody>
      </p:sp>
      <p:sp>
        <p:nvSpPr>
          <p:cNvPr id="11" name="Text 8"/>
          <p:cNvSpPr txBox="1"/>
          <p:nvPr/>
        </p:nvSpPr>
        <p:spPr>
          <a:xfrm>
            <a:off x="6489040" y="5193792"/>
            <a:ext cx="4879696" cy="868680"/>
          </a:xfrm>
          <a:prstGeom prst="rect">
            <a:avLst/>
          </a:prstGeom>
          <a:noFill/>
          <a:ln/>
        </p:spPr>
        <p:txBody>
          <a:bodyPr wrap="square" lIns="0" tIns="0" rIns="0" bIns="0" rtlCol="0" anchor="ctr"/>
          <a:lstStyle/>
          <a:p>
            <a:pPr marL="0" indent="0">
              <a:lnSpc>
                <a:spcPct val="110000"/>
              </a:lnSpc>
              <a:buNone/>
            </a:pPr>
            <a:r>
              <a:rPr lang="en-US" sz="1250" b="1" dirty="0">
                <a:solidFill>
                  <a:srgbClr val="9C241C"/>
                </a:solidFill>
                <a:latin typeface="Calibri" pitchFamily="34" charset="0"/>
                <a:ea typeface="Calibri" pitchFamily="34" charset="-122"/>
                <a:cs typeface="Calibri" pitchFamily="34" charset="-120"/>
              </a:rPr>
              <a:t>Don't:  </a:t>
            </a:r>
            <a:r>
              <a:rPr lang="en-US" sz="1250" dirty="0">
                <a:solidFill>
                  <a:srgbClr val="0F2942"/>
                </a:solidFill>
                <a:latin typeface="Courier New" pitchFamily="34" charset="0"/>
                <a:ea typeface="Courier New" pitchFamily="34" charset="-122"/>
                <a:cs typeface="Courier New" pitchFamily="34" charset="-120"/>
              </a:rPr>
              <a:t>double ir;  double x1;  </a:t>
            </a:r>
            <a:r>
              <a:rPr lang="en-US" sz="1250" dirty="0">
                <a:solidFill>
                  <a:srgbClr val="3A536B"/>
                </a:solidFill>
                <a:latin typeface="Calibri" pitchFamily="34" charset="0"/>
                <a:ea typeface="Calibri" pitchFamily="34" charset="-122"/>
                <a:cs typeface="Calibri" pitchFamily="34" charset="-120"/>
              </a:rPr>
              <a:t>meaningless in a week.</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STYLE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Indentation, Spacing and Block Style</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45</a:t>
            </a:r>
            <a:endParaRPr lang="en-US" sz="900" dirty="0"/>
          </a:p>
        </p:txBody>
      </p:sp>
      <p:sp>
        <p:nvSpPr>
          <p:cNvPr id="6" name="Text 4"/>
          <p:cNvSpPr txBox="1"/>
          <p:nvPr/>
        </p:nvSpPr>
        <p:spPr>
          <a:xfrm>
            <a:off x="566928" y="1261872"/>
            <a:ext cx="5346040" cy="292608"/>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Indentation and spacing</a:t>
            </a:r>
            <a:endParaRPr lang="en-US" sz="1600" dirty="0"/>
          </a:p>
        </p:txBody>
      </p:sp>
      <p:sp>
        <p:nvSpPr>
          <p:cNvPr id="7" name="Text 5"/>
          <p:cNvSpPr txBox="1"/>
          <p:nvPr/>
        </p:nvSpPr>
        <p:spPr>
          <a:xfrm>
            <a:off x="621792" y="1645920"/>
            <a:ext cx="5254600" cy="12344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Indent each nested level consistently — four spaces is the Java norm, and IntelliJ does it for you.</a:t>
            </a:r>
            <a:endParaRPr lang="en-US" sz="1250" dirty="0"/>
          </a:p>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Put a blank line between logical segments of code.</a:t>
            </a:r>
            <a:endParaRPr lang="en-US" sz="1250" dirty="0"/>
          </a:p>
          <a:p>
            <a:pPr marL="177800" indent="-177800">
              <a:spcAft>
                <a:spcPts val="800"/>
              </a:spcAft>
              <a:buSzPct val="100000"/>
              <a:buChar char="•"/>
            </a:pPr>
            <a:r>
              <a:rPr lang="en-US" sz="1250" dirty="0">
                <a:solidFill>
                  <a:srgbClr val="3A536B"/>
                </a:solidFill>
                <a:latin typeface="Calibri" pitchFamily="34" charset="0"/>
                <a:ea typeface="Calibri" pitchFamily="34" charset="-122"/>
                <a:cs typeface="Calibri" pitchFamily="34" charset="-120"/>
              </a:rPr>
              <a:t>Put a single space around binary operators: a + b, not a+b.</a:t>
            </a:r>
            <a:endParaRPr lang="en-US" sz="1250" dirty="0"/>
          </a:p>
        </p:txBody>
      </p:sp>
      <p:sp>
        <p:nvSpPr>
          <p:cNvPr id="8" name="Shape 6"/>
          <p:cNvSpPr/>
          <p:nvPr/>
        </p:nvSpPr>
        <p:spPr>
          <a:xfrm>
            <a:off x="566928" y="2953512"/>
            <a:ext cx="5346040" cy="1889699"/>
          </a:xfrm>
          <a:prstGeom prst="roundRect">
            <a:avLst>
              <a:gd name="adj" fmla="val 3387"/>
            </a:avLst>
          </a:prstGeom>
          <a:solidFill>
            <a:srgbClr val="EDF2F7"/>
          </a:solidFill>
          <a:ln w="12700">
            <a:solidFill>
              <a:srgbClr val="CFDBE5"/>
            </a:solidFill>
            <a:prstDash val="solid"/>
          </a:ln>
        </p:spPr>
        <p:txBody>
          <a:bodyPr/>
          <a:lstStyle/>
          <a:p>
            <a:endParaRPr lang="en-US"/>
          </a:p>
        </p:txBody>
      </p:sp>
      <p:sp>
        <p:nvSpPr>
          <p:cNvPr id="9" name="Text 7"/>
          <p:cNvSpPr txBox="1"/>
          <p:nvPr/>
        </p:nvSpPr>
        <p:spPr>
          <a:xfrm>
            <a:off x="731520" y="3090672"/>
            <a:ext cx="5016856" cy="1688531"/>
          </a:xfrm>
          <a:prstGeom prst="rect">
            <a:avLst/>
          </a:prstGeom>
          <a:noFill/>
          <a:ln/>
        </p:spPr>
        <p:txBody>
          <a:bodyPr wrap="square" lIns="0" tIns="0" rIns="0" bIns="0" rtlCol="0" anchor="t"/>
          <a:lstStyle/>
          <a:p>
            <a:pPr marL="0" indent="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r>
              <a:rPr lang="en-US" sz="1150" dirty="0">
                <a:solidFill>
                  <a:srgbClr val="14293C"/>
                </a:solidFill>
                <a:latin typeface="Courier New" pitchFamily="34" charset="0"/>
                <a:ea typeface="Courier New" pitchFamily="34" charset="-122"/>
                <a:cs typeface="Courier New" pitchFamily="34" charset="-120"/>
              </a:rPr>
              <a:t> total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6B3FA0"/>
                </a:solidFill>
                <a:latin typeface="Courier New" pitchFamily="34" charset="0"/>
                <a:ea typeface="Courier New" pitchFamily="34" charset="-122"/>
                <a:cs typeface="Courier New" pitchFamily="34" charset="-120"/>
              </a:rPr>
              <a:t>0</a:t>
            </a: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marL="0" indent="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marL="0" indent="0">
              <a:lnSpc>
                <a:spcPct val="112000"/>
              </a:lnSpc>
              <a:buNone/>
            </a:pPr>
            <a:r>
              <a:rPr lang="en-US" sz="1150" dirty="0">
                <a:solidFill>
                  <a:srgbClr val="9A3412"/>
                </a:solidFill>
                <a:latin typeface="Courier New" pitchFamily="34" charset="0"/>
                <a:ea typeface="Courier New" pitchFamily="34" charset="-122"/>
                <a:cs typeface="Courier New" pitchFamily="34" charset="-120"/>
              </a:rPr>
              <a:t>for</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9A3412"/>
                </a:solidFill>
                <a:latin typeface="Courier New" pitchFamily="34" charset="0"/>
                <a:ea typeface="Courier New" pitchFamily="34" charset="-122"/>
                <a:cs typeface="Courier New" pitchFamily="34" charset="-120"/>
              </a:rPr>
              <a:t>int</a:t>
            </a:r>
            <a:r>
              <a:rPr lang="en-US" sz="1150" dirty="0">
                <a:solidFill>
                  <a:srgbClr val="14293C"/>
                </a:solidFill>
                <a:latin typeface="Courier New" pitchFamily="34" charset="0"/>
                <a:ea typeface="Courier New" pitchFamily="34" charset="-122"/>
                <a:cs typeface="Courier New" pitchFamily="34" charset="-120"/>
              </a:rPr>
              <a:t> i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6B3FA0"/>
                </a:solidFill>
                <a:latin typeface="Courier New" pitchFamily="34" charset="0"/>
                <a:ea typeface="Courier New" pitchFamily="34" charset="-122"/>
                <a:cs typeface="Courier New" pitchFamily="34" charset="-120"/>
              </a:rPr>
              <a:t>0</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i </a:t>
            </a:r>
            <a:r>
              <a:rPr lang="en-US" sz="1150" dirty="0">
                <a:solidFill>
                  <a:srgbClr val="33485C"/>
                </a:solidFill>
                <a:latin typeface="Courier New" pitchFamily="34" charset="0"/>
                <a:ea typeface="Courier New" pitchFamily="34" charset="-122"/>
                <a:cs typeface="Courier New" pitchFamily="34" charset="-120"/>
              </a:rPr>
              <a:t>&lt;</a:t>
            </a:r>
            <a:r>
              <a:rPr lang="en-US" sz="1150" dirty="0">
                <a:solidFill>
                  <a:srgbClr val="14293C"/>
                </a:solidFill>
                <a:latin typeface="Courier New" pitchFamily="34" charset="0"/>
                <a:ea typeface="Courier New" pitchFamily="34" charset="-122"/>
                <a:cs typeface="Courier New" pitchFamily="34" charset="-120"/>
              </a:rPr>
              <a:t> scores</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length</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i</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marL="0" indent="0">
              <a:lnSpc>
                <a:spcPct val="112000"/>
              </a:lnSpc>
              <a:buNone/>
            </a:pPr>
            <a:r>
              <a:rPr lang="en-US" sz="1150" dirty="0">
                <a:solidFill>
                  <a:srgbClr val="14293C"/>
                </a:solidFill>
                <a:latin typeface="Courier New" pitchFamily="34" charset="0"/>
                <a:ea typeface="Courier New" pitchFamily="34" charset="-122"/>
                <a:cs typeface="Courier New" pitchFamily="34" charset="-120"/>
              </a:rPr>
              <a:t>    total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total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scores</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i</a:t>
            </a: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marL="0" indent="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marL="0" indent="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marL="0" indent="0">
              <a:lnSpc>
                <a:spcPct val="112000"/>
              </a:lnSpc>
              <a:buNone/>
            </a:pPr>
            <a:r>
              <a:rPr lang="en-US" sz="1150" dirty="0">
                <a:solidFill>
                  <a:srgbClr val="9A3412"/>
                </a:solidFill>
                <a:latin typeface="Courier New" pitchFamily="34" charset="0"/>
                <a:ea typeface="Courier New" pitchFamily="34" charset="-122"/>
                <a:cs typeface="Courier New" pitchFamily="34" charset="-120"/>
              </a:rPr>
              <a:t>double</a:t>
            </a:r>
            <a:r>
              <a:rPr lang="en-US" sz="1150" dirty="0">
                <a:solidFill>
                  <a:srgbClr val="14293C"/>
                </a:solidFill>
                <a:latin typeface="Courier New" pitchFamily="34" charset="0"/>
                <a:ea typeface="Courier New" pitchFamily="34" charset="-122"/>
                <a:cs typeface="Courier New" pitchFamily="34" charset="-120"/>
              </a:rPr>
              <a:t> average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total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9A3412"/>
                </a:solidFill>
                <a:latin typeface="Courier New" pitchFamily="34" charset="0"/>
                <a:ea typeface="Courier New" pitchFamily="34" charset="-122"/>
                <a:cs typeface="Courier New" pitchFamily="34" charset="-120"/>
              </a:rPr>
              <a:t>double</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 scores</a:t>
            </a:r>
            <a:r>
              <a:rPr lang="en-US" sz="1150" dirty="0">
                <a:solidFill>
                  <a:srgbClr val="33485C"/>
                </a:solidFill>
                <a:latin typeface="Courier New" pitchFamily="34" charset="0"/>
                <a:ea typeface="Courier New" pitchFamily="34" charset="-122"/>
                <a:cs typeface="Courier New" pitchFamily="34" charset="-120"/>
              </a:rPr>
              <a:t>.</a:t>
            </a:r>
            <a:r>
              <a:rPr lang="en-US" sz="1150" dirty="0">
                <a:solidFill>
                  <a:srgbClr val="14293C"/>
                </a:solidFill>
                <a:latin typeface="Courier New" pitchFamily="34" charset="0"/>
                <a:ea typeface="Courier New" pitchFamily="34" charset="-122"/>
                <a:cs typeface="Courier New" pitchFamily="34" charset="-120"/>
              </a:rPr>
              <a:t>length</a:t>
            </a: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Text 8"/>
          <p:cNvSpPr txBox="1"/>
          <p:nvPr/>
        </p:nvSpPr>
        <p:spPr>
          <a:xfrm>
            <a:off x="6278728" y="1261872"/>
            <a:ext cx="5346040" cy="292608"/>
          </a:xfrm>
          <a:prstGeom prst="rect">
            <a:avLst/>
          </a:prstGeom>
          <a:noFill/>
          <a:ln/>
        </p:spPr>
        <p:txBody>
          <a:bodyPr wrap="square" lIns="0" tIns="0" rIns="0" bIns="0" rtlCol="0" anchor="ctr"/>
          <a:lstStyle/>
          <a:p>
            <a:pPr marL="0" indent="0">
              <a:buNone/>
            </a:pPr>
            <a:r>
              <a:rPr lang="en-US" sz="1600" b="1" dirty="0">
                <a:solidFill>
                  <a:srgbClr val="0F2942"/>
                </a:solidFill>
                <a:latin typeface="Calibri" pitchFamily="34" charset="0"/>
                <a:ea typeface="Calibri" pitchFamily="34" charset="-122"/>
                <a:cs typeface="Calibri" pitchFamily="34" charset="-120"/>
              </a:rPr>
              <a:t>Block style: pick one and never mix</a:t>
            </a:r>
            <a:endParaRPr lang="en-US" sz="1600" dirty="0"/>
          </a:p>
        </p:txBody>
      </p:sp>
      <p:sp>
        <p:nvSpPr>
          <p:cNvPr id="11" name="Text 9"/>
          <p:cNvSpPr txBox="1"/>
          <p:nvPr/>
        </p:nvSpPr>
        <p:spPr>
          <a:xfrm>
            <a:off x="6278728" y="1645920"/>
            <a:ext cx="2563292" cy="256032"/>
          </a:xfrm>
          <a:prstGeom prst="rect">
            <a:avLst/>
          </a:prstGeom>
          <a:noFill/>
          <a:ln/>
        </p:spPr>
        <p:txBody>
          <a:bodyPr wrap="square" lIns="0" tIns="0" rIns="0" bIns="0" rtlCol="0" anchor="ctr"/>
          <a:lstStyle/>
          <a:p>
            <a:pPr marL="0" indent="0">
              <a:buNone/>
            </a:pPr>
            <a:r>
              <a:rPr lang="en-US" sz="1150" b="1" dirty="0">
                <a:solidFill>
                  <a:srgbClr val="176240"/>
                </a:solidFill>
                <a:latin typeface="Calibri" pitchFamily="34" charset="0"/>
                <a:ea typeface="Calibri" pitchFamily="34" charset="-122"/>
                <a:cs typeface="Calibri" pitchFamily="34" charset="-120"/>
              </a:rPr>
              <a:t>End-of-line style — use this</a:t>
            </a:r>
            <a:endParaRPr lang="en-US" sz="1150" dirty="0"/>
          </a:p>
        </p:txBody>
      </p:sp>
      <p:sp>
        <p:nvSpPr>
          <p:cNvPr id="12" name="Shape 10"/>
          <p:cNvSpPr/>
          <p:nvPr/>
        </p:nvSpPr>
        <p:spPr>
          <a:xfrm>
            <a:off x="6278728" y="1938528"/>
            <a:ext cx="2563292" cy="1346911"/>
          </a:xfrm>
          <a:prstGeom prst="roundRect">
            <a:avLst>
              <a:gd name="adj" fmla="val 4752"/>
            </a:avLst>
          </a:prstGeom>
          <a:solidFill>
            <a:srgbClr val="EDF2F7"/>
          </a:solidFill>
          <a:ln w="12700">
            <a:solidFill>
              <a:srgbClr val="CFDBE5"/>
            </a:solidFill>
            <a:prstDash val="solid"/>
          </a:ln>
        </p:spPr>
        <p:txBody>
          <a:bodyPr/>
          <a:lstStyle/>
          <a:p>
            <a:endParaRPr lang="en-US"/>
          </a:p>
        </p:txBody>
      </p:sp>
      <p:sp>
        <p:nvSpPr>
          <p:cNvPr id="13" name="Text 11"/>
          <p:cNvSpPr txBox="1"/>
          <p:nvPr/>
        </p:nvSpPr>
        <p:spPr>
          <a:xfrm>
            <a:off x="6443320" y="2075688"/>
            <a:ext cx="2234108" cy="1145743"/>
          </a:xfrm>
          <a:prstGeom prst="rect">
            <a:avLst/>
          </a:prstGeom>
          <a:noFill/>
          <a:ln/>
        </p:spPr>
        <p:txBody>
          <a:bodyPr wrap="square" lIns="0" tIns="0" rIns="0" bIns="0" rtlCol="0" anchor="t"/>
          <a:lstStyle/>
          <a:p>
            <a:pPr marL="0" indent="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score </a:t>
            </a:r>
            <a:r>
              <a:rPr lang="en-US" sz="1050" dirty="0">
                <a:solidFill>
                  <a:srgbClr val="33485C"/>
                </a:solidFill>
                <a:latin typeface="Courier New" pitchFamily="34" charset="0"/>
                <a:ea typeface="Courier New" pitchFamily="34" charset="-122"/>
                <a:cs typeface="Courier New" pitchFamily="34" charset="-120"/>
              </a:rPr>
              <a:t>&gt;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6B3FA0"/>
                </a:solidFill>
                <a:latin typeface="Courier New" pitchFamily="34" charset="0"/>
                <a:ea typeface="Courier New" pitchFamily="34" charset="-122"/>
                <a:cs typeface="Courier New" pitchFamily="34" charset="-120"/>
              </a:rPr>
              <a:t>90</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grade </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614A"/>
                </a:solidFill>
                <a:latin typeface="Courier New" pitchFamily="34" charset="0"/>
                <a:ea typeface="Courier New" pitchFamily="34" charset="-122"/>
                <a:cs typeface="Courier New" pitchFamily="34" charset="-120"/>
              </a:rPr>
              <a:t>"A"</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9A3412"/>
                </a:solidFill>
                <a:latin typeface="Courier New" pitchFamily="34" charset="0"/>
                <a:ea typeface="Courier New" pitchFamily="34" charset="-122"/>
                <a:cs typeface="Courier New" pitchFamily="34" charset="-120"/>
              </a:rPr>
              <a:t>else</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grade </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614A"/>
                </a:solidFill>
                <a:latin typeface="Courier New" pitchFamily="34" charset="0"/>
                <a:ea typeface="Courier New" pitchFamily="34" charset="-122"/>
                <a:cs typeface="Courier New" pitchFamily="34" charset="-120"/>
              </a:rPr>
              <a:t>"B"</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4" name="Text 12"/>
          <p:cNvSpPr txBox="1"/>
          <p:nvPr/>
        </p:nvSpPr>
        <p:spPr>
          <a:xfrm>
            <a:off x="9061475" y="1645920"/>
            <a:ext cx="2563292" cy="256032"/>
          </a:xfrm>
          <a:prstGeom prst="rect">
            <a:avLst/>
          </a:prstGeom>
          <a:noFill/>
          <a:ln/>
        </p:spPr>
        <p:txBody>
          <a:bodyPr wrap="square" lIns="0" tIns="0" rIns="0" bIns="0" rtlCol="0" anchor="ctr"/>
          <a:lstStyle/>
          <a:p>
            <a:pPr marL="0" indent="0">
              <a:buNone/>
            </a:pPr>
            <a:r>
              <a:rPr lang="en-US" sz="1150" b="1" dirty="0">
                <a:solidFill>
                  <a:srgbClr val="3A536B"/>
                </a:solidFill>
                <a:latin typeface="Calibri" pitchFamily="34" charset="0"/>
                <a:ea typeface="Calibri" pitchFamily="34" charset="-122"/>
                <a:cs typeface="Calibri" pitchFamily="34" charset="-120"/>
              </a:rPr>
              <a:t>Next-line style — avoid</a:t>
            </a:r>
            <a:endParaRPr lang="en-US" sz="1150" dirty="0"/>
          </a:p>
        </p:txBody>
      </p:sp>
      <p:sp>
        <p:nvSpPr>
          <p:cNvPr id="15" name="Shape 13"/>
          <p:cNvSpPr/>
          <p:nvPr/>
        </p:nvSpPr>
        <p:spPr>
          <a:xfrm>
            <a:off x="9061475" y="1938528"/>
            <a:ext cx="2563292" cy="1957548"/>
          </a:xfrm>
          <a:prstGeom prst="roundRect">
            <a:avLst>
              <a:gd name="adj" fmla="val 3270"/>
            </a:avLst>
          </a:prstGeom>
          <a:solidFill>
            <a:srgbClr val="EDF2F7"/>
          </a:solidFill>
          <a:ln w="12700">
            <a:solidFill>
              <a:srgbClr val="CFDBE5"/>
            </a:solidFill>
            <a:prstDash val="solid"/>
          </a:ln>
        </p:spPr>
        <p:txBody>
          <a:bodyPr/>
          <a:lstStyle/>
          <a:p>
            <a:endParaRPr lang="en-US"/>
          </a:p>
        </p:txBody>
      </p:sp>
      <p:sp>
        <p:nvSpPr>
          <p:cNvPr id="16" name="Text 14"/>
          <p:cNvSpPr txBox="1"/>
          <p:nvPr/>
        </p:nvSpPr>
        <p:spPr>
          <a:xfrm>
            <a:off x="9226067" y="2075688"/>
            <a:ext cx="2234108" cy="1756380"/>
          </a:xfrm>
          <a:prstGeom prst="rect">
            <a:avLst/>
          </a:prstGeom>
          <a:noFill/>
          <a:ln/>
        </p:spPr>
        <p:txBody>
          <a:bodyPr wrap="square" lIns="0" tIns="0" rIns="0" bIns="0" rtlCol="0" anchor="t"/>
          <a:lstStyle/>
          <a:p>
            <a:pPr marL="0" indent="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score </a:t>
            </a:r>
            <a:r>
              <a:rPr lang="en-US" sz="1050" dirty="0">
                <a:solidFill>
                  <a:srgbClr val="33485C"/>
                </a:solidFill>
                <a:latin typeface="Courier New" pitchFamily="34" charset="0"/>
                <a:ea typeface="Courier New" pitchFamily="34" charset="-122"/>
                <a:cs typeface="Courier New" pitchFamily="34" charset="-120"/>
              </a:rPr>
              <a:t>&gt;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6B3FA0"/>
                </a:solidFill>
                <a:latin typeface="Courier New" pitchFamily="34" charset="0"/>
                <a:ea typeface="Courier New" pitchFamily="34" charset="-122"/>
                <a:cs typeface="Courier New" pitchFamily="34" charset="-120"/>
              </a:rPr>
              <a:t>90</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grade </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614A"/>
                </a:solidFill>
                <a:latin typeface="Courier New" pitchFamily="34" charset="0"/>
                <a:ea typeface="Courier New" pitchFamily="34" charset="-122"/>
                <a:cs typeface="Courier New" pitchFamily="34" charset="-120"/>
              </a:rPr>
              <a:t>"A"</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9A3412"/>
                </a:solidFill>
                <a:latin typeface="Courier New" pitchFamily="34" charset="0"/>
                <a:ea typeface="Courier New" pitchFamily="34" charset="-122"/>
                <a:cs typeface="Courier New" pitchFamily="34" charset="-120"/>
              </a:rPr>
              <a:t>else</a:t>
            </a:r>
            <a:endParaRPr lang="en-US" sz="1050" dirty="0"/>
          </a:p>
          <a:p>
            <a:pPr marL="0" indent="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14293C"/>
                </a:solidFill>
                <a:latin typeface="Courier New" pitchFamily="34" charset="0"/>
                <a:ea typeface="Courier New" pitchFamily="34" charset="-122"/>
                <a:cs typeface="Courier New" pitchFamily="34" charset="-120"/>
              </a:rPr>
              <a:t>    grade </a:t>
            </a:r>
            <a:r>
              <a:rPr lang="en-US" sz="1050" dirty="0">
                <a:solidFill>
                  <a:srgbClr val="33485C"/>
                </a:solidFill>
                <a:latin typeface="Courier New" pitchFamily="34" charset="0"/>
                <a:ea typeface="Courier New" pitchFamily="34" charset="-122"/>
                <a:cs typeface="Courier New" pitchFamily="34" charset="-120"/>
              </a:rPr>
              <a:t>=</a:t>
            </a:r>
            <a:r>
              <a:rPr lang="en-US" sz="1050" dirty="0">
                <a:solidFill>
                  <a:srgbClr val="14293C"/>
                </a:solidFill>
                <a:latin typeface="Courier New" pitchFamily="34" charset="0"/>
                <a:ea typeface="Courier New" pitchFamily="34" charset="-122"/>
                <a:cs typeface="Courier New" pitchFamily="34" charset="-120"/>
              </a:rPr>
              <a:t> </a:t>
            </a:r>
            <a:r>
              <a:rPr lang="en-US" sz="1050" dirty="0">
                <a:solidFill>
                  <a:srgbClr val="14614A"/>
                </a:solidFill>
                <a:latin typeface="Courier New" pitchFamily="34" charset="0"/>
                <a:ea typeface="Courier New" pitchFamily="34" charset="-122"/>
                <a:cs typeface="Courier New" pitchFamily="34" charset="-120"/>
              </a:rPr>
              <a:t>"B"</a:t>
            </a: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marL="0" indent="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7" name="Shape 15"/>
          <p:cNvSpPr/>
          <p:nvPr/>
        </p:nvSpPr>
        <p:spPr>
          <a:xfrm>
            <a:off x="6278728" y="4096512"/>
            <a:ext cx="5346040" cy="1554480"/>
          </a:xfrm>
          <a:prstGeom prst="roundRect">
            <a:avLst>
              <a:gd name="adj" fmla="val 5294"/>
            </a:avLst>
          </a:prstGeom>
          <a:solidFill>
            <a:srgbClr val="F1F5F9"/>
          </a:solidFill>
          <a:ln w="12700">
            <a:solidFill>
              <a:srgbClr val="F1F5F9"/>
            </a:solidFill>
            <a:prstDash val="solid"/>
          </a:ln>
        </p:spPr>
        <p:txBody>
          <a:bodyPr/>
          <a:lstStyle/>
          <a:p>
            <a:endParaRPr lang="en-US"/>
          </a:p>
        </p:txBody>
      </p:sp>
      <p:sp>
        <p:nvSpPr>
          <p:cNvPr id="18" name="Text 16"/>
          <p:cNvSpPr txBox="1"/>
          <p:nvPr/>
        </p:nvSpPr>
        <p:spPr>
          <a:xfrm>
            <a:off x="6534760" y="4096512"/>
            <a:ext cx="4833976" cy="1554480"/>
          </a:xfrm>
          <a:prstGeom prst="rect">
            <a:avLst/>
          </a:prstGeom>
          <a:noFill/>
          <a:ln/>
        </p:spPr>
        <p:txBody>
          <a:bodyPr wrap="square" lIns="0" tIns="0" rIns="0" bIns="0" rtlCol="0" anchor="ctr"/>
          <a:lstStyle/>
          <a:p>
            <a:pPr marL="0" indent="0">
              <a:lnSpc>
                <a:spcPct val="114000"/>
              </a:lnSpc>
              <a:buNone/>
            </a:pPr>
            <a:r>
              <a:rPr lang="en-US" sz="1250" dirty="0">
                <a:solidFill>
                  <a:srgbClr val="0F2942"/>
                </a:solidFill>
                <a:latin typeface="Calibri" pitchFamily="34" charset="0"/>
                <a:ea typeface="Calibri" pitchFamily="34" charset="-122"/>
                <a:cs typeface="Calibri" pitchFamily="34" charset="-120"/>
              </a:rPr>
              <a:t>Both compile. Neither is “correct” in any deep sense — but the Java community settled on end-of-line style decades ago, every Java codebase you will ever join uses it, and it is what IntelliJ's formatter produces by default. Use it, and use it consistently.</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ERRORS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Three Kinds of Error, and How to Tell Them Apart</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46</a:t>
            </a:r>
            <a:endParaRPr lang="en-US" sz="900" dirty="0"/>
          </a:p>
        </p:txBody>
      </p:sp>
      <p:sp>
        <p:nvSpPr>
          <p:cNvPr id="6" name="Shape 4"/>
          <p:cNvSpPr/>
          <p:nvPr/>
        </p:nvSpPr>
        <p:spPr>
          <a:xfrm>
            <a:off x="566928" y="1399032"/>
            <a:ext cx="3551834" cy="3200400"/>
          </a:xfrm>
          <a:prstGeom prst="roundRect">
            <a:avLst>
              <a:gd name="adj" fmla="val 2571"/>
            </a:avLst>
          </a:prstGeom>
          <a:solidFill>
            <a:srgbClr val="E7F0F7"/>
          </a:solidFill>
          <a:ln w="12700">
            <a:solidFill>
              <a:srgbClr val="E7F0F7"/>
            </a:solidFill>
            <a:prstDash val="solid"/>
          </a:ln>
        </p:spPr>
        <p:txBody>
          <a:bodyPr/>
          <a:lstStyle/>
          <a:p>
            <a:endParaRPr lang="en-US"/>
          </a:p>
        </p:txBody>
      </p:sp>
      <p:sp>
        <p:nvSpPr>
          <p:cNvPr id="7" name="Shape 5"/>
          <p:cNvSpPr/>
          <p:nvPr/>
        </p:nvSpPr>
        <p:spPr>
          <a:xfrm>
            <a:off x="841248" y="1673352"/>
            <a:ext cx="457200" cy="457200"/>
          </a:xfrm>
          <a:prstGeom prst="ellipse">
            <a:avLst/>
          </a:prstGeom>
          <a:solidFill>
            <a:srgbClr val="175680"/>
          </a:solidFill>
          <a:ln w="12700">
            <a:solidFill>
              <a:srgbClr val="175680"/>
            </a:solidFill>
            <a:prstDash val="solid"/>
          </a:ln>
        </p:spPr>
        <p:txBody>
          <a:bodyPr/>
          <a:lstStyle/>
          <a:p>
            <a:endParaRPr lang="en-US"/>
          </a:p>
        </p:txBody>
      </p:sp>
      <p:sp>
        <p:nvSpPr>
          <p:cNvPr id="8" name="Text 6"/>
          <p:cNvSpPr txBox="1"/>
          <p:nvPr/>
        </p:nvSpPr>
        <p:spPr>
          <a:xfrm>
            <a:off x="841248" y="1673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841248" y="2267712"/>
            <a:ext cx="3003194" cy="384048"/>
          </a:xfrm>
          <a:prstGeom prst="rect">
            <a:avLst/>
          </a:prstGeom>
          <a:noFill/>
          <a:ln/>
        </p:spPr>
        <p:txBody>
          <a:bodyPr wrap="square" lIns="0" tIns="0" rIns="0" bIns="0" rtlCol="0" anchor="ctr"/>
          <a:lstStyle/>
          <a:p>
            <a:pPr marL="0" indent="0">
              <a:buNone/>
            </a:pPr>
            <a:r>
              <a:rPr lang="en-US" sz="2100" b="1" dirty="0">
                <a:solidFill>
                  <a:srgbClr val="175680"/>
                </a:solidFill>
                <a:latin typeface="Cambria" pitchFamily="34" charset="0"/>
                <a:ea typeface="Cambria" pitchFamily="34" charset="-122"/>
                <a:cs typeface="Cambria" pitchFamily="34" charset="-120"/>
              </a:rPr>
              <a:t>Syntax errors</a:t>
            </a:r>
            <a:endParaRPr lang="en-US" sz="2100" dirty="0"/>
          </a:p>
        </p:txBody>
      </p:sp>
      <p:sp>
        <p:nvSpPr>
          <p:cNvPr id="10" name="Text 8"/>
          <p:cNvSpPr txBox="1"/>
          <p:nvPr/>
        </p:nvSpPr>
        <p:spPr>
          <a:xfrm>
            <a:off x="841248" y="2679192"/>
            <a:ext cx="3003194" cy="274320"/>
          </a:xfrm>
          <a:prstGeom prst="rect">
            <a:avLst/>
          </a:prstGeom>
          <a:noFill/>
          <a:ln/>
        </p:spPr>
        <p:txBody>
          <a:bodyPr wrap="square" lIns="0" tIns="0" rIns="0" bIns="0" rtlCol="0" anchor="ctr"/>
          <a:lstStyle/>
          <a:p>
            <a:pPr marL="0" indent="0">
              <a:buNone/>
            </a:pPr>
            <a:r>
              <a:rPr lang="en-US" sz="1250" b="1" dirty="0">
                <a:solidFill>
                  <a:srgbClr val="0F2942"/>
                </a:solidFill>
                <a:latin typeface="Calibri" pitchFamily="34" charset="0"/>
                <a:ea typeface="Calibri" pitchFamily="34" charset="-122"/>
                <a:cs typeface="Calibri" pitchFamily="34" charset="-120"/>
              </a:rPr>
              <a:t>Caught by the compiler</a:t>
            </a:r>
            <a:endParaRPr lang="en-US" sz="1250" dirty="0"/>
          </a:p>
        </p:txBody>
      </p:sp>
      <p:sp>
        <p:nvSpPr>
          <p:cNvPr id="11" name="Text 9"/>
          <p:cNvSpPr txBox="1"/>
          <p:nvPr/>
        </p:nvSpPr>
        <p:spPr>
          <a:xfrm>
            <a:off x="841248" y="3044952"/>
            <a:ext cx="3003194" cy="137160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Your code breaks the rules of the language. Nothing runs — you do not even get a .class file. These are the cheapest errors to have, because the compiler tells you the line.</a:t>
            </a:r>
            <a:endParaRPr lang="en-US" sz="1250" dirty="0"/>
          </a:p>
        </p:txBody>
      </p:sp>
      <p:sp>
        <p:nvSpPr>
          <p:cNvPr id="12" name="Shape 10"/>
          <p:cNvSpPr/>
          <p:nvPr/>
        </p:nvSpPr>
        <p:spPr>
          <a:xfrm>
            <a:off x="4319930" y="1399032"/>
            <a:ext cx="3551834" cy="3200400"/>
          </a:xfrm>
          <a:prstGeom prst="roundRect">
            <a:avLst>
              <a:gd name="adj" fmla="val 2571"/>
            </a:avLst>
          </a:prstGeom>
          <a:solidFill>
            <a:srgbClr val="FBEEE0"/>
          </a:solidFill>
          <a:ln w="12700">
            <a:solidFill>
              <a:srgbClr val="FBEEE0"/>
            </a:solidFill>
            <a:prstDash val="solid"/>
          </a:ln>
        </p:spPr>
        <p:txBody>
          <a:bodyPr/>
          <a:lstStyle/>
          <a:p>
            <a:endParaRPr lang="en-US"/>
          </a:p>
        </p:txBody>
      </p:sp>
      <p:sp>
        <p:nvSpPr>
          <p:cNvPr id="13" name="Shape 11"/>
          <p:cNvSpPr/>
          <p:nvPr/>
        </p:nvSpPr>
        <p:spPr>
          <a:xfrm>
            <a:off x="4594250" y="1673352"/>
            <a:ext cx="457200" cy="457200"/>
          </a:xfrm>
          <a:prstGeom prst="ellipse">
            <a:avLst/>
          </a:prstGeom>
          <a:solidFill>
            <a:srgbClr val="9A430A"/>
          </a:solidFill>
          <a:ln w="12700">
            <a:solidFill>
              <a:srgbClr val="9A430A"/>
            </a:solidFill>
            <a:prstDash val="solid"/>
          </a:ln>
        </p:spPr>
        <p:txBody>
          <a:bodyPr/>
          <a:lstStyle/>
          <a:p>
            <a:endParaRPr lang="en-US"/>
          </a:p>
        </p:txBody>
      </p:sp>
      <p:sp>
        <p:nvSpPr>
          <p:cNvPr id="14" name="Text 12"/>
          <p:cNvSpPr txBox="1"/>
          <p:nvPr/>
        </p:nvSpPr>
        <p:spPr>
          <a:xfrm>
            <a:off x="4594250" y="1673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4594250" y="2267712"/>
            <a:ext cx="3003194" cy="384048"/>
          </a:xfrm>
          <a:prstGeom prst="rect">
            <a:avLst/>
          </a:prstGeom>
          <a:noFill/>
          <a:ln/>
        </p:spPr>
        <p:txBody>
          <a:bodyPr wrap="square" lIns="0" tIns="0" rIns="0" bIns="0" rtlCol="0" anchor="ctr"/>
          <a:lstStyle/>
          <a:p>
            <a:pPr marL="0" indent="0">
              <a:buNone/>
            </a:pPr>
            <a:r>
              <a:rPr lang="en-US" sz="2100" b="1" dirty="0">
                <a:solidFill>
                  <a:srgbClr val="9A430A"/>
                </a:solidFill>
                <a:latin typeface="Cambria" pitchFamily="34" charset="0"/>
                <a:ea typeface="Cambria" pitchFamily="34" charset="-122"/>
                <a:cs typeface="Cambria" pitchFamily="34" charset="-120"/>
              </a:rPr>
              <a:t>Runtime errors</a:t>
            </a:r>
            <a:endParaRPr lang="en-US" sz="2100" dirty="0"/>
          </a:p>
        </p:txBody>
      </p:sp>
      <p:sp>
        <p:nvSpPr>
          <p:cNvPr id="16" name="Text 14"/>
          <p:cNvSpPr txBox="1"/>
          <p:nvPr/>
        </p:nvSpPr>
        <p:spPr>
          <a:xfrm>
            <a:off x="4594250" y="2679192"/>
            <a:ext cx="3003194" cy="274320"/>
          </a:xfrm>
          <a:prstGeom prst="rect">
            <a:avLst/>
          </a:prstGeom>
          <a:noFill/>
          <a:ln/>
        </p:spPr>
        <p:txBody>
          <a:bodyPr wrap="square" lIns="0" tIns="0" rIns="0" bIns="0" rtlCol="0" anchor="ctr"/>
          <a:lstStyle/>
          <a:p>
            <a:pPr marL="0" indent="0">
              <a:buNone/>
            </a:pPr>
            <a:r>
              <a:rPr lang="en-US" sz="1250" b="1" dirty="0">
                <a:solidFill>
                  <a:srgbClr val="0F2942"/>
                </a:solidFill>
                <a:latin typeface="Calibri" pitchFamily="34" charset="0"/>
                <a:ea typeface="Calibri" pitchFamily="34" charset="-122"/>
                <a:cs typeface="Calibri" pitchFamily="34" charset="-120"/>
              </a:rPr>
              <a:t>Cause the program to abort</a:t>
            </a:r>
            <a:endParaRPr lang="en-US" sz="1250" dirty="0"/>
          </a:p>
        </p:txBody>
      </p:sp>
      <p:sp>
        <p:nvSpPr>
          <p:cNvPr id="17" name="Text 15"/>
          <p:cNvSpPr txBox="1"/>
          <p:nvPr/>
        </p:nvSpPr>
        <p:spPr>
          <a:xfrm>
            <a:off x="4594250" y="3044952"/>
            <a:ext cx="3003194" cy="137160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The program compiles and starts, then hits something impossible — dividing by zero, reading past the end of an array, using a null reference. It stops with a stack trace.</a:t>
            </a:r>
            <a:endParaRPr lang="en-US" sz="1250" dirty="0"/>
          </a:p>
        </p:txBody>
      </p:sp>
      <p:sp>
        <p:nvSpPr>
          <p:cNvPr id="18" name="Shape 16"/>
          <p:cNvSpPr/>
          <p:nvPr/>
        </p:nvSpPr>
        <p:spPr>
          <a:xfrm>
            <a:off x="8072933" y="1399032"/>
            <a:ext cx="3551834" cy="3200400"/>
          </a:xfrm>
          <a:prstGeom prst="roundRect">
            <a:avLst>
              <a:gd name="adj" fmla="val 2571"/>
            </a:avLst>
          </a:prstGeom>
          <a:solidFill>
            <a:srgbClr val="FBEAE8"/>
          </a:solidFill>
          <a:ln w="12700">
            <a:solidFill>
              <a:srgbClr val="FBEAE8"/>
            </a:solidFill>
            <a:prstDash val="solid"/>
          </a:ln>
        </p:spPr>
        <p:txBody>
          <a:bodyPr/>
          <a:lstStyle/>
          <a:p>
            <a:endParaRPr lang="en-US"/>
          </a:p>
        </p:txBody>
      </p:sp>
      <p:sp>
        <p:nvSpPr>
          <p:cNvPr id="19" name="Shape 17"/>
          <p:cNvSpPr/>
          <p:nvPr/>
        </p:nvSpPr>
        <p:spPr>
          <a:xfrm>
            <a:off x="8347253" y="1673352"/>
            <a:ext cx="457200" cy="457200"/>
          </a:xfrm>
          <a:prstGeom prst="ellipse">
            <a:avLst/>
          </a:prstGeom>
          <a:solidFill>
            <a:srgbClr val="9C241C"/>
          </a:solidFill>
          <a:ln w="12700">
            <a:solidFill>
              <a:srgbClr val="9C241C"/>
            </a:solidFill>
            <a:prstDash val="solid"/>
          </a:ln>
        </p:spPr>
        <p:txBody>
          <a:bodyPr/>
          <a:lstStyle/>
          <a:p>
            <a:endParaRPr lang="en-US"/>
          </a:p>
        </p:txBody>
      </p:sp>
      <p:sp>
        <p:nvSpPr>
          <p:cNvPr id="20" name="Text 18"/>
          <p:cNvSpPr txBox="1"/>
          <p:nvPr/>
        </p:nvSpPr>
        <p:spPr>
          <a:xfrm>
            <a:off x="8347253" y="1673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8347253" y="2267712"/>
            <a:ext cx="3003194" cy="384048"/>
          </a:xfrm>
          <a:prstGeom prst="rect">
            <a:avLst/>
          </a:prstGeom>
          <a:noFill/>
          <a:ln/>
        </p:spPr>
        <p:txBody>
          <a:bodyPr wrap="square" lIns="0" tIns="0" rIns="0" bIns="0" rtlCol="0" anchor="ctr"/>
          <a:lstStyle/>
          <a:p>
            <a:pPr marL="0" indent="0">
              <a:buNone/>
            </a:pPr>
            <a:r>
              <a:rPr lang="en-US" sz="2100" b="1" dirty="0">
                <a:solidFill>
                  <a:srgbClr val="9C241C"/>
                </a:solidFill>
                <a:latin typeface="Cambria" pitchFamily="34" charset="0"/>
                <a:ea typeface="Cambria" pitchFamily="34" charset="-122"/>
                <a:cs typeface="Cambria" pitchFamily="34" charset="-120"/>
              </a:rPr>
              <a:t>Logic errors</a:t>
            </a:r>
            <a:endParaRPr lang="en-US" sz="2100" dirty="0"/>
          </a:p>
        </p:txBody>
      </p:sp>
      <p:sp>
        <p:nvSpPr>
          <p:cNvPr id="22" name="Text 20"/>
          <p:cNvSpPr txBox="1"/>
          <p:nvPr/>
        </p:nvSpPr>
        <p:spPr>
          <a:xfrm>
            <a:off x="8347253" y="2679192"/>
            <a:ext cx="3003194" cy="274320"/>
          </a:xfrm>
          <a:prstGeom prst="rect">
            <a:avLst/>
          </a:prstGeom>
          <a:noFill/>
          <a:ln/>
        </p:spPr>
        <p:txBody>
          <a:bodyPr wrap="square" lIns="0" tIns="0" rIns="0" bIns="0" rtlCol="0" anchor="ctr"/>
          <a:lstStyle/>
          <a:p>
            <a:pPr marL="0" indent="0">
              <a:buNone/>
            </a:pPr>
            <a:r>
              <a:rPr lang="en-US" sz="1250" b="1" dirty="0">
                <a:solidFill>
                  <a:srgbClr val="0F2942"/>
                </a:solidFill>
                <a:latin typeface="Calibri" pitchFamily="34" charset="0"/>
                <a:ea typeface="Calibri" pitchFamily="34" charset="-122"/>
                <a:cs typeface="Calibri" pitchFamily="34" charset="-120"/>
              </a:rPr>
              <a:t>Produce the wrong answer, quietly</a:t>
            </a:r>
            <a:endParaRPr lang="en-US" sz="1250" dirty="0"/>
          </a:p>
        </p:txBody>
      </p:sp>
      <p:sp>
        <p:nvSpPr>
          <p:cNvPr id="23" name="Text 21"/>
          <p:cNvSpPr txBox="1"/>
          <p:nvPr/>
        </p:nvSpPr>
        <p:spPr>
          <a:xfrm>
            <a:off x="8347253" y="3044952"/>
            <a:ext cx="3003194" cy="1371600"/>
          </a:xfrm>
          <a:prstGeom prst="rect">
            <a:avLst/>
          </a:prstGeom>
          <a:noFill/>
          <a:ln/>
        </p:spPr>
        <p:txBody>
          <a:bodyPr wrap="square" lIns="0" tIns="0" rIns="0" bIns="0" rtlCol="0" anchor="t"/>
          <a:lstStyle/>
          <a:p>
            <a:pPr marL="0" indent="0">
              <a:lnSpc>
                <a:spcPct val="112000"/>
              </a:lnSpc>
              <a:buNone/>
            </a:pPr>
            <a:r>
              <a:rPr lang="en-US" sz="1250" dirty="0">
                <a:solidFill>
                  <a:srgbClr val="3A536B"/>
                </a:solidFill>
                <a:latin typeface="Calibri" pitchFamily="34" charset="0"/>
                <a:ea typeface="Calibri" pitchFamily="34" charset="-122"/>
                <a:cs typeface="Calibri" pitchFamily="34" charset="-120"/>
              </a:rPr>
              <a:t>It compiles. It runs. It finishes. And the result is wrong. No message, no crash — just an answer you have to be paying attention to notice. These are the expensive ones.</a:t>
            </a:r>
            <a:endParaRPr lang="en-US" sz="1250" dirty="0"/>
          </a:p>
        </p:txBody>
      </p:sp>
      <p:sp>
        <p:nvSpPr>
          <p:cNvPr id="24" name="Text 22"/>
          <p:cNvSpPr txBox="1"/>
          <p:nvPr/>
        </p:nvSpPr>
        <p:spPr>
          <a:xfrm>
            <a:off x="566928" y="4782312"/>
            <a:ext cx="11057839" cy="310896"/>
          </a:xfrm>
          <a:prstGeom prst="rect">
            <a:avLst/>
          </a:prstGeom>
          <a:noFill/>
          <a:ln/>
        </p:spPr>
        <p:txBody>
          <a:bodyPr wrap="square" lIns="0" tIns="0" rIns="0" bIns="0" rtlCol="0" anchor="ctr"/>
          <a:lstStyle/>
          <a:p>
            <a:pPr marL="0" indent="0" algn="ctr">
              <a:buNone/>
            </a:pPr>
            <a:r>
              <a:rPr lang="en-US" sz="1300" i="1" dirty="0">
                <a:solidFill>
                  <a:srgbClr val="4B6377"/>
                </a:solidFill>
                <a:latin typeface="Calibri" pitchFamily="34" charset="0"/>
                <a:ea typeface="Calibri" pitchFamily="34" charset="-122"/>
                <a:cs typeface="Calibri" pitchFamily="34" charset="-120"/>
              </a:rPr>
              <a:t>The order matters: the compiler protects you from the first kind, the JVM shouts about the second, and only careful thinking and testing catch the third.</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ERRORS  ·  IN 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Syntax Errors and Runtime Errors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47</a:t>
            </a:r>
            <a:endParaRPr lang="en-US" sz="900" dirty="0"/>
          </a:p>
        </p:txBody>
      </p:sp>
      <p:sp>
        <p:nvSpPr>
          <p:cNvPr id="6" name="Text 4"/>
          <p:cNvSpPr txBox="1"/>
          <p:nvPr/>
        </p:nvSpPr>
        <p:spPr>
          <a:xfrm>
            <a:off x="566928" y="1261872"/>
            <a:ext cx="5346040" cy="292608"/>
          </a:xfrm>
          <a:prstGeom prst="rect">
            <a:avLst/>
          </a:prstGeom>
          <a:noFill/>
          <a:ln/>
        </p:spPr>
        <p:txBody>
          <a:bodyPr wrap="square" lIns="0" tIns="0" rIns="0" bIns="0" rtlCol="0" anchor="ctr"/>
          <a:lstStyle/>
          <a:p>
            <a:pPr marL="0" indent="0">
              <a:buNone/>
            </a:pPr>
            <a:r>
              <a:rPr lang="en-US" sz="1600" b="1" dirty="0">
                <a:solidFill>
                  <a:srgbClr val="175680"/>
                </a:solidFill>
                <a:latin typeface="Calibri" pitchFamily="34" charset="0"/>
                <a:ea typeface="Calibri" pitchFamily="34" charset="-122"/>
                <a:cs typeface="Calibri" pitchFamily="34" charset="-120"/>
              </a:rPr>
              <a:t>Syntax error — nothing compiles</a:t>
            </a:r>
            <a:endParaRPr lang="en-US" sz="1600" dirty="0"/>
          </a:p>
        </p:txBody>
      </p:sp>
      <p:sp>
        <p:nvSpPr>
          <p:cNvPr id="7" name="Shape 5"/>
          <p:cNvSpPr/>
          <p:nvPr/>
        </p:nvSpPr>
        <p:spPr>
          <a:xfrm>
            <a:off x="566928" y="1645920"/>
            <a:ext cx="5346040" cy="1492301"/>
          </a:xfrm>
          <a:prstGeom prst="roundRect">
            <a:avLst>
              <a:gd name="adj" fmla="val 4289"/>
            </a:avLst>
          </a:prstGeom>
          <a:solidFill>
            <a:srgbClr val="EDF2F7"/>
          </a:solidFill>
          <a:ln w="12700">
            <a:solidFill>
              <a:srgbClr val="CFDBE5"/>
            </a:solidFill>
            <a:prstDash val="solid"/>
          </a:ln>
        </p:spPr>
        <p:txBody>
          <a:bodyPr/>
          <a:lstStyle/>
          <a:p>
            <a:endParaRPr lang="en-US"/>
          </a:p>
        </p:txBody>
      </p:sp>
      <p:sp>
        <p:nvSpPr>
          <p:cNvPr id="8" name="Text 6"/>
          <p:cNvSpPr txBox="1"/>
          <p:nvPr/>
        </p:nvSpPr>
        <p:spPr>
          <a:xfrm>
            <a:off x="731520" y="1783080"/>
            <a:ext cx="5016856" cy="1291133"/>
          </a:xfrm>
          <a:prstGeom prst="rect">
            <a:avLst/>
          </a:prstGeom>
          <a:noFill/>
          <a:ln/>
        </p:spPr>
        <p:txBody>
          <a:bodyPr wrap="square" lIns="0" tIns="0" rIns="0" bIns="0" rtlCol="0" anchor="t"/>
          <a:lstStyle/>
          <a:p>
            <a:pPr marL="0" indent="0">
              <a:lnSpc>
                <a:spcPct val="112000"/>
              </a:lnSpc>
              <a:buNone/>
            </a:pPr>
            <a:r>
              <a:rPr lang="en-US" sz="1200" dirty="0">
                <a:solidFill>
                  <a:srgbClr val="9A3412"/>
                </a:solidFill>
                <a:latin typeface="Courier New" pitchFamily="34" charset="0"/>
                <a:ea typeface="Courier New" pitchFamily="34" charset="-122"/>
                <a:cs typeface="Courier New" pitchFamily="34" charset="-120"/>
              </a:rPr>
              <a:t>public</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class</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14568A"/>
                </a:solidFill>
                <a:latin typeface="Courier New" pitchFamily="34" charset="0"/>
                <a:ea typeface="Courier New" pitchFamily="34" charset="-122"/>
                <a:cs typeface="Courier New" pitchFamily="34" charset="-120"/>
              </a:rPr>
              <a:t>ShowSyntaxErrors</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public</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static</a:t>
            </a:r>
            <a:r>
              <a:rPr lang="en-US" sz="1200" dirty="0">
                <a:solidFill>
                  <a:srgbClr val="14293C"/>
                </a:solidFill>
                <a:latin typeface="Courier New" pitchFamily="34" charset="0"/>
                <a:ea typeface="Courier New" pitchFamily="34" charset="-122"/>
                <a:cs typeface="Courier New" pitchFamily="34" charset="-120"/>
              </a:rPr>
              <a:t> main</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568A"/>
                </a:solidFill>
                <a:latin typeface="Courier New" pitchFamily="34" charset="0"/>
                <a:ea typeface="Courier New" pitchFamily="34" charset="-122"/>
                <a:cs typeface="Courier New" pitchFamily="34" charset="-120"/>
              </a:rPr>
              <a:t>String</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args</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14568A"/>
                </a:solidFill>
                <a:latin typeface="Courier New" pitchFamily="34" charset="0"/>
                <a:ea typeface="Courier New" pitchFamily="34" charset="-122"/>
                <a:cs typeface="Courier New" pitchFamily="34" charset="-120"/>
              </a:rPr>
              <a:t>System</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out</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println</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614A"/>
                </a:solidFill>
                <a:latin typeface="Courier New" pitchFamily="34" charset="0"/>
                <a:ea typeface="Courier New" pitchFamily="34" charset="-122"/>
                <a:cs typeface="Courier New" pitchFamily="34" charset="-120"/>
              </a:rPr>
              <a:t>"Welcome to Java);</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9" name="Shape 7"/>
          <p:cNvSpPr/>
          <p:nvPr/>
        </p:nvSpPr>
        <p:spPr>
          <a:xfrm>
            <a:off x="566928" y="3375965"/>
            <a:ext cx="5346040" cy="1488186"/>
          </a:xfrm>
          <a:prstGeom prst="roundRect">
            <a:avLst>
              <a:gd name="adj" fmla="val 4301"/>
            </a:avLst>
          </a:prstGeom>
          <a:solidFill>
            <a:srgbClr val="FFFFFF"/>
          </a:solidFill>
          <a:ln w="12700">
            <a:solidFill>
              <a:srgbClr val="4B6377"/>
            </a:solidFill>
            <a:prstDash val="solid"/>
          </a:ln>
        </p:spPr>
        <p:txBody>
          <a:bodyPr/>
          <a:lstStyle/>
          <a:p>
            <a:endParaRPr lang="en-US"/>
          </a:p>
        </p:txBody>
      </p:sp>
      <p:sp>
        <p:nvSpPr>
          <p:cNvPr id="10" name="Text 8"/>
          <p:cNvSpPr txBox="1"/>
          <p:nvPr/>
        </p:nvSpPr>
        <p:spPr>
          <a:xfrm>
            <a:off x="713232" y="3449117"/>
            <a:ext cx="5053432" cy="182880"/>
          </a:xfrm>
          <a:prstGeom prst="rect">
            <a:avLst/>
          </a:prstGeom>
          <a:noFill/>
          <a:ln/>
        </p:spPr>
        <p:txBody>
          <a:bodyPr wrap="square" lIns="0" tIns="0" rIns="0" bIns="0" rtlCol="0" anchor="ctr"/>
          <a:lstStyle/>
          <a:p>
            <a:pPr marL="0" indent="0">
              <a:buNone/>
            </a:pPr>
            <a:r>
              <a:rPr lang="en-US" sz="950" b="1" kern="0" spc="100" dirty="0">
                <a:solidFill>
                  <a:srgbClr val="3A536B"/>
                </a:solidFill>
                <a:latin typeface="Calibri" pitchFamily="34" charset="0"/>
                <a:ea typeface="Calibri" pitchFamily="34" charset="-122"/>
                <a:cs typeface="Calibri" pitchFamily="34" charset="-120"/>
              </a:rPr>
              <a:t>OUTPUT</a:t>
            </a:r>
            <a:endParaRPr lang="en-US" sz="950" dirty="0"/>
          </a:p>
        </p:txBody>
      </p:sp>
      <p:sp>
        <p:nvSpPr>
          <p:cNvPr id="11" name="Text 9"/>
          <p:cNvSpPr txBox="1"/>
          <p:nvPr/>
        </p:nvSpPr>
        <p:spPr>
          <a:xfrm>
            <a:off x="713232" y="3650285"/>
            <a:ext cx="5053432" cy="1122426"/>
          </a:xfrm>
          <a:prstGeom prst="rect">
            <a:avLst/>
          </a:prstGeom>
          <a:noFill/>
          <a:ln/>
        </p:spPr>
        <p:txBody>
          <a:bodyPr wrap="square" lIns="0" tIns="0" rIns="0" bIns="0" rtlCol="0" anchor="t"/>
          <a:lstStyle/>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ShowSyntaxErrors.java:2: error:</a:t>
            </a:r>
            <a:endParaRPr lang="en-US" sz="1100" dirty="0"/>
          </a:p>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  invalid method declaration;</a:t>
            </a:r>
            <a:endParaRPr lang="en-US" sz="1100" dirty="0"/>
          </a:p>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  return type required</a:t>
            </a:r>
            <a:endParaRPr lang="en-US" sz="1100" dirty="0"/>
          </a:p>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ShowSyntaxErrors.java:3: error:</a:t>
            </a:r>
            <a:endParaRPr lang="en-US" sz="1100" dirty="0"/>
          </a:p>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  unclosed string literal</a:t>
            </a:r>
            <a:endParaRPr lang="en-US" sz="1100" dirty="0"/>
          </a:p>
        </p:txBody>
      </p:sp>
      <p:sp>
        <p:nvSpPr>
          <p:cNvPr id="12" name="Text 10"/>
          <p:cNvSpPr txBox="1"/>
          <p:nvPr/>
        </p:nvSpPr>
        <p:spPr>
          <a:xfrm>
            <a:off x="621792" y="5083607"/>
            <a:ext cx="5254600" cy="109728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3A536B"/>
                </a:solidFill>
                <a:latin typeface="Calibri" pitchFamily="34" charset="0"/>
                <a:ea typeface="Calibri" pitchFamily="34" charset="-122"/>
                <a:cs typeface="Calibri" pitchFamily="34" charset="-120"/>
              </a:rPr>
              <a:t>Line 2: main has no return type — void is missing.</a:t>
            </a:r>
            <a:endParaRPr lang="en-US" sz="1150" dirty="0"/>
          </a:p>
          <a:p>
            <a:pPr marL="177800" indent="-177800">
              <a:spcAft>
                <a:spcPts val="500"/>
              </a:spcAft>
              <a:buSzPct val="100000"/>
              <a:buChar char="•"/>
            </a:pPr>
            <a:r>
              <a:rPr lang="en-US" sz="1150" dirty="0">
                <a:solidFill>
                  <a:srgbClr val="3A536B"/>
                </a:solidFill>
                <a:latin typeface="Calibri" pitchFamily="34" charset="0"/>
                <a:ea typeface="Calibri" pitchFamily="34" charset="-122"/>
                <a:cs typeface="Calibri" pitchFamily="34" charset="-120"/>
              </a:rPr>
              <a:t>Line 3: the string is never closed with a second quotation mark.</a:t>
            </a:r>
            <a:endParaRPr lang="en-US" sz="1150" dirty="0"/>
          </a:p>
          <a:p>
            <a:pPr marL="177800" indent="-177800">
              <a:spcAft>
                <a:spcPts val="500"/>
              </a:spcAft>
              <a:buSzPct val="100000"/>
              <a:buChar char="•"/>
            </a:pPr>
            <a:r>
              <a:rPr lang="en-US" sz="1150" dirty="0">
                <a:solidFill>
                  <a:srgbClr val="3A536B"/>
                </a:solidFill>
                <a:latin typeface="Calibri" pitchFamily="34" charset="0"/>
                <a:ea typeface="Calibri" pitchFamily="34" charset="-122"/>
                <a:cs typeface="Calibri" pitchFamily="34" charset="-120"/>
              </a:rPr>
              <a:t>One mistake often triggers several messages. Fix the first, recompile, repeat.</a:t>
            </a:r>
            <a:endParaRPr lang="en-US" sz="1150" dirty="0"/>
          </a:p>
        </p:txBody>
      </p:sp>
      <p:sp>
        <p:nvSpPr>
          <p:cNvPr id="13" name="Text 11"/>
          <p:cNvSpPr txBox="1"/>
          <p:nvPr/>
        </p:nvSpPr>
        <p:spPr>
          <a:xfrm>
            <a:off x="6278728" y="1261872"/>
            <a:ext cx="5346040" cy="292608"/>
          </a:xfrm>
          <a:prstGeom prst="rect">
            <a:avLst/>
          </a:prstGeom>
          <a:noFill/>
          <a:ln/>
        </p:spPr>
        <p:txBody>
          <a:bodyPr wrap="square" lIns="0" tIns="0" rIns="0" bIns="0" rtlCol="0" anchor="ctr"/>
          <a:lstStyle/>
          <a:p>
            <a:pPr marL="0" indent="0">
              <a:buNone/>
            </a:pPr>
            <a:r>
              <a:rPr lang="en-US" sz="1600" b="1" dirty="0">
                <a:solidFill>
                  <a:srgbClr val="9A430A"/>
                </a:solidFill>
                <a:latin typeface="Calibri" pitchFamily="34" charset="0"/>
                <a:ea typeface="Calibri" pitchFamily="34" charset="-122"/>
                <a:cs typeface="Calibri" pitchFamily="34" charset="-120"/>
              </a:rPr>
              <a:t>Runtime error — it starts, then stops</a:t>
            </a:r>
            <a:endParaRPr lang="en-US" sz="1600" dirty="0"/>
          </a:p>
        </p:txBody>
      </p:sp>
      <p:sp>
        <p:nvSpPr>
          <p:cNvPr id="14" name="Shape 12"/>
          <p:cNvSpPr/>
          <p:nvPr/>
        </p:nvSpPr>
        <p:spPr>
          <a:xfrm>
            <a:off x="6278728" y="1645920"/>
            <a:ext cx="5346040" cy="1492301"/>
          </a:xfrm>
          <a:prstGeom prst="roundRect">
            <a:avLst>
              <a:gd name="adj" fmla="val 4289"/>
            </a:avLst>
          </a:prstGeom>
          <a:solidFill>
            <a:srgbClr val="EDF2F7"/>
          </a:solidFill>
          <a:ln w="12700">
            <a:solidFill>
              <a:srgbClr val="CFDBE5"/>
            </a:solidFill>
            <a:prstDash val="solid"/>
          </a:ln>
        </p:spPr>
        <p:txBody>
          <a:bodyPr/>
          <a:lstStyle/>
          <a:p>
            <a:endParaRPr lang="en-US"/>
          </a:p>
        </p:txBody>
      </p:sp>
      <p:sp>
        <p:nvSpPr>
          <p:cNvPr id="15" name="Text 13"/>
          <p:cNvSpPr txBox="1"/>
          <p:nvPr/>
        </p:nvSpPr>
        <p:spPr>
          <a:xfrm>
            <a:off x="6443320" y="1783080"/>
            <a:ext cx="5016856" cy="1291133"/>
          </a:xfrm>
          <a:prstGeom prst="rect">
            <a:avLst/>
          </a:prstGeom>
          <a:noFill/>
          <a:ln/>
        </p:spPr>
        <p:txBody>
          <a:bodyPr wrap="square" lIns="0" tIns="0" rIns="0" bIns="0" rtlCol="0" anchor="t"/>
          <a:lstStyle/>
          <a:p>
            <a:pPr marL="0" indent="0">
              <a:lnSpc>
                <a:spcPct val="112000"/>
              </a:lnSpc>
              <a:buNone/>
            </a:pPr>
            <a:r>
              <a:rPr lang="en-US" sz="1200" dirty="0">
                <a:solidFill>
                  <a:srgbClr val="9A3412"/>
                </a:solidFill>
                <a:latin typeface="Courier New" pitchFamily="34" charset="0"/>
                <a:ea typeface="Courier New" pitchFamily="34" charset="-122"/>
                <a:cs typeface="Courier New" pitchFamily="34" charset="-120"/>
              </a:rPr>
              <a:t>public</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class</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14568A"/>
                </a:solidFill>
                <a:latin typeface="Courier New" pitchFamily="34" charset="0"/>
                <a:ea typeface="Courier New" pitchFamily="34" charset="-122"/>
                <a:cs typeface="Courier New" pitchFamily="34" charset="-120"/>
              </a:rPr>
              <a:t>ShowRuntimeErrors</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public</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static</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void</a:t>
            </a:r>
            <a:r>
              <a:rPr lang="en-US" sz="1200" dirty="0">
                <a:solidFill>
                  <a:srgbClr val="14293C"/>
                </a:solidFill>
                <a:latin typeface="Courier New" pitchFamily="34" charset="0"/>
                <a:ea typeface="Courier New" pitchFamily="34" charset="-122"/>
                <a:cs typeface="Courier New" pitchFamily="34" charset="-120"/>
              </a:rPr>
              <a:t> main</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568A"/>
                </a:solidFill>
                <a:latin typeface="Courier New" pitchFamily="34" charset="0"/>
                <a:ea typeface="Courier New" pitchFamily="34" charset="-122"/>
                <a:cs typeface="Courier New" pitchFamily="34" charset="-120"/>
              </a:rPr>
              <a:t>String</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args</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14568A"/>
                </a:solidFill>
                <a:latin typeface="Courier New" pitchFamily="34" charset="0"/>
                <a:ea typeface="Courier New" pitchFamily="34" charset="-122"/>
                <a:cs typeface="Courier New" pitchFamily="34" charset="-120"/>
              </a:rPr>
              <a:t>System</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out</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println</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6B3FA0"/>
                </a:solidFill>
                <a:latin typeface="Courier New" pitchFamily="34" charset="0"/>
                <a:ea typeface="Courier New" pitchFamily="34" charset="-122"/>
                <a:cs typeface="Courier New" pitchFamily="34" charset="-120"/>
              </a:rPr>
              <a:t>1</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6B3FA0"/>
                </a:solidFill>
                <a:latin typeface="Courier New" pitchFamily="34" charset="0"/>
                <a:ea typeface="Courier New" pitchFamily="34" charset="-122"/>
                <a:cs typeface="Courier New" pitchFamily="34" charset="-120"/>
              </a:rPr>
              <a:t>0</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6" name="Shape 14"/>
          <p:cNvSpPr/>
          <p:nvPr/>
        </p:nvSpPr>
        <p:spPr>
          <a:xfrm>
            <a:off x="6278728" y="3375965"/>
            <a:ext cx="5346040" cy="1488186"/>
          </a:xfrm>
          <a:prstGeom prst="roundRect">
            <a:avLst>
              <a:gd name="adj" fmla="val 4301"/>
            </a:avLst>
          </a:prstGeom>
          <a:solidFill>
            <a:srgbClr val="FFFFFF"/>
          </a:solidFill>
          <a:ln w="12700">
            <a:solidFill>
              <a:srgbClr val="4B6377"/>
            </a:solidFill>
            <a:prstDash val="solid"/>
          </a:ln>
        </p:spPr>
        <p:txBody>
          <a:bodyPr/>
          <a:lstStyle/>
          <a:p>
            <a:endParaRPr lang="en-US"/>
          </a:p>
        </p:txBody>
      </p:sp>
      <p:sp>
        <p:nvSpPr>
          <p:cNvPr id="17" name="Text 15"/>
          <p:cNvSpPr txBox="1"/>
          <p:nvPr/>
        </p:nvSpPr>
        <p:spPr>
          <a:xfrm>
            <a:off x="6425032" y="3449117"/>
            <a:ext cx="5053432" cy="182880"/>
          </a:xfrm>
          <a:prstGeom prst="rect">
            <a:avLst/>
          </a:prstGeom>
          <a:noFill/>
          <a:ln/>
        </p:spPr>
        <p:txBody>
          <a:bodyPr wrap="square" lIns="0" tIns="0" rIns="0" bIns="0" rtlCol="0" anchor="ctr"/>
          <a:lstStyle/>
          <a:p>
            <a:pPr marL="0" indent="0">
              <a:buNone/>
            </a:pPr>
            <a:r>
              <a:rPr lang="en-US" sz="950" b="1" kern="0" spc="100" dirty="0">
                <a:solidFill>
                  <a:srgbClr val="3A536B"/>
                </a:solidFill>
                <a:latin typeface="Calibri" pitchFamily="34" charset="0"/>
                <a:ea typeface="Calibri" pitchFamily="34" charset="-122"/>
                <a:cs typeface="Calibri" pitchFamily="34" charset="-120"/>
              </a:rPr>
              <a:t>OUTPUT</a:t>
            </a:r>
            <a:endParaRPr lang="en-US" sz="950" dirty="0"/>
          </a:p>
        </p:txBody>
      </p:sp>
      <p:sp>
        <p:nvSpPr>
          <p:cNvPr id="18" name="Text 16"/>
          <p:cNvSpPr txBox="1"/>
          <p:nvPr/>
        </p:nvSpPr>
        <p:spPr>
          <a:xfrm>
            <a:off x="6425032" y="3650285"/>
            <a:ext cx="5053432" cy="1122426"/>
          </a:xfrm>
          <a:prstGeom prst="rect">
            <a:avLst/>
          </a:prstGeom>
          <a:noFill/>
          <a:ln/>
        </p:spPr>
        <p:txBody>
          <a:bodyPr wrap="square" lIns="0" tIns="0" rIns="0" bIns="0" rtlCol="0" anchor="t"/>
          <a:lstStyle/>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Exception in thread "main"</a:t>
            </a:r>
            <a:endParaRPr lang="en-US" sz="1100" dirty="0"/>
          </a:p>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java.lang.ArithmeticException:</a:t>
            </a:r>
            <a:endParaRPr lang="en-US" sz="1100" dirty="0"/>
          </a:p>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    / by zero</a:t>
            </a:r>
            <a:endParaRPr lang="en-US" sz="1100" dirty="0"/>
          </a:p>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  at ShowRuntimeErrors.main</a:t>
            </a:r>
            <a:endParaRPr lang="en-US" sz="1100" dirty="0"/>
          </a:p>
          <a:p>
            <a:pPr marL="0" indent="0">
              <a:lnSpc>
                <a:spcPct val="110000"/>
              </a:lnSpc>
              <a:buNone/>
            </a:pPr>
            <a:r>
              <a:rPr lang="en-US" sz="1100" dirty="0">
                <a:solidFill>
                  <a:srgbClr val="0F2942"/>
                </a:solidFill>
                <a:latin typeface="Courier New" pitchFamily="34" charset="0"/>
                <a:ea typeface="Courier New" pitchFamily="34" charset="-122"/>
                <a:cs typeface="Courier New" pitchFamily="34" charset="-120"/>
              </a:rPr>
              <a:t>      (ShowRuntimeErrors.java:3)</a:t>
            </a:r>
            <a:endParaRPr lang="en-US" sz="1100" dirty="0"/>
          </a:p>
        </p:txBody>
      </p:sp>
      <p:sp>
        <p:nvSpPr>
          <p:cNvPr id="19" name="Text 17"/>
          <p:cNvSpPr txBox="1"/>
          <p:nvPr/>
        </p:nvSpPr>
        <p:spPr>
          <a:xfrm>
            <a:off x="6333592" y="5083607"/>
            <a:ext cx="5254600" cy="109728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3A536B"/>
                </a:solidFill>
                <a:latin typeface="Calibri" pitchFamily="34" charset="0"/>
                <a:ea typeface="Calibri" pitchFamily="34" charset="-122"/>
                <a:cs typeface="Calibri" pitchFamily="34" charset="-120"/>
              </a:rPr>
              <a:t>The code is perfectly legal Java, so it compiles.</a:t>
            </a:r>
            <a:endParaRPr lang="en-US" sz="1150" dirty="0"/>
          </a:p>
          <a:p>
            <a:pPr marL="177800" indent="-177800">
              <a:spcAft>
                <a:spcPts val="500"/>
              </a:spcAft>
              <a:buSzPct val="100000"/>
              <a:buChar char="•"/>
            </a:pPr>
            <a:r>
              <a:rPr lang="en-US" sz="1150" dirty="0">
                <a:solidFill>
                  <a:srgbClr val="3A536B"/>
                </a:solidFill>
                <a:latin typeface="Calibri" pitchFamily="34" charset="0"/>
                <a:ea typeface="Calibri" pitchFamily="34" charset="-122"/>
                <a:cs typeface="Calibri" pitchFamily="34" charset="-120"/>
              </a:rPr>
              <a:t>Integer division by zero is impossible, so the JVM throws.</a:t>
            </a:r>
            <a:endParaRPr lang="en-US" sz="1150" dirty="0"/>
          </a:p>
          <a:p>
            <a:pPr marL="177800" indent="-177800">
              <a:spcAft>
                <a:spcPts val="500"/>
              </a:spcAft>
              <a:buSzPct val="100000"/>
              <a:buChar char="•"/>
            </a:pPr>
            <a:r>
              <a:rPr lang="en-US" sz="1150" dirty="0">
                <a:solidFill>
                  <a:srgbClr val="3A536B"/>
                </a:solidFill>
                <a:latin typeface="Calibri" pitchFamily="34" charset="0"/>
                <a:ea typeface="Calibri" pitchFamily="34" charset="-122"/>
                <a:cs typeface="Calibri" pitchFamily="34" charset="-120"/>
              </a:rPr>
              <a:t>Read the stack trace bottom-up: it names the file and the line.</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ERRORS  ·  IN 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Logic Errors — the Ones That Cost Money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48</a:t>
            </a:r>
            <a:endParaRPr lang="en-US" sz="900" dirty="0"/>
          </a:p>
        </p:txBody>
      </p:sp>
      <p:sp>
        <p:nvSpPr>
          <p:cNvPr id="6" name="Text 4"/>
          <p:cNvSpPr txBox="1"/>
          <p:nvPr/>
        </p:nvSpPr>
        <p:spPr>
          <a:xfrm>
            <a:off x="566928" y="1261872"/>
            <a:ext cx="6035040" cy="292608"/>
          </a:xfrm>
          <a:prstGeom prst="rect">
            <a:avLst/>
          </a:prstGeom>
          <a:noFill/>
          <a:ln/>
        </p:spPr>
        <p:txBody>
          <a:bodyPr wrap="square" lIns="0" tIns="0" rIns="0" bIns="0" rtlCol="0" anchor="ctr"/>
          <a:lstStyle/>
          <a:p>
            <a:pPr marL="0" indent="0">
              <a:buNone/>
            </a:pPr>
            <a:r>
              <a:rPr lang="en-US" sz="1400" dirty="0">
                <a:solidFill>
                  <a:srgbClr val="3A536B"/>
                </a:solidFill>
                <a:latin typeface="Calibri" pitchFamily="34" charset="0"/>
                <a:ea typeface="Calibri" pitchFamily="34" charset="-122"/>
                <a:cs typeface="Calibri" pitchFamily="34" charset="-120"/>
              </a:rPr>
              <a:t>The program below is meant to convert 35 °C to Fahrenheit.</a:t>
            </a:r>
            <a:endParaRPr lang="en-US" sz="1400" dirty="0"/>
          </a:p>
        </p:txBody>
      </p:sp>
      <p:sp>
        <p:nvSpPr>
          <p:cNvPr id="7" name="Shape 5"/>
          <p:cNvSpPr/>
          <p:nvPr/>
        </p:nvSpPr>
        <p:spPr>
          <a:xfrm>
            <a:off x="566928" y="1645920"/>
            <a:ext cx="6035040" cy="1724924"/>
          </a:xfrm>
          <a:prstGeom prst="roundRect">
            <a:avLst>
              <a:gd name="adj" fmla="val 3711"/>
            </a:avLst>
          </a:prstGeom>
          <a:solidFill>
            <a:srgbClr val="EDF2F7"/>
          </a:solidFill>
          <a:ln w="12700">
            <a:solidFill>
              <a:srgbClr val="CFDBE5"/>
            </a:solidFill>
            <a:prstDash val="solid"/>
          </a:ln>
        </p:spPr>
        <p:txBody>
          <a:bodyPr/>
          <a:lstStyle/>
          <a:p>
            <a:endParaRPr lang="en-US"/>
          </a:p>
        </p:txBody>
      </p:sp>
      <p:sp>
        <p:nvSpPr>
          <p:cNvPr id="8" name="Text 6"/>
          <p:cNvSpPr txBox="1"/>
          <p:nvPr/>
        </p:nvSpPr>
        <p:spPr>
          <a:xfrm>
            <a:off x="731520" y="1783080"/>
            <a:ext cx="5705856" cy="1523756"/>
          </a:xfrm>
          <a:prstGeom prst="rect">
            <a:avLst/>
          </a:prstGeom>
          <a:noFill/>
          <a:ln/>
        </p:spPr>
        <p:txBody>
          <a:bodyPr wrap="square" lIns="0" tIns="0" rIns="0" bIns="0" rtlCol="0" anchor="t"/>
          <a:lstStyle/>
          <a:p>
            <a:pPr marL="0" indent="0">
              <a:lnSpc>
                <a:spcPct val="112000"/>
              </a:lnSpc>
              <a:buNone/>
            </a:pPr>
            <a:r>
              <a:rPr lang="en-US" sz="1200" dirty="0">
                <a:solidFill>
                  <a:srgbClr val="9A3412"/>
                </a:solidFill>
                <a:latin typeface="Courier New" pitchFamily="34" charset="0"/>
                <a:ea typeface="Courier New" pitchFamily="34" charset="-122"/>
                <a:cs typeface="Courier New" pitchFamily="34" charset="-120"/>
              </a:rPr>
              <a:t>public</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class</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14568A"/>
                </a:solidFill>
                <a:latin typeface="Courier New" pitchFamily="34" charset="0"/>
                <a:ea typeface="Courier New" pitchFamily="34" charset="-122"/>
                <a:cs typeface="Courier New" pitchFamily="34" charset="-120"/>
              </a:rPr>
              <a:t>ShowLogicErrors</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public</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static</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9A3412"/>
                </a:solidFill>
                <a:latin typeface="Courier New" pitchFamily="34" charset="0"/>
                <a:ea typeface="Courier New" pitchFamily="34" charset="-122"/>
                <a:cs typeface="Courier New" pitchFamily="34" charset="-120"/>
              </a:rPr>
              <a:t>void</a:t>
            </a:r>
            <a:r>
              <a:rPr lang="en-US" sz="1200" dirty="0">
                <a:solidFill>
                  <a:srgbClr val="14293C"/>
                </a:solidFill>
                <a:latin typeface="Courier New" pitchFamily="34" charset="0"/>
                <a:ea typeface="Courier New" pitchFamily="34" charset="-122"/>
                <a:cs typeface="Courier New" pitchFamily="34" charset="-120"/>
              </a:rPr>
              <a:t> main</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568A"/>
                </a:solidFill>
                <a:latin typeface="Courier New" pitchFamily="34" charset="0"/>
                <a:ea typeface="Courier New" pitchFamily="34" charset="-122"/>
                <a:cs typeface="Courier New" pitchFamily="34" charset="-120"/>
              </a:rPr>
              <a:t>String</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args</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14568A"/>
                </a:solidFill>
                <a:latin typeface="Courier New" pitchFamily="34" charset="0"/>
                <a:ea typeface="Courier New" pitchFamily="34" charset="-122"/>
                <a:cs typeface="Courier New" pitchFamily="34" charset="-120"/>
              </a:rPr>
              <a:t>System</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out</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print</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614A"/>
                </a:solidFill>
                <a:latin typeface="Courier New" pitchFamily="34" charset="0"/>
                <a:ea typeface="Courier New" pitchFamily="34" charset="-122"/>
                <a:cs typeface="Courier New" pitchFamily="34" charset="-120"/>
              </a:rPr>
              <a:t>"35 C in Fahrenheit is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14568A"/>
                </a:solidFill>
                <a:latin typeface="Courier New" pitchFamily="34" charset="0"/>
                <a:ea typeface="Courier New" pitchFamily="34" charset="-122"/>
                <a:cs typeface="Courier New" pitchFamily="34" charset="-120"/>
              </a:rPr>
              <a:t>System</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out</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println</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6B3FA0"/>
                </a:solidFill>
                <a:latin typeface="Courier New" pitchFamily="34" charset="0"/>
                <a:ea typeface="Courier New" pitchFamily="34" charset="-122"/>
                <a:cs typeface="Courier New" pitchFamily="34" charset="-120"/>
              </a:rPr>
              <a:t>9</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6B3FA0"/>
                </a:solidFill>
                <a:latin typeface="Courier New" pitchFamily="34" charset="0"/>
                <a:ea typeface="Courier New" pitchFamily="34" charset="-122"/>
                <a:cs typeface="Courier New" pitchFamily="34" charset="-120"/>
              </a:rPr>
              <a:t>5</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6B3FA0"/>
                </a:solidFill>
                <a:latin typeface="Courier New" pitchFamily="34" charset="0"/>
                <a:ea typeface="Courier New" pitchFamily="34" charset="-122"/>
                <a:cs typeface="Courier New" pitchFamily="34" charset="-120"/>
              </a:rPr>
              <a:t>35</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6B3FA0"/>
                </a:solidFill>
                <a:latin typeface="Courier New" pitchFamily="34" charset="0"/>
                <a:ea typeface="Courier New" pitchFamily="34" charset="-122"/>
                <a:cs typeface="Courier New" pitchFamily="34" charset="-120"/>
              </a:rPr>
              <a:t>32</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marL="0" indent="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9" name="Shape 7"/>
          <p:cNvSpPr/>
          <p:nvPr/>
        </p:nvSpPr>
        <p:spPr>
          <a:xfrm>
            <a:off x="566928" y="3645164"/>
            <a:ext cx="2907792" cy="1170432"/>
          </a:xfrm>
          <a:prstGeom prst="roundRect">
            <a:avLst>
              <a:gd name="adj" fmla="val 5469"/>
            </a:avLst>
          </a:prstGeom>
          <a:solidFill>
            <a:srgbClr val="FFFFFF"/>
          </a:solidFill>
          <a:ln w="12700">
            <a:solidFill>
              <a:srgbClr val="4B6377"/>
            </a:solidFill>
            <a:prstDash val="solid"/>
          </a:ln>
        </p:spPr>
        <p:txBody>
          <a:bodyPr/>
          <a:lstStyle/>
          <a:p>
            <a:endParaRPr lang="en-US"/>
          </a:p>
        </p:txBody>
      </p:sp>
      <p:sp>
        <p:nvSpPr>
          <p:cNvPr id="10" name="Text 8"/>
          <p:cNvSpPr txBox="1"/>
          <p:nvPr/>
        </p:nvSpPr>
        <p:spPr>
          <a:xfrm>
            <a:off x="713232" y="3718316"/>
            <a:ext cx="2615184" cy="182880"/>
          </a:xfrm>
          <a:prstGeom prst="rect">
            <a:avLst/>
          </a:prstGeom>
          <a:noFill/>
          <a:ln/>
        </p:spPr>
        <p:txBody>
          <a:bodyPr wrap="square" lIns="0" tIns="0" rIns="0" bIns="0" rtlCol="0" anchor="ctr"/>
          <a:lstStyle/>
          <a:p>
            <a:pPr marL="0" indent="0">
              <a:buNone/>
            </a:pPr>
            <a:r>
              <a:rPr lang="en-US" sz="950" b="1" kern="0" spc="100" dirty="0">
                <a:solidFill>
                  <a:srgbClr val="3A536B"/>
                </a:solidFill>
                <a:latin typeface="Calibri" pitchFamily="34" charset="0"/>
                <a:ea typeface="Calibri" pitchFamily="34" charset="-122"/>
                <a:cs typeface="Calibri" pitchFamily="34" charset="-120"/>
              </a:rPr>
              <a:t>OUTPUT</a:t>
            </a:r>
            <a:endParaRPr lang="en-US" sz="950" dirty="0"/>
          </a:p>
        </p:txBody>
      </p:sp>
      <p:sp>
        <p:nvSpPr>
          <p:cNvPr id="11" name="Text 9"/>
          <p:cNvSpPr txBox="1"/>
          <p:nvPr/>
        </p:nvSpPr>
        <p:spPr>
          <a:xfrm>
            <a:off x="713232" y="3919484"/>
            <a:ext cx="2615184" cy="804672"/>
          </a:xfrm>
          <a:prstGeom prst="rect">
            <a:avLst/>
          </a:prstGeom>
          <a:noFill/>
          <a:ln/>
        </p:spPr>
        <p:txBody>
          <a:bodyPr wrap="square" lIns="0" tIns="0" rIns="0" bIns="0" rtlCol="0" anchor="t"/>
          <a:lstStyle/>
          <a:p>
            <a:pPr marL="0" indent="0">
              <a:lnSpc>
                <a:spcPct val="110000"/>
              </a:lnSpc>
              <a:buNone/>
            </a:pPr>
            <a:r>
              <a:rPr lang="en-US" sz="1200" dirty="0">
                <a:solidFill>
                  <a:srgbClr val="0F2942"/>
                </a:solidFill>
                <a:latin typeface="Courier New" pitchFamily="34" charset="0"/>
                <a:ea typeface="Courier New" pitchFamily="34" charset="-122"/>
                <a:cs typeface="Courier New" pitchFamily="34" charset="-120"/>
              </a:rPr>
              <a:t>35 C in Fahrenheit is 67</a:t>
            </a:r>
            <a:endParaRPr lang="en-US" sz="1200" dirty="0"/>
          </a:p>
        </p:txBody>
      </p:sp>
      <p:sp>
        <p:nvSpPr>
          <p:cNvPr id="12" name="Shape 10"/>
          <p:cNvSpPr/>
          <p:nvPr/>
        </p:nvSpPr>
        <p:spPr>
          <a:xfrm>
            <a:off x="3694176" y="3645164"/>
            <a:ext cx="2907792" cy="1170432"/>
          </a:xfrm>
          <a:prstGeom prst="roundRect">
            <a:avLst>
              <a:gd name="adj" fmla="val 7031"/>
            </a:avLst>
          </a:prstGeom>
          <a:solidFill>
            <a:srgbClr val="E6F2EC"/>
          </a:solidFill>
          <a:ln w="12700">
            <a:solidFill>
              <a:srgbClr val="E6F2EC"/>
            </a:solidFill>
            <a:prstDash val="solid"/>
          </a:ln>
        </p:spPr>
        <p:txBody>
          <a:bodyPr/>
          <a:lstStyle/>
          <a:p>
            <a:endParaRPr lang="en-US"/>
          </a:p>
        </p:txBody>
      </p:sp>
      <p:sp>
        <p:nvSpPr>
          <p:cNvPr id="13" name="Text 11"/>
          <p:cNvSpPr txBox="1"/>
          <p:nvPr/>
        </p:nvSpPr>
        <p:spPr>
          <a:xfrm>
            <a:off x="3858768" y="3736604"/>
            <a:ext cx="2578608" cy="201168"/>
          </a:xfrm>
          <a:prstGeom prst="rect">
            <a:avLst/>
          </a:prstGeom>
          <a:noFill/>
          <a:ln/>
        </p:spPr>
        <p:txBody>
          <a:bodyPr wrap="square" lIns="0" tIns="0" rIns="0" bIns="0" rtlCol="0" anchor="ctr"/>
          <a:lstStyle/>
          <a:p>
            <a:pPr marL="0" indent="0">
              <a:buNone/>
            </a:pPr>
            <a:r>
              <a:rPr lang="en-US" sz="900" b="1" kern="0" spc="100" dirty="0">
                <a:solidFill>
                  <a:srgbClr val="176240"/>
                </a:solidFill>
                <a:latin typeface="Calibri" pitchFamily="34" charset="0"/>
                <a:ea typeface="Calibri" pitchFamily="34" charset="-122"/>
                <a:cs typeface="Calibri" pitchFamily="34" charset="-120"/>
              </a:rPr>
              <a:t>EXPECTED</a:t>
            </a:r>
            <a:endParaRPr lang="en-US" sz="900" dirty="0"/>
          </a:p>
        </p:txBody>
      </p:sp>
      <p:sp>
        <p:nvSpPr>
          <p:cNvPr id="14" name="Text 12"/>
          <p:cNvSpPr txBox="1"/>
          <p:nvPr/>
        </p:nvSpPr>
        <p:spPr>
          <a:xfrm>
            <a:off x="3858768" y="3965204"/>
            <a:ext cx="2578608" cy="731520"/>
          </a:xfrm>
          <a:prstGeom prst="rect">
            <a:avLst/>
          </a:prstGeom>
          <a:noFill/>
          <a:ln/>
        </p:spPr>
        <p:txBody>
          <a:bodyPr wrap="square" lIns="0" tIns="0" rIns="0" bIns="0" rtlCol="0" anchor="ctr"/>
          <a:lstStyle/>
          <a:p>
            <a:pPr marL="0" indent="0">
              <a:buNone/>
            </a:pPr>
            <a:r>
              <a:rPr lang="en-US" sz="2600" b="1" dirty="0">
                <a:solidFill>
                  <a:srgbClr val="176240"/>
                </a:solidFill>
                <a:latin typeface="Courier New" pitchFamily="34" charset="0"/>
                <a:ea typeface="Courier New" pitchFamily="34" charset="-122"/>
                <a:cs typeface="Courier New" pitchFamily="34" charset="-120"/>
              </a:rPr>
              <a:t>95</a:t>
            </a:r>
            <a:endParaRPr lang="en-US" sz="2600" dirty="0"/>
          </a:p>
        </p:txBody>
      </p:sp>
      <p:sp>
        <p:nvSpPr>
          <p:cNvPr id="15" name="Text 13"/>
          <p:cNvSpPr txBox="1"/>
          <p:nvPr/>
        </p:nvSpPr>
        <p:spPr>
          <a:xfrm>
            <a:off x="566928" y="5016764"/>
            <a:ext cx="6035040" cy="310896"/>
          </a:xfrm>
          <a:prstGeom prst="rect">
            <a:avLst/>
          </a:prstGeom>
          <a:noFill/>
          <a:ln/>
        </p:spPr>
        <p:txBody>
          <a:bodyPr wrap="square" lIns="0" tIns="0" rIns="0" bIns="0" rtlCol="0" anchor="ctr"/>
          <a:lstStyle/>
          <a:p>
            <a:pPr marL="0" indent="0">
              <a:buNone/>
            </a:pPr>
            <a:r>
              <a:rPr lang="en-US" sz="1350" b="1" i="1" dirty="0">
                <a:solidFill>
                  <a:srgbClr val="9C241C"/>
                </a:solidFill>
                <a:latin typeface="Calibri" pitchFamily="34" charset="0"/>
                <a:ea typeface="Calibri" pitchFamily="34" charset="-122"/>
                <a:cs typeface="Calibri" pitchFamily="34" charset="-120"/>
              </a:rPr>
              <a:t>It compiles. It runs. It finishes without complaint. And it is wrong.</a:t>
            </a:r>
            <a:endParaRPr lang="en-US" sz="1350" dirty="0"/>
          </a:p>
        </p:txBody>
      </p:sp>
      <p:sp>
        <p:nvSpPr>
          <p:cNvPr id="16" name="Shape 14"/>
          <p:cNvSpPr/>
          <p:nvPr/>
        </p:nvSpPr>
        <p:spPr>
          <a:xfrm>
            <a:off x="6967728" y="1261872"/>
            <a:ext cx="4657039" cy="1600200"/>
          </a:xfrm>
          <a:prstGeom prst="roundRect">
            <a:avLst>
              <a:gd name="adj" fmla="val 5143"/>
            </a:avLst>
          </a:prstGeom>
          <a:solidFill>
            <a:srgbClr val="F1F5F9"/>
          </a:solidFill>
          <a:ln w="12700">
            <a:solidFill>
              <a:srgbClr val="F1F5F9"/>
            </a:solidFill>
            <a:prstDash val="solid"/>
          </a:ln>
        </p:spPr>
        <p:txBody>
          <a:bodyPr/>
          <a:lstStyle/>
          <a:p>
            <a:endParaRPr lang="en-US"/>
          </a:p>
        </p:txBody>
      </p:sp>
      <p:sp>
        <p:nvSpPr>
          <p:cNvPr id="17" name="Shape 15"/>
          <p:cNvSpPr/>
          <p:nvPr/>
        </p:nvSpPr>
        <p:spPr>
          <a:xfrm>
            <a:off x="7168896" y="1453896"/>
            <a:ext cx="329184" cy="329184"/>
          </a:xfrm>
          <a:prstGeom prst="ellipse">
            <a:avLst/>
          </a:prstGeom>
          <a:solidFill>
            <a:srgbClr val="9C241C"/>
          </a:solidFill>
          <a:ln w="12700">
            <a:solidFill>
              <a:srgbClr val="9C241C"/>
            </a:solidFill>
            <a:prstDash val="solid"/>
          </a:ln>
        </p:spPr>
        <p:txBody>
          <a:bodyPr/>
          <a:lstStyle/>
          <a:p>
            <a:endParaRPr lang="en-US"/>
          </a:p>
        </p:txBody>
      </p:sp>
      <p:sp>
        <p:nvSpPr>
          <p:cNvPr id="18" name="Text 16"/>
          <p:cNvSpPr txBox="1"/>
          <p:nvPr/>
        </p:nvSpPr>
        <p:spPr>
          <a:xfrm>
            <a:off x="7168896" y="14538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9" name="Text 17"/>
          <p:cNvSpPr txBox="1"/>
          <p:nvPr/>
        </p:nvSpPr>
        <p:spPr>
          <a:xfrm>
            <a:off x="7607808" y="1435608"/>
            <a:ext cx="3815791" cy="365760"/>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What went wrong</a:t>
            </a:r>
            <a:endParaRPr lang="en-US" sz="1450" dirty="0"/>
          </a:p>
        </p:txBody>
      </p:sp>
      <p:sp>
        <p:nvSpPr>
          <p:cNvPr id="20" name="Text 18"/>
          <p:cNvSpPr txBox="1"/>
          <p:nvPr/>
        </p:nvSpPr>
        <p:spPr>
          <a:xfrm>
            <a:off x="7187184" y="1883664"/>
            <a:ext cx="4218127" cy="850392"/>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9 and 5 are both integers, so 9 / 5 is integer division. It evaluates to 1, not 1.8 — the fractional part is discarded, not rounded. So the program computes 1 × 35 + 32 = 67.</a:t>
            </a:r>
            <a:endParaRPr lang="en-US" sz="1250" dirty="0"/>
          </a:p>
        </p:txBody>
      </p:sp>
      <p:sp>
        <p:nvSpPr>
          <p:cNvPr id="21" name="Shape 19"/>
          <p:cNvSpPr/>
          <p:nvPr/>
        </p:nvSpPr>
        <p:spPr>
          <a:xfrm>
            <a:off x="6967728" y="2999232"/>
            <a:ext cx="4657039" cy="1417320"/>
          </a:xfrm>
          <a:prstGeom prst="roundRect">
            <a:avLst>
              <a:gd name="adj" fmla="val 5806"/>
            </a:avLst>
          </a:prstGeom>
          <a:solidFill>
            <a:srgbClr val="E6F2EC"/>
          </a:solidFill>
          <a:ln w="12700">
            <a:solidFill>
              <a:srgbClr val="E6F2EC"/>
            </a:solidFill>
            <a:prstDash val="solid"/>
          </a:ln>
        </p:spPr>
        <p:txBody>
          <a:bodyPr/>
          <a:lstStyle/>
          <a:p>
            <a:endParaRPr lang="en-US"/>
          </a:p>
        </p:txBody>
      </p:sp>
      <p:sp>
        <p:nvSpPr>
          <p:cNvPr id="22" name="Shape 20"/>
          <p:cNvSpPr/>
          <p:nvPr/>
        </p:nvSpPr>
        <p:spPr>
          <a:xfrm>
            <a:off x="7168896" y="3191256"/>
            <a:ext cx="329184" cy="329184"/>
          </a:xfrm>
          <a:prstGeom prst="ellipse">
            <a:avLst/>
          </a:prstGeom>
          <a:solidFill>
            <a:srgbClr val="176240"/>
          </a:solidFill>
          <a:ln w="12700">
            <a:solidFill>
              <a:srgbClr val="176240"/>
            </a:solidFill>
            <a:prstDash val="solid"/>
          </a:ln>
        </p:spPr>
        <p:txBody>
          <a:bodyPr/>
          <a:lstStyle/>
          <a:p>
            <a:endParaRPr lang="en-US"/>
          </a:p>
        </p:txBody>
      </p:sp>
      <p:sp>
        <p:nvSpPr>
          <p:cNvPr id="23" name="Text 21"/>
          <p:cNvSpPr txBox="1"/>
          <p:nvPr/>
        </p:nvSpPr>
        <p:spPr>
          <a:xfrm>
            <a:off x="7168896"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txBox="1"/>
          <p:nvPr/>
        </p:nvSpPr>
        <p:spPr>
          <a:xfrm>
            <a:off x="7607808" y="3172968"/>
            <a:ext cx="3815791" cy="365760"/>
          </a:xfrm>
          <a:prstGeom prst="rect">
            <a:avLst/>
          </a:prstGeom>
          <a:noFill/>
          <a:ln/>
        </p:spPr>
        <p:txBody>
          <a:bodyPr wrap="square" lIns="0" tIns="0" rIns="0" bIns="0" rtlCol="0" anchor="ctr"/>
          <a:lstStyle/>
          <a:p>
            <a:pPr marL="0" indent="0">
              <a:buNone/>
            </a:pPr>
            <a:r>
              <a:rPr lang="en-US" sz="1450" b="1" dirty="0">
                <a:solidFill>
                  <a:srgbClr val="0F2942"/>
                </a:solidFill>
                <a:latin typeface="Calibri" pitchFamily="34" charset="0"/>
                <a:ea typeface="Calibri" pitchFamily="34" charset="-122"/>
                <a:cs typeface="Calibri" pitchFamily="34" charset="-120"/>
              </a:rPr>
              <a:t>The fix</a:t>
            </a:r>
            <a:endParaRPr lang="en-US" sz="1450" dirty="0"/>
          </a:p>
        </p:txBody>
      </p:sp>
      <p:sp>
        <p:nvSpPr>
          <p:cNvPr id="25" name="Text 23"/>
          <p:cNvSpPr txBox="1"/>
          <p:nvPr/>
        </p:nvSpPr>
        <p:spPr>
          <a:xfrm>
            <a:off x="7187184" y="3621024"/>
            <a:ext cx="4218127" cy="667512"/>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Force floating-point arithmetic: (9.0 / 5) * 35 + 32. One character changes the answer from 67 to 95.</a:t>
            </a:r>
            <a:endParaRPr lang="en-US" sz="1250" dirty="0"/>
          </a:p>
        </p:txBody>
      </p:sp>
      <p:sp>
        <p:nvSpPr>
          <p:cNvPr id="26" name="Shape 24"/>
          <p:cNvSpPr/>
          <p:nvPr/>
        </p:nvSpPr>
        <p:spPr>
          <a:xfrm>
            <a:off x="6967728" y="4553712"/>
            <a:ext cx="4657039" cy="914400"/>
          </a:xfrm>
          <a:prstGeom prst="roundRect">
            <a:avLst>
              <a:gd name="adj" fmla="val 9000"/>
            </a:avLst>
          </a:prstGeom>
          <a:solidFill>
            <a:srgbClr val="F1F5F9"/>
          </a:solidFill>
          <a:ln w="12700">
            <a:solidFill>
              <a:srgbClr val="F1F5F9"/>
            </a:solidFill>
            <a:prstDash val="solid"/>
          </a:ln>
        </p:spPr>
        <p:txBody>
          <a:bodyPr/>
          <a:lstStyle/>
          <a:p>
            <a:endParaRPr lang="en-US"/>
          </a:p>
        </p:txBody>
      </p:sp>
      <p:sp>
        <p:nvSpPr>
          <p:cNvPr id="27" name="Text 25"/>
          <p:cNvSpPr txBox="1"/>
          <p:nvPr/>
        </p:nvSpPr>
        <p:spPr>
          <a:xfrm>
            <a:off x="7187184" y="4718304"/>
            <a:ext cx="4218127" cy="310896"/>
          </a:xfrm>
          <a:prstGeom prst="rect">
            <a:avLst/>
          </a:prstGeom>
          <a:noFill/>
          <a:ln/>
        </p:spPr>
        <p:txBody>
          <a:bodyPr wrap="square" lIns="0" tIns="0" rIns="0" bIns="0" rtlCol="0" anchor="t"/>
          <a:lstStyle/>
          <a:p>
            <a:pPr marL="0" indent="0">
              <a:buNone/>
            </a:pPr>
            <a:r>
              <a:rPr lang="en-US" sz="1350" b="1" dirty="0">
                <a:solidFill>
                  <a:srgbClr val="0F2942"/>
                </a:solidFill>
                <a:latin typeface="Calibri" pitchFamily="34" charset="0"/>
                <a:ea typeface="Calibri" pitchFamily="34" charset="-122"/>
                <a:cs typeface="Calibri" pitchFamily="34" charset="-120"/>
              </a:rPr>
              <a:t>The lesson</a:t>
            </a:r>
            <a:endParaRPr lang="en-US" sz="1350" dirty="0"/>
          </a:p>
        </p:txBody>
      </p:sp>
      <p:sp>
        <p:nvSpPr>
          <p:cNvPr id="28" name="Text 26"/>
          <p:cNvSpPr txBox="1"/>
          <p:nvPr/>
        </p:nvSpPr>
        <p:spPr>
          <a:xfrm>
            <a:off x="7187184" y="5047488"/>
            <a:ext cx="4218127" cy="292608"/>
          </a:xfrm>
          <a:prstGeom prst="rect">
            <a:avLst/>
          </a:prstGeom>
          <a:noFill/>
          <a:ln/>
        </p:spPr>
        <p:txBody>
          <a:bodyPr wrap="square" lIns="0" tIns="0" rIns="0" bIns="0" rtlCol="0" anchor="t"/>
          <a:lstStyle/>
          <a:p>
            <a:pPr marL="0" indent="0">
              <a:lnSpc>
                <a:spcPct val="108000"/>
              </a:lnSpc>
              <a:buNone/>
            </a:pPr>
            <a:r>
              <a:rPr lang="en-US" sz="1250" dirty="0">
                <a:solidFill>
                  <a:srgbClr val="3A536B"/>
                </a:solidFill>
                <a:latin typeface="Calibri" pitchFamily="34" charset="0"/>
                <a:ea typeface="Calibri" pitchFamily="34" charset="-122"/>
                <a:cs typeface="Calibri" pitchFamily="34" charset="-120"/>
              </a:rPr>
              <a:t>No tool will catch this for you. Test with values whose answer you already know.</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CF1E5"/>
        </a:solidFill>
        <a:effectLst/>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marL="0" indent="0">
              <a:buNone/>
            </a:pPr>
            <a:r>
              <a:rPr lang="en-US" sz="1200" b="1" kern="0" spc="200" dirty="0">
                <a:solidFill>
                  <a:srgbClr val="9A430A"/>
                </a:solidFill>
                <a:latin typeface="Calibri" pitchFamily="34" charset="0"/>
                <a:ea typeface="Calibri" pitchFamily="34" charset="-122"/>
                <a:cs typeface="Calibri" pitchFamily="34" charset="-120"/>
              </a:rPr>
              <a:t>CHECKPOINT 5</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marL="0" indent="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marL="0" indent="0" algn="r">
              <a:buNone/>
            </a:pPr>
            <a:r>
              <a:rPr lang="en-US" sz="1250" dirty="0">
                <a:solidFill>
                  <a:srgbClr val="4B6377"/>
                </a:solidFill>
                <a:latin typeface="Calibri" pitchFamily="34" charset="0"/>
                <a:ea typeface="Calibri" pitchFamily="34" charset="-122"/>
                <a:cs typeface="Calibri" pitchFamily="34" charset="-120"/>
              </a:rPr>
              <a:t>Covering slides 43–48</a:t>
            </a:r>
            <a:endParaRPr lang="en-US" sz="1250" dirty="0"/>
          </a:p>
        </p:txBody>
      </p:sp>
      <p:sp>
        <p:nvSpPr>
          <p:cNvPr id="5" name="Shape 3"/>
          <p:cNvSpPr/>
          <p:nvPr/>
        </p:nvSpPr>
        <p:spPr>
          <a:xfrm>
            <a:off x="566928" y="1713037"/>
            <a:ext cx="11057839" cy="1152144"/>
          </a:xfrm>
          <a:prstGeom prst="roundRect">
            <a:avLst>
              <a:gd name="adj" fmla="val 7143"/>
            </a:avLst>
          </a:prstGeom>
          <a:solidFill>
            <a:srgbClr val="FFFFFF"/>
          </a:solidFill>
          <a:ln w="12700">
            <a:solidFill>
              <a:srgbClr val="D3DEE7"/>
            </a:solidFill>
            <a:prstDash val="solid"/>
          </a:ln>
        </p:spPr>
        <p:txBody>
          <a:bodyPr/>
          <a:lstStyle/>
          <a:p>
            <a:endParaRPr lang="en-US"/>
          </a:p>
        </p:txBody>
      </p:sp>
      <p:sp>
        <p:nvSpPr>
          <p:cNvPr id="6" name="Shape 4"/>
          <p:cNvSpPr/>
          <p:nvPr/>
        </p:nvSpPr>
        <p:spPr>
          <a:xfrm>
            <a:off x="841248" y="1950781"/>
            <a:ext cx="402336" cy="402336"/>
          </a:xfrm>
          <a:prstGeom prst="ellipse">
            <a:avLst/>
          </a:prstGeom>
          <a:solidFill>
            <a:srgbClr val="C4560C"/>
          </a:solidFill>
          <a:ln w="12700">
            <a:solidFill>
              <a:srgbClr val="C4560C"/>
            </a:solidFill>
            <a:prstDash val="solid"/>
          </a:ln>
        </p:spPr>
        <p:txBody>
          <a:bodyPr/>
          <a:lstStyle/>
          <a:p>
            <a:endParaRPr lang="en-US"/>
          </a:p>
        </p:txBody>
      </p:sp>
      <p:sp>
        <p:nvSpPr>
          <p:cNvPr id="7" name="Text 5"/>
          <p:cNvSpPr txBox="1"/>
          <p:nvPr/>
        </p:nvSpPr>
        <p:spPr>
          <a:xfrm>
            <a:off x="841248" y="1950781"/>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877629"/>
            <a:ext cx="9823399" cy="658368"/>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Classify each of these: a missing semicolon · dividing an int by zero · writing 9 / 5 where you meant 9.0 / 5.</a:t>
            </a:r>
            <a:endParaRPr lang="en-US" sz="1550" dirty="0"/>
          </a:p>
        </p:txBody>
      </p:sp>
      <p:sp>
        <p:nvSpPr>
          <p:cNvPr id="9" name="Shape 7"/>
          <p:cNvSpPr/>
          <p:nvPr/>
        </p:nvSpPr>
        <p:spPr>
          <a:xfrm>
            <a:off x="566928" y="3084637"/>
            <a:ext cx="11057839" cy="1152144"/>
          </a:xfrm>
          <a:prstGeom prst="roundRect">
            <a:avLst>
              <a:gd name="adj" fmla="val 7143"/>
            </a:avLst>
          </a:prstGeom>
          <a:solidFill>
            <a:srgbClr val="FFFFFF"/>
          </a:solidFill>
          <a:ln w="12700">
            <a:solidFill>
              <a:srgbClr val="D3DEE7"/>
            </a:solidFill>
            <a:prstDash val="solid"/>
          </a:ln>
        </p:spPr>
        <p:txBody>
          <a:bodyPr/>
          <a:lstStyle/>
          <a:p>
            <a:endParaRPr lang="en-US"/>
          </a:p>
        </p:txBody>
      </p:sp>
      <p:sp>
        <p:nvSpPr>
          <p:cNvPr id="10" name="Shape 8"/>
          <p:cNvSpPr/>
          <p:nvPr/>
        </p:nvSpPr>
        <p:spPr>
          <a:xfrm>
            <a:off x="841248" y="3322381"/>
            <a:ext cx="402336" cy="402336"/>
          </a:xfrm>
          <a:prstGeom prst="ellipse">
            <a:avLst/>
          </a:prstGeom>
          <a:solidFill>
            <a:srgbClr val="C4560C"/>
          </a:solidFill>
          <a:ln w="12700">
            <a:solidFill>
              <a:srgbClr val="C4560C"/>
            </a:solidFill>
            <a:prstDash val="solid"/>
          </a:ln>
        </p:spPr>
        <p:txBody>
          <a:bodyPr/>
          <a:lstStyle/>
          <a:p>
            <a:endParaRPr lang="en-US"/>
          </a:p>
        </p:txBody>
      </p:sp>
      <p:sp>
        <p:nvSpPr>
          <p:cNvPr id="11" name="Text 9"/>
          <p:cNvSpPr txBox="1"/>
          <p:nvPr/>
        </p:nvSpPr>
        <p:spPr>
          <a:xfrm>
            <a:off x="841248" y="3322381"/>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249229"/>
            <a:ext cx="9823399" cy="658368"/>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You need a constant for the maximum number of students. Which of these names is right — maxStudents, MaxStudents, MAX_STUDENTS, or max_students?</a:t>
            </a:r>
            <a:endParaRPr lang="en-US" sz="1550" dirty="0"/>
          </a:p>
        </p:txBody>
      </p:sp>
      <p:sp>
        <p:nvSpPr>
          <p:cNvPr id="13" name="Shape 11"/>
          <p:cNvSpPr/>
          <p:nvPr/>
        </p:nvSpPr>
        <p:spPr>
          <a:xfrm>
            <a:off x="566928" y="4456237"/>
            <a:ext cx="11057839" cy="1657990"/>
          </a:xfrm>
          <a:prstGeom prst="roundRect">
            <a:avLst>
              <a:gd name="adj" fmla="val 4964"/>
            </a:avLst>
          </a:prstGeom>
          <a:solidFill>
            <a:srgbClr val="FFFFFF"/>
          </a:solidFill>
          <a:ln w="12700">
            <a:solidFill>
              <a:srgbClr val="D3DEE7"/>
            </a:solidFill>
            <a:prstDash val="solid"/>
          </a:ln>
        </p:spPr>
        <p:txBody>
          <a:bodyPr/>
          <a:lstStyle/>
          <a:p>
            <a:endParaRPr lang="en-US"/>
          </a:p>
        </p:txBody>
      </p:sp>
      <p:sp>
        <p:nvSpPr>
          <p:cNvPr id="14" name="Shape 12"/>
          <p:cNvSpPr/>
          <p:nvPr/>
        </p:nvSpPr>
        <p:spPr>
          <a:xfrm>
            <a:off x="841248" y="4693981"/>
            <a:ext cx="402336" cy="402336"/>
          </a:xfrm>
          <a:prstGeom prst="ellipse">
            <a:avLst/>
          </a:prstGeom>
          <a:solidFill>
            <a:srgbClr val="C4560C"/>
          </a:solidFill>
          <a:ln w="12700">
            <a:solidFill>
              <a:srgbClr val="C4560C"/>
            </a:solidFill>
            <a:prstDash val="solid"/>
          </a:ln>
        </p:spPr>
        <p:txBody>
          <a:bodyPr/>
          <a:lstStyle/>
          <a:p>
            <a:endParaRPr lang="en-US"/>
          </a:p>
        </p:txBody>
      </p:sp>
      <p:sp>
        <p:nvSpPr>
          <p:cNvPr id="15" name="Text 13"/>
          <p:cNvSpPr txBox="1"/>
          <p:nvPr/>
        </p:nvSpPr>
        <p:spPr>
          <a:xfrm>
            <a:off x="841248" y="4693981"/>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6" name="Text 14"/>
          <p:cNvSpPr txBox="1"/>
          <p:nvPr/>
        </p:nvSpPr>
        <p:spPr>
          <a:xfrm>
            <a:off x="1435608" y="4620829"/>
            <a:ext cx="9823399" cy="420624"/>
          </a:xfrm>
          <a:prstGeom prst="rect">
            <a:avLst/>
          </a:prstGeom>
          <a:noFill/>
          <a:ln/>
        </p:spPr>
        <p:txBody>
          <a:bodyPr wrap="square" lIns="0" tIns="0" rIns="0" bIns="0" rtlCol="0" anchor="t"/>
          <a:lstStyle/>
          <a:p>
            <a:pPr marL="0" indent="0">
              <a:lnSpc>
                <a:spcPct val="110000"/>
              </a:lnSpc>
              <a:buNone/>
            </a:pPr>
            <a:r>
              <a:rPr lang="en-US" sz="1550" b="1" dirty="0">
                <a:solidFill>
                  <a:srgbClr val="0F2942"/>
                </a:solidFill>
                <a:latin typeface="Calibri" pitchFamily="34" charset="0"/>
                <a:ea typeface="Calibri" pitchFamily="34" charset="-122"/>
                <a:cs typeface="Calibri" pitchFamily="34" charset="-120"/>
              </a:rPr>
              <a:t>What does this print, and why is it not 95?</a:t>
            </a:r>
            <a:endParaRPr lang="en-US" sz="1550" dirty="0"/>
          </a:p>
        </p:txBody>
      </p:sp>
      <p:sp>
        <p:nvSpPr>
          <p:cNvPr id="17" name="Shape 15"/>
          <p:cNvSpPr/>
          <p:nvPr/>
        </p:nvSpPr>
        <p:spPr>
          <a:xfrm>
            <a:off x="1435608" y="5096317"/>
            <a:ext cx="6949440" cy="542422"/>
          </a:xfrm>
          <a:prstGeom prst="roundRect">
            <a:avLst>
              <a:gd name="adj" fmla="val 11800"/>
            </a:avLst>
          </a:prstGeom>
          <a:solidFill>
            <a:srgbClr val="EDF2F7"/>
          </a:solidFill>
          <a:ln w="12700">
            <a:solidFill>
              <a:srgbClr val="CFDBE5"/>
            </a:solidFill>
            <a:prstDash val="solid"/>
          </a:ln>
        </p:spPr>
        <p:txBody>
          <a:bodyPr/>
          <a:lstStyle/>
          <a:p>
            <a:endParaRPr lang="en-US"/>
          </a:p>
        </p:txBody>
      </p:sp>
      <p:sp>
        <p:nvSpPr>
          <p:cNvPr id="18" name="Text 16"/>
          <p:cNvSpPr txBox="1"/>
          <p:nvPr/>
        </p:nvSpPr>
        <p:spPr>
          <a:xfrm>
            <a:off x="1600200" y="5233477"/>
            <a:ext cx="6620256" cy="341254"/>
          </a:xfrm>
          <a:prstGeom prst="rect">
            <a:avLst/>
          </a:prstGeom>
          <a:noFill/>
          <a:ln/>
        </p:spPr>
        <p:txBody>
          <a:bodyPr wrap="square" lIns="0" tIns="0" rIns="0" bIns="0" rtlCol="0" anchor="t"/>
          <a:lstStyle/>
          <a:p>
            <a:pPr marL="0" indent="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out</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println</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6B3FA0"/>
                </a:solidFill>
                <a:latin typeface="Courier New" pitchFamily="34" charset="0"/>
                <a:ea typeface="Courier New" pitchFamily="34" charset="-122"/>
                <a:cs typeface="Courier New" pitchFamily="34" charset="-120"/>
              </a:rPr>
              <a:t>9</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6B3FA0"/>
                </a:solidFill>
                <a:latin typeface="Courier New" pitchFamily="34" charset="0"/>
                <a:ea typeface="Courier New" pitchFamily="34" charset="-122"/>
                <a:cs typeface="Courier New" pitchFamily="34" charset="-120"/>
              </a:rPr>
              <a:t>5</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6B3FA0"/>
                </a:solidFill>
                <a:latin typeface="Courier New" pitchFamily="34" charset="0"/>
                <a:ea typeface="Courier New" pitchFamily="34" charset="-122"/>
                <a:cs typeface="Courier New" pitchFamily="34" charset="-120"/>
              </a:rPr>
              <a:t>35</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33485C"/>
                </a:solidFill>
                <a:latin typeface="Courier New" pitchFamily="34" charset="0"/>
                <a:ea typeface="Courier New" pitchFamily="34" charset="-122"/>
                <a:cs typeface="Courier New" pitchFamily="34" charset="-120"/>
              </a:rPr>
              <a:t>+</a:t>
            </a:r>
            <a:r>
              <a:rPr lang="en-US" sz="1100" dirty="0">
                <a:solidFill>
                  <a:srgbClr val="14293C"/>
                </a:solidFill>
                <a:latin typeface="Courier New" pitchFamily="34" charset="0"/>
                <a:ea typeface="Courier New" pitchFamily="34" charset="-122"/>
                <a:cs typeface="Courier New" pitchFamily="34" charset="-120"/>
              </a:rPr>
              <a:t> </a:t>
            </a:r>
            <a:r>
              <a:rPr lang="en-US" sz="1100" dirty="0">
                <a:solidFill>
                  <a:srgbClr val="6B3FA0"/>
                </a:solidFill>
                <a:latin typeface="Courier New" pitchFamily="34" charset="0"/>
                <a:ea typeface="Courier New" pitchFamily="34" charset="-122"/>
                <a:cs typeface="Courier New" pitchFamily="34" charset="-120"/>
              </a:rPr>
              <a:t>32</a:t>
            </a: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CONTEXT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How Java Compares with the Languages You Already Know</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marL="0" indent="0">
              <a:buNone/>
            </a:pPr>
            <a:r>
              <a:rPr lang="en-US" sz="1400" dirty="0">
                <a:solidFill>
                  <a:srgbClr val="3A536B"/>
                </a:solidFill>
                <a:latin typeface="Calibri" pitchFamily="34" charset="0"/>
                <a:ea typeface="Calibri" pitchFamily="34" charset="-122"/>
                <a:cs typeface="Calibri" pitchFamily="34" charset="-120"/>
              </a:rPr>
              <a:t>You arrived here through C++ or C#. Here is where Java sits relative to both.</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50</a:t>
            </a:r>
            <a:endParaRPr lang="en-US" sz="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3520440"/>
        </p:xfrm>
        <a:graphic>
          <a:graphicData uri="http://schemas.openxmlformats.org/drawingml/2006/table">
            <a:tbl>
              <a:tblPr/>
              <a:tblGrid>
                <a:gridCol w="219456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3008376">
                  <a:extLst>
                    <a:ext uri="{9D8B030D-6E8A-4147-A177-3AD203B41FA5}">
                      <a16:colId xmlns:a16="http://schemas.microsoft.com/office/drawing/2014/main" val="20003"/>
                    </a:ext>
                  </a:extLst>
                </a:gridCol>
              </a:tblGrid>
              <a:tr h="502920">
                <a:tc>
                  <a:txBody>
                    <a:bodyPr/>
                    <a:lstStyle/>
                    <a:p>
                      <a:pPr marL="0" indent="0">
                        <a:buNone/>
                      </a:pP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 / C++</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 / .NET</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Java</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502920">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Syntax family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The original C-family syntax</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C-family, close to Java</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b="1" dirty="0">
                          <a:solidFill>
                            <a:srgbClr val="0F2942"/>
                          </a:solidFill>
                          <a:latin typeface="Calibri" pitchFamily="34" charset="0"/>
                          <a:ea typeface="Calibri" pitchFamily="34" charset="-122"/>
                          <a:cs typeface="Calibri" pitchFamily="34" charset="-120"/>
                        </a:rPr>
                        <a:t>C-family — you will find it familiar</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1"/>
                  </a:ext>
                </a:extLst>
              </a:tr>
              <a:tr h="502920">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Memory model</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Unmanaged: you allocate and free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Managed: garbage collected</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Managed: garbage collected</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2"/>
                  </a:ext>
                </a:extLst>
              </a:tr>
              <a:tr h="502920">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Compilation target</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Native machine code, per platform</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Intermediate Language, run by the CLR</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Bytecode, run by the JVM</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3"/>
                  </a:ext>
                </a:extLst>
              </a:tr>
              <a:tr h="502920">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Portability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Recompile separately for each platform</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Cross-platform since .NET Core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One build runs anywhere a JVM exists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4"/>
                  </a:ext>
                </a:extLst>
              </a:tr>
              <a:tr h="502920">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Language surface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Large: pointers, operator overloading, multiple inheritance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Large and growing quickly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Deliberately smaller and slower to change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5"/>
                  </a:ext>
                </a:extLst>
              </a:tr>
              <a:tr h="502920">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Backward compatibility</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Strong, with platform caveats</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More willing to break old code</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tcPr>
                </a:tc>
                <a:tc>
                  <a:txBody>
                    <a:bodyPr/>
                    <a:lstStyle/>
                    <a:p>
                      <a:pPr marL="0" indent="0">
                        <a:buNone/>
                      </a:pPr>
                      <a:r>
                        <a:rPr lang="en-US" sz="1150" dirty="0">
                          <a:solidFill>
                            <a:srgbClr val="3A536B"/>
                          </a:solidFill>
                          <a:latin typeface="Calibri" pitchFamily="34" charset="0"/>
                          <a:ea typeface="Calibri" pitchFamily="34" charset="-122"/>
                          <a:cs typeface="Calibri" pitchFamily="34" charset="-120"/>
                        </a:rPr>
                        <a:t>Famously strict — old code keeps working</a:t>
                      </a:r>
                      <a:endParaRPr lang="en-US" sz="1150" dirty="0">
                        <a:latin typeface="Calibri" charset="0"/>
                        <a:ea typeface="Calibri" charset="0"/>
                        <a:cs typeface="Calibri" charset="0"/>
                      </a:endParaRPr>
                    </a:p>
                  </a:txBody>
                  <a:tcPr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BEEE0"/>
                    </a:solidFill>
                  </a:tcPr>
                </a:tc>
                <a:extLst>
                  <a:ext uri="{0D108BD9-81ED-4DB2-BD59-A6C34878D82A}">
                    <a16:rowId xmlns:a16="http://schemas.microsoft.com/office/drawing/2014/main" val="10006"/>
                  </a:ext>
                </a:extLst>
              </a:tr>
            </a:tbl>
          </a:graphicData>
        </a:graphic>
      </p:graphicFrame>
      <p:sp>
        <p:nvSpPr>
          <p:cNvPr id="8" name="Shape 5"/>
          <p:cNvSpPr/>
          <p:nvPr/>
        </p:nvSpPr>
        <p:spPr>
          <a:xfrm>
            <a:off x="566928" y="5330952"/>
            <a:ext cx="11057839" cy="777240"/>
          </a:xfrm>
          <a:prstGeom prst="roundRect">
            <a:avLst>
              <a:gd name="adj" fmla="val 10588"/>
            </a:avLst>
          </a:prstGeom>
          <a:solidFill>
            <a:srgbClr val="F1F5F9"/>
          </a:solidFill>
          <a:ln w="12700">
            <a:solidFill>
              <a:srgbClr val="F1F5F9"/>
            </a:solidFill>
            <a:prstDash val="solid"/>
          </a:ln>
        </p:spPr>
        <p:txBody>
          <a:bodyPr/>
          <a:lstStyle/>
          <a:p>
            <a:endParaRPr lang="en-US"/>
          </a:p>
        </p:txBody>
      </p:sp>
      <p:sp>
        <p:nvSpPr>
          <p:cNvPr id="9" name="Text 6"/>
          <p:cNvSpPr txBox="1"/>
          <p:nvPr/>
        </p:nvSpPr>
        <p:spPr>
          <a:xfrm>
            <a:off x="841248" y="5330952"/>
            <a:ext cx="10509199" cy="777240"/>
          </a:xfrm>
          <a:prstGeom prst="rect">
            <a:avLst/>
          </a:prstGeom>
          <a:noFill/>
          <a:ln/>
        </p:spPr>
        <p:txBody>
          <a:bodyPr wrap="square" lIns="0" tIns="0" rIns="0" bIns="0" rtlCol="0" anchor="ctr"/>
          <a:lstStyle/>
          <a:p>
            <a:pPr marL="0" indent="0">
              <a:lnSpc>
                <a:spcPct val="110000"/>
              </a:lnSpc>
              <a:buNone/>
            </a:pPr>
            <a:r>
              <a:rPr lang="en-US" sz="1250" b="1" dirty="0">
                <a:solidFill>
                  <a:srgbClr val="0F2942"/>
                </a:solidFill>
                <a:latin typeface="Calibri" pitchFamily="34" charset="0"/>
                <a:ea typeface="Calibri" pitchFamily="34" charset="-122"/>
                <a:cs typeface="Calibri" pitchFamily="34" charset="-120"/>
              </a:rPr>
              <a:t>The trade in one line:  </a:t>
            </a:r>
            <a:r>
              <a:rPr lang="en-US" sz="1250" dirty="0">
                <a:solidFill>
                  <a:srgbClr val="3A536B"/>
                </a:solidFill>
                <a:latin typeface="Calibri" pitchFamily="34" charset="0"/>
                <a:ea typeface="Calibri" pitchFamily="34" charset="-122"/>
                <a:cs typeface="Calibri" pitchFamily="34" charset="-120"/>
              </a:rPr>
              <a:t>C++ gives you more freedom and more ways to be wrong. C# gives you a similar bargain to Java on a different runtime. Java gives up some low-level control in exchange for portability, safety and a very stable target.</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CONTEXT</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What People Actually Build with Java</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51</a:t>
            </a:r>
            <a:endParaRPr lang="en-US" sz="900" dirty="0"/>
          </a:p>
        </p:txBody>
      </p:sp>
      <p:sp>
        <p:nvSpPr>
          <p:cNvPr id="6" name="Shape 4"/>
          <p:cNvSpPr/>
          <p:nvPr/>
        </p:nvSpPr>
        <p:spPr>
          <a:xfrm>
            <a:off x="566928" y="1353312"/>
            <a:ext cx="2613584" cy="3291840"/>
          </a:xfrm>
          <a:prstGeom prst="roundRect">
            <a:avLst>
              <a:gd name="adj" fmla="val 3149"/>
            </a:avLst>
          </a:prstGeom>
          <a:solidFill>
            <a:srgbClr val="E7F0F7"/>
          </a:solidFill>
          <a:ln w="12700">
            <a:solidFill>
              <a:srgbClr val="E7F0F7"/>
            </a:solidFill>
            <a:prstDash val="solid"/>
          </a:ln>
        </p:spPr>
        <p:txBody>
          <a:bodyPr/>
          <a:lstStyle/>
          <a:p>
            <a:endParaRPr lang="en-US"/>
          </a:p>
        </p:txBody>
      </p:sp>
      <p:sp>
        <p:nvSpPr>
          <p:cNvPr id="7" name="Text 5"/>
          <p:cNvSpPr txBox="1"/>
          <p:nvPr/>
        </p:nvSpPr>
        <p:spPr>
          <a:xfrm>
            <a:off x="822960" y="1627632"/>
            <a:ext cx="2101520" cy="640080"/>
          </a:xfrm>
          <a:prstGeom prst="rect">
            <a:avLst/>
          </a:prstGeom>
          <a:noFill/>
          <a:ln/>
        </p:spPr>
        <p:txBody>
          <a:bodyPr wrap="square" lIns="0" tIns="0" rIns="0" bIns="0" rtlCol="0" anchor="t"/>
          <a:lstStyle/>
          <a:p>
            <a:pPr marL="0" indent="0">
              <a:buNone/>
            </a:pPr>
            <a:r>
              <a:rPr lang="en-US" sz="1900" b="1" dirty="0">
                <a:solidFill>
                  <a:srgbClr val="0F2942"/>
                </a:solidFill>
                <a:latin typeface="Cambria" pitchFamily="34" charset="0"/>
                <a:ea typeface="Cambria" pitchFamily="34" charset="-122"/>
                <a:cs typeface="Cambria" pitchFamily="34" charset="-120"/>
              </a:rPr>
              <a:t>Desktop applications</a:t>
            </a:r>
            <a:endParaRPr lang="en-US" sz="1900" dirty="0"/>
          </a:p>
        </p:txBody>
      </p:sp>
      <p:sp>
        <p:nvSpPr>
          <p:cNvPr id="8" name="Text 6"/>
          <p:cNvSpPr txBox="1"/>
          <p:nvPr/>
        </p:nvSpPr>
        <p:spPr>
          <a:xfrm>
            <a:off x="822960" y="2313432"/>
            <a:ext cx="2101520" cy="548640"/>
          </a:xfrm>
          <a:prstGeom prst="rect">
            <a:avLst/>
          </a:prstGeom>
          <a:noFill/>
          <a:ln/>
        </p:spPr>
        <p:txBody>
          <a:bodyPr wrap="square" lIns="0" tIns="0" rIns="0" bIns="0" rtlCol="0" anchor="t"/>
          <a:lstStyle/>
          <a:p>
            <a:pPr marL="0" indent="0">
              <a:buNone/>
            </a:pPr>
            <a:r>
              <a:rPr lang="en-US" sz="1200" b="1" dirty="0">
                <a:solidFill>
                  <a:srgbClr val="175680"/>
                </a:solidFill>
                <a:latin typeface="Courier New" pitchFamily="34" charset="0"/>
                <a:ea typeface="Courier New" pitchFamily="34" charset="-122"/>
                <a:cs typeface="Courier New" pitchFamily="34" charset="-120"/>
              </a:rPr>
              <a:t>JavaFX</a:t>
            </a:r>
            <a:endParaRPr lang="en-US" sz="1200" dirty="0"/>
          </a:p>
        </p:txBody>
      </p:sp>
      <p:sp>
        <p:nvSpPr>
          <p:cNvPr id="9" name="Text 7"/>
          <p:cNvSpPr txBox="1"/>
          <p:nvPr/>
        </p:nvSpPr>
        <p:spPr>
          <a:xfrm>
            <a:off x="822960" y="2953512"/>
            <a:ext cx="2101520" cy="1463040"/>
          </a:xfrm>
          <a:prstGeom prst="rect">
            <a:avLst/>
          </a:prstGeom>
          <a:noFill/>
          <a:ln/>
        </p:spPr>
        <p:txBody>
          <a:bodyPr wrap="square" lIns="0" tIns="0" rIns="0" bIns="0" rtlCol="0" anchor="t"/>
          <a:lstStyle/>
          <a:p>
            <a:pPr marL="0" indent="0">
              <a:lnSpc>
                <a:spcPct val="112000"/>
              </a:lnSpc>
              <a:buNone/>
            </a:pPr>
            <a:r>
              <a:rPr lang="en-US" sz="1200" dirty="0">
                <a:solidFill>
                  <a:srgbClr val="3A536B"/>
                </a:solidFill>
                <a:latin typeface="Calibri" pitchFamily="34" charset="0"/>
                <a:ea typeface="Calibri" pitchFamily="34" charset="-122"/>
                <a:cs typeface="Calibri" pitchFamily="34" charset="-120"/>
              </a:rPr>
              <a:t>Modern UI toolkit with FXML layouts, CSS skinning, animation and 3D. Swing is the older toolkit still found in legacy systems.</a:t>
            </a:r>
            <a:endParaRPr lang="en-US" sz="1200" dirty="0"/>
          </a:p>
        </p:txBody>
      </p:sp>
      <p:sp>
        <p:nvSpPr>
          <p:cNvPr id="10" name="Shape 8"/>
          <p:cNvSpPr/>
          <p:nvPr/>
        </p:nvSpPr>
        <p:spPr>
          <a:xfrm>
            <a:off x="3381680" y="1353312"/>
            <a:ext cx="2613584" cy="3291840"/>
          </a:xfrm>
          <a:prstGeom prst="roundRect">
            <a:avLst>
              <a:gd name="adj" fmla="val 3149"/>
            </a:avLst>
          </a:prstGeom>
          <a:solidFill>
            <a:srgbClr val="FBEEE0"/>
          </a:solidFill>
          <a:ln w="12700">
            <a:solidFill>
              <a:srgbClr val="FBEEE0"/>
            </a:solidFill>
            <a:prstDash val="solid"/>
          </a:ln>
        </p:spPr>
        <p:txBody>
          <a:bodyPr/>
          <a:lstStyle/>
          <a:p>
            <a:endParaRPr lang="en-US"/>
          </a:p>
        </p:txBody>
      </p:sp>
      <p:sp>
        <p:nvSpPr>
          <p:cNvPr id="11" name="Text 9"/>
          <p:cNvSpPr txBox="1"/>
          <p:nvPr/>
        </p:nvSpPr>
        <p:spPr>
          <a:xfrm>
            <a:off x="3637712" y="1627632"/>
            <a:ext cx="2101520" cy="640080"/>
          </a:xfrm>
          <a:prstGeom prst="rect">
            <a:avLst/>
          </a:prstGeom>
          <a:noFill/>
          <a:ln/>
        </p:spPr>
        <p:txBody>
          <a:bodyPr wrap="square" lIns="0" tIns="0" rIns="0" bIns="0" rtlCol="0" anchor="t"/>
          <a:lstStyle/>
          <a:p>
            <a:pPr marL="0" indent="0">
              <a:buNone/>
            </a:pPr>
            <a:r>
              <a:rPr lang="en-US" sz="1900" b="1" dirty="0">
                <a:solidFill>
                  <a:srgbClr val="0F2942"/>
                </a:solidFill>
                <a:latin typeface="Cambria" pitchFamily="34" charset="0"/>
                <a:ea typeface="Cambria" pitchFamily="34" charset="-122"/>
                <a:cs typeface="Cambria" pitchFamily="34" charset="-120"/>
              </a:rPr>
              <a:t>Server-side systems</a:t>
            </a:r>
            <a:endParaRPr lang="en-US" sz="1900" dirty="0"/>
          </a:p>
        </p:txBody>
      </p:sp>
      <p:sp>
        <p:nvSpPr>
          <p:cNvPr id="12" name="Text 10"/>
          <p:cNvSpPr txBox="1"/>
          <p:nvPr/>
        </p:nvSpPr>
        <p:spPr>
          <a:xfrm>
            <a:off x="3637712" y="2313432"/>
            <a:ext cx="2101520" cy="548640"/>
          </a:xfrm>
          <a:prstGeom prst="rect">
            <a:avLst/>
          </a:prstGeom>
          <a:noFill/>
          <a:ln/>
        </p:spPr>
        <p:txBody>
          <a:bodyPr wrap="square" lIns="0" tIns="0" rIns="0" bIns="0" rtlCol="0" anchor="t"/>
          <a:lstStyle/>
          <a:p>
            <a:pPr marL="0" indent="0">
              <a:buNone/>
            </a:pPr>
            <a:r>
              <a:rPr lang="en-US" sz="1200" b="1" dirty="0">
                <a:solidFill>
                  <a:srgbClr val="9A430A"/>
                </a:solidFill>
                <a:latin typeface="Courier New" pitchFamily="34" charset="0"/>
                <a:ea typeface="Courier New" pitchFamily="34" charset="-122"/>
                <a:cs typeface="Courier New" pitchFamily="34" charset="-120"/>
              </a:rPr>
              <a:t>Jakarta EE · Spring</a:t>
            </a:r>
            <a:endParaRPr lang="en-US" sz="1200" dirty="0"/>
          </a:p>
        </p:txBody>
      </p:sp>
      <p:sp>
        <p:nvSpPr>
          <p:cNvPr id="13" name="Text 11"/>
          <p:cNvSpPr txBox="1"/>
          <p:nvPr/>
        </p:nvSpPr>
        <p:spPr>
          <a:xfrm>
            <a:off x="3637712" y="2953512"/>
            <a:ext cx="2101520" cy="1463040"/>
          </a:xfrm>
          <a:prstGeom prst="rect">
            <a:avLst/>
          </a:prstGeom>
          <a:noFill/>
          <a:ln/>
        </p:spPr>
        <p:txBody>
          <a:bodyPr wrap="square" lIns="0" tIns="0" rIns="0" bIns="0" rtlCol="0" anchor="t"/>
          <a:lstStyle/>
          <a:p>
            <a:pPr marL="0" indent="0">
              <a:lnSpc>
                <a:spcPct val="112000"/>
              </a:lnSpc>
              <a:buNone/>
            </a:pPr>
            <a:r>
              <a:rPr lang="en-US" sz="1200" dirty="0">
                <a:solidFill>
                  <a:srgbClr val="3A536B"/>
                </a:solidFill>
                <a:latin typeface="Calibri" pitchFamily="34" charset="0"/>
                <a:ea typeface="Calibri" pitchFamily="34" charset="-122"/>
                <a:cs typeface="Calibri" pitchFamily="34" charset="-120"/>
              </a:rPr>
              <a:t>Data persistence, web applications, security, messaging, JSON and XML handling. The bulk of professional Java work lives here.</a:t>
            </a:r>
            <a:endParaRPr lang="en-US" sz="1200" dirty="0"/>
          </a:p>
        </p:txBody>
      </p:sp>
      <p:sp>
        <p:nvSpPr>
          <p:cNvPr id="14" name="Shape 12"/>
          <p:cNvSpPr/>
          <p:nvPr/>
        </p:nvSpPr>
        <p:spPr>
          <a:xfrm>
            <a:off x="6196432" y="1353312"/>
            <a:ext cx="2613584" cy="3291840"/>
          </a:xfrm>
          <a:prstGeom prst="roundRect">
            <a:avLst>
              <a:gd name="adj" fmla="val 3149"/>
            </a:avLst>
          </a:prstGeom>
          <a:solidFill>
            <a:srgbClr val="E6F2EC"/>
          </a:solidFill>
          <a:ln w="12700">
            <a:solidFill>
              <a:srgbClr val="E6F2EC"/>
            </a:solidFill>
            <a:prstDash val="solid"/>
          </a:ln>
        </p:spPr>
        <p:txBody>
          <a:bodyPr/>
          <a:lstStyle/>
          <a:p>
            <a:endParaRPr lang="en-US"/>
          </a:p>
        </p:txBody>
      </p:sp>
      <p:sp>
        <p:nvSpPr>
          <p:cNvPr id="15" name="Text 13"/>
          <p:cNvSpPr txBox="1"/>
          <p:nvPr/>
        </p:nvSpPr>
        <p:spPr>
          <a:xfrm>
            <a:off x="6452464" y="1627632"/>
            <a:ext cx="2101520" cy="640080"/>
          </a:xfrm>
          <a:prstGeom prst="rect">
            <a:avLst/>
          </a:prstGeom>
          <a:noFill/>
          <a:ln/>
        </p:spPr>
        <p:txBody>
          <a:bodyPr wrap="square" lIns="0" tIns="0" rIns="0" bIns="0" rtlCol="0" anchor="t"/>
          <a:lstStyle/>
          <a:p>
            <a:pPr marL="0" indent="0">
              <a:buNone/>
            </a:pPr>
            <a:r>
              <a:rPr lang="en-US" sz="1900" b="1" dirty="0">
                <a:solidFill>
                  <a:srgbClr val="0F2942"/>
                </a:solidFill>
                <a:latin typeface="Cambria" pitchFamily="34" charset="0"/>
                <a:ea typeface="Cambria" pitchFamily="34" charset="-122"/>
                <a:cs typeface="Cambria" pitchFamily="34" charset="-120"/>
              </a:rPr>
              <a:t>Android applications</a:t>
            </a:r>
            <a:endParaRPr lang="en-US" sz="1900" dirty="0"/>
          </a:p>
        </p:txBody>
      </p:sp>
      <p:sp>
        <p:nvSpPr>
          <p:cNvPr id="16" name="Text 14"/>
          <p:cNvSpPr txBox="1"/>
          <p:nvPr/>
        </p:nvSpPr>
        <p:spPr>
          <a:xfrm>
            <a:off x="6452464" y="2313432"/>
            <a:ext cx="2101520" cy="548640"/>
          </a:xfrm>
          <a:prstGeom prst="rect">
            <a:avLst/>
          </a:prstGeom>
          <a:noFill/>
          <a:ln/>
        </p:spPr>
        <p:txBody>
          <a:bodyPr wrap="square" lIns="0" tIns="0" rIns="0" bIns="0" rtlCol="0" anchor="t"/>
          <a:lstStyle/>
          <a:p>
            <a:pPr marL="0" indent="0">
              <a:buNone/>
            </a:pPr>
            <a:r>
              <a:rPr lang="en-US" sz="1200" b="1" dirty="0">
                <a:solidFill>
                  <a:srgbClr val="176240"/>
                </a:solidFill>
                <a:latin typeface="Courier New" pitchFamily="34" charset="0"/>
                <a:ea typeface="Courier New" pitchFamily="34" charset="-122"/>
                <a:cs typeface="Courier New" pitchFamily="34" charset="-120"/>
              </a:rPr>
              <a:t>Android SDK</a:t>
            </a:r>
            <a:endParaRPr lang="en-US" sz="1200" dirty="0"/>
          </a:p>
        </p:txBody>
      </p:sp>
      <p:sp>
        <p:nvSpPr>
          <p:cNvPr id="17" name="Text 15"/>
          <p:cNvSpPr txBox="1"/>
          <p:nvPr/>
        </p:nvSpPr>
        <p:spPr>
          <a:xfrm>
            <a:off x="6452464" y="2953512"/>
            <a:ext cx="2101520" cy="1463040"/>
          </a:xfrm>
          <a:prstGeom prst="rect">
            <a:avLst/>
          </a:prstGeom>
          <a:noFill/>
          <a:ln/>
        </p:spPr>
        <p:txBody>
          <a:bodyPr wrap="square" lIns="0" tIns="0" rIns="0" bIns="0" rtlCol="0" anchor="t"/>
          <a:lstStyle/>
          <a:p>
            <a:pPr marL="0" indent="0">
              <a:lnSpc>
                <a:spcPct val="112000"/>
              </a:lnSpc>
              <a:buNone/>
            </a:pPr>
            <a:r>
              <a:rPr lang="en-US" sz="1200" dirty="0">
                <a:solidFill>
                  <a:srgbClr val="3A536B"/>
                </a:solidFill>
                <a:latin typeface="Calibri" pitchFamily="34" charset="0"/>
                <a:ea typeface="Calibri" pitchFamily="34" charset="-122"/>
                <a:cs typeface="Calibri" pitchFamily="34" charset="-120"/>
              </a:rPr>
              <a:t>Java syntax on Android's own runtime and libraries. Kotlin now shares the space, and interoperates with Java directly.</a:t>
            </a:r>
            <a:endParaRPr lang="en-US" sz="1200" dirty="0"/>
          </a:p>
        </p:txBody>
      </p:sp>
      <p:sp>
        <p:nvSpPr>
          <p:cNvPr id="18" name="Shape 16"/>
          <p:cNvSpPr/>
          <p:nvPr/>
        </p:nvSpPr>
        <p:spPr>
          <a:xfrm>
            <a:off x="9011183" y="1353312"/>
            <a:ext cx="2613584" cy="3291840"/>
          </a:xfrm>
          <a:prstGeom prst="roundRect">
            <a:avLst>
              <a:gd name="adj" fmla="val 3149"/>
            </a:avLst>
          </a:prstGeom>
          <a:solidFill>
            <a:srgbClr val="F1F5F9"/>
          </a:solidFill>
          <a:ln w="12700">
            <a:solidFill>
              <a:srgbClr val="F1F5F9"/>
            </a:solidFill>
            <a:prstDash val="solid"/>
          </a:ln>
        </p:spPr>
        <p:txBody>
          <a:bodyPr/>
          <a:lstStyle/>
          <a:p>
            <a:endParaRPr lang="en-US"/>
          </a:p>
        </p:txBody>
      </p:sp>
      <p:sp>
        <p:nvSpPr>
          <p:cNvPr id="19" name="Text 17"/>
          <p:cNvSpPr txBox="1"/>
          <p:nvPr/>
        </p:nvSpPr>
        <p:spPr>
          <a:xfrm>
            <a:off x="9267215" y="1627632"/>
            <a:ext cx="2101520" cy="640080"/>
          </a:xfrm>
          <a:prstGeom prst="rect">
            <a:avLst/>
          </a:prstGeom>
          <a:noFill/>
          <a:ln/>
        </p:spPr>
        <p:txBody>
          <a:bodyPr wrap="square" lIns="0" tIns="0" rIns="0" bIns="0" rtlCol="0" anchor="t"/>
          <a:lstStyle/>
          <a:p>
            <a:pPr marL="0" indent="0">
              <a:buNone/>
            </a:pPr>
            <a:r>
              <a:rPr lang="en-US" sz="1900" b="1" dirty="0">
                <a:solidFill>
                  <a:srgbClr val="0F2942"/>
                </a:solidFill>
                <a:latin typeface="Cambria" pitchFamily="34" charset="0"/>
                <a:ea typeface="Cambria" pitchFamily="34" charset="-122"/>
                <a:cs typeface="Cambria" pitchFamily="34" charset="-120"/>
              </a:rPr>
              <a:t>Data and cloud platforms</a:t>
            </a:r>
            <a:endParaRPr lang="en-US" sz="1900" dirty="0"/>
          </a:p>
        </p:txBody>
      </p:sp>
      <p:sp>
        <p:nvSpPr>
          <p:cNvPr id="20" name="Text 18"/>
          <p:cNvSpPr txBox="1"/>
          <p:nvPr/>
        </p:nvSpPr>
        <p:spPr>
          <a:xfrm>
            <a:off x="9267215" y="2313432"/>
            <a:ext cx="2101520" cy="548640"/>
          </a:xfrm>
          <a:prstGeom prst="rect">
            <a:avLst/>
          </a:prstGeom>
          <a:noFill/>
          <a:ln/>
        </p:spPr>
        <p:txBody>
          <a:bodyPr wrap="square" lIns="0" tIns="0" rIns="0" bIns="0" rtlCol="0" anchor="t"/>
          <a:lstStyle/>
          <a:p>
            <a:pPr marL="0" indent="0">
              <a:buNone/>
            </a:pPr>
            <a:r>
              <a:rPr lang="en-US" sz="1200" b="1" dirty="0">
                <a:solidFill>
                  <a:srgbClr val="1D4468"/>
                </a:solidFill>
                <a:latin typeface="Courier New" pitchFamily="34" charset="0"/>
                <a:ea typeface="Courier New" pitchFamily="34" charset="-122"/>
                <a:cs typeface="Courier New" pitchFamily="34" charset="-120"/>
              </a:rPr>
              <a:t>Kafka · Spark · Elasticsearch</a:t>
            </a:r>
            <a:endParaRPr lang="en-US" sz="1200" dirty="0"/>
          </a:p>
        </p:txBody>
      </p:sp>
      <p:sp>
        <p:nvSpPr>
          <p:cNvPr id="21" name="Text 19"/>
          <p:cNvSpPr txBox="1"/>
          <p:nvPr/>
        </p:nvSpPr>
        <p:spPr>
          <a:xfrm>
            <a:off x="9267215" y="2953512"/>
            <a:ext cx="2101520" cy="1463040"/>
          </a:xfrm>
          <a:prstGeom prst="rect">
            <a:avLst/>
          </a:prstGeom>
          <a:noFill/>
          <a:ln/>
        </p:spPr>
        <p:txBody>
          <a:bodyPr wrap="square" lIns="0" tIns="0" rIns="0" bIns="0" rtlCol="0" anchor="t"/>
          <a:lstStyle/>
          <a:p>
            <a:pPr marL="0" indent="0">
              <a:lnSpc>
                <a:spcPct val="112000"/>
              </a:lnSpc>
              <a:buNone/>
            </a:pPr>
            <a:r>
              <a:rPr lang="en-US" sz="1200" dirty="0">
                <a:solidFill>
                  <a:srgbClr val="3A536B"/>
                </a:solidFill>
                <a:latin typeface="Calibri" pitchFamily="34" charset="0"/>
                <a:ea typeface="Calibri" pitchFamily="34" charset="-122"/>
                <a:cs typeface="Calibri" pitchFamily="34" charset="-120"/>
              </a:rPr>
              <a:t>A great deal of the infrastructure the modern internet runs on is written in Java or another JVM language.</a:t>
            </a:r>
            <a:endParaRPr lang="en-US" sz="1200" dirty="0"/>
          </a:p>
        </p:txBody>
      </p:sp>
      <p:sp>
        <p:nvSpPr>
          <p:cNvPr id="22" name="Text 20"/>
          <p:cNvSpPr txBox="1"/>
          <p:nvPr/>
        </p:nvSpPr>
        <p:spPr>
          <a:xfrm>
            <a:off x="566928" y="4828032"/>
            <a:ext cx="11057839" cy="310896"/>
          </a:xfrm>
          <a:prstGeom prst="rect">
            <a:avLst/>
          </a:prstGeom>
          <a:noFill/>
          <a:ln/>
        </p:spPr>
        <p:txBody>
          <a:bodyPr wrap="square" lIns="0" tIns="0" rIns="0" bIns="0" rtlCol="0" anchor="ctr"/>
          <a:lstStyle/>
          <a:p>
            <a:pPr marL="0" indent="0" algn="ctr">
              <a:buNone/>
            </a:pPr>
            <a:r>
              <a:rPr lang="en-US" sz="1300" i="1" dirty="0">
                <a:solidFill>
                  <a:srgbClr val="4B6377"/>
                </a:solidFill>
                <a:latin typeface="Calibri" pitchFamily="34" charset="0"/>
                <a:ea typeface="Calibri" pitchFamily="34" charset="-122"/>
                <a:cs typeface="Calibri" pitchFamily="34" charset="-120"/>
              </a:rPr>
              <a:t>We finish the semester on 03.12 with JavaFX and JDBC — the first and second of these, in one session.</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WRAP-UP</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Six Things to Take Away from Today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52</a:t>
            </a:r>
            <a:endParaRPr lang="en-US" sz="900" dirty="0"/>
          </a:p>
        </p:txBody>
      </p:sp>
      <p:sp>
        <p:nvSpPr>
          <p:cNvPr id="6" name="Shape 4"/>
          <p:cNvSpPr/>
          <p:nvPr/>
        </p:nvSpPr>
        <p:spPr>
          <a:xfrm>
            <a:off x="566928" y="1261872"/>
            <a:ext cx="5391760" cy="1143000"/>
          </a:xfrm>
          <a:prstGeom prst="roundRect">
            <a:avLst>
              <a:gd name="adj" fmla="val 7200"/>
            </a:avLst>
          </a:prstGeom>
          <a:solidFill>
            <a:srgbClr val="F1F5F9"/>
          </a:solidFill>
          <a:ln w="12700">
            <a:solidFill>
              <a:srgbClr val="F1F5F9"/>
            </a:solidFill>
            <a:prstDash val="solid"/>
          </a:ln>
        </p:spPr>
        <p:txBody>
          <a:bodyPr/>
          <a:lstStyle/>
          <a:p>
            <a:endParaRPr lang="en-US"/>
          </a:p>
        </p:txBody>
      </p:sp>
      <p:sp>
        <p:nvSpPr>
          <p:cNvPr id="7" name="Shape 5"/>
          <p:cNvSpPr/>
          <p:nvPr/>
        </p:nvSpPr>
        <p:spPr>
          <a:xfrm>
            <a:off x="804672" y="1481328"/>
            <a:ext cx="402336" cy="402336"/>
          </a:xfrm>
          <a:prstGeom prst="ellipse">
            <a:avLst/>
          </a:prstGeom>
          <a:solidFill>
            <a:srgbClr val="C4560C"/>
          </a:solidFill>
          <a:ln w="12700">
            <a:solidFill>
              <a:srgbClr val="C4560C"/>
            </a:solidFill>
            <a:prstDash val="solid"/>
          </a:ln>
        </p:spPr>
        <p:txBody>
          <a:bodyPr/>
          <a:lstStyle/>
          <a:p>
            <a:endParaRPr lang="en-US"/>
          </a:p>
        </p:txBody>
      </p:sp>
      <p:sp>
        <p:nvSpPr>
          <p:cNvPr id="8" name="Text 6"/>
          <p:cNvSpPr txBox="1"/>
          <p:nvPr/>
        </p:nvSpPr>
        <p:spPr>
          <a:xfrm>
            <a:off x="804672" y="14813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71600" y="1408176"/>
            <a:ext cx="4340200" cy="292608"/>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Java compiles to bytecode, not machine code</a:t>
            </a:r>
            <a:endParaRPr lang="en-US" sz="1400" dirty="0"/>
          </a:p>
        </p:txBody>
      </p:sp>
      <p:sp>
        <p:nvSpPr>
          <p:cNvPr id="10" name="Text 8"/>
          <p:cNvSpPr txBox="1"/>
          <p:nvPr/>
        </p:nvSpPr>
        <p:spPr>
          <a:xfrm>
            <a:off x="1371600" y="1719072"/>
            <a:ext cx="4340200" cy="5943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javac produces a .class file; the JVM runs it and JIT-compiles the hot paths. That indirection is what makes “write once, run anywhere” true.</a:t>
            </a:r>
            <a:endParaRPr lang="en-US" sz="1150" dirty="0"/>
          </a:p>
        </p:txBody>
      </p:sp>
      <p:sp>
        <p:nvSpPr>
          <p:cNvPr id="11" name="Shape 9"/>
          <p:cNvSpPr/>
          <p:nvPr/>
        </p:nvSpPr>
        <p:spPr>
          <a:xfrm>
            <a:off x="6233008" y="1261872"/>
            <a:ext cx="5391760" cy="1143000"/>
          </a:xfrm>
          <a:prstGeom prst="roundRect">
            <a:avLst>
              <a:gd name="adj" fmla="val 7200"/>
            </a:avLst>
          </a:prstGeom>
          <a:solidFill>
            <a:srgbClr val="FFFFFF"/>
          </a:solidFill>
          <a:ln w="12700">
            <a:solidFill>
              <a:srgbClr val="D3DEE7"/>
            </a:solidFill>
            <a:prstDash val="solid"/>
          </a:ln>
        </p:spPr>
        <p:txBody>
          <a:bodyPr/>
          <a:lstStyle/>
          <a:p>
            <a:endParaRPr lang="en-US"/>
          </a:p>
        </p:txBody>
      </p:sp>
      <p:sp>
        <p:nvSpPr>
          <p:cNvPr id="12" name="Shape 10"/>
          <p:cNvSpPr/>
          <p:nvPr/>
        </p:nvSpPr>
        <p:spPr>
          <a:xfrm>
            <a:off x="6470752" y="1481328"/>
            <a:ext cx="402336" cy="402336"/>
          </a:xfrm>
          <a:prstGeom prst="ellipse">
            <a:avLst/>
          </a:prstGeom>
          <a:solidFill>
            <a:srgbClr val="C4560C"/>
          </a:solidFill>
          <a:ln w="12700">
            <a:solidFill>
              <a:srgbClr val="C4560C"/>
            </a:solidFill>
            <a:prstDash val="solid"/>
          </a:ln>
        </p:spPr>
        <p:txBody>
          <a:bodyPr/>
          <a:lstStyle/>
          <a:p>
            <a:endParaRPr lang="en-US"/>
          </a:p>
        </p:txBody>
      </p:sp>
      <p:sp>
        <p:nvSpPr>
          <p:cNvPr id="13" name="Text 11"/>
          <p:cNvSpPr txBox="1"/>
          <p:nvPr/>
        </p:nvSpPr>
        <p:spPr>
          <a:xfrm>
            <a:off x="6470752" y="148132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037680" y="1408176"/>
            <a:ext cx="4340200" cy="292608"/>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The JDK is what you install</a:t>
            </a:r>
            <a:endParaRPr lang="en-US" sz="1400" dirty="0"/>
          </a:p>
        </p:txBody>
      </p:sp>
      <p:sp>
        <p:nvSpPr>
          <p:cNvPr id="15" name="Text 13"/>
          <p:cNvSpPr txBox="1"/>
          <p:nvPr/>
        </p:nvSpPr>
        <p:spPr>
          <a:xfrm>
            <a:off x="7037680" y="1719072"/>
            <a:ext cx="4340200" cy="5943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JDK = JRE (library + JVM) + development tools. We use JDK 25, the current LTS release.</a:t>
            </a:r>
            <a:endParaRPr lang="en-US" sz="1150" dirty="0"/>
          </a:p>
        </p:txBody>
      </p:sp>
      <p:sp>
        <p:nvSpPr>
          <p:cNvPr id="16" name="Shape 14"/>
          <p:cNvSpPr/>
          <p:nvPr/>
        </p:nvSpPr>
        <p:spPr>
          <a:xfrm>
            <a:off x="566928" y="2542032"/>
            <a:ext cx="5391760" cy="1143000"/>
          </a:xfrm>
          <a:prstGeom prst="roundRect">
            <a:avLst>
              <a:gd name="adj" fmla="val 7200"/>
            </a:avLst>
          </a:prstGeom>
          <a:solidFill>
            <a:srgbClr val="F1F5F9"/>
          </a:solidFill>
          <a:ln w="12700">
            <a:solidFill>
              <a:srgbClr val="F1F5F9"/>
            </a:solidFill>
            <a:prstDash val="solid"/>
          </a:ln>
        </p:spPr>
        <p:txBody>
          <a:bodyPr/>
          <a:lstStyle/>
          <a:p>
            <a:endParaRPr lang="en-US"/>
          </a:p>
        </p:txBody>
      </p:sp>
      <p:sp>
        <p:nvSpPr>
          <p:cNvPr id="17" name="Shape 15"/>
          <p:cNvSpPr/>
          <p:nvPr/>
        </p:nvSpPr>
        <p:spPr>
          <a:xfrm>
            <a:off x="804672" y="2761488"/>
            <a:ext cx="402336" cy="402336"/>
          </a:xfrm>
          <a:prstGeom prst="ellipse">
            <a:avLst/>
          </a:prstGeom>
          <a:solidFill>
            <a:srgbClr val="C4560C"/>
          </a:solidFill>
          <a:ln w="12700">
            <a:solidFill>
              <a:srgbClr val="C4560C"/>
            </a:solidFill>
            <a:prstDash val="solid"/>
          </a:ln>
        </p:spPr>
        <p:txBody>
          <a:bodyPr/>
          <a:lstStyle/>
          <a:p>
            <a:endParaRPr lang="en-US"/>
          </a:p>
        </p:txBody>
      </p:sp>
      <p:sp>
        <p:nvSpPr>
          <p:cNvPr id="18" name="Text 16"/>
          <p:cNvSpPr txBox="1"/>
          <p:nvPr/>
        </p:nvSpPr>
        <p:spPr>
          <a:xfrm>
            <a:off x="804672" y="27614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71600" y="2688336"/>
            <a:ext cx="4340200" cy="292608"/>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Every program starts in main</a:t>
            </a:r>
            <a:endParaRPr lang="en-US" sz="1400" dirty="0"/>
          </a:p>
        </p:txBody>
      </p:sp>
      <p:sp>
        <p:nvSpPr>
          <p:cNvPr id="20" name="Text 18"/>
          <p:cNvSpPr txBox="1"/>
          <p:nvPr/>
        </p:nvSpPr>
        <p:spPr>
          <a:xfrm>
            <a:off x="1371600" y="2999232"/>
            <a:ext cx="4340200" cy="5943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A class, a main method, and statements ending in semicolons. Case-sensitive throughout, and the file name must match the public class.</a:t>
            </a:r>
            <a:endParaRPr lang="en-US" sz="1150" dirty="0"/>
          </a:p>
        </p:txBody>
      </p:sp>
      <p:sp>
        <p:nvSpPr>
          <p:cNvPr id="21" name="Shape 19"/>
          <p:cNvSpPr/>
          <p:nvPr/>
        </p:nvSpPr>
        <p:spPr>
          <a:xfrm>
            <a:off x="6233008" y="2542032"/>
            <a:ext cx="5391760" cy="1143000"/>
          </a:xfrm>
          <a:prstGeom prst="roundRect">
            <a:avLst>
              <a:gd name="adj" fmla="val 7200"/>
            </a:avLst>
          </a:prstGeom>
          <a:solidFill>
            <a:srgbClr val="FFFFFF"/>
          </a:solidFill>
          <a:ln w="12700">
            <a:solidFill>
              <a:srgbClr val="D3DEE7"/>
            </a:solidFill>
            <a:prstDash val="solid"/>
          </a:ln>
        </p:spPr>
        <p:txBody>
          <a:bodyPr/>
          <a:lstStyle/>
          <a:p>
            <a:endParaRPr lang="en-US"/>
          </a:p>
        </p:txBody>
      </p:sp>
      <p:sp>
        <p:nvSpPr>
          <p:cNvPr id="22" name="Shape 20"/>
          <p:cNvSpPr/>
          <p:nvPr/>
        </p:nvSpPr>
        <p:spPr>
          <a:xfrm>
            <a:off x="6470752" y="2761488"/>
            <a:ext cx="402336" cy="402336"/>
          </a:xfrm>
          <a:prstGeom prst="ellipse">
            <a:avLst/>
          </a:prstGeom>
          <a:solidFill>
            <a:srgbClr val="C4560C"/>
          </a:solidFill>
          <a:ln w="12700">
            <a:solidFill>
              <a:srgbClr val="C4560C"/>
            </a:solidFill>
            <a:prstDash val="solid"/>
          </a:ln>
        </p:spPr>
        <p:txBody>
          <a:bodyPr/>
          <a:lstStyle/>
          <a:p>
            <a:endParaRPr lang="en-US"/>
          </a:p>
        </p:txBody>
      </p:sp>
      <p:sp>
        <p:nvSpPr>
          <p:cNvPr id="23" name="Text 21"/>
          <p:cNvSpPr txBox="1"/>
          <p:nvPr/>
        </p:nvSpPr>
        <p:spPr>
          <a:xfrm>
            <a:off x="6470752" y="27614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037680" y="2688336"/>
            <a:ext cx="4340200" cy="292608"/>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Style is part of the work</a:t>
            </a:r>
            <a:endParaRPr lang="en-US" sz="1400" dirty="0"/>
          </a:p>
        </p:txBody>
      </p:sp>
      <p:sp>
        <p:nvSpPr>
          <p:cNvPr id="25" name="Text 23"/>
          <p:cNvSpPr txBox="1"/>
          <p:nvPr/>
        </p:nvSpPr>
        <p:spPr>
          <a:xfrm>
            <a:off x="7037680" y="2999232"/>
            <a:ext cx="4340200" cy="5943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Meaningful names, consistent indentation, end-of-line braces, and comments that explain why. It is assessed.</a:t>
            </a:r>
            <a:endParaRPr lang="en-US" sz="1150" dirty="0"/>
          </a:p>
        </p:txBody>
      </p:sp>
      <p:sp>
        <p:nvSpPr>
          <p:cNvPr id="26" name="Shape 24"/>
          <p:cNvSpPr/>
          <p:nvPr/>
        </p:nvSpPr>
        <p:spPr>
          <a:xfrm>
            <a:off x="566928" y="3822192"/>
            <a:ext cx="5391760" cy="1143000"/>
          </a:xfrm>
          <a:prstGeom prst="roundRect">
            <a:avLst>
              <a:gd name="adj" fmla="val 7200"/>
            </a:avLst>
          </a:prstGeom>
          <a:solidFill>
            <a:srgbClr val="F1F5F9"/>
          </a:solidFill>
          <a:ln w="12700">
            <a:solidFill>
              <a:srgbClr val="F1F5F9"/>
            </a:solidFill>
            <a:prstDash val="solid"/>
          </a:ln>
        </p:spPr>
        <p:txBody>
          <a:bodyPr/>
          <a:lstStyle/>
          <a:p>
            <a:endParaRPr lang="en-US"/>
          </a:p>
        </p:txBody>
      </p:sp>
      <p:sp>
        <p:nvSpPr>
          <p:cNvPr id="27" name="Shape 25"/>
          <p:cNvSpPr/>
          <p:nvPr/>
        </p:nvSpPr>
        <p:spPr>
          <a:xfrm>
            <a:off x="804672" y="4041648"/>
            <a:ext cx="402336" cy="402336"/>
          </a:xfrm>
          <a:prstGeom prst="ellipse">
            <a:avLst/>
          </a:prstGeom>
          <a:solidFill>
            <a:srgbClr val="C4560C"/>
          </a:solidFill>
          <a:ln w="12700">
            <a:solidFill>
              <a:srgbClr val="C4560C"/>
            </a:solidFill>
            <a:prstDash val="solid"/>
          </a:ln>
        </p:spPr>
        <p:txBody>
          <a:bodyPr/>
          <a:lstStyle/>
          <a:p>
            <a:endParaRPr lang="en-US"/>
          </a:p>
        </p:txBody>
      </p:sp>
      <p:sp>
        <p:nvSpPr>
          <p:cNvPr id="28" name="Text 26"/>
          <p:cNvSpPr txBox="1"/>
          <p:nvPr/>
        </p:nvSpPr>
        <p:spPr>
          <a:xfrm>
            <a:off x="804672" y="404164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371600" y="3968496"/>
            <a:ext cx="4340200" cy="292608"/>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Three kinds of error, three kinds of pain</a:t>
            </a:r>
            <a:endParaRPr lang="en-US" sz="1400" dirty="0"/>
          </a:p>
        </p:txBody>
      </p:sp>
      <p:sp>
        <p:nvSpPr>
          <p:cNvPr id="30" name="Text 28"/>
          <p:cNvSpPr txBox="1"/>
          <p:nvPr/>
        </p:nvSpPr>
        <p:spPr>
          <a:xfrm>
            <a:off x="1371600" y="4279392"/>
            <a:ext cx="4340200" cy="5943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The compiler catches syntax errors, the JVM reports runtime errors, and only you catch logic errors.</a:t>
            </a:r>
            <a:endParaRPr lang="en-US" sz="1150" dirty="0"/>
          </a:p>
        </p:txBody>
      </p:sp>
      <p:sp>
        <p:nvSpPr>
          <p:cNvPr id="31" name="Shape 29"/>
          <p:cNvSpPr/>
          <p:nvPr/>
        </p:nvSpPr>
        <p:spPr>
          <a:xfrm>
            <a:off x="6233008" y="3822192"/>
            <a:ext cx="5391760" cy="1143000"/>
          </a:xfrm>
          <a:prstGeom prst="roundRect">
            <a:avLst>
              <a:gd name="adj" fmla="val 7200"/>
            </a:avLst>
          </a:prstGeom>
          <a:solidFill>
            <a:srgbClr val="FFFFFF"/>
          </a:solidFill>
          <a:ln w="12700">
            <a:solidFill>
              <a:srgbClr val="D3DEE7"/>
            </a:solidFill>
            <a:prstDash val="solid"/>
          </a:ln>
        </p:spPr>
        <p:txBody>
          <a:bodyPr/>
          <a:lstStyle/>
          <a:p>
            <a:endParaRPr lang="en-US"/>
          </a:p>
        </p:txBody>
      </p:sp>
      <p:sp>
        <p:nvSpPr>
          <p:cNvPr id="32" name="Shape 30"/>
          <p:cNvSpPr/>
          <p:nvPr/>
        </p:nvSpPr>
        <p:spPr>
          <a:xfrm>
            <a:off x="6470752" y="4041648"/>
            <a:ext cx="402336" cy="402336"/>
          </a:xfrm>
          <a:prstGeom prst="ellipse">
            <a:avLst/>
          </a:prstGeom>
          <a:solidFill>
            <a:srgbClr val="C4560C"/>
          </a:solidFill>
          <a:ln w="12700">
            <a:solidFill>
              <a:srgbClr val="C4560C"/>
            </a:solidFill>
            <a:prstDash val="solid"/>
          </a:ln>
        </p:spPr>
        <p:txBody>
          <a:bodyPr/>
          <a:lstStyle/>
          <a:p>
            <a:endParaRPr lang="en-US"/>
          </a:p>
        </p:txBody>
      </p:sp>
      <p:sp>
        <p:nvSpPr>
          <p:cNvPr id="33" name="Text 31"/>
          <p:cNvSpPr txBox="1"/>
          <p:nvPr/>
        </p:nvSpPr>
        <p:spPr>
          <a:xfrm>
            <a:off x="6470752" y="404164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7037680" y="3968496"/>
            <a:ext cx="4340200" cy="292608"/>
          </a:xfrm>
          <a:prstGeom prst="rect">
            <a:avLst/>
          </a:prstGeom>
          <a:noFill/>
          <a:ln/>
        </p:spPr>
        <p:txBody>
          <a:bodyPr wrap="square" lIns="0" tIns="0" rIns="0" bIns="0" rtlCol="0" anchor="ctr"/>
          <a:lstStyle/>
          <a:p>
            <a:pPr marL="0" indent="0">
              <a:buNone/>
            </a:pPr>
            <a:r>
              <a:rPr lang="en-US" sz="1400" b="1" dirty="0">
                <a:solidFill>
                  <a:srgbClr val="0F2942"/>
                </a:solidFill>
                <a:latin typeface="Calibri" pitchFamily="34" charset="0"/>
                <a:ea typeface="Calibri" pitchFamily="34" charset="-122"/>
                <a:cs typeface="Calibri" pitchFamily="34" charset="-120"/>
              </a:rPr>
              <a:t>Integer division truncates</a:t>
            </a:r>
            <a:endParaRPr lang="en-US" sz="1400" dirty="0"/>
          </a:p>
        </p:txBody>
      </p:sp>
      <p:sp>
        <p:nvSpPr>
          <p:cNvPr id="35" name="Text 33"/>
          <p:cNvSpPr txBox="1"/>
          <p:nvPr/>
        </p:nvSpPr>
        <p:spPr>
          <a:xfrm>
            <a:off x="7037680" y="4279392"/>
            <a:ext cx="4340200" cy="594360"/>
          </a:xfrm>
          <a:prstGeom prst="rect">
            <a:avLst/>
          </a:prstGeom>
          <a:noFill/>
          <a:ln/>
        </p:spPr>
        <p:txBody>
          <a:bodyPr wrap="square" lIns="0" tIns="0" rIns="0" bIns="0" rtlCol="0" anchor="t"/>
          <a:lstStyle/>
          <a:p>
            <a:pPr marL="0" indent="0">
              <a:lnSpc>
                <a:spcPct val="110000"/>
              </a:lnSpc>
              <a:buNone/>
            </a:pPr>
            <a:r>
              <a:rPr lang="en-US" sz="1150" dirty="0">
                <a:solidFill>
                  <a:srgbClr val="3A536B"/>
                </a:solidFill>
                <a:latin typeface="Calibri" pitchFamily="34" charset="0"/>
                <a:ea typeface="Calibri" pitchFamily="34" charset="-122"/>
                <a:cs typeface="Calibri" pitchFamily="34" charset="-120"/>
              </a:rPr>
              <a:t>9 / 5 is 1, not 1.8. Remember it now and it will save you marks in Week 1 and in the final exam.</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marL="0" indent="0">
              <a:buNone/>
            </a:pPr>
            <a:r>
              <a:rPr lang="en-US" sz="1000" b="1" kern="0" spc="160" dirty="0">
                <a:solidFill>
                  <a:srgbClr val="9A430A"/>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marL="0" indent="0">
              <a:buNone/>
            </a:pPr>
            <a:r>
              <a:rPr lang="en-US" sz="3000" b="1" dirty="0">
                <a:solidFill>
                  <a:srgbClr val="0F2942"/>
                </a:solidFill>
                <a:latin typeface="Cambria" pitchFamily="34" charset="0"/>
                <a:ea typeface="Cambria" pitchFamily="34" charset="-122"/>
                <a:cs typeface="Cambria" pitchFamily="34" charset="-120"/>
              </a:rPr>
              <a:t>Before Thursday, 10 September</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marL="0" indent="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marL="0" indent="0" algn="r">
              <a:buNone/>
            </a:pPr>
            <a:r>
              <a:rPr lang="en-US" sz="900" dirty="0">
                <a:solidFill>
                  <a:srgbClr val="4B6377"/>
                </a:solidFill>
                <a:latin typeface="Calibri" pitchFamily="34" charset="0"/>
                <a:ea typeface="Calibri" pitchFamily="34" charset="-122"/>
                <a:cs typeface="Calibri" pitchFamily="34" charset="-120"/>
              </a:rPr>
              <a:t>53</a:t>
            </a:r>
            <a:endParaRPr lang="en-US" sz="900" dirty="0"/>
          </a:p>
        </p:txBody>
      </p:sp>
      <p:sp>
        <p:nvSpPr>
          <p:cNvPr id="6" name="Shape 4"/>
          <p:cNvSpPr/>
          <p:nvPr/>
        </p:nvSpPr>
        <p:spPr>
          <a:xfrm>
            <a:off x="566928" y="1353312"/>
            <a:ext cx="5346040" cy="868680"/>
          </a:xfrm>
          <a:prstGeom prst="roundRect">
            <a:avLst>
              <a:gd name="adj" fmla="val 9474"/>
            </a:avLst>
          </a:prstGeom>
          <a:solidFill>
            <a:srgbClr val="F1F5F9"/>
          </a:solidFill>
          <a:ln w="12700">
            <a:solidFill>
              <a:srgbClr val="F1F5F9"/>
            </a:solidFill>
            <a:prstDash val="solid"/>
          </a:ln>
        </p:spPr>
        <p:txBody>
          <a:bodyPr/>
          <a:lstStyle/>
          <a:p>
            <a:endParaRPr lang="en-US"/>
          </a:p>
        </p:txBody>
      </p:sp>
      <p:sp>
        <p:nvSpPr>
          <p:cNvPr id="7" name="Shape 5"/>
          <p:cNvSpPr/>
          <p:nvPr/>
        </p:nvSpPr>
        <p:spPr>
          <a:xfrm>
            <a:off x="804672" y="1591056"/>
            <a:ext cx="384048" cy="384048"/>
          </a:xfrm>
          <a:prstGeom prst="ellipse">
            <a:avLst/>
          </a:prstGeom>
          <a:solidFill>
            <a:srgbClr val="176240"/>
          </a:solidFill>
          <a:ln w="12700">
            <a:solidFill>
              <a:srgbClr val="176240"/>
            </a:solidFill>
            <a:prstDash val="solid"/>
          </a:ln>
        </p:spPr>
        <p:txBody>
          <a:bodyPr/>
          <a:lstStyle/>
          <a:p>
            <a:endParaRPr lang="en-US"/>
          </a:p>
        </p:txBody>
      </p:sp>
      <p:sp>
        <p:nvSpPr>
          <p:cNvPr id="8" name="Text 6"/>
          <p:cNvSpPr txBox="1"/>
          <p:nvPr/>
        </p:nvSpPr>
        <p:spPr>
          <a:xfrm>
            <a:off x="804672" y="159105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353312" y="1444752"/>
            <a:ext cx="4321912" cy="274320"/>
          </a:xfrm>
          <a:prstGeom prst="rect">
            <a:avLst/>
          </a:prstGeom>
          <a:noFill/>
          <a:ln/>
        </p:spPr>
        <p:txBody>
          <a:bodyPr wrap="square" lIns="0" tIns="0" rIns="0" bIns="0" rtlCol="0" anchor="ctr"/>
          <a:lstStyle/>
          <a:p>
            <a:pPr marL="0" indent="0">
              <a:buNone/>
            </a:pPr>
            <a:r>
              <a:rPr lang="en-US" sz="1350" b="1" dirty="0">
                <a:solidFill>
                  <a:srgbClr val="0F2942"/>
                </a:solidFill>
                <a:latin typeface="Calibri" pitchFamily="34" charset="0"/>
                <a:ea typeface="Calibri" pitchFamily="34" charset="-122"/>
                <a:cs typeface="Calibri" pitchFamily="34" charset="-120"/>
              </a:rPr>
              <a:t>Install JDK 25 (LTS)</a:t>
            </a:r>
            <a:endParaRPr lang="en-US" sz="1350" dirty="0"/>
          </a:p>
        </p:txBody>
      </p:sp>
      <p:sp>
        <p:nvSpPr>
          <p:cNvPr id="10" name="Text 8"/>
          <p:cNvSpPr txBox="1"/>
          <p:nvPr/>
        </p:nvSpPr>
        <p:spPr>
          <a:xfrm>
            <a:off x="1353312" y="1737360"/>
            <a:ext cx="4321912" cy="420624"/>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Then open a terminal and check that javac -version and java -version both answer.</a:t>
            </a:r>
            <a:endParaRPr lang="en-US" sz="1150" dirty="0"/>
          </a:p>
        </p:txBody>
      </p:sp>
      <p:sp>
        <p:nvSpPr>
          <p:cNvPr id="11" name="Shape 9"/>
          <p:cNvSpPr/>
          <p:nvPr/>
        </p:nvSpPr>
        <p:spPr>
          <a:xfrm>
            <a:off x="566928" y="2295144"/>
            <a:ext cx="5346040" cy="868680"/>
          </a:xfrm>
          <a:prstGeom prst="roundRect">
            <a:avLst>
              <a:gd name="adj" fmla="val 9474"/>
            </a:avLst>
          </a:prstGeom>
          <a:solidFill>
            <a:srgbClr val="FFFFFF"/>
          </a:solidFill>
          <a:ln w="12700">
            <a:solidFill>
              <a:srgbClr val="D3DEE7"/>
            </a:solidFill>
            <a:prstDash val="solid"/>
          </a:ln>
        </p:spPr>
        <p:txBody>
          <a:bodyPr/>
          <a:lstStyle/>
          <a:p>
            <a:endParaRPr lang="en-US"/>
          </a:p>
        </p:txBody>
      </p:sp>
      <p:sp>
        <p:nvSpPr>
          <p:cNvPr id="12" name="Shape 10"/>
          <p:cNvSpPr/>
          <p:nvPr/>
        </p:nvSpPr>
        <p:spPr>
          <a:xfrm>
            <a:off x="804672" y="2532888"/>
            <a:ext cx="384048" cy="384048"/>
          </a:xfrm>
          <a:prstGeom prst="ellipse">
            <a:avLst/>
          </a:prstGeom>
          <a:solidFill>
            <a:srgbClr val="176240"/>
          </a:solidFill>
          <a:ln w="12700">
            <a:solidFill>
              <a:srgbClr val="176240"/>
            </a:solidFill>
            <a:prstDash val="solid"/>
          </a:ln>
        </p:spPr>
        <p:txBody>
          <a:bodyPr/>
          <a:lstStyle/>
          <a:p>
            <a:endParaRPr lang="en-US"/>
          </a:p>
        </p:txBody>
      </p:sp>
      <p:sp>
        <p:nvSpPr>
          <p:cNvPr id="13" name="Text 11"/>
          <p:cNvSpPr txBox="1"/>
          <p:nvPr/>
        </p:nvSpPr>
        <p:spPr>
          <a:xfrm>
            <a:off x="804672" y="25328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353312" y="2386584"/>
            <a:ext cx="4321912" cy="274320"/>
          </a:xfrm>
          <a:prstGeom prst="rect">
            <a:avLst/>
          </a:prstGeom>
          <a:noFill/>
          <a:ln/>
        </p:spPr>
        <p:txBody>
          <a:bodyPr wrap="square" lIns="0" tIns="0" rIns="0" bIns="0" rtlCol="0" anchor="ctr"/>
          <a:lstStyle/>
          <a:p>
            <a:pPr marL="0" indent="0">
              <a:buNone/>
            </a:pPr>
            <a:r>
              <a:rPr lang="en-US" sz="1350" b="1" dirty="0">
                <a:solidFill>
                  <a:srgbClr val="0F2942"/>
                </a:solidFill>
                <a:latin typeface="Calibri" pitchFamily="34" charset="0"/>
                <a:ea typeface="Calibri" pitchFamily="34" charset="-122"/>
                <a:cs typeface="Calibri" pitchFamily="34" charset="-120"/>
              </a:rPr>
              <a:t>Install IntelliJ IDEA</a:t>
            </a:r>
            <a:endParaRPr lang="en-US" sz="1350" dirty="0"/>
          </a:p>
        </p:txBody>
      </p:sp>
      <p:sp>
        <p:nvSpPr>
          <p:cNvPr id="15" name="Text 13"/>
          <p:cNvSpPr txBox="1"/>
          <p:nvPr/>
        </p:nvSpPr>
        <p:spPr>
          <a:xfrm>
            <a:off x="1353312" y="2679192"/>
            <a:ext cx="4321912" cy="420624"/>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Apply for the JetBrains Student Pack with your AUBG email for a free Ultimate licence.</a:t>
            </a:r>
            <a:endParaRPr lang="en-US" sz="1150" dirty="0"/>
          </a:p>
        </p:txBody>
      </p:sp>
      <p:sp>
        <p:nvSpPr>
          <p:cNvPr id="16" name="Shape 14"/>
          <p:cNvSpPr/>
          <p:nvPr/>
        </p:nvSpPr>
        <p:spPr>
          <a:xfrm>
            <a:off x="566928" y="3236976"/>
            <a:ext cx="5346040" cy="868680"/>
          </a:xfrm>
          <a:prstGeom prst="roundRect">
            <a:avLst>
              <a:gd name="adj" fmla="val 9474"/>
            </a:avLst>
          </a:prstGeom>
          <a:solidFill>
            <a:srgbClr val="F1F5F9"/>
          </a:solidFill>
          <a:ln w="12700">
            <a:solidFill>
              <a:srgbClr val="F1F5F9"/>
            </a:solidFill>
            <a:prstDash val="solid"/>
          </a:ln>
        </p:spPr>
        <p:txBody>
          <a:bodyPr/>
          <a:lstStyle/>
          <a:p>
            <a:endParaRPr lang="en-US"/>
          </a:p>
        </p:txBody>
      </p:sp>
      <p:sp>
        <p:nvSpPr>
          <p:cNvPr id="17" name="Shape 15"/>
          <p:cNvSpPr/>
          <p:nvPr/>
        </p:nvSpPr>
        <p:spPr>
          <a:xfrm>
            <a:off x="804672" y="3474720"/>
            <a:ext cx="384048" cy="384048"/>
          </a:xfrm>
          <a:prstGeom prst="ellipse">
            <a:avLst/>
          </a:prstGeom>
          <a:solidFill>
            <a:srgbClr val="176240"/>
          </a:solidFill>
          <a:ln w="12700">
            <a:solidFill>
              <a:srgbClr val="176240"/>
            </a:solidFill>
            <a:prstDash val="solid"/>
          </a:ln>
        </p:spPr>
        <p:txBody>
          <a:bodyPr/>
          <a:lstStyle/>
          <a:p>
            <a:endParaRPr lang="en-US"/>
          </a:p>
        </p:txBody>
      </p:sp>
      <p:sp>
        <p:nvSpPr>
          <p:cNvPr id="18" name="Text 16"/>
          <p:cNvSpPr txBox="1"/>
          <p:nvPr/>
        </p:nvSpPr>
        <p:spPr>
          <a:xfrm>
            <a:off x="804672" y="3474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353312" y="3328416"/>
            <a:ext cx="4321912" cy="274320"/>
          </a:xfrm>
          <a:prstGeom prst="rect">
            <a:avLst/>
          </a:prstGeom>
          <a:noFill/>
          <a:ln/>
        </p:spPr>
        <p:txBody>
          <a:bodyPr wrap="square" lIns="0" tIns="0" rIns="0" bIns="0" rtlCol="0" anchor="ctr"/>
          <a:lstStyle/>
          <a:p>
            <a:pPr marL="0" indent="0">
              <a:buNone/>
            </a:pPr>
            <a:r>
              <a:rPr lang="en-US" sz="1350" b="1" dirty="0">
                <a:solidFill>
                  <a:srgbClr val="0F2942"/>
                </a:solidFill>
                <a:latin typeface="Calibri" pitchFamily="34" charset="0"/>
                <a:ea typeface="Calibri" pitchFamily="34" charset="-122"/>
                <a:cs typeface="Calibri" pitchFamily="34" charset="-120"/>
              </a:rPr>
              <a:t>Type and run Welcome.java</a:t>
            </a:r>
            <a:endParaRPr lang="en-US" sz="1350" dirty="0"/>
          </a:p>
        </p:txBody>
      </p:sp>
      <p:sp>
        <p:nvSpPr>
          <p:cNvPr id="20" name="Text 18"/>
          <p:cNvSpPr txBox="1"/>
          <p:nvPr/>
        </p:nvSpPr>
        <p:spPr>
          <a:xfrm>
            <a:off x="1353312" y="3621024"/>
            <a:ext cx="4321912" cy="420624"/>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Type it, do not paste it. Then break it deliberately: remove a semicolon and read the error.</a:t>
            </a:r>
            <a:endParaRPr lang="en-US" sz="1150" dirty="0"/>
          </a:p>
        </p:txBody>
      </p:sp>
      <p:sp>
        <p:nvSpPr>
          <p:cNvPr id="21" name="Shape 19"/>
          <p:cNvSpPr/>
          <p:nvPr/>
        </p:nvSpPr>
        <p:spPr>
          <a:xfrm>
            <a:off x="566928" y="4178808"/>
            <a:ext cx="5346040" cy="868680"/>
          </a:xfrm>
          <a:prstGeom prst="roundRect">
            <a:avLst>
              <a:gd name="adj" fmla="val 9474"/>
            </a:avLst>
          </a:prstGeom>
          <a:solidFill>
            <a:srgbClr val="FFFFFF"/>
          </a:solidFill>
          <a:ln w="12700">
            <a:solidFill>
              <a:srgbClr val="D3DEE7"/>
            </a:solidFill>
            <a:prstDash val="solid"/>
          </a:ln>
        </p:spPr>
        <p:txBody>
          <a:bodyPr/>
          <a:lstStyle/>
          <a:p>
            <a:endParaRPr lang="en-US"/>
          </a:p>
        </p:txBody>
      </p:sp>
      <p:sp>
        <p:nvSpPr>
          <p:cNvPr id="22" name="Shape 20"/>
          <p:cNvSpPr/>
          <p:nvPr/>
        </p:nvSpPr>
        <p:spPr>
          <a:xfrm>
            <a:off x="804672" y="4416552"/>
            <a:ext cx="384048" cy="384048"/>
          </a:xfrm>
          <a:prstGeom prst="ellipse">
            <a:avLst/>
          </a:prstGeom>
          <a:solidFill>
            <a:srgbClr val="176240"/>
          </a:solidFill>
          <a:ln w="12700">
            <a:solidFill>
              <a:srgbClr val="176240"/>
            </a:solidFill>
            <a:prstDash val="solid"/>
          </a:ln>
        </p:spPr>
        <p:txBody>
          <a:bodyPr/>
          <a:lstStyle/>
          <a:p>
            <a:endParaRPr lang="en-US"/>
          </a:p>
        </p:txBody>
      </p:sp>
      <p:sp>
        <p:nvSpPr>
          <p:cNvPr id="23" name="Text 21"/>
          <p:cNvSpPr txBox="1"/>
          <p:nvPr/>
        </p:nvSpPr>
        <p:spPr>
          <a:xfrm>
            <a:off x="804672" y="44165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1353312" y="4270248"/>
            <a:ext cx="4321912" cy="274320"/>
          </a:xfrm>
          <a:prstGeom prst="rect">
            <a:avLst/>
          </a:prstGeom>
          <a:noFill/>
          <a:ln/>
        </p:spPr>
        <p:txBody>
          <a:bodyPr wrap="square" lIns="0" tIns="0" rIns="0" bIns="0" rtlCol="0" anchor="ctr"/>
          <a:lstStyle/>
          <a:p>
            <a:pPr marL="0" indent="0">
              <a:buNone/>
            </a:pPr>
            <a:r>
              <a:rPr lang="en-US" sz="1350" b="1" dirty="0">
                <a:solidFill>
                  <a:srgbClr val="0F2942"/>
                </a:solidFill>
                <a:latin typeface="Calibri" pitchFamily="34" charset="0"/>
                <a:ea typeface="Calibri" pitchFamily="34" charset="-122"/>
                <a:cs typeface="Calibri" pitchFamily="34" charset="-120"/>
              </a:rPr>
              <a:t>Read Liang, Chapter 1</a:t>
            </a:r>
            <a:endParaRPr lang="en-US" sz="1350" dirty="0"/>
          </a:p>
        </p:txBody>
      </p:sp>
      <p:sp>
        <p:nvSpPr>
          <p:cNvPr id="25" name="Text 23"/>
          <p:cNvSpPr txBox="1"/>
          <p:nvPr/>
        </p:nvSpPr>
        <p:spPr>
          <a:xfrm>
            <a:off x="1353312" y="4562856"/>
            <a:ext cx="4321912" cy="420624"/>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Sections 1.1 to 1.11. The chapter review questions are good quiz preparation.</a:t>
            </a:r>
            <a:endParaRPr lang="en-US" sz="1150" dirty="0"/>
          </a:p>
        </p:txBody>
      </p:sp>
      <p:sp>
        <p:nvSpPr>
          <p:cNvPr id="26" name="Shape 24"/>
          <p:cNvSpPr/>
          <p:nvPr/>
        </p:nvSpPr>
        <p:spPr>
          <a:xfrm>
            <a:off x="566928" y="5120640"/>
            <a:ext cx="5346040" cy="868680"/>
          </a:xfrm>
          <a:prstGeom prst="roundRect">
            <a:avLst>
              <a:gd name="adj" fmla="val 9474"/>
            </a:avLst>
          </a:prstGeom>
          <a:solidFill>
            <a:srgbClr val="F1F5F9"/>
          </a:solidFill>
          <a:ln w="12700">
            <a:solidFill>
              <a:srgbClr val="F1F5F9"/>
            </a:solidFill>
            <a:prstDash val="solid"/>
          </a:ln>
        </p:spPr>
        <p:txBody>
          <a:bodyPr/>
          <a:lstStyle/>
          <a:p>
            <a:endParaRPr lang="en-US"/>
          </a:p>
        </p:txBody>
      </p:sp>
      <p:sp>
        <p:nvSpPr>
          <p:cNvPr id="27" name="Shape 25"/>
          <p:cNvSpPr/>
          <p:nvPr/>
        </p:nvSpPr>
        <p:spPr>
          <a:xfrm>
            <a:off x="804672" y="5358384"/>
            <a:ext cx="384048" cy="384048"/>
          </a:xfrm>
          <a:prstGeom prst="ellipse">
            <a:avLst/>
          </a:prstGeom>
          <a:solidFill>
            <a:srgbClr val="176240"/>
          </a:solidFill>
          <a:ln w="12700">
            <a:solidFill>
              <a:srgbClr val="176240"/>
            </a:solidFill>
            <a:prstDash val="solid"/>
          </a:ln>
        </p:spPr>
        <p:txBody>
          <a:bodyPr/>
          <a:lstStyle/>
          <a:p>
            <a:endParaRPr lang="en-US"/>
          </a:p>
        </p:txBody>
      </p:sp>
      <p:sp>
        <p:nvSpPr>
          <p:cNvPr id="28" name="Text 26"/>
          <p:cNvSpPr txBox="1"/>
          <p:nvPr/>
        </p:nvSpPr>
        <p:spPr>
          <a:xfrm>
            <a:off x="804672" y="53583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txBox="1"/>
          <p:nvPr/>
        </p:nvSpPr>
        <p:spPr>
          <a:xfrm>
            <a:off x="1353312" y="5212080"/>
            <a:ext cx="4321912" cy="274320"/>
          </a:xfrm>
          <a:prstGeom prst="rect">
            <a:avLst/>
          </a:prstGeom>
          <a:noFill/>
          <a:ln/>
        </p:spPr>
        <p:txBody>
          <a:bodyPr wrap="square" lIns="0" tIns="0" rIns="0" bIns="0" rtlCol="0" anchor="ctr"/>
          <a:lstStyle/>
          <a:p>
            <a:pPr marL="0" indent="0">
              <a:buNone/>
            </a:pPr>
            <a:r>
              <a:rPr lang="en-US" sz="1350" b="1" dirty="0">
                <a:solidFill>
                  <a:srgbClr val="0F2942"/>
                </a:solidFill>
                <a:latin typeface="Calibri" pitchFamily="34" charset="0"/>
                <a:ea typeface="Calibri" pitchFamily="34" charset="-122"/>
                <a:cs typeface="Calibri" pitchFamily="34" charset="-120"/>
              </a:rPr>
              <a:t>Log in to Canvas</a:t>
            </a:r>
            <a:endParaRPr lang="en-US" sz="1350" dirty="0"/>
          </a:p>
        </p:txBody>
      </p:sp>
      <p:sp>
        <p:nvSpPr>
          <p:cNvPr id="30" name="Text 28"/>
          <p:cNvSpPr txBox="1"/>
          <p:nvPr/>
        </p:nvSpPr>
        <p:spPr>
          <a:xfrm>
            <a:off x="1353312" y="5504688"/>
            <a:ext cx="4321912" cy="420624"/>
          </a:xfrm>
          <a:prstGeom prst="rect">
            <a:avLst/>
          </a:prstGeom>
          <a:noFill/>
          <a:ln/>
        </p:spPr>
        <p:txBody>
          <a:bodyPr wrap="square" lIns="0" tIns="0" rIns="0" bIns="0" rtlCol="0" anchor="t"/>
          <a:lstStyle/>
          <a:p>
            <a:pPr marL="0" indent="0">
              <a:buNone/>
            </a:pPr>
            <a:r>
              <a:rPr lang="en-US" sz="1150" dirty="0">
                <a:solidFill>
                  <a:srgbClr val="3A536B"/>
                </a:solidFill>
                <a:latin typeface="Calibri" pitchFamily="34" charset="0"/>
                <a:ea typeface="Calibri" pitchFamily="34" charset="-122"/>
                <a:cs typeface="Calibri" pitchFamily="34" charset="-120"/>
              </a:rPr>
              <a:t>Confirm you can see COS 2030 and that the syllabus is where you expect it.</a:t>
            </a:r>
            <a:endParaRPr lang="en-US" sz="1150" dirty="0"/>
          </a:p>
        </p:txBody>
      </p:sp>
      <p:sp>
        <p:nvSpPr>
          <p:cNvPr id="31" name="Shape 29"/>
          <p:cNvSpPr/>
          <p:nvPr/>
        </p:nvSpPr>
        <p:spPr>
          <a:xfrm>
            <a:off x="6278728" y="1353312"/>
            <a:ext cx="5346040" cy="1874520"/>
          </a:xfrm>
          <a:prstGeom prst="roundRect">
            <a:avLst>
              <a:gd name="adj" fmla="val 4390"/>
            </a:avLst>
          </a:prstGeom>
          <a:solidFill>
            <a:srgbClr val="E4ECF4"/>
          </a:solidFill>
          <a:ln w="12700">
            <a:solidFill>
              <a:srgbClr val="E4ECF4"/>
            </a:solidFill>
            <a:prstDash val="solid"/>
          </a:ln>
        </p:spPr>
        <p:txBody>
          <a:bodyPr/>
          <a:lstStyle/>
          <a:p>
            <a:endParaRPr lang="en-US"/>
          </a:p>
        </p:txBody>
      </p:sp>
      <p:sp>
        <p:nvSpPr>
          <p:cNvPr id="32" name="Text 30"/>
          <p:cNvSpPr txBox="1"/>
          <p:nvPr/>
        </p:nvSpPr>
        <p:spPr>
          <a:xfrm>
            <a:off x="6553048" y="1572768"/>
            <a:ext cx="4797400" cy="274320"/>
          </a:xfrm>
          <a:prstGeom prst="rect">
            <a:avLst/>
          </a:prstGeom>
          <a:noFill/>
          <a:ln/>
        </p:spPr>
        <p:txBody>
          <a:bodyPr wrap="square" lIns="0" tIns="0" rIns="0" bIns="0" rtlCol="0" anchor="ctr"/>
          <a:lstStyle/>
          <a:p>
            <a:pPr marL="0" indent="0">
              <a:buNone/>
            </a:pPr>
            <a:r>
              <a:rPr lang="en-US" sz="1100" b="1" kern="0" spc="140" dirty="0">
                <a:solidFill>
                  <a:srgbClr val="9A430A"/>
                </a:solidFill>
                <a:latin typeface="Calibri" pitchFamily="34" charset="0"/>
                <a:ea typeface="Calibri" pitchFamily="34" charset="-122"/>
                <a:cs typeface="Calibri" pitchFamily="34" charset="-120"/>
              </a:rPr>
              <a:t>Next session</a:t>
            </a:r>
            <a:endParaRPr lang="en-US" sz="1100" dirty="0"/>
          </a:p>
        </p:txBody>
      </p:sp>
      <p:sp>
        <p:nvSpPr>
          <p:cNvPr id="33" name="Text 31"/>
          <p:cNvSpPr txBox="1"/>
          <p:nvPr/>
        </p:nvSpPr>
        <p:spPr>
          <a:xfrm>
            <a:off x="6553048" y="1865376"/>
            <a:ext cx="4797400" cy="603504"/>
          </a:xfrm>
          <a:prstGeom prst="rect">
            <a:avLst/>
          </a:prstGeom>
          <a:noFill/>
          <a:ln/>
        </p:spPr>
        <p:txBody>
          <a:bodyPr wrap="square" lIns="0" tIns="0" rIns="0" bIns="0" rtlCol="0" anchor="t"/>
          <a:lstStyle/>
          <a:p>
            <a:pPr marL="0" indent="0">
              <a:buNone/>
            </a:pPr>
            <a:r>
              <a:rPr lang="en-US" sz="2100" b="1" dirty="0">
                <a:solidFill>
                  <a:srgbClr val="0F2942"/>
                </a:solidFill>
                <a:latin typeface="Cambria" pitchFamily="34" charset="0"/>
                <a:ea typeface="Cambria" pitchFamily="34" charset="-122"/>
                <a:cs typeface="Cambria" pitchFamily="34" charset="-120"/>
              </a:rPr>
              <a:t>Thursday 10.09 — Data Types &amp; Expressions</a:t>
            </a:r>
            <a:endParaRPr lang="en-US" sz="2100" dirty="0"/>
          </a:p>
        </p:txBody>
      </p:sp>
      <p:sp>
        <p:nvSpPr>
          <p:cNvPr id="34" name="Text 32"/>
          <p:cNvSpPr txBox="1"/>
          <p:nvPr/>
        </p:nvSpPr>
        <p:spPr>
          <a:xfrm>
            <a:off x="6553048" y="2542032"/>
            <a:ext cx="4797400" cy="548640"/>
          </a:xfrm>
          <a:prstGeom prst="rect">
            <a:avLst/>
          </a:prstGeom>
          <a:noFill/>
          <a:ln/>
        </p:spPr>
        <p:txBody>
          <a:bodyPr wrap="square" lIns="0" tIns="0" rIns="0" bIns="0" rtlCol="0" anchor="t"/>
          <a:lstStyle/>
          <a:p>
            <a:pPr marL="0" indent="0">
              <a:lnSpc>
                <a:spcPct val="110000"/>
              </a:lnSpc>
              <a:buNone/>
            </a:pPr>
            <a:r>
              <a:rPr lang="en-US" sz="1250" dirty="0">
                <a:solidFill>
                  <a:srgbClr val="3A536B"/>
                </a:solidFill>
                <a:latin typeface="Calibri" pitchFamily="34" charset="0"/>
                <a:ea typeface="Calibri" pitchFamily="34" charset="-122"/>
                <a:cs typeface="Calibri" pitchFamily="34" charset="-120"/>
              </a:rPr>
              <a:t>Primitive types, variables, operators and type casting — including why 9 / 5 is 1.</a:t>
            </a:r>
            <a:endParaRPr lang="en-US" sz="1250" dirty="0"/>
          </a:p>
        </p:txBody>
      </p:sp>
      <p:sp>
        <p:nvSpPr>
          <p:cNvPr id="35" name="Shape 33"/>
          <p:cNvSpPr/>
          <p:nvPr/>
        </p:nvSpPr>
        <p:spPr>
          <a:xfrm>
            <a:off x="6278728" y="3364992"/>
            <a:ext cx="5346040" cy="1051560"/>
          </a:xfrm>
          <a:prstGeom prst="roundRect">
            <a:avLst>
              <a:gd name="adj" fmla="val 7826"/>
            </a:avLst>
          </a:prstGeom>
          <a:solidFill>
            <a:srgbClr val="FBEAE8"/>
          </a:solidFill>
          <a:ln w="12700">
            <a:solidFill>
              <a:srgbClr val="FBEAE8"/>
            </a:solidFill>
            <a:prstDash val="solid"/>
          </a:ln>
        </p:spPr>
        <p:txBody>
          <a:bodyPr/>
          <a:lstStyle/>
          <a:p>
            <a:endParaRPr lang="en-US"/>
          </a:p>
        </p:txBody>
      </p:sp>
      <p:sp>
        <p:nvSpPr>
          <p:cNvPr id="36" name="Text 34"/>
          <p:cNvSpPr txBox="1"/>
          <p:nvPr/>
        </p:nvSpPr>
        <p:spPr>
          <a:xfrm>
            <a:off x="6553048" y="3364992"/>
            <a:ext cx="4797400" cy="1051560"/>
          </a:xfrm>
          <a:prstGeom prst="rect">
            <a:avLst/>
          </a:prstGeom>
          <a:noFill/>
          <a:ln/>
        </p:spPr>
        <p:txBody>
          <a:bodyPr wrap="square" lIns="0" tIns="0" rIns="0" bIns="0" rtlCol="0" anchor="ctr"/>
          <a:lstStyle/>
          <a:p>
            <a:pPr marL="0" indent="0">
              <a:lnSpc>
                <a:spcPct val="112000"/>
              </a:lnSpc>
              <a:buNone/>
            </a:pPr>
            <a:r>
              <a:rPr lang="en-US" sz="1250" b="1" dirty="0">
                <a:solidFill>
                  <a:srgbClr val="9C241C"/>
                </a:solidFill>
                <a:latin typeface="Calibri" pitchFamily="34" charset="0"/>
                <a:ea typeface="Calibri" pitchFamily="34" charset="-122"/>
                <a:cs typeface="Calibri" pitchFamily="34" charset="-120"/>
              </a:rPr>
              <a:t>Diary note:  </a:t>
            </a:r>
            <a:r>
              <a:rPr lang="en-US" sz="1250" dirty="0">
                <a:solidFill>
                  <a:srgbClr val="3A536B"/>
                </a:solidFill>
                <a:latin typeface="Calibri" pitchFamily="34" charset="0"/>
                <a:ea typeface="Calibri" pitchFamily="34" charset="-122"/>
                <a:cs typeface="Calibri" pitchFamily="34" charset="-120"/>
              </a:rPr>
              <a:t>there is no class on Tuesday 22 September — Bulgarian Independence Day. We resume on Thursday 24.09 with Methods.</a:t>
            </a:r>
            <a:endParaRPr lang="en-US" sz="1250" dirty="0"/>
          </a:p>
        </p:txBody>
      </p:sp>
      <p:sp>
        <p:nvSpPr>
          <p:cNvPr id="37" name="Shape 35"/>
          <p:cNvSpPr/>
          <p:nvPr/>
        </p:nvSpPr>
        <p:spPr>
          <a:xfrm>
            <a:off x="6278728" y="4553712"/>
            <a:ext cx="5346040" cy="914400"/>
          </a:xfrm>
          <a:prstGeom prst="roundRect">
            <a:avLst>
              <a:gd name="adj" fmla="val 9000"/>
            </a:avLst>
          </a:prstGeom>
          <a:solidFill>
            <a:srgbClr val="FBEEE0"/>
          </a:solidFill>
          <a:ln w="12700">
            <a:solidFill>
              <a:srgbClr val="FBEEE0"/>
            </a:solidFill>
            <a:prstDash val="solid"/>
          </a:ln>
        </p:spPr>
        <p:txBody>
          <a:bodyPr/>
          <a:lstStyle/>
          <a:p>
            <a:endParaRPr lang="en-US"/>
          </a:p>
        </p:txBody>
      </p:sp>
      <p:sp>
        <p:nvSpPr>
          <p:cNvPr id="38" name="Text 36"/>
          <p:cNvSpPr txBox="1"/>
          <p:nvPr/>
        </p:nvSpPr>
        <p:spPr>
          <a:xfrm>
            <a:off x="6553048" y="4553712"/>
            <a:ext cx="4797400" cy="914400"/>
          </a:xfrm>
          <a:prstGeom prst="rect">
            <a:avLst/>
          </a:prstGeom>
          <a:noFill/>
          <a:ln/>
        </p:spPr>
        <p:txBody>
          <a:bodyPr wrap="square" lIns="0" tIns="0" rIns="0" bIns="0" rtlCol="0" anchor="ctr"/>
          <a:lstStyle/>
          <a:p>
            <a:pPr marL="0" indent="0">
              <a:lnSpc>
                <a:spcPct val="110000"/>
              </a:lnSpc>
              <a:buNone/>
            </a:pPr>
            <a:r>
              <a:rPr lang="en-US" sz="1250" b="1" dirty="0">
                <a:solidFill>
                  <a:srgbClr val="9A430A"/>
                </a:solidFill>
                <a:latin typeface="Calibri" pitchFamily="34" charset="0"/>
                <a:ea typeface="Calibri" pitchFamily="34" charset="-122"/>
                <a:cs typeface="Calibri" pitchFamily="34" charset="-120"/>
              </a:rPr>
              <a:t>Quiz 1 is on 01.10  </a:t>
            </a:r>
            <a:r>
              <a:rPr lang="en-US" sz="1250" dirty="0">
                <a:solidFill>
                  <a:srgbClr val="3A536B"/>
                </a:solidFill>
                <a:latin typeface="Calibri" pitchFamily="34" charset="0"/>
                <a:ea typeface="Calibri" pitchFamily="34" charset="-122"/>
                <a:cs typeface="Calibri" pitchFamily="34" charset="-120"/>
              </a:rPr>
              <a:t>and covers Weeks 1–3. That is closer than it looks.</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EDF2F7"/>
        </a:solidFill>
        <a:effectLst/>
      </p:bgPr>
    </p:bg>
    <p:spTree>
      <p:nvGrpSpPr>
        <p:cNvPr id="1" name=""/>
        <p:cNvGrpSpPr/>
        <p:nvPr/>
      </p:nvGrpSpPr>
      <p:grpSpPr>
        <a:xfrm>
          <a:off x="0" y="0"/>
          <a:ext cx="0" cy="0"/>
          <a:chOff x="0" y="0"/>
          <a:chExt cx="0" cy="0"/>
        </a:xfrm>
      </p:grpSpPr>
      <p:sp>
        <p:nvSpPr>
          <p:cNvPr id="2" name="Text 0"/>
          <p:cNvSpPr txBox="1"/>
          <p:nvPr/>
        </p:nvSpPr>
        <p:spPr>
          <a:xfrm>
            <a:off x="566928" y="2331720"/>
            <a:ext cx="7772400" cy="1005840"/>
          </a:xfrm>
          <a:prstGeom prst="rect">
            <a:avLst/>
          </a:prstGeom>
          <a:noFill/>
          <a:ln/>
        </p:spPr>
        <p:txBody>
          <a:bodyPr wrap="square" lIns="0" tIns="0" rIns="0" bIns="0" rtlCol="0" anchor="ctr"/>
          <a:lstStyle/>
          <a:p>
            <a:pPr marL="0" indent="0">
              <a:buNone/>
            </a:pPr>
            <a:r>
              <a:rPr lang="en-US" sz="5800" b="1" dirty="0">
                <a:solidFill>
                  <a:srgbClr val="0F2942"/>
                </a:solidFill>
                <a:latin typeface="Cambria" pitchFamily="34" charset="0"/>
                <a:ea typeface="Cambria" pitchFamily="34" charset="-122"/>
                <a:cs typeface="Cambria" pitchFamily="34" charset="-120"/>
              </a:rPr>
              <a:t>Questions?</a:t>
            </a:r>
            <a:endParaRPr lang="en-US" sz="5800" dirty="0"/>
          </a:p>
        </p:txBody>
      </p:sp>
      <p:sp>
        <p:nvSpPr>
          <p:cNvPr id="3" name="Text 1"/>
          <p:cNvSpPr txBox="1"/>
          <p:nvPr/>
        </p:nvSpPr>
        <p:spPr>
          <a:xfrm>
            <a:off x="566928" y="3383280"/>
            <a:ext cx="7772400" cy="402336"/>
          </a:xfrm>
          <a:prstGeom prst="rect">
            <a:avLst/>
          </a:prstGeom>
          <a:noFill/>
          <a:ln/>
        </p:spPr>
        <p:txBody>
          <a:bodyPr wrap="square" lIns="0" tIns="0" rIns="0" bIns="0" rtlCol="0" anchor="ctr"/>
          <a:lstStyle/>
          <a:p>
            <a:pPr marL="0" indent="0">
              <a:buNone/>
            </a:pPr>
            <a:r>
              <a:rPr lang="en-US" sz="1800" dirty="0">
                <a:solidFill>
                  <a:srgbClr val="9A430A"/>
                </a:solidFill>
                <a:latin typeface="Calibri" pitchFamily="34" charset="0"/>
                <a:ea typeface="Calibri" pitchFamily="34" charset="-122"/>
                <a:cs typeface="Calibri" pitchFamily="34" charset="-120"/>
              </a:rPr>
              <a:t>Thank you for your attention — see you on Thursday.</a:t>
            </a:r>
            <a:endParaRPr lang="en-US" sz="1800" dirty="0"/>
          </a:p>
        </p:txBody>
      </p:sp>
      <p:sp>
        <p:nvSpPr>
          <p:cNvPr id="4" name="Text 2"/>
          <p:cNvSpPr txBox="1"/>
          <p:nvPr/>
        </p:nvSpPr>
        <p:spPr>
          <a:xfrm>
            <a:off x="566928" y="4206240"/>
            <a:ext cx="8229600" cy="1005840"/>
          </a:xfrm>
          <a:prstGeom prst="rect">
            <a:avLst/>
          </a:prstGeom>
          <a:noFill/>
          <a:ln/>
        </p:spPr>
        <p:txBody>
          <a:bodyPr wrap="square" lIns="0" tIns="0" rIns="0" bIns="0" rtlCol="0" anchor="ctr"/>
          <a:lstStyle/>
          <a:p>
            <a:pPr marL="0" indent="0">
              <a:lnSpc>
                <a:spcPct val="135000"/>
              </a:lnSpc>
              <a:buNone/>
            </a:pPr>
            <a:r>
              <a:rPr lang="en-US" sz="1350" b="1" dirty="0">
                <a:solidFill>
                  <a:srgbClr val="0F2942"/>
                </a:solidFill>
                <a:latin typeface="Calibri" pitchFamily="34" charset="0"/>
                <a:ea typeface="Calibri" pitchFamily="34" charset="-122"/>
                <a:cs typeface="Calibri" pitchFamily="34" charset="-120"/>
              </a:rPr>
              <a:t>Dr. Narasimha Rao Vajjhala</a:t>
            </a:r>
            <a:endParaRPr lang="en-US" sz="1350" dirty="0"/>
          </a:p>
          <a:p>
            <a:pPr marL="0" indent="0">
              <a:lnSpc>
                <a:spcPct val="135000"/>
              </a:lnSpc>
              <a:buNone/>
            </a:pPr>
            <a:r>
              <a:rPr lang="en-US" sz="1350" dirty="0">
                <a:solidFill>
                  <a:srgbClr val="3A536B"/>
                </a:solidFill>
                <a:latin typeface="Calibri" pitchFamily="34" charset="0"/>
                <a:ea typeface="Calibri" pitchFamily="34" charset="-122"/>
                <a:cs typeface="Calibri" pitchFamily="34" charset="-120"/>
              </a:rPr>
              <a:t>nrao@aubg.edu  ·  Office MB 253  ·  Office hours Tue &amp; Thu 15:00–17:30</a:t>
            </a:r>
            <a:endParaRPr lang="en-US" sz="1350" dirty="0"/>
          </a:p>
          <a:p>
            <a:pPr marL="0" indent="0">
              <a:lnSpc>
                <a:spcPct val="135000"/>
              </a:lnSpc>
              <a:buNone/>
            </a:pPr>
            <a:r>
              <a:rPr lang="en-US" sz="1350" dirty="0">
                <a:solidFill>
                  <a:srgbClr val="3A536B"/>
                </a:solidFill>
                <a:latin typeface="Calibri" pitchFamily="34" charset="0"/>
                <a:ea typeface="Calibri" pitchFamily="34" charset="-122"/>
                <a:cs typeface="Calibri" pitchFamily="34" charset="-120"/>
              </a:rPr>
              <a:t>Slides, recordings and the syllabus: aubg.instructure.com</a:t>
            </a:r>
            <a:endParaRPr lang="en-US" sz="1350" dirty="0"/>
          </a:p>
        </p:txBody>
      </p:sp>
      <p:sp>
        <p:nvSpPr>
          <p:cNvPr id="5" name="Text 3"/>
          <p:cNvSpPr txBox="1"/>
          <p:nvPr/>
        </p:nvSpPr>
        <p:spPr>
          <a:xfrm>
            <a:off x="7967167" y="2377440"/>
            <a:ext cx="3657600" cy="822960"/>
          </a:xfrm>
          <a:prstGeom prst="rect">
            <a:avLst/>
          </a:prstGeom>
          <a:noFill/>
          <a:ln/>
        </p:spPr>
        <p:txBody>
          <a:bodyPr wrap="square" lIns="0" tIns="0" rIns="0" bIns="0" rtlCol="0" anchor="ctr"/>
          <a:lstStyle/>
          <a:p>
            <a:pPr marL="0" indent="0" algn="r">
              <a:buNone/>
            </a:pPr>
            <a:r>
              <a:rPr lang="en-US" sz="4000" b="1" dirty="0">
                <a:solidFill>
                  <a:srgbClr val="AFC2D2"/>
                </a:solidFill>
                <a:latin typeface="Cambria" pitchFamily="34" charset="0"/>
                <a:ea typeface="Cambria" pitchFamily="34" charset="-122"/>
                <a:cs typeface="Cambria" pitchFamily="34" charset="-120"/>
              </a:rPr>
              <a:t>COS 2030</a:t>
            </a:r>
            <a:endParaRPr lang="en-US" sz="4000" dirty="0"/>
          </a:p>
        </p:txBody>
      </p:sp>
      <p:sp>
        <p:nvSpPr>
          <p:cNvPr id="6" name="Text 4"/>
          <p:cNvSpPr txBox="1"/>
          <p:nvPr/>
        </p:nvSpPr>
        <p:spPr>
          <a:xfrm>
            <a:off x="7967167" y="3200400"/>
            <a:ext cx="3657600" cy="731520"/>
          </a:xfrm>
          <a:prstGeom prst="rect">
            <a:avLst/>
          </a:prstGeom>
          <a:noFill/>
          <a:ln/>
        </p:spPr>
        <p:txBody>
          <a:bodyPr wrap="square" lIns="0" tIns="0" rIns="0" bIns="0" rtlCol="0" anchor="ctr"/>
          <a:lstStyle/>
          <a:p>
            <a:pPr marL="0" indent="0" algn="r">
              <a:lnSpc>
                <a:spcPct val="120000"/>
              </a:lnSpc>
              <a:buNone/>
            </a:pPr>
            <a:r>
              <a:rPr lang="en-US" sz="1300" dirty="0">
                <a:solidFill>
                  <a:srgbClr val="4B6377"/>
                </a:solidFill>
                <a:latin typeface="Calibri" pitchFamily="34" charset="0"/>
                <a:ea typeface="Calibri" pitchFamily="34" charset="-122"/>
                <a:cs typeface="Calibri" pitchFamily="34" charset="-120"/>
              </a:rPr>
              <a:t>Basics in Java Programming</a:t>
            </a:r>
            <a:endParaRPr lang="en-US" sz="1300" dirty="0"/>
          </a:p>
          <a:p>
            <a:pPr marL="0" indent="0" algn="r">
              <a:lnSpc>
                <a:spcPct val="120000"/>
              </a:lnSpc>
              <a:buNone/>
            </a:pPr>
            <a:r>
              <a:rPr lang="en-US" sz="1300" dirty="0">
                <a:solidFill>
                  <a:srgbClr val="4B6377"/>
                </a:solidFill>
                <a:latin typeface="Calibri" pitchFamily="34" charset="0"/>
                <a:ea typeface="Calibri" pitchFamily="34" charset="-122"/>
                <a:cs typeface="Calibri" pitchFamily="34" charset="-120"/>
              </a:rPr>
              <a:t>Fall 2026 · Lecture 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TotalTime>
  <Words>9300</Words>
  <Application>Microsoft Office PowerPoint</Application>
  <PresentationFormat>Widescreen</PresentationFormat>
  <Paragraphs>1238</Paragraphs>
  <Slides>54</Slides>
  <Notes>54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American University in Bulgaria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 2030 - Basics in Java Programming - Lecture 1</dc:title>
  <dc:subject>PptxGenJS Presentation</dc:subject>
  <dc:creator>Dr. Narasimha Rao Vajjhala</dc:creator>
  <cp:lastModifiedBy>Narasimha Rao Vajjhala</cp:lastModifiedBy>
  <cp:revision>3</cp:revision>
  <dcterms:created xsi:type="dcterms:W3CDTF">2026-09-07T08:39:09Z</dcterms:created>
  <dcterms:modified xsi:type="dcterms:W3CDTF">2026-09-07T17:09:19Z</dcterms:modified>
</cp:coreProperties>
</file>