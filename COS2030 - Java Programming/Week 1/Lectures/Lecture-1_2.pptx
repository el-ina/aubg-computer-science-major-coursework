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Tuesday we learned how to create, compile and run a program. From today we start solving problems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Liang's ComputeArea. Note that 3.14159 is used here to match the textbook; on the constants slide we replace it with Math.PI, which is both more accurate and self-documenting.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java.lang.IO, new in JDK 25: println(Object), println(), print(Object), readln() and readln(String prompt). Because it is in java.lang it needs no import in any file, not just compact source files. Note that the unqualified println(...) that appeared in the JDK 21-24 previews did NOT make the final release — it must be IO.println.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20 is an int literal, but int widens to double automatically — no information can be lost going from a 32-bit integer to a 64-bit float. Java stores 20.0. The reverse would need a cast. Q2: It prints 'Sum is 12'. The + here is left-associative: "Sum is " + 1 gives the string "Sum is 1", then + 2 appends '2'. To add first you need brackets: "Sum is " + (1 + 2). This is the single most common surprise in week one. Q3: nextLine(), which takes everything up to the end of the line. next() stops at the first space, so it would return only 'Narasimha'.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class name must also match the file name — which they met on Tuesday. So the naming convention for classes is enforced twice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2radius (cannot start with a digit), my-total (the hyphen is the minus operator, not a name character), and final (a reserved word). radius2 and _count are both legal. Q2: SIZE is final, so it cannot be reassigned. The compiler reports 'cannot assign a value to final variable SIZE'. Note this is a COMPILE error — the program never runs. Q3: studentCount, computeArea(), MAX_VALUE. Ask why maxvalue is the worst of the three: it is legal, it compiles, and it silently misleads every reader into thinking it is a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outputs was run on a JDK before it went on the slide. The reason is IEEE 754: 0.1 has no exact binary representation, in the same way 1/3 has no exact decimal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pairing of / and % on the same two integers is the whole idea behind DisplayTime and ComputeChange, both of which are in the practice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ship with the JDK 25 they installed for Lab 1 — nothing extra to download. jshell is on the PATH beside java and javac.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3, 1, and 3.5. The first is integer division (truncated, not rounded); the second is the remainder; the third has a double operand so the whole expression is done in double. Q2: sum += 4.5 is defined as sum = (int)(sum + 4.5), so 4.5 is computed and then narrowed back to int, truncating the fraction. The cast is implicit in the augmented operator — which is why the same thing written as sum = sum + 4.5 would not compile. Q3: With i++ : j is 5 and i is 6 (j gets the old value). With ++i : j is 6 and i is 6 (j gets the new one). Either way i ends at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sales-tax trick in the third card is Liang's SalesTax program: multiply by 100, cast to int to chop everything after two places, then divide by 100.0 to get a double back. For real money use BigDecimal — mentioned again on the round-off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4 is the one that costs marks in the quiz. Make them say out loud: the type of the variable you assign INTO never changes how the right-hand side is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 2 is not in the textbook chapter but it accounts for more confused emails than anything else in Chapter 2. Worth 60 seconds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(a + b) is int 3, and 3 / 2 is int division giving 1. Only then is that 1 widened to 1.0 and stored. Declaring average as double changes nothing about how the right-hand side is computed. Fix with / 2.0. Q2: double d = 3 compiles (widening). int j = (int) 3.9 compiles (explicit cast, gives 3). int i = 3.0 does NOT (possible lossy conversion). float f = 1.5 does NOT either — 1.5 is a double literal; it needs 1.5f. That last one catches almost everyone. Q3: 0.1 and 0.9 cannot be represented exactly in binary floating point, so the subtraction carries a tiny error. Use BigDecimal for money, or work in integer 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have worked solutions on the Liang companion site at liveexample.pearsoncmg.com. Encourage them to write their own first and compare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2F7"/>
        </a:solidFill>
      </p:bgPr>
    </p:bg>
    <p:spTree>
      <p:nvGrpSpPr>
        <p:cNvPr id="1" name=""/>
        <p:cNvGrpSpPr/>
        <p:nvPr/>
      </p:nvGrpSpPr>
      <p:grpSpPr>
        <a:xfrm>
          <a:off x="0" y="0"/>
          <a:ext cx="0" cy="0"/>
          <a:chOff x="0" y="0"/>
          <a:chExt cx="0" cy="0"/>
        </a:xfrm>
      </p:grpSpPr>
      <p:sp>
        <p:nvSpPr>
          <p:cNvPr id="2" name="Shape 0"/>
          <p:cNvSpPr/>
          <p:nvPr/>
        </p:nvSpPr>
        <p:spPr>
          <a:xfrm>
            <a:off x="566928" y="1417320"/>
            <a:ext cx="566928" cy="566928"/>
          </a:xfrm>
          <a:prstGeom prst="roundRect">
            <a:avLst>
              <a:gd name="adj" fmla="val 16129"/>
            </a:avLst>
          </a:prstGeom>
          <a:solidFill>
            <a:srgbClr val="C4560C"/>
          </a:solidFill>
          <a:ln w="12700">
            <a:solidFill>
              <a:srgbClr val="C4560C"/>
            </a:solidFill>
            <a:prstDash val="solid"/>
          </a:ln>
        </p:spPr>
      </p:sp>
      <p:sp>
        <p:nvSpPr>
          <p:cNvPr id="3" name="Text 1"/>
          <p:cNvSpPr txBox="1"/>
          <p:nvPr/>
        </p:nvSpPr>
        <p:spPr>
          <a:xfrm>
            <a:off x="566928" y="1417320"/>
            <a:ext cx="566928"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J</a:t>
            </a:r>
            <a:endParaRPr lang="en-US" sz="3000" dirty="0"/>
          </a:p>
        </p:txBody>
      </p:sp>
      <p:sp>
        <p:nvSpPr>
          <p:cNvPr id="4" name="Text 2"/>
          <p:cNvSpPr txBox="1"/>
          <p:nvPr/>
        </p:nvSpPr>
        <p:spPr>
          <a:xfrm>
            <a:off x="566928" y="822960"/>
            <a:ext cx="11057839" cy="256032"/>
          </a:xfrm>
          <a:prstGeom prst="rect">
            <a:avLst/>
          </a:prstGeom>
          <a:noFill/>
          <a:ln/>
        </p:spPr>
        <p:txBody>
          <a:bodyPr wrap="square" lIns="0" tIns="0" rIns="0" bIns="0" rtlCol="0" anchor="ctr"/>
          <a:lstStyle/>
          <a:p>
            <a:pPr indent="0" marL="0">
              <a:buNone/>
            </a:pPr>
            <a:r>
              <a:rPr lang="en-US" sz="1100" b="1" spc="180" kern="0" dirty="0">
                <a:solidFill>
                  <a:srgbClr val="9A430A"/>
                </a:solidFill>
                <a:latin typeface="Calibri" pitchFamily="34" charset="0"/>
                <a:ea typeface="Calibri" pitchFamily="34" charset="-122"/>
                <a:cs typeface="Calibri" pitchFamily="34" charset="-120"/>
              </a:rPr>
              <a:t>AMERICAN UNIVERSITY IN BULGARIA  ·  DEPARTMENT OF COMPUTER SCIENCE</a:t>
            </a:r>
            <a:endParaRPr lang="en-US" sz="1100" dirty="0"/>
          </a:p>
        </p:txBody>
      </p:sp>
      <p:sp>
        <p:nvSpPr>
          <p:cNvPr id="5" name="Text 3"/>
          <p:cNvSpPr txBox="1"/>
          <p:nvPr/>
        </p:nvSpPr>
        <p:spPr>
          <a:xfrm>
            <a:off x="566928" y="2212848"/>
            <a:ext cx="11057839" cy="713232"/>
          </a:xfrm>
          <a:prstGeom prst="rect">
            <a:avLst/>
          </a:prstGeom>
          <a:noFill/>
          <a:ln/>
        </p:spPr>
        <p:txBody>
          <a:bodyPr wrap="square" lIns="0" tIns="0" rIns="0" bIns="0" rtlCol="0" anchor="ctr"/>
          <a:lstStyle/>
          <a:p>
            <a:pPr indent="0" marL="0">
              <a:buNone/>
            </a:pPr>
            <a:r>
              <a:rPr lang="en-US" sz="5800" b="1" dirty="0">
                <a:solidFill>
                  <a:srgbClr val="0F2942"/>
                </a:solidFill>
                <a:latin typeface="Cambria" pitchFamily="34" charset="0"/>
                <a:ea typeface="Cambria" pitchFamily="34" charset="-122"/>
                <a:cs typeface="Cambria" pitchFamily="34" charset="-120"/>
              </a:rPr>
              <a:t>COS 2030</a:t>
            </a:r>
            <a:endParaRPr lang="en-US" sz="5800" dirty="0"/>
          </a:p>
        </p:txBody>
      </p:sp>
      <p:sp>
        <p:nvSpPr>
          <p:cNvPr id="6" name="Text 4"/>
          <p:cNvSpPr txBox="1"/>
          <p:nvPr/>
        </p:nvSpPr>
        <p:spPr>
          <a:xfrm>
            <a:off x="566928" y="2944368"/>
            <a:ext cx="11057839" cy="566928"/>
          </a:xfrm>
          <a:prstGeom prst="rect">
            <a:avLst/>
          </a:prstGeom>
          <a:noFill/>
          <a:ln/>
        </p:spPr>
        <p:txBody>
          <a:bodyPr wrap="square" lIns="0" tIns="0" rIns="0" bIns="0" rtlCol="0" anchor="ctr"/>
          <a:lstStyle/>
          <a:p>
            <a:pPr indent="0" marL="0">
              <a:buNone/>
            </a:pPr>
            <a:r>
              <a:rPr lang="en-US" sz="3400" dirty="0">
                <a:solidFill>
                  <a:srgbClr val="3A536B"/>
                </a:solidFill>
                <a:latin typeface="Cambria" pitchFamily="34" charset="0"/>
                <a:ea typeface="Cambria" pitchFamily="34" charset="-122"/>
                <a:cs typeface="Cambria" pitchFamily="34" charset="-120"/>
              </a:rPr>
              <a:t>Data Types and Expressions</a:t>
            </a:r>
            <a:endParaRPr lang="en-US" sz="3400" dirty="0"/>
          </a:p>
        </p:txBody>
      </p:sp>
      <p:sp>
        <p:nvSpPr>
          <p:cNvPr id="7" name="Text 5"/>
          <p:cNvSpPr txBox="1"/>
          <p:nvPr/>
        </p:nvSpPr>
        <p:spPr>
          <a:xfrm>
            <a:off x="566928" y="3703320"/>
            <a:ext cx="11057839" cy="310896"/>
          </a:xfrm>
          <a:prstGeom prst="rect">
            <a:avLst/>
          </a:prstGeom>
          <a:noFill/>
          <a:ln/>
        </p:spPr>
        <p:txBody>
          <a:bodyPr wrap="square" lIns="0" tIns="0" rIns="0" bIns="0" rtlCol="0" anchor="ctr"/>
          <a:lstStyle/>
          <a:p>
            <a:pPr indent="0" marL="0">
              <a:buNone/>
            </a:pPr>
            <a:r>
              <a:rPr lang="en-US" sz="1600" dirty="0">
                <a:solidFill>
                  <a:srgbClr val="9A430A"/>
                </a:solidFill>
                <a:latin typeface="Calibri" pitchFamily="34" charset="0"/>
                <a:ea typeface="Calibri" pitchFamily="34" charset="-122"/>
                <a:cs typeface="Calibri" pitchFamily="34" charset="-120"/>
              </a:rPr>
              <a:t>Lecture 2  ·  Primitive types, variables, operators, type casting</a:t>
            </a:r>
            <a:endParaRPr lang="en-US" sz="1600" dirty="0"/>
          </a:p>
        </p:txBody>
      </p:sp>
      <p:sp>
        <p:nvSpPr>
          <p:cNvPr id="8" name="Text 6"/>
          <p:cNvSpPr txBox="1"/>
          <p:nvPr/>
        </p:nvSpPr>
        <p:spPr>
          <a:xfrm>
            <a:off x="566928" y="5074920"/>
            <a:ext cx="7315200" cy="640080"/>
          </a:xfrm>
          <a:prstGeom prst="rect">
            <a:avLst/>
          </a:prstGeom>
          <a:noFill/>
          <a:ln/>
        </p:spPr>
        <p:txBody>
          <a:bodyPr wrap="square" lIns="0" tIns="0" rIns="0" bIns="0" rtlCol="0" anchor="ctr"/>
          <a:lstStyle/>
          <a:p>
            <a:pPr indent="0" marL="0">
              <a:lnSpc>
                <a:spcPct val="125000"/>
              </a:lnSpc>
              <a:buNone/>
            </a:pPr>
            <a:r>
              <a:rPr lang="en-US" sz="1400" b="1" dirty="0">
                <a:solidFill>
                  <a:srgbClr val="0F2942"/>
                </a:solidFill>
                <a:latin typeface="Calibri" pitchFamily="34" charset="0"/>
                <a:ea typeface="Calibri" pitchFamily="34" charset="-122"/>
                <a:cs typeface="Calibri" pitchFamily="34" charset="-120"/>
              </a:rPr>
              <a:t>Dr. Narasimha Rao Vajjhala</a:t>
            </a:r>
            <a:endParaRPr lang="en-US" sz="1400" dirty="0"/>
          </a:p>
          <a:p>
            <a:pPr indent="0" marL="0">
              <a:lnSpc>
                <a:spcPct val="125000"/>
              </a:lnSpc>
              <a:buNone/>
            </a:pPr>
            <a:r>
              <a:rPr lang="en-US" sz="1400" dirty="0">
                <a:solidFill>
                  <a:srgbClr val="3A536B"/>
                </a:solidFill>
                <a:latin typeface="Calibri" pitchFamily="34" charset="0"/>
                <a:ea typeface="Calibri" pitchFamily="34" charset="-122"/>
                <a:cs typeface="Calibri" pitchFamily="34" charset="-120"/>
              </a:rPr>
              <a:t>Thursday 10 September 2026  ·  17:45–19:05  ·  Room MB 2</a:t>
            </a:r>
            <a:endParaRPr lang="en-US" sz="1400" dirty="0"/>
          </a:p>
        </p:txBody>
      </p:sp>
      <p:sp>
        <p:nvSpPr>
          <p:cNvPr id="9" name="Text 7"/>
          <p:cNvSpPr txBox="1"/>
          <p:nvPr/>
        </p:nvSpPr>
        <p:spPr>
          <a:xfrm>
            <a:off x="7967167" y="5074920"/>
            <a:ext cx="3657600" cy="310896"/>
          </a:xfrm>
          <a:prstGeom prst="rect">
            <a:avLst/>
          </a:prstGeom>
          <a:noFill/>
          <a:ln/>
        </p:spPr>
        <p:txBody>
          <a:bodyPr wrap="square" lIns="0" tIns="0" rIns="0" bIns="0" rtlCol="0" anchor="ctr"/>
          <a:lstStyle/>
          <a:p>
            <a:pPr algn="r" indent="0" marL="0">
              <a:buNone/>
            </a:pPr>
            <a:r>
              <a:rPr lang="en-US" sz="1300" dirty="0">
                <a:solidFill>
                  <a:srgbClr val="4B6377"/>
                </a:solidFill>
                <a:latin typeface="Calibri" pitchFamily="34" charset="0"/>
                <a:ea typeface="Calibri" pitchFamily="34" charset="-122"/>
                <a:cs typeface="Calibri" pitchFamily="34" charset="-120"/>
              </a:rPr>
              <a:t>Week 1, session 2 of 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LECTURE 2</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How We Will Spend the Next 75 Minutes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66928" y="1353312"/>
            <a:ext cx="11057839" cy="713232"/>
          </a:xfrm>
          <a:prstGeom prst="roundRect">
            <a:avLst>
              <a:gd name="adj" fmla="val 11538"/>
            </a:avLst>
          </a:prstGeom>
          <a:solidFill>
            <a:srgbClr val="F1F5F9"/>
          </a:solidFill>
          <a:ln w="12700">
            <a:solidFill>
              <a:srgbClr val="F1F5F9"/>
            </a:solidFill>
            <a:prstDash val="solid"/>
          </a:ln>
        </p:spPr>
      </p:sp>
      <p:sp>
        <p:nvSpPr>
          <p:cNvPr id="7" name="Text 5"/>
          <p:cNvSpPr txBox="1"/>
          <p:nvPr/>
        </p:nvSpPr>
        <p:spPr>
          <a:xfrm>
            <a:off x="804672" y="1408176"/>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00–15 min</a:t>
            </a:r>
            <a:endParaRPr lang="en-US" sz="1300" dirty="0"/>
          </a:p>
        </p:txBody>
      </p:sp>
      <p:sp>
        <p:nvSpPr>
          <p:cNvPr id="8" name="Text 6"/>
          <p:cNvSpPr txBox="1"/>
          <p:nvPr/>
        </p:nvSpPr>
        <p:spPr>
          <a:xfrm>
            <a:off x="2121408" y="1408176"/>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One worked example, traced line by line</a:t>
            </a:r>
            <a:endParaRPr lang="en-US" sz="1450" dirty="0"/>
          </a:p>
        </p:txBody>
      </p:sp>
      <p:sp>
        <p:nvSpPr>
          <p:cNvPr id="9" name="Text 7"/>
          <p:cNvSpPr txBox="1"/>
          <p:nvPr/>
        </p:nvSpPr>
        <p:spPr>
          <a:xfrm>
            <a:off x="6784848" y="1408176"/>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ComputeArea — and reading input with Scanner</a:t>
            </a:r>
            <a:endParaRPr lang="en-US" sz="1250" dirty="0"/>
          </a:p>
        </p:txBody>
      </p:sp>
      <p:sp>
        <p:nvSpPr>
          <p:cNvPr id="10" name="Shape 8"/>
          <p:cNvSpPr/>
          <p:nvPr/>
        </p:nvSpPr>
        <p:spPr>
          <a:xfrm>
            <a:off x="566928" y="2139696"/>
            <a:ext cx="11057839" cy="713232"/>
          </a:xfrm>
          <a:prstGeom prst="roundRect">
            <a:avLst>
              <a:gd name="adj" fmla="val 11538"/>
            </a:avLst>
          </a:prstGeom>
          <a:solidFill>
            <a:srgbClr val="FFFFFF"/>
          </a:solidFill>
          <a:ln w="12700">
            <a:solidFill>
              <a:srgbClr val="D3DEE7"/>
            </a:solidFill>
            <a:prstDash val="solid"/>
          </a:ln>
        </p:spPr>
      </p:sp>
      <p:sp>
        <p:nvSpPr>
          <p:cNvPr id="11" name="Text 9"/>
          <p:cNvSpPr txBox="1"/>
          <p:nvPr/>
        </p:nvSpPr>
        <p:spPr>
          <a:xfrm>
            <a:off x="804672" y="2194560"/>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15–30 min</a:t>
            </a:r>
            <a:endParaRPr lang="en-US" sz="1300" dirty="0"/>
          </a:p>
        </p:txBody>
      </p:sp>
      <p:sp>
        <p:nvSpPr>
          <p:cNvPr id="12" name="Text 10"/>
          <p:cNvSpPr txBox="1"/>
          <p:nvPr/>
        </p:nvSpPr>
        <p:spPr>
          <a:xfrm>
            <a:off x="2121408" y="2194560"/>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Variables, constants and names</a:t>
            </a:r>
            <a:endParaRPr lang="en-US" sz="1450" dirty="0"/>
          </a:p>
        </p:txBody>
      </p:sp>
      <p:sp>
        <p:nvSpPr>
          <p:cNvPr id="13" name="Text 11"/>
          <p:cNvSpPr txBox="1"/>
          <p:nvPr/>
        </p:nvSpPr>
        <p:spPr>
          <a:xfrm>
            <a:off x="6784848" y="2194560"/>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Identifiers, declaration, assignment, final, conventions</a:t>
            </a:r>
            <a:endParaRPr lang="en-US" sz="1250" dirty="0"/>
          </a:p>
        </p:txBody>
      </p:sp>
      <p:sp>
        <p:nvSpPr>
          <p:cNvPr id="14" name="Shape 12"/>
          <p:cNvSpPr/>
          <p:nvPr/>
        </p:nvSpPr>
        <p:spPr>
          <a:xfrm>
            <a:off x="566928" y="2926080"/>
            <a:ext cx="11057839" cy="713232"/>
          </a:xfrm>
          <a:prstGeom prst="roundRect">
            <a:avLst>
              <a:gd name="adj" fmla="val 11538"/>
            </a:avLst>
          </a:prstGeom>
          <a:solidFill>
            <a:srgbClr val="F1F5F9"/>
          </a:solidFill>
          <a:ln w="12700">
            <a:solidFill>
              <a:srgbClr val="F1F5F9"/>
            </a:solidFill>
            <a:prstDash val="solid"/>
          </a:ln>
        </p:spPr>
      </p:sp>
      <p:sp>
        <p:nvSpPr>
          <p:cNvPr id="15" name="Text 13"/>
          <p:cNvSpPr txBox="1"/>
          <p:nvPr/>
        </p:nvSpPr>
        <p:spPr>
          <a:xfrm>
            <a:off x="804672" y="2980944"/>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30–55 min</a:t>
            </a:r>
            <a:endParaRPr lang="en-US" sz="1300" dirty="0"/>
          </a:p>
        </p:txBody>
      </p:sp>
      <p:sp>
        <p:nvSpPr>
          <p:cNvPr id="16" name="Text 14"/>
          <p:cNvSpPr txBox="1"/>
          <p:nvPr/>
        </p:nvSpPr>
        <p:spPr>
          <a:xfrm>
            <a:off x="2121408" y="2980944"/>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Numbers and operators</a:t>
            </a:r>
            <a:endParaRPr lang="en-US" sz="1450" dirty="0"/>
          </a:p>
        </p:txBody>
      </p:sp>
      <p:sp>
        <p:nvSpPr>
          <p:cNvPr id="17" name="Text 15"/>
          <p:cNvSpPr txBox="1"/>
          <p:nvPr/>
        </p:nvSpPr>
        <p:spPr>
          <a:xfrm>
            <a:off x="6784848" y="2980944"/>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Primitive types, literals, arithmetic, augmented assignment, ++ and −−</a:t>
            </a:r>
            <a:endParaRPr lang="en-US" sz="1250" dirty="0"/>
          </a:p>
        </p:txBody>
      </p:sp>
      <p:sp>
        <p:nvSpPr>
          <p:cNvPr id="18" name="Shape 16"/>
          <p:cNvSpPr/>
          <p:nvPr/>
        </p:nvSpPr>
        <p:spPr>
          <a:xfrm>
            <a:off x="566928" y="3712464"/>
            <a:ext cx="11057839" cy="713232"/>
          </a:xfrm>
          <a:prstGeom prst="roundRect">
            <a:avLst>
              <a:gd name="adj" fmla="val 11538"/>
            </a:avLst>
          </a:prstGeom>
          <a:solidFill>
            <a:srgbClr val="FFFFFF"/>
          </a:solidFill>
          <a:ln w="12700">
            <a:solidFill>
              <a:srgbClr val="D3DEE7"/>
            </a:solidFill>
            <a:prstDash val="solid"/>
          </a:ln>
        </p:spPr>
      </p:sp>
      <p:sp>
        <p:nvSpPr>
          <p:cNvPr id="19" name="Text 17"/>
          <p:cNvSpPr txBox="1"/>
          <p:nvPr/>
        </p:nvSpPr>
        <p:spPr>
          <a:xfrm>
            <a:off x="804672" y="3767328"/>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55–70 min</a:t>
            </a:r>
            <a:endParaRPr lang="en-US" sz="1300" dirty="0"/>
          </a:p>
        </p:txBody>
      </p:sp>
      <p:sp>
        <p:nvSpPr>
          <p:cNvPr id="20" name="Text 18"/>
          <p:cNvSpPr txBox="1"/>
          <p:nvPr/>
        </p:nvSpPr>
        <p:spPr>
          <a:xfrm>
            <a:off x="2121408" y="3767328"/>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Conversion, casting and the classic errors</a:t>
            </a:r>
            <a:endParaRPr lang="en-US" sz="1450" dirty="0"/>
          </a:p>
        </p:txBody>
      </p:sp>
      <p:sp>
        <p:nvSpPr>
          <p:cNvPr id="21" name="Text 19"/>
          <p:cNvSpPr txBox="1"/>
          <p:nvPr/>
        </p:nvSpPr>
        <p:spPr>
          <a:xfrm>
            <a:off x="6784848" y="3767328"/>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Widening and narrowing, and the four mistakes everyone makes</a:t>
            </a:r>
            <a:endParaRPr lang="en-US" sz="1250" dirty="0"/>
          </a:p>
        </p:txBody>
      </p:sp>
      <p:sp>
        <p:nvSpPr>
          <p:cNvPr id="22" name="Shape 20"/>
          <p:cNvSpPr/>
          <p:nvPr/>
        </p:nvSpPr>
        <p:spPr>
          <a:xfrm>
            <a:off x="566928" y="4498848"/>
            <a:ext cx="11057839" cy="713232"/>
          </a:xfrm>
          <a:prstGeom prst="roundRect">
            <a:avLst>
              <a:gd name="adj" fmla="val 11538"/>
            </a:avLst>
          </a:prstGeom>
          <a:solidFill>
            <a:srgbClr val="F1F5F9"/>
          </a:solidFill>
          <a:ln w="12700">
            <a:solidFill>
              <a:srgbClr val="F1F5F9"/>
            </a:solidFill>
            <a:prstDash val="solid"/>
          </a:ln>
        </p:spPr>
      </p:sp>
      <p:sp>
        <p:nvSpPr>
          <p:cNvPr id="23" name="Text 21"/>
          <p:cNvSpPr txBox="1"/>
          <p:nvPr/>
        </p:nvSpPr>
        <p:spPr>
          <a:xfrm>
            <a:off x="804672" y="4553712"/>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70–75 min</a:t>
            </a:r>
            <a:endParaRPr lang="en-US" sz="1300" dirty="0"/>
          </a:p>
        </p:txBody>
      </p:sp>
      <p:sp>
        <p:nvSpPr>
          <p:cNvPr id="24" name="Text 22"/>
          <p:cNvSpPr txBox="1"/>
          <p:nvPr/>
        </p:nvSpPr>
        <p:spPr>
          <a:xfrm>
            <a:off x="2121408" y="4553712"/>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Practice and questions</a:t>
            </a:r>
            <a:endParaRPr lang="en-US" sz="1450" dirty="0"/>
          </a:p>
        </p:txBody>
      </p:sp>
      <p:sp>
        <p:nvSpPr>
          <p:cNvPr id="25" name="Text 23"/>
          <p:cNvSpPr txBox="1"/>
          <p:nvPr/>
        </p:nvSpPr>
        <p:spPr>
          <a:xfrm>
            <a:off x="6784848" y="4553712"/>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Five problems to work on before Tuesday</a:t>
            </a:r>
            <a:endParaRPr lang="en-US" sz="1250" dirty="0"/>
          </a:p>
        </p:txBody>
      </p:sp>
      <p:sp>
        <p:nvSpPr>
          <p:cNvPr id="26" name="Text 24"/>
          <p:cNvSpPr txBox="1"/>
          <p:nvPr/>
        </p:nvSpPr>
        <p:spPr>
          <a:xfrm>
            <a:off x="566928" y="5394960"/>
            <a:ext cx="11057839" cy="274320"/>
          </a:xfrm>
          <a:prstGeom prst="rect">
            <a:avLst/>
          </a:prstGeom>
          <a:noFill/>
          <a:ln/>
        </p:spPr>
        <p:txBody>
          <a:bodyPr wrap="square" lIns="0" tIns="0" rIns="0" bIns="0" rtlCol="0" anchor="ctr"/>
          <a:lstStyle/>
          <a:p>
            <a:pPr indent="0" marL="0">
              <a:buNone/>
            </a:pPr>
            <a:r>
              <a:rPr lang="en-US" sz="1300" i="1" dirty="0">
                <a:solidFill>
                  <a:srgbClr val="9A430A"/>
                </a:solidFill>
                <a:latin typeface="Calibri" pitchFamily="34" charset="0"/>
                <a:ea typeface="Calibri" pitchFamily="34" charset="-122"/>
                <a:cs typeface="Calibri" pitchFamily="34" charset="-120"/>
              </a:rPr>
              <a:t>Four short checkpoints are built into the slides — I will ask, you answer.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CHAPTER 2</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What You Should Be Able to Do After Today</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66928" y="1261872"/>
            <a:ext cx="5391760" cy="713232"/>
          </a:xfrm>
          <a:prstGeom prst="roundRect">
            <a:avLst>
              <a:gd name="adj" fmla="val 11538"/>
            </a:avLst>
          </a:prstGeom>
          <a:solidFill>
            <a:srgbClr val="F1F5F9"/>
          </a:solidFill>
          <a:ln w="12700">
            <a:solidFill>
              <a:srgbClr val="F1F5F9"/>
            </a:solidFill>
            <a:prstDash val="solid"/>
          </a:ln>
        </p:spPr>
      </p:sp>
      <p:sp>
        <p:nvSpPr>
          <p:cNvPr id="7" name="Shape 5"/>
          <p:cNvSpPr/>
          <p:nvPr/>
        </p:nvSpPr>
        <p:spPr>
          <a:xfrm>
            <a:off x="786384" y="1417320"/>
            <a:ext cx="384048" cy="384048"/>
          </a:xfrm>
          <a:prstGeom prst="ellipse">
            <a:avLst/>
          </a:prstGeom>
          <a:solidFill>
            <a:srgbClr val="0F2942"/>
          </a:solidFill>
          <a:ln w="12700">
            <a:solidFill>
              <a:srgbClr val="0F2942"/>
            </a:solidFill>
            <a:prstDash val="solid"/>
          </a:ln>
        </p:spPr>
      </p:sp>
      <p:sp>
        <p:nvSpPr>
          <p:cNvPr id="8" name="Text 6"/>
          <p:cNvSpPr txBox="1"/>
          <p:nvPr/>
        </p:nvSpPr>
        <p:spPr>
          <a:xfrm>
            <a:off x="786384" y="141732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1353312" y="1316736"/>
            <a:ext cx="4367632" cy="603504"/>
          </a:xfrm>
          <a:prstGeom prst="rect">
            <a:avLst/>
          </a:prstGeom>
          <a:noFill/>
          <a:ln/>
        </p:spPr>
        <p:txBody>
          <a:bodyPr wrap="square" lIns="0" tIns="0" rIns="0" bIns="0" rtlCol="0" anchor="ctr"/>
          <a:lstStyle/>
          <a:p>
            <a:pPr indent="0" marL="0">
              <a:lnSpc>
                <a:spcPct val="105000"/>
              </a:lnSpc>
              <a:buNone/>
            </a:pPr>
            <a:r>
              <a:rPr lang="en-US" sz="1250" dirty="0">
                <a:solidFill>
                  <a:srgbClr val="3A536B"/>
                </a:solidFill>
                <a:latin typeface="Calibri" pitchFamily="34" charset="0"/>
                <a:ea typeface="Calibri" pitchFamily="34" charset="-122"/>
                <a:cs typeface="Calibri" pitchFamily="34" charset="-120"/>
              </a:rPr>
              <a:t>Write Java programs that perform simple computations.</a:t>
            </a:r>
            <a:endParaRPr lang="en-US" sz="1250" dirty="0"/>
          </a:p>
        </p:txBody>
      </p:sp>
      <p:sp>
        <p:nvSpPr>
          <p:cNvPr id="10" name="Shape 8"/>
          <p:cNvSpPr/>
          <p:nvPr/>
        </p:nvSpPr>
        <p:spPr>
          <a:xfrm>
            <a:off x="6233008" y="1261872"/>
            <a:ext cx="5391760" cy="713232"/>
          </a:xfrm>
          <a:prstGeom prst="roundRect">
            <a:avLst>
              <a:gd name="adj" fmla="val 11538"/>
            </a:avLst>
          </a:prstGeom>
          <a:solidFill>
            <a:srgbClr val="FFFFFF"/>
          </a:solidFill>
          <a:ln w="12700">
            <a:solidFill>
              <a:srgbClr val="D3DEE7"/>
            </a:solidFill>
            <a:prstDash val="solid"/>
          </a:ln>
        </p:spPr>
      </p:sp>
      <p:sp>
        <p:nvSpPr>
          <p:cNvPr id="11" name="Shape 9"/>
          <p:cNvSpPr/>
          <p:nvPr/>
        </p:nvSpPr>
        <p:spPr>
          <a:xfrm>
            <a:off x="6452464" y="1417320"/>
            <a:ext cx="384048" cy="384048"/>
          </a:xfrm>
          <a:prstGeom prst="ellipse">
            <a:avLst/>
          </a:prstGeom>
          <a:solidFill>
            <a:srgbClr val="0F2942"/>
          </a:solidFill>
          <a:ln w="12700">
            <a:solidFill>
              <a:srgbClr val="0F2942"/>
            </a:solidFill>
            <a:prstDash val="solid"/>
          </a:ln>
        </p:spPr>
      </p:sp>
      <p:sp>
        <p:nvSpPr>
          <p:cNvPr id="12" name="Text 10"/>
          <p:cNvSpPr txBox="1"/>
          <p:nvPr/>
        </p:nvSpPr>
        <p:spPr>
          <a:xfrm>
            <a:off x="6452464" y="141732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txBox="1"/>
          <p:nvPr/>
        </p:nvSpPr>
        <p:spPr>
          <a:xfrm>
            <a:off x="7019392" y="1316736"/>
            <a:ext cx="4367632" cy="603504"/>
          </a:xfrm>
          <a:prstGeom prst="rect">
            <a:avLst/>
          </a:prstGeom>
          <a:noFill/>
          <a:ln/>
        </p:spPr>
        <p:txBody>
          <a:bodyPr wrap="square" lIns="0" tIns="0" rIns="0" bIns="0" rtlCol="0" anchor="ctr"/>
          <a:lstStyle/>
          <a:p>
            <a:pPr indent="0" marL="0">
              <a:lnSpc>
                <a:spcPct val="105000"/>
              </a:lnSpc>
              <a:buNone/>
            </a:pPr>
            <a:r>
              <a:rPr lang="en-US" sz="1250" dirty="0">
                <a:solidFill>
                  <a:srgbClr val="3A536B"/>
                </a:solidFill>
                <a:latin typeface="Calibri" pitchFamily="34" charset="0"/>
                <a:ea typeface="Calibri" pitchFamily="34" charset="-122"/>
                <a:cs typeface="Calibri" pitchFamily="34" charset="-120"/>
              </a:rPr>
              <a:t>Obtain input from the console using the Scanner class.</a:t>
            </a:r>
            <a:endParaRPr lang="en-US" sz="1250" dirty="0"/>
          </a:p>
        </p:txBody>
      </p:sp>
      <p:sp>
        <p:nvSpPr>
          <p:cNvPr id="14" name="Shape 12"/>
          <p:cNvSpPr/>
          <p:nvPr/>
        </p:nvSpPr>
        <p:spPr>
          <a:xfrm>
            <a:off x="566928" y="2121408"/>
            <a:ext cx="5391760" cy="713232"/>
          </a:xfrm>
          <a:prstGeom prst="roundRect">
            <a:avLst>
              <a:gd name="adj" fmla="val 11538"/>
            </a:avLst>
          </a:prstGeom>
          <a:solidFill>
            <a:srgbClr val="F1F5F9"/>
          </a:solidFill>
          <a:ln w="12700">
            <a:solidFill>
              <a:srgbClr val="F1F5F9"/>
            </a:solidFill>
            <a:prstDash val="solid"/>
          </a:ln>
        </p:spPr>
      </p:sp>
      <p:sp>
        <p:nvSpPr>
          <p:cNvPr id="15" name="Shape 13"/>
          <p:cNvSpPr/>
          <p:nvPr/>
        </p:nvSpPr>
        <p:spPr>
          <a:xfrm>
            <a:off x="786384" y="2276856"/>
            <a:ext cx="384048" cy="384048"/>
          </a:xfrm>
          <a:prstGeom prst="ellipse">
            <a:avLst/>
          </a:prstGeom>
          <a:solidFill>
            <a:srgbClr val="0F2942"/>
          </a:solidFill>
          <a:ln w="12700">
            <a:solidFill>
              <a:srgbClr val="0F2942"/>
            </a:solidFill>
            <a:prstDash val="solid"/>
          </a:ln>
        </p:spPr>
      </p:sp>
      <p:sp>
        <p:nvSpPr>
          <p:cNvPr id="16" name="Text 14"/>
          <p:cNvSpPr txBox="1"/>
          <p:nvPr/>
        </p:nvSpPr>
        <p:spPr>
          <a:xfrm>
            <a:off x="786384" y="227685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txBox="1"/>
          <p:nvPr/>
        </p:nvSpPr>
        <p:spPr>
          <a:xfrm>
            <a:off x="1353312" y="2176272"/>
            <a:ext cx="4367632" cy="603504"/>
          </a:xfrm>
          <a:prstGeom prst="rect">
            <a:avLst/>
          </a:prstGeom>
          <a:noFill/>
          <a:ln/>
        </p:spPr>
        <p:txBody>
          <a:bodyPr wrap="square" lIns="0" tIns="0" rIns="0" bIns="0" rtlCol="0" anchor="ctr"/>
          <a:lstStyle/>
          <a:p>
            <a:pPr indent="0" marL="0">
              <a:lnSpc>
                <a:spcPct val="105000"/>
              </a:lnSpc>
              <a:buNone/>
            </a:pPr>
            <a:r>
              <a:rPr lang="en-US" sz="1250" dirty="0">
                <a:solidFill>
                  <a:srgbClr val="3A536B"/>
                </a:solidFill>
                <a:latin typeface="Calibri" pitchFamily="34" charset="0"/>
                <a:ea typeface="Calibri" pitchFamily="34" charset="-122"/>
                <a:cs typeface="Calibri" pitchFamily="34" charset="-120"/>
              </a:rPr>
              <a:t>Use identifiers to name variables, constants, methods and classes — and follow the conventions.</a:t>
            </a:r>
            <a:endParaRPr lang="en-US" sz="1250" dirty="0"/>
          </a:p>
        </p:txBody>
      </p:sp>
      <p:sp>
        <p:nvSpPr>
          <p:cNvPr id="18" name="Shape 16"/>
          <p:cNvSpPr/>
          <p:nvPr/>
        </p:nvSpPr>
        <p:spPr>
          <a:xfrm>
            <a:off x="6233008" y="2121408"/>
            <a:ext cx="5391760" cy="713232"/>
          </a:xfrm>
          <a:prstGeom prst="roundRect">
            <a:avLst>
              <a:gd name="adj" fmla="val 11538"/>
            </a:avLst>
          </a:prstGeom>
          <a:solidFill>
            <a:srgbClr val="FFFFFF"/>
          </a:solidFill>
          <a:ln w="12700">
            <a:solidFill>
              <a:srgbClr val="D3DEE7"/>
            </a:solidFill>
            <a:prstDash val="solid"/>
          </a:ln>
        </p:spPr>
      </p:sp>
      <p:sp>
        <p:nvSpPr>
          <p:cNvPr id="19" name="Shape 17"/>
          <p:cNvSpPr/>
          <p:nvPr/>
        </p:nvSpPr>
        <p:spPr>
          <a:xfrm>
            <a:off x="6452464" y="2276856"/>
            <a:ext cx="384048" cy="384048"/>
          </a:xfrm>
          <a:prstGeom prst="ellipse">
            <a:avLst/>
          </a:prstGeom>
          <a:solidFill>
            <a:srgbClr val="0F2942"/>
          </a:solidFill>
          <a:ln w="12700">
            <a:solidFill>
              <a:srgbClr val="0F2942"/>
            </a:solidFill>
            <a:prstDash val="solid"/>
          </a:ln>
        </p:spPr>
      </p:sp>
      <p:sp>
        <p:nvSpPr>
          <p:cNvPr id="20" name="Text 18"/>
          <p:cNvSpPr txBox="1"/>
          <p:nvPr/>
        </p:nvSpPr>
        <p:spPr>
          <a:xfrm>
            <a:off x="6452464" y="227685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1" name="Text 19"/>
          <p:cNvSpPr txBox="1"/>
          <p:nvPr/>
        </p:nvSpPr>
        <p:spPr>
          <a:xfrm>
            <a:off x="7019392" y="2176272"/>
            <a:ext cx="4367632" cy="603504"/>
          </a:xfrm>
          <a:prstGeom prst="rect">
            <a:avLst/>
          </a:prstGeom>
          <a:noFill/>
          <a:ln/>
        </p:spPr>
        <p:txBody>
          <a:bodyPr wrap="square" lIns="0" tIns="0" rIns="0" bIns="0" rtlCol="0" anchor="ctr"/>
          <a:lstStyle/>
          <a:p>
            <a:pPr indent="0" marL="0">
              <a:lnSpc>
                <a:spcPct val="105000"/>
              </a:lnSpc>
              <a:buNone/>
            </a:pPr>
            <a:r>
              <a:rPr lang="en-US" sz="1250" dirty="0">
                <a:solidFill>
                  <a:srgbClr val="3A536B"/>
                </a:solidFill>
                <a:latin typeface="Calibri" pitchFamily="34" charset="0"/>
                <a:ea typeface="Calibri" pitchFamily="34" charset="-122"/>
                <a:cs typeface="Calibri" pitchFamily="34" charset="-120"/>
              </a:rPr>
              <a:t>Declare variables, assign to them, and use final for constants.</a:t>
            </a:r>
            <a:endParaRPr lang="en-US" sz="1250" dirty="0"/>
          </a:p>
        </p:txBody>
      </p:sp>
      <p:sp>
        <p:nvSpPr>
          <p:cNvPr id="22" name="Shape 20"/>
          <p:cNvSpPr/>
          <p:nvPr/>
        </p:nvSpPr>
        <p:spPr>
          <a:xfrm>
            <a:off x="566928" y="2980944"/>
            <a:ext cx="5391760" cy="713232"/>
          </a:xfrm>
          <a:prstGeom prst="roundRect">
            <a:avLst>
              <a:gd name="adj" fmla="val 11538"/>
            </a:avLst>
          </a:prstGeom>
          <a:solidFill>
            <a:srgbClr val="F1F5F9"/>
          </a:solidFill>
          <a:ln w="12700">
            <a:solidFill>
              <a:srgbClr val="F1F5F9"/>
            </a:solidFill>
            <a:prstDash val="solid"/>
          </a:ln>
        </p:spPr>
      </p:sp>
      <p:sp>
        <p:nvSpPr>
          <p:cNvPr id="23" name="Shape 21"/>
          <p:cNvSpPr/>
          <p:nvPr/>
        </p:nvSpPr>
        <p:spPr>
          <a:xfrm>
            <a:off x="786384" y="3136392"/>
            <a:ext cx="384048" cy="384048"/>
          </a:xfrm>
          <a:prstGeom prst="ellipse">
            <a:avLst/>
          </a:prstGeom>
          <a:solidFill>
            <a:srgbClr val="0F2942"/>
          </a:solidFill>
          <a:ln w="12700">
            <a:solidFill>
              <a:srgbClr val="0F2942"/>
            </a:solidFill>
            <a:prstDash val="solid"/>
          </a:ln>
        </p:spPr>
      </p:sp>
      <p:sp>
        <p:nvSpPr>
          <p:cNvPr id="24" name="Text 22"/>
          <p:cNvSpPr txBox="1"/>
          <p:nvPr/>
        </p:nvSpPr>
        <p:spPr>
          <a:xfrm>
            <a:off x="786384" y="313639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5" name="Text 23"/>
          <p:cNvSpPr txBox="1"/>
          <p:nvPr/>
        </p:nvSpPr>
        <p:spPr>
          <a:xfrm>
            <a:off x="1353312" y="3035808"/>
            <a:ext cx="4367632" cy="603504"/>
          </a:xfrm>
          <a:prstGeom prst="rect">
            <a:avLst/>
          </a:prstGeom>
          <a:noFill/>
          <a:ln/>
        </p:spPr>
        <p:txBody>
          <a:bodyPr wrap="square" lIns="0" tIns="0" rIns="0" bIns="0" rtlCol="0" anchor="ctr"/>
          <a:lstStyle/>
          <a:p>
            <a:pPr indent="0" marL="0">
              <a:lnSpc>
                <a:spcPct val="105000"/>
              </a:lnSpc>
              <a:buNone/>
            </a:pPr>
            <a:r>
              <a:rPr lang="en-US" sz="1250" dirty="0">
                <a:solidFill>
                  <a:srgbClr val="3A536B"/>
                </a:solidFill>
                <a:latin typeface="Calibri" pitchFamily="34" charset="0"/>
                <a:ea typeface="Calibri" pitchFamily="34" charset="-122"/>
                <a:cs typeface="Calibri" pitchFamily="34" charset="-120"/>
              </a:rPr>
              <a:t>Work with the numeric primitive types: byte, short, int, long, float and double.</a:t>
            </a:r>
            <a:endParaRPr lang="en-US" sz="1250" dirty="0"/>
          </a:p>
        </p:txBody>
      </p:sp>
      <p:sp>
        <p:nvSpPr>
          <p:cNvPr id="26" name="Shape 24"/>
          <p:cNvSpPr/>
          <p:nvPr/>
        </p:nvSpPr>
        <p:spPr>
          <a:xfrm>
            <a:off x="6233008" y="2980944"/>
            <a:ext cx="5391760" cy="713232"/>
          </a:xfrm>
          <a:prstGeom prst="roundRect">
            <a:avLst>
              <a:gd name="adj" fmla="val 11538"/>
            </a:avLst>
          </a:prstGeom>
          <a:solidFill>
            <a:srgbClr val="FFFFFF"/>
          </a:solidFill>
          <a:ln w="12700">
            <a:solidFill>
              <a:srgbClr val="D3DEE7"/>
            </a:solidFill>
            <a:prstDash val="solid"/>
          </a:ln>
        </p:spPr>
      </p:sp>
      <p:sp>
        <p:nvSpPr>
          <p:cNvPr id="27" name="Shape 25"/>
          <p:cNvSpPr/>
          <p:nvPr/>
        </p:nvSpPr>
        <p:spPr>
          <a:xfrm>
            <a:off x="6452464" y="3136392"/>
            <a:ext cx="384048" cy="384048"/>
          </a:xfrm>
          <a:prstGeom prst="ellipse">
            <a:avLst/>
          </a:prstGeom>
          <a:solidFill>
            <a:srgbClr val="0F2942"/>
          </a:solidFill>
          <a:ln w="12700">
            <a:solidFill>
              <a:srgbClr val="0F2942"/>
            </a:solidFill>
            <a:prstDash val="solid"/>
          </a:ln>
        </p:spPr>
      </p:sp>
      <p:sp>
        <p:nvSpPr>
          <p:cNvPr id="28" name="Text 26"/>
          <p:cNvSpPr txBox="1"/>
          <p:nvPr/>
        </p:nvSpPr>
        <p:spPr>
          <a:xfrm>
            <a:off x="6452464" y="3136392"/>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29" name="Text 27"/>
          <p:cNvSpPr txBox="1"/>
          <p:nvPr/>
        </p:nvSpPr>
        <p:spPr>
          <a:xfrm>
            <a:off x="7019392" y="3035808"/>
            <a:ext cx="4367632" cy="603504"/>
          </a:xfrm>
          <a:prstGeom prst="rect">
            <a:avLst/>
          </a:prstGeom>
          <a:noFill/>
          <a:ln/>
        </p:spPr>
        <p:txBody>
          <a:bodyPr wrap="square" lIns="0" tIns="0" rIns="0" bIns="0" rtlCol="0" anchor="ctr"/>
          <a:lstStyle/>
          <a:p>
            <a:pPr indent="0" marL="0">
              <a:lnSpc>
                <a:spcPct val="105000"/>
              </a:lnSpc>
              <a:buNone/>
            </a:pPr>
            <a:r>
              <a:rPr lang="en-US" sz="1250" dirty="0">
                <a:solidFill>
                  <a:srgbClr val="3A536B"/>
                </a:solidFill>
                <a:latin typeface="Calibri" pitchFamily="34" charset="0"/>
                <a:ea typeface="Calibri" pitchFamily="34" charset="-122"/>
                <a:cs typeface="Calibri" pitchFamily="34" charset="-120"/>
              </a:rPr>
              <a:t>Use the operators + − * / % and Math.pow, and evaluate numeric expressions correctly.</a:t>
            </a:r>
            <a:endParaRPr lang="en-US" sz="1250" dirty="0"/>
          </a:p>
        </p:txBody>
      </p:sp>
      <p:sp>
        <p:nvSpPr>
          <p:cNvPr id="30" name="Shape 28"/>
          <p:cNvSpPr/>
          <p:nvPr/>
        </p:nvSpPr>
        <p:spPr>
          <a:xfrm>
            <a:off x="566928" y="3840480"/>
            <a:ext cx="5391760" cy="713232"/>
          </a:xfrm>
          <a:prstGeom prst="roundRect">
            <a:avLst>
              <a:gd name="adj" fmla="val 11538"/>
            </a:avLst>
          </a:prstGeom>
          <a:solidFill>
            <a:srgbClr val="F1F5F9"/>
          </a:solidFill>
          <a:ln w="12700">
            <a:solidFill>
              <a:srgbClr val="F1F5F9"/>
            </a:solidFill>
            <a:prstDash val="solid"/>
          </a:ln>
        </p:spPr>
      </p:sp>
      <p:sp>
        <p:nvSpPr>
          <p:cNvPr id="31" name="Shape 29"/>
          <p:cNvSpPr/>
          <p:nvPr/>
        </p:nvSpPr>
        <p:spPr>
          <a:xfrm>
            <a:off x="786384" y="3995928"/>
            <a:ext cx="384048" cy="384048"/>
          </a:xfrm>
          <a:prstGeom prst="ellipse">
            <a:avLst/>
          </a:prstGeom>
          <a:solidFill>
            <a:srgbClr val="0F2942"/>
          </a:solidFill>
          <a:ln w="12700">
            <a:solidFill>
              <a:srgbClr val="0F2942"/>
            </a:solidFill>
            <a:prstDash val="solid"/>
          </a:ln>
        </p:spPr>
      </p:sp>
      <p:sp>
        <p:nvSpPr>
          <p:cNvPr id="32" name="Text 30"/>
          <p:cNvSpPr txBox="1"/>
          <p:nvPr/>
        </p:nvSpPr>
        <p:spPr>
          <a:xfrm>
            <a:off x="786384" y="399592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33" name="Text 31"/>
          <p:cNvSpPr txBox="1"/>
          <p:nvPr/>
        </p:nvSpPr>
        <p:spPr>
          <a:xfrm>
            <a:off x="1353312" y="3895344"/>
            <a:ext cx="4367632" cy="603504"/>
          </a:xfrm>
          <a:prstGeom prst="rect">
            <a:avLst/>
          </a:prstGeom>
          <a:noFill/>
          <a:ln/>
        </p:spPr>
        <p:txBody>
          <a:bodyPr wrap="square" lIns="0" tIns="0" rIns="0" bIns="0" rtlCol="0" anchor="ctr"/>
          <a:lstStyle/>
          <a:p>
            <a:pPr indent="0" marL="0">
              <a:lnSpc>
                <a:spcPct val="105000"/>
              </a:lnSpc>
              <a:buNone/>
            </a:pPr>
            <a:r>
              <a:rPr lang="en-US" sz="1250" dirty="0">
                <a:solidFill>
                  <a:srgbClr val="3A536B"/>
                </a:solidFill>
                <a:latin typeface="Calibri" pitchFamily="34" charset="0"/>
                <a:ea typeface="Calibri" pitchFamily="34" charset="-122"/>
                <a:cs typeface="Calibri" pitchFamily="34" charset="-120"/>
              </a:rPr>
              <a:t>Use augmented assignment operators, and tell ++i from i++.</a:t>
            </a:r>
            <a:endParaRPr lang="en-US" sz="1250" dirty="0"/>
          </a:p>
        </p:txBody>
      </p:sp>
      <p:sp>
        <p:nvSpPr>
          <p:cNvPr id="34" name="Shape 32"/>
          <p:cNvSpPr/>
          <p:nvPr/>
        </p:nvSpPr>
        <p:spPr>
          <a:xfrm>
            <a:off x="6233008" y="3840480"/>
            <a:ext cx="5391760" cy="713232"/>
          </a:xfrm>
          <a:prstGeom prst="roundRect">
            <a:avLst>
              <a:gd name="adj" fmla="val 11538"/>
            </a:avLst>
          </a:prstGeom>
          <a:solidFill>
            <a:srgbClr val="FFFFFF"/>
          </a:solidFill>
          <a:ln w="12700">
            <a:solidFill>
              <a:srgbClr val="D3DEE7"/>
            </a:solidFill>
            <a:prstDash val="solid"/>
          </a:ln>
        </p:spPr>
      </p:sp>
      <p:sp>
        <p:nvSpPr>
          <p:cNvPr id="35" name="Shape 33"/>
          <p:cNvSpPr/>
          <p:nvPr/>
        </p:nvSpPr>
        <p:spPr>
          <a:xfrm>
            <a:off x="6452464" y="3995928"/>
            <a:ext cx="384048" cy="384048"/>
          </a:xfrm>
          <a:prstGeom prst="ellipse">
            <a:avLst/>
          </a:prstGeom>
          <a:solidFill>
            <a:srgbClr val="0F2942"/>
          </a:solidFill>
          <a:ln w="12700">
            <a:solidFill>
              <a:srgbClr val="0F2942"/>
            </a:solidFill>
            <a:prstDash val="solid"/>
          </a:ln>
        </p:spPr>
      </p:sp>
      <p:sp>
        <p:nvSpPr>
          <p:cNvPr id="36" name="Text 34"/>
          <p:cNvSpPr txBox="1"/>
          <p:nvPr/>
        </p:nvSpPr>
        <p:spPr>
          <a:xfrm>
            <a:off x="6452464" y="399592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37" name="Text 35"/>
          <p:cNvSpPr txBox="1"/>
          <p:nvPr/>
        </p:nvSpPr>
        <p:spPr>
          <a:xfrm>
            <a:off x="7019392" y="3895344"/>
            <a:ext cx="4367632" cy="603504"/>
          </a:xfrm>
          <a:prstGeom prst="rect">
            <a:avLst/>
          </a:prstGeom>
          <a:noFill/>
          <a:ln/>
        </p:spPr>
        <p:txBody>
          <a:bodyPr wrap="square" lIns="0" tIns="0" rIns="0" bIns="0" rtlCol="0" anchor="ctr"/>
          <a:lstStyle/>
          <a:p>
            <a:pPr indent="0" marL="0">
              <a:lnSpc>
                <a:spcPct val="105000"/>
              </a:lnSpc>
              <a:buNone/>
            </a:pPr>
            <a:r>
              <a:rPr lang="en-US" sz="1250" dirty="0">
                <a:solidFill>
                  <a:srgbClr val="3A536B"/>
                </a:solidFill>
                <a:latin typeface="Calibri" pitchFamily="34" charset="0"/>
                <a:ea typeface="Calibri" pitchFamily="34" charset="-122"/>
                <a:cs typeface="Calibri" pitchFamily="34" charset="-120"/>
              </a:rPr>
              <a:t>Cast a value from one type to another, and know when Java does it for you.</a:t>
            </a:r>
            <a:endParaRPr lang="en-US" sz="1250" dirty="0"/>
          </a:p>
        </p:txBody>
      </p:sp>
      <p:sp>
        <p:nvSpPr>
          <p:cNvPr id="38" name="Shape 36"/>
          <p:cNvSpPr/>
          <p:nvPr/>
        </p:nvSpPr>
        <p:spPr>
          <a:xfrm>
            <a:off x="566928" y="4700016"/>
            <a:ext cx="5391760" cy="713232"/>
          </a:xfrm>
          <a:prstGeom prst="roundRect">
            <a:avLst>
              <a:gd name="adj" fmla="val 11538"/>
            </a:avLst>
          </a:prstGeom>
          <a:solidFill>
            <a:srgbClr val="F1F5F9"/>
          </a:solidFill>
          <a:ln w="12700">
            <a:solidFill>
              <a:srgbClr val="F1F5F9"/>
            </a:solidFill>
            <a:prstDash val="solid"/>
          </a:ln>
        </p:spPr>
      </p:sp>
      <p:sp>
        <p:nvSpPr>
          <p:cNvPr id="39" name="Shape 37"/>
          <p:cNvSpPr/>
          <p:nvPr/>
        </p:nvSpPr>
        <p:spPr>
          <a:xfrm>
            <a:off x="786384" y="4855464"/>
            <a:ext cx="384048" cy="384048"/>
          </a:xfrm>
          <a:prstGeom prst="ellipse">
            <a:avLst/>
          </a:prstGeom>
          <a:solidFill>
            <a:srgbClr val="0F2942"/>
          </a:solidFill>
          <a:ln w="12700">
            <a:solidFill>
              <a:srgbClr val="0F2942"/>
            </a:solidFill>
            <a:prstDash val="solid"/>
          </a:ln>
        </p:spPr>
      </p:sp>
      <p:sp>
        <p:nvSpPr>
          <p:cNvPr id="40" name="Text 38"/>
          <p:cNvSpPr txBox="1"/>
          <p:nvPr/>
        </p:nvSpPr>
        <p:spPr>
          <a:xfrm>
            <a:off x="786384" y="4855464"/>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9</a:t>
            </a:r>
            <a:endParaRPr lang="en-US" sz="1250" dirty="0"/>
          </a:p>
        </p:txBody>
      </p:sp>
      <p:sp>
        <p:nvSpPr>
          <p:cNvPr id="41" name="Text 39"/>
          <p:cNvSpPr txBox="1"/>
          <p:nvPr/>
        </p:nvSpPr>
        <p:spPr>
          <a:xfrm>
            <a:off x="1353312" y="4754880"/>
            <a:ext cx="4367632" cy="603504"/>
          </a:xfrm>
          <a:prstGeom prst="rect">
            <a:avLst/>
          </a:prstGeom>
          <a:noFill/>
          <a:ln/>
        </p:spPr>
        <p:txBody>
          <a:bodyPr wrap="square" lIns="0" tIns="0" rIns="0" bIns="0" rtlCol="0" anchor="ctr"/>
          <a:lstStyle/>
          <a:p>
            <a:pPr indent="0" marL="0">
              <a:lnSpc>
                <a:spcPct val="105000"/>
              </a:lnSpc>
              <a:buNone/>
            </a:pPr>
            <a:r>
              <a:rPr lang="en-US" sz="1250" dirty="0">
                <a:solidFill>
                  <a:srgbClr val="3A536B"/>
                </a:solidFill>
                <a:latin typeface="Calibri" pitchFamily="34" charset="0"/>
                <a:ea typeface="Calibri" pitchFamily="34" charset="-122"/>
                <a:cs typeface="Calibri" pitchFamily="34" charset="-120"/>
              </a:rPr>
              <a:t>Avoid the four errors that catch almost every beginner.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Computing the Area of a Circle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Everything in this lecture comes out of these ten lines. We will take them apart and put them back together.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566928" y="1536192"/>
            <a:ext cx="6858000" cy="4042380"/>
          </a:xfrm>
          <a:prstGeom prst="roundRect">
            <a:avLst>
              <a:gd name="adj" fmla="val 1583"/>
            </a:avLst>
          </a:prstGeom>
          <a:solidFill>
            <a:srgbClr val="EDF2F7"/>
          </a:solidFill>
          <a:ln w="12700">
            <a:solidFill>
              <a:srgbClr val="CFDBE5"/>
            </a:solidFill>
            <a:prstDash val="solid"/>
          </a:ln>
        </p:spPr>
      </p:sp>
      <p:sp>
        <p:nvSpPr>
          <p:cNvPr id="8" name="Text 6"/>
          <p:cNvSpPr txBox="1"/>
          <p:nvPr/>
        </p:nvSpPr>
        <p:spPr>
          <a:xfrm>
            <a:off x="713232" y="1581912"/>
            <a:ext cx="65653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ComputeArea.java</a:t>
            </a:r>
            <a:endParaRPr lang="en-US" sz="950" dirty="0"/>
          </a:p>
        </p:txBody>
      </p:sp>
      <p:sp>
        <p:nvSpPr>
          <p:cNvPr id="9" name="Text 7"/>
          <p:cNvSpPr txBox="1"/>
          <p:nvPr/>
        </p:nvSpPr>
        <p:spPr>
          <a:xfrm>
            <a:off x="731520" y="1810512"/>
            <a:ext cx="6528816" cy="3713196"/>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class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ComputeArea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main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Declare radius</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Declare area</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Assign a radius</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radius is now 20</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Compute area</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3.14159</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Display results</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"The area for radius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is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7790688" y="1536192"/>
            <a:ext cx="3834079" cy="644652"/>
          </a:xfrm>
          <a:prstGeom prst="roundRect">
            <a:avLst>
              <a:gd name="adj" fmla="val 9929"/>
            </a:avLst>
          </a:prstGeom>
          <a:solidFill>
            <a:srgbClr val="FFFFFF"/>
          </a:solidFill>
          <a:ln w="12700">
            <a:solidFill>
              <a:srgbClr val="4B6377"/>
            </a:solidFill>
            <a:prstDash val="solid"/>
          </a:ln>
        </p:spPr>
      </p:sp>
      <p:sp>
        <p:nvSpPr>
          <p:cNvPr id="11" name="Text 9"/>
          <p:cNvSpPr txBox="1"/>
          <p:nvPr/>
        </p:nvSpPr>
        <p:spPr>
          <a:xfrm>
            <a:off x="7936992" y="1609344"/>
            <a:ext cx="35414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936992" y="1810512"/>
            <a:ext cx="3541471" cy="278892"/>
          </a:xfrm>
          <a:prstGeom prst="rect">
            <a:avLst/>
          </a:prstGeom>
          <a:noFill/>
          <a:ln/>
        </p:spPr>
        <p:txBody>
          <a:bodyPr wrap="square" lIns="0" tIns="0" rIns="0" bIns="0" rtlCol="0" anchor="t"/>
          <a:lstStyle/>
          <a:p>
            <a:pPr indent="0" marL="0">
              <a:lnSpc>
                <a:spcPct val="110000"/>
              </a:lnSpc>
              <a:buNone/>
            </a:pPr>
            <a:r>
              <a:rPr lang="en-US" sz="1000" dirty="0">
                <a:solidFill>
                  <a:srgbClr val="0F2942"/>
                </a:solidFill>
                <a:latin typeface="Courier New" pitchFamily="34" charset="0"/>
                <a:ea typeface="Courier New" pitchFamily="34" charset="-122"/>
                <a:cs typeface="Courier New" pitchFamily="34" charset="-120"/>
              </a:rPr>
              <a:t>The area for radius 20.0 is 1256.636</a:t>
            </a:r>
            <a:endParaRPr lang="en-US" sz="1000" dirty="0"/>
          </a:p>
        </p:txBody>
      </p:sp>
      <p:sp>
        <p:nvSpPr>
          <p:cNvPr id="13" name="Shape 11"/>
          <p:cNvSpPr/>
          <p:nvPr/>
        </p:nvSpPr>
        <p:spPr>
          <a:xfrm>
            <a:off x="7790688" y="2560320"/>
            <a:ext cx="3834079" cy="859536"/>
          </a:xfrm>
          <a:prstGeom prst="roundRect">
            <a:avLst>
              <a:gd name="adj" fmla="val 9574"/>
            </a:avLst>
          </a:prstGeom>
          <a:solidFill>
            <a:srgbClr val="F1F5F9"/>
          </a:solidFill>
          <a:ln w="12700">
            <a:solidFill>
              <a:srgbClr val="F1F5F9"/>
            </a:solidFill>
            <a:prstDash val="solid"/>
          </a:ln>
        </p:spPr>
      </p:sp>
      <p:sp>
        <p:nvSpPr>
          <p:cNvPr id="14" name="Text 12"/>
          <p:cNvSpPr txBox="1"/>
          <p:nvPr/>
        </p:nvSpPr>
        <p:spPr>
          <a:xfrm>
            <a:off x="8010144" y="2724912"/>
            <a:ext cx="3395167" cy="274320"/>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Two declarations</a:t>
            </a:r>
            <a:endParaRPr lang="en-US" sz="1450" dirty="0"/>
          </a:p>
        </p:txBody>
      </p:sp>
      <p:sp>
        <p:nvSpPr>
          <p:cNvPr id="15" name="Text 13"/>
          <p:cNvSpPr txBox="1"/>
          <p:nvPr/>
        </p:nvSpPr>
        <p:spPr>
          <a:xfrm>
            <a:off x="8010144" y="3017520"/>
            <a:ext cx="3395167" cy="274320"/>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radius and area are named boxes that can each hold a double.</a:t>
            </a:r>
            <a:endParaRPr lang="en-US" sz="1150" dirty="0"/>
          </a:p>
        </p:txBody>
      </p:sp>
      <p:sp>
        <p:nvSpPr>
          <p:cNvPr id="16" name="Shape 14"/>
          <p:cNvSpPr/>
          <p:nvPr/>
        </p:nvSpPr>
        <p:spPr>
          <a:xfrm>
            <a:off x="7790688" y="3493008"/>
            <a:ext cx="3834079" cy="859536"/>
          </a:xfrm>
          <a:prstGeom prst="roundRect">
            <a:avLst>
              <a:gd name="adj" fmla="val 9574"/>
            </a:avLst>
          </a:prstGeom>
          <a:solidFill>
            <a:srgbClr val="F1F5F9"/>
          </a:solidFill>
          <a:ln w="12700">
            <a:solidFill>
              <a:srgbClr val="F1F5F9"/>
            </a:solidFill>
            <a:prstDash val="solid"/>
          </a:ln>
        </p:spPr>
      </p:sp>
      <p:sp>
        <p:nvSpPr>
          <p:cNvPr id="17" name="Text 15"/>
          <p:cNvSpPr txBox="1"/>
          <p:nvPr/>
        </p:nvSpPr>
        <p:spPr>
          <a:xfrm>
            <a:off x="8010144" y="3657600"/>
            <a:ext cx="3395167" cy="274320"/>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One assignment</a:t>
            </a:r>
            <a:endParaRPr lang="en-US" sz="1450" dirty="0"/>
          </a:p>
        </p:txBody>
      </p:sp>
      <p:sp>
        <p:nvSpPr>
          <p:cNvPr id="18" name="Text 16"/>
          <p:cNvSpPr txBox="1"/>
          <p:nvPr/>
        </p:nvSpPr>
        <p:spPr>
          <a:xfrm>
            <a:off x="8010144" y="3950208"/>
            <a:ext cx="3395167" cy="274320"/>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radius = 20 stores a value. The int 20 is widened to the double 20.0.</a:t>
            </a:r>
            <a:endParaRPr lang="en-US" sz="1150" dirty="0"/>
          </a:p>
        </p:txBody>
      </p:sp>
      <p:sp>
        <p:nvSpPr>
          <p:cNvPr id="19" name="Shape 17"/>
          <p:cNvSpPr/>
          <p:nvPr/>
        </p:nvSpPr>
        <p:spPr>
          <a:xfrm>
            <a:off x="7790688" y="4425696"/>
            <a:ext cx="3834079" cy="859536"/>
          </a:xfrm>
          <a:prstGeom prst="roundRect">
            <a:avLst>
              <a:gd name="adj" fmla="val 9574"/>
            </a:avLst>
          </a:prstGeom>
          <a:solidFill>
            <a:srgbClr val="F1F5F9"/>
          </a:solidFill>
          <a:ln w="12700">
            <a:solidFill>
              <a:srgbClr val="F1F5F9"/>
            </a:solidFill>
            <a:prstDash val="solid"/>
          </a:ln>
        </p:spPr>
      </p:sp>
      <p:sp>
        <p:nvSpPr>
          <p:cNvPr id="20" name="Text 18"/>
          <p:cNvSpPr txBox="1"/>
          <p:nvPr/>
        </p:nvSpPr>
        <p:spPr>
          <a:xfrm>
            <a:off x="8010144" y="4590288"/>
            <a:ext cx="3395167" cy="274320"/>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One computation</a:t>
            </a:r>
            <a:endParaRPr lang="en-US" sz="1450" dirty="0"/>
          </a:p>
        </p:txBody>
      </p:sp>
      <p:sp>
        <p:nvSpPr>
          <p:cNvPr id="21" name="Text 19"/>
          <p:cNvSpPr txBox="1"/>
          <p:nvPr/>
        </p:nvSpPr>
        <p:spPr>
          <a:xfrm>
            <a:off x="8010144" y="4882896"/>
            <a:ext cx="3395167" cy="274320"/>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The right-hand side is evaluated first, then stored in area.</a:t>
            </a:r>
            <a:endParaRPr lang="en-US" sz="1150" dirty="0"/>
          </a:p>
        </p:txBody>
      </p:sp>
      <p:sp>
        <p:nvSpPr>
          <p:cNvPr id="22" name="Shape 20"/>
          <p:cNvSpPr/>
          <p:nvPr/>
        </p:nvSpPr>
        <p:spPr>
          <a:xfrm>
            <a:off x="7790688" y="5358384"/>
            <a:ext cx="3834079" cy="859536"/>
          </a:xfrm>
          <a:prstGeom prst="roundRect">
            <a:avLst>
              <a:gd name="adj" fmla="val 9574"/>
            </a:avLst>
          </a:prstGeom>
          <a:solidFill>
            <a:srgbClr val="FBEEE0"/>
          </a:solidFill>
          <a:ln w="12700">
            <a:solidFill>
              <a:srgbClr val="FBEEE0"/>
            </a:solidFill>
            <a:prstDash val="solid"/>
          </a:ln>
        </p:spPr>
      </p:sp>
      <p:sp>
        <p:nvSpPr>
          <p:cNvPr id="23" name="Text 21"/>
          <p:cNvSpPr txBox="1"/>
          <p:nvPr/>
        </p:nvSpPr>
        <p:spPr>
          <a:xfrm>
            <a:off x="8010144" y="5522976"/>
            <a:ext cx="3395167" cy="274320"/>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One output</a:t>
            </a:r>
            <a:endParaRPr lang="en-US" sz="1450" dirty="0"/>
          </a:p>
        </p:txBody>
      </p:sp>
      <p:sp>
        <p:nvSpPr>
          <p:cNvPr id="24" name="Text 22"/>
          <p:cNvSpPr txBox="1"/>
          <p:nvPr/>
        </p:nvSpPr>
        <p:spPr>
          <a:xfrm>
            <a:off x="8010144" y="5815584"/>
            <a:ext cx="3395167" cy="274320"/>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The + here joins strings, it does not add numbers.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EXECUTION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Tracing It, Line by Line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Four moments in the life of this program. Watch what is in memory at each one.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566928" y="1536192"/>
            <a:ext cx="2613584" cy="4114800"/>
          </a:xfrm>
          <a:prstGeom prst="roundRect">
            <a:avLst>
              <a:gd name="adj" fmla="val 3149"/>
            </a:avLst>
          </a:prstGeom>
          <a:solidFill>
            <a:srgbClr val="F1F5F9"/>
          </a:solidFill>
          <a:ln w="12700">
            <a:solidFill>
              <a:srgbClr val="F1F5F9"/>
            </a:solidFill>
            <a:prstDash val="solid"/>
          </a:ln>
        </p:spPr>
      </p:sp>
      <p:sp>
        <p:nvSpPr>
          <p:cNvPr id="8" name="Shape 6"/>
          <p:cNvSpPr/>
          <p:nvPr/>
        </p:nvSpPr>
        <p:spPr>
          <a:xfrm>
            <a:off x="786384" y="1737360"/>
            <a:ext cx="365760" cy="365760"/>
          </a:xfrm>
          <a:prstGeom prst="ellipse">
            <a:avLst/>
          </a:prstGeom>
          <a:solidFill>
            <a:srgbClr val="C4560C"/>
          </a:solidFill>
          <a:ln w="12700">
            <a:solidFill>
              <a:srgbClr val="C4560C"/>
            </a:solidFill>
            <a:prstDash val="solid"/>
          </a:ln>
        </p:spPr>
      </p:sp>
      <p:sp>
        <p:nvSpPr>
          <p:cNvPr id="9" name="Text 7"/>
          <p:cNvSpPr txBox="1"/>
          <p:nvPr/>
        </p:nvSpPr>
        <p:spPr>
          <a:xfrm>
            <a:off x="786384"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243584" y="1719072"/>
            <a:ext cx="1717472" cy="402336"/>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Declare</a:t>
            </a:r>
            <a:endParaRPr lang="en-US" sz="1500" dirty="0"/>
          </a:p>
        </p:txBody>
      </p:sp>
      <p:sp>
        <p:nvSpPr>
          <p:cNvPr id="11" name="Shape 9"/>
          <p:cNvSpPr/>
          <p:nvPr/>
        </p:nvSpPr>
        <p:spPr>
          <a:xfrm>
            <a:off x="768096" y="2231136"/>
            <a:ext cx="2211248" cy="868680"/>
          </a:xfrm>
          <a:prstGeom prst="roundRect">
            <a:avLst>
              <a:gd name="adj" fmla="val 7368"/>
            </a:avLst>
          </a:prstGeom>
          <a:solidFill>
            <a:srgbClr val="EDF2F7"/>
          </a:solidFill>
          <a:ln w="12700">
            <a:solidFill>
              <a:srgbClr val="CFDBE5"/>
            </a:solidFill>
            <a:prstDash val="solid"/>
          </a:ln>
        </p:spPr>
      </p:sp>
      <p:sp>
        <p:nvSpPr>
          <p:cNvPr id="12" name="Text 10"/>
          <p:cNvSpPr txBox="1"/>
          <p:nvPr/>
        </p:nvSpPr>
        <p:spPr>
          <a:xfrm>
            <a:off x="932688" y="2368296"/>
            <a:ext cx="1882064" cy="667512"/>
          </a:xfrm>
          <a:prstGeom prst="rect">
            <a:avLst/>
          </a:prstGeom>
          <a:noFill/>
          <a:ln/>
        </p:spPr>
        <p:txBody>
          <a:bodyPr wrap="square" lIns="0" tIns="0" rIns="0" bIns="0" rtlCol="0" anchor="t"/>
          <a:lstStyle/>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p:txBody>
      </p:sp>
      <p:sp>
        <p:nvSpPr>
          <p:cNvPr id="13" name="Text 11"/>
          <p:cNvSpPr txBox="1"/>
          <p:nvPr/>
        </p:nvSpPr>
        <p:spPr>
          <a:xfrm>
            <a:off x="768096" y="3264408"/>
            <a:ext cx="2211248"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MEMORY</a:t>
            </a:r>
            <a:endParaRPr lang="en-US" sz="950" dirty="0"/>
          </a:p>
        </p:txBody>
      </p:sp>
      <p:sp>
        <p:nvSpPr>
          <p:cNvPr id="14" name="Shape 12"/>
          <p:cNvSpPr/>
          <p:nvPr/>
        </p:nvSpPr>
        <p:spPr>
          <a:xfrm>
            <a:off x="768096" y="3538728"/>
            <a:ext cx="2211248" cy="475488"/>
          </a:xfrm>
          <a:prstGeom prst="roundRect">
            <a:avLst>
              <a:gd name="adj" fmla="val 11538"/>
            </a:avLst>
          </a:prstGeom>
          <a:solidFill>
            <a:srgbClr val="FFFFFF"/>
          </a:solidFill>
          <a:ln w="15875">
            <a:solidFill>
              <a:srgbClr val="D3DEE7"/>
            </a:solidFill>
            <a:prstDash val="solid"/>
          </a:ln>
        </p:spPr>
      </p:sp>
      <p:sp>
        <p:nvSpPr>
          <p:cNvPr id="15" name="Text 13"/>
          <p:cNvSpPr txBox="1"/>
          <p:nvPr/>
        </p:nvSpPr>
        <p:spPr>
          <a:xfrm>
            <a:off x="914400" y="3538728"/>
            <a:ext cx="995062" cy="475488"/>
          </a:xfrm>
          <a:prstGeom prst="rect">
            <a:avLst/>
          </a:prstGeom>
          <a:noFill/>
          <a:ln/>
        </p:spPr>
        <p:txBody>
          <a:bodyPr wrap="square" lIns="0" tIns="0" rIns="0" bIns="0" rtlCol="0" anchor="ctr"/>
          <a:lstStyle/>
          <a:p>
            <a:pPr indent="0" marL="0">
              <a:buNone/>
            </a:pPr>
            <a:r>
              <a:rPr lang="en-US" sz="1150" dirty="0">
                <a:solidFill>
                  <a:srgbClr val="3A536B"/>
                </a:solidFill>
                <a:latin typeface="Courier New" pitchFamily="34" charset="0"/>
                <a:ea typeface="Courier New" pitchFamily="34" charset="-122"/>
                <a:cs typeface="Courier New" pitchFamily="34" charset="-120"/>
              </a:rPr>
              <a:t>radius</a:t>
            </a:r>
            <a:endParaRPr lang="en-US" sz="1150" dirty="0"/>
          </a:p>
        </p:txBody>
      </p:sp>
      <p:sp>
        <p:nvSpPr>
          <p:cNvPr id="16" name="Text 14"/>
          <p:cNvSpPr txBox="1"/>
          <p:nvPr/>
        </p:nvSpPr>
        <p:spPr>
          <a:xfrm>
            <a:off x="1763158" y="3538728"/>
            <a:ext cx="1069882" cy="475488"/>
          </a:xfrm>
          <a:prstGeom prst="rect">
            <a:avLst/>
          </a:prstGeom>
          <a:noFill/>
          <a:ln/>
        </p:spPr>
        <p:txBody>
          <a:bodyPr wrap="square" lIns="0" tIns="0" rIns="0" bIns="0" rtlCol="0" anchor="ctr"/>
          <a:lstStyle/>
          <a:p>
            <a:pPr algn="r" indent="0" marL="0">
              <a:buNone/>
            </a:pPr>
            <a:r>
              <a:rPr lang="en-US" sz="1150" b="1" dirty="0">
                <a:solidFill>
                  <a:srgbClr val="4B6377"/>
                </a:solidFill>
                <a:latin typeface="Courier New" pitchFamily="34" charset="0"/>
                <a:ea typeface="Courier New" pitchFamily="34" charset="-122"/>
                <a:cs typeface="Courier New" pitchFamily="34" charset="-120"/>
              </a:rPr>
              <a:t>—</a:t>
            </a:r>
            <a:endParaRPr lang="en-US" sz="1150" dirty="0"/>
          </a:p>
        </p:txBody>
      </p:sp>
      <p:sp>
        <p:nvSpPr>
          <p:cNvPr id="17" name="Shape 15"/>
          <p:cNvSpPr/>
          <p:nvPr/>
        </p:nvSpPr>
        <p:spPr>
          <a:xfrm>
            <a:off x="768096" y="4123944"/>
            <a:ext cx="2211248" cy="475488"/>
          </a:xfrm>
          <a:prstGeom prst="roundRect">
            <a:avLst>
              <a:gd name="adj" fmla="val 11538"/>
            </a:avLst>
          </a:prstGeom>
          <a:solidFill>
            <a:srgbClr val="FFFFFF"/>
          </a:solidFill>
          <a:ln w="15875">
            <a:solidFill>
              <a:srgbClr val="D3DEE7"/>
            </a:solidFill>
            <a:prstDash val="solid"/>
          </a:ln>
        </p:spPr>
      </p:sp>
      <p:sp>
        <p:nvSpPr>
          <p:cNvPr id="18" name="Text 16"/>
          <p:cNvSpPr txBox="1"/>
          <p:nvPr/>
        </p:nvSpPr>
        <p:spPr>
          <a:xfrm>
            <a:off x="914400" y="4123944"/>
            <a:ext cx="995062" cy="475488"/>
          </a:xfrm>
          <a:prstGeom prst="rect">
            <a:avLst/>
          </a:prstGeom>
          <a:noFill/>
          <a:ln/>
        </p:spPr>
        <p:txBody>
          <a:bodyPr wrap="square" lIns="0" tIns="0" rIns="0" bIns="0" rtlCol="0" anchor="ctr"/>
          <a:lstStyle/>
          <a:p>
            <a:pPr indent="0" marL="0">
              <a:buNone/>
            </a:pPr>
            <a:r>
              <a:rPr lang="en-US" sz="1150" dirty="0">
                <a:solidFill>
                  <a:srgbClr val="3A536B"/>
                </a:solidFill>
                <a:latin typeface="Courier New" pitchFamily="34" charset="0"/>
                <a:ea typeface="Courier New" pitchFamily="34" charset="-122"/>
                <a:cs typeface="Courier New" pitchFamily="34" charset="-120"/>
              </a:rPr>
              <a:t>area</a:t>
            </a:r>
            <a:endParaRPr lang="en-US" sz="1150" dirty="0"/>
          </a:p>
        </p:txBody>
      </p:sp>
      <p:sp>
        <p:nvSpPr>
          <p:cNvPr id="19" name="Text 17"/>
          <p:cNvSpPr txBox="1"/>
          <p:nvPr/>
        </p:nvSpPr>
        <p:spPr>
          <a:xfrm>
            <a:off x="1763158" y="4123944"/>
            <a:ext cx="1069882" cy="475488"/>
          </a:xfrm>
          <a:prstGeom prst="rect">
            <a:avLst/>
          </a:prstGeom>
          <a:noFill/>
          <a:ln/>
        </p:spPr>
        <p:txBody>
          <a:bodyPr wrap="square" lIns="0" tIns="0" rIns="0" bIns="0" rtlCol="0" anchor="ctr"/>
          <a:lstStyle/>
          <a:p>
            <a:pPr algn="r" indent="0" marL="0">
              <a:buNone/>
            </a:pPr>
            <a:r>
              <a:rPr lang="en-US" sz="1150" b="1" dirty="0">
                <a:solidFill>
                  <a:srgbClr val="4B6377"/>
                </a:solidFill>
                <a:latin typeface="Courier New" pitchFamily="34" charset="0"/>
                <a:ea typeface="Courier New" pitchFamily="34" charset="-122"/>
                <a:cs typeface="Courier New" pitchFamily="34" charset="-120"/>
              </a:rPr>
              <a:t>—</a:t>
            </a:r>
            <a:endParaRPr lang="en-US" sz="1150" dirty="0"/>
          </a:p>
        </p:txBody>
      </p:sp>
      <p:sp>
        <p:nvSpPr>
          <p:cNvPr id="20" name="Text 18"/>
          <p:cNvSpPr txBox="1"/>
          <p:nvPr/>
        </p:nvSpPr>
        <p:spPr>
          <a:xfrm>
            <a:off x="786384" y="4855464"/>
            <a:ext cx="2174672" cy="914400"/>
          </a:xfrm>
          <a:prstGeom prst="rect">
            <a:avLst/>
          </a:prstGeom>
          <a:noFill/>
          <a:ln/>
        </p:spPr>
        <p:txBody>
          <a:bodyPr wrap="square" lIns="0" tIns="0" rIns="0" bIns="0" rtlCol="0" anchor="t"/>
          <a:lstStyle/>
          <a:p>
            <a:pPr indent="0" marL="0">
              <a:lnSpc>
                <a:spcPct val="110000"/>
              </a:lnSpc>
              <a:buNone/>
            </a:pPr>
            <a:r>
              <a:rPr lang="en-US" sz="1100" dirty="0">
                <a:solidFill>
                  <a:srgbClr val="3A536B"/>
                </a:solidFill>
                <a:latin typeface="Calibri" pitchFamily="34" charset="0"/>
                <a:ea typeface="Calibri" pitchFamily="34" charset="-122"/>
                <a:cs typeface="Calibri" pitchFamily="34" charset="-120"/>
              </a:rPr>
              <a:t>Both names now exist. Neither holds a value yet — Java will not let you read them.</a:t>
            </a:r>
            <a:endParaRPr lang="en-US" sz="1100" dirty="0"/>
          </a:p>
        </p:txBody>
      </p:sp>
      <p:sp>
        <p:nvSpPr>
          <p:cNvPr id="21" name="Shape 19"/>
          <p:cNvSpPr/>
          <p:nvPr/>
        </p:nvSpPr>
        <p:spPr>
          <a:xfrm>
            <a:off x="3381680" y="1536192"/>
            <a:ext cx="2613584" cy="4114800"/>
          </a:xfrm>
          <a:prstGeom prst="roundRect">
            <a:avLst>
              <a:gd name="adj" fmla="val 3149"/>
            </a:avLst>
          </a:prstGeom>
          <a:solidFill>
            <a:srgbClr val="F1F5F9"/>
          </a:solidFill>
          <a:ln w="12700">
            <a:solidFill>
              <a:srgbClr val="F1F5F9"/>
            </a:solidFill>
            <a:prstDash val="solid"/>
          </a:ln>
        </p:spPr>
      </p:sp>
      <p:sp>
        <p:nvSpPr>
          <p:cNvPr id="22" name="Shape 20"/>
          <p:cNvSpPr/>
          <p:nvPr/>
        </p:nvSpPr>
        <p:spPr>
          <a:xfrm>
            <a:off x="3601136" y="1737360"/>
            <a:ext cx="365760" cy="365760"/>
          </a:xfrm>
          <a:prstGeom prst="ellipse">
            <a:avLst/>
          </a:prstGeom>
          <a:solidFill>
            <a:srgbClr val="C4560C"/>
          </a:solidFill>
          <a:ln w="12700">
            <a:solidFill>
              <a:srgbClr val="C4560C"/>
            </a:solidFill>
            <a:prstDash val="solid"/>
          </a:ln>
        </p:spPr>
      </p:sp>
      <p:sp>
        <p:nvSpPr>
          <p:cNvPr id="23" name="Text 21"/>
          <p:cNvSpPr txBox="1"/>
          <p:nvPr/>
        </p:nvSpPr>
        <p:spPr>
          <a:xfrm>
            <a:off x="3601136"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2"/>
          <p:cNvSpPr txBox="1"/>
          <p:nvPr/>
        </p:nvSpPr>
        <p:spPr>
          <a:xfrm>
            <a:off x="4058336" y="1719072"/>
            <a:ext cx="1717472" cy="402336"/>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Assign</a:t>
            </a:r>
            <a:endParaRPr lang="en-US" sz="1500" dirty="0"/>
          </a:p>
        </p:txBody>
      </p:sp>
      <p:sp>
        <p:nvSpPr>
          <p:cNvPr id="25" name="Shape 23"/>
          <p:cNvSpPr/>
          <p:nvPr/>
        </p:nvSpPr>
        <p:spPr>
          <a:xfrm>
            <a:off x="3582848" y="2231136"/>
            <a:ext cx="2211248" cy="868680"/>
          </a:xfrm>
          <a:prstGeom prst="roundRect">
            <a:avLst>
              <a:gd name="adj" fmla="val 7368"/>
            </a:avLst>
          </a:prstGeom>
          <a:solidFill>
            <a:srgbClr val="EDF2F7"/>
          </a:solidFill>
          <a:ln w="12700">
            <a:solidFill>
              <a:srgbClr val="CFDBE5"/>
            </a:solidFill>
            <a:prstDash val="solid"/>
          </a:ln>
        </p:spPr>
      </p:sp>
      <p:sp>
        <p:nvSpPr>
          <p:cNvPr id="26" name="Text 24"/>
          <p:cNvSpPr txBox="1"/>
          <p:nvPr/>
        </p:nvSpPr>
        <p:spPr>
          <a:xfrm>
            <a:off x="3747440" y="2368296"/>
            <a:ext cx="1882064" cy="667512"/>
          </a:xfrm>
          <a:prstGeom prst="rect">
            <a:avLst/>
          </a:prstGeom>
          <a:noFill/>
          <a:ln/>
        </p:spPr>
        <p:txBody>
          <a:bodyPr wrap="square" lIns="0" tIns="0" rIns="0" bIns="0" rtlCol="0" anchor="t"/>
          <a:lstStyle/>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p:txBody>
      </p:sp>
      <p:sp>
        <p:nvSpPr>
          <p:cNvPr id="27" name="Text 25"/>
          <p:cNvSpPr txBox="1"/>
          <p:nvPr/>
        </p:nvSpPr>
        <p:spPr>
          <a:xfrm>
            <a:off x="3582848" y="3264408"/>
            <a:ext cx="2211248"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MEMORY</a:t>
            </a:r>
            <a:endParaRPr lang="en-US" sz="950" dirty="0"/>
          </a:p>
        </p:txBody>
      </p:sp>
      <p:sp>
        <p:nvSpPr>
          <p:cNvPr id="28" name="Shape 26"/>
          <p:cNvSpPr/>
          <p:nvPr/>
        </p:nvSpPr>
        <p:spPr>
          <a:xfrm>
            <a:off x="3582848" y="3538728"/>
            <a:ext cx="2211248" cy="475488"/>
          </a:xfrm>
          <a:prstGeom prst="roundRect">
            <a:avLst>
              <a:gd name="adj" fmla="val 11538"/>
            </a:avLst>
          </a:prstGeom>
          <a:solidFill>
            <a:srgbClr val="FBEEE0"/>
          </a:solidFill>
          <a:ln w="15875">
            <a:solidFill>
              <a:srgbClr val="C4560C"/>
            </a:solidFill>
            <a:prstDash val="solid"/>
          </a:ln>
        </p:spPr>
      </p:sp>
      <p:sp>
        <p:nvSpPr>
          <p:cNvPr id="29" name="Text 27"/>
          <p:cNvSpPr txBox="1"/>
          <p:nvPr/>
        </p:nvSpPr>
        <p:spPr>
          <a:xfrm>
            <a:off x="3729152" y="3538728"/>
            <a:ext cx="995062" cy="475488"/>
          </a:xfrm>
          <a:prstGeom prst="rect">
            <a:avLst/>
          </a:prstGeom>
          <a:noFill/>
          <a:ln/>
        </p:spPr>
        <p:txBody>
          <a:bodyPr wrap="square" lIns="0" tIns="0" rIns="0" bIns="0" rtlCol="0" anchor="ctr"/>
          <a:lstStyle/>
          <a:p>
            <a:pPr indent="0" marL="0">
              <a:buNone/>
            </a:pPr>
            <a:r>
              <a:rPr lang="en-US" sz="1150" dirty="0">
                <a:solidFill>
                  <a:srgbClr val="3A536B"/>
                </a:solidFill>
                <a:latin typeface="Courier New" pitchFamily="34" charset="0"/>
                <a:ea typeface="Courier New" pitchFamily="34" charset="-122"/>
                <a:cs typeface="Courier New" pitchFamily="34" charset="-120"/>
              </a:rPr>
              <a:t>radius</a:t>
            </a:r>
            <a:endParaRPr lang="en-US" sz="1150" dirty="0"/>
          </a:p>
        </p:txBody>
      </p:sp>
      <p:sp>
        <p:nvSpPr>
          <p:cNvPr id="30" name="Text 28"/>
          <p:cNvSpPr txBox="1"/>
          <p:nvPr/>
        </p:nvSpPr>
        <p:spPr>
          <a:xfrm>
            <a:off x="4577909" y="3538728"/>
            <a:ext cx="1069882" cy="475488"/>
          </a:xfrm>
          <a:prstGeom prst="rect">
            <a:avLst/>
          </a:prstGeom>
          <a:noFill/>
          <a:ln/>
        </p:spPr>
        <p:txBody>
          <a:bodyPr wrap="square" lIns="0" tIns="0" rIns="0" bIns="0" rtlCol="0" anchor="ctr"/>
          <a:lstStyle/>
          <a:p>
            <a:pPr algn="r" indent="0" marL="0">
              <a:buNone/>
            </a:pPr>
            <a:r>
              <a:rPr lang="en-US" sz="1150" b="1" dirty="0">
                <a:solidFill>
                  <a:srgbClr val="9A430A"/>
                </a:solidFill>
                <a:latin typeface="Courier New" pitchFamily="34" charset="0"/>
                <a:ea typeface="Courier New" pitchFamily="34" charset="-122"/>
                <a:cs typeface="Courier New" pitchFamily="34" charset="-120"/>
              </a:rPr>
              <a:t>20.0</a:t>
            </a:r>
            <a:endParaRPr lang="en-US" sz="1150" dirty="0"/>
          </a:p>
        </p:txBody>
      </p:sp>
      <p:sp>
        <p:nvSpPr>
          <p:cNvPr id="31" name="Shape 29"/>
          <p:cNvSpPr/>
          <p:nvPr/>
        </p:nvSpPr>
        <p:spPr>
          <a:xfrm>
            <a:off x="3582848" y="4123944"/>
            <a:ext cx="2211248" cy="475488"/>
          </a:xfrm>
          <a:prstGeom prst="roundRect">
            <a:avLst>
              <a:gd name="adj" fmla="val 11538"/>
            </a:avLst>
          </a:prstGeom>
          <a:solidFill>
            <a:srgbClr val="FFFFFF"/>
          </a:solidFill>
          <a:ln w="15875">
            <a:solidFill>
              <a:srgbClr val="D3DEE7"/>
            </a:solidFill>
            <a:prstDash val="solid"/>
          </a:ln>
        </p:spPr>
      </p:sp>
      <p:sp>
        <p:nvSpPr>
          <p:cNvPr id="32" name="Text 30"/>
          <p:cNvSpPr txBox="1"/>
          <p:nvPr/>
        </p:nvSpPr>
        <p:spPr>
          <a:xfrm>
            <a:off x="3729152" y="4123944"/>
            <a:ext cx="995062" cy="475488"/>
          </a:xfrm>
          <a:prstGeom prst="rect">
            <a:avLst/>
          </a:prstGeom>
          <a:noFill/>
          <a:ln/>
        </p:spPr>
        <p:txBody>
          <a:bodyPr wrap="square" lIns="0" tIns="0" rIns="0" bIns="0" rtlCol="0" anchor="ctr"/>
          <a:lstStyle/>
          <a:p>
            <a:pPr indent="0" marL="0">
              <a:buNone/>
            </a:pPr>
            <a:r>
              <a:rPr lang="en-US" sz="1150" dirty="0">
                <a:solidFill>
                  <a:srgbClr val="3A536B"/>
                </a:solidFill>
                <a:latin typeface="Courier New" pitchFamily="34" charset="0"/>
                <a:ea typeface="Courier New" pitchFamily="34" charset="-122"/>
                <a:cs typeface="Courier New" pitchFamily="34" charset="-120"/>
              </a:rPr>
              <a:t>area</a:t>
            </a:r>
            <a:endParaRPr lang="en-US" sz="1150" dirty="0"/>
          </a:p>
        </p:txBody>
      </p:sp>
      <p:sp>
        <p:nvSpPr>
          <p:cNvPr id="33" name="Text 31"/>
          <p:cNvSpPr txBox="1"/>
          <p:nvPr/>
        </p:nvSpPr>
        <p:spPr>
          <a:xfrm>
            <a:off x="4577909" y="4123944"/>
            <a:ext cx="1069882" cy="475488"/>
          </a:xfrm>
          <a:prstGeom prst="rect">
            <a:avLst/>
          </a:prstGeom>
          <a:noFill/>
          <a:ln/>
        </p:spPr>
        <p:txBody>
          <a:bodyPr wrap="square" lIns="0" tIns="0" rIns="0" bIns="0" rtlCol="0" anchor="ctr"/>
          <a:lstStyle/>
          <a:p>
            <a:pPr algn="r" indent="0" marL="0">
              <a:buNone/>
            </a:pPr>
            <a:r>
              <a:rPr lang="en-US" sz="1150" b="1" dirty="0">
                <a:solidFill>
                  <a:srgbClr val="4B6377"/>
                </a:solidFill>
                <a:latin typeface="Courier New" pitchFamily="34" charset="0"/>
                <a:ea typeface="Courier New" pitchFamily="34" charset="-122"/>
                <a:cs typeface="Courier New" pitchFamily="34" charset="-120"/>
              </a:rPr>
              <a:t>—</a:t>
            </a:r>
            <a:endParaRPr lang="en-US" sz="1150" dirty="0"/>
          </a:p>
        </p:txBody>
      </p:sp>
      <p:sp>
        <p:nvSpPr>
          <p:cNvPr id="34" name="Text 32"/>
          <p:cNvSpPr txBox="1"/>
          <p:nvPr/>
        </p:nvSpPr>
        <p:spPr>
          <a:xfrm>
            <a:off x="3601136" y="4855464"/>
            <a:ext cx="2174672" cy="914400"/>
          </a:xfrm>
          <a:prstGeom prst="rect">
            <a:avLst/>
          </a:prstGeom>
          <a:noFill/>
          <a:ln/>
        </p:spPr>
        <p:txBody>
          <a:bodyPr wrap="square" lIns="0" tIns="0" rIns="0" bIns="0" rtlCol="0" anchor="t"/>
          <a:lstStyle/>
          <a:p>
            <a:pPr indent="0" marL="0">
              <a:lnSpc>
                <a:spcPct val="110000"/>
              </a:lnSpc>
              <a:buNone/>
            </a:pPr>
            <a:r>
              <a:rPr lang="en-US" sz="1100" dirty="0">
                <a:solidFill>
                  <a:srgbClr val="3A536B"/>
                </a:solidFill>
                <a:latin typeface="Calibri" pitchFamily="34" charset="0"/>
                <a:ea typeface="Calibri" pitchFamily="34" charset="-122"/>
                <a:cs typeface="Calibri" pitchFamily="34" charset="-120"/>
              </a:rPr>
              <a:t>20 is an int literal, widened to the double 20.0 on the way in.</a:t>
            </a:r>
            <a:endParaRPr lang="en-US" sz="1100" dirty="0"/>
          </a:p>
        </p:txBody>
      </p:sp>
      <p:sp>
        <p:nvSpPr>
          <p:cNvPr id="35" name="Shape 33"/>
          <p:cNvSpPr/>
          <p:nvPr/>
        </p:nvSpPr>
        <p:spPr>
          <a:xfrm>
            <a:off x="6196432" y="1536192"/>
            <a:ext cx="2613584" cy="4114800"/>
          </a:xfrm>
          <a:prstGeom prst="roundRect">
            <a:avLst>
              <a:gd name="adj" fmla="val 3149"/>
            </a:avLst>
          </a:prstGeom>
          <a:solidFill>
            <a:srgbClr val="F1F5F9"/>
          </a:solidFill>
          <a:ln w="12700">
            <a:solidFill>
              <a:srgbClr val="F1F5F9"/>
            </a:solidFill>
            <a:prstDash val="solid"/>
          </a:ln>
        </p:spPr>
      </p:sp>
      <p:sp>
        <p:nvSpPr>
          <p:cNvPr id="36" name="Shape 34"/>
          <p:cNvSpPr/>
          <p:nvPr/>
        </p:nvSpPr>
        <p:spPr>
          <a:xfrm>
            <a:off x="6415888" y="1737360"/>
            <a:ext cx="365760" cy="365760"/>
          </a:xfrm>
          <a:prstGeom prst="ellipse">
            <a:avLst/>
          </a:prstGeom>
          <a:solidFill>
            <a:srgbClr val="C4560C"/>
          </a:solidFill>
          <a:ln w="12700">
            <a:solidFill>
              <a:srgbClr val="C4560C"/>
            </a:solidFill>
            <a:prstDash val="solid"/>
          </a:ln>
        </p:spPr>
      </p:sp>
      <p:sp>
        <p:nvSpPr>
          <p:cNvPr id="37" name="Text 35"/>
          <p:cNvSpPr txBox="1"/>
          <p:nvPr/>
        </p:nvSpPr>
        <p:spPr>
          <a:xfrm>
            <a:off x="6415888"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6"/>
          <p:cNvSpPr txBox="1"/>
          <p:nvPr/>
        </p:nvSpPr>
        <p:spPr>
          <a:xfrm>
            <a:off x="6873088" y="1719072"/>
            <a:ext cx="1717472" cy="402336"/>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Compute</a:t>
            </a:r>
            <a:endParaRPr lang="en-US" sz="1500" dirty="0"/>
          </a:p>
        </p:txBody>
      </p:sp>
      <p:sp>
        <p:nvSpPr>
          <p:cNvPr id="39" name="Shape 37"/>
          <p:cNvSpPr/>
          <p:nvPr/>
        </p:nvSpPr>
        <p:spPr>
          <a:xfrm>
            <a:off x="6397600" y="2231136"/>
            <a:ext cx="2211248" cy="868680"/>
          </a:xfrm>
          <a:prstGeom prst="roundRect">
            <a:avLst>
              <a:gd name="adj" fmla="val 7368"/>
            </a:avLst>
          </a:prstGeom>
          <a:solidFill>
            <a:srgbClr val="EDF2F7"/>
          </a:solidFill>
          <a:ln w="12700">
            <a:solidFill>
              <a:srgbClr val="CFDBE5"/>
            </a:solidFill>
            <a:prstDash val="solid"/>
          </a:ln>
        </p:spPr>
      </p:sp>
      <p:sp>
        <p:nvSpPr>
          <p:cNvPr id="40" name="Text 38"/>
          <p:cNvSpPr txBox="1"/>
          <p:nvPr/>
        </p:nvSpPr>
        <p:spPr>
          <a:xfrm>
            <a:off x="6562192" y="2368296"/>
            <a:ext cx="1882064" cy="667512"/>
          </a:xfrm>
          <a:prstGeom prst="rect">
            <a:avLst/>
          </a:prstGeom>
          <a:noFill/>
          <a:ln/>
        </p:spPr>
        <p:txBody>
          <a:bodyPr wrap="square" lIns="0" tIns="0" rIns="0" bIns="0" rtlCol="0" anchor="t"/>
          <a:lstStyle/>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radius</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radius</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3.14159</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p:txBody>
      </p:sp>
      <p:sp>
        <p:nvSpPr>
          <p:cNvPr id="41" name="Text 39"/>
          <p:cNvSpPr txBox="1"/>
          <p:nvPr/>
        </p:nvSpPr>
        <p:spPr>
          <a:xfrm>
            <a:off x="6397600" y="3264408"/>
            <a:ext cx="2211248"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MEMORY</a:t>
            </a:r>
            <a:endParaRPr lang="en-US" sz="950" dirty="0"/>
          </a:p>
        </p:txBody>
      </p:sp>
      <p:sp>
        <p:nvSpPr>
          <p:cNvPr id="42" name="Shape 40"/>
          <p:cNvSpPr/>
          <p:nvPr/>
        </p:nvSpPr>
        <p:spPr>
          <a:xfrm>
            <a:off x="6397600" y="3538728"/>
            <a:ext cx="2211248" cy="475488"/>
          </a:xfrm>
          <a:prstGeom prst="roundRect">
            <a:avLst>
              <a:gd name="adj" fmla="val 11538"/>
            </a:avLst>
          </a:prstGeom>
          <a:solidFill>
            <a:srgbClr val="FBEEE0"/>
          </a:solidFill>
          <a:ln w="15875">
            <a:solidFill>
              <a:srgbClr val="C4560C"/>
            </a:solidFill>
            <a:prstDash val="solid"/>
          </a:ln>
        </p:spPr>
      </p:sp>
      <p:sp>
        <p:nvSpPr>
          <p:cNvPr id="43" name="Text 41"/>
          <p:cNvSpPr txBox="1"/>
          <p:nvPr/>
        </p:nvSpPr>
        <p:spPr>
          <a:xfrm>
            <a:off x="6543904" y="3538728"/>
            <a:ext cx="995062" cy="475488"/>
          </a:xfrm>
          <a:prstGeom prst="rect">
            <a:avLst/>
          </a:prstGeom>
          <a:noFill/>
          <a:ln/>
        </p:spPr>
        <p:txBody>
          <a:bodyPr wrap="square" lIns="0" tIns="0" rIns="0" bIns="0" rtlCol="0" anchor="ctr"/>
          <a:lstStyle/>
          <a:p>
            <a:pPr indent="0" marL="0">
              <a:buNone/>
            </a:pPr>
            <a:r>
              <a:rPr lang="en-US" sz="1150" dirty="0">
                <a:solidFill>
                  <a:srgbClr val="3A536B"/>
                </a:solidFill>
                <a:latin typeface="Courier New" pitchFamily="34" charset="0"/>
                <a:ea typeface="Courier New" pitchFamily="34" charset="-122"/>
                <a:cs typeface="Courier New" pitchFamily="34" charset="-120"/>
              </a:rPr>
              <a:t>radius</a:t>
            </a:r>
            <a:endParaRPr lang="en-US" sz="1150" dirty="0"/>
          </a:p>
        </p:txBody>
      </p:sp>
      <p:sp>
        <p:nvSpPr>
          <p:cNvPr id="44" name="Text 42"/>
          <p:cNvSpPr txBox="1"/>
          <p:nvPr/>
        </p:nvSpPr>
        <p:spPr>
          <a:xfrm>
            <a:off x="7392661" y="3538728"/>
            <a:ext cx="1069882" cy="475488"/>
          </a:xfrm>
          <a:prstGeom prst="rect">
            <a:avLst/>
          </a:prstGeom>
          <a:noFill/>
          <a:ln/>
        </p:spPr>
        <p:txBody>
          <a:bodyPr wrap="square" lIns="0" tIns="0" rIns="0" bIns="0" rtlCol="0" anchor="ctr"/>
          <a:lstStyle/>
          <a:p>
            <a:pPr algn="r" indent="0" marL="0">
              <a:buNone/>
            </a:pPr>
            <a:r>
              <a:rPr lang="en-US" sz="1150" b="1" dirty="0">
                <a:solidFill>
                  <a:srgbClr val="9A430A"/>
                </a:solidFill>
                <a:latin typeface="Courier New" pitchFamily="34" charset="0"/>
                <a:ea typeface="Courier New" pitchFamily="34" charset="-122"/>
                <a:cs typeface="Courier New" pitchFamily="34" charset="-120"/>
              </a:rPr>
              <a:t>20.0</a:t>
            </a:r>
            <a:endParaRPr lang="en-US" sz="1150" dirty="0"/>
          </a:p>
        </p:txBody>
      </p:sp>
      <p:sp>
        <p:nvSpPr>
          <p:cNvPr id="45" name="Shape 43"/>
          <p:cNvSpPr/>
          <p:nvPr/>
        </p:nvSpPr>
        <p:spPr>
          <a:xfrm>
            <a:off x="6397600" y="4123944"/>
            <a:ext cx="2211248" cy="475488"/>
          </a:xfrm>
          <a:prstGeom prst="roundRect">
            <a:avLst>
              <a:gd name="adj" fmla="val 11538"/>
            </a:avLst>
          </a:prstGeom>
          <a:solidFill>
            <a:srgbClr val="FBEEE0"/>
          </a:solidFill>
          <a:ln w="15875">
            <a:solidFill>
              <a:srgbClr val="C4560C"/>
            </a:solidFill>
            <a:prstDash val="solid"/>
          </a:ln>
        </p:spPr>
      </p:sp>
      <p:sp>
        <p:nvSpPr>
          <p:cNvPr id="46" name="Text 44"/>
          <p:cNvSpPr txBox="1"/>
          <p:nvPr/>
        </p:nvSpPr>
        <p:spPr>
          <a:xfrm>
            <a:off x="6543904" y="4123944"/>
            <a:ext cx="995062" cy="475488"/>
          </a:xfrm>
          <a:prstGeom prst="rect">
            <a:avLst/>
          </a:prstGeom>
          <a:noFill/>
          <a:ln/>
        </p:spPr>
        <p:txBody>
          <a:bodyPr wrap="square" lIns="0" tIns="0" rIns="0" bIns="0" rtlCol="0" anchor="ctr"/>
          <a:lstStyle/>
          <a:p>
            <a:pPr indent="0" marL="0">
              <a:buNone/>
            </a:pPr>
            <a:r>
              <a:rPr lang="en-US" sz="1150" dirty="0">
                <a:solidFill>
                  <a:srgbClr val="3A536B"/>
                </a:solidFill>
                <a:latin typeface="Courier New" pitchFamily="34" charset="0"/>
                <a:ea typeface="Courier New" pitchFamily="34" charset="-122"/>
                <a:cs typeface="Courier New" pitchFamily="34" charset="-120"/>
              </a:rPr>
              <a:t>area</a:t>
            </a:r>
            <a:endParaRPr lang="en-US" sz="1150" dirty="0"/>
          </a:p>
        </p:txBody>
      </p:sp>
      <p:sp>
        <p:nvSpPr>
          <p:cNvPr id="47" name="Text 45"/>
          <p:cNvSpPr txBox="1"/>
          <p:nvPr/>
        </p:nvSpPr>
        <p:spPr>
          <a:xfrm>
            <a:off x="7392661" y="4123944"/>
            <a:ext cx="1069882" cy="475488"/>
          </a:xfrm>
          <a:prstGeom prst="rect">
            <a:avLst/>
          </a:prstGeom>
          <a:noFill/>
          <a:ln/>
        </p:spPr>
        <p:txBody>
          <a:bodyPr wrap="square" lIns="0" tIns="0" rIns="0" bIns="0" rtlCol="0" anchor="ctr"/>
          <a:lstStyle/>
          <a:p>
            <a:pPr algn="r" indent="0" marL="0">
              <a:buNone/>
            </a:pPr>
            <a:r>
              <a:rPr lang="en-US" sz="1150" b="1" dirty="0">
                <a:solidFill>
                  <a:srgbClr val="9A430A"/>
                </a:solidFill>
                <a:latin typeface="Courier New" pitchFamily="34" charset="0"/>
                <a:ea typeface="Courier New" pitchFamily="34" charset="-122"/>
                <a:cs typeface="Courier New" pitchFamily="34" charset="-120"/>
              </a:rPr>
              <a:t>1256.636</a:t>
            </a:r>
            <a:endParaRPr lang="en-US" sz="1150" dirty="0"/>
          </a:p>
        </p:txBody>
      </p:sp>
      <p:sp>
        <p:nvSpPr>
          <p:cNvPr id="48" name="Text 46"/>
          <p:cNvSpPr txBox="1"/>
          <p:nvPr/>
        </p:nvSpPr>
        <p:spPr>
          <a:xfrm>
            <a:off x="6415888" y="4855464"/>
            <a:ext cx="2174672" cy="914400"/>
          </a:xfrm>
          <a:prstGeom prst="rect">
            <a:avLst/>
          </a:prstGeom>
          <a:noFill/>
          <a:ln/>
        </p:spPr>
        <p:txBody>
          <a:bodyPr wrap="square" lIns="0" tIns="0" rIns="0" bIns="0" rtlCol="0" anchor="t"/>
          <a:lstStyle/>
          <a:p>
            <a:pPr indent="0" marL="0">
              <a:lnSpc>
                <a:spcPct val="110000"/>
              </a:lnSpc>
              <a:buNone/>
            </a:pPr>
            <a:r>
              <a:rPr lang="en-US" sz="1100" dirty="0">
                <a:solidFill>
                  <a:srgbClr val="3A536B"/>
                </a:solidFill>
                <a:latin typeface="Calibri" pitchFamily="34" charset="0"/>
                <a:ea typeface="Calibri" pitchFamily="34" charset="-122"/>
                <a:cs typeface="Calibri" pitchFamily="34" charset="-120"/>
              </a:rPr>
              <a:t>The expression on the right is evaluated first, then the result is stored.</a:t>
            </a:r>
            <a:endParaRPr lang="en-US" sz="1100" dirty="0"/>
          </a:p>
        </p:txBody>
      </p:sp>
      <p:sp>
        <p:nvSpPr>
          <p:cNvPr id="49" name="Shape 47"/>
          <p:cNvSpPr/>
          <p:nvPr/>
        </p:nvSpPr>
        <p:spPr>
          <a:xfrm>
            <a:off x="9011183" y="1536192"/>
            <a:ext cx="2613584" cy="4114800"/>
          </a:xfrm>
          <a:prstGeom prst="roundRect">
            <a:avLst>
              <a:gd name="adj" fmla="val 3149"/>
            </a:avLst>
          </a:prstGeom>
          <a:solidFill>
            <a:srgbClr val="F1F5F9"/>
          </a:solidFill>
          <a:ln w="12700">
            <a:solidFill>
              <a:srgbClr val="F1F5F9"/>
            </a:solidFill>
            <a:prstDash val="solid"/>
          </a:ln>
        </p:spPr>
      </p:sp>
      <p:sp>
        <p:nvSpPr>
          <p:cNvPr id="50" name="Shape 48"/>
          <p:cNvSpPr/>
          <p:nvPr/>
        </p:nvSpPr>
        <p:spPr>
          <a:xfrm>
            <a:off x="9230639" y="1737360"/>
            <a:ext cx="365760" cy="365760"/>
          </a:xfrm>
          <a:prstGeom prst="ellipse">
            <a:avLst/>
          </a:prstGeom>
          <a:solidFill>
            <a:srgbClr val="C4560C"/>
          </a:solidFill>
          <a:ln w="12700">
            <a:solidFill>
              <a:srgbClr val="C4560C"/>
            </a:solidFill>
            <a:prstDash val="solid"/>
          </a:ln>
        </p:spPr>
      </p:sp>
      <p:sp>
        <p:nvSpPr>
          <p:cNvPr id="51" name="Text 49"/>
          <p:cNvSpPr txBox="1"/>
          <p:nvPr/>
        </p:nvSpPr>
        <p:spPr>
          <a:xfrm>
            <a:off x="9230639"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2" name="Text 50"/>
          <p:cNvSpPr txBox="1"/>
          <p:nvPr/>
        </p:nvSpPr>
        <p:spPr>
          <a:xfrm>
            <a:off x="9687839" y="1719072"/>
            <a:ext cx="1717472" cy="402336"/>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Print</a:t>
            </a:r>
            <a:endParaRPr lang="en-US" sz="1500" dirty="0"/>
          </a:p>
        </p:txBody>
      </p:sp>
      <p:sp>
        <p:nvSpPr>
          <p:cNvPr id="53" name="Shape 51"/>
          <p:cNvSpPr/>
          <p:nvPr/>
        </p:nvSpPr>
        <p:spPr>
          <a:xfrm>
            <a:off x="9212351" y="2231136"/>
            <a:ext cx="2211248" cy="868680"/>
          </a:xfrm>
          <a:prstGeom prst="roundRect">
            <a:avLst>
              <a:gd name="adj" fmla="val 7368"/>
            </a:avLst>
          </a:prstGeom>
          <a:solidFill>
            <a:srgbClr val="EDF2F7"/>
          </a:solidFill>
          <a:ln w="12700">
            <a:solidFill>
              <a:srgbClr val="CFDBE5"/>
            </a:solidFill>
            <a:prstDash val="solid"/>
          </a:ln>
        </p:spPr>
      </p:sp>
      <p:sp>
        <p:nvSpPr>
          <p:cNvPr id="54" name="Text 52"/>
          <p:cNvSpPr txBox="1"/>
          <p:nvPr/>
        </p:nvSpPr>
        <p:spPr>
          <a:xfrm>
            <a:off x="9376943" y="2368296"/>
            <a:ext cx="1882064" cy="667512"/>
          </a:xfrm>
          <a:prstGeom prst="rect">
            <a:avLst/>
          </a:prstGeom>
          <a:noFill/>
          <a:ln/>
        </p:spPr>
        <p:txBody>
          <a:bodyPr wrap="square" lIns="0" tIns="0" rIns="0" bIns="0" rtlCol="0" anchor="t"/>
          <a:lstStyle/>
          <a:p>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614A"/>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radius</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614A"/>
                </a:solidFill>
                <a:latin typeface="Courier New" pitchFamily="34" charset="0"/>
                <a:ea typeface="Courier New" pitchFamily="34" charset="-122"/>
                <a:cs typeface="Courier New" pitchFamily="34" charset="-120"/>
              </a:rPr>
              <a:t>" is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p:txBody>
      </p:sp>
      <p:sp>
        <p:nvSpPr>
          <p:cNvPr id="55" name="Text 53"/>
          <p:cNvSpPr txBox="1"/>
          <p:nvPr/>
        </p:nvSpPr>
        <p:spPr>
          <a:xfrm>
            <a:off x="9212351" y="3264408"/>
            <a:ext cx="2211248"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MEMORY</a:t>
            </a:r>
            <a:endParaRPr lang="en-US" sz="950" dirty="0"/>
          </a:p>
        </p:txBody>
      </p:sp>
      <p:sp>
        <p:nvSpPr>
          <p:cNvPr id="56" name="Shape 54"/>
          <p:cNvSpPr/>
          <p:nvPr/>
        </p:nvSpPr>
        <p:spPr>
          <a:xfrm>
            <a:off x="9212351" y="3538728"/>
            <a:ext cx="2211248" cy="475488"/>
          </a:xfrm>
          <a:prstGeom prst="roundRect">
            <a:avLst>
              <a:gd name="adj" fmla="val 11538"/>
            </a:avLst>
          </a:prstGeom>
          <a:solidFill>
            <a:srgbClr val="FBEEE0"/>
          </a:solidFill>
          <a:ln w="15875">
            <a:solidFill>
              <a:srgbClr val="C4560C"/>
            </a:solidFill>
            <a:prstDash val="solid"/>
          </a:ln>
        </p:spPr>
      </p:sp>
      <p:sp>
        <p:nvSpPr>
          <p:cNvPr id="57" name="Text 55"/>
          <p:cNvSpPr txBox="1"/>
          <p:nvPr/>
        </p:nvSpPr>
        <p:spPr>
          <a:xfrm>
            <a:off x="9358655" y="3538728"/>
            <a:ext cx="995062" cy="475488"/>
          </a:xfrm>
          <a:prstGeom prst="rect">
            <a:avLst/>
          </a:prstGeom>
          <a:noFill/>
          <a:ln/>
        </p:spPr>
        <p:txBody>
          <a:bodyPr wrap="square" lIns="0" tIns="0" rIns="0" bIns="0" rtlCol="0" anchor="ctr"/>
          <a:lstStyle/>
          <a:p>
            <a:pPr indent="0" marL="0">
              <a:buNone/>
            </a:pPr>
            <a:r>
              <a:rPr lang="en-US" sz="1150" dirty="0">
                <a:solidFill>
                  <a:srgbClr val="3A536B"/>
                </a:solidFill>
                <a:latin typeface="Courier New" pitchFamily="34" charset="0"/>
                <a:ea typeface="Courier New" pitchFamily="34" charset="-122"/>
                <a:cs typeface="Courier New" pitchFamily="34" charset="-120"/>
              </a:rPr>
              <a:t>radius</a:t>
            </a:r>
            <a:endParaRPr lang="en-US" sz="1150" dirty="0"/>
          </a:p>
        </p:txBody>
      </p:sp>
      <p:sp>
        <p:nvSpPr>
          <p:cNvPr id="58" name="Text 56"/>
          <p:cNvSpPr txBox="1"/>
          <p:nvPr/>
        </p:nvSpPr>
        <p:spPr>
          <a:xfrm>
            <a:off x="10207413" y="3538728"/>
            <a:ext cx="1069882" cy="475488"/>
          </a:xfrm>
          <a:prstGeom prst="rect">
            <a:avLst/>
          </a:prstGeom>
          <a:noFill/>
          <a:ln/>
        </p:spPr>
        <p:txBody>
          <a:bodyPr wrap="square" lIns="0" tIns="0" rIns="0" bIns="0" rtlCol="0" anchor="ctr"/>
          <a:lstStyle/>
          <a:p>
            <a:pPr algn="r" indent="0" marL="0">
              <a:buNone/>
            </a:pPr>
            <a:r>
              <a:rPr lang="en-US" sz="1150" b="1" dirty="0">
                <a:solidFill>
                  <a:srgbClr val="9A430A"/>
                </a:solidFill>
                <a:latin typeface="Courier New" pitchFamily="34" charset="0"/>
                <a:ea typeface="Courier New" pitchFamily="34" charset="-122"/>
                <a:cs typeface="Courier New" pitchFamily="34" charset="-120"/>
              </a:rPr>
              <a:t>20.0</a:t>
            </a:r>
            <a:endParaRPr lang="en-US" sz="1150" dirty="0"/>
          </a:p>
        </p:txBody>
      </p:sp>
      <p:sp>
        <p:nvSpPr>
          <p:cNvPr id="59" name="Shape 57"/>
          <p:cNvSpPr/>
          <p:nvPr/>
        </p:nvSpPr>
        <p:spPr>
          <a:xfrm>
            <a:off x="9212351" y="4123944"/>
            <a:ext cx="2211248" cy="475488"/>
          </a:xfrm>
          <a:prstGeom prst="roundRect">
            <a:avLst>
              <a:gd name="adj" fmla="val 11538"/>
            </a:avLst>
          </a:prstGeom>
          <a:solidFill>
            <a:srgbClr val="FBEEE0"/>
          </a:solidFill>
          <a:ln w="15875">
            <a:solidFill>
              <a:srgbClr val="C4560C"/>
            </a:solidFill>
            <a:prstDash val="solid"/>
          </a:ln>
        </p:spPr>
      </p:sp>
      <p:sp>
        <p:nvSpPr>
          <p:cNvPr id="60" name="Text 58"/>
          <p:cNvSpPr txBox="1"/>
          <p:nvPr/>
        </p:nvSpPr>
        <p:spPr>
          <a:xfrm>
            <a:off x="9358655" y="4123944"/>
            <a:ext cx="995062" cy="475488"/>
          </a:xfrm>
          <a:prstGeom prst="rect">
            <a:avLst/>
          </a:prstGeom>
          <a:noFill/>
          <a:ln/>
        </p:spPr>
        <p:txBody>
          <a:bodyPr wrap="square" lIns="0" tIns="0" rIns="0" bIns="0" rtlCol="0" anchor="ctr"/>
          <a:lstStyle/>
          <a:p>
            <a:pPr indent="0" marL="0">
              <a:buNone/>
            </a:pPr>
            <a:r>
              <a:rPr lang="en-US" sz="1150" dirty="0">
                <a:solidFill>
                  <a:srgbClr val="3A536B"/>
                </a:solidFill>
                <a:latin typeface="Courier New" pitchFamily="34" charset="0"/>
                <a:ea typeface="Courier New" pitchFamily="34" charset="-122"/>
                <a:cs typeface="Courier New" pitchFamily="34" charset="-120"/>
              </a:rPr>
              <a:t>area</a:t>
            </a:r>
            <a:endParaRPr lang="en-US" sz="1150" dirty="0"/>
          </a:p>
        </p:txBody>
      </p:sp>
      <p:sp>
        <p:nvSpPr>
          <p:cNvPr id="61" name="Text 59"/>
          <p:cNvSpPr txBox="1"/>
          <p:nvPr/>
        </p:nvSpPr>
        <p:spPr>
          <a:xfrm>
            <a:off x="10207413" y="4123944"/>
            <a:ext cx="1069882" cy="475488"/>
          </a:xfrm>
          <a:prstGeom prst="rect">
            <a:avLst/>
          </a:prstGeom>
          <a:noFill/>
          <a:ln/>
        </p:spPr>
        <p:txBody>
          <a:bodyPr wrap="square" lIns="0" tIns="0" rIns="0" bIns="0" rtlCol="0" anchor="ctr"/>
          <a:lstStyle/>
          <a:p>
            <a:pPr algn="r" indent="0" marL="0">
              <a:buNone/>
            </a:pPr>
            <a:r>
              <a:rPr lang="en-US" sz="1150" b="1" dirty="0">
                <a:solidFill>
                  <a:srgbClr val="9A430A"/>
                </a:solidFill>
                <a:latin typeface="Courier New" pitchFamily="34" charset="0"/>
                <a:ea typeface="Courier New" pitchFamily="34" charset="-122"/>
                <a:cs typeface="Courier New" pitchFamily="34" charset="-120"/>
              </a:rPr>
              <a:t>1256.636</a:t>
            </a:r>
            <a:endParaRPr lang="en-US" sz="1150" dirty="0"/>
          </a:p>
        </p:txBody>
      </p:sp>
      <p:sp>
        <p:nvSpPr>
          <p:cNvPr id="62" name="Text 60"/>
          <p:cNvSpPr txBox="1"/>
          <p:nvPr/>
        </p:nvSpPr>
        <p:spPr>
          <a:xfrm>
            <a:off x="9230639" y="4855464"/>
            <a:ext cx="2174672" cy="914400"/>
          </a:xfrm>
          <a:prstGeom prst="rect">
            <a:avLst/>
          </a:prstGeom>
          <a:noFill/>
          <a:ln/>
        </p:spPr>
        <p:txBody>
          <a:bodyPr wrap="square" lIns="0" tIns="0" rIns="0" bIns="0" rtlCol="0" anchor="t"/>
          <a:lstStyle/>
          <a:p>
            <a:pPr indent="0" marL="0">
              <a:lnSpc>
                <a:spcPct val="110000"/>
              </a:lnSpc>
              <a:buNone/>
            </a:pPr>
            <a:r>
              <a:rPr lang="en-US" sz="1100" dirty="0">
                <a:solidFill>
                  <a:srgbClr val="3A536B"/>
                </a:solidFill>
                <a:latin typeface="Calibri" pitchFamily="34" charset="0"/>
                <a:ea typeface="Calibri" pitchFamily="34" charset="-122"/>
                <a:cs typeface="Calibri" pitchFamily="34" charset="-120"/>
              </a:rPr>
              <a:t>Nothing in memory changes. The values are turned into text and written out.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INPUT</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Reading Input from the Console: Scanner</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program that always computes the area of a circle of radius 20 is not much of a program.</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566928" y="1536192"/>
            <a:ext cx="6858000" cy="3373587"/>
          </a:xfrm>
          <a:prstGeom prst="roundRect">
            <a:avLst>
              <a:gd name="adj" fmla="val 1897"/>
            </a:avLst>
          </a:prstGeom>
          <a:solidFill>
            <a:srgbClr val="EDF2F7"/>
          </a:solidFill>
          <a:ln w="12700">
            <a:solidFill>
              <a:srgbClr val="CFDBE5"/>
            </a:solidFill>
            <a:prstDash val="solid"/>
          </a:ln>
        </p:spPr>
      </p:sp>
      <p:sp>
        <p:nvSpPr>
          <p:cNvPr id="8" name="Text 6"/>
          <p:cNvSpPr txBox="1"/>
          <p:nvPr/>
        </p:nvSpPr>
        <p:spPr>
          <a:xfrm>
            <a:off x="713232" y="1581912"/>
            <a:ext cx="65653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ComputeAreaWithConsoleInput.java</a:t>
            </a:r>
            <a:endParaRPr lang="en-US" sz="950" dirty="0"/>
          </a:p>
        </p:txBody>
      </p:sp>
      <p:sp>
        <p:nvSpPr>
          <p:cNvPr id="9" name="Text 7"/>
          <p:cNvSpPr txBox="1"/>
          <p:nvPr/>
        </p:nvSpPr>
        <p:spPr>
          <a:xfrm>
            <a:off x="731520" y="1810512"/>
            <a:ext cx="6528816" cy="3044403"/>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import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java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util</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needed before you can use it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class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ComputeAreaWithConsoleInput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static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main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args</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"Enter a radius: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nextDouble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"Area is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566928" y="5165811"/>
            <a:ext cx="6858000" cy="907085"/>
          </a:xfrm>
          <a:prstGeom prst="roundRect">
            <a:avLst>
              <a:gd name="adj" fmla="val 7056"/>
            </a:avLst>
          </a:prstGeom>
          <a:solidFill>
            <a:srgbClr val="FFFFFF"/>
          </a:solidFill>
          <a:ln w="12700">
            <a:solidFill>
              <a:srgbClr val="4B6377"/>
            </a:solidFill>
            <a:prstDash val="solid"/>
          </a:ln>
        </p:spPr>
      </p:sp>
      <p:sp>
        <p:nvSpPr>
          <p:cNvPr id="11" name="Text 9"/>
          <p:cNvSpPr txBox="1"/>
          <p:nvPr/>
        </p:nvSpPr>
        <p:spPr>
          <a:xfrm>
            <a:off x="713232" y="5238963"/>
            <a:ext cx="65653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5440131"/>
            <a:ext cx="6565392" cy="541325"/>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Enter a radius: 2.5</a:t>
            </a:r>
            <a:endParaRPr lang="en-US" sz="1200" dirty="0"/>
          </a:p>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Area is 19.634954084936208</a:t>
            </a:r>
            <a:endParaRPr lang="en-US" sz="1200" dirty="0"/>
          </a:p>
        </p:txBody>
      </p:sp>
      <p:sp>
        <p:nvSpPr>
          <p:cNvPr id="13" name="Shape 11"/>
          <p:cNvSpPr/>
          <p:nvPr/>
        </p:nvSpPr>
        <p:spPr>
          <a:xfrm>
            <a:off x="7790688" y="1536192"/>
            <a:ext cx="3834079" cy="1298448"/>
          </a:xfrm>
          <a:prstGeom prst="roundRect">
            <a:avLst>
              <a:gd name="adj" fmla="val 6338"/>
            </a:avLst>
          </a:prstGeom>
          <a:solidFill>
            <a:srgbClr val="F1F5F9"/>
          </a:solidFill>
          <a:ln w="12700">
            <a:solidFill>
              <a:srgbClr val="F1F5F9"/>
            </a:solidFill>
            <a:prstDash val="solid"/>
          </a:ln>
        </p:spPr>
      </p:sp>
      <p:sp>
        <p:nvSpPr>
          <p:cNvPr id="14" name="Shape 12"/>
          <p:cNvSpPr/>
          <p:nvPr/>
        </p:nvSpPr>
        <p:spPr>
          <a:xfrm>
            <a:off x="7991856" y="1728216"/>
            <a:ext cx="329184" cy="329184"/>
          </a:xfrm>
          <a:prstGeom prst="ellipse">
            <a:avLst/>
          </a:prstGeom>
          <a:solidFill>
            <a:srgbClr val="C4560C"/>
          </a:solidFill>
          <a:ln w="12700">
            <a:solidFill>
              <a:srgbClr val="C4560C"/>
            </a:solidFill>
            <a:prstDash val="solid"/>
          </a:ln>
        </p:spPr>
      </p:sp>
      <p:sp>
        <p:nvSpPr>
          <p:cNvPr id="15" name="Text 13"/>
          <p:cNvSpPr txBox="1"/>
          <p:nvPr/>
        </p:nvSpPr>
        <p:spPr>
          <a:xfrm>
            <a:off x="7991856" y="17282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4"/>
          <p:cNvSpPr txBox="1"/>
          <p:nvPr/>
        </p:nvSpPr>
        <p:spPr>
          <a:xfrm>
            <a:off x="8430768" y="1709928"/>
            <a:ext cx="2992831" cy="365760"/>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Import it</a:t>
            </a:r>
            <a:endParaRPr lang="en-US" sz="1450" dirty="0"/>
          </a:p>
        </p:txBody>
      </p:sp>
      <p:sp>
        <p:nvSpPr>
          <p:cNvPr id="17" name="Text 15"/>
          <p:cNvSpPr txBox="1"/>
          <p:nvPr/>
        </p:nvSpPr>
        <p:spPr>
          <a:xfrm>
            <a:off x="8010144" y="2157984"/>
            <a:ext cx="3395167" cy="548640"/>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Scanner lives in java.util, so it needs an import before the class.</a:t>
            </a:r>
            <a:endParaRPr lang="en-US" sz="1150" dirty="0"/>
          </a:p>
        </p:txBody>
      </p:sp>
      <p:sp>
        <p:nvSpPr>
          <p:cNvPr id="18" name="Shape 16"/>
          <p:cNvSpPr/>
          <p:nvPr/>
        </p:nvSpPr>
        <p:spPr>
          <a:xfrm>
            <a:off x="7790688" y="2944368"/>
            <a:ext cx="3834079" cy="1298448"/>
          </a:xfrm>
          <a:prstGeom prst="roundRect">
            <a:avLst>
              <a:gd name="adj" fmla="val 6338"/>
            </a:avLst>
          </a:prstGeom>
          <a:solidFill>
            <a:srgbClr val="F1F5F9"/>
          </a:solidFill>
          <a:ln w="12700">
            <a:solidFill>
              <a:srgbClr val="F1F5F9"/>
            </a:solidFill>
            <a:prstDash val="solid"/>
          </a:ln>
        </p:spPr>
      </p:sp>
      <p:sp>
        <p:nvSpPr>
          <p:cNvPr id="19" name="Shape 17"/>
          <p:cNvSpPr/>
          <p:nvPr/>
        </p:nvSpPr>
        <p:spPr>
          <a:xfrm>
            <a:off x="7991856" y="3136392"/>
            <a:ext cx="329184" cy="329184"/>
          </a:xfrm>
          <a:prstGeom prst="ellipse">
            <a:avLst/>
          </a:prstGeom>
          <a:solidFill>
            <a:srgbClr val="C4560C"/>
          </a:solidFill>
          <a:ln w="12700">
            <a:solidFill>
              <a:srgbClr val="C4560C"/>
            </a:solidFill>
            <a:prstDash val="solid"/>
          </a:ln>
        </p:spPr>
      </p:sp>
      <p:sp>
        <p:nvSpPr>
          <p:cNvPr id="20" name="Text 18"/>
          <p:cNvSpPr txBox="1"/>
          <p:nvPr/>
        </p:nvSpPr>
        <p:spPr>
          <a:xfrm>
            <a:off x="7991856" y="31363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9"/>
          <p:cNvSpPr txBox="1"/>
          <p:nvPr/>
        </p:nvSpPr>
        <p:spPr>
          <a:xfrm>
            <a:off x="8430768" y="3118104"/>
            <a:ext cx="2992831" cy="365760"/>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Create one object</a:t>
            </a:r>
            <a:endParaRPr lang="en-US" sz="1450" dirty="0"/>
          </a:p>
        </p:txBody>
      </p:sp>
      <p:sp>
        <p:nvSpPr>
          <p:cNvPr id="22" name="Text 20"/>
          <p:cNvSpPr txBox="1"/>
          <p:nvPr/>
        </p:nvSpPr>
        <p:spPr>
          <a:xfrm>
            <a:off x="8010144" y="3566160"/>
            <a:ext cx="3395167" cy="548640"/>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new Scanner(System.in) connects it to the keyboard. One is enough for the whole program.</a:t>
            </a:r>
            <a:endParaRPr lang="en-US" sz="1150" dirty="0"/>
          </a:p>
        </p:txBody>
      </p:sp>
      <p:sp>
        <p:nvSpPr>
          <p:cNvPr id="23" name="Shape 21"/>
          <p:cNvSpPr/>
          <p:nvPr/>
        </p:nvSpPr>
        <p:spPr>
          <a:xfrm>
            <a:off x="7790688" y="4352544"/>
            <a:ext cx="3834079" cy="1298448"/>
          </a:xfrm>
          <a:prstGeom prst="roundRect">
            <a:avLst>
              <a:gd name="adj" fmla="val 6338"/>
            </a:avLst>
          </a:prstGeom>
          <a:solidFill>
            <a:srgbClr val="F1F5F9"/>
          </a:solidFill>
          <a:ln w="12700">
            <a:solidFill>
              <a:srgbClr val="F1F5F9"/>
            </a:solidFill>
            <a:prstDash val="solid"/>
          </a:ln>
        </p:spPr>
      </p:sp>
      <p:sp>
        <p:nvSpPr>
          <p:cNvPr id="24" name="Shape 22"/>
          <p:cNvSpPr/>
          <p:nvPr/>
        </p:nvSpPr>
        <p:spPr>
          <a:xfrm>
            <a:off x="7991856" y="4544568"/>
            <a:ext cx="329184" cy="329184"/>
          </a:xfrm>
          <a:prstGeom prst="ellipse">
            <a:avLst/>
          </a:prstGeom>
          <a:solidFill>
            <a:srgbClr val="C4560C"/>
          </a:solidFill>
          <a:ln w="12700">
            <a:solidFill>
              <a:srgbClr val="C4560C"/>
            </a:solidFill>
            <a:prstDash val="solid"/>
          </a:ln>
        </p:spPr>
      </p:sp>
      <p:sp>
        <p:nvSpPr>
          <p:cNvPr id="25" name="Text 23"/>
          <p:cNvSpPr txBox="1"/>
          <p:nvPr/>
        </p:nvSpPr>
        <p:spPr>
          <a:xfrm>
            <a:off x="7991856" y="45445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txBox="1"/>
          <p:nvPr/>
        </p:nvSpPr>
        <p:spPr>
          <a:xfrm>
            <a:off x="8430768" y="4526280"/>
            <a:ext cx="2992831" cy="365760"/>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Ask, then read</a:t>
            </a:r>
            <a:endParaRPr lang="en-US" sz="1450" dirty="0"/>
          </a:p>
        </p:txBody>
      </p:sp>
      <p:sp>
        <p:nvSpPr>
          <p:cNvPr id="27" name="Text 25"/>
          <p:cNvSpPr txBox="1"/>
          <p:nvPr/>
        </p:nvSpPr>
        <p:spPr>
          <a:xfrm>
            <a:off x="8010144" y="4974336"/>
            <a:ext cx="3395167" cy="548640"/>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print the prompt (no ln — you want the cursor on the same line), then call a next… method.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INPUT</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One Method per Type — and Two Ways to Import</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261872"/>
          <a:ext cx="6400800" cy="914400"/>
        </p:xfrm>
        <a:graphic>
          <a:graphicData uri="http://schemas.openxmlformats.org/drawingml/2006/table">
            <a:tbl>
              <a:tblPr/>
              <a:tblGrid>
                <a:gridCol w="1691640"/>
                <a:gridCol w="3063240"/>
                <a:gridCol w="1645920"/>
              </a:tblGrid>
              <a:tr h="42062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Reads</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 input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42062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nextByte()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an integer of the byte type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2062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nextShort()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an integer of the short type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3000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2062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nextInt()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an integer of the int type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2026</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2062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nextLong()</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an integer of the long type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9000000000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2062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nextFloat()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 number of the float type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2.5</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2062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nextDouble()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 number of the double type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2.5</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2062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next()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one word, up to the next space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Rao</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2062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nextLine()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the rest of the line, spaces included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Narasimha Rao</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bl>
          </a:graphicData>
        </a:graphic>
      </p:graphicFrame>
      <p:sp>
        <p:nvSpPr>
          <p:cNvPr id="7" name="Shape 4"/>
          <p:cNvSpPr/>
          <p:nvPr/>
        </p:nvSpPr>
        <p:spPr>
          <a:xfrm>
            <a:off x="7333488" y="1261872"/>
            <a:ext cx="4291279" cy="755660"/>
          </a:xfrm>
          <a:prstGeom prst="roundRect">
            <a:avLst>
              <a:gd name="adj" fmla="val 8470"/>
            </a:avLst>
          </a:prstGeom>
          <a:solidFill>
            <a:srgbClr val="EDF2F7"/>
          </a:solidFill>
          <a:ln w="12700">
            <a:solidFill>
              <a:srgbClr val="CFDBE5"/>
            </a:solidFill>
            <a:prstDash val="solid"/>
          </a:ln>
        </p:spPr>
      </p:sp>
      <p:sp>
        <p:nvSpPr>
          <p:cNvPr id="6" name="Text 5"/>
          <p:cNvSpPr txBox="1"/>
          <p:nvPr/>
        </p:nvSpPr>
        <p:spPr>
          <a:xfrm>
            <a:off x="7498080" y="1399032"/>
            <a:ext cx="3962095" cy="55449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import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java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util</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wildcard</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import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java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util</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single type</a:t>
            </a:r>
            <a:endParaRPr lang="en-US" sz="1100" dirty="0"/>
          </a:p>
        </p:txBody>
      </p:sp>
      <p:sp>
        <p:nvSpPr>
          <p:cNvPr id="9" name="Shape 6"/>
          <p:cNvSpPr/>
          <p:nvPr/>
        </p:nvSpPr>
        <p:spPr>
          <a:xfrm>
            <a:off x="7333488" y="2273564"/>
            <a:ext cx="4291279" cy="1417320"/>
          </a:xfrm>
          <a:prstGeom prst="roundRect">
            <a:avLst>
              <a:gd name="adj" fmla="val 5806"/>
            </a:avLst>
          </a:prstGeom>
          <a:solidFill>
            <a:srgbClr val="FBEEE0"/>
          </a:solidFill>
          <a:ln w="12700">
            <a:solidFill>
              <a:srgbClr val="FBEEE0"/>
            </a:solidFill>
            <a:prstDash val="solid"/>
          </a:ln>
        </p:spPr>
      </p:sp>
      <p:sp>
        <p:nvSpPr>
          <p:cNvPr id="10" name="Text 7"/>
          <p:cNvSpPr txBox="1"/>
          <p:nvPr/>
        </p:nvSpPr>
        <p:spPr>
          <a:xfrm>
            <a:off x="7552944" y="2438156"/>
            <a:ext cx="38523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Which should you use?</a:t>
            </a:r>
            <a:endParaRPr lang="en-US" sz="1450" dirty="0"/>
          </a:p>
        </p:txBody>
      </p:sp>
      <p:sp>
        <p:nvSpPr>
          <p:cNvPr id="11" name="Text 8"/>
          <p:cNvSpPr txBox="1"/>
          <p:nvPr/>
        </p:nvSpPr>
        <p:spPr>
          <a:xfrm>
            <a:off x="7552944" y="2767340"/>
            <a:ext cx="3852367" cy="7955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There is no performance difference — the compiler resolves names either way and nothing extra is loaded at run time. Prefer the single-type form: it documents exactly what your class depends on, and your IDE writes it for you.</a:t>
            </a:r>
            <a:endParaRPr lang="en-US" sz="1200" dirty="0"/>
          </a:p>
        </p:txBody>
      </p:sp>
      <p:sp>
        <p:nvSpPr>
          <p:cNvPr id="12" name="Shape 9"/>
          <p:cNvSpPr/>
          <p:nvPr/>
        </p:nvSpPr>
        <p:spPr>
          <a:xfrm>
            <a:off x="7333488" y="3800612"/>
            <a:ext cx="4291279" cy="1691640"/>
          </a:xfrm>
          <a:prstGeom prst="roundRect">
            <a:avLst>
              <a:gd name="adj" fmla="val 4865"/>
            </a:avLst>
          </a:prstGeom>
          <a:solidFill>
            <a:srgbClr val="F1F5F9"/>
          </a:solidFill>
          <a:ln w="12700">
            <a:solidFill>
              <a:srgbClr val="F1F5F9"/>
            </a:solidFill>
            <a:prstDash val="solid"/>
          </a:ln>
        </p:spPr>
      </p:sp>
      <p:sp>
        <p:nvSpPr>
          <p:cNvPr id="13" name="Text 10"/>
          <p:cNvSpPr txBox="1"/>
          <p:nvPr/>
        </p:nvSpPr>
        <p:spPr>
          <a:xfrm>
            <a:off x="7552944" y="3965204"/>
            <a:ext cx="38523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Liang's names for these</a:t>
            </a:r>
            <a:endParaRPr lang="en-US" sz="1450" dirty="0"/>
          </a:p>
        </p:txBody>
      </p:sp>
      <p:sp>
        <p:nvSpPr>
          <p:cNvPr id="14" name="Text 11"/>
          <p:cNvSpPr txBox="1"/>
          <p:nvPr/>
        </p:nvSpPr>
        <p:spPr>
          <a:xfrm>
            <a:off x="7552944" y="4294388"/>
            <a:ext cx="3852367" cy="10698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Your textbook calls the wildcard form an implicit import and the single-type form an explicit import. Elsewhere you will meet the terms above — they mean the same thing.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WHAT'S NEW</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Java 25 Adds a Simpler Way to Read a Line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Alongside Scanner, JDK 25 introduced java.lang.IO — three output methods and two input ones.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8</a:t>
            </a:r>
            <a:endParaRPr lang="en-US" sz="900" dirty="0"/>
          </a:p>
        </p:txBody>
      </p:sp>
      <p:sp>
        <p:nvSpPr>
          <p:cNvPr id="7" name="Text 5"/>
          <p:cNvSpPr txBox="1"/>
          <p:nvPr/>
        </p:nvSpPr>
        <p:spPr>
          <a:xfrm>
            <a:off x="566928" y="1536192"/>
            <a:ext cx="5346040" cy="29260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The Scanner way — what we use in this course</a:t>
            </a:r>
            <a:endParaRPr lang="en-US" sz="1500" dirty="0"/>
          </a:p>
        </p:txBody>
      </p:sp>
      <p:sp>
        <p:nvSpPr>
          <p:cNvPr id="8" name="Shape 6"/>
          <p:cNvSpPr/>
          <p:nvPr/>
        </p:nvSpPr>
        <p:spPr>
          <a:xfrm>
            <a:off x="566928" y="1920240"/>
            <a:ext cx="5346040" cy="1443838"/>
          </a:xfrm>
          <a:prstGeom prst="roundRect">
            <a:avLst>
              <a:gd name="adj" fmla="val 4433"/>
            </a:avLst>
          </a:prstGeom>
          <a:solidFill>
            <a:srgbClr val="EDF2F7"/>
          </a:solidFill>
          <a:ln w="12700">
            <a:solidFill>
              <a:srgbClr val="CFDBE5"/>
            </a:solidFill>
            <a:prstDash val="solid"/>
          </a:ln>
        </p:spPr>
      </p:sp>
      <p:sp>
        <p:nvSpPr>
          <p:cNvPr id="9" name="Text 7"/>
          <p:cNvSpPr txBox="1"/>
          <p:nvPr/>
        </p:nvSpPr>
        <p:spPr>
          <a:xfrm>
            <a:off x="731520" y="2057400"/>
            <a:ext cx="5016856" cy="1242670"/>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import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java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util</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"Enter a radius: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nextDouble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Text 8"/>
          <p:cNvSpPr txBox="1"/>
          <p:nvPr/>
        </p:nvSpPr>
        <p:spPr>
          <a:xfrm>
            <a:off x="566928" y="3601822"/>
            <a:ext cx="5346040" cy="731520"/>
          </a:xfrm>
          <a:prstGeom prst="rect">
            <a:avLst/>
          </a:prstGeom>
          <a:noFill/>
          <a:ln/>
        </p:spPr>
        <p:txBody>
          <a:bodyPr wrap="square" lIns="0" tIns="0" rIns="0" bIns="0" rtlCol="0" anchor="t"/>
          <a:lstStyle/>
          <a:p>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Reads and converts in one step, handles every numeric type, and is what the textbook, the quizzes and the final exam expect.</a:t>
            </a:r>
            <a:endParaRPr lang="en-US" sz="1250" dirty="0"/>
          </a:p>
        </p:txBody>
      </p:sp>
      <p:sp>
        <p:nvSpPr>
          <p:cNvPr id="11" name="Text 9"/>
          <p:cNvSpPr txBox="1"/>
          <p:nvPr/>
        </p:nvSpPr>
        <p:spPr>
          <a:xfrm>
            <a:off x="6278728" y="1536192"/>
            <a:ext cx="5346040" cy="292608"/>
          </a:xfrm>
          <a:prstGeom prst="rect">
            <a:avLst/>
          </a:prstGeom>
          <a:noFill/>
          <a:ln/>
        </p:spPr>
        <p:txBody>
          <a:bodyPr wrap="square" lIns="0" tIns="0" rIns="0" bIns="0" rtlCol="0" anchor="ctr"/>
          <a:lstStyle/>
          <a:p>
            <a:pPr indent="0" marL="0">
              <a:buNone/>
            </a:pPr>
            <a:r>
              <a:rPr lang="en-US" sz="1500" b="1" dirty="0">
                <a:solidFill>
                  <a:srgbClr val="9A430A"/>
                </a:solidFill>
                <a:latin typeface="Calibri" pitchFamily="34" charset="0"/>
                <a:ea typeface="Calibri" pitchFamily="34" charset="-122"/>
                <a:cs typeface="Calibri" pitchFamily="34" charset="-120"/>
              </a:rPr>
              <a:t>The Java 25 way — handy for experiments</a:t>
            </a:r>
            <a:endParaRPr lang="en-US" sz="1500" dirty="0"/>
          </a:p>
        </p:txBody>
      </p:sp>
      <p:sp>
        <p:nvSpPr>
          <p:cNvPr id="12" name="Shape 10"/>
          <p:cNvSpPr/>
          <p:nvPr/>
        </p:nvSpPr>
        <p:spPr>
          <a:xfrm>
            <a:off x="6278728" y="1920240"/>
            <a:ext cx="5346040" cy="1666768"/>
          </a:xfrm>
          <a:prstGeom prst="roundRect">
            <a:avLst>
              <a:gd name="adj" fmla="val 3840"/>
            </a:avLst>
          </a:prstGeom>
          <a:solidFill>
            <a:srgbClr val="EDF2F7"/>
          </a:solidFill>
          <a:ln w="12700">
            <a:solidFill>
              <a:srgbClr val="CFDBE5"/>
            </a:solidFill>
            <a:prstDash val="solid"/>
          </a:ln>
        </p:spPr>
      </p:sp>
      <p:sp>
        <p:nvSpPr>
          <p:cNvPr id="13" name="Text 11"/>
          <p:cNvSpPr txBox="1"/>
          <p:nvPr/>
        </p:nvSpPr>
        <p:spPr>
          <a:xfrm>
            <a:off x="6443320" y="2057400"/>
            <a:ext cx="5016856" cy="1465600"/>
          </a:xfrm>
          <a:prstGeom prst="rect">
            <a:avLst/>
          </a:prstGeom>
          <a:noFill/>
          <a:ln/>
        </p:spPr>
        <p:txBody>
          <a:bodyPr wrap="square" lIns="0" tIns="0" rIns="0" bIns="0" rtlCol="0" anchor="t"/>
          <a:lstStyle/>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no import needed — IO is in java.lang</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text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IO</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readln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"Enter a radius: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parseDouble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text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IO</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"Area is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4" name="Text 12"/>
          <p:cNvSpPr txBox="1"/>
          <p:nvPr/>
        </p:nvSpPr>
        <p:spPr>
          <a:xfrm>
            <a:off x="6278728" y="3824752"/>
            <a:ext cx="5346040" cy="731520"/>
          </a:xfrm>
          <a:prstGeom prst="rect">
            <a:avLst/>
          </a:prstGeom>
          <a:noFill/>
          <a:ln/>
        </p:spPr>
        <p:txBody>
          <a:bodyPr wrap="square" lIns="0" tIns="0" rIns="0" bIns="0" rtlCol="0" anchor="t"/>
          <a:lstStyle/>
          <a:p>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readln always hands you a String, so you convert it yourself with Double.parseDouble or Integer.parseInt.</a:t>
            </a:r>
            <a:endParaRPr lang="en-US" sz="1250" dirty="0"/>
          </a:p>
        </p:txBody>
      </p:sp>
      <p:sp>
        <p:nvSpPr>
          <p:cNvPr id="15" name="Shape 13"/>
          <p:cNvSpPr/>
          <p:nvPr/>
        </p:nvSpPr>
        <p:spPr>
          <a:xfrm>
            <a:off x="566928" y="4461358"/>
            <a:ext cx="11057839" cy="1051560"/>
          </a:xfrm>
          <a:prstGeom prst="roundRect">
            <a:avLst>
              <a:gd name="adj" fmla="val 7826"/>
            </a:avLst>
          </a:prstGeom>
          <a:solidFill>
            <a:srgbClr val="FBEEE0"/>
          </a:solidFill>
          <a:ln w="12700">
            <a:solidFill>
              <a:srgbClr val="FBEEE0"/>
            </a:solidFill>
            <a:prstDash val="solid"/>
          </a:ln>
        </p:spPr>
      </p:sp>
      <p:sp>
        <p:nvSpPr>
          <p:cNvPr id="16" name="Text 14"/>
          <p:cNvSpPr txBox="1"/>
          <p:nvPr/>
        </p:nvSpPr>
        <p:spPr>
          <a:xfrm>
            <a:off x="859536" y="4461358"/>
            <a:ext cx="10472623" cy="1051560"/>
          </a:xfrm>
          <a:prstGeom prst="rect">
            <a:avLst/>
          </a:prstGeom>
          <a:noFill/>
          <a:ln/>
        </p:spPr>
        <p:txBody>
          <a:bodyPr wrap="square" lIns="0" tIns="0" rIns="0" bIns="0" rtlCol="0" anchor="ctr"/>
          <a:lstStyle/>
          <a:p>
            <a:pPr indent="0" marL="0">
              <a:lnSpc>
                <a:spcPct val="112000"/>
              </a:lnSpc>
              <a:buNone/>
            </a:pPr>
            <a:r>
              <a:rPr lang="en-US" sz="1250" b="1" dirty="0">
                <a:solidFill>
                  <a:srgbClr val="9A430A"/>
                </a:solidFill>
                <a:latin typeface="Calibri" pitchFamily="34" charset="0"/>
                <a:ea typeface="Calibri" pitchFamily="34" charset="-122"/>
                <a:cs typeface="Calibri" pitchFamily="34" charset="-120"/>
              </a:rPr>
              <a:t>Use whichever helps you learn — but hand in Scanner.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IO is genuinely new (Java 25, September 2025), so it appears in no textbook you own and in almost no code you will read. It pairs well with the compact source files from Tuesday for a five-line experiment; Scanner is what the rest of the Java world uses.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1</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4–8</a:t>
            </a:r>
            <a:endParaRPr lang="en-US" sz="1250" dirty="0"/>
          </a:p>
        </p:txBody>
      </p:sp>
      <p:sp>
        <p:nvSpPr>
          <p:cNvPr id="5" name="Shape 3"/>
          <p:cNvSpPr/>
          <p:nvPr/>
        </p:nvSpPr>
        <p:spPr>
          <a:xfrm>
            <a:off x="566928" y="1950781"/>
            <a:ext cx="11057839" cy="914400"/>
          </a:xfrm>
          <a:prstGeom prst="roundRect">
            <a:avLst>
              <a:gd name="adj" fmla="val 9000"/>
            </a:avLst>
          </a:prstGeom>
          <a:solidFill>
            <a:srgbClr val="FFFFFF"/>
          </a:solidFill>
          <a:ln w="12700">
            <a:solidFill>
              <a:srgbClr val="D3DEE7"/>
            </a:solidFill>
            <a:prstDash val="solid"/>
          </a:ln>
        </p:spPr>
      </p:sp>
      <p:sp>
        <p:nvSpPr>
          <p:cNvPr id="6" name="Shape 4"/>
          <p:cNvSpPr/>
          <p:nvPr/>
        </p:nvSpPr>
        <p:spPr>
          <a:xfrm>
            <a:off x="841248" y="2188525"/>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2188525"/>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2115373"/>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In ComputeArea, radius is declared as a double but assigned the literal 20. Why is that legal?</a:t>
            </a:r>
            <a:endParaRPr lang="en-US" sz="1550" dirty="0"/>
          </a:p>
        </p:txBody>
      </p:sp>
      <p:sp>
        <p:nvSpPr>
          <p:cNvPr id="9" name="Shape 7"/>
          <p:cNvSpPr/>
          <p:nvPr/>
        </p:nvSpPr>
        <p:spPr>
          <a:xfrm>
            <a:off x="566928" y="3084637"/>
            <a:ext cx="11057839" cy="1657990"/>
          </a:xfrm>
          <a:prstGeom prst="roundRect">
            <a:avLst>
              <a:gd name="adj" fmla="val 4964"/>
            </a:avLst>
          </a:prstGeom>
          <a:solidFill>
            <a:srgbClr val="FFFFFF"/>
          </a:solidFill>
          <a:ln w="12700">
            <a:solidFill>
              <a:srgbClr val="D3DEE7"/>
            </a:solidFill>
            <a:prstDash val="solid"/>
          </a:ln>
        </p:spPr>
      </p:sp>
      <p:sp>
        <p:nvSpPr>
          <p:cNvPr id="10" name="Shape 8"/>
          <p:cNvSpPr/>
          <p:nvPr/>
        </p:nvSpPr>
        <p:spPr>
          <a:xfrm>
            <a:off x="841248" y="3322381"/>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3322381"/>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249229"/>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does this print, and why?</a:t>
            </a:r>
            <a:endParaRPr lang="en-US" sz="1550" dirty="0"/>
          </a:p>
        </p:txBody>
      </p:sp>
      <p:sp>
        <p:nvSpPr>
          <p:cNvPr id="13" name="Shape 11"/>
          <p:cNvSpPr/>
          <p:nvPr/>
        </p:nvSpPr>
        <p:spPr>
          <a:xfrm>
            <a:off x="1435608" y="3724717"/>
            <a:ext cx="6949440" cy="542422"/>
          </a:xfrm>
          <a:prstGeom prst="roundRect">
            <a:avLst>
              <a:gd name="adj" fmla="val 11800"/>
            </a:avLst>
          </a:prstGeom>
          <a:solidFill>
            <a:srgbClr val="EDF2F7"/>
          </a:solidFill>
          <a:ln w="12700">
            <a:solidFill>
              <a:srgbClr val="CFDBE5"/>
            </a:solidFill>
            <a:prstDash val="solid"/>
          </a:ln>
        </p:spPr>
      </p:sp>
      <p:sp>
        <p:nvSpPr>
          <p:cNvPr id="14" name="Text 12"/>
          <p:cNvSpPr txBox="1"/>
          <p:nvPr/>
        </p:nvSpPr>
        <p:spPr>
          <a:xfrm>
            <a:off x="1600200" y="3861877"/>
            <a:ext cx="6620256" cy="341254"/>
          </a:xfrm>
          <a:prstGeom prst="rect">
            <a:avLst/>
          </a:prstGeom>
          <a:noFill/>
          <a:ln/>
        </p:spPr>
        <p:txBody>
          <a:bodyPr wrap="square" lIns="0" tIns="0" rIns="0" bIns="0" rtlCol="0" anchor="t"/>
          <a:lstStyle/>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"Sum is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4962083"/>
            <a:ext cx="11057839" cy="914400"/>
          </a:xfrm>
          <a:prstGeom prst="roundRect">
            <a:avLst>
              <a:gd name="adj" fmla="val 9000"/>
            </a:avLst>
          </a:prstGeom>
          <a:solidFill>
            <a:srgbClr val="FFFFFF"/>
          </a:solidFill>
          <a:ln w="12700">
            <a:solidFill>
              <a:srgbClr val="D3DEE7"/>
            </a:solidFill>
            <a:prstDash val="solid"/>
          </a:ln>
        </p:spPr>
      </p:sp>
      <p:sp>
        <p:nvSpPr>
          <p:cNvPr id="16" name="Shape 14"/>
          <p:cNvSpPr/>
          <p:nvPr/>
        </p:nvSpPr>
        <p:spPr>
          <a:xfrm>
            <a:off x="841248" y="5199827"/>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199827"/>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126675"/>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You need to read a whole name, spaces included. Which Scanner method, and why not next()?</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01</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Variables, Constants</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and Names</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What you are allowed to call things, and how the professionals do it.</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01</a:t>
            </a:r>
            <a:endParaRPr lang="en-US" sz="1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NAMES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Identifiers — the Rules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An identifier is the name you give a variable, a constant, a method or a class.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566928" y="1536192"/>
            <a:ext cx="6035040" cy="2377440"/>
          </a:xfrm>
          <a:prstGeom prst="roundRect">
            <a:avLst>
              <a:gd name="adj" fmla="val 3462"/>
            </a:avLst>
          </a:prstGeom>
          <a:solidFill>
            <a:srgbClr val="F1F5F9"/>
          </a:solidFill>
          <a:ln w="12700">
            <a:solidFill>
              <a:srgbClr val="F1F5F9"/>
            </a:solidFill>
            <a:prstDash val="solid"/>
          </a:ln>
        </p:spPr>
      </p:sp>
      <p:sp>
        <p:nvSpPr>
          <p:cNvPr id="8" name="Text 6"/>
          <p:cNvSpPr txBox="1"/>
          <p:nvPr/>
        </p:nvSpPr>
        <p:spPr>
          <a:xfrm>
            <a:off x="841248" y="1755648"/>
            <a:ext cx="5486400" cy="19659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A536B"/>
                </a:solidFill>
                <a:latin typeface="Calibri" pitchFamily="34" charset="0"/>
                <a:ea typeface="Calibri" pitchFamily="34" charset="-122"/>
                <a:cs typeface="Calibri" pitchFamily="34" charset="-120"/>
              </a:rPr>
              <a:t>A sequence of letters, digits, underscores (_) and dollar signs ($).</a:t>
            </a:r>
            <a:endParaRPr lang="en-US" sz="1250" dirty="0"/>
          </a:p>
          <a:p>
            <a:pPr marL="177800" indent="-177800">
              <a:spcAft>
                <a:spcPts val="800"/>
              </a:spcAft>
              <a:buSzPct val="100000"/>
              <a:buChar char="•"/>
            </a:pPr>
            <a:r>
              <a:rPr lang="en-US" sz="1250" dirty="0">
                <a:solidFill>
                  <a:srgbClr val="3A536B"/>
                </a:solidFill>
                <a:latin typeface="Calibri" pitchFamily="34" charset="0"/>
                <a:ea typeface="Calibri" pitchFamily="34" charset="-122"/>
                <a:cs typeface="Calibri" pitchFamily="34" charset="-120"/>
              </a:rPr>
              <a:t>Must start with a letter, an underscore or a dollar sign — never a digit.</a:t>
            </a:r>
            <a:endParaRPr lang="en-US" sz="1250" dirty="0"/>
          </a:p>
          <a:p>
            <a:pPr marL="177800" indent="-177800">
              <a:spcAft>
                <a:spcPts val="800"/>
              </a:spcAft>
              <a:buSzPct val="100000"/>
              <a:buChar char="•"/>
            </a:pPr>
            <a:r>
              <a:rPr lang="en-US" sz="1250" dirty="0">
                <a:solidFill>
                  <a:srgbClr val="3A536B"/>
                </a:solidFill>
                <a:latin typeface="Calibri" pitchFamily="34" charset="0"/>
                <a:ea typeface="Calibri" pitchFamily="34" charset="-122"/>
                <a:cs typeface="Calibri" pitchFamily="34" charset="-120"/>
              </a:rPr>
              <a:t>Cannot be a reserved word (see Appendix A of Liang for the full list).</a:t>
            </a:r>
            <a:endParaRPr lang="en-US" sz="1250" dirty="0"/>
          </a:p>
          <a:p>
            <a:pPr marL="177800" indent="-177800">
              <a:spcAft>
                <a:spcPts val="800"/>
              </a:spcAft>
              <a:buSzPct val="100000"/>
              <a:buChar char="•"/>
            </a:pPr>
            <a:r>
              <a:rPr lang="en-US" sz="1250" dirty="0">
                <a:solidFill>
                  <a:srgbClr val="3A536B"/>
                </a:solidFill>
                <a:latin typeface="Calibri" pitchFamily="34" charset="0"/>
                <a:ea typeface="Calibri" pitchFamily="34" charset="-122"/>
                <a:cs typeface="Calibri" pitchFamily="34" charset="-120"/>
              </a:rPr>
              <a:t>Cannot be true, false or null — these are literals, not keywords, but they are still off limits.</a:t>
            </a:r>
            <a:endParaRPr lang="en-US" sz="1250" dirty="0"/>
          </a:p>
          <a:p>
            <a:pPr marL="177800" indent="-177800">
              <a:spcAft>
                <a:spcPts val="800"/>
              </a:spcAft>
              <a:buSzPct val="100000"/>
              <a:buChar char="•"/>
            </a:pPr>
            <a:r>
              <a:rPr lang="en-US" sz="1250" dirty="0">
                <a:solidFill>
                  <a:srgbClr val="3A536B"/>
                </a:solidFill>
                <a:latin typeface="Calibri" pitchFamily="34" charset="0"/>
                <a:ea typeface="Calibri" pitchFamily="34" charset="-122"/>
                <a:cs typeface="Calibri" pitchFamily="34" charset="-120"/>
              </a:rPr>
              <a:t>Can be of any length. Descriptive beats short.</a:t>
            </a:r>
            <a:endParaRPr lang="en-US" sz="1250" dirty="0"/>
          </a:p>
          <a:p>
            <a:pPr marL="177800" indent="-177800">
              <a:spcAft>
                <a:spcPts val="800"/>
              </a:spcAft>
              <a:buSzPct val="100000"/>
              <a:buChar char="•"/>
            </a:pPr>
            <a:r>
              <a:rPr lang="en-US" sz="1250" dirty="0">
                <a:solidFill>
                  <a:srgbClr val="3A536B"/>
                </a:solidFill>
                <a:latin typeface="Calibri" pitchFamily="34" charset="0"/>
                <a:ea typeface="Calibri" pitchFamily="34" charset="-122"/>
                <a:cs typeface="Calibri" pitchFamily="34" charset="-120"/>
              </a:rPr>
              <a:t>Case-sensitive: area and Area are two different identifiers.</a:t>
            </a:r>
            <a:endParaRPr lang="en-US" sz="1250" dirty="0"/>
          </a:p>
        </p:txBody>
      </p:sp>
      <p:sp>
        <p:nvSpPr>
          <p:cNvPr id="9" name="Shape 7"/>
          <p:cNvSpPr/>
          <p:nvPr/>
        </p:nvSpPr>
        <p:spPr>
          <a:xfrm>
            <a:off x="566928" y="4096512"/>
            <a:ext cx="6035040" cy="1051560"/>
          </a:xfrm>
          <a:prstGeom prst="roundRect">
            <a:avLst>
              <a:gd name="adj" fmla="val 7826"/>
            </a:avLst>
          </a:prstGeom>
          <a:solidFill>
            <a:srgbClr val="FBEEE0"/>
          </a:solidFill>
          <a:ln w="12700">
            <a:solidFill>
              <a:srgbClr val="FBEEE0"/>
            </a:solidFill>
            <a:prstDash val="solid"/>
          </a:ln>
        </p:spPr>
      </p:sp>
      <p:sp>
        <p:nvSpPr>
          <p:cNvPr id="10" name="Text 8"/>
          <p:cNvSpPr txBox="1"/>
          <p:nvPr/>
        </p:nvSpPr>
        <p:spPr>
          <a:xfrm>
            <a:off x="841248" y="4096512"/>
            <a:ext cx="5486400" cy="1051560"/>
          </a:xfrm>
          <a:prstGeom prst="rect">
            <a:avLst/>
          </a:prstGeom>
          <a:noFill/>
          <a:ln/>
        </p:spPr>
        <p:txBody>
          <a:bodyPr wrap="square" lIns="0" tIns="0" rIns="0" bIns="0" rtlCol="0" anchor="ctr"/>
          <a:lstStyle/>
          <a:p>
            <a:pPr indent="0" marL="0">
              <a:lnSpc>
                <a:spcPct val="112000"/>
              </a:lnSpc>
              <a:buNone/>
            </a:pPr>
            <a:r>
              <a:rPr lang="en-US" sz="1250" dirty="0">
                <a:solidFill>
                  <a:srgbClr val="9A430A"/>
                </a:solidFill>
                <a:latin typeface="Calibri" pitchFamily="34" charset="0"/>
                <a:ea typeface="Calibri" pitchFamily="34" charset="-122"/>
                <a:cs typeface="Calibri" pitchFamily="34" charset="-120"/>
              </a:rPr>
              <a:t>The dollar sign is legal but reserved by convention for machine-generated code. Do not use it in anything you write by hand.</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967728" y="1536192"/>
          <a:ext cx="4657039" cy="914400"/>
        </p:xfrm>
        <a:graphic>
          <a:graphicData uri="http://schemas.openxmlformats.org/drawingml/2006/table">
            <a:tbl>
              <a:tblPr/>
              <a:tblGrid>
                <a:gridCol w="1600200"/>
                <a:gridCol w="868680"/>
                <a:gridCol w="2188159"/>
              </a:tblGrid>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Identifier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Legal?</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438912">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area</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algn="ctr" indent="0" marL="0">
                        <a:buNone/>
                      </a:pPr>
                      <a:r>
                        <a:rPr lang="en-US" sz="1100" b="1" dirty="0">
                          <a:solidFill>
                            <a:srgbClr val="17624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Starts with a letter.</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38912">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computeArea</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algn="ctr" indent="0" marL="0">
                        <a:buNone/>
                      </a:pPr>
                      <a:r>
                        <a:rPr lang="en-US" sz="1100" b="1" dirty="0">
                          <a:solidFill>
                            <a:srgbClr val="17624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The house style for a method.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38912">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_total</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algn="ctr" indent="0" marL="0">
                        <a:buNone/>
                      </a:pPr>
                      <a:r>
                        <a:rPr lang="en-US" sz="1100" b="1" dirty="0">
                          <a:solidFill>
                            <a:srgbClr val="17624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Underscore is a legal first character.</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38912">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MAX_VALUE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algn="ctr" indent="0" marL="0">
                        <a:buNone/>
                      </a:pPr>
                      <a:r>
                        <a:rPr lang="en-US" sz="1100" b="1" dirty="0">
                          <a:solidFill>
                            <a:srgbClr val="17624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Reads as a constant.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38912">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2ndPlace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algn="ctr" indent="0" marL="0">
                        <a:buNone/>
                      </a:pPr>
                      <a:r>
                        <a:rPr lang="en-US" sz="1100" b="1" dirty="0">
                          <a:solidFill>
                            <a:srgbClr val="9C241C"/>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Cannot start with a digit.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38912">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total area</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algn="ctr" indent="0" marL="0">
                        <a:buNone/>
                      </a:pPr>
                      <a:r>
                        <a:rPr lang="en-US" sz="1100" b="1" dirty="0">
                          <a:solidFill>
                            <a:srgbClr val="9C241C"/>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 spaces allowed.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38912">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class</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algn="ctr" indent="0" marL="0">
                        <a:buNone/>
                      </a:pPr>
                      <a:r>
                        <a:rPr lang="en-US" sz="1100" b="1" dirty="0">
                          <a:solidFill>
                            <a:srgbClr val="9C241C"/>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A reserved word.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38912">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null</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algn="ctr" indent="0" marL="0">
                        <a:buNone/>
                      </a:pPr>
                      <a:r>
                        <a:rPr lang="en-US" sz="1100" b="1" dirty="0">
                          <a:solidFill>
                            <a:srgbClr val="9C241C"/>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Explicitly forbidden.</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VARIABLES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Declare, Then Assign</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declaration creates the box. An assignment puts something in it.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12</a:t>
            </a:r>
            <a:endParaRPr lang="en-US" sz="900" dirty="0"/>
          </a:p>
        </p:txBody>
      </p:sp>
      <p:sp>
        <p:nvSpPr>
          <p:cNvPr id="7" name="Text 5"/>
          <p:cNvSpPr txBox="1"/>
          <p:nvPr/>
        </p:nvSpPr>
        <p:spPr>
          <a:xfrm>
            <a:off x="566928" y="1536192"/>
            <a:ext cx="5346040" cy="292608"/>
          </a:xfrm>
          <a:prstGeom prst="rect">
            <a:avLst/>
          </a:prstGeom>
          <a:noFill/>
          <a:ln/>
        </p:spPr>
        <p:txBody>
          <a:bodyPr wrap="square" lIns="0" tIns="0" rIns="0" bIns="0" rtlCol="0" anchor="ctr"/>
          <a:lstStyle/>
          <a:p>
            <a:pPr indent="0" marL="0">
              <a:buNone/>
            </a:pPr>
            <a:r>
              <a:rPr lang="en-US" sz="1600" b="1" dirty="0">
                <a:solidFill>
                  <a:srgbClr val="0F2942"/>
                </a:solidFill>
                <a:latin typeface="Calibri" pitchFamily="34" charset="0"/>
                <a:ea typeface="Calibri" pitchFamily="34" charset="-122"/>
                <a:cs typeface="Calibri" pitchFamily="34" charset="-120"/>
              </a:rPr>
              <a:t>Declaring</a:t>
            </a:r>
            <a:endParaRPr lang="en-US" sz="1600" dirty="0"/>
          </a:p>
        </p:txBody>
      </p:sp>
      <p:sp>
        <p:nvSpPr>
          <p:cNvPr id="8" name="Shape 6"/>
          <p:cNvSpPr/>
          <p:nvPr/>
        </p:nvSpPr>
        <p:spPr>
          <a:xfrm>
            <a:off x="566928" y="1920240"/>
            <a:ext cx="5346040" cy="1259677"/>
          </a:xfrm>
          <a:prstGeom prst="roundRect">
            <a:avLst>
              <a:gd name="adj" fmla="val 5081"/>
            </a:avLst>
          </a:prstGeom>
          <a:solidFill>
            <a:srgbClr val="EDF2F7"/>
          </a:solidFill>
          <a:ln w="12700">
            <a:solidFill>
              <a:srgbClr val="CFDBE5"/>
            </a:solidFill>
            <a:prstDash val="solid"/>
          </a:ln>
        </p:spPr>
      </p:sp>
      <p:sp>
        <p:nvSpPr>
          <p:cNvPr id="9" name="Text 7"/>
          <p:cNvSpPr txBox="1"/>
          <p:nvPr/>
        </p:nvSpPr>
        <p:spPr>
          <a:xfrm>
            <a:off x="731520" y="2057400"/>
            <a:ext cx="5016856" cy="1058509"/>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an integer variable</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a double variable</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a character variable</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three at once, same type</a:t>
            </a:r>
            <a:endParaRPr lang="en-US" sz="1200" dirty="0"/>
          </a:p>
        </p:txBody>
      </p:sp>
      <p:sp>
        <p:nvSpPr>
          <p:cNvPr id="10" name="Text 8"/>
          <p:cNvSpPr txBox="1"/>
          <p:nvPr/>
        </p:nvSpPr>
        <p:spPr>
          <a:xfrm>
            <a:off x="566928" y="3399373"/>
            <a:ext cx="5346040" cy="54864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The type comes first and never changes. Once x is an int it is an int for the rest of its life — this is what makes Java a statically typed language.</a:t>
            </a:r>
            <a:endParaRPr lang="en-US" sz="1200" dirty="0"/>
          </a:p>
        </p:txBody>
      </p:sp>
      <p:sp>
        <p:nvSpPr>
          <p:cNvPr id="11" name="Text 9"/>
          <p:cNvSpPr txBox="1"/>
          <p:nvPr/>
        </p:nvSpPr>
        <p:spPr>
          <a:xfrm>
            <a:off x="6278728" y="1536192"/>
            <a:ext cx="5346040" cy="292608"/>
          </a:xfrm>
          <a:prstGeom prst="rect">
            <a:avLst/>
          </a:prstGeom>
          <a:noFill/>
          <a:ln/>
        </p:spPr>
        <p:txBody>
          <a:bodyPr wrap="square" lIns="0" tIns="0" rIns="0" bIns="0" rtlCol="0" anchor="ctr"/>
          <a:lstStyle/>
          <a:p>
            <a:pPr indent="0" marL="0">
              <a:buNone/>
            </a:pPr>
            <a:r>
              <a:rPr lang="en-US" sz="1600" b="1" dirty="0">
                <a:solidFill>
                  <a:srgbClr val="0F2942"/>
                </a:solidFill>
                <a:latin typeface="Calibri" pitchFamily="34" charset="0"/>
                <a:ea typeface="Calibri" pitchFamily="34" charset="-122"/>
                <a:cs typeface="Calibri" pitchFamily="34" charset="-120"/>
              </a:rPr>
              <a:t>Assigning</a:t>
            </a:r>
            <a:endParaRPr lang="en-US" sz="1600" dirty="0"/>
          </a:p>
        </p:txBody>
      </p:sp>
      <p:sp>
        <p:nvSpPr>
          <p:cNvPr id="12" name="Shape 10"/>
          <p:cNvSpPr/>
          <p:nvPr/>
        </p:nvSpPr>
        <p:spPr>
          <a:xfrm>
            <a:off x="6278728" y="1920240"/>
            <a:ext cx="5346040" cy="1259677"/>
          </a:xfrm>
          <a:prstGeom prst="roundRect">
            <a:avLst>
              <a:gd name="adj" fmla="val 5081"/>
            </a:avLst>
          </a:prstGeom>
          <a:solidFill>
            <a:srgbClr val="EDF2F7"/>
          </a:solidFill>
          <a:ln w="12700">
            <a:solidFill>
              <a:srgbClr val="CFDBE5"/>
            </a:solidFill>
            <a:prstDash val="solid"/>
          </a:ln>
        </p:spPr>
      </p:sp>
      <p:sp>
        <p:nvSpPr>
          <p:cNvPr id="13" name="Text 11"/>
          <p:cNvSpPr txBox="1"/>
          <p:nvPr/>
        </p:nvSpPr>
        <p:spPr>
          <a:xfrm>
            <a:off x="6443320" y="2057400"/>
            <a:ext cx="5016856" cy="1058509"/>
          </a:xfrm>
          <a:prstGeom prst="rect">
            <a:avLst/>
          </a:prstGeom>
          <a:noFill/>
          <a:ln/>
        </p:spPr>
        <p:txBody>
          <a:bodyPr wrap="square" lIns="0" tIns="0" rIns="0" bIns="0" rtlCol="0" anchor="t"/>
          <a:lstStyle/>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assign 1 to x</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assign 1.0 to radius</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assign 'A' to a</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read x, add 1, store back</a:t>
            </a:r>
            <a:endParaRPr lang="en-US" sz="1200" dirty="0"/>
          </a:p>
        </p:txBody>
      </p:sp>
      <p:sp>
        <p:nvSpPr>
          <p:cNvPr id="14" name="Text 12"/>
          <p:cNvSpPr txBox="1"/>
          <p:nvPr/>
        </p:nvSpPr>
        <p:spPr>
          <a:xfrm>
            <a:off x="6278728" y="3399373"/>
            <a:ext cx="5346040" cy="54864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The = sign is not equality. It means “work out the right-hand side, then store it in the name on the left”, which is why x = x + 1 makes perfect sense.</a:t>
            </a:r>
            <a:endParaRPr lang="en-US" sz="1200" dirty="0"/>
          </a:p>
        </p:txBody>
      </p:sp>
      <p:sp>
        <p:nvSpPr>
          <p:cNvPr id="15" name="Shape 13"/>
          <p:cNvSpPr/>
          <p:nvPr/>
        </p:nvSpPr>
        <p:spPr>
          <a:xfrm>
            <a:off x="566928" y="4002877"/>
            <a:ext cx="3551834" cy="2194560"/>
          </a:xfrm>
          <a:prstGeom prst="roundRect">
            <a:avLst>
              <a:gd name="adj" fmla="val 3750"/>
            </a:avLst>
          </a:prstGeom>
          <a:solidFill>
            <a:srgbClr val="F1F5F9"/>
          </a:solidFill>
          <a:ln w="12700">
            <a:solidFill>
              <a:srgbClr val="F1F5F9"/>
            </a:solidFill>
            <a:prstDash val="solid"/>
          </a:ln>
        </p:spPr>
      </p:sp>
      <p:sp>
        <p:nvSpPr>
          <p:cNvPr id="16" name="Text 14"/>
          <p:cNvSpPr txBox="1"/>
          <p:nvPr/>
        </p:nvSpPr>
        <p:spPr>
          <a:xfrm>
            <a:off x="804672" y="4149181"/>
            <a:ext cx="3076346" cy="512064"/>
          </a:xfrm>
          <a:prstGeom prst="rect">
            <a:avLst/>
          </a:prstGeom>
          <a:noFill/>
          <a:ln/>
        </p:spPr>
        <p:txBody>
          <a:bodyPr wrap="square" lIns="0" tIns="0" rIns="0" bIns="0" rtlCol="0" anchor="t"/>
          <a:lstStyle/>
          <a:p>
            <a:pPr indent="0" marL="0">
              <a:buNone/>
            </a:pPr>
            <a:r>
              <a:rPr lang="en-US" sz="1350" b="1" dirty="0">
                <a:solidFill>
                  <a:srgbClr val="0F2942"/>
                </a:solidFill>
                <a:latin typeface="Calibri" pitchFamily="34" charset="0"/>
                <a:ea typeface="Calibri" pitchFamily="34" charset="-122"/>
                <a:cs typeface="Calibri" pitchFamily="34" charset="-120"/>
              </a:rPr>
              <a:t>Declare and initialise in one step</a:t>
            </a:r>
            <a:endParaRPr lang="en-US" sz="1350" dirty="0"/>
          </a:p>
        </p:txBody>
      </p:sp>
      <p:sp>
        <p:nvSpPr>
          <p:cNvPr id="17" name="Shape 15"/>
          <p:cNvSpPr/>
          <p:nvPr/>
        </p:nvSpPr>
        <p:spPr>
          <a:xfrm>
            <a:off x="786384" y="4716109"/>
            <a:ext cx="3112922" cy="697504"/>
          </a:xfrm>
          <a:prstGeom prst="roundRect">
            <a:avLst>
              <a:gd name="adj" fmla="val 9177"/>
            </a:avLst>
          </a:prstGeom>
          <a:solidFill>
            <a:srgbClr val="EDF2F7"/>
          </a:solidFill>
          <a:ln w="12700">
            <a:solidFill>
              <a:srgbClr val="CFDBE5"/>
            </a:solidFill>
            <a:prstDash val="solid"/>
          </a:ln>
        </p:spPr>
      </p:sp>
      <p:sp>
        <p:nvSpPr>
          <p:cNvPr id="18" name="Text 16"/>
          <p:cNvSpPr txBox="1"/>
          <p:nvPr/>
        </p:nvSpPr>
        <p:spPr>
          <a:xfrm>
            <a:off x="950976" y="4853269"/>
            <a:ext cx="2783738" cy="496336"/>
          </a:xfrm>
          <a:prstGeom prst="rect">
            <a:avLst/>
          </a:prstGeom>
          <a:noFill/>
          <a:ln/>
        </p:spPr>
        <p:txBody>
          <a:bodyPr wrap="square" lIns="0" tIns="0" rIns="0" bIns="0" rtlCol="0" anchor="t"/>
          <a:lstStyle/>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1.4</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p:txBody>
      </p:sp>
      <p:sp>
        <p:nvSpPr>
          <p:cNvPr id="19" name="Text 17"/>
          <p:cNvSpPr txBox="1"/>
          <p:nvPr/>
        </p:nvSpPr>
        <p:spPr>
          <a:xfrm>
            <a:off x="804672" y="5559918"/>
            <a:ext cx="3076346" cy="548640"/>
          </a:xfrm>
          <a:prstGeom prst="rect">
            <a:avLst/>
          </a:prstGeom>
          <a:noFill/>
          <a:ln/>
        </p:spPr>
        <p:txBody>
          <a:bodyPr wrap="square" lIns="0" tIns="0" rIns="0" bIns="0" rtlCol="0" anchor="t"/>
          <a:lstStyle/>
          <a:p>
            <a:pPr indent="0" marL="0">
              <a:lnSpc>
                <a:spcPct val="108000"/>
              </a:lnSpc>
              <a:buNone/>
            </a:pPr>
            <a:r>
              <a:rPr lang="en-US" sz="1100" dirty="0">
                <a:solidFill>
                  <a:srgbClr val="3A536B"/>
                </a:solidFill>
                <a:latin typeface="Calibri" pitchFamily="34" charset="0"/>
                <a:ea typeface="Calibri" pitchFamily="34" charset="-122"/>
                <a:cs typeface="Calibri" pitchFamily="34" charset="-120"/>
              </a:rPr>
              <a:t>Almost always what you want. One line, and the variable is never in an unusable state.</a:t>
            </a:r>
            <a:endParaRPr lang="en-US" sz="1100" dirty="0"/>
          </a:p>
        </p:txBody>
      </p:sp>
      <p:sp>
        <p:nvSpPr>
          <p:cNvPr id="20" name="Shape 18"/>
          <p:cNvSpPr/>
          <p:nvPr/>
        </p:nvSpPr>
        <p:spPr>
          <a:xfrm>
            <a:off x="4319930" y="4002877"/>
            <a:ext cx="3551834" cy="2194560"/>
          </a:xfrm>
          <a:prstGeom prst="roundRect">
            <a:avLst>
              <a:gd name="adj" fmla="val 3750"/>
            </a:avLst>
          </a:prstGeom>
          <a:solidFill>
            <a:srgbClr val="FBEAE8"/>
          </a:solidFill>
          <a:ln w="12700">
            <a:solidFill>
              <a:srgbClr val="FBEAE8"/>
            </a:solidFill>
            <a:prstDash val="solid"/>
          </a:ln>
        </p:spPr>
      </p:sp>
      <p:sp>
        <p:nvSpPr>
          <p:cNvPr id="21" name="Text 19"/>
          <p:cNvSpPr txBox="1"/>
          <p:nvPr/>
        </p:nvSpPr>
        <p:spPr>
          <a:xfrm>
            <a:off x="4557674" y="4149181"/>
            <a:ext cx="3076346" cy="512064"/>
          </a:xfrm>
          <a:prstGeom prst="rect">
            <a:avLst/>
          </a:prstGeom>
          <a:noFill/>
          <a:ln/>
        </p:spPr>
        <p:txBody>
          <a:bodyPr wrap="square" lIns="0" tIns="0" rIns="0" bIns="0" rtlCol="0" anchor="t"/>
          <a:lstStyle/>
          <a:p>
            <a:pPr indent="0" marL="0">
              <a:buNone/>
            </a:pPr>
            <a:r>
              <a:rPr lang="en-US" sz="1350" b="1" dirty="0">
                <a:solidFill>
                  <a:srgbClr val="0F2942"/>
                </a:solidFill>
                <a:latin typeface="Calibri" pitchFamily="34" charset="0"/>
                <a:ea typeface="Calibri" pitchFamily="34" charset="-122"/>
                <a:cs typeface="Calibri" pitchFamily="34" charset="-120"/>
              </a:rPr>
              <a:t>Java will not let you read an empty box</a:t>
            </a:r>
            <a:endParaRPr lang="en-US" sz="1350" dirty="0"/>
          </a:p>
        </p:txBody>
      </p:sp>
      <p:sp>
        <p:nvSpPr>
          <p:cNvPr id="22" name="Shape 20"/>
          <p:cNvSpPr/>
          <p:nvPr/>
        </p:nvSpPr>
        <p:spPr>
          <a:xfrm>
            <a:off x="4539386" y="4716109"/>
            <a:ext cx="3112922" cy="697504"/>
          </a:xfrm>
          <a:prstGeom prst="roundRect">
            <a:avLst>
              <a:gd name="adj" fmla="val 9177"/>
            </a:avLst>
          </a:prstGeom>
          <a:solidFill>
            <a:srgbClr val="EDF2F7"/>
          </a:solidFill>
          <a:ln w="12700">
            <a:solidFill>
              <a:srgbClr val="CFDBE5"/>
            </a:solidFill>
            <a:prstDash val="solid"/>
          </a:ln>
        </p:spPr>
      </p:sp>
      <p:sp>
        <p:nvSpPr>
          <p:cNvPr id="23" name="Text 21"/>
          <p:cNvSpPr txBox="1"/>
          <p:nvPr/>
        </p:nvSpPr>
        <p:spPr>
          <a:xfrm>
            <a:off x="4703978" y="4853269"/>
            <a:ext cx="2783738" cy="496336"/>
          </a:xfrm>
          <a:prstGeom prst="rect">
            <a:avLst/>
          </a:prstGeom>
          <a:noFill/>
          <a:ln/>
        </p:spPr>
        <p:txBody>
          <a:bodyPr wrap="square" lIns="0" tIns="0" rIns="0" bIns="0" rtlCol="0" anchor="t"/>
          <a:lstStyle/>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415C6E"/>
                </a:solidFill>
                <a:latin typeface="Courier New" pitchFamily="34" charset="0"/>
                <a:ea typeface="Courier New" pitchFamily="34" charset="-122"/>
                <a:cs typeface="Courier New" pitchFamily="34" charset="-120"/>
              </a:rPr>
              <a:t>// error</a:t>
            </a:r>
            <a:endParaRPr lang="en-US" sz="950" dirty="0"/>
          </a:p>
        </p:txBody>
      </p:sp>
      <p:sp>
        <p:nvSpPr>
          <p:cNvPr id="24" name="Text 22"/>
          <p:cNvSpPr txBox="1"/>
          <p:nvPr/>
        </p:nvSpPr>
        <p:spPr>
          <a:xfrm>
            <a:off x="4557674" y="5559918"/>
            <a:ext cx="3076346" cy="548640"/>
          </a:xfrm>
          <a:prstGeom prst="rect">
            <a:avLst/>
          </a:prstGeom>
          <a:noFill/>
          <a:ln/>
        </p:spPr>
        <p:txBody>
          <a:bodyPr wrap="square" lIns="0" tIns="0" rIns="0" bIns="0" rtlCol="0" anchor="t"/>
          <a:lstStyle/>
          <a:p>
            <a:pPr indent="0" marL="0">
              <a:lnSpc>
                <a:spcPct val="108000"/>
              </a:lnSpc>
              <a:buNone/>
            </a:pPr>
            <a:r>
              <a:rPr lang="en-US" sz="1100" dirty="0">
                <a:solidFill>
                  <a:srgbClr val="3A536B"/>
                </a:solidFill>
                <a:latin typeface="Calibri" pitchFamily="34" charset="0"/>
                <a:ea typeface="Calibri" pitchFamily="34" charset="-122"/>
                <a:cs typeface="Calibri" pitchFamily="34" charset="-120"/>
              </a:rPr>
              <a:t>“variable x might not have been initialized” — a compile error, not a run-time surprise.</a:t>
            </a:r>
            <a:endParaRPr lang="en-US" sz="1100" dirty="0"/>
          </a:p>
        </p:txBody>
      </p:sp>
      <p:sp>
        <p:nvSpPr>
          <p:cNvPr id="25" name="Shape 23"/>
          <p:cNvSpPr/>
          <p:nvPr/>
        </p:nvSpPr>
        <p:spPr>
          <a:xfrm>
            <a:off x="8072933" y="4002877"/>
            <a:ext cx="3551834" cy="2194560"/>
          </a:xfrm>
          <a:prstGeom prst="roundRect">
            <a:avLst>
              <a:gd name="adj" fmla="val 3750"/>
            </a:avLst>
          </a:prstGeom>
          <a:solidFill>
            <a:srgbClr val="FBEEE0"/>
          </a:solidFill>
          <a:ln w="12700">
            <a:solidFill>
              <a:srgbClr val="FBEEE0"/>
            </a:solidFill>
            <a:prstDash val="solid"/>
          </a:ln>
        </p:spPr>
      </p:sp>
      <p:sp>
        <p:nvSpPr>
          <p:cNvPr id="26" name="Text 24"/>
          <p:cNvSpPr txBox="1"/>
          <p:nvPr/>
        </p:nvSpPr>
        <p:spPr>
          <a:xfrm>
            <a:off x="8310677" y="4149181"/>
            <a:ext cx="3076346" cy="512064"/>
          </a:xfrm>
          <a:prstGeom prst="rect">
            <a:avLst/>
          </a:prstGeom>
          <a:noFill/>
          <a:ln/>
        </p:spPr>
        <p:txBody>
          <a:bodyPr wrap="square" lIns="0" tIns="0" rIns="0" bIns="0" rtlCol="0" anchor="t"/>
          <a:lstStyle/>
          <a:p>
            <a:pPr indent="0" marL="0">
              <a:buNone/>
            </a:pPr>
            <a:r>
              <a:rPr lang="en-US" sz="1350" b="1" dirty="0">
                <a:solidFill>
                  <a:srgbClr val="0F2942"/>
                </a:solidFill>
                <a:latin typeface="Calibri" pitchFamily="34" charset="0"/>
                <a:ea typeface="Calibri" pitchFamily="34" charset="-122"/>
                <a:cs typeface="Calibri" pitchFamily="34" charset="-120"/>
              </a:rPr>
              <a:t>Since Java 10 you may write var</a:t>
            </a:r>
            <a:endParaRPr lang="en-US" sz="1350" dirty="0"/>
          </a:p>
        </p:txBody>
      </p:sp>
      <p:sp>
        <p:nvSpPr>
          <p:cNvPr id="27" name="Shape 25"/>
          <p:cNvSpPr/>
          <p:nvPr/>
        </p:nvSpPr>
        <p:spPr>
          <a:xfrm>
            <a:off x="8292389" y="4716109"/>
            <a:ext cx="3112922" cy="697504"/>
          </a:xfrm>
          <a:prstGeom prst="roundRect">
            <a:avLst>
              <a:gd name="adj" fmla="val 9177"/>
            </a:avLst>
          </a:prstGeom>
          <a:solidFill>
            <a:srgbClr val="EDF2F7"/>
          </a:solidFill>
          <a:ln w="12700">
            <a:solidFill>
              <a:srgbClr val="CFDBE5"/>
            </a:solidFill>
            <a:prstDash val="solid"/>
          </a:ln>
        </p:spPr>
      </p:sp>
      <p:sp>
        <p:nvSpPr>
          <p:cNvPr id="28" name="Text 26"/>
          <p:cNvSpPr txBox="1"/>
          <p:nvPr/>
        </p:nvSpPr>
        <p:spPr>
          <a:xfrm>
            <a:off x="8456981" y="4853269"/>
            <a:ext cx="2783738" cy="496336"/>
          </a:xfrm>
          <a:prstGeom prst="rect">
            <a:avLst/>
          </a:prstGeom>
          <a:noFill/>
          <a:ln/>
        </p:spPr>
        <p:txBody>
          <a:bodyPr wrap="square" lIns="0" tIns="0" rIns="0" bIns="0" rtlCol="0" anchor="t"/>
          <a:lstStyle/>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var</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415C6E"/>
                </a:solidFill>
                <a:latin typeface="Courier New" pitchFamily="34" charset="0"/>
                <a:ea typeface="Courier New" pitchFamily="34" charset="-122"/>
                <a:cs typeface="Courier New" pitchFamily="34" charset="-120"/>
              </a:rPr>
              <a:t>// an int</a:t>
            </a:r>
            <a:endParaRPr lang="en-US" sz="950" dirty="0"/>
          </a:p>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var</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name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614A"/>
                </a:solidFill>
                <a:latin typeface="Courier New" pitchFamily="34" charset="0"/>
                <a:ea typeface="Courier New" pitchFamily="34" charset="-122"/>
                <a:cs typeface="Courier New" pitchFamily="34" charset="-120"/>
              </a:rPr>
              <a:t>"Rao"</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415C6E"/>
                </a:solidFill>
                <a:latin typeface="Courier New" pitchFamily="34" charset="0"/>
                <a:ea typeface="Courier New" pitchFamily="34" charset="-122"/>
                <a:cs typeface="Courier New" pitchFamily="34" charset="-120"/>
              </a:rPr>
              <a:t>// a String</a:t>
            </a:r>
            <a:endParaRPr lang="en-US" sz="950" dirty="0"/>
          </a:p>
        </p:txBody>
      </p:sp>
      <p:sp>
        <p:nvSpPr>
          <p:cNvPr id="29" name="Text 27"/>
          <p:cNvSpPr txBox="1"/>
          <p:nvPr/>
        </p:nvSpPr>
        <p:spPr>
          <a:xfrm>
            <a:off x="8310677" y="5559918"/>
            <a:ext cx="3076346" cy="548640"/>
          </a:xfrm>
          <a:prstGeom prst="rect">
            <a:avLst/>
          </a:prstGeom>
          <a:noFill/>
          <a:ln/>
        </p:spPr>
        <p:txBody>
          <a:bodyPr wrap="square" lIns="0" tIns="0" rIns="0" bIns="0" rtlCol="0" anchor="t"/>
          <a:lstStyle/>
          <a:p>
            <a:pPr indent="0" marL="0">
              <a:lnSpc>
                <a:spcPct val="108000"/>
              </a:lnSpc>
              <a:buNone/>
            </a:pPr>
            <a:r>
              <a:rPr lang="en-US" sz="1100" dirty="0">
                <a:solidFill>
                  <a:srgbClr val="3A536B"/>
                </a:solidFill>
                <a:latin typeface="Calibri" pitchFamily="34" charset="0"/>
                <a:ea typeface="Calibri" pitchFamily="34" charset="-122"/>
                <a:cs typeface="Calibri" pitchFamily="34" charset="-120"/>
              </a:rPr>
              <a:t>The compiler infers the type from the value. Handy, but use explicit types in anything you hand 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CONSTANTS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Named Constants: final</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constant is a variable the compiler will not let you change after you set it.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66928" y="1536192"/>
            <a:ext cx="5346040" cy="2103852"/>
          </a:xfrm>
          <a:prstGeom prst="roundRect">
            <a:avLst>
              <a:gd name="adj" fmla="val 3042"/>
            </a:avLst>
          </a:prstGeom>
          <a:solidFill>
            <a:srgbClr val="EDF2F7"/>
          </a:solidFill>
          <a:ln w="12700">
            <a:solidFill>
              <a:srgbClr val="CFDBE5"/>
            </a:solidFill>
            <a:prstDash val="solid"/>
          </a:ln>
        </p:spPr>
      </p:sp>
      <p:sp>
        <p:nvSpPr>
          <p:cNvPr id="8" name="Text 6"/>
          <p:cNvSpPr txBox="1"/>
          <p:nvPr/>
        </p:nvSpPr>
        <p:spPr>
          <a:xfrm>
            <a:off x="713232" y="1581912"/>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pattern</a:t>
            </a:r>
            <a:endParaRPr lang="en-US" sz="950" dirty="0"/>
          </a:p>
        </p:txBody>
      </p:sp>
      <p:sp>
        <p:nvSpPr>
          <p:cNvPr id="9" name="Text 7"/>
          <p:cNvSpPr txBox="1"/>
          <p:nvPr/>
        </p:nvSpPr>
        <p:spPr>
          <a:xfrm>
            <a:off x="731520" y="1810512"/>
            <a:ext cx="5016856" cy="1774668"/>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final</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datatype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CONSTANTNAME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VALUE</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final</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3.14159</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final</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SIZE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3.14</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error: cannot assign a value</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to final variable PI</a:t>
            </a:r>
            <a:endParaRPr lang="en-US" sz="1200" dirty="0"/>
          </a:p>
        </p:txBody>
      </p:sp>
      <p:sp>
        <p:nvSpPr>
          <p:cNvPr id="10" name="Shape 8"/>
          <p:cNvSpPr/>
          <p:nvPr/>
        </p:nvSpPr>
        <p:spPr>
          <a:xfrm>
            <a:off x="566928" y="3914364"/>
            <a:ext cx="5346040" cy="1371600"/>
          </a:xfrm>
          <a:prstGeom prst="roundRect">
            <a:avLst>
              <a:gd name="adj" fmla="val 6000"/>
            </a:avLst>
          </a:prstGeom>
          <a:solidFill>
            <a:srgbClr val="F1F5F9"/>
          </a:solidFill>
          <a:ln w="12700">
            <a:solidFill>
              <a:srgbClr val="F1F5F9"/>
            </a:solidFill>
            <a:prstDash val="solid"/>
          </a:ln>
        </p:spPr>
      </p:sp>
      <p:sp>
        <p:nvSpPr>
          <p:cNvPr id="11" name="Text 9"/>
          <p:cNvSpPr txBox="1"/>
          <p:nvPr/>
        </p:nvSpPr>
        <p:spPr>
          <a:xfrm>
            <a:off x="822960" y="3914364"/>
            <a:ext cx="4833976" cy="1371600"/>
          </a:xfrm>
          <a:prstGeom prst="rect">
            <a:avLst/>
          </a:prstGeom>
          <a:noFill/>
          <a:ln/>
        </p:spPr>
        <p:txBody>
          <a:bodyPr wrap="square" lIns="0" tIns="0" rIns="0" bIns="0" rtlCol="0" anchor="ctr"/>
          <a:lstStyle/>
          <a:p>
            <a:pPr indent="0" marL="0">
              <a:lnSpc>
                <a:spcPct val="112000"/>
              </a:lnSpc>
              <a:buNone/>
            </a:pPr>
            <a:r>
              <a:rPr lang="en-US" sz="1250" dirty="0">
                <a:solidFill>
                  <a:srgbClr val="0F2942"/>
                </a:solidFill>
                <a:latin typeface="Calibri" pitchFamily="34" charset="0"/>
                <a:ea typeface="Calibri" pitchFamily="34" charset="-122"/>
                <a:cs typeface="Calibri" pitchFamily="34" charset="-120"/>
              </a:rPr>
              <a:t>Three reasons to use one: the value cannot be changed by accident, you only have to edit it in one place, and the name explains what the number means.</a:t>
            </a:r>
            <a:endParaRPr lang="en-US" sz="1250" dirty="0"/>
          </a:p>
        </p:txBody>
      </p:sp>
      <p:sp>
        <p:nvSpPr>
          <p:cNvPr id="12" name="Text 10"/>
          <p:cNvSpPr txBox="1"/>
          <p:nvPr/>
        </p:nvSpPr>
        <p:spPr>
          <a:xfrm>
            <a:off x="6278728" y="1536192"/>
            <a:ext cx="5346040" cy="292608"/>
          </a:xfrm>
          <a:prstGeom prst="rect">
            <a:avLst/>
          </a:prstGeom>
          <a:noFill/>
          <a:ln/>
        </p:spPr>
        <p:txBody>
          <a:bodyPr wrap="square" lIns="0" tIns="0" rIns="0" bIns="0" rtlCol="0" anchor="ctr"/>
          <a:lstStyle/>
          <a:p>
            <a:pPr indent="0" marL="0">
              <a:buNone/>
            </a:pPr>
            <a:r>
              <a:rPr lang="en-US" sz="1500" b="1" dirty="0">
                <a:solidFill>
                  <a:srgbClr val="9A430A"/>
                </a:solidFill>
                <a:latin typeface="Calibri" pitchFamily="34" charset="0"/>
                <a:ea typeface="Calibri" pitchFamily="34" charset="-122"/>
                <a:cs typeface="Calibri" pitchFamily="34" charset="-120"/>
              </a:rPr>
              <a:t>Better still — the library already has it</a:t>
            </a:r>
            <a:endParaRPr lang="en-US" sz="1500" dirty="0"/>
          </a:p>
        </p:txBody>
      </p:sp>
      <p:sp>
        <p:nvSpPr>
          <p:cNvPr id="13" name="Shape 11"/>
          <p:cNvSpPr/>
          <p:nvPr/>
        </p:nvSpPr>
        <p:spPr>
          <a:xfrm>
            <a:off x="6278728" y="1920240"/>
            <a:ext cx="5346040" cy="775045"/>
          </a:xfrm>
          <a:prstGeom prst="roundRect">
            <a:avLst>
              <a:gd name="adj" fmla="val 8259"/>
            </a:avLst>
          </a:prstGeom>
          <a:solidFill>
            <a:srgbClr val="EDF2F7"/>
          </a:solidFill>
          <a:ln w="12700">
            <a:solidFill>
              <a:srgbClr val="CFDBE5"/>
            </a:solidFill>
            <a:prstDash val="solid"/>
          </a:ln>
        </p:spPr>
      </p:sp>
      <p:sp>
        <p:nvSpPr>
          <p:cNvPr id="14" name="Text 12"/>
          <p:cNvSpPr txBox="1"/>
          <p:nvPr/>
        </p:nvSpPr>
        <p:spPr>
          <a:xfrm>
            <a:off x="6443320" y="2057400"/>
            <a:ext cx="5016856" cy="573877"/>
          </a:xfrm>
          <a:prstGeom prst="rect">
            <a:avLst/>
          </a:prstGeom>
          <a:noFill/>
          <a:ln/>
        </p:spPr>
        <p:txBody>
          <a:bodyPr wrap="square" lIns="0" tIns="0" rIns="0" bIns="0" rtlCol="0" anchor="t"/>
          <a:lstStyle/>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3.14159</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ok</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area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radius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PI</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better</a:t>
            </a:r>
            <a:endParaRPr lang="en-US" sz="1150" dirty="0"/>
          </a:p>
        </p:txBody>
      </p:sp>
      <p:sp>
        <p:nvSpPr>
          <p:cNvPr id="15" name="Shape 13"/>
          <p:cNvSpPr/>
          <p:nvPr/>
        </p:nvSpPr>
        <p:spPr>
          <a:xfrm>
            <a:off x="6278728" y="2951317"/>
            <a:ext cx="5346040" cy="888340"/>
          </a:xfrm>
          <a:prstGeom prst="roundRect">
            <a:avLst>
              <a:gd name="adj" fmla="val 7205"/>
            </a:avLst>
          </a:prstGeom>
          <a:solidFill>
            <a:srgbClr val="FFFFFF"/>
          </a:solidFill>
          <a:ln w="12700">
            <a:solidFill>
              <a:srgbClr val="4B6377"/>
            </a:solidFill>
            <a:prstDash val="solid"/>
          </a:ln>
        </p:spPr>
      </p:sp>
      <p:sp>
        <p:nvSpPr>
          <p:cNvPr id="16" name="Text 14"/>
          <p:cNvSpPr txBox="1"/>
          <p:nvPr/>
        </p:nvSpPr>
        <p:spPr>
          <a:xfrm>
            <a:off x="6425032" y="3024469"/>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7" name="Text 15"/>
          <p:cNvSpPr txBox="1"/>
          <p:nvPr/>
        </p:nvSpPr>
        <p:spPr>
          <a:xfrm>
            <a:off x="6425032" y="3225637"/>
            <a:ext cx="5053432" cy="522580"/>
          </a:xfrm>
          <a:prstGeom prst="rect">
            <a:avLst/>
          </a:prstGeom>
          <a:noFill/>
          <a:ln/>
        </p:spPr>
        <p:txBody>
          <a:bodyPr wrap="square" lIns="0" tIns="0" rIns="0" bIns="0" rtlCol="0" anchor="t"/>
          <a:lstStyle/>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with 3.14159 : 1256.636</a:t>
            </a:r>
            <a:endParaRPr lang="en-US" sz="1150" dirty="0"/>
          </a:p>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with Math.PI : 1256.6370614359173</a:t>
            </a:r>
            <a:endParaRPr lang="en-US" sz="1150" dirty="0"/>
          </a:p>
        </p:txBody>
      </p:sp>
      <p:sp>
        <p:nvSpPr>
          <p:cNvPr id="18" name="Shape 16"/>
          <p:cNvSpPr/>
          <p:nvPr/>
        </p:nvSpPr>
        <p:spPr>
          <a:xfrm>
            <a:off x="6278728" y="4112605"/>
            <a:ext cx="5346040" cy="1417320"/>
          </a:xfrm>
          <a:prstGeom prst="roundRect">
            <a:avLst>
              <a:gd name="adj" fmla="val 5806"/>
            </a:avLst>
          </a:prstGeom>
          <a:solidFill>
            <a:srgbClr val="FBEEE0"/>
          </a:solidFill>
          <a:ln w="12700">
            <a:solidFill>
              <a:srgbClr val="FBEEE0"/>
            </a:solidFill>
            <a:prstDash val="solid"/>
          </a:ln>
        </p:spPr>
      </p:sp>
      <p:sp>
        <p:nvSpPr>
          <p:cNvPr id="19" name="Text 17"/>
          <p:cNvSpPr txBox="1"/>
          <p:nvPr/>
        </p:nvSpPr>
        <p:spPr>
          <a:xfrm>
            <a:off x="6534760" y="4112605"/>
            <a:ext cx="4833976" cy="1417320"/>
          </a:xfrm>
          <a:prstGeom prst="rect">
            <a:avLst/>
          </a:prstGeom>
          <a:noFill/>
          <a:ln/>
        </p:spPr>
        <p:txBody>
          <a:bodyPr wrap="square" lIns="0" tIns="0" rIns="0" bIns="0" rtlCol="0" anchor="ctr"/>
          <a:lstStyle/>
          <a:p>
            <a:pPr indent="0" marL="0">
              <a:lnSpc>
                <a:spcPct val="112000"/>
              </a:lnSpc>
              <a:buNone/>
            </a:pPr>
            <a:r>
              <a:rPr lang="en-US" sz="1250" dirty="0">
                <a:solidFill>
                  <a:srgbClr val="9A430A"/>
                </a:solidFill>
                <a:latin typeface="Calibri" pitchFamily="34" charset="0"/>
                <a:ea typeface="Calibri" pitchFamily="34" charset="-122"/>
                <a:cs typeface="Calibri" pitchFamily="34" charset="-120"/>
              </a:rPr>
              <a:t>Math.PI is a final double already declared for you, accurate to every digit a double can hold. Your textbook writes 3.14159 to keep the arithmetic visible — in your own code, use Math.PI.</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STYLE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Naming Conventions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None of this is enforced by the compiler. All of it is enforced by every Java programmer you will ever work with.</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2286000"/>
                <a:gridCol w="4206240"/>
                <a:gridCol w="4562856"/>
              </a:tblGrid>
              <a:tr h="65836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Convention</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Examples</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658368">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Variables and methods</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lowerCamelCase — first word lowercase, capitalise each word after it</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radius    area    computeArea()    isValid()</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658368">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Classes</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UpperCamelCase — capitalise every word, including the first</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ComputeArea    Scanner    BankAccount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658368">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Constants</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UPPER_SNAKE_CASE — all capitals, words joined by underscores</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PI    SIZE    MAX_VALUE    DEFAULT_RATE</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658368">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Packages</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all lowercase, dotted, usually a reversed domain</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java.util    bg.aubg.cos2030.week1</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bl>
          </a:graphicData>
        </a:graphic>
      </p:graphicFrame>
      <p:sp>
        <p:nvSpPr>
          <p:cNvPr id="8" name="Shape 5"/>
          <p:cNvSpPr/>
          <p:nvPr/>
        </p:nvSpPr>
        <p:spPr>
          <a:xfrm>
            <a:off x="566928" y="4965192"/>
            <a:ext cx="5391760" cy="841248"/>
          </a:xfrm>
          <a:prstGeom prst="roundRect">
            <a:avLst>
              <a:gd name="adj" fmla="val 9783"/>
            </a:avLst>
          </a:prstGeom>
          <a:solidFill>
            <a:srgbClr val="E6F2EC"/>
          </a:solidFill>
          <a:ln w="12700">
            <a:solidFill>
              <a:srgbClr val="E6F2EC"/>
            </a:solidFill>
            <a:prstDash val="solid"/>
          </a:ln>
        </p:spPr>
      </p:sp>
      <p:sp>
        <p:nvSpPr>
          <p:cNvPr id="9" name="Text 6"/>
          <p:cNvSpPr txBox="1"/>
          <p:nvPr/>
        </p:nvSpPr>
        <p:spPr>
          <a:xfrm>
            <a:off x="822960" y="4965192"/>
            <a:ext cx="4879696" cy="841248"/>
          </a:xfrm>
          <a:prstGeom prst="rect">
            <a:avLst/>
          </a:prstGeom>
          <a:noFill/>
          <a:ln/>
        </p:spPr>
        <p:txBody>
          <a:bodyPr wrap="square" lIns="0" tIns="0" rIns="0" bIns="0" rtlCol="0" anchor="ctr"/>
          <a:lstStyle/>
          <a:p>
            <a:pPr indent="0" marL="0">
              <a:lnSpc>
                <a:spcPct val="110000"/>
              </a:lnSpc>
              <a:buNone/>
            </a:pPr>
            <a:r>
              <a:rPr lang="en-US" sz="1200" b="1" dirty="0">
                <a:solidFill>
                  <a:srgbClr val="176240"/>
                </a:solidFill>
                <a:latin typeface="Calibri" pitchFamily="34" charset="0"/>
                <a:ea typeface="Calibri" pitchFamily="34" charset="-122"/>
                <a:cs typeface="Calibri" pitchFamily="34" charset="-120"/>
              </a:rPr>
              <a:t>Do:  </a:t>
            </a:r>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double interestRate;  final int MAX_STUDENTS = 30;</a:t>
            </a:r>
            <a:endParaRPr lang="en-US" sz="1200" dirty="0"/>
          </a:p>
        </p:txBody>
      </p:sp>
      <p:sp>
        <p:nvSpPr>
          <p:cNvPr id="10" name="Shape 7"/>
          <p:cNvSpPr/>
          <p:nvPr/>
        </p:nvSpPr>
        <p:spPr>
          <a:xfrm>
            <a:off x="6233008" y="4965192"/>
            <a:ext cx="5391760" cy="841248"/>
          </a:xfrm>
          <a:prstGeom prst="roundRect">
            <a:avLst>
              <a:gd name="adj" fmla="val 9783"/>
            </a:avLst>
          </a:prstGeom>
          <a:solidFill>
            <a:srgbClr val="FBEAE8"/>
          </a:solidFill>
          <a:ln w="12700">
            <a:solidFill>
              <a:srgbClr val="FBEAE8"/>
            </a:solidFill>
            <a:prstDash val="solid"/>
          </a:ln>
        </p:spPr>
      </p:sp>
      <p:sp>
        <p:nvSpPr>
          <p:cNvPr id="11" name="Text 8"/>
          <p:cNvSpPr txBox="1"/>
          <p:nvPr/>
        </p:nvSpPr>
        <p:spPr>
          <a:xfrm>
            <a:off x="6489040" y="4965192"/>
            <a:ext cx="4879696" cy="841248"/>
          </a:xfrm>
          <a:prstGeom prst="rect">
            <a:avLst/>
          </a:prstGeom>
          <a:noFill/>
          <a:ln/>
        </p:spPr>
        <p:txBody>
          <a:bodyPr wrap="square" lIns="0" tIns="0" rIns="0" bIns="0" rtlCol="0" anchor="ctr"/>
          <a:lstStyle/>
          <a:p>
            <a:pPr indent="0" marL="0">
              <a:lnSpc>
                <a:spcPct val="110000"/>
              </a:lnSpc>
              <a:buNone/>
            </a:pPr>
            <a:r>
              <a:rPr lang="en-US" sz="1200" b="1" dirty="0">
                <a:solidFill>
                  <a:srgbClr val="9C241C"/>
                </a:solidFill>
                <a:latin typeface="Calibri" pitchFamily="34" charset="0"/>
                <a:ea typeface="Calibri" pitchFamily="34" charset="-122"/>
                <a:cs typeface="Calibri" pitchFamily="34" charset="-120"/>
              </a:rPr>
              <a:t>Don't:  </a:t>
            </a:r>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double ir;  int Max_students;  double X1;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2</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11–14</a:t>
            </a:r>
            <a:endParaRPr lang="en-US" sz="1250" dirty="0"/>
          </a:p>
        </p:txBody>
      </p:sp>
      <p:sp>
        <p:nvSpPr>
          <p:cNvPr id="5" name="Shape 3"/>
          <p:cNvSpPr/>
          <p:nvPr/>
        </p:nvSpPr>
        <p:spPr>
          <a:xfrm>
            <a:off x="566928" y="1606418"/>
            <a:ext cx="11057839" cy="1152144"/>
          </a:xfrm>
          <a:prstGeom prst="roundRect">
            <a:avLst>
              <a:gd name="adj" fmla="val 7143"/>
            </a:avLst>
          </a:prstGeom>
          <a:solidFill>
            <a:srgbClr val="FFFFFF"/>
          </a:solidFill>
          <a:ln w="12700">
            <a:solidFill>
              <a:srgbClr val="D3DEE7"/>
            </a:solidFill>
            <a:prstDash val="solid"/>
          </a:ln>
        </p:spPr>
      </p:sp>
      <p:sp>
        <p:nvSpPr>
          <p:cNvPr id="6" name="Shape 4"/>
          <p:cNvSpPr/>
          <p:nvPr/>
        </p:nvSpPr>
        <p:spPr>
          <a:xfrm>
            <a:off x="841248" y="1844162"/>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84416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771010"/>
            <a:ext cx="9823399" cy="658368"/>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Three of these are illegal Java identifiers. Which, and why?  radius2  ·  2radius  ·  my-total  ·  _count  ·  final</a:t>
            </a:r>
            <a:endParaRPr lang="en-US" sz="1550" dirty="0"/>
          </a:p>
        </p:txBody>
      </p:sp>
      <p:sp>
        <p:nvSpPr>
          <p:cNvPr id="9" name="Shape 7"/>
          <p:cNvSpPr/>
          <p:nvPr/>
        </p:nvSpPr>
        <p:spPr>
          <a:xfrm>
            <a:off x="566928" y="2978018"/>
            <a:ext cx="11057839" cy="1871228"/>
          </a:xfrm>
          <a:prstGeom prst="roundRect">
            <a:avLst>
              <a:gd name="adj" fmla="val 4398"/>
            </a:avLst>
          </a:prstGeom>
          <a:solidFill>
            <a:srgbClr val="FFFFFF"/>
          </a:solidFill>
          <a:ln w="12700">
            <a:solidFill>
              <a:srgbClr val="D3DEE7"/>
            </a:solidFill>
            <a:prstDash val="solid"/>
          </a:ln>
        </p:spPr>
      </p:sp>
      <p:sp>
        <p:nvSpPr>
          <p:cNvPr id="10" name="Shape 8"/>
          <p:cNvSpPr/>
          <p:nvPr/>
        </p:nvSpPr>
        <p:spPr>
          <a:xfrm>
            <a:off x="841248" y="3215762"/>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321576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14261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is wrong with this code, and what would the compiler say?</a:t>
            </a:r>
            <a:endParaRPr lang="en-US" sz="1550" dirty="0"/>
          </a:p>
        </p:txBody>
      </p:sp>
      <p:sp>
        <p:nvSpPr>
          <p:cNvPr id="13" name="Shape 11"/>
          <p:cNvSpPr/>
          <p:nvPr/>
        </p:nvSpPr>
        <p:spPr>
          <a:xfrm>
            <a:off x="1435608" y="3618098"/>
            <a:ext cx="6949440" cy="755660"/>
          </a:xfrm>
          <a:prstGeom prst="roundRect">
            <a:avLst>
              <a:gd name="adj" fmla="val 8470"/>
            </a:avLst>
          </a:prstGeom>
          <a:solidFill>
            <a:srgbClr val="EDF2F7"/>
          </a:solidFill>
          <a:ln w="12700">
            <a:solidFill>
              <a:srgbClr val="CFDBE5"/>
            </a:solidFill>
            <a:prstDash val="solid"/>
          </a:ln>
        </p:spPr>
      </p:sp>
      <p:sp>
        <p:nvSpPr>
          <p:cNvPr id="14" name="Text 12"/>
          <p:cNvSpPr txBox="1"/>
          <p:nvPr/>
        </p:nvSpPr>
        <p:spPr>
          <a:xfrm>
            <a:off x="1600200" y="3755258"/>
            <a:ext cx="6620256" cy="55449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final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SIZE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SIZE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068702"/>
            <a:ext cx="11057839" cy="1152144"/>
          </a:xfrm>
          <a:prstGeom prst="roundRect">
            <a:avLst>
              <a:gd name="adj" fmla="val 7143"/>
            </a:avLst>
          </a:prstGeom>
          <a:solidFill>
            <a:srgbClr val="FFFFFF"/>
          </a:solidFill>
          <a:ln w="12700">
            <a:solidFill>
              <a:srgbClr val="D3DEE7"/>
            </a:solidFill>
            <a:prstDash val="solid"/>
          </a:ln>
        </p:spPr>
      </p:sp>
      <p:sp>
        <p:nvSpPr>
          <p:cNvPr id="16" name="Shape 14"/>
          <p:cNvSpPr/>
          <p:nvPr/>
        </p:nvSpPr>
        <p:spPr>
          <a:xfrm>
            <a:off x="841248" y="5306446"/>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30644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233294"/>
            <a:ext cx="9823399" cy="658368"/>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Rewrite these three names to follow Java's conventions:  student_count  ·  computearea  ·  maxvalue (a constant)</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02</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Numbers and</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Operators</a:t>
            </a:r>
            <a:endParaRPr lang="en-US" sz="4400" dirty="0"/>
          </a:p>
        </p:txBody>
      </p:sp>
      <p:sp>
        <p:nvSpPr>
          <p:cNvPr id="4" name="Text 2"/>
          <p:cNvSpPr txBox="1"/>
          <p:nvPr/>
        </p:nvSpPr>
        <p:spPr>
          <a:xfrm>
            <a:off x="566928" y="4526280"/>
            <a:ext cx="91440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Six numeric types, five arithmetic operators, and one division that does not do what you expect.</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02</a:t>
            </a:r>
            <a:endParaRPr lang="en-US" sz="13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TYPES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Six Numeric Primitive Types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Four for whole numbers, two for numbers with a fractional part. The type you pick fixes both the range and the memory.</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1051560"/>
                <a:gridCol w="1691640"/>
                <a:gridCol w="3749040"/>
                <a:gridCol w="4562856"/>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Range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 it for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51206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byte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8-bit signed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−128 … 127</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Raw bytes from a file or a network stream.</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51206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short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16-bit signed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−32,768 … 32,767</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Rarely. Use int unless memory is genuinely tight.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512064">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int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32-bit signed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−2,147,483,648 … 2,147,483,647</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indent="0" marL="0">
                        <a:buNone/>
                      </a:pPr>
                      <a:r>
                        <a:rPr lang="en-US" sz="1100" b="1" dirty="0">
                          <a:solidFill>
                            <a:srgbClr val="3A536B"/>
                          </a:solidFill>
                          <a:latin typeface="Calibri" pitchFamily="34" charset="0"/>
                          <a:ea typeface="Calibri" pitchFamily="34" charset="-122"/>
                          <a:cs typeface="Calibri" pitchFamily="34" charset="-120"/>
                        </a:rPr>
                        <a:t>Your default for whole numbers.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r>
              <a:tr h="51206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long</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64-bit signed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−9.22×10¹⁸ … 9.22×10¹⁸</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Counts that outgrow int — milliseconds since 1970, for one.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512064">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float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32-bit IEEE 754</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±3.4028235×10³⁸, ~7 digits</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Rarely. Not enough precision for most work.</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512064">
                <a:tc>
                  <a:txBody>
                    <a:bodyPr/>
                    <a:lstStyle/>
                    <a:p>
                      <a:pPr indent="0" marL="0">
                        <a:buNone/>
                      </a:pPr>
                      <a:r>
                        <a:rPr lang="en-US" sz="1100" b="1" dirty="0">
                          <a:solidFill>
                            <a:srgbClr val="9A430A"/>
                          </a:solidFill>
                          <a:latin typeface="Courier New" pitchFamily="34" charset="0"/>
                          <a:ea typeface="Courier New" pitchFamily="34" charset="-122"/>
                          <a:cs typeface="Courier New" pitchFamily="34" charset="-120"/>
                        </a:rPr>
                        <a:t>double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64-bit IEEE 754</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±1.7976931348623157×10³⁰⁸, ~15 digits</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indent="0" marL="0">
                        <a:buNone/>
                      </a:pPr>
                      <a:r>
                        <a:rPr lang="en-US" sz="1100" b="1" dirty="0">
                          <a:solidFill>
                            <a:srgbClr val="3A536B"/>
                          </a:solidFill>
                          <a:latin typeface="Calibri" pitchFamily="34" charset="0"/>
                          <a:ea typeface="Calibri" pitchFamily="34" charset="-122"/>
                          <a:cs typeface="Calibri" pitchFamily="34" charset="-120"/>
                        </a:rPr>
                        <a:t>Your default for anything with a decimal point.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r>
            </a:tbl>
          </a:graphicData>
        </a:graphic>
      </p:graphicFrame>
      <p:sp>
        <p:nvSpPr>
          <p:cNvPr id="8" name="Shape 5"/>
          <p:cNvSpPr/>
          <p:nvPr/>
        </p:nvSpPr>
        <p:spPr>
          <a:xfrm>
            <a:off x="566928" y="5330952"/>
            <a:ext cx="11057839" cy="777240"/>
          </a:xfrm>
          <a:prstGeom prst="roundRect">
            <a:avLst>
              <a:gd name="adj" fmla="val 10588"/>
            </a:avLst>
          </a:prstGeom>
          <a:solidFill>
            <a:srgbClr val="F1F5F9"/>
          </a:solidFill>
          <a:ln w="12700">
            <a:solidFill>
              <a:srgbClr val="F1F5F9"/>
            </a:solidFill>
            <a:prstDash val="solid"/>
          </a:ln>
        </p:spPr>
      </p:sp>
      <p:sp>
        <p:nvSpPr>
          <p:cNvPr id="9" name="Text 6"/>
          <p:cNvSpPr txBox="1"/>
          <p:nvPr/>
        </p:nvSpPr>
        <p:spPr>
          <a:xfrm>
            <a:off x="841248" y="5330952"/>
            <a:ext cx="10509199" cy="777240"/>
          </a:xfrm>
          <a:prstGeom prst="rect">
            <a:avLst/>
          </a:prstGeom>
          <a:noFill/>
          <a:ln/>
        </p:spPr>
        <p:txBody>
          <a:bodyPr wrap="square" lIns="0" tIns="0" rIns="0" bIns="0" rtlCol="0" anchor="ctr"/>
          <a:lstStyle/>
          <a:p>
            <a:pPr indent="0" marL="0">
              <a:lnSpc>
                <a:spcPct val="110000"/>
              </a:lnSpc>
              <a:buNone/>
            </a:pPr>
            <a:r>
              <a:rPr lang="en-US" sz="1250" b="1" dirty="0">
                <a:solidFill>
                  <a:srgbClr val="0F2942"/>
                </a:solidFill>
                <a:latin typeface="Calibri" pitchFamily="34" charset="0"/>
                <a:ea typeface="Calibri" pitchFamily="34" charset="-122"/>
                <a:cs typeface="Calibri" pitchFamily="34" charset="-120"/>
              </a:rPr>
              <a:t>In practice you will use two of these.  </a:t>
            </a:r>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Reach for int and double by default; pick another only when you have a reason you could explain out loud.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LITERALS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Number Literals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literal is a constant value written directly in the program — 34, 1000000 and 5.0 below.</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18</a:t>
            </a:r>
            <a:endParaRPr lang="en-US" sz="900" dirty="0"/>
          </a:p>
        </p:txBody>
      </p:sp>
      <p:sp>
        <p:nvSpPr>
          <p:cNvPr id="7" name="Text 5"/>
          <p:cNvSpPr txBox="1"/>
          <p:nvPr/>
        </p:nvSpPr>
        <p:spPr>
          <a:xfrm>
            <a:off x="566928" y="1536192"/>
            <a:ext cx="5346040" cy="292608"/>
          </a:xfrm>
          <a:prstGeom prst="rect">
            <a:avLst/>
          </a:prstGeom>
          <a:noFill/>
          <a:ln/>
        </p:spPr>
        <p:txBody>
          <a:bodyPr wrap="square" lIns="0" tIns="0" rIns="0" bIns="0" rtlCol="0" anchor="ctr"/>
          <a:lstStyle/>
          <a:p>
            <a:pPr indent="0" marL="0">
              <a:buNone/>
            </a:pPr>
            <a:r>
              <a:rPr lang="en-US" sz="1600" b="1" dirty="0">
                <a:solidFill>
                  <a:srgbClr val="0F2942"/>
                </a:solidFill>
                <a:latin typeface="Calibri" pitchFamily="34" charset="0"/>
                <a:ea typeface="Calibri" pitchFamily="34" charset="-122"/>
                <a:cs typeface="Calibri" pitchFamily="34" charset="-120"/>
              </a:rPr>
              <a:t>Integer literals</a:t>
            </a:r>
            <a:endParaRPr lang="en-US" sz="1600" dirty="0"/>
          </a:p>
        </p:txBody>
      </p:sp>
      <p:sp>
        <p:nvSpPr>
          <p:cNvPr id="8" name="Shape 6"/>
          <p:cNvSpPr/>
          <p:nvPr/>
        </p:nvSpPr>
        <p:spPr>
          <a:xfrm>
            <a:off x="566928" y="1920240"/>
            <a:ext cx="5346040" cy="2112630"/>
          </a:xfrm>
          <a:prstGeom prst="roundRect">
            <a:avLst>
              <a:gd name="adj" fmla="val 3030"/>
            </a:avLst>
          </a:prstGeom>
          <a:solidFill>
            <a:srgbClr val="EDF2F7"/>
          </a:solidFill>
          <a:ln w="12700">
            <a:solidFill>
              <a:srgbClr val="CFDBE5"/>
            </a:solidFill>
            <a:prstDash val="solid"/>
          </a:ln>
        </p:spPr>
      </p:sp>
      <p:sp>
        <p:nvSpPr>
          <p:cNvPr id="9" name="Text 7"/>
          <p:cNvSpPr txBox="1"/>
          <p:nvPr/>
        </p:nvSpPr>
        <p:spPr>
          <a:xfrm>
            <a:off x="731520" y="2057400"/>
            <a:ext cx="5016856" cy="1911462"/>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34</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long</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1000000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byte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error: too large for a byte</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long</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big</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9000000000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error: read as an int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long</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ok</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9000000000</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L</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L makes it a long</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million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_000_000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underscores, Java 7+</a:t>
            </a:r>
            <a:endParaRPr lang="en-US" sz="1150" dirty="0"/>
          </a:p>
        </p:txBody>
      </p:sp>
      <p:sp>
        <p:nvSpPr>
          <p:cNvPr id="10" name="Text 8"/>
          <p:cNvSpPr txBox="1"/>
          <p:nvPr/>
        </p:nvSpPr>
        <p:spPr>
          <a:xfrm>
            <a:off x="621792" y="4252326"/>
            <a:ext cx="5254600" cy="123444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3A536B"/>
                </a:solidFill>
                <a:latin typeface="Calibri" pitchFamily="34" charset="0"/>
                <a:ea typeface="Calibri" pitchFamily="34" charset="-122"/>
                <a:cs typeface="Calibri" pitchFamily="34" charset="-120"/>
              </a:rPr>
              <a:t>An integer literal is assumed to be int unless you say otherwise.</a:t>
            </a:r>
            <a:endParaRPr lang="en-US" sz="1200" dirty="0"/>
          </a:p>
          <a:p>
            <a:pPr marL="177800" indent="-177800">
              <a:spcAft>
                <a:spcPts val="600"/>
              </a:spcAft>
              <a:buSzPct val="100000"/>
              <a:buChar char="•"/>
            </a:pPr>
            <a:r>
              <a:rPr lang="en-US" sz="1200" dirty="0">
                <a:solidFill>
                  <a:srgbClr val="3A536B"/>
                </a:solidFill>
                <a:latin typeface="Calibri" pitchFamily="34" charset="0"/>
                <a:ea typeface="Calibri" pitchFamily="34" charset="-122"/>
                <a:cs typeface="Calibri" pitchFamily="34" charset="-120"/>
              </a:rPr>
              <a:t>Append L (not l — it looks like the digit 1) to make it a long.</a:t>
            </a:r>
            <a:endParaRPr lang="en-US" sz="1200" dirty="0"/>
          </a:p>
          <a:p>
            <a:pPr marL="177800" indent="-177800">
              <a:spcAft>
                <a:spcPts val="600"/>
              </a:spcAft>
              <a:buSzPct val="100000"/>
              <a:buChar char="•"/>
            </a:pPr>
            <a:r>
              <a:rPr lang="en-US" sz="1200" dirty="0">
                <a:solidFill>
                  <a:srgbClr val="3A536B"/>
                </a:solidFill>
                <a:latin typeface="Calibri" pitchFamily="34" charset="0"/>
                <a:ea typeface="Calibri" pitchFamily="34" charset="-122"/>
                <a:cs typeface="Calibri" pitchFamily="34" charset="-120"/>
              </a:rPr>
              <a:t>Underscores anywhere inside a number are ignored by the compiler and make long numbers readable.</a:t>
            </a:r>
            <a:endParaRPr lang="en-US" sz="1200" dirty="0"/>
          </a:p>
        </p:txBody>
      </p:sp>
      <p:sp>
        <p:nvSpPr>
          <p:cNvPr id="11" name="Text 9"/>
          <p:cNvSpPr txBox="1"/>
          <p:nvPr/>
        </p:nvSpPr>
        <p:spPr>
          <a:xfrm>
            <a:off x="6278728" y="1536192"/>
            <a:ext cx="5346040" cy="292608"/>
          </a:xfrm>
          <a:prstGeom prst="rect">
            <a:avLst/>
          </a:prstGeom>
          <a:noFill/>
          <a:ln/>
        </p:spPr>
        <p:txBody>
          <a:bodyPr wrap="square" lIns="0" tIns="0" rIns="0" bIns="0" rtlCol="0" anchor="ctr"/>
          <a:lstStyle/>
          <a:p>
            <a:pPr indent="0" marL="0">
              <a:buNone/>
            </a:pPr>
            <a:r>
              <a:rPr lang="en-US" sz="1600" b="1" dirty="0">
                <a:solidFill>
                  <a:srgbClr val="0F2942"/>
                </a:solidFill>
                <a:latin typeface="Calibri" pitchFamily="34" charset="0"/>
                <a:ea typeface="Calibri" pitchFamily="34" charset="-122"/>
                <a:cs typeface="Calibri" pitchFamily="34" charset="-120"/>
              </a:rPr>
              <a:t>Floating-point literals</a:t>
            </a:r>
            <a:endParaRPr lang="en-US" sz="1600" dirty="0"/>
          </a:p>
        </p:txBody>
      </p:sp>
      <p:sp>
        <p:nvSpPr>
          <p:cNvPr id="12" name="Shape 10"/>
          <p:cNvSpPr/>
          <p:nvPr/>
        </p:nvSpPr>
        <p:spPr>
          <a:xfrm>
            <a:off x="6278728" y="1920240"/>
            <a:ext cx="5346040" cy="2112630"/>
          </a:xfrm>
          <a:prstGeom prst="roundRect">
            <a:avLst>
              <a:gd name="adj" fmla="val 3030"/>
            </a:avLst>
          </a:prstGeom>
          <a:solidFill>
            <a:srgbClr val="EDF2F7"/>
          </a:solidFill>
          <a:ln w="12700">
            <a:solidFill>
              <a:srgbClr val="CFDBE5"/>
            </a:solidFill>
            <a:prstDash val="solid"/>
          </a:ln>
        </p:spPr>
      </p:sp>
      <p:sp>
        <p:nvSpPr>
          <p:cNvPr id="13" name="Text 11"/>
          <p:cNvSpPr txBox="1"/>
          <p:nvPr/>
        </p:nvSpPr>
        <p:spPr>
          <a:xfrm>
            <a:off x="6443320" y="2057400"/>
            <a:ext cx="5016856" cy="1911462"/>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double by default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float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100.2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F</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F or f makes it a float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100.2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D or d is allowed but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never needed</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scientific notation</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1.23456</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123.456</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1.23456</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0.0123456</a:t>
            </a:r>
            <a:endParaRPr lang="en-US" sz="1150" dirty="0"/>
          </a:p>
        </p:txBody>
      </p:sp>
      <p:sp>
        <p:nvSpPr>
          <p:cNvPr id="14" name="Text 12"/>
          <p:cNvSpPr txBox="1"/>
          <p:nvPr/>
        </p:nvSpPr>
        <p:spPr>
          <a:xfrm>
            <a:off x="6333592" y="4252326"/>
            <a:ext cx="5254600" cy="123444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3A536B"/>
                </a:solidFill>
                <a:latin typeface="Calibri" pitchFamily="34" charset="0"/>
                <a:ea typeface="Calibri" pitchFamily="34" charset="-122"/>
                <a:cs typeface="Calibri" pitchFamily="34" charset="-120"/>
              </a:rPr>
              <a:t>Anything with a decimal point is a double unless you append F.</a:t>
            </a:r>
            <a:endParaRPr lang="en-US" sz="1200" dirty="0"/>
          </a:p>
          <a:p>
            <a:pPr marL="177800" indent="-177800">
              <a:spcAft>
                <a:spcPts val="600"/>
              </a:spcAft>
              <a:buSzPct val="100000"/>
              <a:buChar char="•"/>
            </a:pPr>
            <a:r>
              <a:rPr lang="en-US" sz="1200" dirty="0">
                <a:solidFill>
                  <a:srgbClr val="3A536B"/>
                </a:solidFill>
                <a:latin typeface="Calibri" pitchFamily="34" charset="0"/>
                <a:ea typeface="Calibri" pitchFamily="34" charset="-122"/>
                <a:cs typeface="Calibri" pitchFamily="34" charset="-120"/>
              </a:rPr>
              <a:t>e or E means “times ten to the power of”; the sign of the exponent may be omitted when positive.</a:t>
            </a:r>
            <a:endParaRPr lang="en-US" sz="1200" dirty="0"/>
          </a:p>
          <a:p>
            <a:pPr marL="177800" indent="-177800">
              <a:spcAft>
                <a:spcPts val="600"/>
              </a:spcAft>
              <a:buSzPct val="100000"/>
              <a:buChar char="•"/>
            </a:pPr>
            <a:r>
              <a:rPr lang="en-US" sz="1200" dirty="0">
                <a:solidFill>
                  <a:srgbClr val="3A536B"/>
                </a:solidFill>
                <a:latin typeface="Calibri" pitchFamily="34" charset="0"/>
                <a:ea typeface="Calibri" pitchFamily="34" charset="-122"/>
                <a:cs typeface="Calibri" pitchFamily="34" charset="-120"/>
              </a:rPr>
              <a:t>float f = 100.2; is a compile error — the literal is a double, and double does not narrow silently.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PRECISION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double versus float — and Why We Use double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Both store approximations. double simply has more room to be approximately right.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19</a:t>
            </a:r>
            <a:endParaRPr lang="en-US" sz="900" dirty="0"/>
          </a:p>
        </p:txBody>
      </p:sp>
      <p:sp>
        <p:nvSpPr>
          <p:cNvPr id="7" name="Shape 5"/>
          <p:cNvSpPr/>
          <p:nvPr/>
        </p:nvSpPr>
        <p:spPr>
          <a:xfrm>
            <a:off x="566928" y="1536192"/>
            <a:ext cx="11057839" cy="813816"/>
          </a:xfrm>
          <a:prstGeom prst="roundRect">
            <a:avLst>
              <a:gd name="adj" fmla="val 7865"/>
            </a:avLst>
          </a:prstGeom>
          <a:solidFill>
            <a:srgbClr val="EDF2F7"/>
          </a:solidFill>
          <a:ln w="12700">
            <a:solidFill>
              <a:srgbClr val="CFDBE5"/>
            </a:solidFill>
            <a:prstDash val="solid"/>
          </a:ln>
        </p:spPr>
      </p:sp>
      <p:sp>
        <p:nvSpPr>
          <p:cNvPr id="8" name="Text 6"/>
          <p:cNvSpPr txBox="1"/>
          <p:nvPr/>
        </p:nvSpPr>
        <p:spPr>
          <a:xfrm>
            <a:off x="731520" y="1673352"/>
            <a:ext cx="10728655" cy="612648"/>
          </a:xfrm>
          <a:prstGeom prst="rect">
            <a:avLst/>
          </a:prstGeom>
          <a:noFill/>
          <a:ln/>
        </p:spPr>
        <p:txBody>
          <a:bodyPr wrap="square" lIns="0" tIns="0" rIns="0" bIns="0" rtlCol="0" anchor="t"/>
          <a:lstStyle/>
          <a:p>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614A"/>
                </a:solidFill>
                <a:latin typeface="Courier New" pitchFamily="34" charset="0"/>
                <a:ea typeface="Courier New" pitchFamily="34" charset="-122"/>
                <a:cs typeface="Courier New" pitchFamily="34" charset="-120"/>
              </a:rPr>
              <a:t>"1.0 / 3.0 is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3.0</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614A"/>
                </a:solidFill>
                <a:latin typeface="Courier New" pitchFamily="34" charset="0"/>
                <a:ea typeface="Courier New" pitchFamily="34" charset="-122"/>
                <a:cs typeface="Courier New" pitchFamily="34" charset="-120"/>
              </a:rPr>
              <a:t>"1.0F / 3.0F is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F</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3.0</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F</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9" name="Shape 7"/>
          <p:cNvSpPr/>
          <p:nvPr/>
        </p:nvSpPr>
        <p:spPr>
          <a:xfrm>
            <a:off x="566928" y="2624328"/>
            <a:ext cx="5346040" cy="944575"/>
          </a:xfrm>
          <a:prstGeom prst="roundRect">
            <a:avLst>
              <a:gd name="adj" fmla="val 6776"/>
            </a:avLst>
          </a:prstGeom>
          <a:solidFill>
            <a:srgbClr val="FFFFFF"/>
          </a:solidFill>
          <a:ln w="12700">
            <a:solidFill>
              <a:srgbClr val="4B6377"/>
            </a:solidFill>
            <a:prstDash val="solid"/>
          </a:ln>
        </p:spPr>
      </p:sp>
      <p:sp>
        <p:nvSpPr>
          <p:cNvPr id="10" name="Text 8"/>
          <p:cNvSpPr txBox="1"/>
          <p:nvPr/>
        </p:nvSpPr>
        <p:spPr>
          <a:xfrm>
            <a:off x="713232" y="2697480"/>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1" name="Text 9"/>
          <p:cNvSpPr txBox="1"/>
          <p:nvPr/>
        </p:nvSpPr>
        <p:spPr>
          <a:xfrm>
            <a:off x="713232" y="2898648"/>
            <a:ext cx="5053432" cy="578815"/>
          </a:xfrm>
          <a:prstGeom prst="rect">
            <a:avLst/>
          </a:prstGeom>
          <a:noFill/>
          <a:ln/>
        </p:spPr>
        <p:txBody>
          <a:bodyPr wrap="square" lIns="0" tIns="0" rIns="0" bIns="0" rtlCol="0" anchor="t"/>
          <a:lstStyle/>
          <a:p>
            <a:pPr indent="0" marL="0">
              <a:lnSpc>
                <a:spcPct val="110000"/>
              </a:lnSpc>
              <a:buNone/>
            </a:pPr>
            <a:r>
              <a:rPr lang="en-US" sz="1300" dirty="0">
                <a:solidFill>
                  <a:srgbClr val="0F2942"/>
                </a:solidFill>
                <a:latin typeface="Courier New" pitchFamily="34" charset="0"/>
                <a:ea typeface="Courier New" pitchFamily="34" charset="-122"/>
                <a:cs typeface="Courier New" pitchFamily="34" charset="-120"/>
              </a:rPr>
              <a:t>1.0 / 3.0 is 0.3333333333333333</a:t>
            </a:r>
            <a:endParaRPr lang="en-US" sz="1300" dirty="0"/>
          </a:p>
          <a:p>
            <a:pPr indent="0" marL="0">
              <a:lnSpc>
                <a:spcPct val="110000"/>
              </a:lnSpc>
              <a:buNone/>
            </a:pPr>
            <a:r>
              <a:rPr lang="en-US" sz="1300" dirty="0">
                <a:solidFill>
                  <a:srgbClr val="0F2942"/>
                </a:solidFill>
                <a:latin typeface="Courier New" pitchFamily="34" charset="0"/>
                <a:ea typeface="Courier New" pitchFamily="34" charset="-122"/>
                <a:cs typeface="Courier New" pitchFamily="34" charset="-120"/>
              </a:rPr>
              <a:t>1.0F / 3.0F is 0.33333334</a:t>
            </a:r>
            <a:endParaRPr lang="en-US" sz="1300" dirty="0"/>
          </a:p>
        </p:txBody>
      </p:sp>
      <p:sp>
        <p:nvSpPr>
          <p:cNvPr id="12" name="Shape 10"/>
          <p:cNvSpPr/>
          <p:nvPr/>
        </p:nvSpPr>
        <p:spPr>
          <a:xfrm>
            <a:off x="6278728" y="2624328"/>
            <a:ext cx="5346040" cy="1060704"/>
          </a:xfrm>
          <a:prstGeom prst="roundRect">
            <a:avLst>
              <a:gd name="adj" fmla="val 7759"/>
            </a:avLst>
          </a:prstGeom>
          <a:solidFill>
            <a:srgbClr val="FBEEE0"/>
          </a:solidFill>
          <a:ln w="12700">
            <a:solidFill>
              <a:srgbClr val="FBEEE0"/>
            </a:solidFill>
            <a:prstDash val="solid"/>
          </a:ln>
        </p:spPr>
      </p:sp>
      <p:sp>
        <p:nvSpPr>
          <p:cNvPr id="13" name="Text 11"/>
          <p:cNvSpPr txBox="1"/>
          <p:nvPr/>
        </p:nvSpPr>
        <p:spPr>
          <a:xfrm>
            <a:off x="6534760" y="2624328"/>
            <a:ext cx="4833976" cy="1060704"/>
          </a:xfrm>
          <a:prstGeom prst="rect">
            <a:avLst/>
          </a:prstGeom>
          <a:noFill/>
          <a:ln/>
        </p:spPr>
        <p:txBody>
          <a:bodyPr wrap="square" lIns="0" tIns="0" rIns="0" bIns="0" rtlCol="0" anchor="ctr"/>
          <a:lstStyle/>
          <a:p>
            <a:pPr indent="0" marL="0">
              <a:lnSpc>
                <a:spcPct val="112000"/>
              </a:lnSpc>
              <a:buNone/>
            </a:pPr>
            <a:r>
              <a:rPr lang="en-US" sz="1250" dirty="0">
                <a:solidFill>
                  <a:srgbClr val="9A430A"/>
                </a:solidFill>
                <a:latin typeface="Calibri" pitchFamily="34" charset="0"/>
                <a:ea typeface="Calibri" pitchFamily="34" charset="-122"/>
                <a:cs typeface="Calibri" pitchFamily="34" charset="-120"/>
              </a:rPr>
              <a:t>Sixteen digits against eight. float saves four bytes and costs you half your precision — a bad trade on any machine built this century.</a:t>
            </a:r>
            <a:endParaRPr lang="en-US" sz="1250" dirty="0"/>
          </a:p>
        </p:txBody>
      </p:sp>
      <p:sp>
        <p:nvSpPr>
          <p:cNvPr id="14" name="Shape 12"/>
          <p:cNvSpPr/>
          <p:nvPr/>
        </p:nvSpPr>
        <p:spPr>
          <a:xfrm>
            <a:off x="566928" y="3867912"/>
            <a:ext cx="3551834" cy="2148840"/>
          </a:xfrm>
          <a:prstGeom prst="roundRect">
            <a:avLst>
              <a:gd name="adj" fmla="val 3830"/>
            </a:avLst>
          </a:prstGeom>
          <a:solidFill>
            <a:srgbClr val="F1F5F9"/>
          </a:solidFill>
          <a:ln w="12700">
            <a:solidFill>
              <a:srgbClr val="F1F5F9"/>
            </a:solidFill>
            <a:prstDash val="solid"/>
          </a:ln>
        </p:spPr>
      </p:sp>
      <p:sp>
        <p:nvSpPr>
          <p:cNvPr id="15" name="Text 13"/>
          <p:cNvSpPr txBox="1"/>
          <p:nvPr/>
        </p:nvSpPr>
        <p:spPr>
          <a:xfrm>
            <a:off x="804672" y="4032504"/>
            <a:ext cx="3076346" cy="310896"/>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Floating point is approximate</a:t>
            </a:r>
            <a:endParaRPr lang="en-US" sz="1350" dirty="0"/>
          </a:p>
        </p:txBody>
      </p:sp>
      <p:sp>
        <p:nvSpPr>
          <p:cNvPr id="16" name="Shape 14"/>
          <p:cNvSpPr/>
          <p:nvPr/>
        </p:nvSpPr>
        <p:spPr>
          <a:xfrm>
            <a:off x="786384" y="4398264"/>
            <a:ext cx="3112922" cy="932688"/>
          </a:xfrm>
          <a:prstGeom prst="roundRect">
            <a:avLst>
              <a:gd name="adj" fmla="val 6863"/>
            </a:avLst>
          </a:prstGeom>
          <a:solidFill>
            <a:srgbClr val="EDF2F7"/>
          </a:solidFill>
          <a:ln w="12700">
            <a:solidFill>
              <a:srgbClr val="CFDBE5"/>
            </a:solidFill>
            <a:prstDash val="solid"/>
          </a:ln>
        </p:spPr>
      </p:sp>
      <p:sp>
        <p:nvSpPr>
          <p:cNvPr id="17" name="Text 15"/>
          <p:cNvSpPr txBox="1"/>
          <p:nvPr/>
        </p:nvSpPr>
        <p:spPr>
          <a:xfrm>
            <a:off x="950976" y="4535424"/>
            <a:ext cx="2783738" cy="731520"/>
          </a:xfrm>
          <a:prstGeom prst="rect">
            <a:avLst/>
          </a:prstGeom>
          <a:noFill/>
          <a:ln/>
        </p:spPr>
        <p:txBody>
          <a:bodyPr wrap="square" lIns="0" tIns="0" rIns="0" bIns="0" rtlCol="0" anchor="t"/>
          <a:lstStyle/>
          <a:p>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0.1</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0.1</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0.1</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0.1</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0.1</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18" name="Text 16"/>
          <p:cNvSpPr txBox="1"/>
          <p:nvPr/>
        </p:nvSpPr>
        <p:spPr>
          <a:xfrm>
            <a:off x="804672" y="5440680"/>
            <a:ext cx="3076346" cy="502920"/>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prints 0.5000000000000001, not 0.5</a:t>
            </a:r>
            <a:endParaRPr lang="en-US" sz="1150" dirty="0"/>
          </a:p>
        </p:txBody>
      </p:sp>
      <p:sp>
        <p:nvSpPr>
          <p:cNvPr id="19" name="Shape 17"/>
          <p:cNvSpPr/>
          <p:nvPr/>
        </p:nvSpPr>
        <p:spPr>
          <a:xfrm>
            <a:off x="4319930" y="3867912"/>
            <a:ext cx="3551834" cy="2148840"/>
          </a:xfrm>
          <a:prstGeom prst="roundRect">
            <a:avLst>
              <a:gd name="adj" fmla="val 3830"/>
            </a:avLst>
          </a:prstGeom>
          <a:solidFill>
            <a:srgbClr val="F1F5F9"/>
          </a:solidFill>
          <a:ln w="12700">
            <a:solidFill>
              <a:srgbClr val="F1F5F9"/>
            </a:solidFill>
            <a:prstDash val="solid"/>
          </a:ln>
        </p:spPr>
      </p:sp>
      <p:sp>
        <p:nvSpPr>
          <p:cNvPr id="20" name="Text 18"/>
          <p:cNvSpPr txBox="1"/>
          <p:nvPr/>
        </p:nvSpPr>
        <p:spPr>
          <a:xfrm>
            <a:off x="4557674" y="4032504"/>
            <a:ext cx="3076346" cy="310896"/>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It bites on simple sums too</a:t>
            </a:r>
            <a:endParaRPr lang="en-US" sz="1350" dirty="0"/>
          </a:p>
        </p:txBody>
      </p:sp>
      <p:sp>
        <p:nvSpPr>
          <p:cNvPr id="21" name="Shape 19"/>
          <p:cNvSpPr/>
          <p:nvPr/>
        </p:nvSpPr>
        <p:spPr>
          <a:xfrm>
            <a:off x="4539386" y="4398264"/>
            <a:ext cx="3112922" cy="932688"/>
          </a:xfrm>
          <a:prstGeom prst="roundRect">
            <a:avLst>
              <a:gd name="adj" fmla="val 6863"/>
            </a:avLst>
          </a:prstGeom>
          <a:solidFill>
            <a:srgbClr val="EDF2F7"/>
          </a:solidFill>
          <a:ln w="12700">
            <a:solidFill>
              <a:srgbClr val="CFDBE5"/>
            </a:solidFill>
            <a:prstDash val="solid"/>
          </a:ln>
        </p:spPr>
      </p:sp>
      <p:sp>
        <p:nvSpPr>
          <p:cNvPr id="22" name="Text 20"/>
          <p:cNvSpPr txBox="1"/>
          <p:nvPr/>
        </p:nvSpPr>
        <p:spPr>
          <a:xfrm>
            <a:off x="4703978" y="4535424"/>
            <a:ext cx="2783738" cy="731520"/>
          </a:xfrm>
          <a:prstGeom prst="rect">
            <a:avLst/>
          </a:prstGeom>
          <a:noFill/>
          <a:ln/>
        </p:spPr>
        <p:txBody>
          <a:bodyPr wrap="square" lIns="0" tIns="0" rIns="0" bIns="0" rtlCol="0" anchor="t"/>
          <a:lstStyle/>
          <a:p>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0.9</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23" name="Text 21"/>
          <p:cNvSpPr txBox="1"/>
          <p:nvPr/>
        </p:nvSpPr>
        <p:spPr>
          <a:xfrm>
            <a:off x="4557674" y="5440680"/>
            <a:ext cx="3076346" cy="502920"/>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prints 0.09999999999999998, not 0.1</a:t>
            </a:r>
            <a:endParaRPr lang="en-US" sz="1150" dirty="0"/>
          </a:p>
        </p:txBody>
      </p:sp>
      <p:sp>
        <p:nvSpPr>
          <p:cNvPr id="24" name="Shape 22"/>
          <p:cNvSpPr/>
          <p:nvPr/>
        </p:nvSpPr>
        <p:spPr>
          <a:xfrm>
            <a:off x="8072933" y="3867912"/>
            <a:ext cx="3551834" cy="2148840"/>
          </a:xfrm>
          <a:prstGeom prst="roundRect">
            <a:avLst>
              <a:gd name="adj" fmla="val 3830"/>
            </a:avLst>
          </a:prstGeom>
          <a:solidFill>
            <a:srgbClr val="E6F2EC"/>
          </a:solidFill>
          <a:ln w="12700">
            <a:solidFill>
              <a:srgbClr val="E6F2EC"/>
            </a:solidFill>
            <a:prstDash val="solid"/>
          </a:ln>
        </p:spPr>
      </p:sp>
      <p:sp>
        <p:nvSpPr>
          <p:cNvPr id="25" name="Text 23"/>
          <p:cNvSpPr txBox="1"/>
          <p:nvPr/>
        </p:nvSpPr>
        <p:spPr>
          <a:xfrm>
            <a:off x="8310677" y="4032504"/>
            <a:ext cx="3076346" cy="310896"/>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Integers are exact</a:t>
            </a:r>
            <a:endParaRPr lang="en-US" sz="1350" dirty="0"/>
          </a:p>
        </p:txBody>
      </p:sp>
      <p:sp>
        <p:nvSpPr>
          <p:cNvPr id="26" name="Shape 24"/>
          <p:cNvSpPr/>
          <p:nvPr/>
        </p:nvSpPr>
        <p:spPr>
          <a:xfrm>
            <a:off x="8292389" y="4398264"/>
            <a:ext cx="3112922" cy="932688"/>
          </a:xfrm>
          <a:prstGeom prst="roundRect">
            <a:avLst>
              <a:gd name="adj" fmla="val 6863"/>
            </a:avLst>
          </a:prstGeom>
          <a:solidFill>
            <a:srgbClr val="EDF2F7"/>
          </a:solidFill>
          <a:ln w="12700">
            <a:solidFill>
              <a:srgbClr val="CFDBE5"/>
            </a:solidFill>
            <a:prstDash val="solid"/>
          </a:ln>
        </p:spPr>
      </p:sp>
      <p:sp>
        <p:nvSpPr>
          <p:cNvPr id="27" name="Text 25"/>
          <p:cNvSpPr txBox="1"/>
          <p:nvPr/>
        </p:nvSpPr>
        <p:spPr>
          <a:xfrm>
            <a:off x="8456981" y="4535424"/>
            <a:ext cx="2783738" cy="731520"/>
          </a:xfrm>
          <a:prstGeom prst="rect">
            <a:avLst/>
          </a:prstGeom>
          <a:noFill/>
          <a:ln/>
        </p:spPr>
        <p:txBody>
          <a:bodyPr wrap="square" lIns="0" tIns="0" rIns="0" bIns="0" rtlCol="0" anchor="t"/>
          <a:lstStyle/>
          <a:p>
            <a:pPr indent="0" marL="0">
              <a:lnSpc>
                <a:spcPct val="112000"/>
              </a:lnSpc>
              <a:buNone/>
            </a:pPr>
            <a:r>
              <a:rPr lang="en-US" sz="10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28" name="Text 26"/>
          <p:cNvSpPr txBox="1"/>
          <p:nvPr/>
        </p:nvSpPr>
        <p:spPr>
          <a:xfrm>
            <a:off x="8310677" y="5440680"/>
            <a:ext cx="3076346" cy="502920"/>
          </a:xfrm>
          <a:prstGeom prst="rect">
            <a:avLst/>
          </a:prstGeom>
          <a:noFill/>
          <a:ln/>
        </p:spPr>
        <p:txBody>
          <a:bodyPr wrap="square" lIns="0" tIns="0" rIns="0" bIns="0" rtlCol="0" anchor="t"/>
          <a:lstStyle/>
          <a:p>
            <a:pPr indent="0" marL="0">
              <a:lnSpc>
                <a:spcPct val="108000"/>
              </a:lnSpc>
              <a:buNone/>
            </a:pPr>
            <a:r>
              <a:rPr lang="en-US" sz="1150" dirty="0">
                <a:solidFill>
                  <a:srgbClr val="3A536B"/>
                </a:solidFill>
                <a:latin typeface="Calibri" pitchFamily="34" charset="0"/>
                <a:ea typeface="Calibri" pitchFamily="34" charset="-122"/>
                <a:cs typeface="Calibri" pitchFamily="34" charset="-120"/>
              </a:rPr>
              <a:t>prints 5. Always. Calculations with integers are precise.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OPERATORS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Five Arithmetic Operators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261872"/>
          <a:ext cx="6766560" cy="914400"/>
        </p:xfrm>
        <a:graphic>
          <a:graphicData uri="http://schemas.openxmlformats.org/drawingml/2006/table">
            <a:tbl>
              <a:tblPr/>
              <a:tblGrid>
                <a:gridCol w="1188720"/>
                <a:gridCol w="1828800"/>
                <a:gridCol w="2011680"/>
                <a:gridCol w="1737360"/>
              </a:tblGrid>
              <a:tr h="4754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Operator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475488">
                <a:tc>
                  <a:txBody>
                    <a:bodyPr/>
                    <a:lstStyle/>
                    <a:p>
                      <a:pPr indent="0" marL="0">
                        <a:buNone/>
                      </a:pPr>
                      <a:r>
                        <a:rPr lang="en-US" sz="1200" b="1" dirty="0">
                          <a:solidFill>
                            <a:srgbClr val="0F2942"/>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Addition</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34 + 1</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35</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75488">
                <a:tc>
                  <a:txBody>
                    <a:bodyPr/>
                    <a:lstStyle/>
                    <a:p>
                      <a:pPr indent="0" marL="0">
                        <a:buNone/>
                      </a:pPr>
                      <a:r>
                        <a:rPr lang="en-US" sz="1200" b="1" dirty="0">
                          <a:solidFill>
                            <a:srgbClr val="0F2942"/>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Subtraction</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34.0 - 0.1</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33.9</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75488">
                <a:tc>
                  <a:txBody>
                    <a:bodyPr/>
                    <a:lstStyle/>
                    <a:p>
                      <a:pPr indent="0" marL="0">
                        <a:buNone/>
                      </a:pPr>
                      <a:r>
                        <a:rPr lang="en-US" sz="1200" b="1" dirty="0">
                          <a:solidFill>
                            <a:srgbClr val="0F2942"/>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Multiplication</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300 * 30</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9000</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75488">
                <a:tc>
                  <a:txBody>
                    <a:bodyPr/>
                    <a:lstStyle/>
                    <a:p>
                      <a:pPr indent="0" marL="0">
                        <a:buNone/>
                      </a:pPr>
                      <a:r>
                        <a:rPr lang="en-US" sz="1200" b="1" dirty="0">
                          <a:solidFill>
                            <a:srgbClr val="0F2942"/>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Division</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1.0 / 2.0</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0.5</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75488">
                <a:tc>
                  <a:txBody>
                    <a:bodyPr/>
                    <a:lstStyle/>
                    <a:p>
                      <a:pPr indent="0" marL="0">
                        <a:buNone/>
                      </a:pPr>
                      <a:r>
                        <a:rPr lang="en-US" sz="1200" b="1" dirty="0">
                          <a:solidFill>
                            <a:srgbClr val="9A430A"/>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Remainder</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indent="0" marL="0">
                        <a:buNone/>
                      </a:pPr>
                      <a:r>
                        <a:rPr lang="en-US" sz="1200" dirty="0">
                          <a:solidFill>
                            <a:srgbClr val="3A536B"/>
                          </a:solidFill>
                          <a:latin typeface="Courier New" pitchFamily="34" charset="0"/>
                          <a:ea typeface="Courier New" pitchFamily="34" charset="-122"/>
                          <a:cs typeface="Courier New" pitchFamily="34" charset="-120"/>
                        </a:rPr>
                        <a:t>20 % 3</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indent="0" marL="0">
                        <a:buNone/>
                      </a:pPr>
                      <a:r>
                        <a:rPr lang="en-US" sz="1200" dirty="0">
                          <a:solidFill>
                            <a:srgbClr val="3A536B"/>
                          </a:solidFill>
                          <a:latin typeface="Courier New" pitchFamily="34" charset="0"/>
                          <a:ea typeface="Courier New" pitchFamily="34" charset="-122"/>
                          <a:cs typeface="Courier New" pitchFamily="34" charset="-120"/>
                        </a:rPr>
                        <a:t>2</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r>
            </a:tbl>
          </a:graphicData>
        </a:graphic>
      </p:graphicFrame>
      <p:sp>
        <p:nvSpPr>
          <p:cNvPr id="7" name="Text 4"/>
          <p:cNvSpPr txBox="1"/>
          <p:nvPr/>
        </p:nvSpPr>
        <p:spPr>
          <a:xfrm>
            <a:off x="7699248" y="1261872"/>
            <a:ext cx="3925519" cy="29260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Exponents: there is no ** in Java</a:t>
            </a:r>
            <a:endParaRPr lang="en-US" sz="1500" dirty="0"/>
          </a:p>
        </p:txBody>
      </p:sp>
      <p:sp>
        <p:nvSpPr>
          <p:cNvPr id="8" name="Shape 5"/>
          <p:cNvSpPr/>
          <p:nvPr/>
        </p:nvSpPr>
        <p:spPr>
          <a:xfrm>
            <a:off x="7699248" y="1645920"/>
            <a:ext cx="3925519" cy="1259677"/>
          </a:xfrm>
          <a:prstGeom prst="roundRect">
            <a:avLst>
              <a:gd name="adj" fmla="val 5081"/>
            </a:avLst>
          </a:prstGeom>
          <a:solidFill>
            <a:srgbClr val="EDF2F7"/>
          </a:solidFill>
          <a:ln w="12700">
            <a:solidFill>
              <a:srgbClr val="CFDBE5"/>
            </a:solidFill>
            <a:prstDash val="solid"/>
          </a:ln>
        </p:spPr>
      </p:sp>
      <p:sp>
        <p:nvSpPr>
          <p:cNvPr id="9" name="Text 6"/>
          <p:cNvSpPr txBox="1"/>
          <p:nvPr/>
        </p:nvSpPr>
        <p:spPr>
          <a:xfrm>
            <a:off x="7863840" y="1783080"/>
            <a:ext cx="3596335" cy="1058509"/>
          </a:xfrm>
          <a:prstGeom prst="rect">
            <a:avLst/>
          </a:prstGeom>
          <a:noFill/>
          <a:ln/>
        </p:spPr>
        <p:txBody>
          <a:bodyPr wrap="square" lIns="0" tIns="0" rIns="0" bIns="0" rtlCol="0" anchor="t"/>
          <a:lstStyle/>
          <a:p>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pow</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8.0</a:t>
            </a:r>
            <a:endParaRPr lang="en-US" sz="1200" dirty="0"/>
          </a:p>
          <a:p>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pow</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0.5</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2.0</a:t>
            </a:r>
            <a:endParaRPr lang="en-US" sz="1200" dirty="0"/>
          </a:p>
          <a:p>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pow</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2.5</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6.25</a:t>
            </a:r>
            <a:endParaRPr lang="en-US" sz="1200" dirty="0"/>
          </a:p>
          <a:p>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pow</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2.5</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0.16</a:t>
            </a:r>
            <a:endParaRPr lang="en-US" sz="1200" dirty="0"/>
          </a:p>
        </p:txBody>
      </p:sp>
      <p:sp>
        <p:nvSpPr>
          <p:cNvPr id="10" name="Shape 7"/>
          <p:cNvSpPr/>
          <p:nvPr/>
        </p:nvSpPr>
        <p:spPr>
          <a:xfrm>
            <a:off x="7699248" y="3179917"/>
            <a:ext cx="3925519" cy="1371600"/>
          </a:xfrm>
          <a:prstGeom prst="roundRect">
            <a:avLst>
              <a:gd name="adj" fmla="val 6000"/>
            </a:avLst>
          </a:prstGeom>
          <a:solidFill>
            <a:srgbClr val="FBEEE0"/>
          </a:solidFill>
          <a:ln w="12700">
            <a:solidFill>
              <a:srgbClr val="FBEEE0"/>
            </a:solidFill>
            <a:prstDash val="solid"/>
          </a:ln>
        </p:spPr>
      </p:sp>
      <p:sp>
        <p:nvSpPr>
          <p:cNvPr id="11" name="Text 8"/>
          <p:cNvSpPr txBox="1"/>
          <p:nvPr/>
        </p:nvSpPr>
        <p:spPr>
          <a:xfrm>
            <a:off x="7918704" y="3344509"/>
            <a:ext cx="348660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Math.pow always returns a double</a:t>
            </a:r>
            <a:endParaRPr lang="en-US" sz="1450" dirty="0"/>
          </a:p>
        </p:txBody>
      </p:sp>
      <p:sp>
        <p:nvSpPr>
          <p:cNvPr id="12" name="Text 9"/>
          <p:cNvSpPr txBox="1"/>
          <p:nvPr/>
        </p:nvSpPr>
        <p:spPr>
          <a:xfrm>
            <a:off x="7918704" y="3673693"/>
            <a:ext cx="3486607" cy="74980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Even Math.pow(2, 3) gives 8.0, not 8. If you need an int you must cast — and think about whether you wanted rounding.</a:t>
            </a:r>
            <a:endParaRPr lang="en-US" sz="1200" dirty="0"/>
          </a:p>
        </p:txBody>
      </p:sp>
      <p:sp>
        <p:nvSpPr>
          <p:cNvPr id="13" name="Shape 10"/>
          <p:cNvSpPr/>
          <p:nvPr/>
        </p:nvSpPr>
        <p:spPr>
          <a:xfrm>
            <a:off x="566928" y="4370832"/>
            <a:ext cx="6766560" cy="1234440"/>
          </a:xfrm>
          <a:prstGeom prst="roundRect">
            <a:avLst>
              <a:gd name="adj" fmla="val 6667"/>
            </a:avLst>
          </a:prstGeom>
          <a:solidFill>
            <a:srgbClr val="F1F5F9"/>
          </a:solidFill>
          <a:ln w="12700">
            <a:solidFill>
              <a:srgbClr val="F1F5F9"/>
            </a:solidFill>
            <a:prstDash val="solid"/>
          </a:ln>
        </p:spPr>
      </p:sp>
      <p:sp>
        <p:nvSpPr>
          <p:cNvPr id="14" name="Text 11"/>
          <p:cNvSpPr txBox="1"/>
          <p:nvPr/>
        </p:nvSpPr>
        <p:spPr>
          <a:xfrm>
            <a:off x="841248" y="4370832"/>
            <a:ext cx="6217920" cy="123444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Watch the operands, not the operator.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Every one of these five behaves differently depending on whether what sits either side of it is an integer or a floating-point number. That is the subject of the next slide.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OPERATORS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Integer Division: the Trap</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If both operands are integers, / performs integer division and throws the fraction away. It does not round.</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21</a:t>
            </a:r>
            <a:endParaRPr lang="en-US" sz="900" dirty="0"/>
          </a:p>
        </p:txBody>
      </p:sp>
      <p:sp>
        <p:nvSpPr>
          <p:cNvPr id="7" name="Shape 5"/>
          <p:cNvSpPr/>
          <p:nvPr/>
        </p:nvSpPr>
        <p:spPr>
          <a:xfrm>
            <a:off x="566928" y="1536192"/>
            <a:ext cx="5346040" cy="2036003"/>
          </a:xfrm>
          <a:prstGeom prst="roundRect">
            <a:avLst>
              <a:gd name="adj" fmla="val 3144"/>
            </a:avLst>
          </a:prstGeom>
          <a:solidFill>
            <a:srgbClr val="EDF2F7"/>
          </a:solidFill>
          <a:ln w="12700">
            <a:solidFill>
              <a:srgbClr val="CFDBE5"/>
            </a:solidFill>
            <a:prstDash val="solid"/>
          </a:ln>
        </p:spPr>
      </p:sp>
      <p:sp>
        <p:nvSpPr>
          <p:cNvPr id="8" name="Text 6"/>
          <p:cNvSpPr txBox="1"/>
          <p:nvPr/>
        </p:nvSpPr>
        <p:spPr>
          <a:xfrm>
            <a:off x="713232" y="1581912"/>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Division</a:t>
            </a:r>
            <a:endParaRPr lang="en-US" sz="950" dirty="0"/>
          </a:p>
        </p:txBody>
      </p:sp>
      <p:sp>
        <p:nvSpPr>
          <p:cNvPr id="9" name="Text 7"/>
          <p:cNvSpPr txBox="1"/>
          <p:nvPr/>
        </p:nvSpPr>
        <p:spPr>
          <a:xfrm>
            <a:off x="731520" y="1810512"/>
            <a:ext cx="5016856" cy="1706819"/>
          </a:xfrm>
          <a:prstGeom prst="rect">
            <a:avLst/>
          </a:prstGeom>
          <a:noFill/>
          <a:ln/>
        </p:spPr>
        <p:txBody>
          <a:bodyPr wrap="square" lIns="0" tIns="0" rIns="0" bIns="0" rtlCol="0" anchor="t"/>
          <a:lstStyle/>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2      both int  -&gt; int division</a:t>
            </a:r>
            <a:endParaRPr lang="en-US" sz="1150" dirty="0"/>
          </a:p>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5.0</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2.5    one double -&gt; double division</a:t>
            </a:r>
            <a:endParaRPr lang="en-US" sz="1150" dirty="0"/>
          </a:p>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2.5    same</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2.5   cast one of them</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1      the remainder</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-2      truncates toward zero</a:t>
            </a:r>
            <a:endParaRPr lang="en-US" sz="1150" dirty="0"/>
          </a:p>
        </p:txBody>
      </p:sp>
      <p:sp>
        <p:nvSpPr>
          <p:cNvPr id="10" name="Shape 8"/>
          <p:cNvSpPr/>
          <p:nvPr/>
        </p:nvSpPr>
        <p:spPr>
          <a:xfrm>
            <a:off x="566928" y="3846515"/>
            <a:ext cx="5346040" cy="1417320"/>
          </a:xfrm>
          <a:prstGeom prst="roundRect">
            <a:avLst>
              <a:gd name="adj" fmla="val 5806"/>
            </a:avLst>
          </a:prstGeom>
          <a:solidFill>
            <a:srgbClr val="FBEAE8"/>
          </a:solidFill>
          <a:ln w="12700">
            <a:solidFill>
              <a:srgbClr val="FBEAE8"/>
            </a:solidFill>
            <a:prstDash val="solid"/>
          </a:ln>
        </p:spPr>
      </p:sp>
      <p:sp>
        <p:nvSpPr>
          <p:cNvPr id="11" name="Text 9"/>
          <p:cNvSpPr txBox="1"/>
          <p:nvPr/>
        </p:nvSpPr>
        <p:spPr>
          <a:xfrm>
            <a:off x="822960" y="3846515"/>
            <a:ext cx="4833976" cy="1417320"/>
          </a:xfrm>
          <a:prstGeom prst="rect">
            <a:avLst/>
          </a:prstGeom>
          <a:noFill/>
          <a:ln/>
        </p:spPr>
        <p:txBody>
          <a:bodyPr wrap="square" lIns="0" tIns="0" rIns="0" bIns="0" rtlCol="0" anchor="ctr"/>
          <a:lstStyle/>
          <a:p>
            <a:pPr indent="0" marL="0">
              <a:lnSpc>
                <a:spcPct val="112000"/>
              </a:lnSpc>
              <a:buNone/>
            </a:pPr>
            <a:r>
              <a:rPr lang="en-US" sz="1250" dirty="0">
                <a:solidFill>
                  <a:srgbClr val="9C241C"/>
                </a:solidFill>
                <a:latin typeface="Calibri" pitchFamily="34" charset="0"/>
                <a:ea typeface="Calibri" pitchFamily="34" charset="-122"/>
                <a:cs typeface="Calibri" pitchFamily="34" charset="-120"/>
              </a:rPr>
              <a:t>2 is not a rounding of 2.5 — it is 2.5 with everything after the point deleted. Java is not being approximate here; it is answering a different question.</a:t>
            </a:r>
            <a:endParaRPr lang="en-US" sz="1250" dirty="0"/>
          </a:p>
        </p:txBody>
      </p:sp>
      <p:sp>
        <p:nvSpPr>
          <p:cNvPr id="12" name="Text 10"/>
          <p:cNvSpPr txBox="1"/>
          <p:nvPr/>
        </p:nvSpPr>
        <p:spPr>
          <a:xfrm>
            <a:off x="6278728" y="1536192"/>
            <a:ext cx="5346040" cy="29260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 is more useful than it looks</a:t>
            </a:r>
            <a:endParaRPr lang="en-US" sz="1500" dirty="0"/>
          </a:p>
        </p:txBody>
      </p:sp>
      <p:sp>
        <p:nvSpPr>
          <p:cNvPr id="13" name="Shape 11"/>
          <p:cNvSpPr/>
          <p:nvPr/>
        </p:nvSpPr>
        <p:spPr>
          <a:xfrm>
            <a:off x="6278728" y="1920240"/>
            <a:ext cx="5346040" cy="2558491"/>
          </a:xfrm>
          <a:prstGeom prst="roundRect">
            <a:avLst>
              <a:gd name="adj" fmla="val 2502"/>
            </a:avLst>
          </a:prstGeom>
          <a:solidFill>
            <a:srgbClr val="EDF2F7"/>
          </a:solidFill>
          <a:ln w="12700">
            <a:solidFill>
              <a:srgbClr val="CFDBE5"/>
            </a:solidFill>
            <a:prstDash val="solid"/>
          </a:ln>
        </p:spPr>
      </p:sp>
      <p:sp>
        <p:nvSpPr>
          <p:cNvPr id="14" name="Text 12"/>
          <p:cNvSpPr txBox="1"/>
          <p:nvPr/>
        </p:nvSpPr>
        <p:spPr>
          <a:xfrm>
            <a:off x="6443320" y="2057400"/>
            <a:ext cx="5016856" cy="2357323"/>
          </a:xfrm>
          <a:prstGeom prst="rect">
            <a:avLst/>
          </a:prstGeom>
          <a:noFill/>
          <a:ln/>
        </p:spPr>
        <p:txBody>
          <a:bodyPr wrap="square" lIns="0" tIns="0" rIns="0" bIns="0" rtlCol="0" anchor="t"/>
          <a:lstStyle/>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n is even</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n is odd (for positive n)</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Today is Saturday, day 6 of the week.</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What day is it in 10 days?</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7</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2  -&gt;  Tuesday</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500 seconds as minutes and seconds</a:t>
            </a:r>
            <a:endParaRPr lang="en-US" sz="1150" dirty="0"/>
          </a:p>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500</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60</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8 minutes</a:t>
            </a:r>
            <a:endParaRPr lang="en-US" sz="1150" dirty="0"/>
          </a:p>
          <a:p>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500</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60</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20 seconds</a:t>
            </a:r>
            <a:endParaRPr lang="en-US" sz="1150" dirty="0"/>
          </a:p>
        </p:txBody>
      </p:sp>
      <p:sp>
        <p:nvSpPr>
          <p:cNvPr id="15" name="Shape 13"/>
          <p:cNvSpPr/>
          <p:nvPr/>
        </p:nvSpPr>
        <p:spPr>
          <a:xfrm>
            <a:off x="6278728" y="4734763"/>
            <a:ext cx="5346040" cy="682142"/>
          </a:xfrm>
          <a:prstGeom prst="roundRect">
            <a:avLst>
              <a:gd name="adj" fmla="val 9383"/>
            </a:avLst>
          </a:prstGeom>
          <a:solidFill>
            <a:srgbClr val="FFFFFF"/>
          </a:solidFill>
          <a:ln w="12700">
            <a:solidFill>
              <a:srgbClr val="4B6377"/>
            </a:solidFill>
            <a:prstDash val="solid"/>
          </a:ln>
        </p:spPr>
      </p:sp>
      <p:sp>
        <p:nvSpPr>
          <p:cNvPr id="16" name="Text 14"/>
          <p:cNvSpPr txBox="1"/>
          <p:nvPr/>
        </p:nvSpPr>
        <p:spPr>
          <a:xfrm>
            <a:off x="6425032" y="4807915"/>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7" name="Text 15"/>
          <p:cNvSpPr txBox="1"/>
          <p:nvPr/>
        </p:nvSpPr>
        <p:spPr>
          <a:xfrm>
            <a:off x="6425032" y="5009083"/>
            <a:ext cx="5053432" cy="316382"/>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8 minutes 20 seconds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EXPRESSIONS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Writing and Evaluating Arithmetic Expressions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Java has no fraction bar and no superscripts, so everything goes on one line — and the brackets do the work.</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22</a:t>
            </a:r>
            <a:endParaRPr lang="en-US" sz="900" dirty="0"/>
          </a:p>
        </p:txBody>
      </p:sp>
      <p:sp>
        <p:nvSpPr>
          <p:cNvPr id="7" name="Text 5"/>
          <p:cNvSpPr txBox="1"/>
          <p:nvPr/>
        </p:nvSpPr>
        <p:spPr>
          <a:xfrm>
            <a:off x="566928" y="1536192"/>
            <a:ext cx="5346040" cy="29260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From mathematics to Java</a:t>
            </a:r>
            <a:endParaRPr lang="en-US" sz="1500" dirty="0"/>
          </a:p>
        </p:txBody>
      </p:sp>
      <p:sp>
        <p:nvSpPr>
          <p:cNvPr id="8" name="Shape 6"/>
          <p:cNvSpPr/>
          <p:nvPr/>
        </p:nvSpPr>
        <p:spPr>
          <a:xfrm>
            <a:off x="566928" y="1920240"/>
            <a:ext cx="5346040" cy="1492301"/>
          </a:xfrm>
          <a:prstGeom prst="roundRect">
            <a:avLst>
              <a:gd name="adj" fmla="val 4289"/>
            </a:avLst>
          </a:prstGeom>
          <a:solidFill>
            <a:srgbClr val="EDF2F7"/>
          </a:solidFill>
          <a:ln w="12700">
            <a:solidFill>
              <a:srgbClr val="CFDBE5"/>
            </a:solidFill>
            <a:prstDash val="solid"/>
          </a:ln>
        </p:spPr>
      </p:sp>
      <p:sp>
        <p:nvSpPr>
          <p:cNvPr id="9" name="Text 7"/>
          <p:cNvSpPr txBox="1"/>
          <p:nvPr/>
        </p:nvSpPr>
        <p:spPr>
          <a:xfrm>
            <a:off x="731520" y="2057400"/>
            <a:ext cx="5016856" cy="1291133"/>
          </a:xfrm>
          <a:prstGeom prst="rect">
            <a:avLst/>
          </a:prstGeom>
          <a:noFill/>
          <a:ln/>
        </p:spPr>
        <p:txBody>
          <a:bodyPr wrap="square" lIns="0" tIns="0" rIns="0" bIns="0" rtlCol="0" anchor="t"/>
          <a:lstStyle/>
          <a:p>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3 + 4x     10(y - 5)(a + b + c)         4    9 + x</a:t>
            </a:r>
            <a:endParaRPr lang="en-US" sz="1000" dirty="0"/>
          </a:p>
          <a:p>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  +  -------------------  -  9( --- + ----- )</a:t>
            </a:r>
            <a:endParaRPr lang="en-US" sz="1000" dirty="0"/>
          </a:p>
          <a:p>
            <a:pPr indent="0" marL="0">
              <a:lnSpc>
                <a:spcPct val="112000"/>
              </a:lnSpc>
              <a:buNone/>
            </a:pPr>
            <a:r>
              <a:rPr lang="en-US" sz="1000" dirty="0">
                <a:solidFill>
                  <a:srgbClr val="415C6E"/>
                </a:solidFill>
                <a:latin typeface="Courier New" pitchFamily="34" charset="0"/>
                <a:ea typeface="Courier New" pitchFamily="34" charset="-122"/>
                <a:cs typeface="Courier New" pitchFamily="34" charset="-120"/>
              </a:rPr>
              <a:t>//    5                 x                   x      y</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x</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x</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y</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566928" y="3686861"/>
            <a:ext cx="5346040" cy="1371600"/>
          </a:xfrm>
          <a:prstGeom prst="roundRect">
            <a:avLst>
              <a:gd name="adj" fmla="val 6000"/>
            </a:avLst>
          </a:prstGeom>
          <a:solidFill>
            <a:srgbClr val="F1F5F9"/>
          </a:solidFill>
          <a:ln w="12700">
            <a:solidFill>
              <a:srgbClr val="F1F5F9"/>
            </a:solidFill>
            <a:prstDash val="solid"/>
          </a:ln>
        </p:spPr>
      </p:sp>
      <p:sp>
        <p:nvSpPr>
          <p:cNvPr id="11" name="Text 9"/>
          <p:cNvSpPr txBox="1"/>
          <p:nvPr/>
        </p:nvSpPr>
        <p:spPr>
          <a:xfrm>
            <a:off x="822960" y="3686861"/>
            <a:ext cx="4833976" cy="1371600"/>
          </a:xfrm>
          <a:prstGeom prst="rect">
            <a:avLst/>
          </a:prstGeom>
          <a:noFill/>
          <a:ln/>
        </p:spPr>
        <p:txBody>
          <a:bodyPr wrap="square" lIns="0" tIns="0" rIns="0" bIns="0" rtlCol="0" anchor="ctr"/>
          <a:lstStyle/>
          <a:p>
            <a:pPr indent="0" marL="0">
              <a:lnSpc>
                <a:spcPct val="112000"/>
              </a:lnSpc>
              <a:buNone/>
            </a:pPr>
            <a:r>
              <a:rPr lang="en-US" sz="1250" dirty="0">
                <a:solidFill>
                  <a:srgbClr val="0F2942"/>
                </a:solidFill>
                <a:latin typeface="Calibri" pitchFamily="34" charset="0"/>
                <a:ea typeface="Calibri" pitchFamily="34" charset="-122"/>
                <a:cs typeface="Calibri" pitchFamily="34" charset="-120"/>
              </a:rPr>
              <a:t>When in doubt, add brackets. They cost nothing at run time and they save the reader — and you, in three weeks — from having to remember the precedence table.</a:t>
            </a:r>
            <a:endParaRPr lang="en-US" sz="1250" dirty="0"/>
          </a:p>
        </p:txBody>
      </p:sp>
      <p:sp>
        <p:nvSpPr>
          <p:cNvPr id="12" name="Text 10"/>
          <p:cNvSpPr txBox="1"/>
          <p:nvPr/>
        </p:nvSpPr>
        <p:spPr>
          <a:xfrm>
            <a:off x="6278728" y="1536192"/>
            <a:ext cx="5346040" cy="29260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How Java evaluates 3 + 4 * 4 + 5 * 7 − 1</a:t>
            </a:r>
            <a:endParaRPr lang="en-US" sz="1500" dirty="0"/>
          </a:p>
        </p:txBody>
      </p:sp>
      <p:sp>
        <p:nvSpPr>
          <p:cNvPr id="13" name="Shape 11"/>
          <p:cNvSpPr/>
          <p:nvPr/>
        </p:nvSpPr>
        <p:spPr>
          <a:xfrm>
            <a:off x="6278728" y="1938528"/>
            <a:ext cx="5346040" cy="457200"/>
          </a:xfrm>
          <a:prstGeom prst="roundRect">
            <a:avLst>
              <a:gd name="adj" fmla="val 18000"/>
            </a:avLst>
          </a:prstGeom>
          <a:solidFill>
            <a:srgbClr val="F1F5F9"/>
          </a:solidFill>
          <a:ln w="12700">
            <a:solidFill>
              <a:srgbClr val="F1F5F9"/>
            </a:solidFill>
            <a:prstDash val="solid"/>
          </a:ln>
        </p:spPr>
      </p:sp>
      <p:sp>
        <p:nvSpPr>
          <p:cNvPr id="14" name="Text 12"/>
          <p:cNvSpPr txBox="1"/>
          <p:nvPr/>
        </p:nvSpPr>
        <p:spPr>
          <a:xfrm>
            <a:off x="6516472" y="1938528"/>
            <a:ext cx="2673020" cy="457200"/>
          </a:xfrm>
          <a:prstGeom prst="rect">
            <a:avLst/>
          </a:prstGeom>
          <a:noFill/>
          <a:ln/>
        </p:spPr>
        <p:txBody>
          <a:bodyPr wrap="square" lIns="0" tIns="0" rIns="0" bIns="0" rtlCol="0" anchor="ctr"/>
          <a:lstStyle/>
          <a:p>
            <a:pPr indent="0" marL="0">
              <a:buNone/>
            </a:pPr>
            <a:r>
              <a:rPr lang="en-US" sz="1200" dirty="0">
                <a:solidFill>
                  <a:srgbClr val="0F2942"/>
                </a:solidFill>
                <a:latin typeface="Courier New" pitchFamily="34" charset="0"/>
                <a:ea typeface="Courier New" pitchFamily="34" charset="-122"/>
                <a:cs typeface="Courier New" pitchFamily="34" charset="-120"/>
              </a:rPr>
              <a:t>3 + 4 * 4 + 5 * 7 - 1</a:t>
            </a:r>
            <a:endParaRPr lang="en-US" sz="1200" dirty="0"/>
          </a:p>
        </p:txBody>
      </p:sp>
      <p:sp>
        <p:nvSpPr>
          <p:cNvPr id="15" name="Text 13"/>
          <p:cNvSpPr txBox="1"/>
          <p:nvPr/>
        </p:nvSpPr>
        <p:spPr>
          <a:xfrm>
            <a:off x="8951747" y="1938528"/>
            <a:ext cx="2435276" cy="457200"/>
          </a:xfrm>
          <a:prstGeom prst="rect">
            <a:avLst/>
          </a:prstGeom>
          <a:noFill/>
          <a:ln/>
        </p:spPr>
        <p:txBody>
          <a:bodyPr wrap="square" lIns="0" tIns="0" rIns="0" bIns="0" rtlCol="0" anchor="ctr"/>
          <a:lstStyle/>
          <a:p>
            <a:pPr algn="r" indent="0" marL="0">
              <a:buNone/>
            </a:pPr>
            <a:r>
              <a:rPr lang="en-US" sz="1050" i="1" dirty="0">
                <a:solidFill>
                  <a:srgbClr val="3A536B"/>
                </a:solidFill>
                <a:latin typeface="Calibri" pitchFamily="34" charset="0"/>
                <a:ea typeface="Calibri" pitchFamily="34" charset="-122"/>
                <a:cs typeface="Calibri" pitchFamily="34" charset="-120"/>
              </a:rPr>
              <a:t>multiplication first, left to right</a:t>
            </a:r>
            <a:endParaRPr lang="en-US" sz="1050" dirty="0"/>
          </a:p>
        </p:txBody>
      </p:sp>
      <p:sp>
        <p:nvSpPr>
          <p:cNvPr id="16" name="Shape 14"/>
          <p:cNvSpPr/>
          <p:nvPr/>
        </p:nvSpPr>
        <p:spPr>
          <a:xfrm>
            <a:off x="6278728" y="2450592"/>
            <a:ext cx="5346040" cy="457200"/>
          </a:xfrm>
          <a:prstGeom prst="roundRect">
            <a:avLst>
              <a:gd name="adj" fmla="val 18000"/>
            </a:avLst>
          </a:prstGeom>
          <a:solidFill>
            <a:srgbClr val="FFFFFF"/>
          </a:solidFill>
          <a:ln w="12700">
            <a:solidFill>
              <a:srgbClr val="D3DEE7"/>
            </a:solidFill>
            <a:prstDash val="solid"/>
          </a:ln>
        </p:spPr>
      </p:sp>
      <p:sp>
        <p:nvSpPr>
          <p:cNvPr id="17" name="Text 15"/>
          <p:cNvSpPr txBox="1"/>
          <p:nvPr/>
        </p:nvSpPr>
        <p:spPr>
          <a:xfrm>
            <a:off x="6516472" y="2450592"/>
            <a:ext cx="2673020" cy="457200"/>
          </a:xfrm>
          <a:prstGeom prst="rect">
            <a:avLst/>
          </a:prstGeom>
          <a:noFill/>
          <a:ln/>
        </p:spPr>
        <p:txBody>
          <a:bodyPr wrap="square" lIns="0" tIns="0" rIns="0" bIns="0" rtlCol="0" anchor="ctr"/>
          <a:lstStyle/>
          <a:p>
            <a:pPr indent="0" marL="0">
              <a:buNone/>
            </a:pPr>
            <a:r>
              <a:rPr lang="en-US" sz="1200" dirty="0">
                <a:solidFill>
                  <a:srgbClr val="0F2942"/>
                </a:solidFill>
                <a:latin typeface="Courier New" pitchFamily="34" charset="0"/>
                <a:ea typeface="Courier New" pitchFamily="34" charset="-122"/>
                <a:cs typeface="Courier New" pitchFamily="34" charset="-120"/>
              </a:rPr>
              <a:t>3 + 16 + 5 * 7 - 1</a:t>
            </a:r>
            <a:endParaRPr lang="en-US" sz="1200" dirty="0"/>
          </a:p>
        </p:txBody>
      </p:sp>
      <p:sp>
        <p:nvSpPr>
          <p:cNvPr id="18" name="Text 16"/>
          <p:cNvSpPr txBox="1"/>
          <p:nvPr/>
        </p:nvSpPr>
        <p:spPr>
          <a:xfrm>
            <a:off x="8951747" y="2450592"/>
            <a:ext cx="2435276" cy="457200"/>
          </a:xfrm>
          <a:prstGeom prst="rect">
            <a:avLst/>
          </a:prstGeom>
          <a:noFill/>
          <a:ln/>
        </p:spPr>
        <p:txBody>
          <a:bodyPr wrap="square" lIns="0" tIns="0" rIns="0" bIns="0" rtlCol="0" anchor="ctr"/>
          <a:lstStyle/>
          <a:p>
            <a:pPr algn="r" indent="0" marL="0">
              <a:buNone/>
            </a:pPr>
            <a:r>
              <a:rPr lang="en-US" sz="1050" i="1" dirty="0">
                <a:solidFill>
                  <a:srgbClr val="3A536B"/>
                </a:solidFill>
                <a:latin typeface="Calibri" pitchFamily="34" charset="0"/>
                <a:ea typeface="Calibri" pitchFamily="34" charset="-122"/>
                <a:cs typeface="Calibri" pitchFamily="34" charset="-120"/>
              </a:rPr>
              <a:t>the second multiplication</a:t>
            </a:r>
            <a:endParaRPr lang="en-US" sz="1050" dirty="0"/>
          </a:p>
        </p:txBody>
      </p:sp>
      <p:sp>
        <p:nvSpPr>
          <p:cNvPr id="19" name="Shape 17"/>
          <p:cNvSpPr/>
          <p:nvPr/>
        </p:nvSpPr>
        <p:spPr>
          <a:xfrm>
            <a:off x="6278728" y="2962656"/>
            <a:ext cx="5346040" cy="457200"/>
          </a:xfrm>
          <a:prstGeom prst="roundRect">
            <a:avLst>
              <a:gd name="adj" fmla="val 18000"/>
            </a:avLst>
          </a:prstGeom>
          <a:solidFill>
            <a:srgbClr val="F1F5F9"/>
          </a:solidFill>
          <a:ln w="12700">
            <a:solidFill>
              <a:srgbClr val="F1F5F9"/>
            </a:solidFill>
            <a:prstDash val="solid"/>
          </a:ln>
        </p:spPr>
      </p:sp>
      <p:sp>
        <p:nvSpPr>
          <p:cNvPr id="20" name="Text 18"/>
          <p:cNvSpPr txBox="1"/>
          <p:nvPr/>
        </p:nvSpPr>
        <p:spPr>
          <a:xfrm>
            <a:off x="6516472" y="2962656"/>
            <a:ext cx="2673020" cy="457200"/>
          </a:xfrm>
          <a:prstGeom prst="rect">
            <a:avLst/>
          </a:prstGeom>
          <a:noFill/>
          <a:ln/>
        </p:spPr>
        <p:txBody>
          <a:bodyPr wrap="square" lIns="0" tIns="0" rIns="0" bIns="0" rtlCol="0" anchor="ctr"/>
          <a:lstStyle/>
          <a:p>
            <a:pPr indent="0" marL="0">
              <a:buNone/>
            </a:pPr>
            <a:r>
              <a:rPr lang="en-US" sz="1200" dirty="0">
                <a:solidFill>
                  <a:srgbClr val="0F2942"/>
                </a:solidFill>
                <a:latin typeface="Courier New" pitchFamily="34" charset="0"/>
                <a:ea typeface="Courier New" pitchFamily="34" charset="-122"/>
                <a:cs typeface="Courier New" pitchFamily="34" charset="-120"/>
              </a:rPr>
              <a:t>3 + 16 + 35 - 1</a:t>
            </a:r>
            <a:endParaRPr lang="en-US" sz="1200" dirty="0"/>
          </a:p>
        </p:txBody>
      </p:sp>
      <p:sp>
        <p:nvSpPr>
          <p:cNvPr id="21" name="Text 19"/>
          <p:cNvSpPr txBox="1"/>
          <p:nvPr/>
        </p:nvSpPr>
        <p:spPr>
          <a:xfrm>
            <a:off x="8951747" y="2962656"/>
            <a:ext cx="2435276" cy="457200"/>
          </a:xfrm>
          <a:prstGeom prst="rect">
            <a:avLst/>
          </a:prstGeom>
          <a:noFill/>
          <a:ln/>
        </p:spPr>
        <p:txBody>
          <a:bodyPr wrap="square" lIns="0" tIns="0" rIns="0" bIns="0" rtlCol="0" anchor="ctr"/>
          <a:lstStyle/>
          <a:p>
            <a:pPr algn="r" indent="0" marL="0">
              <a:buNone/>
            </a:pPr>
            <a:r>
              <a:rPr lang="en-US" sz="1050" i="1" dirty="0">
                <a:solidFill>
                  <a:srgbClr val="3A536B"/>
                </a:solidFill>
                <a:latin typeface="Calibri" pitchFamily="34" charset="0"/>
                <a:ea typeface="Calibri" pitchFamily="34" charset="-122"/>
                <a:cs typeface="Calibri" pitchFamily="34" charset="-120"/>
              </a:rPr>
              <a:t>now addition and subtraction, left to right</a:t>
            </a:r>
            <a:endParaRPr lang="en-US" sz="1050" dirty="0"/>
          </a:p>
        </p:txBody>
      </p:sp>
      <p:sp>
        <p:nvSpPr>
          <p:cNvPr id="22" name="Shape 20"/>
          <p:cNvSpPr/>
          <p:nvPr/>
        </p:nvSpPr>
        <p:spPr>
          <a:xfrm>
            <a:off x="6278728" y="3474720"/>
            <a:ext cx="5346040" cy="457200"/>
          </a:xfrm>
          <a:prstGeom prst="roundRect">
            <a:avLst>
              <a:gd name="adj" fmla="val 18000"/>
            </a:avLst>
          </a:prstGeom>
          <a:solidFill>
            <a:srgbClr val="FFFFFF"/>
          </a:solidFill>
          <a:ln w="12700">
            <a:solidFill>
              <a:srgbClr val="D3DEE7"/>
            </a:solidFill>
            <a:prstDash val="solid"/>
          </a:ln>
        </p:spPr>
      </p:sp>
      <p:sp>
        <p:nvSpPr>
          <p:cNvPr id="23" name="Text 21"/>
          <p:cNvSpPr txBox="1"/>
          <p:nvPr/>
        </p:nvSpPr>
        <p:spPr>
          <a:xfrm>
            <a:off x="6516472" y="3474720"/>
            <a:ext cx="2673020" cy="457200"/>
          </a:xfrm>
          <a:prstGeom prst="rect">
            <a:avLst/>
          </a:prstGeom>
          <a:noFill/>
          <a:ln/>
        </p:spPr>
        <p:txBody>
          <a:bodyPr wrap="square" lIns="0" tIns="0" rIns="0" bIns="0" rtlCol="0" anchor="ctr"/>
          <a:lstStyle/>
          <a:p>
            <a:pPr indent="0" marL="0">
              <a:buNone/>
            </a:pPr>
            <a:r>
              <a:rPr lang="en-US" sz="1200" dirty="0">
                <a:solidFill>
                  <a:srgbClr val="0F2942"/>
                </a:solidFill>
                <a:latin typeface="Courier New" pitchFamily="34" charset="0"/>
                <a:ea typeface="Courier New" pitchFamily="34" charset="-122"/>
                <a:cs typeface="Courier New" pitchFamily="34" charset="-120"/>
              </a:rPr>
              <a:t>19 + 35 - 1</a:t>
            </a:r>
            <a:endParaRPr lang="en-US" sz="1200" dirty="0"/>
          </a:p>
        </p:txBody>
      </p:sp>
      <p:sp>
        <p:nvSpPr>
          <p:cNvPr id="24" name="Text 22"/>
          <p:cNvSpPr txBox="1"/>
          <p:nvPr/>
        </p:nvSpPr>
        <p:spPr>
          <a:xfrm>
            <a:off x="8951747" y="3474720"/>
            <a:ext cx="2435276" cy="457200"/>
          </a:xfrm>
          <a:prstGeom prst="rect">
            <a:avLst/>
          </a:prstGeom>
          <a:noFill/>
          <a:ln/>
        </p:spPr>
        <p:txBody>
          <a:bodyPr wrap="square" lIns="0" tIns="0" rIns="0" bIns="0" rtlCol="0" anchor="ctr"/>
          <a:lstStyle/>
          <a:p>
            <a:pPr algn="r" indent="0" marL="0">
              <a:buNone/>
            </a:pPr>
            <a:endParaRPr lang="en-US" sz="1050" dirty="0"/>
          </a:p>
        </p:txBody>
      </p:sp>
      <p:sp>
        <p:nvSpPr>
          <p:cNvPr id="25" name="Shape 23"/>
          <p:cNvSpPr/>
          <p:nvPr/>
        </p:nvSpPr>
        <p:spPr>
          <a:xfrm>
            <a:off x="6278728" y="3986784"/>
            <a:ext cx="5346040" cy="457200"/>
          </a:xfrm>
          <a:prstGeom prst="roundRect">
            <a:avLst>
              <a:gd name="adj" fmla="val 18000"/>
            </a:avLst>
          </a:prstGeom>
          <a:solidFill>
            <a:srgbClr val="F1F5F9"/>
          </a:solidFill>
          <a:ln w="12700">
            <a:solidFill>
              <a:srgbClr val="F1F5F9"/>
            </a:solidFill>
            <a:prstDash val="solid"/>
          </a:ln>
        </p:spPr>
      </p:sp>
      <p:sp>
        <p:nvSpPr>
          <p:cNvPr id="26" name="Text 24"/>
          <p:cNvSpPr txBox="1"/>
          <p:nvPr/>
        </p:nvSpPr>
        <p:spPr>
          <a:xfrm>
            <a:off x="6516472" y="3986784"/>
            <a:ext cx="2673020" cy="457200"/>
          </a:xfrm>
          <a:prstGeom prst="rect">
            <a:avLst/>
          </a:prstGeom>
          <a:noFill/>
          <a:ln/>
        </p:spPr>
        <p:txBody>
          <a:bodyPr wrap="square" lIns="0" tIns="0" rIns="0" bIns="0" rtlCol="0" anchor="ctr"/>
          <a:lstStyle/>
          <a:p>
            <a:pPr indent="0" marL="0">
              <a:buNone/>
            </a:pPr>
            <a:r>
              <a:rPr lang="en-US" sz="1200" dirty="0">
                <a:solidFill>
                  <a:srgbClr val="0F2942"/>
                </a:solidFill>
                <a:latin typeface="Courier New" pitchFamily="34" charset="0"/>
                <a:ea typeface="Courier New" pitchFamily="34" charset="-122"/>
                <a:cs typeface="Courier New" pitchFamily="34" charset="-120"/>
              </a:rPr>
              <a:t>54 - 1</a:t>
            </a:r>
            <a:endParaRPr lang="en-US" sz="1200" dirty="0"/>
          </a:p>
        </p:txBody>
      </p:sp>
      <p:sp>
        <p:nvSpPr>
          <p:cNvPr id="27" name="Text 25"/>
          <p:cNvSpPr txBox="1"/>
          <p:nvPr/>
        </p:nvSpPr>
        <p:spPr>
          <a:xfrm>
            <a:off x="8951747" y="3986784"/>
            <a:ext cx="2435276" cy="457200"/>
          </a:xfrm>
          <a:prstGeom prst="rect">
            <a:avLst/>
          </a:prstGeom>
          <a:noFill/>
          <a:ln/>
        </p:spPr>
        <p:txBody>
          <a:bodyPr wrap="square" lIns="0" tIns="0" rIns="0" bIns="0" rtlCol="0" anchor="ctr"/>
          <a:lstStyle/>
          <a:p>
            <a:pPr algn="r" indent="0" marL="0">
              <a:buNone/>
            </a:pPr>
            <a:endParaRPr lang="en-US" sz="1050" dirty="0"/>
          </a:p>
        </p:txBody>
      </p:sp>
      <p:sp>
        <p:nvSpPr>
          <p:cNvPr id="28" name="Shape 26"/>
          <p:cNvSpPr/>
          <p:nvPr/>
        </p:nvSpPr>
        <p:spPr>
          <a:xfrm>
            <a:off x="6278728" y="4498848"/>
            <a:ext cx="5346040" cy="457200"/>
          </a:xfrm>
          <a:prstGeom prst="roundRect">
            <a:avLst>
              <a:gd name="adj" fmla="val 18000"/>
            </a:avLst>
          </a:prstGeom>
          <a:solidFill>
            <a:srgbClr val="FBEEE0"/>
          </a:solidFill>
          <a:ln w="12700">
            <a:solidFill>
              <a:srgbClr val="FBEEE0"/>
            </a:solidFill>
            <a:prstDash val="solid"/>
          </a:ln>
        </p:spPr>
      </p:sp>
      <p:sp>
        <p:nvSpPr>
          <p:cNvPr id="29" name="Text 27"/>
          <p:cNvSpPr txBox="1"/>
          <p:nvPr/>
        </p:nvSpPr>
        <p:spPr>
          <a:xfrm>
            <a:off x="6516472" y="4498848"/>
            <a:ext cx="2673020" cy="457200"/>
          </a:xfrm>
          <a:prstGeom prst="rect">
            <a:avLst/>
          </a:prstGeom>
          <a:noFill/>
          <a:ln/>
        </p:spPr>
        <p:txBody>
          <a:bodyPr wrap="square" lIns="0" tIns="0" rIns="0" bIns="0" rtlCol="0" anchor="ctr"/>
          <a:lstStyle/>
          <a:p>
            <a:pPr indent="0" marL="0">
              <a:buNone/>
            </a:pPr>
            <a:r>
              <a:rPr lang="en-US" sz="1200" b="1" dirty="0">
                <a:solidFill>
                  <a:srgbClr val="9A430A"/>
                </a:solidFill>
                <a:latin typeface="Courier New" pitchFamily="34" charset="0"/>
                <a:ea typeface="Courier New" pitchFamily="34" charset="-122"/>
                <a:cs typeface="Courier New" pitchFamily="34" charset="-120"/>
              </a:rPr>
              <a:t>53</a:t>
            </a:r>
            <a:endParaRPr lang="en-US" sz="1200" dirty="0"/>
          </a:p>
        </p:txBody>
      </p:sp>
      <p:sp>
        <p:nvSpPr>
          <p:cNvPr id="30" name="Text 28"/>
          <p:cNvSpPr txBox="1"/>
          <p:nvPr/>
        </p:nvSpPr>
        <p:spPr>
          <a:xfrm>
            <a:off x="8951747" y="4498848"/>
            <a:ext cx="2435276" cy="457200"/>
          </a:xfrm>
          <a:prstGeom prst="rect">
            <a:avLst/>
          </a:prstGeom>
          <a:noFill/>
          <a:ln/>
        </p:spPr>
        <p:txBody>
          <a:bodyPr wrap="square" lIns="0" tIns="0" rIns="0" bIns="0" rtlCol="0" anchor="ctr"/>
          <a:lstStyle/>
          <a:p>
            <a:pPr algn="r" indent="0" marL="0">
              <a:buNone/>
            </a:pPr>
            <a:r>
              <a:rPr lang="en-US" sz="1050" i="1" dirty="0">
                <a:solidFill>
                  <a:srgbClr val="3A536B"/>
                </a:solidFill>
                <a:latin typeface="Calibri" pitchFamily="34" charset="0"/>
                <a:ea typeface="Calibri" pitchFamily="34" charset="-122"/>
                <a:cs typeface="Calibri" pitchFamily="34" charset="-120"/>
              </a:rPr>
              <a:t>the result</a:t>
            </a:r>
            <a:endParaRPr lang="en-US" sz="1050" dirty="0"/>
          </a:p>
        </p:txBody>
      </p:sp>
      <p:sp>
        <p:nvSpPr>
          <p:cNvPr id="31" name="Text 29"/>
          <p:cNvSpPr txBox="1"/>
          <p:nvPr/>
        </p:nvSpPr>
        <p:spPr>
          <a:xfrm>
            <a:off x="6278728" y="5065776"/>
            <a:ext cx="5346040" cy="274320"/>
          </a:xfrm>
          <a:prstGeom prst="rect">
            <a:avLst/>
          </a:prstGeom>
          <a:noFill/>
          <a:ln/>
        </p:spPr>
        <p:txBody>
          <a:bodyPr wrap="square" lIns="0" tIns="0" rIns="0" bIns="0" rtlCol="0" anchor="ctr"/>
          <a:lstStyle/>
          <a:p>
            <a:pPr indent="0" marL="0">
              <a:buNone/>
            </a:pPr>
            <a:r>
              <a:rPr lang="en-US" sz="1150" i="1" dirty="0">
                <a:solidFill>
                  <a:srgbClr val="4B6377"/>
                </a:solidFill>
                <a:latin typeface="Calibri" pitchFamily="34" charset="0"/>
                <a:ea typeface="Calibri" pitchFamily="34" charset="-122"/>
                <a:cs typeface="Calibri" pitchFamily="34" charset="-120"/>
              </a:rPr>
              <a:t>The arithmetic rules you already know apply unchanged.</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OPERATORS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Augmented Assignment Operators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Shorthand for the very common case where a variable appears on both sides of an assignment.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6766560" cy="914400"/>
        </p:xfrm>
        <a:graphic>
          <a:graphicData uri="http://schemas.openxmlformats.org/drawingml/2006/table">
            <a:tbl>
              <a:tblPr/>
              <a:tblGrid>
                <a:gridCol w="1188720"/>
                <a:gridCol w="2286000"/>
                <a:gridCol w="1645920"/>
                <a:gridCol w="1645920"/>
              </a:tblGrid>
              <a:tr h="4754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Operator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Equivalent to</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475488">
                <a:tc>
                  <a:txBody>
                    <a:bodyPr/>
                    <a:lstStyle/>
                    <a:p>
                      <a:pPr indent="0" marL="0">
                        <a:buNone/>
                      </a:pPr>
                      <a:r>
                        <a:rPr lang="en-US" sz="1200" b="1" dirty="0">
                          <a:solidFill>
                            <a:srgbClr val="0F2942"/>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Addition assignment</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i += 8</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i = i + 8</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75488">
                <a:tc>
                  <a:txBody>
                    <a:bodyPr/>
                    <a:lstStyle/>
                    <a:p>
                      <a:pPr indent="0" marL="0">
                        <a:buNone/>
                      </a:pPr>
                      <a:r>
                        <a:rPr lang="en-US" sz="1200" b="1" dirty="0">
                          <a:solidFill>
                            <a:srgbClr val="0F2942"/>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Subtraction assignment</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i -= 8</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i = i - 8</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75488">
                <a:tc>
                  <a:txBody>
                    <a:bodyPr/>
                    <a:lstStyle/>
                    <a:p>
                      <a:pPr indent="0" marL="0">
                        <a:buNone/>
                      </a:pPr>
                      <a:r>
                        <a:rPr lang="en-US" sz="1200" b="1" dirty="0">
                          <a:solidFill>
                            <a:srgbClr val="0F2942"/>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Multiplication assignment</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i *= 8</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i = i * 8</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75488">
                <a:tc>
                  <a:txBody>
                    <a:bodyPr/>
                    <a:lstStyle/>
                    <a:p>
                      <a:pPr indent="0" marL="0">
                        <a:buNone/>
                      </a:pPr>
                      <a:r>
                        <a:rPr lang="en-US" sz="1200" b="1" dirty="0">
                          <a:solidFill>
                            <a:srgbClr val="0F2942"/>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Division assignment</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i /= 8</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i = i / 8</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475488">
                <a:tc>
                  <a:txBody>
                    <a:bodyPr/>
                    <a:lstStyle/>
                    <a:p>
                      <a:pPr indent="0" marL="0">
                        <a:buNone/>
                      </a:pPr>
                      <a:r>
                        <a:rPr lang="en-US" sz="1200" b="1" dirty="0">
                          <a:solidFill>
                            <a:srgbClr val="0F2942"/>
                          </a:solidFill>
                          <a:latin typeface="Courier New" pitchFamily="34" charset="0"/>
                          <a:ea typeface="Courier New" pitchFamily="34" charset="-122"/>
                          <a:cs typeface="Courier New" pitchFamily="34" charset="-120"/>
                        </a:rPr>
                        <a:t>%=</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3A536B"/>
                          </a:solidFill>
                          <a:latin typeface="Calibri" pitchFamily="34" charset="0"/>
                          <a:ea typeface="Calibri" pitchFamily="34" charset="-122"/>
                          <a:cs typeface="Calibri" pitchFamily="34" charset="-120"/>
                        </a:rPr>
                        <a:t>Remainder assignment</a:t>
                      </a:r>
                      <a:endParaRPr lang="en-US" sz="12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i %= 8</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200" dirty="0">
                          <a:solidFill>
                            <a:srgbClr val="0F2942"/>
                          </a:solidFill>
                          <a:latin typeface="Courier New" pitchFamily="34" charset="0"/>
                          <a:ea typeface="Courier New" pitchFamily="34" charset="-122"/>
                          <a:cs typeface="Courier New" pitchFamily="34" charset="-120"/>
                        </a:rPr>
                        <a:t>i = i % 8</a:t>
                      </a:r>
                      <a:endParaRPr lang="en-US" sz="12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bl>
          </a:graphicData>
        </a:graphic>
      </p:graphicFrame>
      <p:sp>
        <p:nvSpPr>
          <p:cNvPr id="8" name="Shape 5"/>
          <p:cNvSpPr/>
          <p:nvPr/>
        </p:nvSpPr>
        <p:spPr>
          <a:xfrm>
            <a:off x="7699248" y="1536192"/>
            <a:ext cx="3925519" cy="1259677"/>
          </a:xfrm>
          <a:prstGeom prst="roundRect">
            <a:avLst>
              <a:gd name="adj" fmla="val 5081"/>
            </a:avLst>
          </a:prstGeom>
          <a:solidFill>
            <a:srgbClr val="EDF2F7"/>
          </a:solidFill>
          <a:ln w="12700">
            <a:solidFill>
              <a:srgbClr val="CFDBE5"/>
            </a:solidFill>
            <a:prstDash val="solid"/>
          </a:ln>
        </p:spPr>
      </p:sp>
      <p:sp>
        <p:nvSpPr>
          <p:cNvPr id="9" name="Text 6"/>
          <p:cNvSpPr txBox="1"/>
          <p:nvPr/>
        </p:nvSpPr>
        <p:spPr>
          <a:xfrm>
            <a:off x="7863840" y="1673352"/>
            <a:ext cx="3596335" cy="1058509"/>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4.5</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legal!</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sum is now 4, not 4.5</a:t>
            </a:r>
            <a:endParaRPr lang="en-US" sz="1200" dirty="0"/>
          </a:p>
        </p:txBody>
      </p:sp>
      <p:sp>
        <p:nvSpPr>
          <p:cNvPr id="10" name="Shape 7"/>
          <p:cNvSpPr/>
          <p:nvPr/>
        </p:nvSpPr>
        <p:spPr>
          <a:xfrm>
            <a:off x="7699248" y="3070189"/>
            <a:ext cx="3925519" cy="2194560"/>
          </a:xfrm>
          <a:prstGeom prst="roundRect">
            <a:avLst>
              <a:gd name="adj" fmla="val 3750"/>
            </a:avLst>
          </a:prstGeom>
          <a:solidFill>
            <a:srgbClr val="FBEEE0"/>
          </a:solidFill>
          <a:ln w="12700">
            <a:solidFill>
              <a:srgbClr val="FBEEE0"/>
            </a:solidFill>
            <a:prstDash val="solid"/>
          </a:ln>
        </p:spPr>
      </p:sp>
      <p:sp>
        <p:nvSpPr>
          <p:cNvPr id="11" name="Text 8"/>
          <p:cNvSpPr txBox="1"/>
          <p:nvPr/>
        </p:nvSpPr>
        <p:spPr>
          <a:xfrm>
            <a:off x="7955280" y="3234781"/>
            <a:ext cx="3413455" cy="292608"/>
          </a:xfrm>
          <a:prstGeom prst="rect">
            <a:avLst/>
          </a:prstGeom>
          <a:noFill/>
          <a:ln/>
        </p:spPr>
        <p:txBody>
          <a:bodyPr wrap="square" lIns="0" tIns="0" rIns="0" bIns="0" rtlCol="0" anchor="ctr"/>
          <a:lstStyle/>
          <a:p>
            <a:pPr indent="0" marL="0">
              <a:buNone/>
            </a:pPr>
            <a:r>
              <a:rPr lang="en-US" sz="1400" b="1" dirty="0">
                <a:solidFill>
                  <a:srgbClr val="9A430A"/>
                </a:solidFill>
                <a:latin typeface="Calibri" pitchFamily="34" charset="0"/>
                <a:ea typeface="Calibri" pitchFamily="34" charset="-122"/>
                <a:cs typeface="Calibri" pitchFamily="34" charset="-120"/>
              </a:rPr>
              <a:t>There is a hidden cast</a:t>
            </a:r>
            <a:endParaRPr lang="en-US" sz="1400" dirty="0"/>
          </a:p>
        </p:txBody>
      </p:sp>
      <p:sp>
        <p:nvSpPr>
          <p:cNvPr id="12" name="Text 9"/>
          <p:cNvSpPr txBox="1"/>
          <p:nvPr/>
        </p:nvSpPr>
        <p:spPr>
          <a:xfrm>
            <a:off x="7955280" y="3563965"/>
            <a:ext cx="3413455" cy="132588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x op= y is defined as x = (T)(x op y), where T is the type of x. So sum += 4.5 quietly means sum = (int)(sum + 4.5) — the fraction is truncated and no warning is given. Writing sum = sum + 4.5 instead would be a compile error.</a:t>
            </a:r>
            <a:endParaRPr lang="en-US" sz="1200" dirty="0"/>
          </a:p>
        </p:txBody>
      </p:sp>
      <p:sp>
        <p:nvSpPr>
          <p:cNvPr id="13" name="Shape 10"/>
          <p:cNvSpPr/>
          <p:nvPr/>
        </p:nvSpPr>
        <p:spPr>
          <a:xfrm>
            <a:off x="566928" y="4645152"/>
            <a:ext cx="6766560" cy="1097280"/>
          </a:xfrm>
          <a:prstGeom prst="roundRect">
            <a:avLst>
              <a:gd name="adj" fmla="val 7500"/>
            </a:avLst>
          </a:prstGeom>
          <a:solidFill>
            <a:srgbClr val="F1F5F9"/>
          </a:solidFill>
          <a:ln w="12700">
            <a:solidFill>
              <a:srgbClr val="F1F5F9"/>
            </a:solidFill>
            <a:prstDash val="solid"/>
          </a:ln>
        </p:spPr>
      </p:sp>
      <p:sp>
        <p:nvSpPr>
          <p:cNvPr id="14" name="Text 11"/>
          <p:cNvSpPr txBox="1"/>
          <p:nvPr/>
        </p:nvSpPr>
        <p:spPr>
          <a:xfrm>
            <a:off x="841248" y="4645152"/>
            <a:ext cx="6217920" cy="109728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No space inside the operator.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i += 8 is one operator; i + = 8 does not compile. And there is no ++= or =+ in Java, whatever you may have seen in C.</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OPERATORS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Increment and Decrement: ++ and −−</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Each adds or subtracts one. Where you write it decides which value the surrounding expression sees.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1371600"/>
                <a:gridCol w="1737360"/>
                <a:gridCol w="3840480"/>
                <a:gridCol w="4105656"/>
              </a:tblGrid>
              <a:tr h="60350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Operator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does</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 starting from i = 1</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603504">
                <a:tc>
                  <a:txBody>
                    <a:bodyPr/>
                    <a:lstStyle/>
                    <a:p>
                      <a:pPr indent="0" marL="0">
                        <a:buNone/>
                      </a:pPr>
                      <a:r>
                        <a:rPr lang="en-US" sz="1150" b="1" dirty="0">
                          <a:solidFill>
                            <a:srgbClr val="0F2942"/>
                          </a:solidFill>
                          <a:latin typeface="Courier New" pitchFamily="34" charset="0"/>
                          <a:ea typeface="Courier New" pitchFamily="34" charset="-122"/>
                          <a:cs typeface="Courier New" pitchFamily="34" charset="-120"/>
                        </a:rPr>
                        <a:t>++var</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3A536B"/>
                          </a:solidFill>
                          <a:latin typeface="Calibri" pitchFamily="34" charset="0"/>
                          <a:ea typeface="Calibri" pitchFamily="34" charset="-122"/>
                          <a:cs typeface="Calibri" pitchFamily="34" charset="-120"/>
                        </a:rPr>
                        <a:t>preincrement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3A536B"/>
                          </a:solidFill>
                          <a:latin typeface="Calibri" pitchFamily="34" charset="0"/>
                          <a:ea typeface="Calibri" pitchFamily="34" charset="-122"/>
                          <a:cs typeface="Calibri" pitchFamily="34" charset="-120"/>
                        </a:rPr>
                        <a:t>Adds 1, then uses the new value in the statement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0F2942"/>
                          </a:solidFill>
                          <a:latin typeface="Courier New" pitchFamily="34" charset="0"/>
                          <a:ea typeface="Courier New" pitchFamily="34" charset="-122"/>
                          <a:cs typeface="Courier New" pitchFamily="34" charset="-120"/>
                        </a:rPr>
                        <a:t>int j = ++i;   // j is 2, i is 2</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603504">
                <a:tc>
                  <a:txBody>
                    <a:bodyPr/>
                    <a:lstStyle/>
                    <a:p>
                      <a:pPr indent="0" marL="0">
                        <a:buNone/>
                      </a:pPr>
                      <a:r>
                        <a:rPr lang="en-US" sz="1150" b="1" dirty="0">
                          <a:solidFill>
                            <a:srgbClr val="0F2942"/>
                          </a:solidFill>
                          <a:latin typeface="Courier New" pitchFamily="34" charset="0"/>
                          <a:ea typeface="Courier New" pitchFamily="34" charset="-122"/>
                          <a:cs typeface="Courier New" pitchFamily="34" charset="-120"/>
                        </a:rPr>
                        <a:t>var++</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3A536B"/>
                          </a:solidFill>
                          <a:latin typeface="Calibri" pitchFamily="34" charset="0"/>
                          <a:ea typeface="Calibri" pitchFamily="34" charset="-122"/>
                          <a:cs typeface="Calibri" pitchFamily="34" charset="-120"/>
                        </a:rPr>
                        <a:t>postincrement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3A536B"/>
                          </a:solidFill>
                          <a:latin typeface="Calibri" pitchFamily="34" charset="0"/>
                          <a:ea typeface="Calibri" pitchFamily="34" charset="-122"/>
                          <a:cs typeface="Calibri" pitchFamily="34" charset="-120"/>
                        </a:rPr>
                        <a:t>Uses the original value in the statement, then adds 1</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0F2942"/>
                          </a:solidFill>
                          <a:latin typeface="Courier New" pitchFamily="34" charset="0"/>
                          <a:ea typeface="Courier New" pitchFamily="34" charset="-122"/>
                          <a:cs typeface="Courier New" pitchFamily="34" charset="-120"/>
                        </a:rPr>
                        <a:t>int j = i++;   // j is 1, i is 2</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603504">
                <a:tc>
                  <a:txBody>
                    <a:bodyPr/>
                    <a:lstStyle/>
                    <a:p>
                      <a:pPr indent="0" marL="0">
                        <a:buNone/>
                      </a:pPr>
                      <a:r>
                        <a:rPr lang="en-US" sz="1150" b="1" dirty="0">
                          <a:solidFill>
                            <a:srgbClr val="0F2942"/>
                          </a:solidFill>
                          <a:latin typeface="Courier New" pitchFamily="34" charset="0"/>
                          <a:ea typeface="Courier New" pitchFamily="34" charset="-122"/>
                          <a:cs typeface="Courier New" pitchFamily="34" charset="-120"/>
                        </a:rPr>
                        <a:t>−−var</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3A536B"/>
                          </a:solidFill>
                          <a:latin typeface="Calibri" pitchFamily="34" charset="0"/>
                          <a:ea typeface="Calibri" pitchFamily="34" charset="-122"/>
                          <a:cs typeface="Calibri" pitchFamily="34" charset="-120"/>
                        </a:rPr>
                        <a:t>predecrement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3A536B"/>
                          </a:solidFill>
                          <a:latin typeface="Calibri" pitchFamily="34" charset="0"/>
                          <a:ea typeface="Calibri" pitchFamily="34" charset="-122"/>
                          <a:cs typeface="Calibri" pitchFamily="34" charset="-120"/>
                        </a:rPr>
                        <a:t>Subtracts 1, then uses the new value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0F2942"/>
                          </a:solidFill>
                          <a:latin typeface="Courier New" pitchFamily="34" charset="0"/>
                          <a:ea typeface="Courier New" pitchFamily="34" charset="-122"/>
                          <a:cs typeface="Courier New" pitchFamily="34" charset="-120"/>
                        </a:rPr>
                        <a:t>int j = --i;   // j is 0, i is 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r h="603504">
                <a:tc>
                  <a:txBody>
                    <a:bodyPr/>
                    <a:lstStyle/>
                    <a:p>
                      <a:pPr indent="0" marL="0">
                        <a:buNone/>
                      </a:pPr>
                      <a:r>
                        <a:rPr lang="en-US" sz="1150" b="1" dirty="0">
                          <a:solidFill>
                            <a:srgbClr val="0F2942"/>
                          </a:solidFill>
                          <a:latin typeface="Courier New" pitchFamily="34" charset="0"/>
                          <a:ea typeface="Courier New" pitchFamily="34" charset="-122"/>
                          <a:cs typeface="Courier New" pitchFamily="34" charset="-120"/>
                        </a:rPr>
                        <a:t>var−−</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3A536B"/>
                          </a:solidFill>
                          <a:latin typeface="Calibri" pitchFamily="34" charset="0"/>
                          <a:ea typeface="Calibri" pitchFamily="34" charset="-122"/>
                          <a:cs typeface="Calibri" pitchFamily="34" charset="-120"/>
                        </a:rPr>
                        <a:t>postdecrement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3A536B"/>
                          </a:solidFill>
                          <a:latin typeface="Calibri" pitchFamily="34" charset="0"/>
                          <a:ea typeface="Calibri" pitchFamily="34" charset="-122"/>
                          <a:cs typeface="Calibri" pitchFamily="34" charset="-120"/>
                        </a:rPr>
                        <a:t>Uses the original value, then subtracts 1</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indent="0" marL="0">
                        <a:buNone/>
                      </a:pPr>
                      <a:r>
                        <a:rPr lang="en-US" sz="1150" dirty="0">
                          <a:solidFill>
                            <a:srgbClr val="0F2942"/>
                          </a:solidFill>
                          <a:latin typeface="Courier New" pitchFamily="34" charset="0"/>
                          <a:ea typeface="Courier New" pitchFamily="34" charset="-122"/>
                          <a:cs typeface="Courier New" pitchFamily="34" charset="-120"/>
                        </a:rPr>
                        <a:t>int j = i--;   // j is 1, i is 0</a:t>
                      </a:r>
                      <a:endParaRPr lang="en-US" sz="11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r>
            </a:tbl>
          </a:graphicData>
        </a:graphic>
      </p:graphicFrame>
      <p:sp>
        <p:nvSpPr>
          <p:cNvPr id="8" name="Shape 5"/>
          <p:cNvSpPr/>
          <p:nvPr/>
        </p:nvSpPr>
        <p:spPr>
          <a:xfrm>
            <a:off x="566928" y="4782312"/>
            <a:ext cx="5391760" cy="1325880"/>
          </a:xfrm>
          <a:prstGeom prst="roundRect">
            <a:avLst>
              <a:gd name="adj" fmla="val 6207"/>
            </a:avLst>
          </a:prstGeom>
          <a:solidFill>
            <a:srgbClr val="E6F2EC"/>
          </a:solidFill>
          <a:ln w="12700">
            <a:solidFill>
              <a:srgbClr val="E6F2EC"/>
            </a:solidFill>
            <a:prstDash val="solid"/>
          </a:ln>
        </p:spPr>
      </p:sp>
      <p:sp>
        <p:nvSpPr>
          <p:cNvPr id="9" name="Text 6"/>
          <p:cNvSpPr txBox="1"/>
          <p:nvPr/>
        </p:nvSpPr>
        <p:spPr>
          <a:xfrm>
            <a:off x="822960" y="4946904"/>
            <a:ext cx="4879696"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Where they are genuinely useful</a:t>
            </a:r>
            <a:endParaRPr lang="en-US" sz="1350" dirty="0"/>
          </a:p>
        </p:txBody>
      </p:sp>
      <p:sp>
        <p:nvSpPr>
          <p:cNvPr id="10" name="Text 7"/>
          <p:cNvSpPr txBox="1"/>
          <p:nvPr/>
        </p:nvSpPr>
        <p:spPr>
          <a:xfrm>
            <a:off x="822960" y="5257800"/>
            <a:ext cx="4879696" cy="86868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On a line of their own, where there is no ambiguity: i++; as a statement, or the third clause of a for loop, which you meet next week.</a:t>
            </a:r>
            <a:endParaRPr lang="en-US" sz="1200" dirty="0"/>
          </a:p>
        </p:txBody>
      </p:sp>
      <p:sp>
        <p:nvSpPr>
          <p:cNvPr id="11" name="Shape 8"/>
          <p:cNvSpPr/>
          <p:nvPr/>
        </p:nvSpPr>
        <p:spPr>
          <a:xfrm>
            <a:off x="6233008" y="4782312"/>
            <a:ext cx="5391760" cy="1325880"/>
          </a:xfrm>
          <a:prstGeom prst="roundRect">
            <a:avLst>
              <a:gd name="adj" fmla="val 6207"/>
            </a:avLst>
          </a:prstGeom>
          <a:solidFill>
            <a:srgbClr val="FBEAE8"/>
          </a:solidFill>
          <a:ln w="12700">
            <a:solidFill>
              <a:srgbClr val="FBEAE8"/>
            </a:solidFill>
            <a:prstDash val="solid"/>
          </a:ln>
        </p:spPr>
      </p:sp>
      <p:sp>
        <p:nvSpPr>
          <p:cNvPr id="12" name="Text 9"/>
          <p:cNvSpPr txBox="1"/>
          <p:nvPr/>
        </p:nvSpPr>
        <p:spPr>
          <a:xfrm>
            <a:off x="6489040" y="4946904"/>
            <a:ext cx="4879696"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Where they are not</a:t>
            </a:r>
            <a:endParaRPr lang="en-US" sz="1350" dirty="0"/>
          </a:p>
        </p:txBody>
      </p:sp>
      <p:sp>
        <p:nvSpPr>
          <p:cNvPr id="13" name="Text 10"/>
          <p:cNvSpPr txBox="1"/>
          <p:nvPr/>
        </p:nvSpPr>
        <p:spPr>
          <a:xfrm>
            <a:off x="6489040" y="5257800"/>
            <a:ext cx="4879696" cy="86868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Anywhere the same variable appears twice, or more than one variable changes. int k = ++i + i; is legal, has a defined answer, and should never be written by anybody.</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TOOLING</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Two Fast Ways to Try an Expression</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You do not need a class, a main method and a compile cycle to find out what 5 / 2 does.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25</a:t>
            </a:r>
            <a:endParaRPr lang="en-US" sz="900" dirty="0"/>
          </a:p>
        </p:txBody>
      </p:sp>
      <p:sp>
        <p:nvSpPr>
          <p:cNvPr id="7" name="Text 5"/>
          <p:cNvSpPr txBox="1"/>
          <p:nvPr/>
        </p:nvSpPr>
        <p:spPr>
          <a:xfrm>
            <a:off x="566928" y="1536192"/>
            <a:ext cx="5346040" cy="29260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JShell — the Java REPL, since Java 9</a:t>
            </a:r>
            <a:endParaRPr lang="en-US" sz="1500" dirty="0"/>
          </a:p>
        </p:txBody>
      </p:sp>
      <p:sp>
        <p:nvSpPr>
          <p:cNvPr id="8" name="Shape 6"/>
          <p:cNvSpPr/>
          <p:nvPr/>
        </p:nvSpPr>
        <p:spPr>
          <a:xfrm>
            <a:off x="566928" y="1920240"/>
            <a:ext cx="5346040" cy="2461565"/>
          </a:xfrm>
          <a:prstGeom prst="roundRect">
            <a:avLst>
              <a:gd name="adj" fmla="val 2600"/>
            </a:avLst>
          </a:prstGeom>
          <a:solidFill>
            <a:srgbClr val="EDF2F7"/>
          </a:solidFill>
          <a:ln w="12700">
            <a:solidFill>
              <a:srgbClr val="CFDBE5"/>
            </a:solidFill>
            <a:prstDash val="solid"/>
          </a:ln>
        </p:spPr>
      </p:sp>
      <p:sp>
        <p:nvSpPr>
          <p:cNvPr id="9" name="Text 7"/>
          <p:cNvSpPr txBox="1"/>
          <p:nvPr/>
        </p:nvSpPr>
        <p:spPr>
          <a:xfrm>
            <a:off x="731520" y="2057400"/>
            <a:ext cx="5016856" cy="2260397"/>
          </a:xfrm>
          <a:prstGeom prst="rect">
            <a:avLst/>
          </a:prstGeom>
          <a:noFill/>
          <a:ln/>
        </p:spPr>
        <p:txBody>
          <a:bodyPr wrap="square" lIns="0" tIns="0" rIns="0" bIns="0" rtlCol="0" anchor="t"/>
          <a:lstStyle/>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jshell</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Welcome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to</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JShell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Version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25</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jshell</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jshell</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2.0</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2.5</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jshell</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exit</a:t>
            </a:r>
            <a:endParaRPr lang="en-US" sz="1100" dirty="0"/>
          </a:p>
        </p:txBody>
      </p:sp>
      <p:sp>
        <p:nvSpPr>
          <p:cNvPr id="10" name="Text 8"/>
          <p:cNvSpPr txBox="1"/>
          <p:nvPr/>
        </p:nvSpPr>
        <p:spPr>
          <a:xfrm>
            <a:off x="566928" y="4601261"/>
            <a:ext cx="5346040" cy="548640"/>
          </a:xfrm>
          <a:prstGeom prst="rect">
            <a:avLst/>
          </a:prstGeom>
          <a:noFill/>
          <a:ln/>
        </p:spPr>
        <p:txBody>
          <a:bodyPr wrap="square" lIns="0" tIns="0" rIns="0" bIns="0" rtlCol="0" anchor="t"/>
          <a:lstStyle/>
          <a:p>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Type one statement, see the answer. Read–Evaluate–Print Loop: no class, no main, no file.</a:t>
            </a:r>
            <a:endParaRPr lang="en-US" sz="1250" dirty="0"/>
          </a:p>
        </p:txBody>
      </p:sp>
      <p:sp>
        <p:nvSpPr>
          <p:cNvPr id="11" name="Text 9"/>
          <p:cNvSpPr txBox="1"/>
          <p:nvPr/>
        </p:nvSpPr>
        <p:spPr>
          <a:xfrm>
            <a:off x="6278728" y="1536192"/>
            <a:ext cx="5346040" cy="292608"/>
          </a:xfrm>
          <a:prstGeom prst="rect">
            <a:avLst/>
          </a:prstGeom>
          <a:noFill/>
          <a:ln/>
        </p:spPr>
        <p:txBody>
          <a:bodyPr wrap="square" lIns="0" tIns="0" rIns="0" bIns="0" rtlCol="0" anchor="ctr"/>
          <a:lstStyle/>
          <a:p>
            <a:pPr indent="0" marL="0">
              <a:buNone/>
            </a:pPr>
            <a:r>
              <a:rPr lang="en-US" sz="1500" b="1" dirty="0">
                <a:solidFill>
                  <a:srgbClr val="9A430A"/>
                </a:solidFill>
                <a:latin typeface="Calibri" pitchFamily="34" charset="0"/>
                <a:ea typeface="Calibri" pitchFamily="34" charset="-122"/>
                <a:cs typeface="Calibri" pitchFamily="34" charset="-120"/>
              </a:rPr>
              <a:t>A compact source file — since Java 25</a:t>
            </a:r>
            <a:endParaRPr lang="en-US" sz="1500" dirty="0"/>
          </a:p>
        </p:txBody>
      </p:sp>
      <p:sp>
        <p:nvSpPr>
          <p:cNvPr id="12" name="Shape 10"/>
          <p:cNvSpPr/>
          <p:nvPr/>
        </p:nvSpPr>
        <p:spPr>
          <a:xfrm>
            <a:off x="6278728" y="1920240"/>
            <a:ext cx="5346040" cy="2181393"/>
          </a:xfrm>
          <a:prstGeom prst="roundRect">
            <a:avLst>
              <a:gd name="adj" fmla="val 2934"/>
            </a:avLst>
          </a:prstGeom>
          <a:solidFill>
            <a:srgbClr val="EDF2F7"/>
          </a:solidFill>
          <a:ln w="12700">
            <a:solidFill>
              <a:srgbClr val="CFDBE5"/>
            </a:solidFill>
            <a:prstDash val="solid"/>
          </a:ln>
        </p:spPr>
      </p:sp>
      <p:sp>
        <p:nvSpPr>
          <p:cNvPr id="13" name="Text 11"/>
          <p:cNvSpPr txBox="1"/>
          <p:nvPr/>
        </p:nvSpPr>
        <p:spPr>
          <a:xfrm>
            <a:off x="6425032" y="1965960"/>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run it with: java Scratch.java</a:t>
            </a:r>
            <a:endParaRPr lang="en-US" sz="950" dirty="0"/>
          </a:p>
        </p:txBody>
      </p:sp>
      <p:sp>
        <p:nvSpPr>
          <p:cNvPr id="14" name="Text 12"/>
          <p:cNvSpPr txBox="1"/>
          <p:nvPr/>
        </p:nvSpPr>
        <p:spPr>
          <a:xfrm>
            <a:off x="6443320" y="2194560"/>
            <a:ext cx="5016856" cy="1852209"/>
          </a:xfrm>
          <a:prstGeom prst="rect">
            <a:avLst/>
          </a:prstGeom>
          <a:noFill/>
          <a:ln/>
        </p:spPr>
        <p:txBody>
          <a:bodyPr wrap="square" lIns="0" tIns="0" rIns="0" bIns="0" rtlCol="0" anchor="t"/>
          <a:lstStyle/>
          <a:p>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Scratch.java</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void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main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IO</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IO</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IO</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6278728" y="4357665"/>
            <a:ext cx="5346040" cy="1132027"/>
          </a:xfrm>
          <a:prstGeom prst="roundRect">
            <a:avLst>
              <a:gd name="adj" fmla="val 5654"/>
            </a:avLst>
          </a:prstGeom>
          <a:solidFill>
            <a:srgbClr val="FFFFFF"/>
          </a:solidFill>
          <a:ln w="12700">
            <a:solidFill>
              <a:srgbClr val="4B6377"/>
            </a:solidFill>
            <a:prstDash val="solid"/>
          </a:ln>
        </p:spPr>
      </p:sp>
      <p:sp>
        <p:nvSpPr>
          <p:cNvPr id="16" name="Text 14"/>
          <p:cNvSpPr txBox="1"/>
          <p:nvPr/>
        </p:nvSpPr>
        <p:spPr>
          <a:xfrm>
            <a:off x="6425032" y="4430817"/>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7" name="Text 15"/>
          <p:cNvSpPr txBox="1"/>
          <p:nvPr/>
        </p:nvSpPr>
        <p:spPr>
          <a:xfrm>
            <a:off x="6425032" y="4631985"/>
            <a:ext cx="5053432" cy="766267"/>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2</a:t>
            </a:r>
            <a:endParaRPr lang="en-US" sz="1200" dirty="0"/>
          </a:p>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2.5</a:t>
            </a:r>
            <a:endParaRPr lang="en-US" sz="1200" dirty="0"/>
          </a:p>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4</a:t>
            </a:r>
            <a:endParaRPr lang="en-US" sz="1200" dirty="0"/>
          </a:p>
        </p:txBody>
      </p:sp>
      <p:sp>
        <p:nvSpPr>
          <p:cNvPr id="18" name="Text 16"/>
          <p:cNvSpPr txBox="1"/>
          <p:nvPr/>
        </p:nvSpPr>
        <p:spPr>
          <a:xfrm>
            <a:off x="566928" y="5943600"/>
            <a:ext cx="11057839" cy="310896"/>
          </a:xfrm>
          <a:prstGeom prst="rect">
            <a:avLst/>
          </a:prstGeom>
          <a:noFill/>
          <a:ln/>
        </p:spPr>
        <p:txBody>
          <a:bodyPr wrap="square" lIns="0" tIns="0" rIns="0" bIns="0" rtlCol="0" anchor="ctr"/>
          <a:lstStyle/>
          <a:p>
            <a:pPr algn="ctr" indent="0" marL="0">
              <a:buNone/>
            </a:pPr>
            <a:r>
              <a:rPr lang="en-US" sz="1300" b="1" i="1" dirty="0">
                <a:solidFill>
                  <a:srgbClr val="9A430A"/>
                </a:solidFill>
                <a:latin typeface="Calibri" pitchFamily="34" charset="0"/>
                <a:ea typeface="Calibri" pitchFamily="34" charset="-122"/>
                <a:cs typeface="Calibri" pitchFamily="34" charset="-120"/>
              </a:rPr>
              <a:t>Both are for experiments. Anything you submit is a normal class with a main method — that is what the quizzes and the final exam ask for.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3</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17–25</a:t>
            </a:r>
            <a:endParaRPr lang="en-US" sz="1250" dirty="0"/>
          </a:p>
        </p:txBody>
      </p:sp>
      <p:sp>
        <p:nvSpPr>
          <p:cNvPr id="5" name="Shape 3"/>
          <p:cNvSpPr/>
          <p:nvPr/>
        </p:nvSpPr>
        <p:spPr>
          <a:xfrm>
            <a:off x="566928" y="1481328"/>
            <a:ext cx="11057839" cy="1871228"/>
          </a:xfrm>
          <a:prstGeom prst="roundRect">
            <a:avLst>
              <a:gd name="adj" fmla="val 4398"/>
            </a:avLst>
          </a:prstGeom>
          <a:solidFill>
            <a:srgbClr val="FFFFFF"/>
          </a:solidFill>
          <a:ln w="12700">
            <a:solidFill>
              <a:srgbClr val="D3DEE7"/>
            </a:solidFill>
            <a:prstDash val="solid"/>
          </a:ln>
        </p:spPr>
      </p:sp>
      <p:sp>
        <p:nvSpPr>
          <p:cNvPr id="6" name="Shape 4"/>
          <p:cNvSpPr/>
          <p:nvPr/>
        </p:nvSpPr>
        <p:spPr>
          <a:xfrm>
            <a:off x="841248" y="1719072"/>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71907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64592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does each of these print?</a:t>
            </a:r>
            <a:endParaRPr lang="en-US" sz="1550" dirty="0"/>
          </a:p>
        </p:txBody>
      </p:sp>
      <p:sp>
        <p:nvSpPr>
          <p:cNvPr id="9" name="Shape 7"/>
          <p:cNvSpPr/>
          <p:nvPr/>
        </p:nvSpPr>
        <p:spPr>
          <a:xfrm>
            <a:off x="1435608" y="2121408"/>
            <a:ext cx="6949440" cy="755660"/>
          </a:xfrm>
          <a:prstGeom prst="roundRect">
            <a:avLst>
              <a:gd name="adj" fmla="val 8470"/>
            </a:avLst>
          </a:prstGeom>
          <a:solidFill>
            <a:srgbClr val="EDF2F7"/>
          </a:solidFill>
          <a:ln w="12700">
            <a:solidFill>
              <a:srgbClr val="CFDBE5"/>
            </a:solidFill>
            <a:prstDash val="solid"/>
          </a:ln>
        </p:spPr>
      </p:sp>
      <p:sp>
        <p:nvSpPr>
          <p:cNvPr id="10" name="Text 8"/>
          <p:cNvSpPr txBox="1"/>
          <p:nvPr/>
        </p:nvSpPr>
        <p:spPr>
          <a:xfrm>
            <a:off x="1600200" y="2258568"/>
            <a:ext cx="6620256" cy="554492"/>
          </a:xfrm>
          <a:prstGeom prst="rect">
            <a:avLst/>
          </a:prstGeom>
          <a:noFill/>
          <a:ln/>
        </p:spPr>
        <p:txBody>
          <a:bodyPr wrap="square" lIns="0" tIns="0" rIns="0" bIns="0" rtlCol="0" anchor="t"/>
          <a:lstStyle/>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7</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7</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7</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1" name="Shape 9"/>
          <p:cNvSpPr/>
          <p:nvPr/>
        </p:nvSpPr>
        <p:spPr>
          <a:xfrm>
            <a:off x="566928" y="3572012"/>
            <a:ext cx="11057839" cy="1871228"/>
          </a:xfrm>
          <a:prstGeom prst="roundRect">
            <a:avLst>
              <a:gd name="adj" fmla="val 4398"/>
            </a:avLst>
          </a:prstGeom>
          <a:solidFill>
            <a:srgbClr val="FFFFFF"/>
          </a:solidFill>
          <a:ln w="12700">
            <a:solidFill>
              <a:srgbClr val="D3DEE7"/>
            </a:solidFill>
            <a:prstDash val="solid"/>
          </a:ln>
        </p:spPr>
      </p:sp>
      <p:sp>
        <p:nvSpPr>
          <p:cNvPr id="12" name="Shape 10"/>
          <p:cNvSpPr/>
          <p:nvPr/>
        </p:nvSpPr>
        <p:spPr>
          <a:xfrm>
            <a:off x="841248" y="3809756"/>
            <a:ext cx="402336" cy="402336"/>
          </a:xfrm>
          <a:prstGeom prst="ellipse">
            <a:avLst/>
          </a:prstGeom>
          <a:solidFill>
            <a:srgbClr val="C4560C"/>
          </a:solidFill>
          <a:ln w="12700">
            <a:solidFill>
              <a:srgbClr val="C4560C"/>
            </a:solidFill>
            <a:prstDash val="solid"/>
          </a:ln>
        </p:spPr>
      </p:sp>
      <p:sp>
        <p:nvSpPr>
          <p:cNvPr id="13" name="Text 11"/>
          <p:cNvSpPr txBox="1"/>
          <p:nvPr/>
        </p:nvSpPr>
        <p:spPr>
          <a:xfrm>
            <a:off x="841248" y="38097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4" name="Text 12"/>
          <p:cNvSpPr txBox="1"/>
          <p:nvPr/>
        </p:nvSpPr>
        <p:spPr>
          <a:xfrm>
            <a:off x="1435608" y="373660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This compiles and prints 4. Where did the 0.5 go?</a:t>
            </a:r>
            <a:endParaRPr lang="en-US" sz="1550" dirty="0"/>
          </a:p>
        </p:txBody>
      </p:sp>
      <p:sp>
        <p:nvSpPr>
          <p:cNvPr id="15" name="Shape 13"/>
          <p:cNvSpPr/>
          <p:nvPr/>
        </p:nvSpPr>
        <p:spPr>
          <a:xfrm>
            <a:off x="1435608" y="4212092"/>
            <a:ext cx="6949440" cy="755660"/>
          </a:xfrm>
          <a:prstGeom prst="roundRect">
            <a:avLst>
              <a:gd name="adj" fmla="val 8470"/>
            </a:avLst>
          </a:prstGeom>
          <a:solidFill>
            <a:srgbClr val="EDF2F7"/>
          </a:solidFill>
          <a:ln w="12700">
            <a:solidFill>
              <a:srgbClr val="CFDBE5"/>
            </a:solidFill>
            <a:prstDash val="solid"/>
          </a:ln>
        </p:spPr>
      </p:sp>
      <p:sp>
        <p:nvSpPr>
          <p:cNvPr id="16" name="Text 14"/>
          <p:cNvSpPr txBox="1"/>
          <p:nvPr/>
        </p:nvSpPr>
        <p:spPr>
          <a:xfrm>
            <a:off x="1600200" y="4349252"/>
            <a:ext cx="6620256" cy="55449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7" name="Shape 15"/>
          <p:cNvSpPr/>
          <p:nvPr/>
        </p:nvSpPr>
        <p:spPr>
          <a:xfrm>
            <a:off x="566928" y="5662696"/>
            <a:ext cx="11057839" cy="914400"/>
          </a:xfrm>
          <a:prstGeom prst="roundRect">
            <a:avLst>
              <a:gd name="adj" fmla="val 9000"/>
            </a:avLst>
          </a:prstGeom>
          <a:solidFill>
            <a:srgbClr val="FFFFFF"/>
          </a:solidFill>
          <a:ln w="12700">
            <a:solidFill>
              <a:srgbClr val="D3DEE7"/>
            </a:solidFill>
            <a:prstDash val="solid"/>
          </a:ln>
        </p:spPr>
      </p:sp>
      <p:sp>
        <p:nvSpPr>
          <p:cNvPr id="18" name="Shape 16"/>
          <p:cNvSpPr/>
          <p:nvPr/>
        </p:nvSpPr>
        <p:spPr>
          <a:xfrm>
            <a:off x="841248" y="5900440"/>
            <a:ext cx="402336" cy="402336"/>
          </a:xfrm>
          <a:prstGeom prst="ellipse">
            <a:avLst/>
          </a:prstGeom>
          <a:solidFill>
            <a:srgbClr val="C4560C"/>
          </a:solidFill>
          <a:ln w="12700">
            <a:solidFill>
              <a:srgbClr val="C4560C"/>
            </a:solidFill>
            <a:prstDash val="solid"/>
          </a:ln>
        </p:spPr>
      </p:sp>
      <p:sp>
        <p:nvSpPr>
          <p:cNvPr id="19" name="Text 17"/>
          <p:cNvSpPr txBox="1"/>
          <p:nvPr/>
        </p:nvSpPr>
        <p:spPr>
          <a:xfrm>
            <a:off x="841248" y="59004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20" name="Text 18"/>
          <p:cNvSpPr txBox="1"/>
          <p:nvPr/>
        </p:nvSpPr>
        <p:spPr>
          <a:xfrm>
            <a:off x="1435608" y="5827288"/>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Starting from i = 5, what are j and i after  int j = i++;  — and after  int j = ++i;  instead?</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03</a:t>
            </a:r>
            <a:endParaRPr lang="en-US" sz="1300" dirty="0"/>
          </a:p>
        </p:txBody>
      </p:sp>
      <p:sp>
        <p:nvSpPr>
          <p:cNvPr id="3" name="Text 1"/>
          <p:cNvSpPr txBox="1"/>
          <p:nvPr/>
        </p:nvSpPr>
        <p:spPr>
          <a:xfrm>
            <a:off x="566928" y="2697480"/>
            <a:ext cx="841248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Conversion, Casting</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and the Classic Errors</a:t>
            </a:r>
            <a:endParaRPr lang="en-US" sz="4400" dirty="0"/>
          </a:p>
        </p:txBody>
      </p:sp>
      <p:sp>
        <p:nvSpPr>
          <p:cNvPr id="4" name="Text 2"/>
          <p:cNvSpPr txBox="1"/>
          <p:nvPr/>
        </p:nvSpPr>
        <p:spPr>
          <a:xfrm>
            <a:off x="566928" y="4526280"/>
            <a:ext cx="91440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What Java does for you, what it makes you ask for, and the four mistakes everyone makes first.</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03</a:t>
            </a:r>
            <a:endParaRPr lang="en-US" sz="13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CONVERSION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When the Two Sides Are Different Types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Java converts one operand before it does the arithmetic. The rules are checked in this order.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28</a:t>
            </a:r>
            <a:endParaRPr lang="en-US" sz="900" dirty="0"/>
          </a:p>
        </p:txBody>
      </p:sp>
      <p:sp>
        <p:nvSpPr>
          <p:cNvPr id="7" name="Shape 5"/>
          <p:cNvSpPr/>
          <p:nvPr/>
        </p:nvSpPr>
        <p:spPr>
          <a:xfrm>
            <a:off x="566928" y="1536192"/>
            <a:ext cx="6309360" cy="658368"/>
          </a:xfrm>
          <a:prstGeom prst="roundRect">
            <a:avLst>
              <a:gd name="adj" fmla="val 12500"/>
            </a:avLst>
          </a:prstGeom>
          <a:solidFill>
            <a:srgbClr val="F1F5F9"/>
          </a:solidFill>
          <a:ln w="12700">
            <a:solidFill>
              <a:srgbClr val="F1F5F9"/>
            </a:solidFill>
            <a:prstDash val="solid"/>
          </a:ln>
        </p:spPr>
      </p:sp>
      <p:sp>
        <p:nvSpPr>
          <p:cNvPr id="8" name="Shape 6"/>
          <p:cNvSpPr/>
          <p:nvPr/>
        </p:nvSpPr>
        <p:spPr>
          <a:xfrm>
            <a:off x="768096" y="1682496"/>
            <a:ext cx="365760" cy="365760"/>
          </a:xfrm>
          <a:prstGeom prst="ellipse">
            <a:avLst/>
          </a:prstGeom>
          <a:solidFill>
            <a:srgbClr val="0F2942"/>
          </a:solidFill>
          <a:ln w="12700">
            <a:solidFill>
              <a:srgbClr val="0F2942"/>
            </a:solidFill>
            <a:prstDash val="solid"/>
          </a:ln>
        </p:spPr>
      </p:sp>
      <p:sp>
        <p:nvSpPr>
          <p:cNvPr id="9" name="Text 7"/>
          <p:cNvSpPr txBox="1"/>
          <p:nvPr/>
        </p:nvSpPr>
        <p:spPr>
          <a:xfrm>
            <a:off x="768096" y="168249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261872" y="1536192"/>
            <a:ext cx="2743200" cy="658368"/>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If either operand is a double</a:t>
            </a:r>
            <a:endParaRPr lang="en-US" sz="1250" dirty="0"/>
          </a:p>
        </p:txBody>
      </p:sp>
      <p:sp>
        <p:nvSpPr>
          <p:cNvPr id="11" name="Text 9"/>
          <p:cNvSpPr txBox="1"/>
          <p:nvPr/>
        </p:nvSpPr>
        <p:spPr>
          <a:xfrm>
            <a:off x="4087368" y="1536192"/>
            <a:ext cx="2560320" cy="658368"/>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the other is converted to double</a:t>
            </a:r>
            <a:endParaRPr lang="en-US" sz="1250" dirty="0"/>
          </a:p>
        </p:txBody>
      </p:sp>
      <p:sp>
        <p:nvSpPr>
          <p:cNvPr id="12" name="Shape 10"/>
          <p:cNvSpPr/>
          <p:nvPr/>
        </p:nvSpPr>
        <p:spPr>
          <a:xfrm>
            <a:off x="566928" y="2267712"/>
            <a:ext cx="6309360" cy="658368"/>
          </a:xfrm>
          <a:prstGeom prst="roundRect">
            <a:avLst>
              <a:gd name="adj" fmla="val 12500"/>
            </a:avLst>
          </a:prstGeom>
          <a:solidFill>
            <a:srgbClr val="FFFFFF"/>
          </a:solidFill>
          <a:ln w="12700">
            <a:solidFill>
              <a:srgbClr val="D3DEE7"/>
            </a:solidFill>
            <a:prstDash val="solid"/>
          </a:ln>
        </p:spPr>
      </p:sp>
      <p:sp>
        <p:nvSpPr>
          <p:cNvPr id="13" name="Shape 11"/>
          <p:cNvSpPr/>
          <p:nvPr/>
        </p:nvSpPr>
        <p:spPr>
          <a:xfrm>
            <a:off x="768096" y="2414016"/>
            <a:ext cx="365760" cy="365760"/>
          </a:xfrm>
          <a:prstGeom prst="ellipse">
            <a:avLst/>
          </a:prstGeom>
          <a:solidFill>
            <a:srgbClr val="0F2942"/>
          </a:solidFill>
          <a:ln w="12700">
            <a:solidFill>
              <a:srgbClr val="0F2942"/>
            </a:solidFill>
            <a:prstDash val="solid"/>
          </a:ln>
        </p:spPr>
      </p:sp>
      <p:sp>
        <p:nvSpPr>
          <p:cNvPr id="14" name="Text 12"/>
          <p:cNvSpPr txBox="1"/>
          <p:nvPr/>
        </p:nvSpPr>
        <p:spPr>
          <a:xfrm>
            <a:off x="768096" y="241401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261872" y="2267712"/>
            <a:ext cx="2743200" cy="658368"/>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Otherwise, if either is a float</a:t>
            </a:r>
            <a:endParaRPr lang="en-US" sz="1250" dirty="0"/>
          </a:p>
        </p:txBody>
      </p:sp>
      <p:sp>
        <p:nvSpPr>
          <p:cNvPr id="16" name="Text 14"/>
          <p:cNvSpPr txBox="1"/>
          <p:nvPr/>
        </p:nvSpPr>
        <p:spPr>
          <a:xfrm>
            <a:off x="4087368" y="2267712"/>
            <a:ext cx="2560320" cy="658368"/>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the other is converted to float</a:t>
            </a:r>
            <a:endParaRPr lang="en-US" sz="1250" dirty="0"/>
          </a:p>
        </p:txBody>
      </p:sp>
      <p:sp>
        <p:nvSpPr>
          <p:cNvPr id="17" name="Shape 15"/>
          <p:cNvSpPr/>
          <p:nvPr/>
        </p:nvSpPr>
        <p:spPr>
          <a:xfrm>
            <a:off x="566928" y="2999232"/>
            <a:ext cx="6309360" cy="658368"/>
          </a:xfrm>
          <a:prstGeom prst="roundRect">
            <a:avLst>
              <a:gd name="adj" fmla="val 12500"/>
            </a:avLst>
          </a:prstGeom>
          <a:solidFill>
            <a:srgbClr val="F1F5F9"/>
          </a:solidFill>
          <a:ln w="12700">
            <a:solidFill>
              <a:srgbClr val="F1F5F9"/>
            </a:solidFill>
            <a:prstDash val="solid"/>
          </a:ln>
        </p:spPr>
      </p:sp>
      <p:sp>
        <p:nvSpPr>
          <p:cNvPr id="18" name="Shape 16"/>
          <p:cNvSpPr/>
          <p:nvPr/>
        </p:nvSpPr>
        <p:spPr>
          <a:xfrm>
            <a:off x="768096" y="3145536"/>
            <a:ext cx="365760" cy="365760"/>
          </a:xfrm>
          <a:prstGeom prst="ellipse">
            <a:avLst/>
          </a:prstGeom>
          <a:solidFill>
            <a:srgbClr val="0F2942"/>
          </a:solidFill>
          <a:ln w="12700">
            <a:solidFill>
              <a:srgbClr val="0F2942"/>
            </a:solidFill>
            <a:prstDash val="solid"/>
          </a:ln>
        </p:spPr>
      </p:sp>
      <p:sp>
        <p:nvSpPr>
          <p:cNvPr id="19" name="Text 17"/>
          <p:cNvSpPr txBox="1"/>
          <p:nvPr/>
        </p:nvSpPr>
        <p:spPr>
          <a:xfrm>
            <a:off x="768096" y="31455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261872" y="2999232"/>
            <a:ext cx="2743200" cy="658368"/>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Otherwise, if either is a long</a:t>
            </a:r>
            <a:endParaRPr lang="en-US" sz="1250" dirty="0"/>
          </a:p>
        </p:txBody>
      </p:sp>
      <p:sp>
        <p:nvSpPr>
          <p:cNvPr id="21" name="Text 19"/>
          <p:cNvSpPr txBox="1"/>
          <p:nvPr/>
        </p:nvSpPr>
        <p:spPr>
          <a:xfrm>
            <a:off x="4087368" y="2999232"/>
            <a:ext cx="2560320" cy="658368"/>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the other is converted to long</a:t>
            </a:r>
            <a:endParaRPr lang="en-US" sz="1250" dirty="0"/>
          </a:p>
        </p:txBody>
      </p:sp>
      <p:sp>
        <p:nvSpPr>
          <p:cNvPr id="22" name="Shape 20"/>
          <p:cNvSpPr/>
          <p:nvPr/>
        </p:nvSpPr>
        <p:spPr>
          <a:xfrm>
            <a:off x="566928" y="3730752"/>
            <a:ext cx="6309360" cy="658368"/>
          </a:xfrm>
          <a:prstGeom prst="roundRect">
            <a:avLst>
              <a:gd name="adj" fmla="val 12500"/>
            </a:avLst>
          </a:prstGeom>
          <a:solidFill>
            <a:srgbClr val="FFFFFF"/>
          </a:solidFill>
          <a:ln w="12700">
            <a:solidFill>
              <a:srgbClr val="D3DEE7"/>
            </a:solidFill>
            <a:prstDash val="solid"/>
          </a:ln>
        </p:spPr>
      </p:sp>
      <p:sp>
        <p:nvSpPr>
          <p:cNvPr id="23" name="Shape 21"/>
          <p:cNvSpPr/>
          <p:nvPr/>
        </p:nvSpPr>
        <p:spPr>
          <a:xfrm>
            <a:off x="768096" y="3877056"/>
            <a:ext cx="365760" cy="365760"/>
          </a:xfrm>
          <a:prstGeom prst="ellipse">
            <a:avLst/>
          </a:prstGeom>
          <a:solidFill>
            <a:srgbClr val="0F2942"/>
          </a:solidFill>
          <a:ln w="12700">
            <a:solidFill>
              <a:srgbClr val="0F2942"/>
            </a:solidFill>
            <a:prstDash val="solid"/>
          </a:ln>
        </p:spPr>
      </p:sp>
      <p:sp>
        <p:nvSpPr>
          <p:cNvPr id="24" name="Text 22"/>
          <p:cNvSpPr txBox="1"/>
          <p:nvPr/>
        </p:nvSpPr>
        <p:spPr>
          <a:xfrm>
            <a:off x="768096" y="38770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261872" y="3730752"/>
            <a:ext cx="2743200" cy="658368"/>
          </a:xfrm>
          <a:prstGeom prst="rect">
            <a:avLst/>
          </a:prstGeom>
          <a:noFill/>
          <a:ln/>
        </p:spPr>
        <p:txBody>
          <a:bodyPr wrap="square" lIns="0" tIns="0" rIns="0" bIns="0" rtlCol="0" anchor="ctr"/>
          <a:lstStyle/>
          <a:p>
            <a:pPr indent="0" marL="0">
              <a:buNone/>
            </a:pPr>
            <a:r>
              <a:rPr lang="en-US" sz="1250" b="1" dirty="0">
                <a:solidFill>
                  <a:srgbClr val="0F2942"/>
                </a:solidFill>
                <a:latin typeface="Calibri" pitchFamily="34" charset="0"/>
                <a:ea typeface="Calibri" pitchFamily="34" charset="-122"/>
                <a:cs typeface="Calibri" pitchFamily="34" charset="-120"/>
              </a:rPr>
              <a:t>Otherwise</a:t>
            </a:r>
            <a:endParaRPr lang="en-US" sz="1250" dirty="0"/>
          </a:p>
        </p:txBody>
      </p:sp>
      <p:sp>
        <p:nvSpPr>
          <p:cNvPr id="26" name="Text 24"/>
          <p:cNvSpPr txBox="1"/>
          <p:nvPr/>
        </p:nvSpPr>
        <p:spPr>
          <a:xfrm>
            <a:off x="4087368" y="3730752"/>
            <a:ext cx="2560320" cy="658368"/>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both are converted to int</a:t>
            </a:r>
            <a:endParaRPr lang="en-US" sz="1250" dirty="0"/>
          </a:p>
        </p:txBody>
      </p:sp>
      <p:sp>
        <p:nvSpPr>
          <p:cNvPr id="27" name="Text 25"/>
          <p:cNvSpPr txBox="1"/>
          <p:nvPr/>
        </p:nvSpPr>
        <p:spPr>
          <a:xfrm>
            <a:off x="566928" y="4572000"/>
            <a:ext cx="6309360" cy="365760"/>
          </a:xfrm>
          <a:prstGeom prst="rect">
            <a:avLst/>
          </a:prstGeom>
          <a:noFill/>
          <a:ln/>
        </p:spPr>
        <p:txBody>
          <a:bodyPr wrap="square" lIns="0" tIns="0" rIns="0" bIns="0" rtlCol="0" anchor="ctr"/>
          <a:lstStyle/>
          <a:p>
            <a:pPr algn="ctr" indent="0" marL="0">
              <a:buNone/>
            </a:pPr>
            <a:r>
              <a:rPr lang="en-US" sz="1500" b="1" dirty="0">
                <a:solidFill>
                  <a:srgbClr val="9A430A"/>
                </a:solidFill>
                <a:latin typeface="Courier New" pitchFamily="34" charset="0"/>
                <a:ea typeface="Courier New" pitchFamily="34" charset="-122"/>
                <a:cs typeface="Courier New" pitchFamily="34" charset="-120"/>
              </a:rPr>
              <a:t>byte → short → int → long → float → double</a:t>
            </a:r>
            <a:endParaRPr lang="en-US" sz="1500" dirty="0"/>
          </a:p>
        </p:txBody>
      </p:sp>
      <p:sp>
        <p:nvSpPr>
          <p:cNvPr id="28" name="Text 26"/>
          <p:cNvSpPr txBox="1"/>
          <p:nvPr/>
        </p:nvSpPr>
        <p:spPr>
          <a:xfrm>
            <a:off x="566928" y="4965192"/>
            <a:ext cx="6309360" cy="274320"/>
          </a:xfrm>
          <a:prstGeom prst="rect">
            <a:avLst/>
          </a:prstGeom>
          <a:noFill/>
          <a:ln/>
        </p:spPr>
        <p:txBody>
          <a:bodyPr wrap="square" lIns="0" tIns="0" rIns="0" bIns="0" rtlCol="0" anchor="ctr"/>
          <a:lstStyle/>
          <a:p>
            <a:pPr algn="ctr" indent="0" marL="0">
              <a:buNone/>
            </a:pPr>
            <a:r>
              <a:rPr lang="en-US" sz="1250" i="1" dirty="0">
                <a:solidFill>
                  <a:srgbClr val="3A536B"/>
                </a:solidFill>
                <a:latin typeface="Calibri" pitchFamily="34" charset="0"/>
                <a:ea typeface="Calibri" pitchFamily="34" charset="-122"/>
                <a:cs typeface="Calibri" pitchFamily="34" charset="-120"/>
              </a:rPr>
              <a:t>Widening happens on its own. Narrowing never does.</a:t>
            </a:r>
            <a:endParaRPr lang="en-US" sz="1250" dirty="0"/>
          </a:p>
        </p:txBody>
      </p:sp>
      <p:sp>
        <p:nvSpPr>
          <p:cNvPr id="29" name="Shape 27"/>
          <p:cNvSpPr/>
          <p:nvPr/>
        </p:nvSpPr>
        <p:spPr>
          <a:xfrm>
            <a:off x="7242048" y="1536192"/>
            <a:ext cx="4382719" cy="1173358"/>
          </a:xfrm>
          <a:prstGeom prst="roundRect">
            <a:avLst>
              <a:gd name="adj" fmla="val 5455"/>
            </a:avLst>
          </a:prstGeom>
          <a:solidFill>
            <a:srgbClr val="EDF2F7"/>
          </a:solidFill>
          <a:ln w="12700">
            <a:solidFill>
              <a:srgbClr val="CFDBE5"/>
            </a:solidFill>
            <a:prstDash val="solid"/>
          </a:ln>
        </p:spPr>
      </p:sp>
      <p:sp>
        <p:nvSpPr>
          <p:cNvPr id="30" name="Text 28"/>
          <p:cNvSpPr txBox="1"/>
          <p:nvPr/>
        </p:nvSpPr>
        <p:spPr>
          <a:xfrm>
            <a:off x="7388352" y="1581912"/>
            <a:ext cx="409011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Work through it</a:t>
            </a:r>
            <a:endParaRPr lang="en-US" sz="950" dirty="0"/>
          </a:p>
        </p:txBody>
      </p:sp>
      <p:sp>
        <p:nvSpPr>
          <p:cNvPr id="31" name="Text 29"/>
          <p:cNvSpPr txBox="1"/>
          <p:nvPr/>
        </p:nvSpPr>
        <p:spPr>
          <a:xfrm>
            <a:off x="7406640" y="1810512"/>
            <a:ext cx="4053535" cy="844174"/>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byte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long</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3.1</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32" name="Shape 30"/>
          <p:cNvSpPr/>
          <p:nvPr/>
        </p:nvSpPr>
        <p:spPr>
          <a:xfrm>
            <a:off x="7242048" y="2947294"/>
            <a:ext cx="4382719" cy="1417320"/>
          </a:xfrm>
          <a:prstGeom prst="roundRect">
            <a:avLst>
              <a:gd name="adj" fmla="val 5806"/>
            </a:avLst>
          </a:prstGeom>
          <a:solidFill>
            <a:srgbClr val="F1F5F9"/>
          </a:solidFill>
          <a:ln w="12700">
            <a:solidFill>
              <a:srgbClr val="F1F5F9"/>
            </a:solidFill>
            <a:prstDash val="solid"/>
          </a:ln>
        </p:spPr>
      </p:sp>
      <p:sp>
        <p:nvSpPr>
          <p:cNvPr id="33" name="Text 31"/>
          <p:cNvSpPr txBox="1"/>
          <p:nvPr/>
        </p:nvSpPr>
        <p:spPr>
          <a:xfrm>
            <a:off x="7461504" y="3111886"/>
            <a:ext cx="394380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Line 2</a:t>
            </a:r>
            <a:endParaRPr lang="en-US" sz="1450" dirty="0"/>
          </a:p>
        </p:txBody>
      </p:sp>
      <p:sp>
        <p:nvSpPr>
          <p:cNvPr id="34" name="Text 32"/>
          <p:cNvSpPr txBox="1"/>
          <p:nvPr/>
        </p:nvSpPr>
        <p:spPr>
          <a:xfrm>
            <a:off x="7461504" y="3441070"/>
            <a:ext cx="3943807" cy="7955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i is a byte, 3 is an int, so i becomes int: 300. Add 4 gives the int 304, which widens to the long k.</a:t>
            </a:r>
            <a:endParaRPr lang="en-US" sz="1200" dirty="0"/>
          </a:p>
        </p:txBody>
      </p:sp>
      <p:sp>
        <p:nvSpPr>
          <p:cNvPr id="35" name="Shape 33"/>
          <p:cNvSpPr/>
          <p:nvPr/>
        </p:nvSpPr>
        <p:spPr>
          <a:xfrm>
            <a:off x="7242048" y="4492630"/>
            <a:ext cx="4382719" cy="1691640"/>
          </a:xfrm>
          <a:prstGeom prst="roundRect">
            <a:avLst>
              <a:gd name="adj" fmla="val 4865"/>
            </a:avLst>
          </a:prstGeom>
          <a:solidFill>
            <a:srgbClr val="FBEEE0"/>
          </a:solidFill>
          <a:ln w="12700">
            <a:solidFill>
              <a:srgbClr val="FBEEE0"/>
            </a:solidFill>
            <a:prstDash val="solid"/>
          </a:ln>
        </p:spPr>
      </p:sp>
      <p:sp>
        <p:nvSpPr>
          <p:cNvPr id="36" name="Text 34"/>
          <p:cNvSpPr txBox="1"/>
          <p:nvPr/>
        </p:nvSpPr>
        <p:spPr>
          <a:xfrm>
            <a:off x="7461504" y="4657222"/>
            <a:ext cx="394380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Line 3 — the one to watch</a:t>
            </a:r>
            <a:endParaRPr lang="en-US" sz="1450" dirty="0"/>
          </a:p>
        </p:txBody>
      </p:sp>
      <p:sp>
        <p:nvSpPr>
          <p:cNvPr id="37" name="Text 35"/>
          <p:cNvSpPr txBox="1"/>
          <p:nvPr/>
        </p:nvSpPr>
        <p:spPr>
          <a:xfrm>
            <a:off x="7461504" y="4986406"/>
            <a:ext cx="3943807" cy="10698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i * 3.1 is double (310.0). But k / 2 is long ÷ int = long division: 304 / 2 = 152 exactly here, though had k been 305 you would get 152, not 152.5.</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CONVERSION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Type Casting</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cast is you telling the compiler you accept the loss.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29</a:t>
            </a:r>
            <a:endParaRPr lang="en-US" sz="900" dirty="0"/>
          </a:p>
        </p:txBody>
      </p:sp>
      <p:sp>
        <p:nvSpPr>
          <p:cNvPr id="7" name="Text 5"/>
          <p:cNvSpPr txBox="1"/>
          <p:nvPr/>
        </p:nvSpPr>
        <p:spPr>
          <a:xfrm>
            <a:off x="566928" y="1536192"/>
            <a:ext cx="5346040" cy="292608"/>
          </a:xfrm>
          <a:prstGeom prst="rect">
            <a:avLst/>
          </a:prstGeom>
          <a:noFill/>
          <a:ln/>
        </p:spPr>
        <p:txBody>
          <a:bodyPr wrap="square" lIns="0" tIns="0" rIns="0" bIns="0" rtlCol="0" anchor="ctr"/>
          <a:lstStyle/>
          <a:p>
            <a:pPr indent="0" marL="0">
              <a:buNone/>
            </a:pPr>
            <a:r>
              <a:rPr lang="en-US" sz="1500" b="1" dirty="0">
                <a:solidFill>
                  <a:srgbClr val="176240"/>
                </a:solidFill>
                <a:latin typeface="Calibri" pitchFamily="34" charset="0"/>
                <a:ea typeface="Calibri" pitchFamily="34" charset="-122"/>
                <a:cs typeface="Calibri" pitchFamily="34" charset="-120"/>
              </a:rPr>
              <a:t>Widening — implicit, safe</a:t>
            </a:r>
            <a:endParaRPr lang="en-US" sz="1500" dirty="0"/>
          </a:p>
        </p:txBody>
      </p:sp>
      <p:sp>
        <p:nvSpPr>
          <p:cNvPr id="8" name="Shape 6"/>
          <p:cNvSpPr/>
          <p:nvPr/>
        </p:nvSpPr>
        <p:spPr>
          <a:xfrm>
            <a:off x="566928" y="1920240"/>
            <a:ext cx="5346040" cy="1027054"/>
          </a:xfrm>
          <a:prstGeom prst="roundRect">
            <a:avLst>
              <a:gd name="adj" fmla="val 6232"/>
            </a:avLst>
          </a:prstGeom>
          <a:solidFill>
            <a:srgbClr val="EDF2F7"/>
          </a:solidFill>
          <a:ln w="12700">
            <a:solidFill>
              <a:srgbClr val="CFDBE5"/>
            </a:solidFill>
            <a:prstDash val="solid"/>
          </a:ln>
        </p:spPr>
      </p:sp>
      <p:sp>
        <p:nvSpPr>
          <p:cNvPr id="9" name="Text 7"/>
          <p:cNvSpPr txBox="1"/>
          <p:nvPr/>
        </p:nvSpPr>
        <p:spPr>
          <a:xfrm>
            <a:off x="731520" y="2057400"/>
            <a:ext cx="5016856" cy="825886"/>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int 3 -&gt; double 3.0</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long</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l</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42</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fine</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float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f</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L</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fine</a:t>
            </a:r>
            <a:endParaRPr lang="en-US" sz="1200" dirty="0"/>
          </a:p>
        </p:txBody>
      </p:sp>
      <p:sp>
        <p:nvSpPr>
          <p:cNvPr id="10" name="Text 8"/>
          <p:cNvSpPr txBox="1"/>
          <p:nvPr/>
        </p:nvSpPr>
        <p:spPr>
          <a:xfrm>
            <a:off x="566928" y="3166750"/>
            <a:ext cx="5346040" cy="365760"/>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Nothing can be lost going up the chain, so Java does it silently.</a:t>
            </a:r>
            <a:endParaRPr lang="en-US" sz="1250" dirty="0"/>
          </a:p>
        </p:txBody>
      </p:sp>
      <p:sp>
        <p:nvSpPr>
          <p:cNvPr id="11" name="Text 9"/>
          <p:cNvSpPr txBox="1"/>
          <p:nvPr/>
        </p:nvSpPr>
        <p:spPr>
          <a:xfrm>
            <a:off x="6278728" y="1536192"/>
            <a:ext cx="5346040" cy="292608"/>
          </a:xfrm>
          <a:prstGeom prst="rect">
            <a:avLst/>
          </a:prstGeom>
          <a:noFill/>
          <a:ln/>
        </p:spPr>
        <p:txBody>
          <a:bodyPr wrap="square" lIns="0" tIns="0" rIns="0" bIns="0" rtlCol="0" anchor="ctr"/>
          <a:lstStyle/>
          <a:p>
            <a:pPr indent="0" marL="0">
              <a:buNone/>
            </a:pPr>
            <a:r>
              <a:rPr lang="en-US" sz="1500" b="1" dirty="0">
                <a:solidFill>
                  <a:srgbClr val="9C241C"/>
                </a:solidFill>
                <a:latin typeface="Calibri" pitchFamily="34" charset="0"/>
                <a:ea typeface="Calibri" pitchFamily="34" charset="-122"/>
                <a:cs typeface="Calibri" pitchFamily="34" charset="-120"/>
              </a:rPr>
              <a:t>Narrowing — explicit, lossy</a:t>
            </a:r>
            <a:endParaRPr lang="en-US" sz="1500" dirty="0"/>
          </a:p>
        </p:txBody>
      </p:sp>
      <p:sp>
        <p:nvSpPr>
          <p:cNvPr id="12" name="Shape 10"/>
          <p:cNvSpPr/>
          <p:nvPr/>
        </p:nvSpPr>
        <p:spPr>
          <a:xfrm>
            <a:off x="6278728" y="1920240"/>
            <a:ext cx="5346040" cy="1259677"/>
          </a:xfrm>
          <a:prstGeom prst="roundRect">
            <a:avLst>
              <a:gd name="adj" fmla="val 5081"/>
            </a:avLst>
          </a:prstGeom>
          <a:solidFill>
            <a:srgbClr val="EDF2F7"/>
          </a:solidFill>
          <a:ln w="12700">
            <a:solidFill>
              <a:srgbClr val="CFDBE5"/>
            </a:solidFill>
            <a:prstDash val="solid"/>
          </a:ln>
        </p:spPr>
      </p:sp>
      <p:sp>
        <p:nvSpPr>
          <p:cNvPr id="13" name="Text 11"/>
          <p:cNvSpPr txBox="1"/>
          <p:nvPr/>
        </p:nvSpPr>
        <p:spPr>
          <a:xfrm>
            <a:off x="6443320" y="2057400"/>
            <a:ext cx="5016856" cy="1058509"/>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3</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3.9</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3  — truncated, not rounded</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3.9</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error: possible lossy</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conversion</a:t>
            </a:r>
            <a:endParaRPr lang="en-US" sz="1200" dirty="0"/>
          </a:p>
        </p:txBody>
      </p:sp>
      <p:sp>
        <p:nvSpPr>
          <p:cNvPr id="14" name="Text 12"/>
          <p:cNvSpPr txBox="1"/>
          <p:nvPr/>
        </p:nvSpPr>
        <p:spPr>
          <a:xfrm>
            <a:off x="6278728" y="3399373"/>
            <a:ext cx="5346040" cy="365760"/>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Java refuses to lose data behind your back. The cast is your signature on the decision.</a:t>
            </a:r>
            <a:endParaRPr lang="en-US" sz="1250" dirty="0"/>
          </a:p>
        </p:txBody>
      </p:sp>
      <p:sp>
        <p:nvSpPr>
          <p:cNvPr id="15" name="Shape 13"/>
          <p:cNvSpPr/>
          <p:nvPr/>
        </p:nvSpPr>
        <p:spPr>
          <a:xfrm>
            <a:off x="566928" y="3770254"/>
            <a:ext cx="3551834" cy="2057400"/>
          </a:xfrm>
          <a:prstGeom prst="roundRect">
            <a:avLst>
              <a:gd name="adj" fmla="val 4000"/>
            </a:avLst>
          </a:prstGeom>
          <a:solidFill>
            <a:srgbClr val="F1F5F9"/>
          </a:solidFill>
          <a:ln w="12700">
            <a:solidFill>
              <a:srgbClr val="F1F5F9"/>
            </a:solidFill>
            <a:prstDash val="solid"/>
          </a:ln>
        </p:spPr>
      </p:sp>
      <p:sp>
        <p:nvSpPr>
          <p:cNvPr id="16" name="Text 14"/>
          <p:cNvSpPr txBox="1"/>
          <p:nvPr/>
        </p:nvSpPr>
        <p:spPr>
          <a:xfrm>
            <a:off x="804672" y="3916558"/>
            <a:ext cx="3076346" cy="512064"/>
          </a:xfrm>
          <a:prstGeom prst="rect">
            <a:avLst/>
          </a:prstGeom>
          <a:noFill/>
          <a:ln/>
        </p:spPr>
        <p:txBody>
          <a:bodyPr wrap="square" lIns="0" tIns="0" rIns="0" bIns="0" rtlCol="0" anchor="t"/>
          <a:lstStyle/>
          <a:p>
            <a:pPr indent="0" marL="0">
              <a:buNone/>
            </a:pPr>
            <a:r>
              <a:rPr lang="en-US" sz="1300" b="1" dirty="0">
                <a:solidFill>
                  <a:srgbClr val="0F2942"/>
                </a:solidFill>
                <a:latin typeface="Calibri" pitchFamily="34" charset="0"/>
                <a:ea typeface="Calibri" pitchFamily="34" charset="-122"/>
                <a:cs typeface="Calibri" pitchFamily="34" charset="-120"/>
              </a:rPr>
              <a:t>Casting does not change the variable</a:t>
            </a:r>
            <a:endParaRPr lang="en-US" sz="1300" dirty="0"/>
          </a:p>
        </p:txBody>
      </p:sp>
      <p:sp>
        <p:nvSpPr>
          <p:cNvPr id="17" name="Shape 15"/>
          <p:cNvSpPr/>
          <p:nvPr/>
        </p:nvSpPr>
        <p:spPr>
          <a:xfrm>
            <a:off x="786384" y="4483486"/>
            <a:ext cx="3112922" cy="1207008"/>
          </a:xfrm>
          <a:prstGeom prst="roundRect">
            <a:avLst>
              <a:gd name="adj" fmla="val 5303"/>
            </a:avLst>
          </a:prstGeom>
          <a:solidFill>
            <a:srgbClr val="EDF2F7"/>
          </a:solidFill>
          <a:ln w="12700">
            <a:solidFill>
              <a:srgbClr val="CFDBE5"/>
            </a:solidFill>
            <a:prstDash val="solid"/>
          </a:ln>
        </p:spPr>
      </p:sp>
      <p:sp>
        <p:nvSpPr>
          <p:cNvPr id="18" name="Text 16"/>
          <p:cNvSpPr txBox="1"/>
          <p:nvPr/>
        </p:nvSpPr>
        <p:spPr>
          <a:xfrm>
            <a:off x="950976" y="4620646"/>
            <a:ext cx="2783738" cy="1005840"/>
          </a:xfrm>
          <a:prstGeom prst="rect">
            <a:avLst/>
          </a:prstGeom>
          <a:noFill/>
          <a:ln/>
        </p:spPr>
        <p:txBody>
          <a:bodyPr wrap="square" lIns="0" tIns="0" rIns="0" bIns="0" rtlCol="0" anchor="t"/>
          <a:lstStyle/>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4.5</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415C6E"/>
                </a:solidFill>
                <a:latin typeface="Courier New" pitchFamily="34" charset="0"/>
                <a:ea typeface="Courier New" pitchFamily="34" charset="-122"/>
                <a:cs typeface="Courier New" pitchFamily="34" charset="-120"/>
              </a:rPr>
              <a:t>// i is 4, d is still 4.5</a:t>
            </a:r>
            <a:endParaRPr lang="en-US" sz="950" dirty="0"/>
          </a:p>
        </p:txBody>
      </p:sp>
      <p:sp>
        <p:nvSpPr>
          <p:cNvPr id="19" name="Shape 17"/>
          <p:cNvSpPr/>
          <p:nvPr/>
        </p:nvSpPr>
        <p:spPr>
          <a:xfrm>
            <a:off x="4319930" y="3770254"/>
            <a:ext cx="3551834" cy="2057400"/>
          </a:xfrm>
          <a:prstGeom prst="roundRect">
            <a:avLst>
              <a:gd name="adj" fmla="val 4000"/>
            </a:avLst>
          </a:prstGeom>
          <a:solidFill>
            <a:srgbClr val="E6F2EC"/>
          </a:solidFill>
          <a:ln w="12700">
            <a:solidFill>
              <a:srgbClr val="E6F2EC"/>
            </a:solidFill>
            <a:prstDash val="solid"/>
          </a:ln>
        </p:spPr>
      </p:sp>
      <p:sp>
        <p:nvSpPr>
          <p:cNvPr id="20" name="Text 18"/>
          <p:cNvSpPr txBox="1"/>
          <p:nvPr/>
        </p:nvSpPr>
        <p:spPr>
          <a:xfrm>
            <a:off x="4557674" y="3916558"/>
            <a:ext cx="3076346" cy="512064"/>
          </a:xfrm>
          <a:prstGeom prst="rect">
            <a:avLst/>
          </a:prstGeom>
          <a:noFill/>
          <a:ln/>
        </p:spPr>
        <p:txBody>
          <a:bodyPr wrap="square" lIns="0" tIns="0" rIns="0" bIns="0" rtlCol="0" anchor="t"/>
          <a:lstStyle/>
          <a:p>
            <a:pPr indent="0" marL="0">
              <a:buNone/>
            </a:pPr>
            <a:r>
              <a:rPr lang="en-US" sz="1300" b="1" dirty="0">
                <a:solidFill>
                  <a:srgbClr val="176240"/>
                </a:solidFill>
                <a:latin typeface="Calibri" pitchFamily="34" charset="0"/>
                <a:ea typeface="Calibri" pitchFamily="34" charset="-122"/>
                <a:cs typeface="Calibri" pitchFamily="34" charset="-120"/>
              </a:rPr>
              <a:t>To round, say so</a:t>
            </a:r>
            <a:endParaRPr lang="en-US" sz="1300" dirty="0"/>
          </a:p>
        </p:txBody>
      </p:sp>
      <p:sp>
        <p:nvSpPr>
          <p:cNvPr id="21" name="Shape 19"/>
          <p:cNvSpPr/>
          <p:nvPr/>
        </p:nvSpPr>
        <p:spPr>
          <a:xfrm>
            <a:off x="4539386" y="4483486"/>
            <a:ext cx="3112922" cy="1207008"/>
          </a:xfrm>
          <a:prstGeom prst="roundRect">
            <a:avLst>
              <a:gd name="adj" fmla="val 5303"/>
            </a:avLst>
          </a:prstGeom>
          <a:solidFill>
            <a:srgbClr val="EDF2F7"/>
          </a:solidFill>
          <a:ln w="12700">
            <a:solidFill>
              <a:srgbClr val="CFDBE5"/>
            </a:solidFill>
            <a:prstDash val="solid"/>
          </a:ln>
        </p:spPr>
      </p:sp>
      <p:sp>
        <p:nvSpPr>
          <p:cNvPr id="22" name="Text 20"/>
          <p:cNvSpPr txBox="1"/>
          <p:nvPr/>
        </p:nvSpPr>
        <p:spPr>
          <a:xfrm>
            <a:off x="4703978" y="4620646"/>
            <a:ext cx="2783738" cy="1005840"/>
          </a:xfrm>
          <a:prstGeom prst="rect">
            <a:avLst/>
          </a:prstGeom>
          <a:noFill/>
          <a:ln/>
        </p:spPr>
        <p:txBody>
          <a:bodyPr wrap="square" lIns="0" tIns="0" rIns="0" bIns="0" rtlCol="0" anchor="t"/>
          <a:lstStyle/>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round</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3.9</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415C6E"/>
                </a:solidFill>
                <a:latin typeface="Courier New" pitchFamily="34" charset="0"/>
                <a:ea typeface="Courier New" pitchFamily="34" charset="-122"/>
                <a:cs typeface="Courier New" pitchFamily="34" charset="-120"/>
              </a:rPr>
              <a:t>// i is 4</a:t>
            </a:r>
            <a:endParaRPr lang="en-US" sz="950" dirty="0"/>
          </a:p>
        </p:txBody>
      </p:sp>
      <p:sp>
        <p:nvSpPr>
          <p:cNvPr id="23" name="Shape 21"/>
          <p:cNvSpPr/>
          <p:nvPr/>
        </p:nvSpPr>
        <p:spPr>
          <a:xfrm>
            <a:off x="8072933" y="3770254"/>
            <a:ext cx="3551834" cy="2057400"/>
          </a:xfrm>
          <a:prstGeom prst="roundRect">
            <a:avLst>
              <a:gd name="adj" fmla="val 4000"/>
            </a:avLst>
          </a:prstGeom>
          <a:solidFill>
            <a:srgbClr val="FBEEE0"/>
          </a:solidFill>
          <a:ln w="12700">
            <a:solidFill>
              <a:srgbClr val="FBEEE0"/>
            </a:solidFill>
            <a:prstDash val="solid"/>
          </a:ln>
        </p:spPr>
      </p:sp>
      <p:sp>
        <p:nvSpPr>
          <p:cNvPr id="24" name="Text 22"/>
          <p:cNvSpPr txBox="1"/>
          <p:nvPr/>
        </p:nvSpPr>
        <p:spPr>
          <a:xfrm>
            <a:off x="8310677" y="3916558"/>
            <a:ext cx="3076346" cy="512064"/>
          </a:xfrm>
          <a:prstGeom prst="rect">
            <a:avLst/>
          </a:prstGeom>
          <a:noFill/>
          <a:ln/>
        </p:spPr>
        <p:txBody>
          <a:bodyPr wrap="square" lIns="0" tIns="0" rIns="0" bIns="0" rtlCol="0" anchor="t"/>
          <a:lstStyle/>
          <a:p>
            <a:pPr indent="0" marL="0">
              <a:buNone/>
            </a:pPr>
            <a:r>
              <a:rPr lang="en-US" sz="1300" b="1" dirty="0">
                <a:solidFill>
                  <a:srgbClr val="9A430A"/>
                </a:solidFill>
                <a:latin typeface="Calibri" pitchFamily="34" charset="0"/>
                <a:ea typeface="Calibri" pitchFamily="34" charset="-122"/>
                <a:cs typeface="Calibri" pitchFamily="34" charset="-120"/>
              </a:rPr>
              <a:t>Keeping two decimal places</a:t>
            </a:r>
            <a:endParaRPr lang="en-US" sz="1300" dirty="0"/>
          </a:p>
        </p:txBody>
      </p:sp>
      <p:sp>
        <p:nvSpPr>
          <p:cNvPr id="25" name="Shape 23"/>
          <p:cNvSpPr/>
          <p:nvPr/>
        </p:nvSpPr>
        <p:spPr>
          <a:xfrm>
            <a:off x="8292389" y="4483486"/>
            <a:ext cx="3112922" cy="1207008"/>
          </a:xfrm>
          <a:prstGeom prst="roundRect">
            <a:avLst>
              <a:gd name="adj" fmla="val 5303"/>
            </a:avLst>
          </a:prstGeom>
          <a:solidFill>
            <a:srgbClr val="EDF2F7"/>
          </a:solidFill>
          <a:ln w="12700">
            <a:solidFill>
              <a:srgbClr val="CFDBE5"/>
            </a:solidFill>
            <a:prstDash val="solid"/>
          </a:ln>
        </p:spPr>
      </p:sp>
      <p:sp>
        <p:nvSpPr>
          <p:cNvPr id="26" name="Text 24"/>
          <p:cNvSpPr txBox="1"/>
          <p:nvPr/>
        </p:nvSpPr>
        <p:spPr>
          <a:xfrm>
            <a:off x="8456981" y="4620646"/>
            <a:ext cx="2783738" cy="1005840"/>
          </a:xfrm>
          <a:prstGeom prst="rect">
            <a:avLst/>
          </a:prstGeom>
          <a:noFill/>
          <a:ln/>
        </p:spPr>
        <p:txBody>
          <a:bodyPr wrap="square" lIns="0" tIns="0" rIns="0" bIns="0" rtlCol="0" anchor="t"/>
          <a:lstStyle/>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tax</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197.55</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0.06</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415C6E"/>
                </a:solidFill>
                <a:latin typeface="Courier New" pitchFamily="34" charset="0"/>
                <a:ea typeface="Courier New" pitchFamily="34" charset="-122"/>
                <a:cs typeface="Courier New" pitchFamily="34" charset="-120"/>
              </a:rPr>
              <a:t>// 11.853</a:t>
            </a:r>
            <a:endParaRPr lang="en-US" sz="950" dirty="0"/>
          </a:p>
          <a:p>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t2</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tax</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9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B3FA0"/>
                </a:solidFill>
                <a:latin typeface="Courier New" pitchFamily="34" charset="0"/>
                <a:ea typeface="Courier New" pitchFamily="34" charset="-122"/>
                <a:cs typeface="Courier New" pitchFamily="34" charset="-120"/>
              </a:rPr>
              <a:t>100.0</a:t>
            </a:r>
            <a:pPr indent="0" marL="0">
              <a:lnSpc>
                <a:spcPct val="112000"/>
              </a:lnSpc>
              <a:buNone/>
            </a:pPr>
            <a:r>
              <a:rPr lang="en-US" sz="950" dirty="0">
                <a:solidFill>
                  <a:srgbClr val="33485C"/>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415C6E"/>
                </a:solidFill>
                <a:latin typeface="Courier New" pitchFamily="34" charset="0"/>
                <a:ea typeface="Courier New" pitchFamily="34" charset="-122"/>
                <a:cs typeface="Courier New" pitchFamily="34" charset="-120"/>
              </a:rPr>
              <a:t>// 11.85</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ERRORS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Two Errors the Compiler Catches for You</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566928" y="1261872"/>
            <a:ext cx="5346040" cy="4526280"/>
          </a:xfrm>
          <a:prstGeom prst="roundRect">
            <a:avLst>
              <a:gd name="adj" fmla="val 1818"/>
            </a:avLst>
          </a:prstGeom>
          <a:solidFill>
            <a:srgbClr val="E7F0F7"/>
          </a:solidFill>
          <a:ln w="12700">
            <a:solidFill>
              <a:srgbClr val="E7F0F7"/>
            </a:solidFill>
            <a:prstDash val="solid"/>
          </a:ln>
        </p:spPr>
      </p:sp>
      <p:sp>
        <p:nvSpPr>
          <p:cNvPr id="7" name="Shape 5"/>
          <p:cNvSpPr/>
          <p:nvPr/>
        </p:nvSpPr>
        <p:spPr>
          <a:xfrm>
            <a:off x="822960" y="1481328"/>
            <a:ext cx="402336" cy="402336"/>
          </a:xfrm>
          <a:prstGeom prst="ellipse">
            <a:avLst/>
          </a:prstGeom>
          <a:solidFill>
            <a:srgbClr val="175680"/>
          </a:solidFill>
          <a:ln w="12700">
            <a:solidFill>
              <a:srgbClr val="175680"/>
            </a:solidFill>
            <a:prstDash val="solid"/>
          </a:ln>
        </p:spPr>
      </p:sp>
      <p:sp>
        <p:nvSpPr>
          <p:cNvPr id="8" name="Text 6"/>
          <p:cNvSpPr txBox="1"/>
          <p:nvPr/>
        </p:nvSpPr>
        <p:spPr>
          <a:xfrm>
            <a:off x="822960" y="14813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53312" y="1463040"/>
            <a:ext cx="4294480" cy="438912"/>
          </a:xfrm>
          <a:prstGeom prst="rect">
            <a:avLst/>
          </a:prstGeom>
          <a:noFill/>
          <a:ln/>
        </p:spPr>
        <p:txBody>
          <a:bodyPr wrap="square" lIns="0" tIns="0" rIns="0" bIns="0" rtlCol="0" anchor="ctr"/>
          <a:lstStyle/>
          <a:p>
            <a:pPr indent="0" marL="0">
              <a:buNone/>
            </a:pPr>
            <a:r>
              <a:rPr lang="en-US" sz="1800" b="1" dirty="0">
                <a:solidFill>
                  <a:srgbClr val="175680"/>
                </a:solidFill>
                <a:latin typeface="Cambria" pitchFamily="34" charset="0"/>
                <a:ea typeface="Cambria" pitchFamily="34" charset="-122"/>
                <a:cs typeface="Cambria" pitchFamily="34" charset="-120"/>
              </a:rPr>
              <a:t>Undeclared, uninitialised, unused</a:t>
            </a:r>
            <a:endParaRPr lang="en-US" sz="1800" dirty="0"/>
          </a:p>
        </p:txBody>
      </p:sp>
      <p:sp>
        <p:nvSpPr>
          <p:cNvPr id="10" name="Shape 8"/>
          <p:cNvSpPr/>
          <p:nvPr/>
        </p:nvSpPr>
        <p:spPr>
          <a:xfrm>
            <a:off x="804672" y="2039112"/>
            <a:ext cx="4870552" cy="1608612"/>
          </a:xfrm>
          <a:prstGeom prst="roundRect">
            <a:avLst>
              <a:gd name="adj" fmla="val 3979"/>
            </a:avLst>
          </a:prstGeom>
          <a:solidFill>
            <a:srgbClr val="EDF2F7"/>
          </a:solidFill>
          <a:ln w="12700">
            <a:solidFill>
              <a:srgbClr val="CFDBE5"/>
            </a:solidFill>
            <a:prstDash val="solid"/>
          </a:ln>
        </p:spPr>
      </p:sp>
      <p:sp>
        <p:nvSpPr>
          <p:cNvPr id="11" name="Text 9"/>
          <p:cNvSpPr txBox="1"/>
          <p:nvPr/>
        </p:nvSpPr>
        <p:spPr>
          <a:xfrm>
            <a:off x="969264" y="2176272"/>
            <a:ext cx="4541368" cy="1407444"/>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interestRate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0.05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interest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interestrate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i not initialised</a:t>
            </a:r>
            <a:endParaRPr lang="en-US" sz="1100" dirty="0"/>
          </a:p>
        </p:txBody>
      </p:sp>
      <p:sp>
        <p:nvSpPr>
          <p:cNvPr id="12" name="Shape 10"/>
          <p:cNvSpPr/>
          <p:nvPr/>
        </p:nvSpPr>
        <p:spPr>
          <a:xfrm>
            <a:off x="804672" y="3885468"/>
            <a:ext cx="4870552" cy="850849"/>
          </a:xfrm>
          <a:prstGeom prst="roundRect">
            <a:avLst>
              <a:gd name="adj" fmla="val 7523"/>
            </a:avLst>
          </a:prstGeom>
          <a:solidFill>
            <a:srgbClr val="FFFFFF"/>
          </a:solidFill>
          <a:ln w="12700">
            <a:solidFill>
              <a:srgbClr val="4B6377"/>
            </a:solidFill>
            <a:prstDash val="solid"/>
          </a:ln>
        </p:spPr>
      </p:sp>
      <p:sp>
        <p:nvSpPr>
          <p:cNvPr id="13" name="Text 11"/>
          <p:cNvSpPr txBox="1"/>
          <p:nvPr/>
        </p:nvSpPr>
        <p:spPr>
          <a:xfrm>
            <a:off x="950976" y="3958620"/>
            <a:ext cx="4577944"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4" name="Text 12"/>
          <p:cNvSpPr txBox="1"/>
          <p:nvPr/>
        </p:nvSpPr>
        <p:spPr>
          <a:xfrm>
            <a:off x="950976" y="4159788"/>
            <a:ext cx="4577944" cy="485089"/>
          </a:xfrm>
          <a:prstGeom prst="rect">
            <a:avLst/>
          </a:prstGeom>
          <a:noFill/>
          <a:ln/>
        </p:spPr>
        <p:txBody>
          <a:bodyPr wrap="square" lIns="0" tIns="0" rIns="0" bIns="0" rtlCol="0" anchor="t"/>
          <a:lstStyle/>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cannot find symbol</a:t>
            </a:r>
            <a:endParaRPr lang="en-US" sz="1050" dirty="0"/>
          </a:p>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  symbol: variable interestrate</a:t>
            </a:r>
            <a:endParaRPr lang="en-US" sz="1050" dirty="0"/>
          </a:p>
        </p:txBody>
      </p:sp>
      <p:sp>
        <p:nvSpPr>
          <p:cNvPr id="15" name="Text 13"/>
          <p:cNvSpPr txBox="1"/>
          <p:nvPr/>
        </p:nvSpPr>
        <p:spPr>
          <a:xfrm>
            <a:off x="822960" y="4882622"/>
            <a:ext cx="4833976" cy="822960"/>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Java is case-sensitive, so interestrate and interestRate are unrelated names. An unused variable is not an error, but your IDE will grey it out — take the hint.</a:t>
            </a:r>
            <a:endParaRPr lang="en-US" sz="1150" dirty="0"/>
          </a:p>
        </p:txBody>
      </p:sp>
      <p:sp>
        <p:nvSpPr>
          <p:cNvPr id="16" name="Shape 14"/>
          <p:cNvSpPr/>
          <p:nvPr/>
        </p:nvSpPr>
        <p:spPr>
          <a:xfrm>
            <a:off x="6278728" y="1261872"/>
            <a:ext cx="5346040" cy="4526280"/>
          </a:xfrm>
          <a:prstGeom prst="roundRect">
            <a:avLst>
              <a:gd name="adj" fmla="val 1818"/>
            </a:avLst>
          </a:prstGeom>
          <a:solidFill>
            <a:srgbClr val="FBEEE0"/>
          </a:solidFill>
          <a:ln w="12700">
            <a:solidFill>
              <a:srgbClr val="FBEEE0"/>
            </a:solidFill>
            <a:prstDash val="solid"/>
          </a:ln>
        </p:spPr>
      </p:sp>
      <p:sp>
        <p:nvSpPr>
          <p:cNvPr id="17" name="Shape 15"/>
          <p:cNvSpPr/>
          <p:nvPr/>
        </p:nvSpPr>
        <p:spPr>
          <a:xfrm>
            <a:off x="6534760" y="1481328"/>
            <a:ext cx="402336" cy="402336"/>
          </a:xfrm>
          <a:prstGeom prst="ellipse">
            <a:avLst/>
          </a:prstGeom>
          <a:solidFill>
            <a:srgbClr val="9A430A"/>
          </a:solidFill>
          <a:ln w="12700">
            <a:solidFill>
              <a:srgbClr val="9A430A"/>
            </a:solidFill>
            <a:prstDash val="solid"/>
          </a:ln>
        </p:spPr>
      </p:sp>
      <p:sp>
        <p:nvSpPr>
          <p:cNvPr id="18" name="Text 16"/>
          <p:cNvSpPr txBox="1"/>
          <p:nvPr/>
        </p:nvSpPr>
        <p:spPr>
          <a:xfrm>
            <a:off x="6534760" y="14813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7065112" y="1463040"/>
            <a:ext cx="4294480" cy="438912"/>
          </a:xfrm>
          <a:prstGeom prst="rect">
            <a:avLst/>
          </a:prstGeom>
          <a:noFill/>
          <a:ln/>
        </p:spPr>
        <p:txBody>
          <a:bodyPr wrap="square" lIns="0" tIns="0" rIns="0" bIns="0" rtlCol="0" anchor="ctr"/>
          <a:lstStyle/>
          <a:p>
            <a:pPr indent="0" marL="0">
              <a:buNone/>
            </a:pPr>
            <a:r>
              <a:rPr lang="en-US" sz="1800" b="1" dirty="0">
                <a:solidFill>
                  <a:srgbClr val="9A430A"/>
                </a:solidFill>
                <a:latin typeface="Cambria" pitchFamily="34" charset="0"/>
                <a:ea typeface="Cambria" pitchFamily="34" charset="-122"/>
                <a:cs typeface="Cambria" pitchFamily="34" charset="-120"/>
              </a:rPr>
              <a:t>Integer overflow</a:t>
            </a:r>
            <a:endParaRPr lang="en-US" sz="1800" dirty="0"/>
          </a:p>
        </p:txBody>
      </p:sp>
      <p:sp>
        <p:nvSpPr>
          <p:cNvPr id="20" name="Shape 18"/>
          <p:cNvSpPr/>
          <p:nvPr/>
        </p:nvSpPr>
        <p:spPr>
          <a:xfrm>
            <a:off x="6516472" y="2039112"/>
            <a:ext cx="4870552" cy="1395374"/>
          </a:xfrm>
          <a:prstGeom prst="roundRect">
            <a:avLst>
              <a:gd name="adj" fmla="val 4587"/>
            </a:avLst>
          </a:prstGeom>
          <a:solidFill>
            <a:srgbClr val="EDF2F7"/>
          </a:solidFill>
          <a:ln w="12700">
            <a:solidFill>
              <a:srgbClr val="CFDBE5"/>
            </a:solidFill>
            <a:prstDash val="solid"/>
          </a:ln>
        </p:spPr>
      </p:sp>
      <p:sp>
        <p:nvSpPr>
          <p:cNvPr id="21" name="Text 19"/>
          <p:cNvSpPr txBox="1"/>
          <p:nvPr/>
        </p:nvSpPr>
        <p:spPr>
          <a:xfrm>
            <a:off x="6681064" y="2176272"/>
            <a:ext cx="4541368" cy="1194206"/>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value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2147483647</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value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and the safe version:</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addExact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2147483647</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22" name="Shape 20"/>
          <p:cNvSpPr/>
          <p:nvPr/>
        </p:nvSpPr>
        <p:spPr>
          <a:xfrm>
            <a:off x="6516472" y="3672230"/>
            <a:ext cx="4870552" cy="1244498"/>
          </a:xfrm>
          <a:prstGeom prst="roundRect">
            <a:avLst>
              <a:gd name="adj" fmla="val 5143"/>
            </a:avLst>
          </a:prstGeom>
          <a:solidFill>
            <a:srgbClr val="FFFFFF"/>
          </a:solidFill>
          <a:ln w="12700">
            <a:solidFill>
              <a:srgbClr val="4B6377"/>
            </a:solidFill>
            <a:prstDash val="solid"/>
          </a:ln>
        </p:spPr>
      </p:sp>
      <p:sp>
        <p:nvSpPr>
          <p:cNvPr id="23" name="Text 21"/>
          <p:cNvSpPr txBox="1"/>
          <p:nvPr/>
        </p:nvSpPr>
        <p:spPr>
          <a:xfrm>
            <a:off x="6662776" y="3745382"/>
            <a:ext cx="4577944"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24" name="Text 22"/>
          <p:cNvSpPr txBox="1"/>
          <p:nvPr/>
        </p:nvSpPr>
        <p:spPr>
          <a:xfrm>
            <a:off x="6662776" y="3946550"/>
            <a:ext cx="4577944" cy="878738"/>
          </a:xfrm>
          <a:prstGeom prst="rect">
            <a:avLst/>
          </a:prstGeom>
          <a:noFill/>
          <a:ln/>
        </p:spPr>
        <p:txBody>
          <a:bodyPr wrap="square" lIns="0" tIns="0" rIns="0" bIns="0" rtlCol="0" anchor="t"/>
          <a:lstStyle/>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-2147483648</a:t>
            </a:r>
            <a:endParaRPr lang="en-US" sz="1050" dirty="0"/>
          </a:p>
          <a:p>
            <a:pPr indent="0" marL="0">
              <a:lnSpc>
                <a:spcPct val="110000"/>
              </a:lnSpc>
              <a:buNone/>
            </a:pPr>
            <a:endParaRPr lang="en-US" sz="1050" dirty="0"/>
          </a:p>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ArithmeticException:</a:t>
            </a:r>
            <a:endParaRPr lang="en-US" sz="1050" dirty="0"/>
          </a:p>
          <a:p>
            <a:pPr indent="0" marL="0">
              <a:lnSpc>
                <a:spcPct val="110000"/>
              </a:lnSpc>
              <a:buNone/>
            </a:pPr>
            <a:r>
              <a:rPr lang="en-US" sz="1050" dirty="0">
                <a:solidFill>
                  <a:srgbClr val="0F2942"/>
                </a:solidFill>
                <a:latin typeface="Courier New" pitchFamily="34" charset="0"/>
                <a:ea typeface="Courier New" pitchFamily="34" charset="-122"/>
                <a:cs typeface="Courier New" pitchFamily="34" charset="-120"/>
              </a:rPr>
              <a:t>  integer overflow</a:t>
            </a:r>
            <a:endParaRPr lang="en-US" sz="1050" dirty="0"/>
          </a:p>
        </p:txBody>
      </p:sp>
      <p:sp>
        <p:nvSpPr>
          <p:cNvPr id="25" name="Text 23"/>
          <p:cNvSpPr txBox="1"/>
          <p:nvPr/>
        </p:nvSpPr>
        <p:spPr>
          <a:xfrm>
            <a:off x="6534760" y="5063033"/>
            <a:ext cx="4833976" cy="822960"/>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This one the compiler does NOT catch. The value wraps round to the most negative int and the program carries on quietly. Math.addExact and friends throw instead of wrapping.</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ERRORS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Two Errors Nothing Catches for You</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These compile, run, finish, and hand you the wrong number.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31</a:t>
            </a:r>
            <a:endParaRPr lang="en-US" sz="900" dirty="0"/>
          </a:p>
        </p:txBody>
      </p:sp>
      <p:sp>
        <p:nvSpPr>
          <p:cNvPr id="7" name="Shape 5"/>
          <p:cNvSpPr/>
          <p:nvPr/>
        </p:nvSpPr>
        <p:spPr>
          <a:xfrm>
            <a:off x="566928" y="1536192"/>
            <a:ext cx="5346040" cy="3931920"/>
          </a:xfrm>
          <a:prstGeom prst="roundRect">
            <a:avLst>
              <a:gd name="adj" fmla="val 2093"/>
            </a:avLst>
          </a:prstGeom>
          <a:solidFill>
            <a:srgbClr val="FBEAE8"/>
          </a:solidFill>
          <a:ln w="12700">
            <a:solidFill>
              <a:srgbClr val="FBEAE8"/>
            </a:solidFill>
            <a:prstDash val="solid"/>
          </a:ln>
        </p:spPr>
      </p:sp>
      <p:sp>
        <p:nvSpPr>
          <p:cNvPr id="8" name="Shape 6"/>
          <p:cNvSpPr/>
          <p:nvPr/>
        </p:nvSpPr>
        <p:spPr>
          <a:xfrm>
            <a:off x="822960" y="1755648"/>
            <a:ext cx="402336" cy="402336"/>
          </a:xfrm>
          <a:prstGeom prst="ellipse">
            <a:avLst/>
          </a:prstGeom>
          <a:solidFill>
            <a:srgbClr val="9C241C"/>
          </a:solidFill>
          <a:ln w="12700">
            <a:solidFill>
              <a:srgbClr val="9C241C"/>
            </a:solidFill>
            <a:prstDash val="solid"/>
          </a:ln>
        </p:spPr>
      </p:sp>
      <p:sp>
        <p:nvSpPr>
          <p:cNvPr id="9" name="Text 7"/>
          <p:cNvSpPr txBox="1"/>
          <p:nvPr/>
        </p:nvSpPr>
        <p:spPr>
          <a:xfrm>
            <a:off x="822960" y="17556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0" name="Text 8"/>
          <p:cNvSpPr txBox="1"/>
          <p:nvPr/>
        </p:nvSpPr>
        <p:spPr>
          <a:xfrm>
            <a:off x="1353312" y="1737360"/>
            <a:ext cx="4294480" cy="438912"/>
          </a:xfrm>
          <a:prstGeom prst="rect">
            <a:avLst/>
          </a:prstGeom>
          <a:noFill/>
          <a:ln/>
        </p:spPr>
        <p:txBody>
          <a:bodyPr wrap="square" lIns="0" tIns="0" rIns="0" bIns="0" rtlCol="0" anchor="ctr"/>
          <a:lstStyle/>
          <a:p>
            <a:pPr indent="0" marL="0">
              <a:buNone/>
            </a:pPr>
            <a:r>
              <a:rPr lang="en-US" sz="1800" b="1" dirty="0">
                <a:solidFill>
                  <a:srgbClr val="9C241C"/>
                </a:solidFill>
                <a:latin typeface="Cambria" pitchFamily="34" charset="0"/>
                <a:ea typeface="Cambria" pitchFamily="34" charset="-122"/>
                <a:cs typeface="Cambria" pitchFamily="34" charset="-120"/>
              </a:rPr>
              <a:t>Round-off errors</a:t>
            </a:r>
            <a:endParaRPr lang="en-US" sz="1800" dirty="0"/>
          </a:p>
        </p:txBody>
      </p:sp>
      <p:sp>
        <p:nvSpPr>
          <p:cNvPr id="11" name="Shape 9"/>
          <p:cNvSpPr/>
          <p:nvPr/>
        </p:nvSpPr>
        <p:spPr>
          <a:xfrm>
            <a:off x="804672" y="2313432"/>
            <a:ext cx="4870552" cy="968898"/>
          </a:xfrm>
          <a:prstGeom prst="roundRect">
            <a:avLst>
              <a:gd name="adj" fmla="val 6606"/>
            </a:avLst>
          </a:prstGeom>
          <a:solidFill>
            <a:srgbClr val="EDF2F7"/>
          </a:solidFill>
          <a:ln w="12700">
            <a:solidFill>
              <a:srgbClr val="CFDBE5"/>
            </a:solidFill>
            <a:prstDash val="solid"/>
          </a:ln>
        </p:spPr>
      </p:sp>
      <p:sp>
        <p:nvSpPr>
          <p:cNvPr id="12" name="Text 10"/>
          <p:cNvSpPr txBox="1"/>
          <p:nvPr/>
        </p:nvSpPr>
        <p:spPr>
          <a:xfrm>
            <a:off x="969264" y="2450592"/>
            <a:ext cx="4541368" cy="767730"/>
          </a:xfrm>
          <a:prstGeom prst="rect">
            <a:avLst/>
          </a:prstGeom>
          <a:noFill/>
          <a:ln/>
        </p:spPr>
        <p:txBody>
          <a:bodyPr wrap="square" lIns="0" tIns="0" rIns="0" bIns="0" rtlCol="0" anchor="t"/>
          <a:lstStyle/>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0.1</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0.9</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3" name="Shape 11"/>
          <p:cNvSpPr/>
          <p:nvPr/>
        </p:nvSpPr>
        <p:spPr>
          <a:xfrm>
            <a:off x="804672" y="3520074"/>
            <a:ext cx="4870552" cy="869594"/>
          </a:xfrm>
          <a:prstGeom prst="roundRect">
            <a:avLst>
              <a:gd name="adj" fmla="val 7361"/>
            </a:avLst>
          </a:prstGeom>
          <a:solidFill>
            <a:srgbClr val="FFFFFF"/>
          </a:solidFill>
          <a:ln w="12700">
            <a:solidFill>
              <a:srgbClr val="4B6377"/>
            </a:solidFill>
            <a:prstDash val="solid"/>
          </a:ln>
        </p:spPr>
      </p:sp>
      <p:sp>
        <p:nvSpPr>
          <p:cNvPr id="14" name="Text 12"/>
          <p:cNvSpPr txBox="1"/>
          <p:nvPr/>
        </p:nvSpPr>
        <p:spPr>
          <a:xfrm>
            <a:off x="950976" y="3593226"/>
            <a:ext cx="4577944"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5" name="Text 13"/>
          <p:cNvSpPr txBox="1"/>
          <p:nvPr/>
        </p:nvSpPr>
        <p:spPr>
          <a:xfrm>
            <a:off x="950976" y="3794394"/>
            <a:ext cx="4577944" cy="503834"/>
          </a:xfrm>
          <a:prstGeom prst="rect">
            <a:avLst/>
          </a:prstGeom>
          <a:noFill/>
          <a:ln/>
        </p:spPr>
        <p:txBody>
          <a:bodyPr wrap="square" lIns="0" tIns="0" rIns="0" bIns="0" rtlCol="0" anchor="t"/>
          <a:lstStyle/>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0.5000000000000001</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0.09999999999999998</a:t>
            </a:r>
            <a:endParaRPr lang="en-US" sz="1100" dirty="0"/>
          </a:p>
        </p:txBody>
      </p:sp>
      <p:sp>
        <p:nvSpPr>
          <p:cNvPr id="16" name="Text 14"/>
          <p:cNvSpPr txBox="1"/>
          <p:nvPr/>
        </p:nvSpPr>
        <p:spPr>
          <a:xfrm>
            <a:off x="822960" y="4599432"/>
            <a:ext cx="4833976" cy="777240"/>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0.1 has no exact binary form, just as 1/3 has no exact decimal one. Never test two doubles with ==; compare the difference against a small tolerance. For money, use BigDecimal.</a:t>
            </a:r>
            <a:endParaRPr lang="en-US" sz="1150" dirty="0"/>
          </a:p>
        </p:txBody>
      </p:sp>
      <p:sp>
        <p:nvSpPr>
          <p:cNvPr id="17" name="Shape 15"/>
          <p:cNvSpPr/>
          <p:nvPr/>
        </p:nvSpPr>
        <p:spPr>
          <a:xfrm>
            <a:off x="6278728" y="1536192"/>
            <a:ext cx="5346040" cy="3931920"/>
          </a:xfrm>
          <a:prstGeom prst="roundRect">
            <a:avLst>
              <a:gd name="adj" fmla="val 2093"/>
            </a:avLst>
          </a:prstGeom>
          <a:solidFill>
            <a:srgbClr val="FBEAE8"/>
          </a:solidFill>
          <a:ln w="12700">
            <a:solidFill>
              <a:srgbClr val="FBEAE8"/>
            </a:solidFill>
            <a:prstDash val="solid"/>
          </a:ln>
        </p:spPr>
      </p:sp>
      <p:sp>
        <p:nvSpPr>
          <p:cNvPr id="18" name="Shape 16"/>
          <p:cNvSpPr/>
          <p:nvPr/>
        </p:nvSpPr>
        <p:spPr>
          <a:xfrm>
            <a:off x="6534760" y="1755648"/>
            <a:ext cx="402336" cy="402336"/>
          </a:xfrm>
          <a:prstGeom prst="ellipse">
            <a:avLst/>
          </a:prstGeom>
          <a:solidFill>
            <a:srgbClr val="9C241C"/>
          </a:solidFill>
          <a:ln w="12700">
            <a:solidFill>
              <a:srgbClr val="9C241C"/>
            </a:solidFill>
            <a:prstDash val="solid"/>
          </a:ln>
        </p:spPr>
      </p:sp>
      <p:sp>
        <p:nvSpPr>
          <p:cNvPr id="19" name="Text 17"/>
          <p:cNvSpPr txBox="1"/>
          <p:nvPr/>
        </p:nvSpPr>
        <p:spPr>
          <a:xfrm>
            <a:off x="6534760" y="17556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7065112" y="1737360"/>
            <a:ext cx="4294480" cy="438912"/>
          </a:xfrm>
          <a:prstGeom prst="rect">
            <a:avLst/>
          </a:prstGeom>
          <a:noFill/>
          <a:ln/>
        </p:spPr>
        <p:txBody>
          <a:bodyPr wrap="square" lIns="0" tIns="0" rIns="0" bIns="0" rtlCol="0" anchor="ctr"/>
          <a:lstStyle/>
          <a:p>
            <a:pPr indent="0" marL="0">
              <a:buNone/>
            </a:pPr>
            <a:r>
              <a:rPr lang="en-US" sz="1800" b="1" dirty="0">
                <a:solidFill>
                  <a:srgbClr val="9C241C"/>
                </a:solidFill>
                <a:latin typeface="Cambria" pitchFamily="34" charset="0"/>
                <a:ea typeface="Cambria" pitchFamily="34" charset="-122"/>
                <a:cs typeface="Cambria" pitchFamily="34" charset="-120"/>
              </a:rPr>
              <a:t>Unintended integer division</a:t>
            </a:r>
            <a:endParaRPr lang="en-US" sz="1800" dirty="0"/>
          </a:p>
        </p:txBody>
      </p:sp>
      <p:sp>
        <p:nvSpPr>
          <p:cNvPr id="21" name="Shape 19"/>
          <p:cNvSpPr/>
          <p:nvPr/>
        </p:nvSpPr>
        <p:spPr>
          <a:xfrm>
            <a:off x="6516472" y="2313432"/>
            <a:ext cx="4870552" cy="1821851"/>
          </a:xfrm>
          <a:prstGeom prst="roundRect">
            <a:avLst>
              <a:gd name="adj" fmla="val 3513"/>
            </a:avLst>
          </a:prstGeom>
          <a:solidFill>
            <a:srgbClr val="EDF2F7"/>
          </a:solidFill>
          <a:ln w="12700">
            <a:solidFill>
              <a:srgbClr val="CFDBE5"/>
            </a:solidFill>
            <a:prstDash val="solid"/>
          </a:ln>
        </p:spPr>
      </p:sp>
      <p:sp>
        <p:nvSpPr>
          <p:cNvPr id="22" name="Text 20"/>
          <p:cNvSpPr txBox="1"/>
          <p:nvPr/>
        </p:nvSpPr>
        <p:spPr>
          <a:xfrm>
            <a:off x="6681064" y="2450592"/>
            <a:ext cx="4541368" cy="1620683"/>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average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average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1.0</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fixed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fixed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1.5</a:t>
            </a:r>
            <a:endParaRPr lang="en-US" sz="1100" dirty="0"/>
          </a:p>
        </p:txBody>
      </p:sp>
      <p:sp>
        <p:nvSpPr>
          <p:cNvPr id="23" name="Text 21"/>
          <p:cNvSpPr txBox="1"/>
          <p:nvPr/>
        </p:nvSpPr>
        <p:spPr>
          <a:xfrm>
            <a:off x="6534760" y="4409603"/>
            <a:ext cx="4833976" cy="960120"/>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Declaring average as a double does not help: the division on the right has already happened in int arithmetic before anything is stored. One character — the .0 — is the whole fix.</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PITFALLS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Two Traps with Scanner</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Neither is an error the compiler can see. Both waste an afternoon the first time.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32</a:t>
            </a:r>
            <a:endParaRPr lang="en-US" sz="900" dirty="0"/>
          </a:p>
        </p:txBody>
      </p:sp>
      <p:sp>
        <p:nvSpPr>
          <p:cNvPr id="7" name="Text 5"/>
          <p:cNvSpPr txBox="1"/>
          <p:nvPr/>
        </p:nvSpPr>
        <p:spPr>
          <a:xfrm>
            <a:off x="566928" y="1536192"/>
            <a:ext cx="5346040" cy="292608"/>
          </a:xfrm>
          <a:prstGeom prst="rect">
            <a:avLst/>
          </a:prstGeom>
          <a:noFill/>
          <a:ln/>
        </p:spPr>
        <p:txBody>
          <a:bodyPr wrap="square" lIns="0" tIns="0" rIns="0" bIns="0" rtlCol="0" anchor="ctr"/>
          <a:lstStyle/>
          <a:p>
            <a:pPr indent="0" marL="0">
              <a:buNone/>
            </a:pPr>
            <a:r>
              <a:rPr lang="en-US" sz="1500" b="1" dirty="0">
                <a:solidFill>
                  <a:srgbClr val="9A430A"/>
                </a:solidFill>
                <a:latin typeface="Calibri" pitchFamily="34" charset="0"/>
                <a:ea typeface="Calibri" pitchFamily="34" charset="-122"/>
                <a:cs typeface="Calibri" pitchFamily="34" charset="-120"/>
              </a:rPr>
              <a:t>Pitfall 1 — a second Scanner object</a:t>
            </a:r>
            <a:endParaRPr lang="en-US" sz="1500" dirty="0"/>
          </a:p>
        </p:txBody>
      </p:sp>
      <p:sp>
        <p:nvSpPr>
          <p:cNvPr id="8" name="Shape 6"/>
          <p:cNvSpPr/>
          <p:nvPr/>
        </p:nvSpPr>
        <p:spPr>
          <a:xfrm>
            <a:off x="566928" y="1920240"/>
            <a:ext cx="5346040" cy="1821851"/>
          </a:xfrm>
          <a:prstGeom prst="roundRect">
            <a:avLst>
              <a:gd name="adj" fmla="val 3513"/>
            </a:avLst>
          </a:prstGeom>
          <a:solidFill>
            <a:srgbClr val="EDF2F7"/>
          </a:solidFill>
          <a:ln w="12700">
            <a:solidFill>
              <a:srgbClr val="CFDBE5"/>
            </a:solidFill>
            <a:prstDash val="solid"/>
          </a:ln>
        </p:spPr>
      </p:sp>
      <p:sp>
        <p:nvSpPr>
          <p:cNvPr id="9" name="Text 7"/>
          <p:cNvSpPr txBox="1"/>
          <p:nvPr/>
        </p:nvSpPr>
        <p:spPr>
          <a:xfrm>
            <a:off x="731520" y="2057400"/>
            <a:ext cx="5016856" cy="1620683"/>
          </a:xfrm>
          <a:prstGeom prst="rect">
            <a:avLst/>
          </a:prstGeom>
          <a:noFill/>
          <a:ln/>
        </p:spPr>
        <p:txBody>
          <a:bodyPr wrap="square" lIns="0" tIns="0" rIns="0" bIns="0" rtlCol="0" anchor="t"/>
          <a:lstStyle/>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"Enter an integer: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v1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don't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"Enter a double: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v2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nextDouble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4016411"/>
            <a:ext cx="5346040" cy="1371600"/>
          </a:xfrm>
          <a:prstGeom prst="roundRect">
            <a:avLst>
              <a:gd name="adj" fmla="val 6000"/>
            </a:avLst>
          </a:prstGeom>
          <a:solidFill>
            <a:srgbClr val="FBEEE0"/>
          </a:solidFill>
          <a:ln w="12700">
            <a:solidFill>
              <a:srgbClr val="FBEEE0"/>
            </a:solidFill>
            <a:prstDash val="solid"/>
          </a:ln>
        </p:spPr>
      </p:sp>
      <p:sp>
        <p:nvSpPr>
          <p:cNvPr id="11" name="Text 9"/>
          <p:cNvSpPr txBox="1"/>
          <p:nvPr/>
        </p:nvSpPr>
        <p:spPr>
          <a:xfrm>
            <a:off x="822960" y="4016411"/>
            <a:ext cx="4833976" cy="1371600"/>
          </a:xfrm>
          <a:prstGeom prst="rect">
            <a:avLst/>
          </a:prstGeom>
          <a:noFill/>
          <a:ln/>
        </p:spPr>
        <p:txBody>
          <a:bodyPr wrap="square" lIns="0" tIns="0" rIns="0" bIns="0" rtlCol="0" anchor="ctr"/>
          <a:lstStyle/>
          <a:p>
            <a:pPr indent="0" marL="0">
              <a:lnSpc>
                <a:spcPct val="112000"/>
              </a:lnSpc>
              <a:buNone/>
            </a:pPr>
            <a:r>
              <a:rPr lang="en-US" sz="1250" dirty="0">
                <a:solidFill>
                  <a:srgbClr val="9A430A"/>
                </a:solidFill>
                <a:latin typeface="Calibri" pitchFamily="34" charset="0"/>
                <a:ea typeface="Calibri" pitchFamily="34" charset="-122"/>
                <a:cs typeface="Calibri" pitchFamily="34" charset="-120"/>
              </a:rPr>
              <a:t>Both objects wrap the same keyboard, and each buffers what it reads. Create one Scanner at the top of main and use it for everything.</a:t>
            </a:r>
            <a:endParaRPr lang="en-US" sz="1250" dirty="0"/>
          </a:p>
        </p:txBody>
      </p:sp>
      <p:sp>
        <p:nvSpPr>
          <p:cNvPr id="12" name="Text 10"/>
          <p:cNvSpPr txBox="1"/>
          <p:nvPr/>
        </p:nvSpPr>
        <p:spPr>
          <a:xfrm>
            <a:off x="6278728" y="1536192"/>
            <a:ext cx="5346040" cy="292608"/>
          </a:xfrm>
          <a:prstGeom prst="rect">
            <a:avLst/>
          </a:prstGeom>
          <a:noFill/>
          <a:ln/>
        </p:spPr>
        <p:txBody>
          <a:bodyPr wrap="square" lIns="0" tIns="0" rIns="0" bIns="0" rtlCol="0" anchor="ctr"/>
          <a:lstStyle/>
          <a:p>
            <a:pPr indent="0" marL="0">
              <a:buNone/>
            </a:pPr>
            <a:r>
              <a:rPr lang="en-US" sz="1500" b="1" dirty="0">
                <a:solidFill>
                  <a:srgbClr val="9C241C"/>
                </a:solidFill>
                <a:latin typeface="Calibri" pitchFamily="34" charset="0"/>
                <a:ea typeface="Calibri" pitchFamily="34" charset="-122"/>
                <a:cs typeface="Calibri" pitchFamily="34" charset="-120"/>
              </a:rPr>
              <a:t>Pitfall 2 — nextInt() then nextLine()</a:t>
            </a:r>
            <a:endParaRPr lang="en-US" sz="1500" dirty="0"/>
          </a:p>
        </p:txBody>
      </p:sp>
      <p:sp>
        <p:nvSpPr>
          <p:cNvPr id="13" name="Shape 11"/>
          <p:cNvSpPr/>
          <p:nvPr/>
        </p:nvSpPr>
        <p:spPr>
          <a:xfrm>
            <a:off x="6278728" y="1920240"/>
            <a:ext cx="5346040" cy="1182136"/>
          </a:xfrm>
          <a:prstGeom prst="roundRect">
            <a:avLst>
              <a:gd name="adj" fmla="val 5415"/>
            </a:avLst>
          </a:prstGeom>
          <a:solidFill>
            <a:srgbClr val="EDF2F7"/>
          </a:solidFill>
          <a:ln w="12700">
            <a:solidFill>
              <a:srgbClr val="CFDBE5"/>
            </a:solidFill>
            <a:prstDash val="solid"/>
          </a:ln>
        </p:spPr>
      </p:sp>
      <p:sp>
        <p:nvSpPr>
          <p:cNvPr id="14" name="Text 12"/>
          <p:cNvSpPr txBox="1"/>
          <p:nvPr/>
        </p:nvSpPr>
        <p:spPr>
          <a:xfrm>
            <a:off x="6443320" y="2057400"/>
            <a:ext cx="5016856" cy="980968"/>
          </a:xfrm>
          <a:prstGeom prst="rect">
            <a:avLst/>
          </a:prstGeom>
          <a:noFill/>
          <a:ln/>
        </p:spPr>
        <p:txBody>
          <a:bodyPr wrap="square" lIns="0" tIns="0" rIns="0" bIns="0" rtlCol="0" anchor="t"/>
          <a:lstStyle/>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"Age: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age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"Name: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name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nextLine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reads nothing!</a:t>
            </a:r>
            <a:endParaRPr lang="en-US" sz="1100" dirty="0"/>
          </a:p>
        </p:txBody>
      </p:sp>
      <p:sp>
        <p:nvSpPr>
          <p:cNvPr id="15" name="Shape 13"/>
          <p:cNvSpPr/>
          <p:nvPr/>
        </p:nvSpPr>
        <p:spPr>
          <a:xfrm>
            <a:off x="6278728" y="3376696"/>
            <a:ext cx="5346040" cy="1371600"/>
          </a:xfrm>
          <a:prstGeom prst="roundRect">
            <a:avLst>
              <a:gd name="adj" fmla="val 6000"/>
            </a:avLst>
          </a:prstGeom>
          <a:solidFill>
            <a:srgbClr val="FBEAE8"/>
          </a:solidFill>
          <a:ln w="12700">
            <a:solidFill>
              <a:srgbClr val="FBEAE8"/>
            </a:solidFill>
            <a:prstDash val="solid"/>
          </a:ln>
        </p:spPr>
      </p:sp>
      <p:sp>
        <p:nvSpPr>
          <p:cNvPr id="16" name="Text 14"/>
          <p:cNvSpPr txBox="1"/>
          <p:nvPr/>
        </p:nvSpPr>
        <p:spPr>
          <a:xfrm>
            <a:off x="6534760" y="3376696"/>
            <a:ext cx="4833976" cy="1371600"/>
          </a:xfrm>
          <a:prstGeom prst="rect">
            <a:avLst/>
          </a:prstGeom>
          <a:noFill/>
          <a:ln/>
        </p:spPr>
        <p:txBody>
          <a:bodyPr wrap="square" lIns="0" tIns="0" rIns="0" bIns="0" rtlCol="0" anchor="ctr"/>
          <a:lstStyle/>
          <a:p>
            <a:pPr indent="0" marL="0">
              <a:lnSpc>
                <a:spcPct val="112000"/>
              </a:lnSpc>
              <a:buNone/>
            </a:pPr>
            <a:r>
              <a:rPr lang="en-US" sz="1250" dirty="0">
                <a:solidFill>
                  <a:srgbClr val="9C241C"/>
                </a:solidFill>
                <a:latin typeface="Calibri" pitchFamily="34" charset="0"/>
                <a:ea typeface="Calibri" pitchFamily="34" charset="-122"/>
                <a:cs typeface="Calibri" pitchFamily="34" charset="-120"/>
              </a:rPr>
              <a:t>nextInt() takes the number but leaves the Enter key in the buffer, so the following nextLine() finds it immediately and returns an empty string. Call an extra input.nextLine() to consume it.</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4</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28–32</a:t>
            </a:r>
            <a:endParaRPr lang="en-US" sz="1250" dirty="0"/>
          </a:p>
        </p:txBody>
      </p:sp>
      <p:sp>
        <p:nvSpPr>
          <p:cNvPr id="5" name="Shape 3"/>
          <p:cNvSpPr/>
          <p:nvPr/>
        </p:nvSpPr>
        <p:spPr>
          <a:xfrm>
            <a:off x="566928" y="1725290"/>
            <a:ext cx="11057839" cy="1871228"/>
          </a:xfrm>
          <a:prstGeom prst="roundRect">
            <a:avLst>
              <a:gd name="adj" fmla="val 4398"/>
            </a:avLst>
          </a:prstGeom>
          <a:solidFill>
            <a:srgbClr val="FFFFFF"/>
          </a:solidFill>
          <a:ln w="12700">
            <a:solidFill>
              <a:srgbClr val="D3DEE7"/>
            </a:solidFill>
            <a:prstDash val="solid"/>
          </a:ln>
        </p:spPr>
      </p:sp>
      <p:sp>
        <p:nvSpPr>
          <p:cNvPr id="6" name="Shape 4"/>
          <p:cNvSpPr/>
          <p:nvPr/>
        </p:nvSpPr>
        <p:spPr>
          <a:xfrm>
            <a:off x="841248" y="1963034"/>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96303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889882"/>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This prints 1.0 and the student expected 1.5. Where exactly does it go wrong?</a:t>
            </a:r>
            <a:endParaRPr lang="en-US" sz="1550" dirty="0"/>
          </a:p>
        </p:txBody>
      </p:sp>
      <p:sp>
        <p:nvSpPr>
          <p:cNvPr id="9" name="Shape 7"/>
          <p:cNvSpPr/>
          <p:nvPr/>
        </p:nvSpPr>
        <p:spPr>
          <a:xfrm>
            <a:off x="1435608" y="2365370"/>
            <a:ext cx="6949440" cy="755660"/>
          </a:xfrm>
          <a:prstGeom prst="roundRect">
            <a:avLst>
              <a:gd name="adj" fmla="val 8470"/>
            </a:avLst>
          </a:prstGeom>
          <a:solidFill>
            <a:srgbClr val="EDF2F7"/>
          </a:solidFill>
          <a:ln w="12700">
            <a:solidFill>
              <a:srgbClr val="CFDBE5"/>
            </a:solidFill>
            <a:prstDash val="solid"/>
          </a:ln>
        </p:spPr>
      </p:sp>
      <p:sp>
        <p:nvSpPr>
          <p:cNvPr id="10" name="Text 8"/>
          <p:cNvSpPr txBox="1"/>
          <p:nvPr/>
        </p:nvSpPr>
        <p:spPr>
          <a:xfrm>
            <a:off x="1600200" y="2502530"/>
            <a:ext cx="6620256" cy="55449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average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b</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1" name="Shape 9"/>
          <p:cNvSpPr/>
          <p:nvPr/>
        </p:nvSpPr>
        <p:spPr>
          <a:xfrm>
            <a:off x="566928" y="3815974"/>
            <a:ext cx="11057839" cy="1152144"/>
          </a:xfrm>
          <a:prstGeom prst="roundRect">
            <a:avLst>
              <a:gd name="adj" fmla="val 7143"/>
            </a:avLst>
          </a:prstGeom>
          <a:solidFill>
            <a:srgbClr val="FFFFFF"/>
          </a:solidFill>
          <a:ln w="12700">
            <a:solidFill>
              <a:srgbClr val="D3DEE7"/>
            </a:solidFill>
            <a:prstDash val="solid"/>
          </a:ln>
        </p:spPr>
      </p:sp>
      <p:sp>
        <p:nvSpPr>
          <p:cNvPr id="12" name="Shape 10"/>
          <p:cNvSpPr/>
          <p:nvPr/>
        </p:nvSpPr>
        <p:spPr>
          <a:xfrm>
            <a:off x="841248" y="4053718"/>
            <a:ext cx="402336" cy="402336"/>
          </a:xfrm>
          <a:prstGeom prst="ellipse">
            <a:avLst/>
          </a:prstGeom>
          <a:solidFill>
            <a:srgbClr val="C4560C"/>
          </a:solidFill>
          <a:ln w="12700">
            <a:solidFill>
              <a:srgbClr val="C4560C"/>
            </a:solidFill>
            <a:prstDash val="solid"/>
          </a:ln>
        </p:spPr>
      </p:sp>
      <p:sp>
        <p:nvSpPr>
          <p:cNvPr id="13" name="Text 11"/>
          <p:cNvSpPr txBox="1"/>
          <p:nvPr/>
        </p:nvSpPr>
        <p:spPr>
          <a:xfrm>
            <a:off x="841248" y="405371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4" name="Text 12"/>
          <p:cNvSpPr txBox="1"/>
          <p:nvPr/>
        </p:nvSpPr>
        <p:spPr>
          <a:xfrm>
            <a:off x="1435608" y="3980566"/>
            <a:ext cx="9823399" cy="658368"/>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Which of these compiles?  double d = 3;  ·  int i = 3.0;  ·  int j = (int) 3.9;  ·  float f = 1.5;</a:t>
            </a:r>
            <a:endParaRPr lang="en-US" sz="1550" dirty="0"/>
          </a:p>
        </p:txBody>
      </p:sp>
      <p:sp>
        <p:nvSpPr>
          <p:cNvPr id="15" name="Shape 13"/>
          <p:cNvSpPr/>
          <p:nvPr/>
        </p:nvSpPr>
        <p:spPr>
          <a:xfrm>
            <a:off x="566928" y="5187574"/>
            <a:ext cx="11057839" cy="914400"/>
          </a:xfrm>
          <a:prstGeom prst="roundRect">
            <a:avLst>
              <a:gd name="adj" fmla="val 9000"/>
            </a:avLst>
          </a:prstGeom>
          <a:solidFill>
            <a:srgbClr val="FFFFFF"/>
          </a:solidFill>
          <a:ln w="12700">
            <a:solidFill>
              <a:srgbClr val="D3DEE7"/>
            </a:solidFill>
            <a:prstDash val="solid"/>
          </a:ln>
        </p:spPr>
      </p:sp>
      <p:sp>
        <p:nvSpPr>
          <p:cNvPr id="16" name="Shape 14"/>
          <p:cNvSpPr/>
          <p:nvPr/>
        </p:nvSpPr>
        <p:spPr>
          <a:xfrm>
            <a:off x="841248" y="5425318"/>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42531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352166"/>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does 1.0 − 0.9 print 0.09999999999999998, and what should you use for money instead?</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PRACTICE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Five Programs to Write Before Tuesday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Every one of them uses only what is on today's slides. All five are worked in Liang, Chapter 2.</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34</a:t>
            </a:r>
            <a:endParaRPr lang="en-US" sz="900" dirty="0"/>
          </a:p>
        </p:txBody>
      </p:sp>
      <p:sp>
        <p:nvSpPr>
          <p:cNvPr id="7" name="Shape 5"/>
          <p:cNvSpPr/>
          <p:nvPr/>
        </p:nvSpPr>
        <p:spPr>
          <a:xfrm>
            <a:off x="566928" y="1536192"/>
            <a:ext cx="3551834" cy="1783080"/>
          </a:xfrm>
          <a:prstGeom prst="roundRect">
            <a:avLst>
              <a:gd name="adj" fmla="val 4615"/>
            </a:avLst>
          </a:prstGeom>
          <a:solidFill>
            <a:srgbClr val="F1F5F9"/>
          </a:solidFill>
          <a:ln w="12700">
            <a:solidFill>
              <a:srgbClr val="F1F5F9"/>
            </a:solidFill>
            <a:prstDash val="solid"/>
          </a:ln>
        </p:spPr>
      </p:sp>
      <p:sp>
        <p:nvSpPr>
          <p:cNvPr id="8" name="Shape 6"/>
          <p:cNvSpPr/>
          <p:nvPr/>
        </p:nvSpPr>
        <p:spPr>
          <a:xfrm>
            <a:off x="804672" y="1737360"/>
            <a:ext cx="402336" cy="402336"/>
          </a:xfrm>
          <a:prstGeom prst="ellipse">
            <a:avLst/>
          </a:prstGeom>
          <a:solidFill>
            <a:srgbClr val="C4560C"/>
          </a:solidFill>
          <a:ln w="12700">
            <a:solidFill>
              <a:srgbClr val="C4560C"/>
            </a:solidFill>
            <a:prstDash val="solid"/>
          </a:ln>
        </p:spPr>
      </p:sp>
      <p:sp>
        <p:nvSpPr>
          <p:cNvPr id="9" name="Text 7"/>
          <p:cNvSpPr txBox="1"/>
          <p:nvPr/>
        </p:nvSpPr>
        <p:spPr>
          <a:xfrm>
            <a:off x="804672" y="1737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353312" y="1737360"/>
            <a:ext cx="2545994" cy="402336"/>
          </a:xfrm>
          <a:prstGeom prst="rect">
            <a:avLst/>
          </a:prstGeom>
          <a:noFill/>
          <a:ln/>
        </p:spPr>
        <p:txBody>
          <a:bodyPr wrap="square" lIns="0" tIns="0" rIns="0" bIns="0" rtlCol="0" anchor="ctr"/>
          <a:lstStyle/>
          <a:p>
            <a:pPr indent="0" marL="0">
              <a:buNone/>
            </a:pPr>
            <a:r>
              <a:rPr lang="en-US" sz="1350" b="1" dirty="0">
                <a:solidFill>
                  <a:srgbClr val="0F2942"/>
                </a:solidFill>
                <a:latin typeface="Courier New" pitchFamily="34" charset="0"/>
                <a:ea typeface="Courier New" pitchFamily="34" charset="-122"/>
                <a:cs typeface="Courier New" pitchFamily="34" charset="-120"/>
              </a:rPr>
              <a:t>DisplayTime</a:t>
            </a:r>
            <a:endParaRPr lang="en-US" sz="1350" dirty="0"/>
          </a:p>
        </p:txBody>
      </p:sp>
      <p:sp>
        <p:nvSpPr>
          <p:cNvPr id="11" name="Text 9"/>
          <p:cNvSpPr txBox="1"/>
          <p:nvPr/>
        </p:nvSpPr>
        <p:spPr>
          <a:xfrm>
            <a:off x="822960" y="2249424"/>
            <a:ext cx="3039770" cy="749808"/>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Read a number of seconds and display it as minutes and remaining seconds. 500 seconds is 8 minutes 20 seconds.</a:t>
            </a:r>
            <a:endParaRPr lang="en-US" sz="1150" dirty="0"/>
          </a:p>
        </p:txBody>
      </p:sp>
      <p:sp>
        <p:nvSpPr>
          <p:cNvPr id="12" name="Text 10"/>
          <p:cNvSpPr txBox="1"/>
          <p:nvPr/>
        </p:nvSpPr>
        <p:spPr>
          <a:xfrm>
            <a:off x="822960" y="2999232"/>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 and % on the same pair</a:t>
            </a:r>
            <a:endParaRPr lang="en-US" sz="1100" dirty="0"/>
          </a:p>
        </p:txBody>
      </p:sp>
      <p:sp>
        <p:nvSpPr>
          <p:cNvPr id="13" name="Shape 11"/>
          <p:cNvSpPr/>
          <p:nvPr/>
        </p:nvSpPr>
        <p:spPr>
          <a:xfrm>
            <a:off x="4319930" y="1536192"/>
            <a:ext cx="3551834" cy="1783080"/>
          </a:xfrm>
          <a:prstGeom prst="roundRect">
            <a:avLst>
              <a:gd name="adj" fmla="val 4615"/>
            </a:avLst>
          </a:prstGeom>
          <a:solidFill>
            <a:srgbClr val="FFFFFF"/>
          </a:solidFill>
          <a:ln w="12700">
            <a:solidFill>
              <a:srgbClr val="D3DEE7"/>
            </a:solidFill>
            <a:prstDash val="solid"/>
          </a:ln>
        </p:spPr>
      </p:sp>
      <p:sp>
        <p:nvSpPr>
          <p:cNvPr id="14" name="Shape 12"/>
          <p:cNvSpPr/>
          <p:nvPr/>
        </p:nvSpPr>
        <p:spPr>
          <a:xfrm>
            <a:off x="4557674" y="1737360"/>
            <a:ext cx="402336" cy="402336"/>
          </a:xfrm>
          <a:prstGeom prst="ellipse">
            <a:avLst/>
          </a:prstGeom>
          <a:solidFill>
            <a:srgbClr val="C4560C"/>
          </a:solidFill>
          <a:ln w="12700">
            <a:solidFill>
              <a:srgbClr val="C4560C"/>
            </a:solidFill>
            <a:prstDash val="solid"/>
          </a:ln>
        </p:spPr>
      </p:sp>
      <p:sp>
        <p:nvSpPr>
          <p:cNvPr id="15" name="Text 13"/>
          <p:cNvSpPr txBox="1"/>
          <p:nvPr/>
        </p:nvSpPr>
        <p:spPr>
          <a:xfrm>
            <a:off x="4557674" y="1737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5106314" y="1737360"/>
            <a:ext cx="2545994" cy="402336"/>
          </a:xfrm>
          <a:prstGeom prst="rect">
            <a:avLst/>
          </a:prstGeom>
          <a:noFill/>
          <a:ln/>
        </p:spPr>
        <p:txBody>
          <a:bodyPr wrap="square" lIns="0" tIns="0" rIns="0" bIns="0" rtlCol="0" anchor="ctr"/>
          <a:lstStyle/>
          <a:p>
            <a:pPr indent="0" marL="0">
              <a:buNone/>
            </a:pPr>
            <a:r>
              <a:rPr lang="en-US" sz="1350" b="1" dirty="0">
                <a:solidFill>
                  <a:srgbClr val="0F2942"/>
                </a:solidFill>
                <a:latin typeface="Courier New" pitchFamily="34" charset="0"/>
                <a:ea typeface="Courier New" pitchFamily="34" charset="-122"/>
                <a:cs typeface="Courier New" pitchFamily="34" charset="-120"/>
              </a:rPr>
              <a:t>FahrenheitToCelsius</a:t>
            </a:r>
            <a:endParaRPr lang="en-US" sz="1350" dirty="0"/>
          </a:p>
        </p:txBody>
      </p:sp>
      <p:sp>
        <p:nvSpPr>
          <p:cNvPr id="17" name="Text 15"/>
          <p:cNvSpPr txBox="1"/>
          <p:nvPr/>
        </p:nvSpPr>
        <p:spPr>
          <a:xfrm>
            <a:off x="4575962" y="2249424"/>
            <a:ext cx="3039770" cy="749808"/>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Read a Fahrenheit degree and convert it:  celsius = (5 / 9) × (fahrenheit − 32).</a:t>
            </a:r>
            <a:endParaRPr lang="en-US" sz="1150" dirty="0"/>
          </a:p>
        </p:txBody>
      </p:sp>
      <p:sp>
        <p:nvSpPr>
          <p:cNvPr id="18" name="Text 16"/>
          <p:cNvSpPr txBox="1"/>
          <p:nvPr/>
        </p:nvSpPr>
        <p:spPr>
          <a:xfrm>
            <a:off x="4575962" y="2999232"/>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watch that 5 / 9 carefully</a:t>
            </a:r>
            <a:endParaRPr lang="en-US" sz="1100" dirty="0"/>
          </a:p>
        </p:txBody>
      </p:sp>
      <p:sp>
        <p:nvSpPr>
          <p:cNvPr id="19" name="Shape 17"/>
          <p:cNvSpPr/>
          <p:nvPr/>
        </p:nvSpPr>
        <p:spPr>
          <a:xfrm>
            <a:off x="8072933" y="1536192"/>
            <a:ext cx="3551834" cy="1783080"/>
          </a:xfrm>
          <a:prstGeom prst="roundRect">
            <a:avLst>
              <a:gd name="adj" fmla="val 4615"/>
            </a:avLst>
          </a:prstGeom>
          <a:solidFill>
            <a:srgbClr val="F1F5F9"/>
          </a:solidFill>
          <a:ln w="12700">
            <a:solidFill>
              <a:srgbClr val="F1F5F9"/>
            </a:solidFill>
            <a:prstDash val="solid"/>
          </a:ln>
        </p:spPr>
      </p:sp>
      <p:sp>
        <p:nvSpPr>
          <p:cNvPr id="20" name="Shape 18"/>
          <p:cNvSpPr/>
          <p:nvPr/>
        </p:nvSpPr>
        <p:spPr>
          <a:xfrm>
            <a:off x="8310677" y="1737360"/>
            <a:ext cx="402336" cy="402336"/>
          </a:xfrm>
          <a:prstGeom prst="ellipse">
            <a:avLst/>
          </a:prstGeom>
          <a:solidFill>
            <a:srgbClr val="C4560C"/>
          </a:solidFill>
          <a:ln w="12700">
            <a:solidFill>
              <a:srgbClr val="C4560C"/>
            </a:solidFill>
            <a:prstDash val="solid"/>
          </a:ln>
        </p:spPr>
      </p:sp>
      <p:sp>
        <p:nvSpPr>
          <p:cNvPr id="21" name="Text 19"/>
          <p:cNvSpPr txBox="1"/>
          <p:nvPr/>
        </p:nvSpPr>
        <p:spPr>
          <a:xfrm>
            <a:off x="8310677" y="1737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8859317" y="1737360"/>
            <a:ext cx="2545994" cy="402336"/>
          </a:xfrm>
          <a:prstGeom prst="rect">
            <a:avLst/>
          </a:prstGeom>
          <a:noFill/>
          <a:ln/>
        </p:spPr>
        <p:txBody>
          <a:bodyPr wrap="square" lIns="0" tIns="0" rIns="0" bIns="0" rtlCol="0" anchor="ctr"/>
          <a:lstStyle/>
          <a:p>
            <a:pPr indent="0" marL="0">
              <a:buNone/>
            </a:pPr>
            <a:r>
              <a:rPr lang="en-US" sz="1350" b="1" dirty="0">
                <a:solidFill>
                  <a:srgbClr val="0F2942"/>
                </a:solidFill>
                <a:latin typeface="Courier New" pitchFamily="34" charset="0"/>
                <a:ea typeface="Courier New" pitchFamily="34" charset="-122"/>
                <a:cs typeface="Courier New" pitchFamily="34" charset="-120"/>
              </a:rPr>
              <a:t>ShowCurrentTime</a:t>
            </a:r>
            <a:endParaRPr lang="en-US" sz="1350" dirty="0"/>
          </a:p>
        </p:txBody>
      </p:sp>
      <p:sp>
        <p:nvSpPr>
          <p:cNvPr id="23" name="Text 21"/>
          <p:cNvSpPr txBox="1"/>
          <p:nvPr/>
        </p:nvSpPr>
        <p:spPr>
          <a:xfrm>
            <a:off x="8328965" y="2249424"/>
            <a:ext cx="3039770" cy="749808"/>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Display the current GMT time as hour:minute:second, using System.currentTimeMillis().</a:t>
            </a:r>
            <a:endParaRPr lang="en-US" sz="1150" dirty="0"/>
          </a:p>
        </p:txBody>
      </p:sp>
      <p:sp>
        <p:nvSpPr>
          <p:cNvPr id="24" name="Text 22"/>
          <p:cNvSpPr txBox="1"/>
          <p:nvPr/>
        </p:nvSpPr>
        <p:spPr>
          <a:xfrm>
            <a:off x="8328965" y="2999232"/>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milliseconds since 1 Jan 1970</a:t>
            </a:r>
            <a:endParaRPr lang="en-US" sz="1100" dirty="0"/>
          </a:p>
        </p:txBody>
      </p:sp>
      <p:sp>
        <p:nvSpPr>
          <p:cNvPr id="25" name="Shape 23"/>
          <p:cNvSpPr/>
          <p:nvPr/>
        </p:nvSpPr>
        <p:spPr>
          <a:xfrm>
            <a:off x="566928" y="3502152"/>
            <a:ext cx="3551834" cy="1783080"/>
          </a:xfrm>
          <a:prstGeom prst="roundRect">
            <a:avLst>
              <a:gd name="adj" fmla="val 4615"/>
            </a:avLst>
          </a:prstGeom>
          <a:solidFill>
            <a:srgbClr val="FFFFFF"/>
          </a:solidFill>
          <a:ln w="12700">
            <a:solidFill>
              <a:srgbClr val="D3DEE7"/>
            </a:solidFill>
            <a:prstDash val="solid"/>
          </a:ln>
        </p:spPr>
      </p:sp>
      <p:sp>
        <p:nvSpPr>
          <p:cNvPr id="26" name="Shape 24"/>
          <p:cNvSpPr/>
          <p:nvPr/>
        </p:nvSpPr>
        <p:spPr>
          <a:xfrm>
            <a:off x="804672" y="3703320"/>
            <a:ext cx="402336" cy="402336"/>
          </a:xfrm>
          <a:prstGeom prst="ellipse">
            <a:avLst/>
          </a:prstGeom>
          <a:solidFill>
            <a:srgbClr val="C4560C"/>
          </a:solidFill>
          <a:ln w="12700">
            <a:solidFill>
              <a:srgbClr val="C4560C"/>
            </a:solidFill>
            <a:prstDash val="solid"/>
          </a:ln>
        </p:spPr>
      </p:sp>
      <p:sp>
        <p:nvSpPr>
          <p:cNvPr id="27" name="Text 25"/>
          <p:cNvSpPr txBox="1"/>
          <p:nvPr/>
        </p:nvSpPr>
        <p:spPr>
          <a:xfrm>
            <a:off x="804672" y="3703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txBox="1"/>
          <p:nvPr/>
        </p:nvSpPr>
        <p:spPr>
          <a:xfrm>
            <a:off x="1353312" y="3703320"/>
            <a:ext cx="2545994" cy="402336"/>
          </a:xfrm>
          <a:prstGeom prst="rect">
            <a:avLst/>
          </a:prstGeom>
          <a:noFill/>
          <a:ln/>
        </p:spPr>
        <p:txBody>
          <a:bodyPr wrap="square" lIns="0" tIns="0" rIns="0" bIns="0" rtlCol="0" anchor="ctr"/>
          <a:lstStyle/>
          <a:p>
            <a:pPr indent="0" marL="0">
              <a:buNone/>
            </a:pPr>
            <a:r>
              <a:rPr lang="en-US" sz="1350" b="1" dirty="0">
                <a:solidFill>
                  <a:srgbClr val="0F2942"/>
                </a:solidFill>
                <a:latin typeface="Courier New" pitchFamily="34" charset="0"/>
                <a:ea typeface="Courier New" pitchFamily="34" charset="-122"/>
                <a:cs typeface="Courier New" pitchFamily="34" charset="-120"/>
              </a:rPr>
              <a:t>ComputeLoan</a:t>
            </a:r>
            <a:endParaRPr lang="en-US" sz="1350" dirty="0"/>
          </a:p>
        </p:txBody>
      </p:sp>
      <p:sp>
        <p:nvSpPr>
          <p:cNvPr id="29" name="Text 27"/>
          <p:cNvSpPr txBox="1"/>
          <p:nvPr/>
        </p:nvSpPr>
        <p:spPr>
          <a:xfrm>
            <a:off x="822960" y="4215384"/>
            <a:ext cx="3039770" cy="749808"/>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Read an interest rate, a number of years and a loan amount; show the monthly and total payment.</a:t>
            </a:r>
            <a:endParaRPr lang="en-US" sz="1150" dirty="0"/>
          </a:p>
        </p:txBody>
      </p:sp>
      <p:sp>
        <p:nvSpPr>
          <p:cNvPr id="30" name="Text 28"/>
          <p:cNvSpPr txBox="1"/>
          <p:nvPr/>
        </p:nvSpPr>
        <p:spPr>
          <a:xfrm>
            <a:off x="822960" y="4965192"/>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Math.pow earns its keep</a:t>
            </a:r>
            <a:endParaRPr lang="en-US" sz="1100" dirty="0"/>
          </a:p>
        </p:txBody>
      </p:sp>
      <p:sp>
        <p:nvSpPr>
          <p:cNvPr id="31" name="Shape 29"/>
          <p:cNvSpPr/>
          <p:nvPr/>
        </p:nvSpPr>
        <p:spPr>
          <a:xfrm>
            <a:off x="4319930" y="3502152"/>
            <a:ext cx="3551834" cy="1783080"/>
          </a:xfrm>
          <a:prstGeom prst="roundRect">
            <a:avLst>
              <a:gd name="adj" fmla="val 4615"/>
            </a:avLst>
          </a:prstGeom>
          <a:solidFill>
            <a:srgbClr val="F1F5F9"/>
          </a:solidFill>
          <a:ln w="12700">
            <a:solidFill>
              <a:srgbClr val="F1F5F9"/>
            </a:solidFill>
            <a:prstDash val="solid"/>
          </a:ln>
        </p:spPr>
      </p:sp>
      <p:sp>
        <p:nvSpPr>
          <p:cNvPr id="32" name="Shape 30"/>
          <p:cNvSpPr/>
          <p:nvPr/>
        </p:nvSpPr>
        <p:spPr>
          <a:xfrm>
            <a:off x="4557674" y="3703320"/>
            <a:ext cx="402336" cy="402336"/>
          </a:xfrm>
          <a:prstGeom prst="ellipse">
            <a:avLst/>
          </a:prstGeom>
          <a:solidFill>
            <a:srgbClr val="C4560C"/>
          </a:solidFill>
          <a:ln w="12700">
            <a:solidFill>
              <a:srgbClr val="C4560C"/>
            </a:solidFill>
            <a:prstDash val="solid"/>
          </a:ln>
        </p:spPr>
      </p:sp>
      <p:sp>
        <p:nvSpPr>
          <p:cNvPr id="33" name="Text 31"/>
          <p:cNvSpPr txBox="1"/>
          <p:nvPr/>
        </p:nvSpPr>
        <p:spPr>
          <a:xfrm>
            <a:off x="4557674" y="3703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32"/>
          <p:cNvSpPr txBox="1"/>
          <p:nvPr/>
        </p:nvSpPr>
        <p:spPr>
          <a:xfrm>
            <a:off x="5106314" y="3703320"/>
            <a:ext cx="2545994" cy="402336"/>
          </a:xfrm>
          <a:prstGeom prst="rect">
            <a:avLst/>
          </a:prstGeom>
          <a:noFill/>
          <a:ln/>
        </p:spPr>
        <p:txBody>
          <a:bodyPr wrap="square" lIns="0" tIns="0" rIns="0" bIns="0" rtlCol="0" anchor="ctr"/>
          <a:lstStyle/>
          <a:p>
            <a:pPr indent="0" marL="0">
              <a:buNone/>
            </a:pPr>
            <a:r>
              <a:rPr lang="en-US" sz="1350" b="1" dirty="0">
                <a:solidFill>
                  <a:srgbClr val="0F2942"/>
                </a:solidFill>
                <a:latin typeface="Courier New" pitchFamily="34" charset="0"/>
                <a:ea typeface="Courier New" pitchFamily="34" charset="-122"/>
                <a:cs typeface="Courier New" pitchFamily="34" charset="-120"/>
              </a:rPr>
              <a:t>ComputeChange</a:t>
            </a:r>
            <a:endParaRPr lang="en-US" sz="1350" dirty="0"/>
          </a:p>
        </p:txBody>
      </p:sp>
      <p:sp>
        <p:nvSpPr>
          <p:cNvPr id="35" name="Text 33"/>
          <p:cNvSpPr txBox="1"/>
          <p:nvPr/>
        </p:nvSpPr>
        <p:spPr>
          <a:xfrm>
            <a:off x="4575962" y="4215384"/>
            <a:ext cx="3039770" cy="749808"/>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Read an amount in dollars and cents; report it as dollars, quarters, dimes, nickels and pennies.</a:t>
            </a:r>
            <a:endParaRPr lang="en-US" sz="1150" dirty="0"/>
          </a:p>
        </p:txBody>
      </p:sp>
      <p:sp>
        <p:nvSpPr>
          <p:cNvPr id="36" name="Text 34"/>
          <p:cNvSpPr txBox="1"/>
          <p:nvPr/>
        </p:nvSpPr>
        <p:spPr>
          <a:xfrm>
            <a:off x="4575962" y="4965192"/>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 again, five times over</a:t>
            </a:r>
            <a:endParaRPr lang="en-US" sz="1100" dirty="0"/>
          </a:p>
        </p:txBody>
      </p:sp>
      <p:sp>
        <p:nvSpPr>
          <p:cNvPr id="37" name="Shape 35"/>
          <p:cNvSpPr/>
          <p:nvPr/>
        </p:nvSpPr>
        <p:spPr>
          <a:xfrm>
            <a:off x="8072933" y="3502152"/>
            <a:ext cx="3551834" cy="1783080"/>
          </a:xfrm>
          <a:prstGeom prst="roundRect">
            <a:avLst>
              <a:gd name="adj" fmla="val 4615"/>
            </a:avLst>
          </a:prstGeom>
          <a:solidFill>
            <a:srgbClr val="FBEEE0"/>
          </a:solidFill>
          <a:ln w="12700">
            <a:solidFill>
              <a:srgbClr val="FBEEE0"/>
            </a:solidFill>
            <a:prstDash val="solid"/>
          </a:ln>
        </p:spPr>
      </p:sp>
      <p:sp>
        <p:nvSpPr>
          <p:cNvPr id="38" name="Text 36"/>
          <p:cNvSpPr txBox="1"/>
          <p:nvPr/>
        </p:nvSpPr>
        <p:spPr>
          <a:xfrm>
            <a:off x="8328965" y="3666744"/>
            <a:ext cx="3039770" cy="292608"/>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A hint for 2 and 4</a:t>
            </a:r>
            <a:endParaRPr lang="en-US" sz="1350" dirty="0"/>
          </a:p>
        </p:txBody>
      </p:sp>
      <p:sp>
        <p:nvSpPr>
          <p:cNvPr id="39" name="Text 37"/>
          <p:cNvSpPr txBox="1"/>
          <p:nvPr/>
        </p:nvSpPr>
        <p:spPr>
          <a:xfrm>
            <a:off x="8328965" y="4005072"/>
            <a:ext cx="3039770" cy="1051560"/>
          </a:xfrm>
          <a:prstGeom prst="rect">
            <a:avLst/>
          </a:prstGeom>
          <a:noFill/>
          <a:ln/>
        </p:spPr>
        <p:txBody>
          <a:bodyPr wrap="square" lIns="0" tIns="0" rIns="0" bIns="0" rtlCol="0" anchor="t"/>
          <a:lstStyle/>
          <a:p>
            <a:pPr indent="0" marL="0">
              <a:lnSpc>
                <a:spcPct val="112000"/>
              </a:lnSpc>
              <a:buNone/>
            </a:pPr>
            <a:r>
              <a:rPr lang="en-US" sz="1150" dirty="0">
                <a:solidFill>
                  <a:srgbClr val="3A536B"/>
                </a:solidFill>
                <a:latin typeface="Calibri" pitchFamily="34" charset="0"/>
                <a:ea typeface="Calibri" pitchFamily="34" charset="-122"/>
                <a:cs typeface="Calibri" pitchFamily="34" charset="-120"/>
              </a:rPr>
              <a:t>Both formulas contain a fraction of two whole numbers. Write 5.0 / 9, not 5 / 9 — otherwise every temperature you convert comes out at 32 degrees and every loan is free.</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WRAP-UP</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Six Things to Take Away from Today</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66928" y="1261872"/>
            <a:ext cx="5391760" cy="1143000"/>
          </a:xfrm>
          <a:prstGeom prst="roundRect">
            <a:avLst>
              <a:gd name="adj" fmla="val 7200"/>
            </a:avLst>
          </a:prstGeom>
          <a:solidFill>
            <a:srgbClr val="F1F5F9"/>
          </a:solidFill>
          <a:ln w="12700">
            <a:solidFill>
              <a:srgbClr val="F1F5F9"/>
            </a:solidFill>
            <a:prstDash val="solid"/>
          </a:ln>
        </p:spPr>
      </p:sp>
      <p:sp>
        <p:nvSpPr>
          <p:cNvPr id="7" name="Shape 5"/>
          <p:cNvSpPr/>
          <p:nvPr/>
        </p:nvSpPr>
        <p:spPr>
          <a:xfrm>
            <a:off x="804672" y="1481328"/>
            <a:ext cx="402336" cy="402336"/>
          </a:xfrm>
          <a:prstGeom prst="ellipse">
            <a:avLst/>
          </a:prstGeom>
          <a:solidFill>
            <a:srgbClr val="C4560C"/>
          </a:solidFill>
          <a:ln w="12700">
            <a:solidFill>
              <a:srgbClr val="C4560C"/>
            </a:solidFill>
            <a:prstDash val="solid"/>
          </a:ln>
        </p:spPr>
      </p:sp>
      <p:sp>
        <p:nvSpPr>
          <p:cNvPr id="8" name="Text 6"/>
          <p:cNvSpPr txBox="1"/>
          <p:nvPr/>
        </p:nvSpPr>
        <p:spPr>
          <a:xfrm>
            <a:off x="804672" y="14813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71600" y="1389888"/>
            <a:ext cx="4340200" cy="310896"/>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int and double are your defaults</a:t>
            </a:r>
            <a:endParaRPr lang="en-US" sz="1350" dirty="0"/>
          </a:p>
        </p:txBody>
      </p:sp>
      <p:sp>
        <p:nvSpPr>
          <p:cNvPr id="10" name="Text 8"/>
          <p:cNvSpPr txBox="1"/>
          <p:nvPr/>
        </p:nvSpPr>
        <p:spPr>
          <a:xfrm>
            <a:off x="1371600" y="1719072"/>
            <a:ext cx="4340200" cy="603504"/>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The other four numeric types exist for reasons you do not have yet. Pick int for whole numbers, double for the rest.</a:t>
            </a:r>
            <a:endParaRPr lang="en-US" sz="1150" dirty="0"/>
          </a:p>
        </p:txBody>
      </p:sp>
      <p:sp>
        <p:nvSpPr>
          <p:cNvPr id="11" name="Shape 9"/>
          <p:cNvSpPr/>
          <p:nvPr/>
        </p:nvSpPr>
        <p:spPr>
          <a:xfrm>
            <a:off x="6233008" y="1261872"/>
            <a:ext cx="5391760" cy="1143000"/>
          </a:xfrm>
          <a:prstGeom prst="roundRect">
            <a:avLst>
              <a:gd name="adj" fmla="val 7200"/>
            </a:avLst>
          </a:prstGeom>
          <a:solidFill>
            <a:srgbClr val="FFFFFF"/>
          </a:solidFill>
          <a:ln w="12700">
            <a:solidFill>
              <a:srgbClr val="D3DEE7"/>
            </a:solidFill>
            <a:prstDash val="solid"/>
          </a:ln>
        </p:spPr>
      </p:sp>
      <p:sp>
        <p:nvSpPr>
          <p:cNvPr id="12" name="Shape 10"/>
          <p:cNvSpPr/>
          <p:nvPr/>
        </p:nvSpPr>
        <p:spPr>
          <a:xfrm>
            <a:off x="6470752" y="1481328"/>
            <a:ext cx="402336" cy="402336"/>
          </a:xfrm>
          <a:prstGeom prst="ellipse">
            <a:avLst/>
          </a:prstGeom>
          <a:solidFill>
            <a:srgbClr val="C4560C"/>
          </a:solidFill>
          <a:ln w="12700">
            <a:solidFill>
              <a:srgbClr val="C4560C"/>
            </a:solidFill>
            <a:prstDash val="solid"/>
          </a:ln>
        </p:spPr>
      </p:sp>
      <p:sp>
        <p:nvSpPr>
          <p:cNvPr id="13" name="Text 11"/>
          <p:cNvSpPr txBox="1"/>
          <p:nvPr/>
        </p:nvSpPr>
        <p:spPr>
          <a:xfrm>
            <a:off x="6470752" y="14813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037680" y="1389888"/>
            <a:ext cx="4340200" cy="310896"/>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Integer division truncates</a:t>
            </a:r>
            <a:endParaRPr lang="en-US" sz="1350" dirty="0"/>
          </a:p>
        </p:txBody>
      </p:sp>
      <p:sp>
        <p:nvSpPr>
          <p:cNvPr id="15" name="Text 13"/>
          <p:cNvSpPr txBox="1"/>
          <p:nvPr/>
        </p:nvSpPr>
        <p:spPr>
          <a:xfrm>
            <a:off x="7037680" y="1719072"/>
            <a:ext cx="4340200" cy="603504"/>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5 / 2 is 2. Not 2.5, not 3. If either side has a decimal point you get real division.</a:t>
            </a:r>
            <a:endParaRPr lang="en-US" sz="1150" dirty="0"/>
          </a:p>
        </p:txBody>
      </p:sp>
      <p:sp>
        <p:nvSpPr>
          <p:cNvPr id="16" name="Shape 14"/>
          <p:cNvSpPr/>
          <p:nvPr/>
        </p:nvSpPr>
        <p:spPr>
          <a:xfrm>
            <a:off x="566928" y="2542032"/>
            <a:ext cx="5391760" cy="1143000"/>
          </a:xfrm>
          <a:prstGeom prst="roundRect">
            <a:avLst>
              <a:gd name="adj" fmla="val 7200"/>
            </a:avLst>
          </a:prstGeom>
          <a:solidFill>
            <a:srgbClr val="F1F5F9"/>
          </a:solidFill>
          <a:ln w="12700">
            <a:solidFill>
              <a:srgbClr val="F1F5F9"/>
            </a:solidFill>
            <a:prstDash val="solid"/>
          </a:ln>
        </p:spPr>
      </p:sp>
      <p:sp>
        <p:nvSpPr>
          <p:cNvPr id="17" name="Shape 15"/>
          <p:cNvSpPr/>
          <p:nvPr/>
        </p:nvSpPr>
        <p:spPr>
          <a:xfrm>
            <a:off x="804672" y="2761488"/>
            <a:ext cx="402336" cy="402336"/>
          </a:xfrm>
          <a:prstGeom prst="ellipse">
            <a:avLst/>
          </a:prstGeom>
          <a:solidFill>
            <a:srgbClr val="C4560C"/>
          </a:solidFill>
          <a:ln w="12700">
            <a:solidFill>
              <a:srgbClr val="C4560C"/>
            </a:solidFill>
            <a:prstDash val="solid"/>
          </a:ln>
        </p:spPr>
      </p:sp>
      <p:sp>
        <p:nvSpPr>
          <p:cNvPr id="18" name="Text 16"/>
          <p:cNvSpPr txBox="1"/>
          <p:nvPr/>
        </p:nvSpPr>
        <p:spPr>
          <a:xfrm>
            <a:off x="804672" y="276148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371600" y="2670048"/>
            <a:ext cx="4340200" cy="310896"/>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Declaring a double does not fix the arithmetic</a:t>
            </a:r>
            <a:endParaRPr lang="en-US" sz="1350" dirty="0"/>
          </a:p>
        </p:txBody>
      </p:sp>
      <p:sp>
        <p:nvSpPr>
          <p:cNvPr id="20" name="Text 18"/>
          <p:cNvSpPr txBox="1"/>
          <p:nvPr/>
        </p:nvSpPr>
        <p:spPr>
          <a:xfrm>
            <a:off x="1371600" y="2999232"/>
            <a:ext cx="4340200" cy="603504"/>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The right-hand side is evaluated on its own terms before anything is stored.</a:t>
            </a:r>
            <a:endParaRPr lang="en-US" sz="1150" dirty="0"/>
          </a:p>
        </p:txBody>
      </p:sp>
      <p:sp>
        <p:nvSpPr>
          <p:cNvPr id="21" name="Shape 19"/>
          <p:cNvSpPr/>
          <p:nvPr/>
        </p:nvSpPr>
        <p:spPr>
          <a:xfrm>
            <a:off x="6233008" y="2542032"/>
            <a:ext cx="5391760" cy="1143000"/>
          </a:xfrm>
          <a:prstGeom prst="roundRect">
            <a:avLst>
              <a:gd name="adj" fmla="val 7200"/>
            </a:avLst>
          </a:prstGeom>
          <a:solidFill>
            <a:srgbClr val="FFFFFF"/>
          </a:solidFill>
          <a:ln w="12700">
            <a:solidFill>
              <a:srgbClr val="D3DEE7"/>
            </a:solidFill>
            <a:prstDash val="solid"/>
          </a:ln>
        </p:spPr>
      </p:sp>
      <p:sp>
        <p:nvSpPr>
          <p:cNvPr id="22" name="Shape 20"/>
          <p:cNvSpPr/>
          <p:nvPr/>
        </p:nvSpPr>
        <p:spPr>
          <a:xfrm>
            <a:off x="6470752" y="2761488"/>
            <a:ext cx="402336" cy="402336"/>
          </a:xfrm>
          <a:prstGeom prst="ellipse">
            <a:avLst/>
          </a:prstGeom>
          <a:solidFill>
            <a:srgbClr val="C4560C"/>
          </a:solidFill>
          <a:ln w="12700">
            <a:solidFill>
              <a:srgbClr val="C4560C"/>
            </a:solidFill>
            <a:prstDash val="solid"/>
          </a:ln>
        </p:spPr>
      </p:sp>
      <p:sp>
        <p:nvSpPr>
          <p:cNvPr id="23" name="Text 21"/>
          <p:cNvSpPr txBox="1"/>
          <p:nvPr/>
        </p:nvSpPr>
        <p:spPr>
          <a:xfrm>
            <a:off x="6470752" y="276148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037680" y="2670048"/>
            <a:ext cx="4340200" cy="310896"/>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Widening is free, narrowing needs a cast</a:t>
            </a:r>
            <a:endParaRPr lang="en-US" sz="1350" dirty="0"/>
          </a:p>
        </p:txBody>
      </p:sp>
      <p:sp>
        <p:nvSpPr>
          <p:cNvPr id="25" name="Text 23"/>
          <p:cNvSpPr txBox="1"/>
          <p:nvPr/>
        </p:nvSpPr>
        <p:spPr>
          <a:xfrm>
            <a:off x="7037680" y="2999232"/>
            <a:ext cx="4340200" cy="603504"/>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byte → short → int → long → float → double happens by itself; anything backwards you must ask for.</a:t>
            </a:r>
            <a:endParaRPr lang="en-US" sz="1150" dirty="0"/>
          </a:p>
        </p:txBody>
      </p:sp>
      <p:sp>
        <p:nvSpPr>
          <p:cNvPr id="26" name="Shape 24"/>
          <p:cNvSpPr/>
          <p:nvPr/>
        </p:nvSpPr>
        <p:spPr>
          <a:xfrm>
            <a:off x="566928" y="3822192"/>
            <a:ext cx="5391760" cy="1143000"/>
          </a:xfrm>
          <a:prstGeom prst="roundRect">
            <a:avLst>
              <a:gd name="adj" fmla="val 7200"/>
            </a:avLst>
          </a:prstGeom>
          <a:solidFill>
            <a:srgbClr val="F1F5F9"/>
          </a:solidFill>
          <a:ln w="12700">
            <a:solidFill>
              <a:srgbClr val="F1F5F9"/>
            </a:solidFill>
            <a:prstDash val="solid"/>
          </a:ln>
        </p:spPr>
      </p:sp>
      <p:sp>
        <p:nvSpPr>
          <p:cNvPr id="27" name="Shape 25"/>
          <p:cNvSpPr/>
          <p:nvPr/>
        </p:nvSpPr>
        <p:spPr>
          <a:xfrm>
            <a:off x="804672" y="4041648"/>
            <a:ext cx="402336" cy="402336"/>
          </a:xfrm>
          <a:prstGeom prst="ellipse">
            <a:avLst/>
          </a:prstGeom>
          <a:solidFill>
            <a:srgbClr val="C4560C"/>
          </a:solidFill>
          <a:ln w="12700">
            <a:solidFill>
              <a:srgbClr val="C4560C"/>
            </a:solidFill>
            <a:prstDash val="solid"/>
          </a:ln>
        </p:spPr>
      </p:sp>
      <p:sp>
        <p:nvSpPr>
          <p:cNvPr id="28" name="Text 26"/>
          <p:cNvSpPr txBox="1"/>
          <p:nvPr/>
        </p:nvSpPr>
        <p:spPr>
          <a:xfrm>
            <a:off x="804672" y="40416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1371600" y="3950208"/>
            <a:ext cx="4340200" cy="310896"/>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Augmented assignment hides a cast</a:t>
            </a:r>
            <a:endParaRPr lang="en-US" sz="1350" dirty="0"/>
          </a:p>
        </p:txBody>
      </p:sp>
      <p:sp>
        <p:nvSpPr>
          <p:cNvPr id="30" name="Text 28"/>
          <p:cNvSpPr txBox="1"/>
          <p:nvPr/>
        </p:nvSpPr>
        <p:spPr>
          <a:xfrm>
            <a:off x="1371600" y="4279392"/>
            <a:ext cx="4340200" cy="603504"/>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sum += 4.5 means sum = (int)(sum + 4.5). Convenient, and occasionally a trap.</a:t>
            </a:r>
            <a:endParaRPr lang="en-US" sz="1150" dirty="0"/>
          </a:p>
        </p:txBody>
      </p:sp>
      <p:sp>
        <p:nvSpPr>
          <p:cNvPr id="31" name="Shape 29"/>
          <p:cNvSpPr/>
          <p:nvPr/>
        </p:nvSpPr>
        <p:spPr>
          <a:xfrm>
            <a:off x="6233008" y="3822192"/>
            <a:ext cx="5391760" cy="1143000"/>
          </a:xfrm>
          <a:prstGeom prst="roundRect">
            <a:avLst>
              <a:gd name="adj" fmla="val 7200"/>
            </a:avLst>
          </a:prstGeom>
          <a:solidFill>
            <a:srgbClr val="FFFFFF"/>
          </a:solidFill>
          <a:ln w="12700">
            <a:solidFill>
              <a:srgbClr val="D3DEE7"/>
            </a:solidFill>
            <a:prstDash val="solid"/>
          </a:ln>
        </p:spPr>
      </p:sp>
      <p:sp>
        <p:nvSpPr>
          <p:cNvPr id="32" name="Shape 30"/>
          <p:cNvSpPr/>
          <p:nvPr/>
        </p:nvSpPr>
        <p:spPr>
          <a:xfrm>
            <a:off x="6470752" y="4041648"/>
            <a:ext cx="402336" cy="402336"/>
          </a:xfrm>
          <a:prstGeom prst="ellipse">
            <a:avLst/>
          </a:prstGeom>
          <a:solidFill>
            <a:srgbClr val="C4560C"/>
          </a:solidFill>
          <a:ln w="12700">
            <a:solidFill>
              <a:srgbClr val="C4560C"/>
            </a:solidFill>
            <a:prstDash val="solid"/>
          </a:ln>
        </p:spPr>
      </p:sp>
      <p:sp>
        <p:nvSpPr>
          <p:cNvPr id="33" name="Text 31"/>
          <p:cNvSpPr txBox="1"/>
          <p:nvPr/>
        </p:nvSpPr>
        <p:spPr>
          <a:xfrm>
            <a:off x="6470752" y="40416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7037680" y="3950208"/>
            <a:ext cx="4340200" cy="310896"/>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Floating point is approximate</a:t>
            </a:r>
            <a:endParaRPr lang="en-US" sz="1350" dirty="0"/>
          </a:p>
        </p:txBody>
      </p:sp>
      <p:sp>
        <p:nvSpPr>
          <p:cNvPr id="35" name="Text 33"/>
          <p:cNvSpPr txBox="1"/>
          <p:nvPr/>
        </p:nvSpPr>
        <p:spPr>
          <a:xfrm>
            <a:off x="7037680" y="4279392"/>
            <a:ext cx="4340200" cy="603504"/>
          </a:xfrm>
          <a:prstGeom prst="rect">
            <a:avLst/>
          </a:prstGeom>
          <a:noFill/>
          <a:ln/>
        </p:spPr>
        <p:txBody>
          <a:bodyPr wrap="square" lIns="0" tIns="0" rIns="0" bIns="0" rtlCol="0" anchor="t"/>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0.1 is not exactly 0.1. Never compare doubles with ==, and never store money in one.</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NEXT STEPS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Before Tuesday, 15 September</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66928" y="1353312"/>
            <a:ext cx="5346040" cy="914400"/>
          </a:xfrm>
          <a:prstGeom prst="roundRect">
            <a:avLst>
              <a:gd name="adj" fmla="val 9000"/>
            </a:avLst>
          </a:prstGeom>
          <a:solidFill>
            <a:srgbClr val="F1F5F9"/>
          </a:solidFill>
          <a:ln w="12700">
            <a:solidFill>
              <a:srgbClr val="F1F5F9"/>
            </a:solidFill>
            <a:prstDash val="solid"/>
          </a:ln>
        </p:spPr>
      </p:sp>
      <p:sp>
        <p:nvSpPr>
          <p:cNvPr id="7" name="Shape 5"/>
          <p:cNvSpPr/>
          <p:nvPr/>
        </p:nvSpPr>
        <p:spPr>
          <a:xfrm>
            <a:off x="804672" y="1618488"/>
            <a:ext cx="384048" cy="384048"/>
          </a:xfrm>
          <a:prstGeom prst="ellipse">
            <a:avLst/>
          </a:prstGeom>
          <a:solidFill>
            <a:srgbClr val="176240"/>
          </a:solidFill>
          <a:ln w="12700">
            <a:solidFill>
              <a:srgbClr val="176240"/>
            </a:solidFill>
            <a:prstDash val="solid"/>
          </a:ln>
        </p:spPr>
      </p:sp>
      <p:sp>
        <p:nvSpPr>
          <p:cNvPr id="8" name="Text 6"/>
          <p:cNvSpPr txBox="1"/>
          <p:nvPr/>
        </p:nvSpPr>
        <p:spPr>
          <a:xfrm>
            <a:off x="804672" y="1618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1353312" y="1481328"/>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Finish the software setup</a:t>
            </a:r>
            <a:endParaRPr lang="en-US" sz="1350" dirty="0"/>
          </a:p>
        </p:txBody>
      </p:sp>
      <p:sp>
        <p:nvSpPr>
          <p:cNvPr id="10" name="Text 8"/>
          <p:cNvSpPr txBox="1"/>
          <p:nvPr/>
        </p:nvSpPr>
        <p:spPr>
          <a:xfrm>
            <a:off x="1353312" y="1773936"/>
            <a:ext cx="4321912" cy="402336"/>
          </a:xfrm>
          <a:prstGeom prst="rect">
            <a:avLst/>
          </a:prstGeom>
          <a:noFill/>
          <a:ln/>
        </p:spPr>
        <p:txBody>
          <a:bodyPr wrap="square" lIns="0" tIns="0" rIns="0" bIns="0" rtlCol="0" anchor="t"/>
          <a:lstStyle/>
          <a:p>
            <a:pPr indent="0" marL="0">
              <a:buNone/>
            </a:pPr>
            <a:r>
              <a:rPr lang="en-US" sz="1150" dirty="0">
                <a:solidFill>
                  <a:srgbClr val="3A536B"/>
                </a:solidFill>
                <a:latin typeface="Calibri" pitchFamily="34" charset="0"/>
                <a:ea typeface="Calibri" pitchFamily="34" charset="-122"/>
                <a:cs typeface="Calibri" pitchFamily="34" charset="-120"/>
              </a:rPr>
              <a:t>JDK 25 and IntelliJ, if you have not already. javac -version must answer 25.</a:t>
            </a:r>
            <a:endParaRPr lang="en-US" sz="1150" dirty="0"/>
          </a:p>
        </p:txBody>
      </p:sp>
      <p:sp>
        <p:nvSpPr>
          <p:cNvPr id="11" name="Shape 9"/>
          <p:cNvSpPr/>
          <p:nvPr/>
        </p:nvSpPr>
        <p:spPr>
          <a:xfrm>
            <a:off x="566928" y="2340864"/>
            <a:ext cx="5346040" cy="914400"/>
          </a:xfrm>
          <a:prstGeom prst="roundRect">
            <a:avLst>
              <a:gd name="adj" fmla="val 9000"/>
            </a:avLst>
          </a:prstGeom>
          <a:solidFill>
            <a:srgbClr val="FFFFFF"/>
          </a:solidFill>
          <a:ln w="12700">
            <a:solidFill>
              <a:srgbClr val="D3DEE7"/>
            </a:solidFill>
            <a:prstDash val="solid"/>
          </a:ln>
        </p:spPr>
      </p:sp>
      <p:sp>
        <p:nvSpPr>
          <p:cNvPr id="12" name="Shape 10"/>
          <p:cNvSpPr/>
          <p:nvPr/>
        </p:nvSpPr>
        <p:spPr>
          <a:xfrm>
            <a:off x="804672" y="2606040"/>
            <a:ext cx="384048" cy="384048"/>
          </a:xfrm>
          <a:prstGeom prst="ellipse">
            <a:avLst/>
          </a:prstGeom>
          <a:solidFill>
            <a:srgbClr val="176240"/>
          </a:solidFill>
          <a:ln w="12700">
            <a:solidFill>
              <a:srgbClr val="176240"/>
            </a:solidFill>
            <a:prstDash val="solid"/>
          </a:ln>
        </p:spPr>
      </p:sp>
      <p:sp>
        <p:nvSpPr>
          <p:cNvPr id="13" name="Text 11"/>
          <p:cNvSpPr txBox="1"/>
          <p:nvPr/>
        </p:nvSpPr>
        <p:spPr>
          <a:xfrm>
            <a:off x="804672" y="2606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1353312" y="2468880"/>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Write the five practice programs</a:t>
            </a:r>
            <a:endParaRPr lang="en-US" sz="1350" dirty="0"/>
          </a:p>
        </p:txBody>
      </p:sp>
      <p:sp>
        <p:nvSpPr>
          <p:cNvPr id="15" name="Text 13"/>
          <p:cNvSpPr txBox="1"/>
          <p:nvPr/>
        </p:nvSpPr>
        <p:spPr>
          <a:xfrm>
            <a:off x="1353312" y="2761488"/>
            <a:ext cx="4321912" cy="402336"/>
          </a:xfrm>
          <a:prstGeom prst="rect">
            <a:avLst/>
          </a:prstGeom>
          <a:noFill/>
          <a:ln/>
        </p:spPr>
        <p:txBody>
          <a:bodyPr wrap="square" lIns="0" tIns="0" rIns="0" bIns="0" rtlCol="0" anchor="t"/>
          <a:lstStyle/>
          <a:p>
            <a:pPr indent="0" marL="0">
              <a:buNone/>
            </a:pPr>
            <a:r>
              <a:rPr lang="en-US" sz="1150" dirty="0">
                <a:solidFill>
                  <a:srgbClr val="3A536B"/>
                </a:solidFill>
                <a:latin typeface="Calibri" pitchFamily="34" charset="0"/>
                <a:ea typeface="Calibri" pitchFamily="34" charset="-122"/>
                <a:cs typeface="Calibri" pitchFamily="34" charset="-120"/>
              </a:rPr>
              <a:t>Type them. Run them. Break one on purpose and read the message.</a:t>
            </a:r>
            <a:endParaRPr lang="en-US" sz="1150" dirty="0"/>
          </a:p>
        </p:txBody>
      </p:sp>
      <p:sp>
        <p:nvSpPr>
          <p:cNvPr id="16" name="Shape 14"/>
          <p:cNvSpPr/>
          <p:nvPr/>
        </p:nvSpPr>
        <p:spPr>
          <a:xfrm>
            <a:off x="566928" y="3328416"/>
            <a:ext cx="5346040" cy="914400"/>
          </a:xfrm>
          <a:prstGeom prst="roundRect">
            <a:avLst>
              <a:gd name="adj" fmla="val 9000"/>
            </a:avLst>
          </a:prstGeom>
          <a:solidFill>
            <a:srgbClr val="F1F5F9"/>
          </a:solidFill>
          <a:ln w="12700">
            <a:solidFill>
              <a:srgbClr val="F1F5F9"/>
            </a:solidFill>
            <a:prstDash val="solid"/>
          </a:ln>
        </p:spPr>
      </p:sp>
      <p:sp>
        <p:nvSpPr>
          <p:cNvPr id="17" name="Shape 15"/>
          <p:cNvSpPr/>
          <p:nvPr/>
        </p:nvSpPr>
        <p:spPr>
          <a:xfrm>
            <a:off x="804672" y="3593592"/>
            <a:ext cx="384048" cy="384048"/>
          </a:xfrm>
          <a:prstGeom prst="ellipse">
            <a:avLst/>
          </a:prstGeom>
          <a:solidFill>
            <a:srgbClr val="176240"/>
          </a:solidFill>
          <a:ln w="12700">
            <a:solidFill>
              <a:srgbClr val="176240"/>
            </a:solidFill>
            <a:prstDash val="solid"/>
          </a:ln>
        </p:spPr>
      </p:sp>
      <p:sp>
        <p:nvSpPr>
          <p:cNvPr id="18" name="Text 16"/>
          <p:cNvSpPr txBox="1"/>
          <p:nvPr/>
        </p:nvSpPr>
        <p:spPr>
          <a:xfrm>
            <a:off x="804672" y="3593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1353312" y="3456432"/>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Read Liang, Chapter 2</a:t>
            </a:r>
            <a:endParaRPr lang="en-US" sz="1350" dirty="0"/>
          </a:p>
        </p:txBody>
      </p:sp>
      <p:sp>
        <p:nvSpPr>
          <p:cNvPr id="20" name="Text 18"/>
          <p:cNvSpPr txBox="1"/>
          <p:nvPr/>
        </p:nvSpPr>
        <p:spPr>
          <a:xfrm>
            <a:off x="1353312" y="3749040"/>
            <a:ext cx="4321912" cy="402336"/>
          </a:xfrm>
          <a:prstGeom prst="rect">
            <a:avLst/>
          </a:prstGeom>
          <a:noFill/>
          <a:ln/>
        </p:spPr>
        <p:txBody>
          <a:bodyPr wrap="square" lIns="0" tIns="0" rIns="0" bIns="0" rtlCol="0" anchor="t"/>
          <a:lstStyle/>
          <a:p>
            <a:pPr indent="0" marL="0">
              <a:buNone/>
            </a:pPr>
            <a:r>
              <a:rPr lang="en-US" sz="1150" dirty="0">
                <a:solidFill>
                  <a:srgbClr val="3A536B"/>
                </a:solidFill>
                <a:latin typeface="Calibri" pitchFamily="34" charset="0"/>
                <a:ea typeface="Calibri" pitchFamily="34" charset="-122"/>
                <a:cs typeface="Calibri" pitchFamily="34" charset="-120"/>
              </a:rPr>
              <a:t>Sections 2.1 to 2.17. The chapter review questions are good quiz preparation.</a:t>
            </a:r>
            <a:endParaRPr lang="en-US" sz="1150" dirty="0"/>
          </a:p>
        </p:txBody>
      </p:sp>
      <p:sp>
        <p:nvSpPr>
          <p:cNvPr id="21" name="Shape 19"/>
          <p:cNvSpPr/>
          <p:nvPr/>
        </p:nvSpPr>
        <p:spPr>
          <a:xfrm>
            <a:off x="566928" y="4315968"/>
            <a:ext cx="5346040" cy="914400"/>
          </a:xfrm>
          <a:prstGeom prst="roundRect">
            <a:avLst>
              <a:gd name="adj" fmla="val 9000"/>
            </a:avLst>
          </a:prstGeom>
          <a:solidFill>
            <a:srgbClr val="FFFFFF"/>
          </a:solidFill>
          <a:ln w="12700">
            <a:solidFill>
              <a:srgbClr val="D3DEE7"/>
            </a:solidFill>
            <a:prstDash val="solid"/>
          </a:ln>
        </p:spPr>
      </p:sp>
      <p:sp>
        <p:nvSpPr>
          <p:cNvPr id="22" name="Shape 20"/>
          <p:cNvSpPr/>
          <p:nvPr/>
        </p:nvSpPr>
        <p:spPr>
          <a:xfrm>
            <a:off x="804672" y="4581144"/>
            <a:ext cx="384048" cy="384048"/>
          </a:xfrm>
          <a:prstGeom prst="ellipse">
            <a:avLst/>
          </a:prstGeom>
          <a:solidFill>
            <a:srgbClr val="176240"/>
          </a:solidFill>
          <a:ln w="12700">
            <a:solidFill>
              <a:srgbClr val="176240"/>
            </a:solidFill>
            <a:prstDash val="solid"/>
          </a:ln>
        </p:spPr>
      </p:sp>
      <p:sp>
        <p:nvSpPr>
          <p:cNvPr id="23" name="Text 21"/>
          <p:cNvSpPr txBox="1"/>
          <p:nvPr/>
        </p:nvSpPr>
        <p:spPr>
          <a:xfrm>
            <a:off x="804672" y="45811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1353312" y="4443984"/>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Try JShell once</a:t>
            </a:r>
            <a:endParaRPr lang="en-US" sz="1350" dirty="0"/>
          </a:p>
        </p:txBody>
      </p:sp>
      <p:sp>
        <p:nvSpPr>
          <p:cNvPr id="25" name="Text 23"/>
          <p:cNvSpPr txBox="1"/>
          <p:nvPr/>
        </p:nvSpPr>
        <p:spPr>
          <a:xfrm>
            <a:off x="1353312" y="4736592"/>
            <a:ext cx="4321912" cy="402336"/>
          </a:xfrm>
          <a:prstGeom prst="rect">
            <a:avLst/>
          </a:prstGeom>
          <a:noFill/>
          <a:ln/>
        </p:spPr>
        <p:txBody>
          <a:bodyPr wrap="square" lIns="0" tIns="0" rIns="0" bIns="0" rtlCol="0" anchor="t"/>
          <a:lstStyle/>
          <a:p>
            <a:pPr indent="0" marL="0">
              <a:buNone/>
            </a:pPr>
            <a:r>
              <a:rPr lang="en-US" sz="1150" dirty="0">
                <a:solidFill>
                  <a:srgbClr val="3A536B"/>
                </a:solidFill>
                <a:latin typeface="Calibri" pitchFamily="34" charset="0"/>
                <a:ea typeface="Calibri" pitchFamily="34" charset="-122"/>
                <a:cs typeface="Calibri" pitchFamily="34" charset="-120"/>
              </a:rPr>
              <a:t>Open a terminal, type jshell, and find out what 7 / 2 gives you.</a:t>
            </a:r>
            <a:endParaRPr lang="en-US" sz="1150" dirty="0"/>
          </a:p>
        </p:txBody>
      </p:sp>
      <p:sp>
        <p:nvSpPr>
          <p:cNvPr id="26" name="Shape 24"/>
          <p:cNvSpPr/>
          <p:nvPr/>
        </p:nvSpPr>
        <p:spPr>
          <a:xfrm>
            <a:off x="6278728" y="1353312"/>
            <a:ext cx="5346040" cy="1874520"/>
          </a:xfrm>
          <a:prstGeom prst="roundRect">
            <a:avLst>
              <a:gd name="adj" fmla="val 4390"/>
            </a:avLst>
          </a:prstGeom>
          <a:solidFill>
            <a:srgbClr val="E4ECF4"/>
          </a:solidFill>
          <a:ln w="12700">
            <a:solidFill>
              <a:srgbClr val="E4ECF4"/>
            </a:solidFill>
            <a:prstDash val="solid"/>
          </a:ln>
        </p:spPr>
      </p:sp>
      <p:sp>
        <p:nvSpPr>
          <p:cNvPr id="27" name="Text 25"/>
          <p:cNvSpPr txBox="1"/>
          <p:nvPr/>
        </p:nvSpPr>
        <p:spPr>
          <a:xfrm>
            <a:off x="6553048" y="1572768"/>
            <a:ext cx="4797400" cy="274320"/>
          </a:xfrm>
          <a:prstGeom prst="rect">
            <a:avLst/>
          </a:prstGeom>
          <a:noFill/>
          <a:ln/>
        </p:spPr>
        <p:txBody>
          <a:bodyPr wrap="square" lIns="0" tIns="0" rIns="0" bIns="0" rtlCol="0" anchor="ctr"/>
          <a:lstStyle/>
          <a:p>
            <a:pPr indent="0" marL="0">
              <a:buNone/>
            </a:pPr>
            <a:r>
              <a:rPr lang="en-US" sz="1100" b="1" spc="140" kern="0" dirty="0">
                <a:solidFill>
                  <a:srgbClr val="9A430A"/>
                </a:solidFill>
                <a:latin typeface="Calibri" pitchFamily="34" charset="0"/>
                <a:ea typeface="Calibri" pitchFamily="34" charset="-122"/>
                <a:cs typeface="Calibri" pitchFamily="34" charset="-120"/>
              </a:rPr>
              <a:t>Next session</a:t>
            </a:r>
            <a:endParaRPr lang="en-US" sz="1100" dirty="0"/>
          </a:p>
        </p:txBody>
      </p:sp>
      <p:sp>
        <p:nvSpPr>
          <p:cNvPr id="28" name="Text 26"/>
          <p:cNvSpPr txBox="1"/>
          <p:nvPr/>
        </p:nvSpPr>
        <p:spPr>
          <a:xfrm>
            <a:off x="6553048" y="1865376"/>
            <a:ext cx="4797400" cy="603504"/>
          </a:xfrm>
          <a:prstGeom prst="rect">
            <a:avLst/>
          </a:prstGeom>
          <a:noFill/>
          <a:ln/>
        </p:spPr>
        <p:txBody>
          <a:bodyPr wrap="square" lIns="0" tIns="0" rIns="0" bIns="0" rtlCol="0" anchor="t"/>
          <a:lstStyle/>
          <a:p>
            <a:pPr indent="0" marL="0">
              <a:buNone/>
            </a:pPr>
            <a:r>
              <a:rPr lang="en-US" sz="2100" b="1" dirty="0">
                <a:solidFill>
                  <a:srgbClr val="0F2942"/>
                </a:solidFill>
                <a:latin typeface="Cambria" pitchFamily="34" charset="0"/>
                <a:ea typeface="Cambria" pitchFamily="34" charset="-122"/>
                <a:cs typeface="Cambria" pitchFamily="34" charset="-120"/>
              </a:rPr>
              <a:t>Tuesday 15.09 — Control Flow, Part 1</a:t>
            </a:r>
            <a:endParaRPr lang="en-US" sz="2100" dirty="0"/>
          </a:p>
        </p:txBody>
      </p:sp>
      <p:sp>
        <p:nvSpPr>
          <p:cNvPr id="29" name="Text 27"/>
          <p:cNvSpPr txBox="1"/>
          <p:nvPr/>
        </p:nvSpPr>
        <p:spPr>
          <a:xfrm>
            <a:off x="6553048" y="2542032"/>
            <a:ext cx="4797400" cy="548640"/>
          </a:xfrm>
          <a:prstGeom prst="rect">
            <a:avLst/>
          </a:prstGeom>
          <a:noFill/>
          <a:ln/>
        </p:spPr>
        <p:txBody>
          <a:bodyPr wrap="square" lIns="0" tIns="0" rIns="0" bIns="0" rtlCol="0" anchor="t"/>
          <a:lstStyle/>
          <a:p>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Conditionals: if / else, switch expressions and the logical operators — the first time your programs take two different paths.</a:t>
            </a:r>
            <a:endParaRPr lang="en-US" sz="1250" dirty="0"/>
          </a:p>
        </p:txBody>
      </p:sp>
      <p:sp>
        <p:nvSpPr>
          <p:cNvPr id="30" name="Shape 28"/>
          <p:cNvSpPr/>
          <p:nvPr/>
        </p:nvSpPr>
        <p:spPr>
          <a:xfrm>
            <a:off x="6278728" y="3364992"/>
            <a:ext cx="5346040" cy="960120"/>
          </a:xfrm>
          <a:prstGeom prst="roundRect">
            <a:avLst>
              <a:gd name="adj" fmla="val 8571"/>
            </a:avLst>
          </a:prstGeom>
          <a:solidFill>
            <a:srgbClr val="FBEAE8"/>
          </a:solidFill>
          <a:ln w="12700">
            <a:solidFill>
              <a:srgbClr val="FBEAE8"/>
            </a:solidFill>
            <a:prstDash val="solid"/>
          </a:ln>
        </p:spPr>
      </p:sp>
      <p:sp>
        <p:nvSpPr>
          <p:cNvPr id="31" name="Text 29"/>
          <p:cNvSpPr txBox="1"/>
          <p:nvPr/>
        </p:nvSpPr>
        <p:spPr>
          <a:xfrm>
            <a:off x="6553048" y="3364992"/>
            <a:ext cx="4797400" cy="960120"/>
          </a:xfrm>
          <a:prstGeom prst="rect">
            <a:avLst/>
          </a:prstGeom>
          <a:noFill/>
          <a:ln/>
        </p:spPr>
        <p:txBody>
          <a:bodyPr wrap="square" lIns="0" tIns="0" rIns="0" bIns="0" rtlCol="0" anchor="ctr"/>
          <a:lstStyle/>
          <a:p>
            <a:pPr indent="0" marL="0">
              <a:lnSpc>
                <a:spcPct val="112000"/>
              </a:lnSpc>
              <a:buNone/>
            </a:pPr>
            <a:r>
              <a:rPr lang="en-US" sz="1250" b="1" dirty="0">
                <a:solidFill>
                  <a:srgbClr val="9C241C"/>
                </a:solidFill>
                <a:latin typeface="Calibri" pitchFamily="34" charset="0"/>
                <a:ea typeface="Calibri" pitchFamily="34" charset="-122"/>
                <a:cs typeface="Calibri" pitchFamily="34" charset="-120"/>
              </a:rPr>
              <a:t>Diary note: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no class on Tuesday 22 September — Bulgarian Independence Day. We resume Thursday 24.09 with Methods.</a:t>
            </a:r>
            <a:endParaRPr lang="en-US" sz="1250" dirty="0"/>
          </a:p>
        </p:txBody>
      </p:sp>
      <p:sp>
        <p:nvSpPr>
          <p:cNvPr id="32" name="Shape 30"/>
          <p:cNvSpPr/>
          <p:nvPr/>
        </p:nvSpPr>
        <p:spPr>
          <a:xfrm>
            <a:off x="6278728" y="4416552"/>
            <a:ext cx="5346040" cy="914400"/>
          </a:xfrm>
          <a:prstGeom prst="roundRect">
            <a:avLst>
              <a:gd name="adj" fmla="val 9000"/>
            </a:avLst>
          </a:prstGeom>
          <a:solidFill>
            <a:srgbClr val="FBEEE0"/>
          </a:solidFill>
          <a:ln w="12700">
            <a:solidFill>
              <a:srgbClr val="FBEEE0"/>
            </a:solidFill>
            <a:prstDash val="solid"/>
          </a:ln>
        </p:spPr>
      </p:sp>
      <p:sp>
        <p:nvSpPr>
          <p:cNvPr id="33" name="Text 31"/>
          <p:cNvSpPr txBox="1"/>
          <p:nvPr/>
        </p:nvSpPr>
        <p:spPr>
          <a:xfrm>
            <a:off x="6553048" y="4416552"/>
            <a:ext cx="4797400" cy="914400"/>
          </a:xfrm>
          <a:prstGeom prst="rect">
            <a:avLst/>
          </a:prstGeom>
          <a:noFill/>
          <a:ln/>
        </p:spPr>
        <p:txBody>
          <a:bodyPr wrap="square" lIns="0" tIns="0" rIns="0" bIns="0" rtlCol="0" anchor="ctr"/>
          <a:lstStyle/>
          <a:p>
            <a:pPr indent="0" marL="0">
              <a:lnSpc>
                <a:spcPct val="110000"/>
              </a:lnSpc>
              <a:buNone/>
            </a:pPr>
            <a:r>
              <a:rPr lang="en-US" sz="1250" b="1" dirty="0">
                <a:solidFill>
                  <a:srgbClr val="9A430A"/>
                </a:solidFill>
                <a:latin typeface="Calibri" pitchFamily="34" charset="0"/>
                <a:ea typeface="Calibri" pitchFamily="34" charset="-122"/>
                <a:cs typeface="Calibri" pitchFamily="34" charset="-120"/>
              </a:rPr>
              <a:t>Quiz 1 is on 01.10  </a:t>
            </a:r>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and covers Weeks 1–3 — today's material included.</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331720"/>
            <a:ext cx="7772400" cy="1005840"/>
          </a:xfrm>
          <a:prstGeom prst="rect">
            <a:avLst/>
          </a:prstGeom>
          <a:noFill/>
          <a:ln/>
        </p:spPr>
        <p:txBody>
          <a:bodyPr wrap="square" lIns="0" tIns="0" rIns="0" bIns="0" rtlCol="0" anchor="ctr"/>
          <a:lstStyle/>
          <a:p>
            <a:pPr indent="0" marL="0">
              <a:buNone/>
            </a:pPr>
            <a:r>
              <a:rPr lang="en-US" sz="5800" b="1" dirty="0">
                <a:solidFill>
                  <a:srgbClr val="0F2942"/>
                </a:solidFill>
                <a:latin typeface="Cambria" pitchFamily="34" charset="0"/>
                <a:ea typeface="Cambria" pitchFamily="34" charset="-122"/>
                <a:cs typeface="Cambria" pitchFamily="34" charset="-120"/>
              </a:rPr>
              <a:t>Questions?</a:t>
            </a:r>
            <a:endParaRPr lang="en-US" sz="5800" dirty="0"/>
          </a:p>
        </p:txBody>
      </p:sp>
      <p:sp>
        <p:nvSpPr>
          <p:cNvPr id="3" name="Text 1"/>
          <p:cNvSpPr txBox="1"/>
          <p:nvPr/>
        </p:nvSpPr>
        <p:spPr>
          <a:xfrm>
            <a:off x="566928" y="3383280"/>
            <a:ext cx="7772400" cy="402336"/>
          </a:xfrm>
          <a:prstGeom prst="rect">
            <a:avLst/>
          </a:prstGeom>
          <a:noFill/>
          <a:ln/>
        </p:spPr>
        <p:txBody>
          <a:bodyPr wrap="square" lIns="0" tIns="0" rIns="0" bIns="0" rtlCol="0" anchor="ctr"/>
          <a:lstStyle/>
          <a:p>
            <a:pPr indent="0" marL="0">
              <a:buNone/>
            </a:pPr>
            <a:r>
              <a:rPr lang="en-US" sz="1800" dirty="0">
                <a:solidFill>
                  <a:srgbClr val="9A430A"/>
                </a:solidFill>
                <a:latin typeface="Calibri" pitchFamily="34" charset="0"/>
                <a:ea typeface="Calibri" pitchFamily="34" charset="-122"/>
                <a:cs typeface="Calibri" pitchFamily="34" charset="-120"/>
              </a:rPr>
              <a:t>Thank you for your attention — see you on Tuesday.</a:t>
            </a:r>
            <a:endParaRPr lang="en-US" sz="1800" dirty="0"/>
          </a:p>
        </p:txBody>
      </p:sp>
      <p:sp>
        <p:nvSpPr>
          <p:cNvPr id="4" name="Text 2"/>
          <p:cNvSpPr txBox="1"/>
          <p:nvPr/>
        </p:nvSpPr>
        <p:spPr>
          <a:xfrm>
            <a:off x="566928" y="4206240"/>
            <a:ext cx="8229600" cy="1005840"/>
          </a:xfrm>
          <a:prstGeom prst="rect">
            <a:avLst/>
          </a:prstGeom>
          <a:noFill/>
          <a:ln/>
        </p:spPr>
        <p:txBody>
          <a:bodyPr wrap="square" lIns="0" tIns="0" rIns="0" bIns="0" rtlCol="0" anchor="ctr"/>
          <a:lstStyle/>
          <a:p>
            <a:pPr indent="0" marL="0">
              <a:lnSpc>
                <a:spcPct val="135000"/>
              </a:lnSpc>
              <a:buNone/>
            </a:pPr>
            <a:r>
              <a:rPr lang="en-US" sz="1350" b="1" dirty="0">
                <a:solidFill>
                  <a:srgbClr val="0F2942"/>
                </a:solidFill>
                <a:latin typeface="Calibri" pitchFamily="34" charset="0"/>
                <a:ea typeface="Calibri" pitchFamily="34" charset="-122"/>
                <a:cs typeface="Calibri" pitchFamily="34" charset="-120"/>
              </a:rPr>
              <a:t>Dr. Narasimha Rao Vajjhala</a:t>
            </a:r>
            <a:endParaRPr lang="en-US" sz="1350" dirty="0"/>
          </a:p>
          <a:p>
            <a:pPr indent="0" marL="0">
              <a:lnSpc>
                <a:spcPct val="135000"/>
              </a:lnSpc>
              <a:buNone/>
            </a:pPr>
            <a:r>
              <a:rPr lang="en-US" sz="1350" dirty="0">
                <a:solidFill>
                  <a:srgbClr val="3A536B"/>
                </a:solidFill>
                <a:latin typeface="Calibri" pitchFamily="34" charset="0"/>
                <a:ea typeface="Calibri" pitchFamily="34" charset="-122"/>
                <a:cs typeface="Calibri" pitchFamily="34" charset="-120"/>
              </a:rPr>
              <a:t>nrao@aubg.edu  ·  Office MB 253  ·  Office hours Tue &amp; Thu 15:00–17:30</a:t>
            </a:r>
            <a:endParaRPr lang="en-US" sz="1350" dirty="0"/>
          </a:p>
          <a:p>
            <a:pPr indent="0" marL="0">
              <a:lnSpc>
                <a:spcPct val="135000"/>
              </a:lnSpc>
              <a:buNone/>
            </a:pPr>
            <a:r>
              <a:rPr lang="en-US" sz="1350" dirty="0">
                <a:solidFill>
                  <a:srgbClr val="3A536B"/>
                </a:solidFill>
                <a:latin typeface="Calibri" pitchFamily="34" charset="0"/>
                <a:ea typeface="Calibri" pitchFamily="34" charset="-122"/>
                <a:cs typeface="Calibri" pitchFamily="34" charset="-120"/>
              </a:rPr>
              <a:t>Slides, recordings and the syllabus: aubg.instructure.com</a:t>
            </a:r>
            <a:endParaRPr lang="en-US" sz="1350" dirty="0"/>
          </a:p>
        </p:txBody>
      </p:sp>
      <p:sp>
        <p:nvSpPr>
          <p:cNvPr id="5" name="Text 3"/>
          <p:cNvSpPr txBox="1"/>
          <p:nvPr/>
        </p:nvSpPr>
        <p:spPr>
          <a:xfrm>
            <a:off x="7601407" y="2377440"/>
            <a:ext cx="4023360" cy="822960"/>
          </a:xfrm>
          <a:prstGeom prst="rect">
            <a:avLst/>
          </a:prstGeom>
          <a:noFill/>
          <a:ln/>
        </p:spPr>
        <p:txBody>
          <a:bodyPr wrap="square" lIns="0" tIns="0" rIns="0" bIns="0" rtlCol="0" anchor="ctr"/>
          <a:lstStyle/>
          <a:p>
            <a:pPr algn="r" indent="0" marL="0">
              <a:buNone/>
            </a:pPr>
            <a:r>
              <a:rPr lang="en-US" sz="4000" b="1" dirty="0">
                <a:solidFill>
                  <a:srgbClr val="5E778C"/>
                </a:solidFill>
                <a:latin typeface="Cambria" pitchFamily="34" charset="0"/>
                <a:ea typeface="Cambria" pitchFamily="34" charset="-122"/>
                <a:cs typeface="Cambria" pitchFamily="34" charset="-120"/>
              </a:rPr>
              <a:t>COS 2030</a:t>
            </a:r>
            <a:endParaRPr lang="en-US" sz="4000" dirty="0"/>
          </a:p>
        </p:txBody>
      </p:sp>
      <p:sp>
        <p:nvSpPr>
          <p:cNvPr id="6" name="Text 4"/>
          <p:cNvSpPr txBox="1"/>
          <p:nvPr/>
        </p:nvSpPr>
        <p:spPr>
          <a:xfrm>
            <a:off x="7601407" y="3200400"/>
            <a:ext cx="4023360" cy="731520"/>
          </a:xfrm>
          <a:prstGeom prst="rect">
            <a:avLst/>
          </a:prstGeom>
          <a:noFill/>
          <a:ln/>
        </p:spPr>
        <p:txBody>
          <a:bodyPr wrap="square" lIns="0" tIns="0" rIns="0" bIns="0" rtlCol="0" anchor="ctr"/>
          <a:lstStyle/>
          <a:p>
            <a:pPr algn="r" indent="0" marL="0">
              <a:lnSpc>
                <a:spcPct val="120000"/>
              </a:lnSpc>
              <a:buNone/>
            </a:pPr>
            <a:r>
              <a:rPr lang="en-US" sz="1300" dirty="0">
                <a:solidFill>
                  <a:srgbClr val="4B6377"/>
                </a:solidFill>
                <a:latin typeface="Calibri" pitchFamily="34" charset="0"/>
                <a:ea typeface="Calibri" pitchFamily="34" charset="-122"/>
                <a:cs typeface="Calibri" pitchFamily="34" charset="-120"/>
              </a:rPr>
              <a:t>Data Types and Expressions</a:t>
            </a:r>
            <a:endParaRPr lang="en-US" sz="1300" dirty="0"/>
          </a:p>
          <a:p>
            <a:pPr algn="r" indent="0" marL="0">
              <a:lnSpc>
                <a:spcPct val="120000"/>
              </a:lnSpc>
              <a:buNone/>
            </a:pPr>
            <a:r>
              <a:rPr lang="en-US" sz="1300" dirty="0">
                <a:solidFill>
                  <a:srgbClr val="4B6377"/>
                </a:solidFill>
                <a:latin typeface="Calibri" pitchFamily="34" charset="0"/>
                <a:ea typeface="Calibri" pitchFamily="34" charset="-122"/>
                <a:cs typeface="Calibri" pitchFamily="34" charset="-120"/>
              </a:rPr>
              <a:t>Fall 2026 · Lecture 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American University in Bulgaria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 2030 - Basics in Java Programming - Lecture 2</dc:title>
  <dc:subject>PptxGenJS Presentation</dc:subject>
  <dc:creator>Dr. Narasimha Rao Vajjhala</dc:creator>
  <cp:lastModifiedBy>Dr. Narasimha Rao Vajjhala</cp:lastModifiedBy>
  <cp:revision>1</cp:revision>
  <dcterms:created xsi:type="dcterms:W3CDTF">2026-09-09T11:02:20Z</dcterms:created>
  <dcterms:modified xsi:type="dcterms:W3CDTF">2026-09-09T11:02:20Z</dcterms:modified>
</cp:coreProperties>
</file>