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week we learned to choose and to repeat. Everything so far has lived inside one main method. Today we learn to give a block of code a name — which is what makes programs bigger than one screen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by running it: the three sums are 55, 275 and 440. Note that the local variable inside sum is named result here, not sum — the original slide reused the method's own name for a local, which compiles but reads badly.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explain static properly today — say it means the method belongs to the class and can be called without creating an object, and that Chapter 9 makes it precise. Fighting that battle now costs ten minutes and wins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signature excludes the return type — that is why you cannot overload on return type alone, which comes up on the overloading slide. Worth planting the idea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deck spent eleven animation frames on this trace. The five steps say the same thing. Emphasise step 2 — the word COPIED is the whole of the pass-by-value slide later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deck used ten animation frames for this. Three snapshots carry the idea: before, during, after. If anyone asks about StackOverflowError, that is recursion, Chapter 18 — the stack is where it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Q1: The signature is the method name plus the parameter list — max(int, int). It does NOT include the return type, and it does NOT include the parameter names. That is why you cannot overload two methods that differ only in return type, and why renaming a parameter changes nothing. Q2: Five in total. i, j and k live in main's frame. num1, num2 and result live in max's frame, which is created when max is called and destroyed when it returns. num1 and num2 hold copies of i and j, not the originals. Q3: Because sum is declared to return an int, so every path out of it must hand one back. main is declared void — it returns nothing, so no return statement is needed (though a bare 'return;' is legal to leave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job can usually be done either way: printGrade could instead be getGrade returning a char, leaving the caller to decide whether to print it. That version is more reusable, and it is the better habit — a method that computes and a method that prints are two different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the error message and the corrected output were produced by compiling and running these exact methods. The error is 'missing return statement' and it points at the closing brace, which confuses people — tell them what it means before they meet it in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call is worth typing live so they see the error: 'incompatible types: int cannot be converted to String'. The original slide had curly quotes in these string literals, which would not compile at all — fixed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output '1 2' was produced by running this. Do not spoil the array case — Tuesday's lecture opens with it, and the surprise is pedagogically useful. If asked: the reference is copied, so the method can follow it to the same array. The rule never changes; what is copied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a class MyMath rather than Test makes the point better than the textbook's version does: a class of static methods is a toolbox, and Math is the one they already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not in the textbook and is the one students remember. In IntelliJ, select a block and press Ctrl+Alt+M to extract it into a method — the IDE works out the parameters and the return value for you. Demonstrate it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Q1: 'missing return statement'. The compiler cannot prove that one of the two conditions is always true, so it sees a path that falls off the end. Change 'else if (n &lt; 0)' to a bare 'else' and it compiles — same behaviour, now provable. Q2: num1 is still 1 and num2 is still 2. Java passes by value: swap received copies, swapped its own copies, and then its frame was destroyed. A method cannot change the caller's variables — to get a value out, return it. Q3: Any two of: one place to fix a bug instead of three; the name documents what the code does; you can test it on its own; and main becomes short enough to read. Slide 16 has the full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System.out.println is the overload set they use every day — there are ten of them, one per primitive plus String and Object. Worth saying so; it makes the feature feel ordinary rather than exotic.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error text in the output box is the real javac message, produced by compiling this exact file. Note the consequence of the last bullet: max(1.0, 2.0) would also be ambiguous, while max(1, 2.0) picks the first overload cleanly.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local variable must also be definitely assigned before it is read — declaring int x; and then printing x is a separate compile error, 'variable x might not have been initialized'. Worth mentioning; it catches people who expect the 0 default that arrays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parameter has the whole method as its scope, so declaring a local with the same name as a parameter is the same error. This becomes more interesting in Chapter 9, where a local CAN shadow a field — and this.x is how you get at the hidden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phrase to leave them with: a method is a promise about behaviour, not a description of code. That framing carries straight into interfaces in November.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gcd(125, 2525) = 25 and 229 being prime were both verified by running the code. The early-return point is the strongest practical argument for methods that this course will make — go slowly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Q1: max(3, 4.0) runs the double version — there is no exact match, so 3 widens to 3.0. max(3, 4) runs the int version, because that is an exact match and exact matches are preferred over widening. Q2: The call max(1, 2) is ambiguous. It reaches the first overload by widening the second argument and the second overload by widening the first — one widening each, so neither is more specific. The error is reported at the CALL, not at either definition; both definitions are perfectly legal. Q3: No. The signature is the name plus the parameter list, and the return type is not part of it — so two such methods would have identical signatures and the compiler cannot tell them apart. There would also be no way for a caller to say which one it wanted.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43981 was verified two ways: by running this code and against Integer.parseInt("ABCD", 16). A robust version would also accept lowercase and reject bad characters — a good exercise once they have seen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character has a Unicode number; 'a' is 97 and 'z' is 122. The cast is required because char + double is a double. This is Lecture 2's type conversion doing something genuinely useful, and it is worth saying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deck built this chart across seven animation frames. Show it whole and talk down it. Point out that isLeapYear is the method they already wrote in Lecture 3 — the chart shows exactly where last week's work slots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practice people mix the two: sketch the top, then build the hardest leaf, then meet in the middle. The examinable point is the idea of incremental implementation — never write 200 lines before compiling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message in the middle column is the real javac text, produced by compiling each mistake. Worth telling them that reading error messages is a skill, and that these six cover most of what they will hit in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Q1: Because two different methods call it — getTotalNumOfDays and getNumOfDaysInMonth — so a bug in it shows up in two places and is harder to localise. A box with several arrows into it is load-bearing; get it right and tested before anything depends on it. Q2: A stub is a method with the correct header and a placeholder body — often just a println. It lets you compile and run the caller before the callee has been written, so you can test the structure of the program while the parts are still missing. Q3: One method holds the arithmetic; the other three give names to particular uses of it. getRandomLowerCaseLetter() says what it produces, where getRandomCharacter('a','z') makes the reader work it out. The arithmetic exists in exactly one place, so there is one place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five are exercises in Liang Chapter 6. Heron's formula: s = (a+b+c)/2, area = sqrt(s(s-a)(s-b)(s-c)). The triangle is valid when the sum of any two sides exceeds the third.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F2F7"/>
        </a:solidFill>
      </p:bgPr>
    </p:bg>
    <p:spTree>
      <p:nvGrpSpPr>
        <p:cNvPr id="1" name=""/>
        <p:cNvGrpSpPr/>
        <p:nvPr/>
      </p:nvGrpSpPr>
      <p:grpSpPr>
        <a:xfrm>
          <a:off x="0" y="0"/>
          <a:ext cx="0" cy="0"/>
          <a:chOff x="0" y="0"/>
          <a:chExt cx="0" cy="0"/>
        </a:xfrm>
      </p:grpSpPr>
      <p:sp>
        <p:nvSpPr>
          <p:cNvPr id="2" name="Shape 0"/>
          <p:cNvSpPr/>
          <p:nvPr/>
        </p:nvSpPr>
        <p:spPr>
          <a:xfrm>
            <a:off x="566928" y="1417320"/>
            <a:ext cx="566928" cy="566928"/>
          </a:xfrm>
          <a:prstGeom prst="roundRect">
            <a:avLst>
              <a:gd name="adj" fmla="val 16129"/>
            </a:avLst>
          </a:prstGeom>
          <a:solidFill>
            <a:srgbClr val="C4560C"/>
          </a:solidFill>
          <a:ln w="12700">
            <a:solidFill>
              <a:srgbClr val="C4560C"/>
            </a:solidFill>
            <a:prstDash val="solid"/>
          </a:ln>
        </p:spPr>
      </p:sp>
      <p:sp>
        <p:nvSpPr>
          <p:cNvPr id="3" name="Text 1"/>
          <p:cNvSpPr txBox="1"/>
          <p:nvPr/>
        </p:nvSpPr>
        <p:spPr>
          <a:xfrm>
            <a:off x="566928" y="1417320"/>
            <a:ext cx="566928" cy="566928"/>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J</a:t>
            </a:r>
            <a:endParaRPr lang="en-US" sz="3000" dirty="0"/>
          </a:p>
        </p:txBody>
      </p:sp>
      <p:sp>
        <p:nvSpPr>
          <p:cNvPr id="4" name="Text 2"/>
          <p:cNvSpPr txBox="1"/>
          <p:nvPr/>
        </p:nvSpPr>
        <p:spPr>
          <a:xfrm>
            <a:off x="566928" y="822960"/>
            <a:ext cx="11057839" cy="256032"/>
          </a:xfrm>
          <a:prstGeom prst="rect">
            <a:avLst/>
          </a:prstGeom>
          <a:noFill/>
          <a:ln/>
        </p:spPr>
        <p:txBody>
          <a:bodyPr wrap="square" lIns="0" tIns="0" rIns="0" bIns="0" rtlCol="0" anchor="ctr"/>
          <a:lstStyle/>
          <a:p>
            <a:pPr indent="0" marL="0">
              <a:buNone/>
            </a:pPr>
            <a:r>
              <a:rPr lang="en-US" sz="1100" b="1" spc="180" kern="0" dirty="0">
                <a:solidFill>
                  <a:srgbClr val="9A430A"/>
                </a:solidFill>
                <a:latin typeface="Calibri" pitchFamily="34" charset="0"/>
                <a:ea typeface="Calibri" pitchFamily="34" charset="-122"/>
                <a:cs typeface="Calibri" pitchFamily="34" charset="-120"/>
              </a:rPr>
              <a:t>AMERICAN UNIVERSITY IN BULGARIA  ·  DEPARTMENT OF COMPUTER SCIENCE</a:t>
            </a:r>
            <a:endParaRPr lang="en-US" sz="1100" dirty="0"/>
          </a:p>
        </p:txBody>
      </p:sp>
      <p:sp>
        <p:nvSpPr>
          <p:cNvPr id="5" name="Text 3"/>
          <p:cNvSpPr txBox="1"/>
          <p:nvPr/>
        </p:nvSpPr>
        <p:spPr>
          <a:xfrm>
            <a:off x="566928" y="2212848"/>
            <a:ext cx="11057839" cy="713232"/>
          </a:xfrm>
          <a:prstGeom prst="rect">
            <a:avLst/>
          </a:prstGeom>
          <a:noFill/>
          <a:ln/>
        </p:spPr>
        <p:txBody>
          <a:bodyPr wrap="square" lIns="0" tIns="0" rIns="0" bIns="0" rtlCol="0" anchor="ctr"/>
          <a:lstStyle/>
          <a:p>
            <a:pPr indent="0" marL="0">
              <a:buNone/>
            </a:pPr>
            <a:r>
              <a:rPr lang="en-US" sz="5800" b="1" dirty="0">
                <a:solidFill>
                  <a:srgbClr val="0F2942"/>
                </a:solidFill>
                <a:latin typeface="Cambria" pitchFamily="34" charset="0"/>
                <a:ea typeface="Cambria" pitchFamily="34" charset="-122"/>
                <a:cs typeface="Cambria" pitchFamily="34" charset="-120"/>
              </a:rPr>
              <a:t>COS 2030</a:t>
            </a:r>
            <a:endParaRPr lang="en-US" sz="5800" dirty="0"/>
          </a:p>
        </p:txBody>
      </p:sp>
      <p:sp>
        <p:nvSpPr>
          <p:cNvPr id="6" name="Text 4"/>
          <p:cNvSpPr txBox="1"/>
          <p:nvPr/>
        </p:nvSpPr>
        <p:spPr>
          <a:xfrm>
            <a:off x="566928" y="2944368"/>
            <a:ext cx="11057839" cy="566928"/>
          </a:xfrm>
          <a:prstGeom prst="rect">
            <a:avLst/>
          </a:prstGeom>
          <a:noFill/>
          <a:ln/>
        </p:spPr>
        <p:txBody>
          <a:bodyPr wrap="square" lIns="0" tIns="0" rIns="0" bIns="0" rtlCol="0" anchor="ctr"/>
          <a:lstStyle/>
          <a:p>
            <a:pPr indent="0" marL="0">
              <a:buNone/>
            </a:pPr>
            <a:r>
              <a:rPr lang="en-US" sz="3400" dirty="0">
                <a:solidFill>
                  <a:srgbClr val="3A536B"/>
                </a:solidFill>
                <a:latin typeface="Cambria" pitchFamily="34" charset="0"/>
                <a:ea typeface="Cambria" pitchFamily="34" charset="-122"/>
                <a:cs typeface="Cambria" pitchFamily="34" charset="-120"/>
              </a:rPr>
              <a:t>Methods</a:t>
            </a:r>
            <a:endParaRPr lang="en-US" sz="3400" dirty="0"/>
          </a:p>
        </p:txBody>
      </p:sp>
      <p:sp>
        <p:nvSpPr>
          <p:cNvPr id="7" name="Text 5"/>
          <p:cNvSpPr txBox="1"/>
          <p:nvPr/>
        </p:nvSpPr>
        <p:spPr>
          <a:xfrm>
            <a:off x="566928" y="3703320"/>
            <a:ext cx="11057839" cy="310896"/>
          </a:xfrm>
          <a:prstGeom prst="rect">
            <a:avLst/>
          </a:prstGeom>
          <a:noFill/>
          <a:ln/>
        </p:spPr>
        <p:txBody>
          <a:bodyPr wrap="square" lIns="0" tIns="0" rIns="0" bIns="0" rtlCol="0" anchor="ctr"/>
          <a:lstStyle/>
          <a:p>
            <a:pPr indent="0" marL="0">
              <a:buNone/>
            </a:pPr>
            <a:r>
              <a:rPr lang="en-US" sz="1600" dirty="0">
                <a:solidFill>
                  <a:srgbClr val="9A430A"/>
                </a:solidFill>
                <a:latin typeface="Calibri" pitchFamily="34" charset="0"/>
                <a:ea typeface="Calibri" pitchFamily="34" charset="-122"/>
                <a:cs typeface="Calibri" pitchFamily="34" charset="-120"/>
              </a:rPr>
              <a:t>Lecture 5  ·  Declaration, parameters, return types, overloading, scope</a:t>
            </a:r>
            <a:endParaRPr lang="en-US" sz="1600" dirty="0"/>
          </a:p>
        </p:txBody>
      </p:sp>
      <p:sp>
        <p:nvSpPr>
          <p:cNvPr id="8" name="Text 6"/>
          <p:cNvSpPr txBox="1"/>
          <p:nvPr/>
        </p:nvSpPr>
        <p:spPr>
          <a:xfrm>
            <a:off x="566928" y="5074920"/>
            <a:ext cx="7315200" cy="640080"/>
          </a:xfrm>
          <a:prstGeom prst="rect">
            <a:avLst/>
          </a:prstGeom>
          <a:noFill/>
          <a:ln/>
        </p:spPr>
        <p:txBody>
          <a:bodyPr wrap="square" lIns="0" tIns="0" rIns="0" bIns="0" rtlCol="0" anchor="ctr"/>
          <a:lstStyle/>
          <a:p>
            <a:pPr indent="0" marL="0">
              <a:lnSpc>
                <a:spcPct val="125000"/>
              </a:lnSpc>
              <a:buNone/>
            </a:pPr>
            <a:r>
              <a:rPr lang="en-US" sz="1400" b="1" dirty="0">
                <a:solidFill>
                  <a:srgbClr val="0F2942"/>
                </a:solidFill>
                <a:latin typeface="Calibri" pitchFamily="34" charset="0"/>
                <a:ea typeface="Calibri" pitchFamily="34" charset="-122"/>
                <a:cs typeface="Calibri" pitchFamily="34" charset="-120"/>
              </a:rPr>
              <a:t>Dr. Narasimha Rao Vajjhala</a:t>
            </a:r>
            <a:endParaRPr lang="en-US" sz="1400" dirty="0"/>
          </a:p>
          <a:p>
            <a:pPr indent="0" marL="0">
              <a:lnSpc>
                <a:spcPct val="125000"/>
              </a:lnSpc>
              <a:buNone/>
            </a:pPr>
            <a:r>
              <a:rPr lang="en-US" sz="1400" dirty="0">
                <a:solidFill>
                  <a:srgbClr val="3A536B"/>
                </a:solidFill>
                <a:latin typeface="Calibri" pitchFamily="34" charset="0"/>
                <a:ea typeface="Calibri" pitchFamily="34" charset="-122"/>
                <a:cs typeface="Calibri" pitchFamily="34" charset="-120"/>
              </a:rPr>
              <a:t>Thursday 24 September 2026  ·  17:45–19:05  ·  Room MB 2</a:t>
            </a:r>
            <a:endParaRPr lang="en-US" sz="1400" dirty="0"/>
          </a:p>
        </p:txBody>
      </p:sp>
      <p:sp>
        <p:nvSpPr>
          <p:cNvPr id="9" name="Text 7"/>
          <p:cNvSpPr txBox="1"/>
          <p:nvPr/>
        </p:nvSpPr>
        <p:spPr>
          <a:xfrm>
            <a:off x="7967167" y="5074920"/>
            <a:ext cx="3657600" cy="310896"/>
          </a:xfrm>
          <a:prstGeom prst="rect">
            <a:avLst/>
          </a:prstGeom>
          <a:noFill/>
          <a:ln/>
        </p:spPr>
        <p:txBody>
          <a:bodyPr wrap="square" lIns="0" tIns="0" rIns="0" bIns="0" rtlCol="0" anchor="ctr"/>
          <a:lstStyle/>
          <a:p>
            <a:pPr algn="r" indent="0" marL="0">
              <a:buNone/>
            </a:pPr>
            <a:r>
              <a:rPr lang="en-US" sz="1300" dirty="0">
                <a:solidFill>
                  <a:srgbClr val="4B6377"/>
                </a:solidFill>
                <a:latin typeface="Calibri" pitchFamily="34" charset="0"/>
                <a:ea typeface="Calibri" pitchFamily="34" charset="-122"/>
                <a:cs typeface="Calibri" pitchFamily="34" charset="-120"/>
              </a:rPr>
              <a:t>Week 3, the only session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LECTURE 5</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How We Will Spend the Next 75 Minutes</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66928" y="1353312"/>
            <a:ext cx="11057839" cy="713232"/>
          </a:xfrm>
          <a:prstGeom prst="roundRect">
            <a:avLst>
              <a:gd name="adj" fmla="val 11538"/>
            </a:avLst>
          </a:prstGeom>
          <a:solidFill>
            <a:srgbClr val="F1F5F9"/>
          </a:solidFill>
          <a:ln w="12700">
            <a:solidFill>
              <a:srgbClr val="F1F5F9"/>
            </a:solidFill>
            <a:prstDash val="solid"/>
          </a:ln>
        </p:spPr>
      </p:sp>
      <p:sp>
        <p:nvSpPr>
          <p:cNvPr id="7" name="Text 5"/>
          <p:cNvSpPr txBox="1"/>
          <p:nvPr/>
        </p:nvSpPr>
        <p:spPr>
          <a:xfrm>
            <a:off x="804672" y="1408176"/>
            <a:ext cx="1234440" cy="603504"/>
          </a:xfrm>
          <a:prstGeom prst="rect">
            <a:avLst/>
          </a:prstGeom>
          <a:noFill/>
          <a:ln/>
        </p:spPr>
        <p:txBody>
          <a:bodyPr wrap="square" lIns="0" tIns="0" rIns="0" bIns="0" rtlCol="0" anchor="ctr"/>
          <a:lstStyle/>
          <a:p>
            <a:pPr indent="0" marL="0">
              <a:buNone/>
            </a:pPr>
            <a:r>
              <a:rPr lang="en-US" sz="1300" b="1" dirty="0">
                <a:solidFill>
                  <a:srgbClr val="9A430A"/>
                </a:solidFill>
                <a:latin typeface="Courier New" pitchFamily="34" charset="0"/>
                <a:ea typeface="Courier New" pitchFamily="34" charset="-122"/>
                <a:cs typeface="Courier New" pitchFamily="34" charset="-120"/>
              </a:rPr>
              <a:t>00–17 min</a:t>
            </a:r>
            <a:endParaRPr lang="en-US" sz="1300" dirty="0"/>
          </a:p>
        </p:txBody>
      </p:sp>
      <p:sp>
        <p:nvSpPr>
          <p:cNvPr id="8" name="Text 6"/>
          <p:cNvSpPr txBox="1"/>
          <p:nvPr/>
        </p:nvSpPr>
        <p:spPr>
          <a:xfrm>
            <a:off x="2121408" y="1408176"/>
            <a:ext cx="4572000" cy="603504"/>
          </a:xfrm>
          <a:prstGeom prst="rect">
            <a:avLst/>
          </a:prstGeom>
          <a:noFill/>
          <a:ln/>
        </p:spPr>
        <p:txBody>
          <a:bodyPr wrap="square" lIns="0" tIns="0" rIns="0" bIns="0" rtlCol="0" anchor="ctr"/>
          <a:lstStyle/>
          <a:p>
            <a:pPr indent="0" marL="0">
              <a:buNone/>
            </a:pPr>
            <a:r>
              <a:rPr lang="en-US" sz="1450" b="1" dirty="0">
                <a:solidFill>
                  <a:srgbClr val="0F2942"/>
                </a:solidFill>
                <a:latin typeface="Calibri" pitchFamily="34" charset="0"/>
                <a:ea typeface="Calibri" pitchFamily="34" charset="-122"/>
                <a:cs typeface="Calibri" pitchFamily="34" charset="-120"/>
              </a:rPr>
              <a:t>Defining and calling a method</a:t>
            </a:r>
            <a:endParaRPr lang="en-US" sz="1450" dirty="0"/>
          </a:p>
        </p:txBody>
      </p:sp>
      <p:sp>
        <p:nvSpPr>
          <p:cNvPr id="9" name="Text 7"/>
          <p:cNvSpPr txBox="1"/>
          <p:nvPr/>
        </p:nvSpPr>
        <p:spPr>
          <a:xfrm>
            <a:off x="6784848" y="1408176"/>
            <a:ext cx="4657039" cy="603504"/>
          </a:xfrm>
          <a:prstGeom prst="rect">
            <a:avLst/>
          </a:prstGeom>
          <a:noFill/>
          <a:ln/>
        </p:spPr>
        <p:txBody>
          <a:bodyPr wrap="square" lIns="0" tIns="0" rIns="0" bIns="0" rtlCol="0" anchor="ctr"/>
          <a:lstStyle/>
          <a:p>
            <a:pPr indent="0" marL="0">
              <a:buNone/>
            </a:pPr>
            <a:r>
              <a:rPr lang="en-US" sz="1250" dirty="0">
                <a:solidFill>
                  <a:srgbClr val="3A536B"/>
                </a:solidFill>
                <a:latin typeface="Calibri" pitchFamily="34" charset="0"/>
                <a:ea typeface="Calibri" pitchFamily="34" charset="-122"/>
                <a:cs typeface="Calibri" pitchFamily="34" charset="-120"/>
              </a:rPr>
              <a:t>The header, the signature, parameters, the call stack</a:t>
            </a:r>
            <a:endParaRPr lang="en-US" sz="1250" dirty="0"/>
          </a:p>
        </p:txBody>
      </p:sp>
      <p:sp>
        <p:nvSpPr>
          <p:cNvPr id="10" name="Shape 8"/>
          <p:cNvSpPr/>
          <p:nvPr/>
        </p:nvSpPr>
        <p:spPr>
          <a:xfrm>
            <a:off x="566928" y="2139696"/>
            <a:ext cx="11057839" cy="713232"/>
          </a:xfrm>
          <a:prstGeom prst="roundRect">
            <a:avLst>
              <a:gd name="adj" fmla="val 11538"/>
            </a:avLst>
          </a:prstGeom>
          <a:solidFill>
            <a:srgbClr val="FFFFFF"/>
          </a:solidFill>
          <a:ln w="12700">
            <a:solidFill>
              <a:srgbClr val="D3DEE7"/>
            </a:solidFill>
            <a:prstDash val="solid"/>
          </a:ln>
        </p:spPr>
      </p:sp>
      <p:sp>
        <p:nvSpPr>
          <p:cNvPr id="11" name="Text 9"/>
          <p:cNvSpPr txBox="1"/>
          <p:nvPr/>
        </p:nvSpPr>
        <p:spPr>
          <a:xfrm>
            <a:off x="804672" y="2194560"/>
            <a:ext cx="1234440" cy="603504"/>
          </a:xfrm>
          <a:prstGeom prst="rect">
            <a:avLst/>
          </a:prstGeom>
          <a:noFill/>
          <a:ln/>
        </p:spPr>
        <p:txBody>
          <a:bodyPr wrap="square" lIns="0" tIns="0" rIns="0" bIns="0" rtlCol="0" anchor="ctr"/>
          <a:lstStyle/>
          <a:p>
            <a:pPr indent="0" marL="0">
              <a:buNone/>
            </a:pPr>
            <a:r>
              <a:rPr lang="en-US" sz="1300" b="1" dirty="0">
                <a:solidFill>
                  <a:srgbClr val="9A430A"/>
                </a:solidFill>
                <a:latin typeface="Courier New" pitchFamily="34" charset="0"/>
                <a:ea typeface="Courier New" pitchFamily="34" charset="-122"/>
                <a:cs typeface="Courier New" pitchFamily="34" charset="-120"/>
              </a:rPr>
              <a:t>17–33 min</a:t>
            </a:r>
            <a:endParaRPr lang="en-US" sz="1300" dirty="0"/>
          </a:p>
        </p:txBody>
      </p:sp>
      <p:sp>
        <p:nvSpPr>
          <p:cNvPr id="12" name="Text 10"/>
          <p:cNvSpPr txBox="1"/>
          <p:nvPr/>
        </p:nvSpPr>
        <p:spPr>
          <a:xfrm>
            <a:off x="2121408" y="2194560"/>
            <a:ext cx="4572000" cy="603504"/>
          </a:xfrm>
          <a:prstGeom prst="rect">
            <a:avLst/>
          </a:prstGeom>
          <a:noFill/>
          <a:ln/>
        </p:spPr>
        <p:txBody>
          <a:bodyPr wrap="square" lIns="0" tIns="0" rIns="0" bIns="0" rtlCol="0" anchor="ctr"/>
          <a:lstStyle/>
          <a:p>
            <a:pPr indent="0" marL="0">
              <a:buNone/>
            </a:pPr>
            <a:r>
              <a:rPr lang="en-US" sz="1450" b="1" dirty="0">
                <a:solidFill>
                  <a:srgbClr val="0F2942"/>
                </a:solidFill>
                <a:latin typeface="Calibri" pitchFamily="34" charset="0"/>
                <a:ea typeface="Calibri" pitchFamily="34" charset="-122"/>
                <a:cs typeface="Calibri" pitchFamily="34" charset="-120"/>
              </a:rPr>
              <a:t>Returning values and passing arguments</a:t>
            </a:r>
            <a:endParaRPr lang="en-US" sz="1450" dirty="0"/>
          </a:p>
        </p:txBody>
      </p:sp>
      <p:sp>
        <p:nvSpPr>
          <p:cNvPr id="13" name="Text 11"/>
          <p:cNvSpPr txBox="1"/>
          <p:nvPr/>
        </p:nvSpPr>
        <p:spPr>
          <a:xfrm>
            <a:off x="6784848" y="2194560"/>
            <a:ext cx="4657039" cy="603504"/>
          </a:xfrm>
          <a:prstGeom prst="rect">
            <a:avLst/>
          </a:prstGeom>
          <a:noFill/>
          <a:ln/>
        </p:spPr>
        <p:txBody>
          <a:bodyPr wrap="square" lIns="0" tIns="0" rIns="0" bIns="0" rtlCol="0" anchor="ctr"/>
          <a:lstStyle/>
          <a:p>
            <a:pPr indent="0" marL="0">
              <a:buNone/>
            </a:pPr>
            <a:r>
              <a:rPr lang="en-US" sz="1250" dirty="0">
                <a:solidFill>
                  <a:srgbClr val="3A536B"/>
                </a:solidFill>
                <a:latin typeface="Calibri" pitchFamily="34" charset="0"/>
                <a:ea typeface="Calibri" pitchFamily="34" charset="-122"/>
                <a:cs typeface="Calibri" pitchFamily="34" charset="-120"/>
              </a:rPr>
              <a:t>void vs value-returning, the return rule, pass by value</a:t>
            </a:r>
            <a:endParaRPr lang="en-US" sz="1250" dirty="0"/>
          </a:p>
        </p:txBody>
      </p:sp>
      <p:sp>
        <p:nvSpPr>
          <p:cNvPr id="14" name="Shape 12"/>
          <p:cNvSpPr/>
          <p:nvPr/>
        </p:nvSpPr>
        <p:spPr>
          <a:xfrm>
            <a:off x="566928" y="2926080"/>
            <a:ext cx="11057839" cy="713232"/>
          </a:xfrm>
          <a:prstGeom prst="roundRect">
            <a:avLst>
              <a:gd name="adj" fmla="val 11538"/>
            </a:avLst>
          </a:prstGeom>
          <a:solidFill>
            <a:srgbClr val="F1F5F9"/>
          </a:solidFill>
          <a:ln w="12700">
            <a:solidFill>
              <a:srgbClr val="F1F5F9"/>
            </a:solidFill>
            <a:prstDash val="solid"/>
          </a:ln>
        </p:spPr>
      </p:sp>
      <p:sp>
        <p:nvSpPr>
          <p:cNvPr id="15" name="Text 13"/>
          <p:cNvSpPr txBox="1"/>
          <p:nvPr/>
        </p:nvSpPr>
        <p:spPr>
          <a:xfrm>
            <a:off x="804672" y="2980944"/>
            <a:ext cx="1234440" cy="603504"/>
          </a:xfrm>
          <a:prstGeom prst="rect">
            <a:avLst/>
          </a:prstGeom>
          <a:noFill/>
          <a:ln/>
        </p:spPr>
        <p:txBody>
          <a:bodyPr wrap="square" lIns="0" tIns="0" rIns="0" bIns="0" rtlCol="0" anchor="ctr"/>
          <a:lstStyle/>
          <a:p>
            <a:pPr indent="0" marL="0">
              <a:buNone/>
            </a:pPr>
            <a:r>
              <a:rPr lang="en-US" sz="1300" b="1" dirty="0">
                <a:solidFill>
                  <a:srgbClr val="9A430A"/>
                </a:solidFill>
                <a:latin typeface="Courier New" pitchFamily="34" charset="0"/>
                <a:ea typeface="Courier New" pitchFamily="34" charset="-122"/>
                <a:cs typeface="Courier New" pitchFamily="34" charset="-120"/>
              </a:rPr>
              <a:t>33–50 min</a:t>
            </a:r>
            <a:endParaRPr lang="en-US" sz="1300" dirty="0"/>
          </a:p>
        </p:txBody>
      </p:sp>
      <p:sp>
        <p:nvSpPr>
          <p:cNvPr id="16" name="Text 14"/>
          <p:cNvSpPr txBox="1"/>
          <p:nvPr/>
        </p:nvSpPr>
        <p:spPr>
          <a:xfrm>
            <a:off x="2121408" y="2980944"/>
            <a:ext cx="4572000" cy="603504"/>
          </a:xfrm>
          <a:prstGeom prst="rect">
            <a:avLst/>
          </a:prstGeom>
          <a:noFill/>
          <a:ln/>
        </p:spPr>
        <p:txBody>
          <a:bodyPr wrap="square" lIns="0" tIns="0" rIns="0" bIns="0" rtlCol="0" anchor="ctr"/>
          <a:lstStyle/>
          <a:p>
            <a:pPr indent="0" marL="0">
              <a:buNone/>
            </a:pPr>
            <a:r>
              <a:rPr lang="en-US" sz="1450" b="1" dirty="0">
                <a:solidFill>
                  <a:srgbClr val="0F2942"/>
                </a:solidFill>
                <a:latin typeface="Calibri" pitchFamily="34" charset="0"/>
                <a:ea typeface="Calibri" pitchFamily="34" charset="-122"/>
                <a:cs typeface="Calibri" pitchFamily="34" charset="-120"/>
              </a:rPr>
              <a:t>Overloading and scope</a:t>
            </a:r>
            <a:endParaRPr lang="en-US" sz="1450" dirty="0"/>
          </a:p>
        </p:txBody>
      </p:sp>
      <p:sp>
        <p:nvSpPr>
          <p:cNvPr id="17" name="Text 15"/>
          <p:cNvSpPr txBox="1"/>
          <p:nvPr/>
        </p:nvSpPr>
        <p:spPr>
          <a:xfrm>
            <a:off x="6784848" y="2980944"/>
            <a:ext cx="4657039" cy="603504"/>
          </a:xfrm>
          <a:prstGeom prst="rect">
            <a:avLst/>
          </a:prstGeom>
          <a:noFill/>
          <a:ln/>
        </p:spPr>
        <p:txBody>
          <a:bodyPr wrap="square" lIns="0" tIns="0" rIns="0" bIns="0" rtlCol="0" anchor="ctr"/>
          <a:lstStyle/>
          <a:p>
            <a:pPr indent="0" marL="0">
              <a:buNone/>
            </a:pPr>
            <a:r>
              <a:rPr lang="en-US" sz="1250" dirty="0">
                <a:solidFill>
                  <a:srgbClr val="3A536B"/>
                </a:solidFill>
                <a:latin typeface="Calibri" pitchFamily="34" charset="0"/>
                <a:ea typeface="Calibri" pitchFamily="34" charset="-122"/>
                <a:cs typeface="Calibri" pitchFamily="34" charset="-120"/>
              </a:rPr>
              <a:t>Which method gets called, and where a variable lives</a:t>
            </a:r>
            <a:endParaRPr lang="en-US" sz="1250" dirty="0"/>
          </a:p>
        </p:txBody>
      </p:sp>
      <p:sp>
        <p:nvSpPr>
          <p:cNvPr id="18" name="Shape 16"/>
          <p:cNvSpPr/>
          <p:nvPr/>
        </p:nvSpPr>
        <p:spPr>
          <a:xfrm>
            <a:off x="566928" y="3712464"/>
            <a:ext cx="11057839" cy="713232"/>
          </a:xfrm>
          <a:prstGeom prst="roundRect">
            <a:avLst>
              <a:gd name="adj" fmla="val 11538"/>
            </a:avLst>
          </a:prstGeom>
          <a:solidFill>
            <a:srgbClr val="FFFFFF"/>
          </a:solidFill>
          <a:ln w="12700">
            <a:solidFill>
              <a:srgbClr val="D3DEE7"/>
            </a:solidFill>
            <a:prstDash val="solid"/>
          </a:ln>
        </p:spPr>
      </p:sp>
      <p:sp>
        <p:nvSpPr>
          <p:cNvPr id="19" name="Text 17"/>
          <p:cNvSpPr txBox="1"/>
          <p:nvPr/>
        </p:nvSpPr>
        <p:spPr>
          <a:xfrm>
            <a:off x="804672" y="3767328"/>
            <a:ext cx="1234440" cy="603504"/>
          </a:xfrm>
          <a:prstGeom prst="rect">
            <a:avLst/>
          </a:prstGeom>
          <a:noFill/>
          <a:ln/>
        </p:spPr>
        <p:txBody>
          <a:bodyPr wrap="square" lIns="0" tIns="0" rIns="0" bIns="0" rtlCol="0" anchor="ctr"/>
          <a:lstStyle/>
          <a:p>
            <a:pPr indent="0" marL="0">
              <a:buNone/>
            </a:pPr>
            <a:r>
              <a:rPr lang="en-US" sz="1300" b="1" dirty="0">
                <a:solidFill>
                  <a:srgbClr val="9A430A"/>
                </a:solidFill>
                <a:latin typeface="Courier New" pitchFamily="34" charset="0"/>
                <a:ea typeface="Courier New" pitchFamily="34" charset="-122"/>
                <a:cs typeface="Courier New" pitchFamily="34" charset="-120"/>
              </a:rPr>
              <a:t>50–68 min</a:t>
            </a:r>
            <a:endParaRPr lang="en-US" sz="1300" dirty="0"/>
          </a:p>
        </p:txBody>
      </p:sp>
      <p:sp>
        <p:nvSpPr>
          <p:cNvPr id="20" name="Text 18"/>
          <p:cNvSpPr txBox="1"/>
          <p:nvPr/>
        </p:nvSpPr>
        <p:spPr>
          <a:xfrm>
            <a:off x="2121408" y="3767328"/>
            <a:ext cx="4572000" cy="603504"/>
          </a:xfrm>
          <a:prstGeom prst="rect">
            <a:avLst/>
          </a:prstGeom>
          <a:noFill/>
          <a:ln/>
        </p:spPr>
        <p:txBody>
          <a:bodyPr wrap="square" lIns="0" tIns="0" rIns="0" bIns="0" rtlCol="0" anchor="ctr"/>
          <a:lstStyle/>
          <a:p>
            <a:pPr indent="0" marL="0">
              <a:buNone/>
            </a:pPr>
            <a:r>
              <a:rPr lang="en-US" sz="1450" b="1" dirty="0">
                <a:solidFill>
                  <a:srgbClr val="0F2942"/>
                </a:solidFill>
                <a:latin typeface="Calibri" pitchFamily="34" charset="0"/>
                <a:ea typeface="Calibri" pitchFamily="34" charset="-122"/>
                <a:cs typeface="Calibri" pitchFamily="34" charset="-120"/>
              </a:rPr>
              <a:t>Design with methods</a:t>
            </a:r>
            <a:endParaRPr lang="en-US" sz="1450" dirty="0"/>
          </a:p>
        </p:txBody>
      </p:sp>
      <p:sp>
        <p:nvSpPr>
          <p:cNvPr id="21" name="Text 19"/>
          <p:cNvSpPr txBox="1"/>
          <p:nvPr/>
        </p:nvSpPr>
        <p:spPr>
          <a:xfrm>
            <a:off x="6784848" y="3767328"/>
            <a:ext cx="4657039" cy="603504"/>
          </a:xfrm>
          <a:prstGeom prst="rect">
            <a:avLst/>
          </a:prstGeom>
          <a:noFill/>
          <a:ln/>
        </p:spPr>
        <p:txBody>
          <a:bodyPr wrap="square" lIns="0" tIns="0" rIns="0" bIns="0" rtlCol="0" anchor="ctr"/>
          <a:lstStyle/>
          <a:p>
            <a:pPr indent="0" marL="0">
              <a:buNone/>
            </a:pPr>
            <a:r>
              <a:rPr lang="en-US" sz="1250" dirty="0">
                <a:solidFill>
                  <a:srgbClr val="3A536B"/>
                </a:solidFill>
                <a:latin typeface="Calibri" pitchFamily="34" charset="0"/>
                <a:ea typeface="Calibri" pitchFamily="34" charset="-122"/>
                <a:cs typeface="Calibri" pitchFamily="34" charset="-120"/>
              </a:rPr>
              <a:t>Hex2Dec, RandomCharacter, and stepwise refinement</a:t>
            </a:r>
            <a:endParaRPr lang="en-US" sz="1250" dirty="0"/>
          </a:p>
        </p:txBody>
      </p:sp>
      <p:sp>
        <p:nvSpPr>
          <p:cNvPr id="22" name="Shape 20"/>
          <p:cNvSpPr/>
          <p:nvPr/>
        </p:nvSpPr>
        <p:spPr>
          <a:xfrm>
            <a:off x="566928" y="4498848"/>
            <a:ext cx="11057839" cy="713232"/>
          </a:xfrm>
          <a:prstGeom prst="roundRect">
            <a:avLst>
              <a:gd name="adj" fmla="val 11538"/>
            </a:avLst>
          </a:prstGeom>
          <a:solidFill>
            <a:srgbClr val="F1F5F9"/>
          </a:solidFill>
          <a:ln w="12700">
            <a:solidFill>
              <a:srgbClr val="F1F5F9"/>
            </a:solidFill>
            <a:prstDash val="solid"/>
          </a:ln>
        </p:spPr>
      </p:sp>
      <p:sp>
        <p:nvSpPr>
          <p:cNvPr id="23" name="Text 21"/>
          <p:cNvSpPr txBox="1"/>
          <p:nvPr/>
        </p:nvSpPr>
        <p:spPr>
          <a:xfrm>
            <a:off x="804672" y="4553712"/>
            <a:ext cx="1234440" cy="603504"/>
          </a:xfrm>
          <a:prstGeom prst="rect">
            <a:avLst/>
          </a:prstGeom>
          <a:noFill/>
          <a:ln/>
        </p:spPr>
        <p:txBody>
          <a:bodyPr wrap="square" lIns="0" tIns="0" rIns="0" bIns="0" rtlCol="0" anchor="ctr"/>
          <a:lstStyle/>
          <a:p>
            <a:pPr indent="0" marL="0">
              <a:buNone/>
            </a:pPr>
            <a:r>
              <a:rPr lang="en-US" sz="1300" b="1" dirty="0">
                <a:solidFill>
                  <a:srgbClr val="9A430A"/>
                </a:solidFill>
                <a:latin typeface="Courier New" pitchFamily="34" charset="0"/>
                <a:ea typeface="Courier New" pitchFamily="34" charset="-122"/>
                <a:cs typeface="Courier New" pitchFamily="34" charset="-120"/>
              </a:rPr>
              <a:t>68–75 min</a:t>
            </a:r>
            <a:endParaRPr lang="en-US" sz="1300" dirty="0"/>
          </a:p>
        </p:txBody>
      </p:sp>
      <p:sp>
        <p:nvSpPr>
          <p:cNvPr id="24" name="Text 22"/>
          <p:cNvSpPr txBox="1"/>
          <p:nvPr/>
        </p:nvSpPr>
        <p:spPr>
          <a:xfrm>
            <a:off x="2121408" y="4553712"/>
            <a:ext cx="4572000" cy="603504"/>
          </a:xfrm>
          <a:prstGeom prst="rect">
            <a:avLst/>
          </a:prstGeom>
          <a:noFill/>
          <a:ln/>
        </p:spPr>
        <p:txBody>
          <a:bodyPr wrap="square" lIns="0" tIns="0" rIns="0" bIns="0" rtlCol="0" anchor="ctr"/>
          <a:lstStyle/>
          <a:p>
            <a:pPr indent="0" marL="0">
              <a:buNone/>
            </a:pPr>
            <a:r>
              <a:rPr lang="en-US" sz="1450" b="1" dirty="0">
                <a:solidFill>
                  <a:srgbClr val="0F2942"/>
                </a:solidFill>
                <a:latin typeface="Calibri" pitchFamily="34" charset="0"/>
                <a:ea typeface="Calibri" pitchFamily="34" charset="-122"/>
                <a:cs typeface="Calibri" pitchFamily="34" charset="-120"/>
              </a:rPr>
              <a:t>Practice and questions</a:t>
            </a:r>
            <a:endParaRPr lang="en-US" sz="1450" dirty="0"/>
          </a:p>
        </p:txBody>
      </p:sp>
      <p:sp>
        <p:nvSpPr>
          <p:cNvPr id="25" name="Text 23"/>
          <p:cNvSpPr txBox="1"/>
          <p:nvPr/>
        </p:nvSpPr>
        <p:spPr>
          <a:xfrm>
            <a:off x="6784848" y="4553712"/>
            <a:ext cx="4657039" cy="603504"/>
          </a:xfrm>
          <a:prstGeom prst="rect">
            <a:avLst/>
          </a:prstGeom>
          <a:noFill/>
          <a:ln/>
        </p:spPr>
        <p:txBody>
          <a:bodyPr wrap="square" lIns="0" tIns="0" rIns="0" bIns="0" rtlCol="0" anchor="ctr"/>
          <a:lstStyle/>
          <a:p>
            <a:pPr indent="0" marL="0">
              <a:buNone/>
            </a:pPr>
            <a:r>
              <a:rPr lang="en-US" sz="1250" dirty="0">
                <a:solidFill>
                  <a:srgbClr val="3A536B"/>
                </a:solidFill>
                <a:latin typeface="Calibri" pitchFamily="34" charset="0"/>
                <a:ea typeface="Calibri" pitchFamily="34" charset="-122"/>
                <a:cs typeface="Calibri" pitchFamily="34" charset="-120"/>
              </a:rPr>
              <a:t>Five problems to work on before Tuesday</a:t>
            </a:r>
            <a:endParaRPr lang="en-US" sz="1250" dirty="0"/>
          </a:p>
        </p:txBody>
      </p:sp>
      <p:sp>
        <p:nvSpPr>
          <p:cNvPr id="26" name="Text 24"/>
          <p:cNvSpPr txBox="1"/>
          <p:nvPr/>
        </p:nvSpPr>
        <p:spPr>
          <a:xfrm>
            <a:off x="566928" y="5394960"/>
            <a:ext cx="11057839" cy="274320"/>
          </a:xfrm>
          <a:prstGeom prst="rect">
            <a:avLst/>
          </a:prstGeom>
          <a:noFill/>
          <a:ln/>
        </p:spPr>
        <p:txBody>
          <a:bodyPr wrap="square" lIns="0" tIns="0" rIns="0" bIns="0" rtlCol="0" anchor="ctr"/>
          <a:lstStyle/>
          <a:p>
            <a:pPr indent="0" marL="0">
              <a:buNone/>
            </a:pPr>
            <a:r>
              <a:rPr lang="en-US" sz="1300" i="1" dirty="0">
                <a:solidFill>
                  <a:srgbClr val="9A430A"/>
                </a:solidFill>
                <a:latin typeface="Calibri" pitchFamily="34" charset="0"/>
                <a:ea typeface="Calibri" pitchFamily="34" charset="-122"/>
                <a:cs typeface="Calibri" pitchFamily="34" charset="-120"/>
              </a:rPr>
              <a:t>Four short checkpoints are built into the slides — I will ask, you answer.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CHAPTER 6</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What You Will Be Able to Do by 19:05</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Liang, Introduction to Java Programming, 13th edition — Chapter 6, Methods.</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a:t>
            </a:r>
            <a:endParaRPr lang="en-US" sz="900" dirty="0"/>
          </a:p>
        </p:txBody>
      </p:sp>
      <p:sp>
        <p:nvSpPr>
          <p:cNvPr id="7" name="Shape 5"/>
          <p:cNvSpPr/>
          <p:nvPr/>
        </p:nvSpPr>
        <p:spPr>
          <a:xfrm>
            <a:off x="566928" y="1581912"/>
            <a:ext cx="2613584" cy="3977640"/>
          </a:xfrm>
          <a:prstGeom prst="roundRect">
            <a:avLst>
              <a:gd name="adj" fmla="val 3149"/>
            </a:avLst>
          </a:prstGeom>
          <a:solidFill>
            <a:srgbClr val="F1F5F9"/>
          </a:solidFill>
          <a:ln w="12700">
            <a:solidFill>
              <a:srgbClr val="F1F5F9"/>
            </a:solidFill>
            <a:prstDash val="solid"/>
          </a:ln>
        </p:spPr>
      </p:sp>
      <p:sp>
        <p:nvSpPr>
          <p:cNvPr id="8" name="Shape 6"/>
          <p:cNvSpPr/>
          <p:nvPr/>
        </p:nvSpPr>
        <p:spPr>
          <a:xfrm>
            <a:off x="804672" y="1837944"/>
            <a:ext cx="384048" cy="384048"/>
          </a:xfrm>
          <a:prstGeom prst="ellipse">
            <a:avLst/>
          </a:prstGeom>
          <a:solidFill>
            <a:srgbClr val="C4560C"/>
          </a:solidFill>
          <a:ln w="12700">
            <a:solidFill>
              <a:srgbClr val="C4560C"/>
            </a:solidFill>
            <a:prstDash val="solid"/>
          </a:ln>
        </p:spPr>
      </p:sp>
      <p:sp>
        <p:nvSpPr>
          <p:cNvPr id="9" name="Text 7"/>
          <p:cNvSpPr txBox="1"/>
          <p:nvPr/>
        </p:nvSpPr>
        <p:spPr>
          <a:xfrm>
            <a:off x="804672" y="1837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804672" y="2359152"/>
            <a:ext cx="2138096" cy="548640"/>
          </a:xfrm>
          <a:prstGeom prst="rect">
            <a:avLst/>
          </a:prstGeom>
          <a:noFill/>
          <a:ln/>
        </p:spPr>
        <p:txBody>
          <a:bodyPr wrap="square" lIns="0" tIns="0" rIns="0" bIns="0" rtlCol="0" anchor="t"/>
          <a:lstStyle/>
          <a:p>
            <a:pPr indent="0" marL="0">
              <a:lnSpc>
                <a:spcPct val="105000"/>
              </a:lnSpc>
              <a:buNone/>
            </a:pPr>
            <a:r>
              <a:rPr lang="en-US" sz="1700" b="1" dirty="0">
                <a:solidFill>
                  <a:srgbClr val="0F2942"/>
                </a:solidFill>
                <a:latin typeface="Cambria" pitchFamily="34" charset="0"/>
                <a:ea typeface="Cambria" pitchFamily="34" charset="-122"/>
                <a:cs typeface="Cambria" pitchFamily="34" charset="-120"/>
              </a:rPr>
              <a:t>Define and call</a:t>
            </a:r>
            <a:endParaRPr lang="en-US" sz="1700" dirty="0"/>
          </a:p>
        </p:txBody>
      </p:sp>
      <p:sp>
        <p:nvSpPr>
          <p:cNvPr id="11" name="Text 9"/>
          <p:cNvSpPr txBox="1"/>
          <p:nvPr/>
        </p:nvSpPr>
        <p:spPr>
          <a:xfrm>
            <a:off x="822960" y="2999232"/>
            <a:ext cx="2101520" cy="2423160"/>
          </a:xfrm>
          <a:prstGeom prst="rect">
            <a:avLst/>
          </a:prstGeom>
          <a:noFill/>
          <a:ln/>
        </p:spPr>
        <p:txBody>
          <a:bodyPr wrap="square" lIns="0" tIns="0" rIns="0" bIns="0" rtlCol="0" anchor="t"/>
          <a:lstStyle/>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Write a method header: modifiers, return type, name, parameters.</a:t>
            </a:r>
            <a:endParaRPr lang="en-US" sz="1200" dirty="0"/>
          </a:p>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Tell the signature from the header.</a:t>
            </a:r>
            <a:endParaRPr lang="en-US" sz="1200" dirty="0"/>
          </a:p>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Invoke a method and follow the call on the stack.</a:t>
            </a:r>
            <a:endParaRPr lang="en-US" sz="1200" dirty="0"/>
          </a:p>
        </p:txBody>
      </p:sp>
      <p:sp>
        <p:nvSpPr>
          <p:cNvPr id="12" name="Shape 10"/>
          <p:cNvSpPr/>
          <p:nvPr/>
        </p:nvSpPr>
        <p:spPr>
          <a:xfrm>
            <a:off x="3381680" y="1581912"/>
            <a:ext cx="2613584" cy="3977640"/>
          </a:xfrm>
          <a:prstGeom prst="roundRect">
            <a:avLst>
              <a:gd name="adj" fmla="val 3149"/>
            </a:avLst>
          </a:prstGeom>
          <a:solidFill>
            <a:srgbClr val="FFFFFF"/>
          </a:solidFill>
          <a:ln w="12700">
            <a:solidFill>
              <a:srgbClr val="D3DEE7"/>
            </a:solidFill>
            <a:prstDash val="solid"/>
          </a:ln>
        </p:spPr>
      </p:sp>
      <p:sp>
        <p:nvSpPr>
          <p:cNvPr id="13" name="Shape 11"/>
          <p:cNvSpPr/>
          <p:nvPr/>
        </p:nvSpPr>
        <p:spPr>
          <a:xfrm>
            <a:off x="3619424" y="1837944"/>
            <a:ext cx="384048" cy="384048"/>
          </a:xfrm>
          <a:prstGeom prst="ellipse">
            <a:avLst/>
          </a:prstGeom>
          <a:solidFill>
            <a:srgbClr val="C4560C"/>
          </a:solidFill>
          <a:ln w="12700">
            <a:solidFill>
              <a:srgbClr val="C4560C"/>
            </a:solidFill>
            <a:prstDash val="solid"/>
          </a:ln>
        </p:spPr>
      </p:sp>
      <p:sp>
        <p:nvSpPr>
          <p:cNvPr id="14" name="Text 12"/>
          <p:cNvSpPr txBox="1"/>
          <p:nvPr/>
        </p:nvSpPr>
        <p:spPr>
          <a:xfrm>
            <a:off x="3619424" y="1837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3619424" y="2359152"/>
            <a:ext cx="2138096" cy="548640"/>
          </a:xfrm>
          <a:prstGeom prst="rect">
            <a:avLst/>
          </a:prstGeom>
          <a:noFill/>
          <a:ln/>
        </p:spPr>
        <p:txBody>
          <a:bodyPr wrap="square" lIns="0" tIns="0" rIns="0" bIns="0" rtlCol="0" anchor="t"/>
          <a:lstStyle/>
          <a:p>
            <a:pPr indent="0" marL="0">
              <a:lnSpc>
                <a:spcPct val="105000"/>
              </a:lnSpc>
              <a:buNone/>
            </a:pPr>
            <a:r>
              <a:rPr lang="en-US" sz="1700" b="1" dirty="0">
                <a:solidFill>
                  <a:srgbClr val="0F2942"/>
                </a:solidFill>
                <a:latin typeface="Cambria" pitchFamily="34" charset="0"/>
                <a:ea typeface="Cambria" pitchFamily="34" charset="-122"/>
                <a:cs typeface="Cambria" pitchFamily="34" charset="-120"/>
              </a:rPr>
              <a:t>Return and pass</a:t>
            </a:r>
            <a:endParaRPr lang="en-US" sz="1700" dirty="0"/>
          </a:p>
        </p:txBody>
      </p:sp>
      <p:sp>
        <p:nvSpPr>
          <p:cNvPr id="16" name="Text 14"/>
          <p:cNvSpPr txBox="1"/>
          <p:nvPr/>
        </p:nvSpPr>
        <p:spPr>
          <a:xfrm>
            <a:off x="3637712" y="2999232"/>
            <a:ext cx="2101520" cy="2423160"/>
          </a:xfrm>
          <a:prstGeom prst="rect">
            <a:avLst/>
          </a:prstGeom>
          <a:noFill/>
          <a:ln/>
        </p:spPr>
        <p:txBody>
          <a:bodyPr wrap="square" lIns="0" tIns="0" rIns="0" bIns="0" rtlCol="0" anchor="t"/>
          <a:lstStyle/>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Value-returning methods and void methods.</a:t>
            </a:r>
            <a:endParaRPr lang="en-US" sz="1200" dirty="0"/>
          </a:p>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Why the compiler insists every path returns.</a:t>
            </a:r>
            <a:endParaRPr lang="en-US" sz="1200" dirty="0"/>
          </a:p>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Pass by value — and what that means for what you can change.</a:t>
            </a:r>
            <a:endParaRPr lang="en-US" sz="1200" dirty="0"/>
          </a:p>
        </p:txBody>
      </p:sp>
      <p:sp>
        <p:nvSpPr>
          <p:cNvPr id="17" name="Shape 15"/>
          <p:cNvSpPr/>
          <p:nvPr/>
        </p:nvSpPr>
        <p:spPr>
          <a:xfrm>
            <a:off x="6196432" y="1581912"/>
            <a:ext cx="2613584" cy="3977640"/>
          </a:xfrm>
          <a:prstGeom prst="roundRect">
            <a:avLst>
              <a:gd name="adj" fmla="val 3149"/>
            </a:avLst>
          </a:prstGeom>
          <a:solidFill>
            <a:srgbClr val="F1F5F9"/>
          </a:solidFill>
          <a:ln w="12700">
            <a:solidFill>
              <a:srgbClr val="F1F5F9"/>
            </a:solidFill>
            <a:prstDash val="solid"/>
          </a:ln>
        </p:spPr>
      </p:sp>
      <p:sp>
        <p:nvSpPr>
          <p:cNvPr id="18" name="Shape 16"/>
          <p:cNvSpPr/>
          <p:nvPr/>
        </p:nvSpPr>
        <p:spPr>
          <a:xfrm>
            <a:off x="6434176" y="1837944"/>
            <a:ext cx="384048" cy="384048"/>
          </a:xfrm>
          <a:prstGeom prst="ellipse">
            <a:avLst/>
          </a:prstGeom>
          <a:solidFill>
            <a:srgbClr val="C4560C"/>
          </a:solidFill>
          <a:ln w="12700">
            <a:solidFill>
              <a:srgbClr val="C4560C"/>
            </a:solidFill>
            <a:prstDash val="solid"/>
          </a:ln>
        </p:spPr>
      </p:sp>
      <p:sp>
        <p:nvSpPr>
          <p:cNvPr id="19" name="Text 17"/>
          <p:cNvSpPr txBox="1"/>
          <p:nvPr/>
        </p:nvSpPr>
        <p:spPr>
          <a:xfrm>
            <a:off x="6434176" y="1837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6434176" y="2359152"/>
            <a:ext cx="2138096" cy="548640"/>
          </a:xfrm>
          <a:prstGeom prst="rect">
            <a:avLst/>
          </a:prstGeom>
          <a:noFill/>
          <a:ln/>
        </p:spPr>
        <p:txBody>
          <a:bodyPr wrap="square" lIns="0" tIns="0" rIns="0" bIns="0" rtlCol="0" anchor="t"/>
          <a:lstStyle/>
          <a:p>
            <a:pPr indent="0" marL="0">
              <a:lnSpc>
                <a:spcPct val="105000"/>
              </a:lnSpc>
              <a:buNone/>
            </a:pPr>
            <a:r>
              <a:rPr lang="en-US" sz="1700" b="1" dirty="0">
                <a:solidFill>
                  <a:srgbClr val="0F2942"/>
                </a:solidFill>
                <a:latin typeface="Cambria" pitchFamily="34" charset="0"/>
                <a:ea typeface="Cambria" pitchFamily="34" charset="-122"/>
                <a:cs typeface="Cambria" pitchFamily="34" charset="-120"/>
              </a:rPr>
              <a:t>Overload and scope</a:t>
            </a:r>
            <a:endParaRPr lang="en-US" sz="1700" dirty="0"/>
          </a:p>
        </p:txBody>
      </p:sp>
      <p:sp>
        <p:nvSpPr>
          <p:cNvPr id="21" name="Text 19"/>
          <p:cNvSpPr txBox="1"/>
          <p:nvPr/>
        </p:nvSpPr>
        <p:spPr>
          <a:xfrm>
            <a:off x="6452464" y="2999232"/>
            <a:ext cx="2101520" cy="2423160"/>
          </a:xfrm>
          <a:prstGeom prst="rect">
            <a:avLst/>
          </a:prstGeom>
          <a:noFill/>
          <a:ln/>
        </p:spPr>
        <p:txBody>
          <a:bodyPr wrap="square" lIns="0" tIns="0" rIns="0" bIns="0" rtlCol="0" anchor="t"/>
          <a:lstStyle/>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Two methods, one name — and when that is ambiguous.</a:t>
            </a:r>
            <a:endParaRPr lang="en-US" sz="1200" dirty="0"/>
          </a:p>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Where a local variable lives and where it does not.</a:t>
            </a:r>
            <a:endParaRPr lang="en-US" sz="1200" dirty="0"/>
          </a:p>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Method abstraction: the body as a black box.</a:t>
            </a:r>
            <a:endParaRPr lang="en-US" sz="1200" dirty="0"/>
          </a:p>
        </p:txBody>
      </p:sp>
      <p:sp>
        <p:nvSpPr>
          <p:cNvPr id="22" name="Shape 20"/>
          <p:cNvSpPr/>
          <p:nvPr/>
        </p:nvSpPr>
        <p:spPr>
          <a:xfrm>
            <a:off x="9011183" y="1581912"/>
            <a:ext cx="2613584" cy="3977640"/>
          </a:xfrm>
          <a:prstGeom prst="roundRect">
            <a:avLst>
              <a:gd name="adj" fmla="val 3149"/>
            </a:avLst>
          </a:prstGeom>
          <a:solidFill>
            <a:srgbClr val="FFFFFF"/>
          </a:solidFill>
          <a:ln w="12700">
            <a:solidFill>
              <a:srgbClr val="D3DEE7"/>
            </a:solidFill>
            <a:prstDash val="solid"/>
          </a:ln>
        </p:spPr>
      </p:sp>
      <p:sp>
        <p:nvSpPr>
          <p:cNvPr id="23" name="Shape 21"/>
          <p:cNvSpPr/>
          <p:nvPr/>
        </p:nvSpPr>
        <p:spPr>
          <a:xfrm>
            <a:off x="9248927" y="1837944"/>
            <a:ext cx="384048" cy="384048"/>
          </a:xfrm>
          <a:prstGeom prst="ellipse">
            <a:avLst/>
          </a:prstGeom>
          <a:solidFill>
            <a:srgbClr val="C4560C"/>
          </a:solidFill>
          <a:ln w="12700">
            <a:solidFill>
              <a:srgbClr val="C4560C"/>
            </a:solidFill>
            <a:prstDash val="solid"/>
          </a:ln>
        </p:spPr>
      </p:sp>
      <p:sp>
        <p:nvSpPr>
          <p:cNvPr id="24" name="Text 22"/>
          <p:cNvSpPr txBox="1"/>
          <p:nvPr/>
        </p:nvSpPr>
        <p:spPr>
          <a:xfrm>
            <a:off x="9248927" y="1837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txBox="1"/>
          <p:nvPr/>
        </p:nvSpPr>
        <p:spPr>
          <a:xfrm>
            <a:off x="9248927" y="2359152"/>
            <a:ext cx="2138096" cy="548640"/>
          </a:xfrm>
          <a:prstGeom prst="rect">
            <a:avLst/>
          </a:prstGeom>
          <a:noFill/>
          <a:ln/>
        </p:spPr>
        <p:txBody>
          <a:bodyPr wrap="square" lIns="0" tIns="0" rIns="0" bIns="0" rtlCol="0" anchor="t"/>
          <a:lstStyle/>
          <a:p>
            <a:pPr indent="0" marL="0">
              <a:lnSpc>
                <a:spcPct val="105000"/>
              </a:lnSpc>
              <a:buNone/>
            </a:pPr>
            <a:r>
              <a:rPr lang="en-US" sz="1700" b="1" dirty="0">
                <a:solidFill>
                  <a:srgbClr val="0F2942"/>
                </a:solidFill>
                <a:latin typeface="Cambria" pitchFamily="34" charset="0"/>
                <a:ea typeface="Cambria" pitchFamily="34" charset="-122"/>
                <a:cs typeface="Cambria" pitchFamily="34" charset="-120"/>
              </a:rPr>
              <a:t>Design with methods</a:t>
            </a:r>
            <a:endParaRPr lang="en-US" sz="1700" dirty="0"/>
          </a:p>
        </p:txBody>
      </p:sp>
      <p:sp>
        <p:nvSpPr>
          <p:cNvPr id="26" name="Text 24"/>
          <p:cNvSpPr txBox="1"/>
          <p:nvPr/>
        </p:nvSpPr>
        <p:spPr>
          <a:xfrm>
            <a:off x="9267215" y="2999232"/>
            <a:ext cx="2101520" cy="2423160"/>
          </a:xfrm>
          <a:prstGeom prst="rect">
            <a:avLst/>
          </a:prstGeom>
          <a:noFill/>
          <a:ln/>
        </p:spPr>
        <p:txBody>
          <a:bodyPr wrap="square" lIns="0" tIns="0" rIns="0" bIns="0" rtlCol="0" anchor="t"/>
          <a:lstStyle/>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Turn repeated code into a named, tested unit.</a:t>
            </a:r>
            <a:endParaRPr lang="en-US" sz="1200" dirty="0"/>
          </a:p>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Hex2Dec and the RandomCharacter class.</a:t>
            </a:r>
            <a:endParaRPr lang="en-US" sz="1200" dirty="0"/>
          </a:p>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Stepwise refinement, structure charts and stubs.</a:t>
            </a:r>
            <a:endParaRPr lang="en-US" sz="1200" dirty="0"/>
          </a:p>
        </p:txBody>
      </p:sp>
      <p:sp>
        <p:nvSpPr>
          <p:cNvPr id="27" name="Text 25"/>
          <p:cNvSpPr txBox="1"/>
          <p:nvPr/>
        </p:nvSpPr>
        <p:spPr>
          <a:xfrm>
            <a:off x="566928" y="5715000"/>
            <a:ext cx="11057839" cy="274320"/>
          </a:xfrm>
          <a:prstGeom prst="rect">
            <a:avLst/>
          </a:prstGeom>
          <a:noFill/>
          <a:ln/>
        </p:spPr>
        <p:txBody>
          <a:bodyPr wrap="square" lIns="0" tIns="0" rIns="0" bIns="0" rtlCol="0" anchor="ctr"/>
          <a:lstStyle/>
          <a:p>
            <a:pPr indent="0" marL="0">
              <a:buNone/>
            </a:pPr>
            <a:r>
              <a:rPr lang="en-US" sz="1250" i="1" dirty="0">
                <a:solidFill>
                  <a:srgbClr val="9A430A"/>
                </a:solidFill>
                <a:latin typeface="Calibri" pitchFamily="34" charset="0"/>
                <a:ea typeface="Calibri" pitchFamily="34" charset="-122"/>
                <a:cs typeface="Calibri" pitchFamily="34" charset="-120"/>
              </a:rPr>
              <a:t>Quiz 1 is next Thursday, 01.10, and covers Weeks 1–3 — today's material included.</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WHY</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The Same Four Lines, Written Three Times</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Find the sum of the integers from 1 to 10, from 20 to 30, and from 35 to 45.</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566928" y="1581912"/>
            <a:ext cx="5346040" cy="2821107"/>
          </a:xfrm>
          <a:prstGeom prst="roundRect">
            <a:avLst>
              <a:gd name="adj" fmla="val 2269"/>
            </a:avLst>
          </a:prstGeom>
          <a:solidFill>
            <a:srgbClr val="EDF2F7"/>
          </a:solidFill>
          <a:ln w="12700">
            <a:solidFill>
              <a:srgbClr val="CFDBE5"/>
            </a:solidFill>
            <a:prstDash val="solid"/>
          </a:ln>
        </p:spPr>
      </p:sp>
      <p:sp>
        <p:nvSpPr>
          <p:cNvPr id="8" name="Text 6"/>
          <p:cNvSpPr txBox="1"/>
          <p:nvPr/>
        </p:nvSpPr>
        <p:spPr>
          <a:xfrm>
            <a:off x="713232" y="1627632"/>
            <a:ext cx="505343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WHAT WE CAN WRITE TODAY</a:t>
            </a:r>
            <a:endParaRPr lang="en-US" sz="950" dirty="0"/>
          </a:p>
        </p:txBody>
      </p:sp>
      <p:sp>
        <p:nvSpPr>
          <p:cNvPr id="9" name="Text 7"/>
          <p:cNvSpPr txBox="1"/>
          <p:nvPr/>
        </p:nvSpPr>
        <p:spPr>
          <a:xfrm>
            <a:off x="731520" y="1856232"/>
            <a:ext cx="5016856" cy="2491923"/>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"Sum from 1 to 10 is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30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"Sum from 20 to 30 is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35</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45</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"Sum from 35 to 45 is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0" name="Shape 8"/>
          <p:cNvSpPr/>
          <p:nvPr/>
        </p:nvSpPr>
        <p:spPr>
          <a:xfrm>
            <a:off x="566928" y="4659051"/>
            <a:ext cx="5346040" cy="1325880"/>
          </a:xfrm>
          <a:prstGeom prst="roundRect">
            <a:avLst>
              <a:gd name="adj" fmla="val 6207"/>
            </a:avLst>
          </a:prstGeom>
          <a:solidFill>
            <a:srgbClr val="FBEAE8"/>
          </a:solidFill>
          <a:ln w="12700">
            <a:solidFill>
              <a:srgbClr val="FBEAE8"/>
            </a:solidFill>
            <a:prstDash val="solid"/>
          </a:ln>
        </p:spPr>
      </p:sp>
      <p:sp>
        <p:nvSpPr>
          <p:cNvPr id="11" name="Text 9"/>
          <p:cNvSpPr txBox="1"/>
          <p:nvPr/>
        </p:nvSpPr>
        <p:spPr>
          <a:xfrm>
            <a:off x="841248" y="4659051"/>
            <a:ext cx="4797400" cy="1325880"/>
          </a:xfrm>
          <a:prstGeom prst="rect">
            <a:avLst/>
          </a:prstGeom>
          <a:noFill/>
          <a:ln/>
        </p:spPr>
        <p:txBody>
          <a:bodyPr wrap="square" lIns="0" tIns="0" rIns="0" bIns="0" rtlCol="0" anchor="ctr"/>
          <a:lstStyle/>
          <a:p>
            <a:pPr indent="0" marL="0">
              <a:lnSpc>
                <a:spcPct val="112000"/>
              </a:lnSpc>
              <a:buNone/>
            </a:pPr>
            <a:r>
              <a:rPr lang="en-US" sz="1250" b="1" dirty="0">
                <a:solidFill>
                  <a:srgbClr val="9C241C"/>
                </a:solidFill>
                <a:latin typeface="Calibri" pitchFamily="34" charset="0"/>
                <a:ea typeface="Calibri" pitchFamily="34" charset="-122"/>
                <a:cs typeface="Calibri" pitchFamily="34" charset="-120"/>
              </a:rPr>
              <a:t>Three copies of one idea.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Change how the sum is computed and you change it three times. Miss one and the program is quietly wrong.</a:t>
            </a:r>
            <a:endParaRPr lang="en-US" sz="1250" dirty="0"/>
          </a:p>
        </p:txBody>
      </p:sp>
      <p:sp>
        <p:nvSpPr>
          <p:cNvPr id="12" name="Shape 10"/>
          <p:cNvSpPr/>
          <p:nvPr/>
        </p:nvSpPr>
        <p:spPr>
          <a:xfrm>
            <a:off x="6278728" y="1581912"/>
            <a:ext cx="5346040" cy="3034345"/>
          </a:xfrm>
          <a:prstGeom prst="roundRect">
            <a:avLst>
              <a:gd name="adj" fmla="val 2109"/>
            </a:avLst>
          </a:prstGeom>
          <a:solidFill>
            <a:srgbClr val="EDF2F7"/>
          </a:solidFill>
          <a:ln w="12700">
            <a:solidFill>
              <a:srgbClr val="CFDBE5"/>
            </a:solidFill>
            <a:prstDash val="solid"/>
          </a:ln>
        </p:spPr>
      </p:sp>
      <p:sp>
        <p:nvSpPr>
          <p:cNvPr id="13" name="Text 11"/>
          <p:cNvSpPr txBox="1"/>
          <p:nvPr/>
        </p:nvSpPr>
        <p:spPr>
          <a:xfrm>
            <a:off x="6425032" y="1627632"/>
            <a:ext cx="505343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MethodDemo.java — ONE COPY, THREE USES</a:t>
            </a:r>
            <a:endParaRPr lang="en-US" sz="950" dirty="0"/>
          </a:p>
        </p:txBody>
      </p:sp>
      <p:sp>
        <p:nvSpPr>
          <p:cNvPr id="14" name="Text 12"/>
          <p:cNvSpPr txBox="1"/>
          <p:nvPr/>
        </p:nvSpPr>
        <p:spPr>
          <a:xfrm>
            <a:off x="6443320" y="1856232"/>
            <a:ext cx="5016856" cy="2705161"/>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result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result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result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void</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main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String</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args</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"1 to 10: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"20 to 30: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30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"35 to 45: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35</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45</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5" name="Shape 13"/>
          <p:cNvSpPr/>
          <p:nvPr/>
        </p:nvSpPr>
        <p:spPr>
          <a:xfrm>
            <a:off x="6278728" y="4872289"/>
            <a:ext cx="5346040" cy="1325880"/>
          </a:xfrm>
          <a:prstGeom prst="roundRect">
            <a:avLst>
              <a:gd name="adj" fmla="val 6207"/>
            </a:avLst>
          </a:prstGeom>
          <a:solidFill>
            <a:srgbClr val="E6F2EC"/>
          </a:solidFill>
          <a:ln w="12700">
            <a:solidFill>
              <a:srgbClr val="E6F2EC"/>
            </a:solidFill>
            <a:prstDash val="solid"/>
          </a:ln>
        </p:spPr>
      </p:sp>
      <p:sp>
        <p:nvSpPr>
          <p:cNvPr id="16" name="Text 14"/>
          <p:cNvSpPr txBox="1"/>
          <p:nvPr/>
        </p:nvSpPr>
        <p:spPr>
          <a:xfrm>
            <a:off x="6553048" y="4872289"/>
            <a:ext cx="4797400" cy="1325880"/>
          </a:xfrm>
          <a:prstGeom prst="rect">
            <a:avLst/>
          </a:prstGeom>
          <a:noFill/>
          <a:ln/>
        </p:spPr>
        <p:txBody>
          <a:bodyPr wrap="square" lIns="0" tIns="0" rIns="0" bIns="0" rtlCol="0" anchor="ctr"/>
          <a:lstStyle/>
          <a:p>
            <a:pPr indent="0" marL="0">
              <a:lnSpc>
                <a:spcPct val="112000"/>
              </a:lnSpc>
              <a:buNone/>
            </a:pPr>
            <a:r>
              <a:rPr lang="en-US" sz="1250" b="1" dirty="0">
                <a:solidFill>
                  <a:srgbClr val="176240"/>
                </a:solidFill>
                <a:latin typeface="Calibri" pitchFamily="34" charset="0"/>
                <a:ea typeface="Calibri" pitchFamily="34" charset="-122"/>
                <a:cs typeface="Calibri" pitchFamily="34" charset="-120"/>
              </a:rPr>
              <a:t>The loop is written once and named.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Fix it in one place and all three callers are fixed. That is the whole argument for methods.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DEFINITION 01</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Every Method Has the Same Six Parts</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A method is a named block of statements that performs one operation.</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5</a:t>
            </a:r>
            <a:endParaRPr lang="en-US" sz="900" dirty="0"/>
          </a:p>
        </p:txBody>
      </p:sp>
      <p:sp>
        <p:nvSpPr>
          <p:cNvPr id="7" name="Shape 5"/>
          <p:cNvSpPr/>
          <p:nvPr/>
        </p:nvSpPr>
        <p:spPr>
          <a:xfrm>
            <a:off x="566928" y="1536192"/>
            <a:ext cx="5760720" cy="658368"/>
          </a:xfrm>
          <a:prstGeom prst="roundRect">
            <a:avLst>
              <a:gd name="adj" fmla="val 12500"/>
            </a:avLst>
          </a:prstGeom>
          <a:solidFill>
            <a:srgbClr val="F1F5F9"/>
          </a:solidFill>
          <a:ln w="12700">
            <a:solidFill>
              <a:srgbClr val="F1F5F9"/>
            </a:solidFill>
            <a:prstDash val="solid"/>
          </a:ln>
        </p:spPr>
      </p:sp>
      <p:sp>
        <p:nvSpPr>
          <p:cNvPr id="8" name="Shape 6"/>
          <p:cNvSpPr/>
          <p:nvPr/>
        </p:nvSpPr>
        <p:spPr>
          <a:xfrm>
            <a:off x="749808" y="1655064"/>
            <a:ext cx="1920240" cy="420624"/>
          </a:xfrm>
          <a:prstGeom prst="roundRect">
            <a:avLst>
              <a:gd name="adj" fmla="val 13043"/>
            </a:avLst>
          </a:prstGeom>
          <a:solidFill>
            <a:srgbClr val="E7F0F7"/>
          </a:solidFill>
          <a:ln w="12700">
            <a:solidFill>
              <a:srgbClr val="E7F0F7"/>
            </a:solidFill>
            <a:prstDash val="solid"/>
          </a:ln>
        </p:spPr>
      </p:sp>
      <p:sp>
        <p:nvSpPr>
          <p:cNvPr id="9" name="Text 7"/>
          <p:cNvSpPr txBox="1"/>
          <p:nvPr/>
        </p:nvSpPr>
        <p:spPr>
          <a:xfrm>
            <a:off x="749808" y="1655064"/>
            <a:ext cx="1920240" cy="420624"/>
          </a:xfrm>
          <a:prstGeom prst="rect">
            <a:avLst/>
          </a:prstGeom>
          <a:noFill/>
          <a:ln/>
        </p:spPr>
        <p:txBody>
          <a:bodyPr wrap="square" lIns="0" tIns="0" rIns="0" bIns="0" rtlCol="0" anchor="ctr"/>
          <a:lstStyle/>
          <a:p>
            <a:pPr algn="ctr" indent="0" marL="0">
              <a:buNone/>
            </a:pPr>
            <a:r>
              <a:rPr lang="en-US" sz="1150" b="1" dirty="0">
                <a:solidFill>
                  <a:srgbClr val="175680"/>
                </a:solidFill>
                <a:latin typeface="Courier New" pitchFamily="34" charset="0"/>
                <a:ea typeface="Courier New" pitchFamily="34" charset="-122"/>
                <a:cs typeface="Courier New" pitchFamily="34" charset="-120"/>
              </a:rPr>
              <a:t>public</a:t>
            </a:r>
            <a:endParaRPr lang="en-US" sz="1150" dirty="0"/>
          </a:p>
        </p:txBody>
      </p:sp>
      <p:sp>
        <p:nvSpPr>
          <p:cNvPr id="10" name="Text 8"/>
          <p:cNvSpPr txBox="1"/>
          <p:nvPr/>
        </p:nvSpPr>
        <p:spPr>
          <a:xfrm>
            <a:off x="2807208" y="1591056"/>
            <a:ext cx="1417320" cy="548640"/>
          </a:xfrm>
          <a:prstGeom prst="rect">
            <a:avLst/>
          </a:prstGeom>
          <a:noFill/>
          <a:ln/>
        </p:spPr>
        <p:txBody>
          <a:bodyPr wrap="square" lIns="0" tIns="0" rIns="0" bIns="0" rtlCol="0" anchor="ctr"/>
          <a:lstStyle/>
          <a:p>
            <a:pPr indent="0" marL="0">
              <a:buNone/>
            </a:pPr>
            <a:r>
              <a:rPr lang="en-US" sz="1200" b="1" dirty="0">
                <a:solidFill>
                  <a:srgbClr val="0F2942"/>
                </a:solidFill>
                <a:latin typeface="Calibri" pitchFamily="34" charset="0"/>
                <a:ea typeface="Calibri" pitchFamily="34" charset="-122"/>
                <a:cs typeface="Calibri" pitchFamily="34" charset="-120"/>
              </a:rPr>
              <a:t>modifier</a:t>
            </a:r>
            <a:endParaRPr lang="en-US" sz="1200" dirty="0"/>
          </a:p>
        </p:txBody>
      </p:sp>
      <p:sp>
        <p:nvSpPr>
          <p:cNvPr id="11" name="Text 9"/>
          <p:cNvSpPr txBox="1"/>
          <p:nvPr/>
        </p:nvSpPr>
        <p:spPr>
          <a:xfrm>
            <a:off x="4270248" y="1591056"/>
            <a:ext cx="1874520" cy="548640"/>
          </a:xfrm>
          <a:prstGeom prst="rect">
            <a:avLst/>
          </a:prstGeom>
          <a:noFill/>
          <a:ln/>
        </p:spPr>
        <p:txBody>
          <a:bodyPr wrap="square" lIns="0" tIns="0" rIns="0" bIns="0" rtlCol="0" anchor="ctr"/>
          <a:lstStyle/>
          <a:p>
            <a:pPr indent="0" marL="0">
              <a:buNone/>
            </a:pPr>
            <a:r>
              <a:rPr lang="en-US" sz="1150" dirty="0">
                <a:solidFill>
                  <a:srgbClr val="3A536B"/>
                </a:solidFill>
                <a:latin typeface="Calibri" pitchFamily="34" charset="0"/>
                <a:ea typeface="Calibri" pitchFamily="34" charset="-122"/>
                <a:cs typeface="Calibri" pitchFamily="34" charset="-120"/>
              </a:rPr>
              <a:t>who may call it — for now, always public static</a:t>
            </a:r>
            <a:endParaRPr lang="en-US" sz="1150" dirty="0"/>
          </a:p>
        </p:txBody>
      </p:sp>
      <p:sp>
        <p:nvSpPr>
          <p:cNvPr id="12" name="Shape 10"/>
          <p:cNvSpPr/>
          <p:nvPr/>
        </p:nvSpPr>
        <p:spPr>
          <a:xfrm>
            <a:off x="566928" y="2267712"/>
            <a:ext cx="5760720" cy="658368"/>
          </a:xfrm>
          <a:prstGeom prst="roundRect">
            <a:avLst>
              <a:gd name="adj" fmla="val 12500"/>
            </a:avLst>
          </a:prstGeom>
          <a:solidFill>
            <a:srgbClr val="FFFFFF"/>
          </a:solidFill>
          <a:ln w="12700">
            <a:solidFill>
              <a:srgbClr val="D3DEE7"/>
            </a:solidFill>
            <a:prstDash val="solid"/>
          </a:ln>
        </p:spPr>
      </p:sp>
      <p:sp>
        <p:nvSpPr>
          <p:cNvPr id="13" name="Shape 11"/>
          <p:cNvSpPr/>
          <p:nvPr/>
        </p:nvSpPr>
        <p:spPr>
          <a:xfrm>
            <a:off x="749808" y="2386584"/>
            <a:ext cx="1920240" cy="420624"/>
          </a:xfrm>
          <a:prstGeom prst="roundRect">
            <a:avLst>
              <a:gd name="adj" fmla="val 13043"/>
            </a:avLst>
          </a:prstGeom>
          <a:solidFill>
            <a:srgbClr val="E7F0F7"/>
          </a:solidFill>
          <a:ln w="12700">
            <a:solidFill>
              <a:srgbClr val="E7F0F7"/>
            </a:solidFill>
            <a:prstDash val="solid"/>
          </a:ln>
        </p:spPr>
      </p:sp>
      <p:sp>
        <p:nvSpPr>
          <p:cNvPr id="14" name="Text 12"/>
          <p:cNvSpPr txBox="1"/>
          <p:nvPr/>
        </p:nvSpPr>
        <p:spPr>
          <a:xfrm>
            <a:off x="749808" y="2386584"/>
            <a:ext cx="1920240" cy="420624"/>
          </a:xfrm>
          <a:prstGeom prst="rect">
            <a:avLst/>
          </a:prstGeom>
          <a:noFill/>
          <a:ln/>
        </p:spPr>
        <p:txBody>
          <a:bodyPr wrap="square" lIns="0" tIns="0" rIns="0" bIns="0" rtlCol="0" anchor="ctr"/>
          <a:lstStyle/>
          <a:p>
            <a:pPr algn="ctr" indent="0" marL="0">
              <a:buNone/>
            </a:pPr>
            <a:r>
              <a:rPr lang="en-US" sz="1150" b="1" dirty="0">
                <a:solidFill>
                  <a:srgbClr val="175680"/>
                </a:solidFill>
                <a:latin typeface="Courier New" pitchFamily="34" charset="0"/>
                <a:ea typeface="Courier New" pitchFamily="34" charset="-122"/>
                <a:cs typeface="Courier New" pitchFamily="34" charset="-120"/>
              </a:rPr>
              <a:t>static</a:t>
            </a:r>
            <a:endParaRPr lang="en-US" sz="1150" dirty="0"/>
          </a:p>
        </p:txBody>
      </p:sp>
      <p:sp>
        <p:nvSpPr>
          <p:cNvPr id="15" name="Text 13"/>
          <p:cNvSpPr txBox="1"/>
          <p:nvPr/>
        </p:nvSpPr>
        <p:spPr>
          <a:xfrm>
            <a:off x="2807208" y="2322576"/>
            <a:ext cx="1417320" cy="548640"/>
          </a:xfrm>
          <a:prstGeom prst="rect">
            <a:avLst/>
          </a:prstGeom>
          <a:noFill/>
          <a:ln/>
        </p:spPr>
        <p:txBody>
          <a:bodyPr wrap="square" lIns="0" tIns="0" rIns="0" bIns="0" rtlCol="0" anchor="ctr"/>
          <a:lstStyle/>
          <a:p>
            <a:pPr indent="0" marL="0">
              <a:buNone/>
            </a:pPr>
            <a:r>
              <a:rPr lang="en-US" sz="1200" b="1" dirty="0">
                <a:solidFill>
                  <a:srgbClr val="0F2942"/>
                </a:solidFill>
                <a:latin typeface="Calibri" pitchFamily="34" charset="0"/>
                <a:ea typeface="Calibri" pitchFamily="34" charset="-122"/>
                <a:cs typeface="Calibri" pitchFamily="34" charset="-120"/>
              </a:rPr>
              <a:t>modifier</a:t>
            </a:r>
            <a:endParaRPr lang="en-US" sz="1200" dirty="0"/>
          </a:p>
        </p:txBody>
      </p:sp>
      <p:sp>
        <p:nvSpPr>
          <p:cNvPr id="16" name="Text 14"/>
          <p:cNvSpPr txBox="1"/>
          <p:nvPr/>
        </p:nvSpPr>
        <p:spPr>
          <a:xfrm>
            <a:off x="4270248" y="2322576"/>
            <a:ext cx="1874520" cy="548640"/>
          </a:xfrm>
          <a:prstGeom prst="rect">
            <a:avLst/>
          </a:prstGeom>
          <a:noFill/>
          <a:ln/>
        </p:spPr>
        <p:txBody>
          <a:bodyPr wrap="square" lIns="0" tIns="0" rIns="0" bIns="0" rtlCol="0" anchor="ctr"/>
          <a:lstStyle/>
          <a:p>
            <a:pPr indent="0" marL="0">
              <a:buNone/>
            </a:pPr>
            <a:r>
              <a:rPr lang="en-US" sz="1150" dirty="0">
                <a:solidFill>
                  <a:srgbClr val="3A536B"/>
                </a:solidFill>
                <a:latin typeface="Calibri" pitchFamily="34" charset="0"/>
                <a:ea typeface="Calibri" pitchFamily="34" charset="-122"/>
                <a:cs typeface="Calibri" pitchFamily="34" charset="-120"/>
              </a:rPr>
              <a:t>belongs to the class, not to an object (Chapter 9)</a:t>
            </a:r>
            <a:endParaRPr lang="en-US" sz="1150" dirty="0"/>
          </a:p>
        </p:txBody>
      </p:sp>
      <p:sp>
        <p:nvSpPr>
          <p:cNvPr id="17" name="Shape 15"/>
          <p:cNvSpPr/>
          <p:nvPr/>
        </p:nvSpPr>
        <p:spPr>
          <a:xfrm>
            <a:off x="566928" y="2999232"/>
            <a:ext cx="5760720" cy="658368"/>
          </a:xfrm>
          <a:prstGeom prst="roundRect">
            <a:avLst>
              <a:gd name="adj" fmla="val 12500"/>
            </a:avLst>
          </a:prstGeom>
          <a:solidFill>
            <a:srgbClr val="F1F5F9"/>
          </a:solidFill>
          <a:ln w="12700">
            <a:solidFill>
              <a:srgbClr val="F1F5F9"/>
            </a:solidFill>
            <a:prstDash val="solid"/>
          </a:ln>
        </p:spPr>
      </p:sp>
      <p:sp>
        <p:nvSpPr>
          <p:cNvPr id="18" name="Shape 16"/>
          <p:cNvSpPr/>
          <p:nvPr/>
        </p:nvSpPr>
        <p:spPr>
          <a:xfrm>
            <a:off x="749808" y="3118104"/>
            <a:ext cx="1920240" cy="420624"/>
          </a:xfrm>
          <a:prstGeom prst="roundRect">
            <a:avLst>
              <a:gd name="adj" fmla="val 13043"/>
            </a:avLst>
          </a:prstGeom>
          <a:solidFill>
            <a:srgbClr val="E6F2EC"/>
          </a:solidFill>
          <a:ln w="12700">
            <a:solidFill>
              <a:srgbClr val="E6F2EC"/>
            </a:solidFill>
            <a:prstDash val="solid"/>
          </a:ln>
        </p:spPr>
      </p:sp>
      <p:sp>
        <p:nvSpPr>
          <p:cNvPr id="19" name="Text 17"/>
          <p:cNvSpPr txBox="1"/>
          <p:nvPr/>
        </p:nvSpPr>
        <p:spPr>
          <a:xfrm>
            <a:off x="749808" y="3118104"/>
            <a:ext cx="1920240" cy="420624"/>
          </a:xfrm>
          <a:prstGeom prst="rect">
            <a:avLst/>
          </a:prstGeom>
          <a:noFill/>
          <a:ln/>
        </p:spPr>
        <p:txBody>
          <a:bodyPr wrap="square" lIns="0" tIns="0" rIns="0" bIns="0" rtlCol="0" anchor="ctr"/>
          <a:lstStyle/>
          <a:p>
            <a:pPr algn="ctr" indent="0" marL="0">
              <a:buNone/>
            </a:pPr>
            <a:r>
              <a:rPr lang="en-US" sz="1150" b="1" dirty="0">
                <a:solidFill>
                  <a:srgbClr val="176240"/>
                </a:solidFill>
                <a:latin typeface="Courier New" pitchFamily="34" charset="0"/>
                <a:ea typeface="Courier New" pitchFamily="34" charset="-122"/>
                <a:cs typeface="Courier New" pitchFamily="34" charset="-120"/>
              </a:rPr>
              <a:t>int</a:t>
            </a:r>
            <a:endParaRPr lang="en-US" sz="1150" dirty="0"/>
          </a:p>
        </p:txBody>
      </p:sp>
      <p:sp>
        <p:nvSpPr>
          <p:cNvPr id="20" name="Text 18"/>
          <p:cNvSpPr txBox="1"/>
          <p:nvPr/>
        </p:nvSpPr>
        <p:spPr>
          <a:xfrm>
            <a:off x="2807208" y="3054096"/>
            <a:ext cx="1417320" cy="548640"/>
          </a:xfrm>
          <a:prstGeom prst="rect">
            <a:avLst/>
          </a:prstGeom>
          <a:noFill/>
          <a:ln/>
        </p:spPr>
        <p:txBody>
          <a:bodyPr wrap="square" lIns="0" tIns="0" rIns="0" bIns="0" rtlCol="0" anchor="ctr"/>
          <a:lstStyle/>
          <a:p>
            <a:pPr indent="0" marL="0">
              <a:buNone/>
            </a:pPr>
            <a:r>
              <a:rPr lang="en-US" sz="1200" b="1" dirty="0">
                <a:solidFill>
                  <a:srgbClr val="0F2942"/>
                </a:solidFill>
                <a:latin typeface="Calibri" pitchFamily="34" charset="0"/>
                <a:ea typeface="Calibri" pitchFamily="34" charset="-122"/>
                <a:cs typeface="Calibri" pitchFamily="34" charset="-120"/>
              </a:rPr>
              <a:t>return type</a:t>
            </a:r>
            <a:endParaRPr lang="en-US" sz="1200" dirty="0"/>
          </a:p>
        </p:txBody>
      </p:sp>
      <p:sp>
        <p:nvSpPr>
          <p:cNvPr id="21" name="Text 19"/>
          <p:cNvSpPr txBox="1"/>
          <p:nvPr/>
        </p:nvSpPr>
        <p:spPr>
          <a:xfrm>
            <a:off x="4270248" y="3054096"/>
            <a:ext cx="1874520" cy="548640"/>
          </a:xfrm>
          <a:prstGeom prst="rect">
            <a:avLst/>
          </a:prstGeom>
          <a:noFill/>
          <a:ln/>
        </p:spPr>
        <p:txBody>
          <a:bodyPr wrap="square" lIns="0" tIns="0" rIns="0" bIns="0" rtlCol="0" anchor="ctr"/>
          <a:lstStyle/>
          <a:p>
            <a:pPr indent="0" marL="0">
              <a:buNone/>
            </a:pPr>
            <a:r>
              <a:rPr lang="en-US" sz="1150" dirty="0">
                <a:solidFill>
                  <a:srgbClr val="3A536B"/>
                </a:solidFill>
                <a:latin typeface="Calibri" pitchFamily="34" charset="0"/>
                <a:ea typeface="Calibri" pitchFamily="34" charset="-122"/>
                <a:cs typeface="Calibri" pitchFamily="34" charset="-120"/>
              </a:rPr>
              <a:t>the type of the value handed back; void if none</a:t>
            </a:r>
            <a:endParaRPr lang="en-US" sz="1150" dirty="0"/>
          </a:p>
        </p:txBody>
      </p:sp>
      <p:sp>
        <p:nvSpPr>
          <p:cNvPr id="22" name="Shape 20"/>
          <p:cNvSpPr/>
          <p:nvPr/>
        </p:nvSpPr>
        <p:spPr>
          <a:xfrm>
            <a:off x="566928" y="3730752"/>
            <a:ext cx="5760720" cy="658368"/>
          </a:xfrm>
          <a:prstGeom prst="roundRect">
            <a:avLst>
              <a:gd name="adj" fmla="val 12500"/>
            </a:avLst>
          </a:prstGeom>
          <a:solidFill>
            <a:srgbClr val="FFFFFF"/>
          </a:solidFill>
          <a:ln w="12700">
            <a:solidFill>
              <a:srgbClr val="D3DEE7"/>
            </a:solidFill>
            <a:prstDash val="solid"/>
          </a:ln>
        </p:spPr>
      </p:sp>
      <p:sp>
        <p:nvSpPr>
          <p:cNvPr id="23" name="Shape 21"/>
          <p:cNvSpPr/>
          <p:nvPr/>
        </p:nvSpPr>
        <p:spPr>
          <a:xfrm>
            <a:off x="749808" y="3849624"/>
            <a:ext cx="1920240" cy="420624"/>
          </a:xfrm>
          <a:prstGeom prst="roundRect">
            <a:avLst>
              <a:gd name="adj" fmla="val 13043"/>
            </a:avLst>
          </a:prstGeom>
          <a:solidFill>
            <a:srgbClr val="FBEEE0"/>
          </a:solidFill>
          <a:ln w="12700">
            <a:solidFill>
              <a:srgbClr val="FBEEE0"/>
            </a:solidFill>
            <a:prstDash val="solid"/>
          </a:ln>
        </p:spPr>
      </p:sp>
      <p:sp>
        <p:nvSpPr>
          <p:cNvPr id="24" name="Text 22"/>
          <p:cNvSpPr txBox="1"/>
          <p:nvPr/>
        </p:nvSpPr>
        <p:spPr>
          <a:xfrm>
            <a:off x="749808" y="3849624"/>
            <a:ext cx="1920240" cy="420624"/>
          </a:xfrm>
          <a:prstGeom prst="rect">
            <a:avLst/>
          </a:prstGeom>
          <a:noFill/>
          <a:ln/>
        </p:spPr>
        <p:txBody>
          <a:bodyPr wrap="square" lIns="0" tIns="0" rIns="0" bIns="0" rtlCol="0" anchor="ctr"/>
          <a:lstStyle/>
          <a:p>
            <a:pPr algn="ctr" indent="0" marL="0">
              <a:buNone/>
            </a:pPr>
            <a:r>
              <a:rPr lang="en-US" sz="1150" b="1" dirty="0">
                <a:solidFill>
                  <a:srgbClr val="9A430A"/>
                </a:solidFill>
                <a:latin typeface="Courier New" pitchFamily="34" charset="0"/>
                <a:ea typeface="Courier New" pitchFamily="34" charset="-122"/>
                <a:cs typeface="Courier New" pitchFamily="34" charset="-120"/>
              </a:rPr>
              <a:t>max</a:t>
            </a:r>
            <a:endParaRPr lang="en-US" sz="1150" dirty="0"/>
          </a:p>
        </p:txBody>
      </p:sp>
      <p:sp>
        <p:nvSpPr>
          <p:cNvPr id="25" name="Text 23"/>
          <p:cNvSpPr txBox="1"/>
          <p:nvPr/>
        </p:nvSpPr>
        <p:spPr>
          <a:xfrm>
            <a:off x="2807208" y="3785616"/>
            <a:ext cx="1417320" cy="548640"/>
          </a:xfrm>
          <a:prstGeom prst="rect">
            <a:avLst/>
          </a:prstGeom>
          <a:noFill/>
          <a:ln/>
        </p:spPr>
        <p:txBody>
          <a:bodyPr wrap="square" lIns="0" tIns="0" rIns="0" bIns="0" rtlCol="0" anchor="ctr"/>
          <a:lstStyle/>
          <a:p>
            <a:pPr indent="0" marL="0">
              <a:buNone/>
            </a:pPr>
            <a:r>
              <a:rPr lang="en-US" sz="1200" b="1" dirty="0">
                <a:solidFill>
                  <a:srgbClr val="0F2942"/>
                </a:solidFill>
                <a:latin typeface="Calibri" pitchFamily="34" charset="0"/>
                <a:ea typeface="Calibri" pitchFamily="34" charset="-122"/>
                <a:cs typeface="Calibri" pitchFamily="34" charset="-120"/>
              </a:rPr>
              <a:t>method name</a:t>
            </a:r>
            <a:endParaRPr lang="en-US" sz="1200" dirty="0"/>
          </a:p>
        </p:txBody>
      </p:sp>
      <p:sp>
        <p:nvSpPr>
          <p:cNvPr id="26" name="Text 24"/>
          <p:cNvSpPr txBox="1"/>
          <p:nvPr/>
        </p:nvSpPr>
        <p:spPr>
          <a:xfrm>
            <a:off x="4270248" y="3785616"/>
            <a:ext cx="1874520" cy="548640"/>
          </a:xfrm>
          <a:prstGeom prst="rect">
            <a:avLst/>
          </a:prstGeom>
          <a:noFill/>
          <a:ln/>
        </p:spPr>
        <p:txBody>
          <a:bodyPr wrap="square" lIns="0" tIns="0" rIns="0" bIns="0" rtlCol="0" anchor="ctr"/>
          <a:lstStyle/>
          <a:p>
            <a:pPr indent="0" marL="0">
              <a:buNone/>
            </a:pPr>
            <a:r>
              <a:rPr lang="en-US" sz="1150" dirty="0">
                <a:solidFill>
                  <a:srgbClr val="3A536B"/>
                </a:solidFill>
                <a:latin typeface="Calibri" pitchFamily="34" charset="0"/>
                <a:ea typeface="Calibri" pitchFamily="34" charset="-122"/>
                <a:cs typeface="Calibri" pitchFamily="34" charset="-120"/>
              </a:rPr>
              <a:t>a verb or a noun phrase, in lowerCamelCase</a:t>
            </a:r>
            <a:endParaRPr lang="en-US" sz="1150" dirty="0"/>
          </a:p>
        </p:txBody>
      </p:sp>
      <p:sp>
        <p:nvSpPr>
          <p:cNvPr id="27" name="Shape 25"/>
          <p:cNvSpPr/>
          <p:nvPr/>
        </p:nvSpPr>
        <p:spPr>
          <a:xfrm>
            <a:off x="566928" y="4462272"/>
            <a:ext cx="5760720" cy="658368"/>
          </a:xfrm>
          <a:prstGeom prst="roundRect">
            <a:avLst>
              <a:gd name="adj" fmla="val 12500"/>
            </a:avLst>
          </a:prstGeom>
          <a:solidFill>
            <a:srgbClr val="F1F5F9"/>
          </a:solidFill>
          <a:ln w="12700">
            <a:solidFill>
              <a:srgbClr val="F1F5F9"/>
            </a:solidFill>
            <a:prstDash val="solid"/>
          </a:ln>
        </p:spPr>
      </p:sp>
      <p:sp>
        <p:nvSpPr>
          <p:cNvPr id="28" name="Shape 26"/>
          <p:cNvSpPr/>
          <p:nvPr/>
        </p:nvSpPr>
        <p:spPr>
          <a:xfrm>
            <a:off x="749808" y="4581144"/>
            <a:ext cx="1920240" cy="420624"/>
          </a:xfrm>
          <a:prstGeom prst="roundRect">
            <a:avLst>
              <a:gd name="adj" fmla="val 13043"/>
            </a:avLst>
          </a:prstGeom>
          <a:solidFill>
            <a:srgbClr val="E4ECF4"/>
          </a:solidFill>
          <a:ln w="12700">
            <a:solidFill>
              <a:srgbClr val="E4ECF4"/>
            </a:solidFill>
            <a:prstDash val="solid"/>
          </a:ln>
        </p:spPr>
      </p:sp>
      <p:sp>
        <p:nvSpPr>
          <p:cNvPr id="29" name="Text 27"/>
          <p:cNvSpPr txBox="1"/>
          <p:nvPr/>
        </p:nvSpPr>
        <p:spPr>
          <a:xfrm>
            <a:off x="749808" y="4581144"/>
            <a:ext cx="1920240" cy="420624"/>
          </a:xfrm>
          <a:prstGeom prst="rect">
            <a:avLst/>
          </a:prstGeom>
          <a:noFill/>
          <a:ln/>
        </p:spPr>
        <p:txBody>
          <a:bodyPr wrap="square" lIns="0" tIns="0" rIns="0" bIns="0" rtlCol="0" anchor="ctr"/>
          <a:lstStyle/>
          <a:p>
            <a:pPr algn="ctr" indent="0" marL="0">
              <a:buNone/>
            </a:pPr>
            <a:r>
              <a:rPr lang="en-US" sz="1150" b="1" dirty="0">
                <a:solidFill>
                  <a:srgbClr val="1D4468"/>
                </a:solidFill>
                <a:latin typeface="Courier New" pitchFamily="34" charset="0"/>
                <a:ea typeface="Courier New" pitchFamily="34" charset="-122"/>
                <a:cs typeface="Courier New" pitchFamily="34" charset="-120"/>
              </a:rPr>
              <a:t>(int num1, int num2)</a:t>
            </a:r>
            <a:endParaRPr lang="en-US" sz="1150" dirty="0"/>
          </a:p>
        </p:txBody>
      </p:sp>
      <p:sp>
        <p:nvSpPr>
          <p:cNvPr id="30" name="Text 28"/>
          <p:cNvSpPr txBox="1"/>
          <p:nvPr/>
        </p:nvSpPr>
        <p:spPr>
          <a:xfrm>
            <a:off x="2807208" y="4517136"/>
            <a:ext cx="1417320" cy="548640"/>
          </a:xfrm>
          <a:prstGeom prst="rect">
            <a:avLst/>
          </a:prstGeom>
          <a:noFill/>
          <a:ln/>
        </p:spPr>
        <p:txBody>
          <a:bodyPr wrap="square" lIns="0" tIns="0" rIns="0" bIns="0" rtlCol="0" anchor="ctr"/>
          <a:lstStyle/>
          <a:p>
            <a:pPr indent="0" marL="0">
              <a:buNone/>
            </a:pPr>
            <a:r>
              <a:rPr lang="en-US" sz="1200" b="1" dirty="0">
                <a:solidFill>
                  <a:srgbClr val="0F2942"/>
                </a:solidFill>
                <a:latin typeface="Calibri" pitchFamily="34" charset="0"/>
                <a:ea typeface="Calibri" pitchFamily="34" charset="-122"/>
                <a:cs typeface="Calibri" pitchFamily="34" charset="-120"/>
              </a:rPr>
              <a:t>parameter list</a:t>
            </a:r>
            <a:endParaRPr lang="en-US" sz="1200" dirty="0"/>
          </a:p>
        </p:txBody>
      </p:sp>
      <p:sp>
        <p:nvSpPr>
          <p:cNvPr id="31" name="Text 29"/>
          <p:cNvSpPr txBox="1"/>
          <p:nvPr/>
        </p:nvSpPr>
        <p:spPr>
          <a:xfrm>
            <a:off x="4270248" y="4517136"/>
            <a:ext cx="1874520" cy="548640"/>
          </a:xfrm>
          <a:prstGeom prst="rect">
            <a:avLst/>
          </a:prstGeom>
          <a:noFill/>
          <a:ln/>
        </p:spPr>
        <p:txBody>
          <a:bodyPr wrap="square" lIns="0" tIns="0" rIns="0" bIns="0" rtlCol="0" anchor="ctr"/>
          <a:lstStyle/>
          <a:p>
            <a:pPr indent="0" marL="0">
              <a:buNone/>
            </a:pPr>
            <a:r>
              <a:rPr lang="en-US" sz="1150" dirty="0">
                <a:solidFill>
                  <a:srgbClr val="3A536B"/>
                </a:solidFill>
                <a:latin typeface="Calibri" pitchFamily="34" charset="0"/>
                <a:ea typeface="Calibri" pitchFamily="34" charset="-122"/>
                <a:cs typeface="Calibri" pitchFamily="34" charset="-120"/>
              </a:rPr>
              <a:t>the formal parameters — types and names</a:t>
            </a:r>
            <a:endParaRPr lang="en-US" sz="1150" dirty="0"/>
          </a:p>
        </p:txBody>
      </p:sp>
      <p:sp>
        <p:nvSpPr>
          <p:cNvPr id="32" name="Shape 30"/>
          <p:cNvSpPr/>
          <p:nvPr/>
        </p:nvSpPr>
        <p:spPr>
          <a:xfrm>
            <a:off x="566928" y="5193792"/>
            <a:ext cx="5760720" cy="658368"/>
          </a:xfrm>
          <a:prstGeom prst="roundRect">
            <a:avLst>
              <a:gd name="adj" fmla="val 12500"/>
            </a:avLst>
          </a:prstGeom>
          <a:solidFill>
            <a:srgbClr val="FFFFFF"/>
          </a:solidFill>
          <a:ln w="12700">
            <a:solidFill>
              <a:srgbClr val="D3DEE7"/>
            </a:solidFill>
            <a:prstDash val="solid"/>
          </a:ln>
        </p:spPr>
      </p:sp>
      <p:sp>
        <p:nvSpPr>
          <p:cNvPr id="33" name="Shape 31"/>
          <p:cNvSpPr/>
          <p:nvPr/>
        </p:nvSpPr>
        <p:spPr>
          <a:xfrm>
            <a:off x="749808" y="5312664"/>
            <a:ext cx="1920240" cy="420624"/>
          </a:xfrm>
          <a:prstGeom prst="roundRect">
            <a:avLst>
              <a:gd name="adj" fmla="val 13043"/>
            </a:avLst>
          </a:prstGeom>
          <a:solidFill>
            <a:srgbClr val="F1F5F9"/>
          </a:solidFill>
          <a:ln w="12700">
            <a:solidFill>
              <a:srgbClr val="F1F5F9"/>
            </a:solidFill>
            <a:prstDash val="solid"/>
          </a:ln>
        </p:spPr>
      </p:sp>
      <p:sp>
        <p:nvSpPr>
          <p:cNvPr id="34" name="Text 32"/>
          <p:cNvSpPr txBox="1"/>
          <p:nvPr/>
        </p:nvSpPr>
        <p:spPr>
          <a:xfrm>
            <a:off x="749808" y="5312664"/>
            <a:ext cx="1920240" cy="420624"/>
          </a:xfrm>
          <a:prstGeom prst="rect">
            <a:avLst/>
          </a:prstGeom>
          <a:noFill/>
          <a:ln/>
        </p:spPr>
        <p:txBody>
          <a:bodyPr wrap="square" lIns="0" tIns="0" rIns="0" bIns="0" rtlCol="0" anchor="ctr"/>
          <a:lstStyle/>
          <a:p>
            <a:pPr algn="ctr" indent="0" marL="0">
              <a:buNone/>
            </a:pPr>
            <a:r>
              <a:rPr lang="en-US" sz="1150" b="1" dirty="0">
                <a:solidFill>
                  <a:srgbClr val="3A536B"/>
                </a:solidFill>
                <a:latin typeface="Courier New" pitchFamily="34" charset="0"/>
                <a:ea typeface="Courier New" pitchFamily="34" charset="-122"/>
                <a:cs typeface="Courier New" pitchFamily="34" charset="-120"/>
              </a:rPr>
              <a:t>{ ... }</a:t>
            </a:r>
            <a:endParaRPr lang="en-US" sz="1150" dirty="0"/>
          </a:p>
        </p:txBody>
      </p:sp>
      <p:sp>
        <p:nvSpPr>
          <p:cNvPr id="35" name="Text 33"/>
          <p:cNvSpPr txBox="1"/>
          <p:nvPr/>
        </p:nvSpPr>
        <p:spPr>
          <a:xfrm>
            <a:off x="2807208" y="5248656"/>
            <a:ext cx="1417320" cy="548640"/>
          </a:xfrm>
          <a:prstGeom prst="rect">
            <a:avLst/>
          </a:prstGeom>
          <a:noFill/>
          <a:ln/>
        </p:spPr>
        <p:txBody>
          <a:bodyPr wrap="square" lIns="0" tIns="0" rIns="0" bIns="0" rtlCol="0" anchor="ctr"/>
          <a:lstStyle/>
          <a:p>
            <a:pPr indent="0" marL="0">
              <a:buNone/>
            </a:pPr>
            <a:r>
              <a:rPr lang="en-US" sz="1200" b="1" dirty="0">
                <a:solidFill>
                  <a:srgbClr val="0F2942"/>
                </a:solidFill>
                <a:latin typeface="Calibri" pitchFamily="34" charset="0"/>
                <a:ea typeface="Calibri" pitchFamily="34" charset="-122"/>
                <a:cs typeface="Calibri" pitchFamily="34" charset="-120"/>
              </a:rPr>
              <a:t>method body</a:t>
            </a:r>
            <a:endParaRPr lang="en-US" sz="1200" dirty="0"/>
          </a:p>
        </p:txBody>
      </p:sp>
      <p:sp>
        <p:nvSpPr>
          <p:cNvPr id="36" name="Text 34"/>
          <p:cNvSpPr txBox="1"/>
          <p:nvPr/>
        </p:nvSpPr>
        <p:spPr>
          <a:xfrm>
            <a:off x="4270248" y="5248656"/>
            <a:ext cx="1874520" cy="548640"/>
          </a:xfrm>
          <a:prstGeom prst="rect">
            <a:avLst/>
          </a:prstGeom>
          <a:noFill/>
          <a:ln/>
        </p:spPr>
        <p:txBody>
          <a:bodyPr wrap="square" lIns="0" tIns="0" rIns="0" bIns="0" rtlCol="0" anchor="ctr"/>
          <a:lstStyle/>
          <a:p>
            <a:pPr indent="0" marL="0">
              <a:buNone/>
            </a:pPr>
            <a:r>
              <a:rPr lang="en-US" sz="1150" dirty="0">
                <a:solidFill>
                  <a:srgbClr val="3A536B"/>
                </a:solidFill>
                <a:latin typeface="Calibri" pitchFamily="34" charset="0"/>
                <a:ea typeface="Calibri" pitchFamily="34" charset="-122"/>
                <a:cs typeface="Calibri" pitchFamily="34" charset="-120"/>
              </a:rPr>
              <a:t>the statements that do the work</a:t>
            </a:r>
            <a:endParaRPr lang="en-US" sz="1150" dirty="0"/>
          </a:p>
        </p:txBody>
      </p:sp>
      <p:sp>
        <p:nvSpPr>
          <p:cNvPr id="37" name="Shape 35"/>
          <p:cNvSpPr/>
          <p:nvPr/>
        </p:nvSpPr>
        <p:spPr>
          <a:xfrm>
            <a:off x="6784848" y="1536192"/>
            <a:ext cx="4839919" cy="2898648"/>
          </a:xfrm>
          <a:prstGeom prst="roundRect">
            <a:avLst>
              <a:gd name="adj" fmla="val 2208"/>
            </a:avLst>
          </a:prstGeom>
          <a:solidFill>
            <a:srgbClr val="EDF2F7"/>
          </a:solidFill>
          <a:ln w="12700">
            <a:solidFill>
              <a:srgbClr val="CFDBE5"/>
            </a:solidFill>
            <a:prstDash val="solid"/>
          </a:ln>
        </p:spPr>
      </p:sp>
      <p:sp>
        <p:nvSpPr>
          <p:cNvPr id="38" name="Text 36"/>
          <p:cNvSpPr txBox="1"/>
          <p:nvPr/>
        </p:nvSpPr>
        <p:spPr>
          <a:xfrm>
            <a:off x="6931152" y="1581912"/>
            <a:ext cx="454731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THE WHOLE THING AT ONCE</a:t>
            </a:r>
            <a:endParaRPr lang="en-US" sz="950" dirty="0"/>
          </a:p>
        </p:txBody>
      </p:sp>
      <p:sp>
        <p:nvSpPr>
          <p:cNvPr id="39" name="Text 37"/>
          <p:cNvSpPr txBox="1"/>
          <p:nvPr/>
        </p:nvSpPr>
        <p:spPr>
          <a:xfrm>
            <a:off x="6949440" y="1810512"/>
            <a:ext cx="4510735" cy="2569464"/>
          </a:xfrm>
          <a:prstGeom prst="rect">
            <a:avLst/>
          </a:prstGeom>
          <a:noFill/>
          <a:ln/>
        </p:spPr>
        <p:txBody>
          <a:bodyPr wrap="square" lIns="0" tIns="0" rIns="0" bIns="0" rtlCol="0" anchor="t"/>
          <a:lstStyle/>
          <a:p>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max</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num1</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num2</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result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endParaRPr lang="en-US" sz="1250" dirty="0"/>
          </a:p>
          <a:p>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num1</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num2</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result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num1</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else</a:t>
            </a:r>
            <a:endParaRPr lang="en-US" sz="1250" dirty="0"/>
          </a:p>
          <a:p>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result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num2</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endParaRPr lang="en-US" sz="1250" dirty="0"/>
          </a:p>
          <a:p>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result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p:txBody>
      </p:sp>
      <p:sp>
        <p:nvSpPr>
          <p:cNvPr id="40" name="Shape 38"/>
          <p:cNvSpPr/>
          <p:nvPr/>
        </p:nvSpPr>
        <p:spPr>
          <a:xfrm>
            <a:off x="6784848" y="4690872"/>
            <a:ext cx="4839919" cy="841248"/>
          </a:xfrm>
          <a:prstGeom prst="roundRect">
            <a:avLst>
              <a:gd name="adj" fmla="val 9783"/>
            </a:avLst>
          </a:prstGeom>
          <a:solidFill>
            <a:srgbClr val="E4ECF4"/>
          </a:solidFill>
          <a:ln w="12700">
            <a:solidFill>
              <a:srgbClr val="E4ECF4"/>
            </a:solidFill>
            <a:prstDash val="solid"/>
          </a:ln>
        </p:spPr>
      </p:sp>
      <p:sp>
        <p:nvSpPr>
          <p:cNvPr id="41" name="Text 39"/>
          <p:cNvSpPr txBox="1"/>
          <p:nvPr/>
        </p:nvSpPr>
        <p:spPr>
          <a:xfrm>
            <a:off x="7059168" y="4690872"/>
            <a:ext cx="4291279" cy="841248"/>
          </a:xfrm>
          <a:prstGeom prst="rect">
            <a:avLst/>
          </a:prstGeom>
          <a:noFill/>
          <a:ln/>
        </p:spPr>
        <p:txBody>
          <a:bodyPr wrap="square" lIns="0" tIns="0" rIns="0" bIns="0" rtlCol="0" anchor="ctr"/>
          <a:lstStyle/>
          <a:p>
            <a:pPr indent="0" marL="0">
              <a:lnSpc>
                <a:spcPct val="112000"/>
              </a:lnSpc>
              <a:buNone/>
            </a:pPr>
            <a:r>
              <a:rPr lang="en-US" sz="1250" b="1" dirty="0">
                <a:solidFill>
                  <a:srgbClr val="0F2942"/>
                </a:solidFill>
                <a:latin typeface="Calibri" pitchFamily="34" charset="0"/>
                <a:ea typeface="Calibri" pitchFamily="34" charset="-122"/>
                <a:cs typeface="Calibri" pitchFamily="34" charset="-120"/>
              </a:rPr>
              <a:t>Header + body.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The first line is the header; the braces hold the body.</a:t>
            </a:r>
            <a:endParaRPr lang="en-US" sz="1250" dirty="0"/>
          </a:p>
        </p:txBody>
      </p:sp>
      <p:sp>
        <p:nvSpPr>
          <p:cNvPr id="42" name="Shape 40"/>
          <p:cNvSpPr/>
          <p:nvPr/>
        </p:nvSpPr>
        <p:spPr>
          <a:xfrm>
            <a:off x="6784848" y="5641848"/>
            <a:ext cx="4839919" cy="841248"/>
          </a:xfrm>
          <a:prstGeom prst="roundRect">
            <a:avLst>
              <a:gd name="adj" fmla="val 9783"/>
            </a:avLst>
          </a:prstGeom>
          <a:solidFill>
            <a:srgbClr val="FBEEE0"/>
          </a:solidFill>
          <a:ln w="12700">
            <a:solidFill>
              <a:srgbClr val="FBEEE0"/>
            </a:solidFill>
            <a:prstDash val="solid"/>
          </a:ln>
        </p:spPr>
      </p:sp>
      <p:sp>
        <p:nvSpPr>
          <p:cNvPr id="43" name="Text 41"/>
          <p:cNvSpPr txBox="1"/>
          <p:nvPr/>
        </p:nvSpPr>
        <p:spPr>
          <a:xfrm>
            <a:off x="7059168" y="5641848"/>
            <a:ext cx="4291279" cy="841248"/>
          </a:xfrm>
          <a:prstGeom prst="rect">
            <a:avLst/>
          </a:prstGeom>
          <a:noFill/>
          <a:ln/>
        </p:spPr>
        <p:txBody>
          <a:bodyPr wrap="square" lIns="0" tIns="0" rIns="0" bIns="0" rtlCol="0" anchor="ctr"/>
          <a:lstStyle/>
          <a:p>
            <a:pPr indent="0" marL="0">
              <a:lnSpc>
                <a:spcPct val="112000"/>
              </a:lnSpc>
              <a:buNone/>
            </a:pPr>
            <a:r>
              <a:rPr lang="en-US" sz="1250" b="1" dirty="0">
                <a:solidFill>
                  <a:srgbClr val="9A430A"/>
                </a:solidFill>
                <a:latin typeface="Calibri" pitchFamily="34" charset="0"/>
                <a:ea typeface="Calibri" pitchFamily="34" charset="-122"/>
                <a:cs typeface="Calibri" pitchFamily="34" charset="-120"/>
              </a:rPr>
              <a:t>java.lang.Math already has this.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Math.max(a, b) is in the library. We write our own once to see how it works.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DEFINITION 02</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Signature, Formal Parameters, Arguments</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Three pieces of vocabulary that the compiler's error messages assume you know.</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6</a:t>
            </a:r>
            <a:endParaRPr lang="en-US" sz="900" dirty="0"/>
          </a:p>
        </p:txBody>
      </p:sp>
      <p:sp>
        <p:nvSpPr>
          <p:cNvPr id="7" name="Shape 5"/>
          <p:cNvSpPr/>
          <p:nvPr/>
        </p:nvSpPr>
        <p:spPr>
          <a:xfrm>
            <a:off x="566928" y="1536192"/>
            <a:ext cx="5323180" cy="1202436"/>
          </a:xfrm>
          <a:prstGeom prst="roundRect">
            <a:avLst>
              <a:gd name="adj" fmla="val 5323"/>
            </a:avLst>
          </a:prstGeom>
          <a:solidFill>
            <a:srgbClr val="EDF2F7"/>
          </a:solidFill>
          <a:ln w="12700">
            <a:solidFill>
              <a:srgbClr val="CFDBE5"/>
            </a:solidFill>
            <a:prstDash val="solid"/>
          </a:ln>
        </p:spPr>
      </p:sp>
      <p:sp>
        <p:nvSpPr>
          <p:cNvPr id="8" name="Text 6"/>
          <p:cNvSpPr txBox="1"/>
          <p:nvPr/>
        </p:nvSpPr>
        <p:spPr>
          <a:xfrm>
            <a:off x="71323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THE DEFINITION</a:t>
            </a:r>
            <a:endParaRPr lang="en-US" sz="950" dirty="0"/>
          </a:p>
        </p:txBody>
      </p:sp>
      <p:sp>
        <p:nvSpPr>
          <p:cNvPr id="9" name="Text 7"/>
          <p:cNvSpPr txBox="1"/>
          <p:nvPr/>
        </p:nvSpPr>
        <p:spPr>
          <a:xfrm>
            <a:off x="731520" y="1810512"/>
            <a:ext cx="4993996" cy="873252"/>
          </a:xfrm>
          <a:prstGeom prst="rect">
            <a:avLst/>
          </a:prstGeom>
          <a:noFill/>
          <a:ln/>
        </p:spPr>
        <p:txBody>
          <a:bodyPr wrap="square" lIns="0" tIns="0" rIns="0" bIns="0" rtlCol="0" anchor="t"/>
          <a:lstStyle/>
          <a:p>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max</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num1</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num2</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p:txBody>
      </p:sp>
      <p:sp>
        <p:nvSpPr>
          <p:cNvPr id="10" name="Shape 8"/>
          <p:cNvSpPr/>
          <p:nvPr/>
        </p:nvSpPr>
        <p:spPr>
          <a:xfrm>
            <a:off x="6301588" y="1536192"/>
            <a:ext cx="5323180" cy="960120"/>
          </a:xfrm>
          <a:prstGeom prst="roundRect">
            <a:avLst>
              <a:gd name="adj" fmla="val 6667"/>
            </a:avLst>
          </a:prstGeom>
          <a:solidFill>
            <a:srgbClr val="EDF2F7"/>
          </a:solidFill>
          <a:ln w="12700">
            <a:solidFill>
              <a:srgbClr val="CFDBE5"/>
            </a:solidFill>
            <a:prstDash val="solid"/>
          </a:ln>
        </p:spPr>
      </p:sp>
      <p:sp>
        <p:nvSpPr>
          <p:cNvPr id="11" name="Text 9"/>
          <p:cNvSpPr txBox="1"/>
          <p:nvPr/>
        </p:nvSpPr>
        <p:spPr>
          <a:xfrm>
            <a:off x="644789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THE CALL</a:t>
            </a:r>
            <a:endParaRPr lang="en-US" sz="950" dirty="0"/>
          </a:p>
        </p:txBody>
      </p:sp>
      <p:sp>
        <p:nvSpPr>
          <p:cNvPr id="12" name="Text 10"/>
          <p:cNvSpPr txBox="1"/>
          <p:nvPr/>
        </p:nvSpPr>
        <p:spPr>
          <a:xfrm>
            <a:off x="6466180" y="1810512"/>
            <a:ext cx="4993996" cy="630936"/>
          </a:xfrm>
          <a:prstGeom prst="rect">
            <a:avLst/>
          </a:prstGeom>
          <a:noFill/>
          <a:ln/>
        </p:spPr>
        <p:txBody>
          <a:bodyPr wrap="square" lIns="0" tIns="0" rIns="0" bIns="0" rtlCol="0" anchor="t"/>
          <a:lstStyle/>
          <a:p>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max</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415C6E"/>
                </a:solidFill>
                <a:latin typeface="Courier New" pitchFamily="34" charset="0"/>
                <a:ea typeface="Courier New" pitchFamily="34" charset="-122"/>
                <a:cs typeface="Courier New" pitchFamily="34" charset="-120"/>
              </a:rPr>
              <a:t>// k is 5</a:t>
            </a:r>
            <a:endParaRPr lang="en-US" sz="1250" dirty="0"/>
          </a:p>
        </p:txBody>
      </p:sp>
      <p:sp>
        <p:nvSpPr>
          <p:cNvPr id="13" name="Shape 11"/>
          <p:cNvSpPr/>
          <p:nvPr/>
        </p:nvSpPr>
        <p:spPr>
          <a:xfrm>
            <a:off x="566928" y="3058668"/>
            <a:ext cx="11057839" cy="731520"/>
          </a:xfrm>
          <a:prstGeom prst="roundRect">
            <a:avLst>
              <a:gd name="adj" fmla="val 11250"/>
            </a:avLst>
          </a:prstGeom>
          <a:solidFill>
            <a:srgbClr val="FBEEE0"/>
          </a:solidFill>
          <a:ln w="12700">
            <a:solidFill>
              <a:srgbClr val="FBEEE0"/>
            </a:solidFill>
            <a:prstDash val="solid"/>
          </a:ln>
        </p:spPr>
      </p:sp>
      <p:sp>
        <p:nvSpPr>
          <p:cNvPr id="14" name="Text 12"/>
          <p:cNvSpPr txBox="1"/>
          <p:nvPr/>
        </p:nvSpPr>
        <p:spPr>
          <a:xfrm>
            <a:off x="841248" y="3104388"/>
            <a:ext cx="2834640" cy="329184"/>
          </a:xfrm>
          <a:prstGeom prst="rect">
            <a:avLst/>
          </a:prstGeom>
          <a:noFill/>
          <a:ln/>
        </p:spPr>
        <p:txBody>
          <a:bodyPr wrap="square" lIns="0" tIns="0" rIns="0" bIns="0" rtlCol="0" anchor="ctr"/>
          <a:lstStyle/>
          <a:p>
            <a:pPr indent="0" marL="0">
              <a:buNone/>
            </a:pPr>
            <a:r>
              <a:rPr lang="en-US" sz="1300" b="1" dirty="0">
                <a:solidFill>
                  <a:srgbClr val="9A430A"/>
                </a:solidFill>
                <a:latin typeface="Calibri" pitchFamily="34" charset="0"/>
                <a:ea typeface="Calibri" pitchFamily="34" charset="-122"/>
                <a:cs typeface="Calibri" pitchFamily="34" charset="-120"/>
              </a:rPr>
              <a:t>Method signature</a:t>
            </a:r>
            <a:endParaRPr lang="en-US" sz="1300" dirty="0"/>
          </a:p>
        </p:txBody>
      </p:sp>
      <p:sp>
        <p:nvSpPr>
          <p:cNvPr id="15" name="Text 13"/>
          <p:cNvSpPr txBox="1"/>
          <p:nvPr/>
        </p:nvSpPr>
        <p:spPr>
          <a:xfrm>
            <a:off x="841248" y="3424428"/>
            <a:ext cx="2834640" cy="329184"/>
          </a:xfrm>
          <a:prstGeom prst="rect">
            <a:avLst/>
          </a:prstGeom>
          <a:noFill/>
          <a:ln/>
        </p:spPr>
        <p:txBody>
          <a:bodyPr wrap="square" lIns="0" tIns="0" rIns="0" bIns="0" rtlCol="0" anchor="ctr"/>
          <a:lstStyle/>
          <a:p>
            <a:pPr indent="0" marL="0">
              <a:buNone/>
            </a:pPr>
            <a:r>
              <a:rPr lang="en-US" sz="1200" b="1" dirty="0">
                <a:solidFill>
                  <a:srgbClr val="0F2942"/>
                </a:solidFill>
                <a:latin typeface="Courier New" pitchFamily="34" charset="0"/>
                <a:ea typeface="Courier New" pitchFamily="34" charset="-122"/>
                <a:cs typeface="Courier New" pitchFamily="34" charset="-120"/>
              </a:rPr>
              <a:t>max(int, int)</a:t>
            </a:r>
            <a:endParaRPr lang="en-US" sz="1200" dirty="0"/>
          </a:p>
        </p:txBody>
      </p:sp>
      <p:sp>
        <p:nvSpPr>
          <p:cNvPr id="16" name="Text 14"/>
          <p:cNvSpPr txBox="1"/>
          <p:nvPr/>
        </p:nvSpPr>
        <p:spPr>
          <a:xfrm>
            <a:off x="3813048" y="3095244"/>
            <a:ext cx="7537399" cy="658368"/>
          </a:xfrm>
          <a:prstGeom prst="rect">
            <a:avLst/>
          </a:prstGeom>
          <a:noFill/>
          <a:ln/>
        </p:spPr>
        <p:txBody>
          <a:bodyPr wrap="square" lIns="0" tIns="0" rIns="0" bIns="0" rtlCol="0" anchor="ctr"/>
          <a:lstStyle/>
          <a:p>
            <a:pPr indent="0" marL="0">
              <a:lnSpc>
                <a:spcPct val="110000"/>
              </a:lnSpc>
              <a:buNone/>
            </a:pPr>
            <a:r>
              <a:rPr lang="en-US" sz="1250" dirty="0">
                <a:solidFill>
                  <a:srgbClr val="3A536B"/>
                </a:solidFill>
                <a:latin typeface="Calibri" pitchFamily="34" charset="0"/>
                <a:ea typeface="Calibri" pitchFamily="34" charset="-122"/>
                <a:cs typeface="Calibri" pitchFamily="34" charset="-120"/>
              </a:rPr>
              <a:t>the name plus the parameter list — types only, not names, and not the return type. It is what makes two overloaded methods different.</a:t>
            </a:r>
            <a:endParaRPr lang="en-US" sz="1250" dirty="0"/>
          </a:p>
        </p:txBody>
      </p:sp>
      <p:sp>
        <p:nvSpPr>
          <p:cNvPr id="17" name="Shape 15"/>
          <p:cNvSpPr/>
          <p:nvPr/>
        </p:nvSpPr>
        <p:spPr>
          <a:xfrm>
            <a:off x="566928" y="3845052"/>
            <a:ext cx="11057839" cy="731520"/>
          </a:xfrm>
          <a:prstGeom prst="roundRect">
            <a:avLst>
              <a:gd name="adj" fmla="val 11250"/>
            </a:avLst>
          </a:prstGeom>
          <a:solidFill>
            <a:srgbClr val="E4ECF4"/>
          </a:solidFill>
          <a:ln w="12700">
            <a:solidFill>
              <a:srgbClr val="E4ECF4"/>
            </a:solidFill>
            <a:prstDash val="solid"/>
          </a:ln>
        </p:spPr>
      </p:sp>
      <p:sp>
        <p:nvSpPr>
          <p:cNvPr id="18" name="Text 16"/>
          <p:cNvSpPr txBox="1"/>
          <p:nvPr/>
        </p:nvSpPr>
        <p:spPr>
          <a:xfrm>
            <a:off x="841248" y="3890772"/>
            <a:ext cx="2834640" cy="329184"/>
          </a:xfrm>
          <a:prstGeom prst="rect">
            <a:avLst/>
          </a:prstGeom>
          <a:noFill/>
          <a:ln/>
        </p:spPr>
        <p:txBody>
          <a:bodyPr wrap="square" lIns="0" tIns="0" rIns="0" bIns="0" rtlCol="0" anchor="ctr"/>
          <a:lstStyle/>
          <a:p>
            <a:pPr indent="0" marL="0">
              <a:buNone/>
            </a:pPr>
            <a:r>
              <a:rPr lang="en-US" sz="1300" b="1" dirty="0">
                <a:solidFill>
                  <a:srgbClr val="0F2942"/>
                </a:solidFill>
                <a:latin typeface="Calibri" pitchFamily="34" charset="0"/>
                <a:ea typeface="Calibri" pitchFamily="34" charset="-122"/>
                <a:cs typeface="Calibri" pitchFamily="34" charset="-120"/>
              </a:rPr>
              <a:t>Formal parameters</a:t>
            </a:r>
            <a:endParaRPr lang="en-US" sz="1300" dirty="0"/>
          </a:p>
        </p:txBody>
      </p:sp>
      <p:sp>
        <p:nvSpPr>
          <p:cNvPr id="19" name="Text 17"/>
          <p:cNvSpPr txBox="1"/>
          <p:nvPr/>
        </p:nvSpPr>
        <p:spPr>
          <a:xfrm>
            <a:off x="841248" y="4210812"/>
            <a:ext cx="2834640" cy="329184"/>
          </a:xfrm>
          <a:prstGeom prst="rect">
            <a:avLst/>
          </a:prstGeom>
          <a:noFill/>
          <a:ln/>
        </p:spPr>
        <p:txBody>
          <a:bodyPr wrap="square" lIns="0" tIns="0" rIns="0" bIns="0" rtlCol="0" anchor="ctr"/>
          <a:lstStyle/>
          <a:p>
            <a:pPr indent="0" marL="0">
              <a:buNone/>
            </a:pPr>
            <a:r>
              <a:rPr lang="en-US" sz="1200" b="1" dirty="0">
                <a:solidFill>
                  <a:srgbClr val="0F2942"/>
                </a:solidFill>
                <a:latin typeface="Courier New" pitchFamily="34" charset="0"/>
                <a:ea typeface="Courier New" pitchFamily="34" charset="-122"/>
                <a:cs typeface="Courier New" pitchFamily="34" charset="-120"/>
              </a:rPr>
              <a:t>num1, num2</a:t>
            </a:r>
            <a:endParaRPr lang="en-US" sz="1200" dirty="0"/>
          </a:p>
        </p:txBody>
      </p:sp>
      <p:sp>
        <p:nvSpPr>
          <p:cNvPr id="20" name="Text 18"/>
          <p:cNvSpPr txBox="1"/>
          <p:nvPr/>
        </p:nvSpPr>
        <p:spPr>
          <a:xfrm>
            <a:off x="3813048" y="3881628"/>
            <a:ext cx="7537399" cy="658368"/>
          </a:xfrm>
          <a:prstGeom prst="rect">
            <a:avLst/>
          </a:prstGeom>
          <a:noFill/>
          <a:ln/>
        </p:spPr>
        <p:txBody>
          <a:bodyPr wrap="square" lIns="0" tIns="0" rIns="0" bIns="0" rtlCol="0" anchor="ctr"/>
          <a:lstStyle/>
          <a:p>
            <a:pPr indent="0" marL="0">
              <a:lnSpc>
                <a:spcPct val="110000"/>
              </a:lnSpc>
              <a:buNone/>
            </a:pPr>
            <a:r>
              <a:rPr lang="en-US" sz="1250" dirty="0">
                <a:solidFill>
                  <a:srgbClr val="3A536B"/>
                </a:solidFill>
                <a:latin typeface="Calibri" pitchFamily="34" charset="0"/>
                <a:ea typeface="Calibri" pitchFamily="34" charset="-122"/>
                <a:cs typeface="Calibri" pitchFamily="34" charset="-120"/>
              </a:rPr>
              <a:t>the variables named in the header. They come into existence when the method is called and vanish when it returns.</a:t>
            </a:r>
            <a:endParaRPr lang="en-US" sz="1250" dirty="0"/>
          </a:p>
        </p:txBody>
      </p:sp>
      <p:sp>
        <p:nvSpPr>
          <p:cNvPr id="21" name="Shape 19"/>
          <p:cNvSpPr/>
          <p:nvPr/>
        </p:nvSpPr>
        <p:spPr>
          <a:xfrm>
            <a:off x="566928" y="4631436"/>
            <a:ext cx="11057839" cy="731520"/>
          </a:xfrm>
          <a:prstGeom prst="roundRect">
            <a:avLst>
              <a:gd name="adj" fmla="val 11250"/>
            </a:avLst>
          </a:prstGeom>
          <a:solidFill>
            <a:srgbClr val="E6F2EC"/>
          </a:solidFill>
          <a:ln w="12700">
            <a:solidFill>
              <a:srgbClr val="E6F2EC"/>
            </a:solidFill>
            <a:prstDash val="solid"/>
          </a:ln>
        </p:spPr>
      </p:sp>
      <p:sp>
        <p:nvSpPr>
          <p:cNvPr id="22" name="Text 20"/>
          <p:cNvSpPr txBox="1"/>
          <p:nvPr/>
        </p:nvSpPr>
        <p:spPr>
          <a:xfrm>
            <a:off x="841248" y="4677156"/>
            <a:ext cx="2834640" cy="329184"/>
          </a:xfrm>
          <a:prstGeom prst="rect">
            <a:avLst/>
          </a:prstGeom>
          <a:noFill/>
          <a:ln/>
        </p:spPr>
        <p:txBody>
          <a:bodyPr wrap="square" lIns="0" tIns="0" rIns="0" bIns="0" rtlCol="0" anchor="ctr"/>
          <a:lstStyle/>
          <a:p>
            <a:pPr indent="0" marL="0">
              <a:buNone/>
            </a:pPr>
            <a:r>
              <a:rPr lang="en-US" sz="1300" b="1" dirty="0">
                <a:solidFill>
                  <a:srgbClr val="176240"/>
                </a:solidFill>
                <a:latin typeface="Calibri" pitchFamily="34" charset="0"/>
                <a:ea typeface="Calibri" pitchFamily="34" charset="-122"/>
                <a:cs typeface="Calibri" pitchFamily="34" charset="-120"/>
              </a:rPr>
              <a:t>Actual parameters (arguments)</a:t>
            </a:r>
            <a:endParaRPr lang="en-US" sz="1300" dirty="0"/>
          </a:p>
        </p:txBody>
      </p:sp>
      <p:sp>
        <p:nvSpPr>
          <p:cNvPr id="23" name="Text 21"/>
          <p:cNvSpPr txBox="1"/>
          <p:nvPr/>
        </p:nvSpPr>
        <p:spPr>
          <a:xfrm>
            <a:off x="841248" y="4997196"/>
            <a:ext cx="2834640" cy="329184"/>
          </a:xfrm>
          <a:prstGeom prst="rect">
            <a:avLst/>
          </a:prstGeom>
          <a:noFill/>
          <a:ln/>
        </p:spPr>
        <p:txBody>
          <a:bodyPr wrap="square" lIns="0" tIns="0" rIns="0" bIns="0" rtlCol="0" anchor="ctr"/>
          <a:lstStyle/>
          <a:p>
            <a:pPr indent="0" marL="0">
              <a:buNone/>
            </a:pPr>
            <a:r>
              <a:rPr lang="en-US" sz="1200" b="1" dirty="0">
                <a:solidFill>
                  <a:srgbClr val="0F2942"/>
                </a:solidFill>
                <a:latin typeface="Courier New" pitchFamily="34" charset="0"/>
                <a:ea typeface="Courier New" pitchFamily="34" charset="-122"/>
                <a:cs typeface="Courier New" pitchFamily="34" charset="-120"/>
              </a:rPr>
              <a:t>i, j</a:t>
            </a:r>
            <a:endParaRPr lang="en-US" sz="1200" dirty="0"/>
          </a:p>
        </p:txBody>
      </p:sp>
      <p:sp>
        <p:nvSpPr>
          <p:cNvPr id="24" name="Text 22"/>
          <p:cNvSpPr txBox="1"/>
          <p:nvPr/>
        </p:nvSpPr>
        <p:spPr>
          <a:xfrm>
            <a:off x="3813048" y="4668012"/>
            <a:ext cx="7537399" cy="658368"/>
          </a:xfrm>
          <a:prstGeom prst="rect">
            <a:avLst/>
          </a:prstGeom>
          <a:noFill/>
          <a:ln/>
        </p:spPr>
        <p:txBody>
          <a:bodyPr wrap="square" lIns="0" tIns="0" rIns="0" bIns="0" rtlCol="0" anchor="ctr"/>
          <a:lstStyle/>
          <a:p>
            <a:pPr indent="0" marL="0">
              <a:lnSpc>
                <a:spcPct val="110000"/>
              </a:lnSpc>
              <a:buNone/>
            </a:pPr>
            <a:r>
              <a:rPr lang="en-US" sz="1250" dirty="0">
                <a:solidFill>
                  <a:srgbClr val="3A536B"/>
                </a:solidFill>
                <a:latin typeface="Calibri" pitchFamily="34" charset="0"/>
                <a:ea typeface="Calibri" pitchFamily="34" charset="-122"/>
                <a:cs typeface="Calibri" pitchFamily="34" charset="-120"/>
              </a:rPr>
              <a:t>the values you supply at the call site. They are matched to the formal parameters by position, not by name.</a:t>
            </a:r>
            <a:endParaRPr lang="en-US" sz="1250" dirty="0"/>
          </a:p>
        </p:txBody>
      </p:sp>
      <p:sp>
        <p:nvSpPr>
          <p:cNvPr id="25" name="Shape 23"/>
          <p:cNvSpPr/>
          <p:nvPr/>
        </p:nvSpPr>
        <p:spPr>
          <a:xfrm>
            <a:off x="566928" y="5417820"/>
            <a:ext cx="11057839" cy="731520"/>
          </a:xfrm>
          <a:prstGeom prst="roundRect">
            <a:avLst>
              <a:gd name="adj" fmla="val 11250"/>
            </a:avLst>
          </a:prstGeom>
          <a:solidFill>
            <a:srgbClr val="E7F0F7"/>
          </a:solidFill>
          <a:ln w="12700">
            <a:solidFill>
              <a:srgbClr val="E7F0F7"/>
            </a:solidFill>
            <a:prstDash val="solid"/>
          </a:ln>
        </p:spPr>
      </p:sp>
      <p:sp>
        <p:nvSpPr>
          <p:cNvPr id="26" name="Text 24"/>
          <p:cNvSpPr txBox="1"/>
          <p:nvPr/>
        </p:nvSpPr>
        <p:spPr>
          <a:xfrm>
            <a:off x="841248" y="5463540"/>
            <a:ext cx="2834640" cy="329184"/>
          </a:xfrm>
          <a:prstGeom prst="rect">
            <a:avLst/>
          </a:prstGeom>
          <a:noFill/>
          <a:ln/>
        </p:spPr>
        <p:txBody>
          <a:bodyPr wrap="square" lIns="0" tIns="0" rIns="0" bIns="0" rtlCol="0" anchor="ctr"/>
          <a:lstStyle/>
          <a:p>
            <a:pPr indent="0" marL="0">
              <a:buNone/>
            </a:pPr>
            <a:r>
              <a:rPr lang="en-US" sz="1300" b="1" dirty="0">
                <a:solidFill>
                  <a:srgbClr val="175680"/>
                </a:solidFill>
                <a:latin typeface="Calibri" pitchFamily="34" charset="0"/>
                <a:ea typeface="Calibri" pitchFamily="34" charset="-122"/>
                <a:cs typeface="Calibri" pitchFamily="34" charset="-120"/>
              </a:rPr>
              <a:t>Return type</a:t>
            </a:r>
            <a:endParaRPr lang="en-US" sz="1300" dirty="0"/>
          </a:p>
        </p:txBody>
      </p:sp>
      <p:sp>
        <p:nvSpPr>
          <p:cNvPr id="27" name="Text 25"/>
          <p:cNvSpPr txBox="1"/>
          <p:nvPr/>
        </p:nvSpPr>
        <p:spPr>
          <a:xfrm>
            <a:off x="841248" y="5783580"/>
            <a:ext cx="2834640" cy="329184"/>
          </a:xfrm>
          <a:prstGeom prst="rect">
            <a:avLst/>
          </a:prstGeom>
          <a:noFill/>
          <a:ln/>
        </p:spPr>
        <p:txBody>
          <a:bodyPr wrap="square" lIns="0" tIns="0" rIns="0" bIns="0" rtlCol="0" anchor="ctr"/>
          <a:lstStyle/>
          <a:p>
            <a:pPr indent="0" marL="0">
              <a:buNone/>
            </a:pPr>
            <a:r>
              <a:rPr lang="en-US" sz="1200" b="1" dirty="0">
                <a:solidFill>
                  <a:srgbClr val="0F2942"/>
                </a:solidFill>
                <a:latin typeface="Courier New" pitchFamily="34" charset="0"/>
                <a:ea typeface="Courier New" pitchFamily="34" charset="-122"/>
                <a:cs typeface="Courier New" pitchFamily="34" charset="-120"/>
              </a:rPr>
              <a:t>int</a:t>
            </a:r>
            <a:endParaRPr lang="en-US" sz="1200" dirty="0"/>
          </a:p>
        </p:txBody>
      </p:sp>
      <p:sp>
        <p:nvSpPr>
          <p:cNvPr id="28" name="Text 26"/>
          <p:cNvSpPr txBox="1"/>
          <p:nvPr/>
        </p:nvSpPr>
        <p:spPr>
          <a:xfrm>
            <a:off x="3813048" y="5454396"/>
            <a:ext cx="7537399" cy="658368"/>
          </a:xfrm>
          <a:prstGeom prst="rect">
            <a:avLst/>
          </a:prstGeom>
          <a:noFill/>
          <a:ln/>
        </p:spPr>
        <p:txBody>
          <a:bodyPr wrap="square" lIns="0" tIns="0" rIns="0" bIns="0" rtlCol="0" anchor="ctr"/>
          <a:lstStyle/>
          <a:p>
            <a:pPr indent="0" marL="0">
              <a:lnSpc>
                <a:spcPct val="110000"/>
              </a:lnSpc>
              <a:buNone/>
            </a:pPr>
            <a:r>
              <a:rPr lang="en-US" sz="1250" dirty="0">
                <a:solidFill>
                  <a:srgbClr val="3A536B"/>
                </a:solidFill>
                <a:latin typeface="Calibri" pitchFamily="34" charset="0"/>
                <a:ea typeface="Calibri" pitchFamily="34" charset="-122"/>
                <a:cs typeface="Calibri" pitchFamily="34" charset="-120"/>
              </a:rPr>
              <a:t>the type of the value handed back. void means nothing is handed back.</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INVOCATION</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What Happens When You Call a Method</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Control leaves the caller, the arguments are copied into the parameters, and a value comes back.</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7</a:t>
            </a:r>
            <a:endParaRPr lang="en-US" sz="900" dirty="0"/>
          </a:p>
        </p:txBody>
      </p:sp>
      <p:sp>
        <p:nvSpPr>
          <p:cNvPr id="7" name="Shape 5"/>
          <p:cNvSpPr/>
          <p:nvPr/>
        </p:nvSpPr>
        <p:spPr>
          <a:xfrm>
            <a:off x="566928" y="1536192"/>
            <a:ext cx="5943600" cy="4139306"/>
          </a:xfrm>
          <a:prstGeom prst="roundRect">
            <a:avLst>
              <a:gd name="adj" fmla="val 1546"/>
            </a:avLst>
          </a:prstGeom>
          <a:solidFill>
            <a:srgbClr val="EDF2F7"/>
          </a:solidFill>
          <a:ln w="12700">
            <a:solidFill>
              <a:srgbClr val="CFDBE5"/>
            </a:solidFill>
            <a:prstDash val="solid"/>
          </a:ln>
        </p:spPr>
      </p:sp>
      <p:sp>
        <p:nvSpPr>
          <p:cNvPr id="8" name="Text 6"/>
          <p:cNvSpPr txBox="1"/>
          <p:nvPr/>
        </p:nvSpPr>
        <p:spPr>
          <a:xfrm>
            <a:off x="713232" y="1581912"/>
            <a:ext cx="565099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TestMax.java</a:t>
            </a:r>
            <a:endParaRPr lang="en-US" sz="950" dirty="0"/>
          </a:p>
        </p:txBody>
      </p:sp>
      <p:sp>
        <p:nvSpPr>
          <p:cNvPr id="9" name="Text 7"/>
          <p:cNvSpPr txBox="1"/>
          <p:nvPr/>
        </p:nvSpPr>
        <p:spPr>
          <a:xfrm>
            <a:off x="731520" y="1810512"/>
            <a:ext cx="5614416" cy="3810122"/>
          </a:xfrm>
          <a:prstGeom prst="rect">
            <a:avLst/>
          </a:prstGeom>
          <a:noFill/>
          <a:ln/>
        </p:spPr>
        <p:txBody>
          <a:bodyPr wrap="square" lIns="0" tIns="0" rIns="0" bIns="0" rtlCol="0" anchor="t"/>
          <a:lstStyle/>
          <a:p>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class</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568A"/>
                </a:solidFill>
                <a:latin typeface="Courier New" pitchFamily="34" charset="0"/>
                <a:ea typeface="Courier New" pitchFamily="34" charset="-122"/>
                <a:cs typeface="Courier New" pitchFamily="34" charset="-120"/>
              </a:rPr>
              <a:t>TestMax</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void</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main</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568A"/>
                </a:solidFill>
                <a:latin typeface="Courier New" pitchFamily="34" charset="0"/>
                <a:ea typeface="Courier New" pitchFamily="34" charset="-122"/>
                <a:cs typeface="Courier New" pitchFamily="34" charset="-120"/>
              </a:rPr>
              <a:t>String</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args</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max</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614A"/>
                </a:solidFill>
                <a:latin typeface="Courier New" pitchFamily="34" charset="0"/>
                <a:ea typeface="Courier New" pitchFamily="34" charset="-122"/>
                <a:cs typeface="Courier New" pitchFamily="34" charset="-120"/>
              </a:rPr>
              <a:t>"The maximum of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614A"/>
                </a:solidFill>
                <a:latin typeface="Courier New" pitchFamily="34" charset="0"/>
                <a:ea typeface="Courier New" pitchFamily="34" charset="-122"/>
                <a:cs typeface="Courier New" pitchFamily="34" charset="-120"/>
              </a:rPr>
              <a:t>" and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614A"/>
                </a:solidFill>
                <a:latin typeface="Courier New" pitchFamily="34" charset="0"/>
                <a:ea typeface="Courier New" pitchFamily="34" charset="-122"/>
                <a:cs typeface="Courier New" pitchFamily="34" charset="-120"/>
              </a:rPr>
              <a:t>" is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max</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num1</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num2</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result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num1</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num2</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result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num1</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else</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result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num2</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result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p:txBody>
      </p:sp>
      <p:sp>
        <p:nvSpPr>
          <p:cNvPr id="10" name="Shape 8"/>
          <p:cNvSpPr/>
          <p:nvPr/>
        </p:nvSpPr>
        <p:spPr>
          <a:xfrm>
            <a:off x="6967728" y="1536192"/>
            <a:ext cx="4657039" cy="672770"/>
          </a:xfrm>
          <a:prstGeom prst="roundRect">
            <a:avLst>
              <a:gd name="adj" fmla="val 9514"/>
            </a:avLst>
          </a:prstGeom>
          <a:solidFill>
            <a:srgbClr val="FFFFFF"/>
          </a:solidFill>
          <a:ln w="12700">
            <a:solidFill>
              <a:srgbClr val="4B6377"/>
            </a:solidFill>
            <a:prstDash val="solid"/>
          </a:ln>
        </p:spPr>
      </p:sp>
      <p:sp>
        <p:nvSpPr>
          <p:cNvPr id="11" name="Text 9"/>
          <p:cNvSpPr txBox="1"/>
          <p:nvPr/>
        </p:nvSpPr>
        <p:spPr>
          <a:xfrm>
            <a:off x="7114032" y="1609344"/>
            <a:ext cx="436443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2" name="Text 10"/>
          <p:cNvSpPr txBox="1"/>
          <p:nvPr/>
        </p:nvSpPr>
        <p:spPr>
          <a:xfrm>
            <a:off x="7114032" y="1810512"/>
            <a:ext cx="4364431" cy="307010"/>
          </a:xfrm>
          <a:prstGeom prst="rect">
            <a:avLst/>
          </a:prstGeom>
          <a:noFill/>
          <a:ln/>
        </p:spPr>
        <p:txBody>
          <a:bodyPr wrap="square" lIns="0" tIns="0" rIns="0" bIns="0" rtlCol="0" anchor="t"/>
          <a:lstStyle/>
          <a:p>
            <a:pPr indent="0" marL="0">
              <a:lnSpc>
                <a:spcPct val="110000"/>
              </a:lnSpc>
              <a:buNone/>
            </a:pPr>
            <a:r>
              <a:rPr lang="en-US" sz="1150" dirty="0">
                <a:solidFill>
                  <a:srgbClr val="0F2942"/>
                </a:solidFill>
                <a:latin typeface="Courier New" pitchFamily="34" charset="0"/>
                <a:ea typeface="Courier New" pitchFamily="34" charset="-122"/>
                <a:cs typeface="Courier New" pitchFamily="34" charset="-120"/>
              </a:rPr>
              <a:t>The maximum of 5 and 2 is 5</a:t>
            </a:r>
            <a:endParaRPr lang="en-US" sz="1150" dirty="0"/>
          </a:p>
        </p:txBody>
      </p:sp>
      <p:sp>
        <p:nvSpPr>
          <p:cNvPr id="13" name="Text 11"/>
          <p:cNvSpPr txBox="1"/>
          <p:nvPr/>
        </p:nvSpPr>
        <p:spPr>
          <a:xfrm>
            <a:off x="6967728" y="2483282"/>
            <a:ext cx="4657039" cy="219456"/>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STEP BY STEP</a:t>
            </a:r>
            <a:endParaRPr lang="en-US" sz="950" dirty="0"/>
          </a:p>
        </p:txBody>
      </p:sp>
      <p:sp>
        <p:nvSpPr>
          <p:cNvPr id="14" name="Shape 12"/>
          <p:cNvSpPr/>
          <p:nvPr/>
        </p:nvSpPr>
        <p:spPr>
          <a:xfrm>
            <a:off x="6967728" y="2757602"/>
            <a:ext cx="4657039" cy="603504"/>
          </a:xfrm>
          <a:prstGeom prst="roundRect">
            <a:avLst>
              <a:gd name="adj" fmla="val 13636"/>
            </a:avLst>
          </a:prstGeom>
          <a:solidFill>
            <a:srgbClr val="FFFFFF"/>
          </a:solidFill>
          <a:ln w="12700">
            <a:solidFill>
              <a:srgbClr val="D3DEE7"/>
            </a:solidFill>
            <a:prstDash val="solid"/>
          </a:ln>
        </p:spPr>
      </p:sp>
      <p:sp>
        <p:nvSpPr>
          <p:cNvPr id="15" name="Shape 13"/>
          <p:cNvSpPr/>
          <p:nvPr/>
        </p:nvSpPr>
        <p:spPr>
          <a:xfrm>
            <a:off x="7150608" y="2885618"/>
            <a:ext cx="347472" cy="347472"/>
          </a:xfrm>
          <a:prstGeom prst="ellipse">
            <a:avLst/>
          </a:prstGeom>
          <a:solidFill>
            <a:srgbClr val="1D4468"/>
          </a:solidFill>
          <a:ln w="12700">
            <a:solidFill>
              <a:srgbClr val="1D4468"/>
            </a:solidFill>
            <a:prstDash val="solid"/>
          </a:ln>
        </p:spPr>
      </p:sp>
      <p:sp>
        <p:nvSpPr>
          <p:cNvPr id="16" name="Text 14"/>
          <p:cNvSpPr txBox="1"/>
          <p:nvPr/>
        </p:nvSpPr>
        <p:spPr>
          <a:xfrm>
            <a:off x="7150608" y="2885618"/>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7" name="Text 15"/>
          <p:cNvSpPr txBox="1"/>
          <p:nvPr/>
        </p:nvSpPr>
        <p:spPr>
          <a:xfrm>
            <a:off x="7626096" y="2803322"/>
            <a:ext cx="3815791" cy="289682"/>
          </a:xfrm>
          <a:prstGeom prst="rect">
            <a:avLst/>
          </a:prstGeom>
          <a:noFill/>
          <a:ln/>
        </p:spPr>
        <p:txBody>
          <a:bodyPr wrap="square" lIns="0" tIns="0" rIns="0" bIns="0" rtlCol="0" anchor="ctr"/>
          <a:lstStyle/>
          <a:p>
            <a:pPr indent="0" marL="0">
              <a:buNone/>
            </a:pPr>
            <a:r>
              <a:rPr lang="en-US" sz="1150" b="1" dirty="0">
                <a:solidFill>
                  <a:srgbClr val="0F2942"/>
                </a:solidFill>
                <a:latin typeface="Courier New" pitchFamily="34" charset="0"/>
                <a:ea typeface="Courier New" pitchFamily="34" charset="-122"/>
                <a:cs typeface="Courier New" pitchFamily="34" charset="-120"/>
              </a:rPr>
              <a:t>max(i, j)</a:t>
            </a:r>
            <a:endParaRPr lang="en-US" sz="1150" dirty="0"/>
          </a:p>
        </p:txBody>
      </p:sp>
      <p:sp>
        <p:nvSpPr>
          <p:cNvPr id="18" name="Text 16"/>
          <p:cNvSpPr txBox="1"/>
          <p:nvPr/>
        </p:nvSpPr>
        <p:spPr>
          <a:xfrm>
            <a:off x="7626096" y="3035214"/>
            <a:ext cx="3815791" cy="301752"/>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control leaves main at this line</a:t>
            </a:r>
            <a:endParaRPr lang="en-US" sz="1100" dirty="0"/>
          </a:p>
        </p:txBody>
      </p:sp>
      <p:sp>
        <p:nvSpPr>
          <p:cNvPr id="19" name="Shape 17"/>
          <p:cNvSpPr/>
          <p:nvPr/>
        </p:nvSpPr>
        <p:spPr>
          <a:xfrm>
            <a:off x="6967728" y="3470834"/>
            <a:ext cx="4657039" cy="603504"/>
          </a:xfrm>
          <a:prstGeom prst="roundRect">
            <a:avLst>
              <a:gd name="adj" fmla="val 13636"/>
            </a:avLst>
          </a:prstGeom>
          <a:solidFill>
            <a:srgbClr val="E6F2EC"/>
          </a:solidFill>
          <a:ln w="12700">
            <a:solidFill>
              <a:srgbClr val="176240"/>
            </a:solidFill>
            <a:prstDash val="solid"/>
          </a:ln>
        </p:spPr>
      </p:sp>
      <p:sp>
        <p:nvSpPr>
          <p:cNvPr id="20" name="Shape 18"/>
          <p:cNvSpPr/>
          <p:nvPr/>
        </p:nvSpPr>
        <p:spPr>
          <a:xfrm>
            <a:off x="7150608" y="3598850"/>
            <a:ext cx="347472" cy="347472"/>
          </a:xfrm>
          <a:prstGeom prst="ellipse">
            <a:avLst/>
          </a:prstGeom>
          <a:solidFill>
            <a:srgbClr val="176240"/>
          </a:solidFill>
          <a:ln w="12700">
            <a:solidFill>
              <a:srgbClr val="176240"/>
            </a:solidFill>
            <a:prstDash val="solid"/>
          </a:ln>
        </p:spPr>
      </p:sp>
      <p:sp>
        <p:nvSpPr>
          <p:cNvPr id="21" name="Text 19"/>
          <p:cNvSpPr txBox="1"/>
          <p:nvPr/>
        </p:nvSpPr>
        <p:spPr>
          <a:xfrm>
            <a:off x="7150608" y="3598850"/>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22" name="Text 20"/>
          <p:cNvSpPr txBox="1"/>
          <p:nvPr/>
        </p:nvSpPr>
        <p:spPr>
          <a:xfrm>
            <a:off x="7626096" y="3516554"/>
            <a:ext cx="3815791" cy="289682"/>
          </a:xfrm>
          <a:prstGeom prst="rect">
            <a:avLst/>
          </a:prstGeom>
          <a:noFill/>
          <a:ln/>
        </p:spPr>
        <p:txBody>
          <a:bodyPr wrap="square" lIns="0" tIns="0" rIns="0" bIns="0" rtlCol="0" anchor="ctr"/>
          <a:lstStyle/>
          <a:p>
            <a:pPr indent="0" marL="0">
              <a:buNone/>
            </a:pPr>
            <a:r>
              <a:rPr lang="en-US" sz="1150" b="1" dirty="0">
                <a:solidFill>
                  <a:srgbClr val="176240"/>
                </a:solidFill>
                <a:latin typeface="Courier New" pitchFamily="34" charset="0"/>
                <a:ea typeface="Courier New" pitchFamily="34" charset="-122"/>
                <a:cs typeface="Courier New" pitchFamily="34" charset="-120"/>
              </a:rPr>
              <a:t>num1 = 5, num2 = 2</a:t>
            </a:r>
            <a:endParaRPr lang="en-US" sz="1150" dirty="0"/>
          </a:p>
        </p:txBody>
      </p:sp>
      <p:sp>
        <p:nvSpPr>
          <p:cNvPr id="23" name="Text 21"/>
          <p:cNvSpPr txBox="1"/>
          <p:nvPr/>
        </p:nvSpPr>
        <p:spPr>
          <a:xfrm>
            <a:off x="7626096" y="3748446"/>
            <a:ext cx="3815791" cy="301752"/>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the values of i and j are COPIED across</a:t>
            </a:r>
            <a:endParaRPr lang="en-US" sz="1100" dirty="0"/>
          </a:p>
        </p:txBody>
      </p:sp>
      <p:sp>
        <p:nvSpPr>
          <p:cNvPr id="24" name="Shape 22"/>
          <p:cNvSpPr/>
          <p:nvPr/>
        </p:nvSpPr>
        <p:spPr>
          <a:xfrm>
            <a:off x="6967728" y="4184066"/>
            <a:ext cx="4657039" cy="603504"/>
          </a:xfrm>
          <a:prstGeom prst="roundRect">
            <a:avLst>
              <a:gd name="adj" fmla="val 13636"/>
            </a:avLst>
          </a:prstGeom>
          <a:solidFill>
            <a:srgbClr val="FFFFFF"/>
          </a:solidFill>
          <a:ln w="12700">
            <a:solidFill>
              <a:srgbClr val="D3DEE7"/>
            </a:solidFill>
            <a:prstDash val="solid"/>
          </a:ln>
        </p:spPr>
      </p:sp>
      <p:sp>
        <p:nvSpPr>
          <p:cNvPr id="25" name="Shape 23"/>
          <p:cNvSpPr/>
          <p:nvPr/>
        </p:nvSpPr>
        <p:spPr>
          <a:xfrm>
            <a:off x="7150608" y="4312082"/>
            <a:ext cx="347472" cy="347472"/>
          </a:xfrm>
          <a:prstGeom prst="ellipse">
            <a:avLst/>
          </a:prstGeom>
          <a:solidFill>
            <a:srgbClr val="1D4468"/>
          </a:solidFill>
          <a:ln w="12700">
            <a:solidFill>
              <a:srgbClr val="1D4468"/>
            </a:solidFill>
            <a:prstDash val="solid"/>
          </a:ln>
        </p:spPr>
      </p:sp>
      <p:sp>
        <p:nvSpPr>
          <p:cNvPr id="26" name="Text 24"/>
          <p:cNvSpPr txBox="1"/>
          <p:nvPr/>
        </p:nvSpPr>
        <p:spPr>
          <a:xfrm>
            <a:off x="7150608" y="4312082"/>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7" name="Text 25"/>
          <p:cNvSpPr txBox="1"/>
          <p:nvPr/>
        </p:nvSpPr>
        <p:spPr>
          <a:xfrm>
            <a:off x="7626096" y="4229786"/>
            <a:ext cx="3815791" cy="289682"/>
          </a:xfrm>
          <a:prstGeom prst="rect">
            <a:avLst/>
          </a:prstGeom>
          <a:noFill/>
          <a:ln/>
        </p:spPr>
        <p:txBody>
          <a:bodyPr wrap="square" lIns="0" tIns="0" rIns="0" bIns="0" rtlCol="0" anchor="ctr"/>
          <a:lstStyle/>
          <a:p>
            <a:pPr indent="0" marL="0">
              <a:buNone/>
            </a:pPr>
            <a:r>
              <a:rPr lang="en-US" sz="1150" b="1" dirty="0">
                <a:solidFill>
                  <a:srgbClr val="0F2942"/>
                </a:solidFill>
                <a:latin typeface="Courier New" pitchFamily="34" charset="0"/>
                <a:ea typeface="Courier New" pitchFamily="34" charset="-122"/>
                <a:cs typeface="Courier New" pitchFamily="34" charset="-120"/>
              </a:rPr>
              <a:t>the body runs</a:t>
            </a:r>
            <a:endParaRPr lang="en-US" sz="1150" dirty="0"/>
          </a:p>
        </p:txBody>
      </p:sp>
      <p:sp>
        <p:nvSpPr>
          <p:cNvPr id="28" name="Text 26"/>
          <p:cNvSpPr txBox="1"/>
          <p:nvPr/>
        </p:nvSpPr>
        <p:spPr>
          <a:xfrm>
            <a:off x="7626096" y="4461678"/>
            <a:ext cx="3815791" cy="301752"/>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num1 &gt; num2 is true, so result becomes 5</a:t>
            </a:r>
            <a:endParaRPr lang="en-US" sz="1100" dirty="0"/>
          </a:p>
        </p:txBody>
      </p:sp>
      <p:sp>
        <p:nvSpPr>
          <p:cNvPr id="29" name="Shape 27"/>
          <p:cNvSpPr/>
          <p:nvPr/>
        </p:nvSpPr>
        <p:spPr>
          <a:xfrm>
            <a:off x="6967728" y="4897298"/>
            <a:ext cx="4657039" cy="603504"/>
          </a:xfrm>
          <a:prstGeom prst="roundRect">
            <a:avLst>
              <a:gd name="adj" fmla="val 13636"/>
            </a:avLst>
          </a:prstGeom>
          <a:solidFill>
            <a:srgbClr val="E6F2EC"/>
          </a:solidFill>
          <a:ln w="12700">
            <a:solidFill>
              <a:srgbClr val="176240"/>
            </a:solidFill>
            <a:prstDash val="solid"/>
          </a:ln>
        </p:spPr>
      </p:sp>
      <p:sp>
        <p:nvSpPr>
          <p:cNvPr id="30" name="Shape 28"/>
          <p:cNvSpPr/>
          <p:nvPr/>
        </p:nvSpPr>
        <p:spPr>
          <a:xfrm>
            <a:off x="7150608" y="5025314"/>
            <a:ext cx="347472" cy="347472"/>
          </a:xfrm>
          <a:prstGeom prst="ellipse">
            <a:avLst/>
          </a:prstGeom>
          <a:solidFill>
            <a:srgbClr val="176240"/>
          </a:solidFill>
          <a:ln w="12700">
            <a:solidFill>
              <a:srgbClr val="176240"/>
            </a:solidFill>
            <a:prstDash val="solid"/>
          </a:ln>
        </p:spPr>
      </p:sp>
      <p:sp>
        <p:nvSpPr>
          <p:cNvPr id="31" name="Text 29"/>
          <p:cNvSpPr txBox="1"/>
          <p:nvPr/>
        </p:nvSpPr>
        <p:spPr>
          <a:xfrm>
            <a:off x="7150608" y="5025314"/>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32" name="Text 30"/>
          <p:cNvSpPr txBox="1"/>
          <p:nvPr/>
        </p:nvSpPr>
        <p:spPr>
          <a:xfrm>
            <a:off x="7626096" y="4943018"/>
            <a:ext cx="3815791" cy="289682"/>
          </a:xfrm>
          <a:prstGeom prst="rect">
            <a:avLst/>
          </a:prstGeom>
          <a:noFill/>
          <a:ln/>
        </p:spPr>
        <p:txBody>
          <a:bodyPr wrap="square" lIns="0" tIns="0" rIns="0" bIns="0" rtlCol="0" anchor="ctr"/>
          <a:lstStyle/>
          <a:p>
            <a:pPr indent="0" marL="0">
              <a:buNone/>
            </a:pPr>
            <a:r>
              <a:rPr lang="en-US" sz="1150" b="1" dirty="0">
                <a:solidFill>
                  <a:srgbClr val="176240"/>
                </a:solidFill>
                <a:latin typeface="Courier New" pitchFamily="34" charset="0"/>
                <a:ea typeface="Courier New" pitchFamily="34" charset="-122"/>
                <a:cs typeface="Courier New" pitchFamily="34" charset="-120"/>
              </a:rPr>
              <a:t>return result</a:t>
            </a:r>
            <a:endParaRPr lang="en-US" sz="1150" dirty="0"/>
          </a:p>
        </p:txBody>
      </p:sp>
      <p:sp>
        <p:nvSpPr>
          <p:cNvPr id="33" name="Text 31"/>
          <p:cNvSpPr txBox="1"/>
          <p:nvPr/>
        </p:nvSpPr>
        <p:spPr>
          <a:xfrm>
            <a:off x="7626096" y="5174910"/>
            <a:ext cx="3815791" cy="301752"/>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5 is handed back to the call site</a:t>
            </a:r>
            <a:endParaRPr lang="en-US" sz="1100" dirty="0"/>
          </a:p>
        </p:txBody>
      </p:sp>
      <p:sp>
        <p:nvSpPr>
          <p:cNvPr id="34" name="Shape 32"/>
          <p:cNvSpPr/>
          <p:nvPr/>
        </p:nvSpPr>
        <p:spPr>
          <a:xfrm>
            <a:off x="6967728" y="5610530"/>
            <a:ext cx="4657039" cy="603504"/>
          </a:xfrm>
          <a:prstGeom prst="roundRect">
            <a:avLst>
              <a:gd name="adj" fmla="val 13636"/>
            </a:avLst>
          </a:prstGeom>
          <a:solidFill>
            <a:srgbClr val="FBEEE0"/>
          </a:solidFill>
          <a:ln w="12700">
            <a:solidFill>
              <a:srgbClr val="C4560C"/>
            </a:solidFill>
            <a:prstDash val="solid"/>
          </a:ln>
        </p:spPr>
      </p:sp>
      <p:sp>
        <p:nvSpPr>
          <p:cNvPr id="35" name="Shape 33"/>
          <p:cNvSpPr/>
          <p:nvPr/>
        </p:nvSpPr>
        <p:spPr>
          <a:xfrm>
            <a:off x="7150608" y="5738546"/>
            <a:ext cx="347472" cy="347472"/>
          </a:xfrm>
          <a:prstGeom prst="ellipse">
            <a:avLst/>
          </a:prstGeom>
          <a:solidFill>
            <a:srgbClr val="C4560C"/>
          </a:solidFill>
          <a:ln w="12700">
            <a:solidFill>
              <a:srgbClr val="C4560C"/>
            </a:solidFill>
            <a:prstDash val="solid"/>
          </a:ln>
        </p:spPr>
      </p:sp>
      <p:sp>
        <p:nvSpPr>
          <p:cNvPr id="36" name="Text 34"/>
          <p:cNvSpPr txBox="1"/>
          <p:nvPr/>
        </p:nvSpPr>
        <p:spPr>
          <a:xfrm>
            <a:off x="7150608" y="5738546"/>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37" name="Text 35"/>
          <p:cNvSpPr txBox="1"/>
          <p:nvPr/>
        </p:nvSpPr>
        <p:spPr>
          <a:xfrm>
            <a:off x="7626096" y="5656250"/>
            <a:ext cx="3815791" cy="289682"/>
          </a:xfrm>
          <a:prstGeom prst="rect">
            <a:avLst/>
          </a:prstGeom>
          <a:noFill/>
          <a:ln/>
        </p:spPr>
        <p:txBody>
          <a:bodyPr wrap="square" lIns="0" tIns="0" rIns="0" bIns="0" rtlCol="0" anchor="ctr"/>
          <a:lstStyle/>
          <a:p>
            <a:pPr indent="0" marL="0">
              <a:buNone/>
            </a:pPr>
            <a:r>
              <a:rPr lang="en-US" sz="1150" b="1" dirty="0">
                <a:solidFill>
                  <a:srgbClr val="0F2942"/>
                </a:solidFill>
                <a:latin typeface="Courier New" pitchFamily="34" charset="0"/>
                <a:ea typeface="Courier New" pitchFamily="34" charset="-122"/>
                <a:cs typeface="Courier New" pitchFamily="34" charset="-120"/>
              </a:rPr>
              <a:t>int k = 5</a:t>
            </a:r>
            <a:endParaRPr lang="en-US" sz="1150" dirty="0"/>
          </a:p>
        </p:txBody>
      </p:sp>
      <p:sp>
        <p:nvSpPr>
          <p:cNvPr id="38" name="Text 36"/>
          <p:cNvSpPr txBox="1"/>
          <p:nvPr/>
        </p:nvSpPr>
        <p:spPr>
          <a:xfrm>
            <a:off x="7626096" y="5888142"/>
            <a:ext cx="3815791" cy="301752"/>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main resumes exactly where it left off</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INVOCATION</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Where the Variables Actually Live: the Call Stack</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Each method invocation gets its own frame. The frame is created on entry and destroyed on return.</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8</a:t>
            </a:r>
            <a:endParaRPr lang="en-US" sz="900" dirty="0"/>
          </a:p>
        </p:txBody>
      </p:sp>
      <p:sp>
        <p:nvSpPr>
          <p:cNvPr id="7" name="Shape 5"/>
          <p:cNvSpPr/>
          <p:nvPr/>
        </p:nvSpPr>
        <p:spPr>
          <a:xfrm>
            <a:off x="566928" y="1536192"/>
            <a:ext cx="5120640" cy="3150657"/>
          </a:xfrm>
          <a:prstGeom prst="roundRect">
            <a:avLst>
              <a:gd name="adj" fmla="val 2032"/>
            </a:avLst>
          </a:prstGeom>
          <a:solidFill>
            <a:srgbClr val="EDF2F7"/>
          </a:solidFill>
          <a:ln w="12700">
            <a:solidFill>
              <a:srgbClr val="CFDBE5"/>
            </a:solidFill>
            <a:prstDash val="solid"/>
          </a:ln>
        </p:spPr>
      </p:sp>
      <p:sp>
        <p:nvSpPr>
          <p:cNvPr id="8" name="Text 6"/>
          <p:cNvSpPr txBox="1"/>
          <p:nvPr/>
        </p:nvSpPr>
        <p:spPr>
          <a:xfrm>
            <a:off x="713232" y="1581912"/>
            <a:ext cx="482803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THE TWO METHODS</a:t>
            </a:r>
            <a:endParaRPr lang="en-US" sz="950" dirty="0"/>
          </a:p>
        </p:txBody>
      </p:sp>
      <p:sp>
        <p:nvSpPr>
          <p:cNvPr id="9" name="Text 7"/>
          <p:cNvSpPr txBox="1"/>
          <p:nvPr/>
        </p:nvSpPr>
        <p:spPr>
          <a:xfrm>
            <a:off x="731520" y="1810512"/>
            <a:ext cx="4791456" cy="2821473"/>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void</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main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String</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args</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max</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max</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num1</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num2</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result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result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10" name="Shape 8"/>
          <p:cNvSpPr/>
          <p:nvPr/>
        </p:nvSpPr>
        <p:spPr>
          <a:xfrm>
            <a:off x="566928" y="4553712"/>
            <a:ext cx="5120640" cy="1737360"/>
          </a:xfrm>
          <a:prstGeom prst="roundRect">
            <a:avLst>
              <a:gd name="adj" fmla="val 4737"/>
            </a:avLst>
          </a:prstGeom>
          <a:solidFill>
            <a:srgbClr val="E4ECF4"/>
          </a:solidFill>
          <a:ln w="12700">
            <a:solidFill>
              <a:srgbClr val="E4ECF4"/>
            </a:solidFill>
            <a:prstDash val="solid"/>
          </a:ln>
        </p:spPr>
      </p:sp>
      <p:sp>
        <p:nvSpPr>
          <p:cNvPr id="11" name="Text 9"/>
          <p:cNvSpPr txBox="1"/>
          <p:nvPr/>
        </p:nvSpPr>
        <p:spPr>
          <a:xfrm>
            <a:off x="841248" y="4700016"/>
            <a:ext cx="4572000"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Why this matters</a:t>
            </a:r>
            <a:endParaRPr lang="en-US" sz="1350" dirty="0"/>
          </a:p>
        </p:txBody>
      </p:sp>
      <p:sp>
        <p:nvSpPr>
          <p:cNvPr id="12" name="Text 10"/>
          <p:cNvSpPr txBox="1"/>
          <p:nvPr/>
        </p:nvSpPr>
        <p:spPr>
          <a:xfrm>
            <a:off x="841248" y="5010912"/>
            <a:ext cx="4572000" cy="118872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num1, num2 and result exist only while max is running. They are not the same variables as i, j and k — they are fresh variables holding copies. When max returns, its frame is gone and so are they.</a:t>
            </a:r>
            <a:endParaRPr lang="en-US" sz="1200" dirty="0"/>
          </a:p>
        </p:txBody>
      </p:sp>
      <p:sp>
        <p:nvSpPr>
          <p:cNvPr id="13" name="Text 11"/>
          <p:cNvSpPr txBox="1"/>
          <p:nvPr/>
        </p:nvSpPr>
        <p:spPr>
          <a:xfrm>
            <a:off x="6190488" y="1536192"/>
            <a:ext cx="1659026" cy="274320"/>
          </a:xfrm>
          <a:prstGeom prst="rect">
            <a:avLst/>
          </a:prstGeom>
          <a:noFill/>
          <a:ln/>
        </p:spPr>
        <p:txBody>
          <a:bodyPr wrap="square" lIns="0" tIns="0" rIns="0" bIns="0" rtlCol="0" anchor="ctr"/>
          <a:lstStyle/>
          <a:p>
            <a:pPr algn="ctr" indent="0" marL="0">
              <a:buNone/>
            </a:pPr>
            <a:r>
              <a:rPr lang="en-US" sz="1150" b="1" dirty="0">
                <a:solidFill>
                  <a:srgbClr val="0F2942"/>
                </a:solidFill>
                <a:latin typeface="Calibri" pitchFamily="34" charset="0"/>
                <a:ea typeface="Calibri" pitchFamily="34" charset="-122"/>
                <a:cs typeface="Calibri" pitchFamily="34" charset="-120"/>
              </a:rPr>
              <a:t>1. inside main</a:t>
            </a:r>
            <a:endParaRPr lang="en-US" sz="1150" dirty="0"/>
          </a:p>
        </p:txBody>
      </p:sp>
      <p:sp>
        <p:nvSpPr>
          <p:cNvPr id="14" name="Text 12"/>
          <p:cNvSpPr txBox="1"/>
          <p:nvPr/>
        </p:nvSpPr>
        <p:spPr>
          <a:xfrm>
            <a:off x="6190488" y="3584448"/>
            <a:ext cx="1659026" cy="219456"/>
          </a:xfrm>
          <a:prstGeom prst="rect">
            <a:avLst/>
          </a:prstGeom>
          <a:noFill/>
          <a:ln/>
        </p:spPr>
        <p:txBody>
          <a:bodyPr wrap="square" lIns="0" tIns="0" rIns="0" bIns="0" rtlCol="0" anchor="ctr"/>
          <a:lstStyle/>
          <a:p>
            <a:pPr algn="ctr" indent="0" marL="0">
              <a:buNone/>
            </a:pPr>
            <a:r>
              <a:rPr lang="en-US" sz="950" b="1" spc="80" kern="0" dirty="0">
                <a:solidFill>
                  <a:srgbClr val="1D4468"/>
                </a:solidFill>
                <a:latin typeface="Calibri" pitchFamily="34" charset="0"/>
                <a:ea typeface="Calibri" pitchFamily="34" charset="-122"/>
                <a:cs typeface="Calibri" pitchFamily="34" charset="-120"/>
              </a:rPr>
              <a:t>main frame</a:t>
            </a:r>
            <a:endParaRPr lang="en-US" sz="950" dirty="0"/>
          </a:p>
        </p:txBody>
      </p:sp>
      <p:sp>
        <p:nvSpPr>
          <p:cNvPr id="15" name="Shape 13"/>
          <p:cNvSpPr/>
          <p:nvPr/>
        </p:nvSpPr>
        <p:spPr>
          <a:xfrm>
            <a:off x="6190488" y="3840480"/>
            <a:ext cx="1659026" cy="384048"/>
          </a:xfrm>
          <a:prstGeom prst="roundRect">
            <a:avLst>
              <a:gd name="adj" fmla="val 11905"/>
            </a:avLst>
          </a:prstGeom>
          <a:solidFill>
            <a:srgbClr val="FFFFFF"/>
          </a:solidFill>
          <a:ln w="15240">
            <a:solidFill>
              <a:srgbClr val="D3DEE7"/>
            </a:solidFill>
            <a:prstDash val="solid"/>
          </a:ln>
        </p:spPr>
      </p:sp>
      <p:sp>
        <p:nvSpPr>
          <p:cNvPr id="16" name="Text 14"/>
          <p:cNvSpPr txBox="1"/>
          <p:nvPr/>
        </p:nvSpPr>
        <p:spPr>
          <a:xfrm>
            <a:off x="6318504" y="3840480"/>
            <a:ext cx="912465" cy="384048"/>
          </a:xfrm>
          <a:prstGeom prst="rect">
            <a:avLst/>
          </a:prstGeom>
          <a:noFill/>
          <a:ln/>
        </p:spPr>
        <p:txBody>
          <a:bodyPr wrap="square" lIns="0" tIns="0" rIns="0" bIns="0" rtlCol="0" anchor="ctr"/>
          <a:lstStyle/>
          <a:p>
            <a:pPr indent="0" marL="0">
              <a:buNone/>
            </a:pPr>
            <a:r>
              <a:rPr lang="en-US" sz="1050" dirty="0">
                <a:solidFill>
                  <a:srgbClr val="3A536B"/>
                </a:solidFill>
                <a:latin typeface="Courier New" pitchFamily="34" charset="0"/>
                <a:ea typeface="Courier New" pitchFamily="34" charset="-122"/>
                <a:cs typeface="Courier New" pitchFamily="34" charset="-120"/>
              </a:rPr>
              <a:t>k</a:t>
            </a:r>
            <a:endParaRPr lang="en-US" sz="1050" dirty="0"/>
          </a:p>
        </p:txBody>
      </p:sp>
      <p:sp>
        <p:nvSpPr>
          <p:cNvPr id="17" name="Text 15"/>
          <p:cNvSpPr txBox="1"/>
          <p:nvPr/>
        </p:nvSpPr>
        <p:spPr>
          <a:xfrm>
            <a:off x="7102953" y="3840480"/>
            <a:ext cx="618546" cy="384048"/>
          </a:xfrm>
          <a:prstGeom prst="rect">
            <a:avLst/>
          </a:prstGeom>
          <a:noFill/>
          <a:ln/>
        </p:spPr>
        <p:txBody>
          <a:bodyPr wrap="square" lIns="0" tIns="0" rIns="0" bIns="0" rtlCol="0" anchor="ctr"/>
          <a:lstStyle/>
          <a:p>
            <a:pPr algn="r" indent="0" marL="0">
              <a:buNone/>
            </a:pPr>
            <a:r>
              <a:rPr lang="en-US" sz="1050" b="1" dirty="0">
                <a:solidFill>
                  <a:srgbClr val="4B6377"/>
                </a:solidFill>
                <a:latin typeface="Courier New" pitchFamily="34" charset="0"/>
                <a:ea typeface="Courier New" pitchFamily="34" charset="-122"/>
                <a:cs typeface="Courier New" pitchFamily="34" charset="-120"/>
              </a:rPr>
              <a:t>—</a:t>
            </a:r>
            <a:endParaRPr lang="en-US" sz="1050" dirty="0"/>
          </a:p>
        </p:txBody>
      </p:sp>
      <p:sp>
        <p:nvSpPr>
          <p:cNvPr id="18" name="Shape 16"/>
          <p:cNvSpPr/>
          <p:nvPr/>
        </p:nvSpPr>
        <p:spPr>
          <a:xfrm>
            <a:off x="6190488" y="4279392"/>
            <a:ext cx="1659026" cy="384048"/>
          </a:xfrm>
          <a:prstGeom prst="roundRect">
            <a:avLst>
              <a:gd name="adj" fmla="val 11905"/>
            </a:avLst>
          </a:prstGeom>
          <a:solidFill>
            <a:srgbClr val="E4ECF4"/>
          </a:solidFill>
          <a:ln w="15240">
            <a:solidFill>
              <a:srgbClr val="1D4468"/>
            </a:solidFill>
            <a:prstDash val="solid"/>
          </a:ln>
        </p:spPr>
      </p:sp>
      <p:sp>
        <p:nvSpPr>
          <p:cNvPr id="19" name="Text 17"/>
          <p:cNvSpPr txBox="1"/>
          <p:nvPr/>
        </p:nvSpPr>
        <p:spPr>
          <a:xfrm>
            <a:off x="6318504" y="4279392"/>
            <a:ext cx="912465" cy="384048"/>
          </a:xfrm>
          <a:prstGeom prst="rect">
            <a:avLst/>
          </a:prstGeom>
          <a:noFill/>
          <a:ln/>
        </p:spPr>
        <p:txBody>
          <a:bodyPr wrap="square" lIns="0" tIns="0" rIns="0" bIns="0" rtlCol="0" anchor="ctr"/>
          <a:lstStyle/>
          <a:p>
            <a:pPr indent="0" marL="0">
              <a:buNone/>
            </a:pPr>
            <a:r>
              <a:rPr lang="en-US" sz="1050" dirty="0">
                <a:solidFill>
                  <a:srgbClr val="3A536B"/>
                </a:solidFill>
                <a:latin typeface="Courier New" pitchFamily="34" charset="0"/>
                <a:ea typeface="Courier New" pitchFamily="34" charset="-122"/>
                <a:cs typeface="Courier New" pitchFamily="34" charset="-120"/>
              </a:rPr>
              <a:t>j</a:t>
            </a:r>
            <a:endParaRPr lang="en-US" sz="1050" dirty="0"/>
          </a:p>
        </p:txBody>
      </p:sp>
      <p:sp>
        <p:nvSpPr>
          <p:cNvPr id="20" name="Text 18"/>
          <p:cNvSpPr txBox="1"/>
          <p:nvPr/>
        </p:nvSpPr>
        <p:spPr>
          <a:xfrm>
            <a:off x="7102953" y="4279392"/>
            <a:ext cx="618546" cy="384048"/>
          </a:xfrm>
          <a:prstGeom prst="rect">
            <a:avLst/>
          </a:prstGeom>
          <a:noFill/>
          <a:ln/>
        </p:spPr>
        <p:txBody>
          <a:bodyPr wrap="square" lIns="0" tIns="0" rIns="0" bIns="0" rtlCol="0" anchor="ctr"/>
          <a:lstStyle/>
          <a:p>
            <a:pPr algn="r" indent="0" marL="0">
              <a:buNone/>
            </a:pPr>
            <a:r>
              <a:rPr lang="en-US" sz="1050" b="1" dirty="0">
                <a:solidFill>
                  <a:srgbClr val="0F2942"/>
                </a:solidFill>
                <a:latin typeface="Courier New" pitchFamily="34" charset="0"/>
                <a:ea typeface="Courier New" pitchFamily="34" charset="-122"/>
                <a:cs typeface="Courier New" pitchFamily="34" charset="-120"/>
              </a:rPr>
              <a:t>2</a:t>
            </a:r>
            <a:endParaRPr lang="en-US" sz="1050" dirty="0"/>
          </a:p>
        </p:txBody>
      </p:sp>
      <p:sp>
        <p:nvSpPr>
          <p:cNvPr id="21" name="Shape 19"/>
          <p:cNvSpPr/>
          <p:nvPr/>
        </p:nvSpPr>
        <p:spPr>
          <a:xfrm>
            <a:off x="6190488" y="4718304"/>
            <a:ext cx="1659026" cy="384048"/>
          </a:xfrm>
          <a:prstGeom prst="roundRect">
            <a:avLst>
              <a:gd name="adj" fmla="val 11905"/>
            </a:avLst>
          </a:prstGeom>
          <a:solidFill>
            <a:srgbClr val="E4ECF4"/>
          </a:solidFill>
          <a:ln w="15240">
            <a:solidFill>
              <a:srgbClr val="1D4468"/>
            </a:solidFill>
            <a:prstDash val="solid"/>
          </a:ln>
        </p:spPr>
      </p:sp>
      <p:sp>
        <p:nvSpPr>
          <p:cNvPr id="22" name="Text 20"/>
          <p:cNvSpPr txBox="1"/>
          <p:nvPr/>
        </p:nvSpPr>
        <p:spPr>
          <a:xfrm>
            <a:off x="6318504" y="4718304"/>
            <a:ext cx="912465" cy="384048"/>
          </a:xfrm>
          <a:prstGeom prst="rect">
            <a:avLst/>
          </a:prstGeom>
          <a:noFill/>
          <a:ln/>
        </p:spPr>
        <p:txBody>
          <a:bodyPr wrap="square" lIns="0" tIns="0" rIns="0" bIns="0" rtlCol="0" anchor="ctr"/>
          <a:lstStyle/>
          <a:p>
            <a:pPr indent="0" marL="0">
              <a:buNone/>
            </a:pPr>
            <a:r>
              <a:rPr lang="en-US" sz="1050" dirty="0">
                <a:solidFill>
                  <a:srgbClr val="3A536B"/>
                </a:solidFill>
                <a:latin typeface="Courier New" pitchFamily="34" charset="0"/>
                <a:ea typeface="Courier New" pitchFamily="34" charset="-122"/>
                <a:cs typeface="Courier New" pitchFamily="34" charset="-120"/>
              </a:rPr>
              <a:t>i</a:t>
            </a:r>
            <a:endParaRPr lang="en-US" sz="1050" dirty="0"/>
          </a:p>
        </p:txBody>
      </p:sp>
      <p:sp>
        <p:nvSpPr>
          <p:cNvPr id="23" name="Text 21"/>
          <p:cNvSpPr txBox="1"/>
          <p:nvPr/>
        </p:nvSpPr>
        <p:spPr>
          <a:xfrm>
            <a:off x="7102953" y="4718304"/>
            <a:ext cx="618546" cy="384048"/>
          </a:xfrm>
          <a:prstGeom prst="rect">
            <a:avLst/>
          </a:prstGeom>
          <a:noFill/>
          <a:ln/>
        </p:spPr>
        <p:txBody>
          <a:bodyPr wrap="square" lIns="0" tIns="0" rIns="0" bIns="0" rtlCol="0" anchor="ctr"/>
          <a:lstStyle/>
          <a:p>
            <a:pPr algn="r" indent="0" marL="0">
              <a:buNone/>
            </a:pPr>
            <a:r>
              <a:rPr lang="en-US" sz="1050" b="1" dirty="0">
                <a:solidFill>
                  <a:srgbClr val="0F2942"/>
                </a:solidFill>
                <a:latin typeface="Courier New" pitchFamily="34" charset="0"/>
                <a:ea typeface="Courier New" pitchFamily="34" charset="-122"/>
                <a:cs typeface="Courier New" pitchFamily="34" charset="-120"/>
              </a:rPr>
              <a:t>5</a:t>
            </a:r>
            <a:endParaRPr lang="en-US" sz="1050" dirty="0"/>
          </a:p>
        </p:txBody>
      </p:sp>
      <p:sp>
        <p:nvSpPr>
          <p:cNvPr id="24" name="Text 22"/>
          <p:cNvSpPr txBox="1"/>
          <p:nvPr/>
        </p:nvSpPr>
        <p:spPr>
          <a:xfrm>
            <a:off x="8078114" y="1536192"/>
            <a:ext cx="1659026" cy="274320"/>
          </a:xfrm>
          <a:prstGeom prst="rect">
            <a:avLst/>
          </a:prstGeom>
          <a:noFill/>
          <a:ln/>
        </p:spPr>
        <p:txBody>
          <a:bodyPr wrap="square" lIns="0" tIns="0" rIns="0" bIns="0" rtlCol="0" anchor="ctr"/>
          <a:lstStyle/>
          <a:p>
            <a:pPr algn="ctr" indent="0" marL="0">
              <a:buNone/>
            </a:pPr>
            <a:r>
              <a:rPr lang="en-US" sz="1150" b="1" dirty="0">
                <a:solidFill>
                  <a:srgbClr val="0F2942"/>
                </a:solidFill>
                <a:latin typeface="Calibri" pitchFamily="34" charset="0"/>
                <a:ea typeface="Calibri" pitchFamily="34" charset="-122"/>
                <a:cs typeface="Calibri" pitchFamily="34" charset="-120"/>
              </a:rPr>
              <a:t>2. max is running</a:t>
            </a:r>
            <a:endParaRPr lang="en-US" sz="1150" dirty="0"/>
          </a:p>
        </p:txBody>
      </p:sp>
      <p:sp>
        <p:nvSpPr>
          <p:cNvPr id="25" name="Text 23"/>
          <p:cNvSpPr txBox="1"/>
          <p:nvPr/>
        </p:nvSpPr>
        <p:spPr>
          <a:xfrm>
            <a:off x="8078114" y="1901952"/>
            <a:ext cx="1659026" cy="219456"/>
          </a:xfrm>
          <a:prstGeom prst="rect">
            <a:avLst/>
          </a:prstGeom>
          <a:noFill/>
          <a:ln/>
        </p:spPr>
        <p:txBody>
          <a:bodyPr wrap="square" lIns="0" tIns="0" rIns="0" bIns="0" rtlCol="0" anchor="ctr"/>
          <a:lstStyle/>
          <a:p>
            <a:pPr algn="ctr" indent="0" marL="0">
              <a:buNone/>
            </a:pPr>
            <a:r>
              <a:rPr lang="en-US" sz="950" b="1" spc="80" kern="0" dirty="0">
                <a:solidFill>
                  <a:srgbClr val="9A430A"/>
                </a:solidFill>
                <a:latin typeface="Calibri" pitchFamily="34" charset="0"/>
                <a:ea typeface="Calibri" pitchFamily="34" charset="-122"/>
                <a:cs typeface="Calibri" pitchFamily="34" charset="-120"/>
              </a:rPr>
              <a:t>max frame</a:t>
            </a:r>
            <a:endParaRPr lang="en-US" sz="950" dirty="0"/>
          </a:p>
        </p:txBody>
      </p:sp>
      <p:sp>
        <p:nvSpPr>
          <p:cNvPr id="26" name="Shape 24"/>
          <p:cNvSpPr/>
          <p:nvPr/>
        </p:nvSpPr>
        <p:spPr>
          <a:xfrm>
            <a:off x="8078114" y="2157984"/>
            <a:ext cx="1659026" cy="384048"/>
          </a:xfrm>
          <a:prstGeom prst="roundRect">
            <a:avLst>
              <a:gd name="adj" fmla="val 11905"/>
            </a:avLst>
          </a:prstGeom>
          <a:solidFill>
            <a:srgbClr val="FBEEE0"/>
          </a:solidFill>
          <a:ln w="15240">
            <a:solidFill>
              <a:srgbClr val="C4560C"/>
            </a:solidFill>
            <a:prstDash val="solid"/>
          </a:ln>
        </p:spPr>
      </p:sp>
      <p:sp>
        <p:nvSpPr>
          <p:cNvPr id="27" name="Text 25"/>
          <p:cNvSpPr txBox="1"/>
          <p:nvPr/>
        </p:nvSpPr>
        <p:spPr>
          <a:xfrm>
            <a:off x="8206130" y="2157984"/>
            <a:ext cx="912465" cy="384048"/>
          </a:xfrm>
          <a:prstGeom prst="rect">
            <a:avLst/>
          </a:prstGeom>
          <a:noFill/>
          <a:ln/>
        </p:spPr>
        <p:txBody>
          <a:bodyPr wrap="square" lIns="0" tIns="0" rIns="0" bIns="0" rtlCol="0" anchor="ctr"/>
          <a:lstStyle/>
          <a:p>
            <a:pPr indent="0" marL="0">
              <a:buNone/>
            </a:pPr>
            <a:r>
              <a:rPr lang="en-US" sz="1050" dirty="0">
                <a:solidFill>
                  <a:srgbClr val="3A536B"/>
                </a:solidFill>
                <a:latin typeface="Courier New" pitchFamily="34" charset="0"/>
                <a:ea typeface="Courier New" pitchFamily="34" charset="-122"/>
                <a:cs typeface="Courier New" pitchFamily="34" charset="-120"/>
              </a:rPr>
              <a:t>result</a:t>
            </a:r>
            <a:endParaRPr lang="en-US" sz="1050" dirty="0"/>
          </a:p>
        </p:txBody>
      </p:sp>
      <p:sp>
        <p:nvSpPr>
          <p:cNvPr id="28" name="Text 26"/>
          <p:cNvSpPr txBox="1"/>
          <p:nvPr/>
        </p:nvSpPr>
        <p:spPr>
          <a:xfrm>
            <a:off x="8990579" y="2157984"/>
            <a:ext cx="618546" cy="384048"/>
          </a:xfrm>
          <a:prstGeom prst="rect">
            <a:avLst/>
          </a:prstGeom>
          <a:noFill/>
          <a:ln/>
        </p:spPr>
        <p:txBody>
          <a:bodyPr wrap="square" lIns="0" tIns="0" rIns="0" bIns="0" rtlCol="0" anchor="ctr"/>
          <a:lstStyle/>
          <a:p>
            <a:pPr algn="r" indent="0" marL="0">
              <a:buNone/>
            </a:pPr>
            <a:r>
              <a:rPr lang="en-US" sz="1050" b="1" dirty="0">
                <a:solidFill>
                  <a:srgbClr val="9A430A"/>
                </a:solidFill>
                <a:latin typeface="Courier New" pitchFamily="34" charset="0"/>
                <a:ea typeface="Courier New" pitchFamily="34" charset="-122"/>
                <a:cs typeface="Courier New" pitchFamily="34" charset="-120"/>
              </a:rPr>
              <a:t>5</a:t>
            </a:r>
            <a:endParaRPr lang="en-US" sz="1050" dirty="0"/>
          </a:p>
        </p:txBody>
      </p:sp>
      <p:sp>
        <p:nvSpPr>
          <p:cNvPr id="29" name="Shape 27"/>
          <p:cNvSpPr/>
          <p:nvPr/>
        </p:nvSpPr>
        <p:spPr>
          <a:xfrm>
            <a:off x="8078114" y="2596896"/>
            <a:ext cx="1659026" cy="384048"/>
          </a:xfrm>
          <a:prstGeom prst="roundRect">
            <a:avLst>
              <a:gd name="adj" fmla="val 11905"/>
            </a:avLst>
          </a:prstGeom>
          <a:solidFill>
            <a:srgbClr val="FBEEE0"/>
          </a:solidFill>
          <a:ln w="15240">
            <a:solidFill>
              <a:srgbClr val="C4560C"/>
            </a:solidFill>
            <a:prstDash val="solid"/>
          </a:ln>
        </p:spPr>
      </p:sp>
      <p:sp>
        <p:nvSpPr>
          <p:cNvPr id="30" name="Text 28"/>
          <p:cNvSpPr txBox="1"/>
          <p:nvPr/>
        </p:nvSpPr>
        <p:spPr>
          <a:xfrm>
            <a:off x="8206130" y="2596896"/>
            <a:ext cx="912465" cy="384048"/>
          </a:xfrm>
          <a:prstGeom prst="rect">
            <a:avLst/>
          </a:prstGeom>
          <a:noFill/>
          <a:ln/>
        </p:spPr>
        <p:txBody>
          <a:bodyPr wrap="square" lIns="0" tIns="0" rIns="0" bIns="0" rtlCol="0" anchor="ctr"/>
          <a:lstStyle/>
          <a:p>
            <a:pPr indent="0" marL="0">
              <a:buNone/>
            </a:pPr>
            <a:r>
              <a:rPr lang="en-US" sz="1050" dirty="0">
                <a:solidFill>
                  <a:srgbClr val="3A536B"/>
                </a:solidFill>
                <a:latin typeface="Courier New" pitchFamily="34" charset="0"/>
                <a:ea typeface="Courier New" pitchFamily="34" charset="-122"/>
                <a:cs typeface="Courier New" pitchFamily="34" charset="-120"/>
              </a:rPr>
              <a:t>num2</a:t>
            </a:r>
            <a:endParaRPr lang="en-US" sz="1050" dirty="0"/>
          </a:p>
        </p:txBody>
      </p:sp>
      <p:sp>
        <p:nvSpPr>
          <p:cNvPr id="31" name="Text 29"/>
          <p:cNvSpPr txBox="1"/>
          <p:nvPr/>
        </p:nvSpPr>
        <p:spPr>
          <a:xfrm>
            <a:off x="8990579" y="2596896"/>
            <a:ext cx="618546" cy="384048"/>
          </a:xfrm>
          <a:prstGeom prst="rect">
            <a:avLst/>
          </a:prstGeom>
          <a:noFill/>
          <a:ln/>
        </p:spPr>
        <p:txBody>
          <a:bodyPr wrap="square" lIns="0" tIns="0" rIns="0" bIns="0" rtlCol="0" anchor="ctr"/>
          <a:lstStyle/>
          <a:p>
            <a:pPr algn="r" indent="0" marL="0">
              <a:buNone/>
            </a:pPr>
            <a:r>
              <a:rPr lang="en-US" sz="1050" b="1" dirty="0">
                <a:solidFill>
                  <a:srgbClr val="9A430A"/>
                </a:solidFill>
                <a:latin typeface="Courier New" pitchFamily="34" charset="0"/>
                <a:ea typeface="Courier New" pitchFamily="34" charset="-122"/>
                <a:cs typeface="Courier New" pitchFamily="34" charset="-120"/>
              </a:rPr>
              <a:t>2</a:t>
            </a:r>
            <a:endParaRPr lang="en-US" sz="1050" dirty="0"/>
          </a:p>
        </p:txBody>
      </p:sp>
      <p:sp>
        <p:nvSpPr>
          <p:cNvPr id="32" name="Shape 30"/>
          <p:cNvSpPr/>
          <p:nvPr/>
        </p:nvSpPr>
        <p:spPr>
          <a:xfrm>
            <a:off x="8078114" y="3035808"/>
            <a:ext cx="1659026" cy="384048"/>
          </a:xfrm>
          <a:prstGeom prst="roundRect">
            <a:avLst>
              <a:gd name="adj" fmla="val 11905"/>
            </a:avLst>
          </a:prstGeom>
          <a:solidFill>
            <a:srgbClr val="FBEEE0"/>
          </a:solidFill>
          <a:ln w="15240">
            <a:solidFill>
              <a:srgbClr val="C4560C"/>
            </a:solidFill>
            <a:prstDash val="solid"/>
          </a:ln>
        </p:spPr>
      </p:sp>
      <p:sp>
        <p:nvSpPr>
          <p:cNvPr id="33" name="Text 31"/>
          <p:cNvSpPr txBox="1"/>
          <p:nvPr/>
        </p:nvSpPr>
        <p:spPr>
          <a:xfrm>
            <a:off x="8206130" y="3035808"/>
            <a:ext cx="912465" cy="384048"/>
          </a:xfrm>
          <a:prstGeom prst="rect">
            <a:avLst/>
          </a:prstGeom>
          <a:noFill/>
          <a:ln/>
        </p:spPr>
        <p:txBody>
          <a:bodyPr wrap="square" lIns="0" tIns="0" rIns="0" bIns="0" rtlCol="0" anchor="ctr"/>
          <a:lstStyle/>
          <a:p>
            <a:pPr indent="0" marL="0">
              <a:buNone/>
            </a:pPr>
            <a:r>
              <a:rPr lang="en-US" sz="1050" dirty="0">
                <a:solidFill>
                  <a:srgbClr val="3A536B"/>
                </a:solidFill>
                <a:latin typeface="Courier New" pitchFamily="34" charset="0"/>
                <a:ea typeface="Courier New" pitchFamily="34" charset="-122"/>
                <a:cs typeface="Courier New" pitchFamily="34" charset="-120"/>
              </a:rPr>
              <a:t>num1</a:t>
            </a:r>
            <a:endParaRPr lang="en-US" sz="1050" dirty="0"/>
          </a:p>
        </p:txBody>
      </p:sp>
      <p:sp>
        <p:nvSpPr>
          <p:cNvPr id="34" name="Text 32"/>
          <p:cNvSpPr txBox="1"/>
          <p:nvPr/>
        </p:nvSpPr>
        <p:spPr>
          <a:xfrm>
            <a:off x="8990579" y="3035808"/>
            <a:ext cx="618546" cy="384048"/>
          </a:xfrm>
          <a:prstGeom prst="rect">
            <a:avLst/>
          </a:prstGeom>
          <a:noFill/>
          <a:ln/>
        </p:spPr>
        <p:txBody>
          <a:bodyPr wrap="square" lIns="0" tIns="0" rIns="0" bIns="0" rtlCol="0" anchor="ctr"/>
          <a:lstStyle/>
          <a:p>
            <a:pPr algn="r" indent="0" marL="0">
              <a:buNone/>
            </a:pPr>
            <a:r>
              <a:rPr lang="en-US" sz="1050" b="1" dirty="0">
                <a:solidFill>
                  <a:srgbClr val="9A430A"/>
                </a:solidFill>
                <a:latin typeface="Courier New" pitchFamily="34" charset="0"/>
                <a:ea typeface="Courier New" pitchFamily="34" charset="-122"/>
                <a:cs typeface="Courier New" pitchFamily="34" charset="-120"/>
              </a:rPr>
              <a:t>5</a:t>
            </a:r>
            <a:endParaRPr lang="en-US" sz="1050" dirty="0"/>
          </a:p>
        </p:txBody>
      </p:sp>
      <p:sp>
        <p:nvSpPr>
          <p:cNvPr id="35" name="Text 33"/>
          <p:cNvSpPr txBox="1"/>
          <p:nvPr/>
        </p:nvSpPr>
        <p:spPr>
          <a:xfrm>
            <a:off x="8078114" y="3584448"/>
            <a:ext cx="1659026" cy="219456"/>
          </a:xfrm>
          <a:prstGeom prst="rect">
            <a:avLst/>
          </a:prstGeom>
          <a:noFill/>
          <a:ln/>
        </p:spPr>
        <p:txBody>
          <a:bodyPr wrap="square" lIns="0" tIns="0" rIns="0" bIns="0" rtlCol="0" anchor="ctr"/>
          <a:lstStyle/>
          <a:p>
            <a:pPr algn="ctr" indent="0" marL="0">
              <a:buNone/>
            </a:pPr>
            <a:r>
              <a:rPr lang="en-US" sz="950" b="1" spc="80" kern="0" dirty="0">
                <a:solidFill>
                  <a:srgbClr val="1D4468"/>
                </a:solidFill>
                <a:latin typeface="Calibri" pitchFamily="34" charset="0"/>
                <a:ea typeface="Calibri" pitchFamily="34" charset="-122"/>
                <a:cs typeface="Calibri" pitchFamily="34" charset="-120"/>
              </a:rPr>
              <a:t>main frame</a:t>
            </a:r>
            <a:endParaRPr lang="en-US" sz="950" dirty="0"/>
          </a:p>
        </p:txBody>
      </p:sp>
      <p:sp>
        <p:nvSpPr>
          <p:cNvPr id="36" name="Shape 34"/>
          <p:cNvSpPr/>
          <p:nvPr/>
        </p:nvSpPr>
        <p:spPr>
          <a:xfrm>
            <a:off x="8078114" y="3840480"/>
            <a:ext cx="1659026" cy="384048"/>
          </a:xfrm>
          <a:prstGeom prst="roundRect">
            <a:avLst>
              <a:gd name="adj" fmla="val 11905"/>
            </a:avLst>
          </a:prstGeom>
          <a:solidFill>
            <a:srgbClr val="FFFFFF"/>
          </a:solidFill>
          <a:ln w="15240">
            <a:solidFill>
              <a:srgbClr val="D3DEE7"/>
            </a:solidFill>
            <a:prstDash val="solid"/>
          </a:ln>
        </p:spPr>
      </p:sp>
      <p:sp>
        <p:nvSpPr>
          <p:cNvPr id="37" name="Text 35"/>
          <p:cNvSpPr txBox="1"/>
          <p:nvPr/>
        </p:nvSpPr>
        <p:spPr>
          <a:xfrm>
            <a:off x="8206130" y="3840480"/>
            <a:ext cx="912465" cy="384048"/>
          </a:xfrm>
          <a:prstGeom prst="rect">
            <a:avLst/>
          </a:prstGeom>
          <a:noFill/>
          <a:ln/>
        </p:spPr>
        <p:txBody>
          <a:bodyPr wrap="square" lIns="0" tIns="0" rIns="0" bIns="0" rtlCol="0" anchor="ctr"/>
          <a:lstStyle/>
          <a:p>
            <a:pPr indent="0" marL="0">
              <a:buNone/>
            </a:pPr>
            <a:r>
              <a:rPr lang="en-US" sz="1050" dirty="0">
                <a:solidFill>
                  <a:srgbClr val="3A536B"/>
                </a:solidFill>
                <a:latin typeface="Courier New" pitchFamily="34" charset="0"/>
                <a:ea typeface="Courier New" pitchFamily="34" charset="-122"/>
                <a:cs typeface="Courier New" pitchFamily="34" charset="-120"/>
              </a:rPr>
              <a:t>k</a:t>
            </a:r>
            <a:endParaRPr lang="en-US" sz="1050" dirty="0"/>
          </a:p>
        </p:txBody>
      </p:sp>
      <p:sp>
        <p:nvSpPr>
          <p:cNvPr id="38" name="Text 36"/>
          <p:cNvSpPr txBox="1"/>
          <p:nvPr/>
        </p:nvSpPr>
        <p:spPr>
          <a:xfrm>
            <a:off x="8990579" y="3840480"/>
            <a:ext cx="618546" cy="384048"/>
          </a:xfrm>
          <a:prstGeom prst="rect">
            <a:avLst/>
          </a:prstGeom>
          <a:noFill/>
          <a:ln/>
        </p:spPr>
        <p:txBody>
          <a:bodyPr wrap="square" lIns="0" tIns="0" rIns="0" bIns="0" rtlCol="0" anchor="ctr"/>
          <a:lstStyle/>
          <a:p>
            <a:pPr algn="r" indent="0" marL="0">
              <a:buNone/>
            </a:pPr>
            <a:r>
              <a:rPr lang="en-US" sz="1050" b="1" dirty="0">
                <a:solidFill>
                  <a:srgbClr val="4B6377"/>
                </a:solidFill>
                <a:latin typeface="Courier New" pitchFamily="34" charset="0"/>
                <a:ea typeface="Courier New" pitchFamily="34" charset="-122"/>
                <a:cs typeface="Courier New" pitchFamily="34" charset="-120"/>
              </a:rPr>
              <a:t>—</a:t>
            </a:r>
            <a:endParaRPr lang="en-US" sz="1050" dirty="0"/>
          </a:p>
        </p:txBody>
      </p:sp>
      <p:sp>
        <p:nvSpPr>
          <p:cNvPr id="39" name="Shape 37"/>
          <p:cNvSpPr/>
          <p:nvPr/>
        </p:nvSpPr>
        <p:spPr>
          <a:xfrm>
            <a:off x="8078114" y="4279392"/>
            <a:ext cx="1659026" cy="384048"/>
          </a:xfrm>
          <a:prstGeom prst="roundRect">
            <a:avLst>
              <a:gd name="adj" fmla="val 11905"/>
            </a:avLst>
          </a:prstGeom>
          <a:solidFill>
            <a:srgbClr val="E4ECF4"/>
          </a:solidFill>
          <a:ln w="15240">
            <a:solidFill>
              <a:srgbClr val="1D4468"/>
            </a:solidFill>
            <a:prstDash val="solid"/>
          </a:ln>
        </p:spPr>
      </p:sp>
      <p:sp>
        <p:nvSpPr>
          <p:cNvPr id="40" name="Text 38"/>
          <p:cNvSpPr txBox="1"/>
          <p:nvPr/>
        </p:nvSpPr>
        <p:spPr>
          <a:xfrm>
            <a:off x="8206130" y="4279392"/>
            <a:ext cx="912465" cy="384048"/>
          </a:xfrm>
          <a:prstGeom prst="rect">
            <a:avLst/>
          </a:prstGeom>
          <a:noFill/>
          <a:ln/>
        </p:spPr>
        <p:txBody>
          <a:bodyPr wrap="square" lIns="0" tIns="0" rIns="0" bIns="0" rtlCol="0" anchor="ctr"/>
          <a:lstStyle/>
          <a:p>
            <a:pPr indent="0" marL="0">
              <a:buNone/>
            </a:pPr>
            <a:r>
              <a:rPr lang="en-US" sz="1050" dirty="0">
                <a:solidFill>
                  <a:srgbClr val="3A536B"/>
                </a:solidFill>
                <a:latin typeface="Courier New" pitchFamily="34" charset="0"/>
                <a:ea typeface="Courier New" pitchFamily="34" charset="-122"/>
                <a:cs typeface="Courier New" pitchFamily="34" charset="-120"/>
              </a:rPr>
              <a:t>j</a:t>
            </a:r>
            <a:endParaRPr lang="en-US" sz="1050" dirty="0"/>
          </a:p>
        </p:txBody>
      </p:sp>
      <p:sp>
        <p:nvSpPr>
          <p:cNvPr id="41" name="Text 39"/>
          <p:cNvSpPr txBox="1"/>
          <p:nvPr/>
        </p:nvSpPr>
        <p:spPr>
          <a:xfrm>
            <a:off x="8990579" y="4279392"/>
            <a:ext cx="618546" cy="384048"/>
          </a:xfrm>
          <a:prstGeom prst="rect">
            <a:avLst/>
          </a:prstGeom>
          <a:noFill/>
          <a:ln/>
        </p:spPr>
        <p:txBody>
          <a:bodyPr wrap="square" lIns="0" tIns="0" rIns="0" bIns="0" rtlCol="0" anchor="ctr"/>
          <a:lstStyle/>
          <a:p>
            <a:pPr algn="r" indent="0" marL="0">
              <a:buNone/>
            </a:pPr>
            <a:r>
              <a:rPr lang="en-US" sz="1050" b="1" dirty="0">
                <a:solidFill>
                  <a:srgbClr val="0F2942"/>
                </a:solidFill>
                <a:latin typeface="Courier New" pitchFamily="34" charset="0"/>
                <a:ea typeface="Courier New" pitchFamily="34" charset="-122"/>
                <a:cs typeface="Courier New" pitchFamily="34" charset="-120"/>
              </a:rPr>
              <a:t>2</a:t>
            </a:r>
            <a:endParaRPr lang="en-US" sz="1050" dirty="0"/>
          </a:p>
        </p:txBody>
      </p:sp>
      <p:sp>
        <p:nvSpPr>
          <p:cNvPr id="42" name="Shape 40"/>
          <p:cNvSpPr/>
          <p:nvPr/>
        </p:nvSpPr>
        <p:spPr>
          <a:xfrm>
            <a:off x="8078114" y="4718304"/>
            <a:ext cx="1659026" cy="384048"/>
          </a:xfrm>
          <a:prstGeom prst="roundRect">
            <a:avLst>
              <a:gd name="adj" fmla="val 11905"/>
            </a:avLst>
          </a:prstGeom>
          <a:solidFill>
            <a:srgbClr val="E4ECF4"/>
          </a:solidFill>
          <a:ln w="15240">
            <a:solidFill>
              <a:srgbClr val="1D4468"/>
            </a:solidFill>
            <a:prstDash val="solid"/>
          </a:ln>
        </p:spPr>
      </p:sp>
      <p:sp>
        <p:nvSpPr>
          <p:cNvPr id="43" name="Text 41"/>
          <p:cNvSpPr txBox="1"/>
          <p:nvPr/>
        </p:nvSpPr>
        <p:spPr>
          <a:xfrm>
            <a:off x="8206130" y="4718304"/>
            <a:ext cx="912465" cy="384048"/>
          </a:xfrm>
          <a:prstGeom prst="rect">
            <a:avLst/>
          </a:prstGeom>
          <a:noFill/>
          <a:ln/>
        </p:spPr>
        <p:txBody>
          <a:bodyPr wrap="square" lIns="0" tIns="0" rIns="0" bIns="0" rtlCol="0" anchor="ctr"/>
          <a:lstStyle/>
          <a:p>
            <a:pPr indent="0" marL="0">
              <a:buNone/>
            </a:pPr>
            <a:r>
              <a:rPr lang="en-US" sz="1050" dirty="0">
                <a:solidFill>
                  <a:srgbClr val="3A536B"/>
                </a:solidFill>
                <a:latin typeface="Courier New" pitchFamily="34" charset="0"/>
                <a:ea typeface="Courier New" pitchFamily="34" charset="-122"/>
                <a:cs typeface="Courier New" pitchFamily="34" charset="-120"/>
              </a:rPr>
              <a:t>i</a:t>
            </a:r>
            <a:endParaRPr lang="en-US" sz="1050" dirty="0"/>
          </a:p>
        </p:txBody>
      </p:sp>
      <p:sp>
        <p:nvSpPr>
          <p:cNvPr id="44" name="Text 42"/>
          <p:cNvSpPr txBox="1"/>
          <p:nvPr/>
        </p:nvSpPr>
        <p:spPr>
          <a:xfrm>
            <a:off x="8990579" y="4718304"/>
            <a:ext cx="618546" cy="384048"/>
          </a:xfrm>
          <a:prstGeom prst="rect">
            <a:avLst/>
          </a:prstGeom>
          <a:noFill/>
          <a:ln/>
        </p:spPr>
        <p:txBody>
          <a:bodyPr wrap="square" lIns="0" tIns="0" rIns="0" bIns="0" rtlCol="0" anchor="ctr"/>
          <a:lstStyle/>
          <a:p>
            <a:pPr algn="r" indent="0" marL="0">
              <a:buNone/>
            </a:pPr>
            <a:r>
              <a:rPr lang="en-US" sz="1050" b="1" dirty="0">
                <a:solidFill>
                  <a:srgbClr val="0F2942"/>
                </a:solidFill>
                <a:latin typeface="Courier New" pitchFamily="34" charset="0"/>
                <a:ea typeface="Courier New" pitchFamily="34" charset="-122"/>
                <a:cs typeface="Courier New" pitchFamily="34" charset="-120"/>
              </a:rPr>
              <a:t>5</a:t>
            </a:r>
            <a:endParaRPr lang="en-US" sz="1050" dirty="0"/>
          </a:p>
        </p:txBody>
      </p:sp>
      <p:sp>
        <p:nvSpPr>
          <p:cNvPr id="45" name="Text 43"/>
          <p:cNvSpPr txBox="1"/>
          <p:nvPr/>
        </p:nvSpPr>
        <p:spPr>
          <a:xfrm>
            <a:off x="9965741" y="1536192"/>
            <a:ext cx="1659026" cy="274320"/>
          </a:xfrm>
          <a:prstGeom prst="rect">
            <a:avLst/>
          </a:prstGeom>
          <a:noFill/>
          <a:ln/>
        </p:spPr>
        <p:txBody>
          <a:bodyPr wrap="square" lIns="0" tIns="0" rIns="0" bIns="0" rtlCol="0" anchor="ctr"/>
          <a:lstStyle/>
          <a:p>
            <a:pPr algn="ctr" indent="0" marL="0">
              <a:buNone/>
            </a:pPr>
            <a:r>
              <a:rPr lang="en-US" sz="1150" b="1" dirty="0">
                <a:solidFill>
                  <a:srgbClr val="0F2942"/>
                </a:solidFill>
                <a:latin typeface="Calibri" pitchFamily="34" charset="0"/>
                <a:ea typeface="Calibri" pitchFamily="34" charset="-122"/>
                <a:cs typeface="Calibri" pitchFamily="34" charset="-120"/>
              </a:rPr>
              <a:t>3. max has returned</a:t>
            </a:r>
            <a:endParaRPr lang="en-US" sz="1150" dirty="0"/>
          </a:p>
        </p:txBody>
      </p:sp>
      <p:sp>
        <p:nvSpPr>
          <p:cNvPr id="46" name="Text 44"/>
          <p:cNvSpPr txBox="1"/>
          <p:nvPr/>
        </p:nvSpPr>
        <p:spPr>
          <a:xfrm>
            <a:off x="9965741" y="3584448"/>
            <a:ext cx="1659026" cy="219456"/>
          </a:xfrm>
          <a:prstGeom prst="rect">
            <a:avLst/>
          </a:prstGeom>
          <a:noFill/>
          <a:ln/>
        </p:spPr>
        <p:txBody>
          <a:bodyPr wrap="square" lIns="0" tIns="0" rIns="0" bIns="0" rtlCol="0" anchor="ctr"/>
          <a:lstStyle/>
          <a:p>
            <a:pPr algn="ctr" indent="0" marL="0">
              <a:buNone/>
            </a:pPr>
            <a:r>
              <a:rPr lang="en-US" sz="950" b="1" spc="80" kern="0" dirty="0">
                <a:solidFill>
                  <a:srgbClr val="1D4468"/>
                </a:solidFill>
                <a:latin typeface="Calibri" pitchFamily="34" charset="0"/>
                <a:ea typeface="Calibri" pitchFamily="34" charset="-122"/>
                <a:cs typeface="Calibri" pitchFamily="34" charset="-120"/>
              </a:rPr>
              <a:t>main frame</a:t>
            </a:r>
            <a:endParaRPr lang="en-US" sz="950" dirty="0"/>
          </a:p>
        </p:txBody>
      </p:sp>
      <p:sp>
        <p:nvSpPr>
          <p:cNvPr id="47" name="Shape 45"/>
          <p:cNvSpPr/>
          <p:nvPr/>
        </p:nvSpPr>
        <p:spPr>
          <a:xfrm>
            <a:off x="9965741" y="3840480"/>
            <a:ext cx="1659026" cy="384048"/>
          </a:xfrm>
          <a:prstGeom prst="roundRect">
            <a:avLst>
              <a:gd name="adj" fmla="val 11905"/>
            </a:avLst>
          </a:prstGeom>
          <a:solidFill>
            <a:srgbClr val="E4ECF4"/>
          </a:solidFill>
          <a:ln w="15240">
            <a:solidFill>
              <a:srgbClr val="1D4468"/>
            </a:solidFill>
            <a:prstDash val="solid"/>
          </a:ln>
        </p:spPr>
      </p:sp>
      <p:sp>
        <p:nvSpPr>
          <p:cNvPr id="48" name="Text 46"/>
          <p:cNvSpPr txBox="1"/>
          <p:nvPr/>
        </p:nvSpPr>
        <p:spPr>
          <a:xfrm>
            <a:off x="10093757" y="3840480"/>
            <a:ext cx="912465" cy="384048"/>
          </a:xfrm>
          <a:prstGeom prst="rect">
            <a:avLst/>
          </a:prstGeom>
          <a:noFill/>
          <a:ln/>
        </p:spPr>
        <p:txBody>
          <a:bodyPr wrap="square" lIns="0" tIns="0" rIns="0" bIns="0" rtlCol="0" anchor="ctr"/>
          <a:lstStyle/>
          <a:p>
            <a:pPr indent="0" marL="0">
              <a:buNone/>
            </a:pPr>
            <a:r>
              <a:rPr lang="en-US" sz="1050" dirty="0">
                <a:solidFill>
                  <a:srgbClr val="3A536B"/>
                </a:solidFill>
                <a:latin typeface="Courier New" pitchFamily="34" charset="0"/>
                <a:ea typeface="Courier New" pitchFamily="34" charset="-122"/>
                <a:cs typeface="Courier New" pitchFamily="34" charset="-120"/>
              </a:rPr>
              <a:t>k</a:t>
            </a:r>
            <a:endParaRPr lang="en-US" sz="1050" dirty="0"/>
          </a:p>
        </p:txBody>
      </p:sp>
      <p:sp>
        <p:nvSpPr>
          <p:cNvPr id="49" name="Text 47"/>
          <p:cNvSpPr txBox="1"/>
          <p:nvPr/>
        </p:nvSpPr>
        <p:spPr>
          <a:xfrm>
            <a:off x="10878205" y="3840480"/>
            <a:ext cx="618546" cy="384048"/>
          </a:xfrm>
          <a:prstGeom prst="rect">
            <a:avLst/>
          </a:prstGeom>
          <a:noFill/>
          <a:ln/>
        </p:spPr>
        <p:txBody>
          <a:bodyPr wrap="square" lIns="0" tIns="0" rIns="0" bIns="0" rtlCol="0" anchor="ctr"/>
          <a:lstStyle/>
          <a:p>
            <a:pPr algn="r" indent="0" marL="0">
              <a:buNone/>
            </a:pPr>
            <a:r>
              <a:rPr lang="en-US" sz="1050" b="1" dirty="0">
                <a:solidFill>
                  <a:srgbClr val="0F2942"/>
                </a:solidFill>
                <a:latin typeface="Courier New" pitchFamily="34" charset="0"/>
                <a:ea typeface="Courier New" pitchFamily="34" charset="-122"/>
                <a:cs typeface="Courier New" pitchFamily="34" charset="-120"/>
              </a:rPr>
              <a:t>5</a:t>
            </a:r>
            <a:endParaRPr lang="en-US" sz="1050" dirty="0"/>
          </a:p>
        </p:txBody>
      </p:sp>
      <p:sp>
        <p:nvSpPr>
          <p:cNvPr id="50" name="Shape 48"/>
          <p:cNvSpPr/>
          <p:nvPr/>
        </p:nvSpPr>
        <p:spPr>
          <a:xfrm>
            <a:off x="9965741" y="4279392"/>
            <a:ext cx="1659026" cy="384048"/>
          </a:xfrm>
          <a:prstGeom prst="roundRect">
            <a:avLst>
              <a:gd name="adj" fmla="val 11905"/>
            </a:avLst>
          </a:prstGeom>
          <a:solidFill>
            <a:srgbClr val="E4ECF4"/>
          </a:solidFill>
          <a:ln w="15240">
            <a:solidFill>
              <a:srgbClr val="1D4468"/>
            </a:solidFill>
            <a:prstDash val="solid"/>
          </a:ln>
        </p:spPr>
      </p:sp>
      <p:sp>
        <p:nvSpPr>
          <p:cNvPr id="51" name="Text 49"/>
          <p:cNvSpPr txBox="1"/>
          <p:nvPr/>
        </p:nvSpPr>
        <p:spPr>
          <a:xfrm>
            <a:off x="10093757" y="4279392"/>
            <a:ext cx="912465" cy="384048"/>
          </a:xfrm>
          <a:prstGeom prst="rect">
            <a:avLst/>
          </a:prstGeom>
          <a:noFill/>
          <a:ln/>
        </p:spPr>
        <p:txBody>
          <a:bodyPr wrap="square" lIns="0" tIns="0" rIns="0" bIns="0" rtlCol="0" anchor="ctr"/>
          <a:lstStyle/>
          <a:p>
            <a:pPr indent="0" marL="0">
              <a:buNone/>
            </a:pPr>
            <a:r>
              <a:rPr lang="en-US" sz="1050" dirty="0">
                <a:solidFill>
                  <a:srgbClr val="3A536B"/>
                </a:solidFill>
                <a:latin typeface="Courier New" pitchFamily="34" charset="0"/>
                <a:ea typeface="Courier New" pitchFamily="34" charset="-122"/>
                <a:cs typeface="Courier New" pitchFamily="34" charset="-120"/>
              </a:rPr>
              <a:t>j</a:t>
            </a:r>
            <a:endParaRPr lang="en-US" sz="1050" dirty="0"/>
          </a:p>
        </p:txBody>
      </p:sp>
      <p:sp>
        <p:nvSpPr>
          <p:cNvPr id="52" name="Text 50"/>
          <p:cNvSpPr txBox="1"/>
          <p:nvPr/>
        </p:nvSpPr>
        <p:spPr>
          <a:xfrm>
            <a:off x="10878205" y="4279392"/>
            <a:ext cx="618546" cy="384048"/>
          </a:xfrm>
          <a:prstGeom prst="rect">
            <a:avLst/>
          </a:prstGeom>
          <a:noFill/>
          <a:ln/>
        </p:spPr>
        <p:txBody>
          <a:bodyPr wrap="square" lIns="0" tIns="0" rIns="0" bIns="0" rtlCol="0" anchor="ctr"/>
          <a:lstStyle/>
          <a:p>
            <a:pPr algn="r" indent="0" marL="0">
              <a:buNone/>
            </a:pPr>
            <a:r>
              <a:rPr lang="en-US" sz="1050" b="1" dirty="0">
                <a:solidFill>
                  <a:srgbClr val="0F2942"/>
                </a:solidFill>
                <a:latin typeface="Courier New" pitchFamily="34" charset="0"/>
                <a:ea typeface="Courier New" pitchFamily="34" charset="-122"/>
                <a:cs typeface="Courier New" pitchFamily="34" charset="-120"/>
              </a:rPr>
              <a:t>2</a:t>
            </a:r>
            <a:endParaRPr lang="en-US" sz="1050" dirty="0"/>
          </a:p>
        </p:txBody>
      </p:sp>
      <p:sp>
        <p:nvSpPr>
          <p:cNvPr id="53" name="Shape 51"/>
          <p:cNvSpPr/>
          <p:nvPr/>
        </p:nvSpPr>
        <p:spPr>
          <a:xfrm>
            <a:off x="9965741" y="4718304"/>
            <a:ext cx="1659026" cy="384048"/>
          </a:xfrm>
          <a:prstGeom prst="roundRect">
            <a:avLst>
              <a:gd name="adj" fmla="val 11905"/>
            </a:avLst>
          </a:prstGeom>
          <a:solidFill>
            <a:srgbClr val="E4ECF4"/>
          </a:solidFill>
          <a:ln w="15240">
            <a:solidFill>
              <a:srgbClr val="1D4468"/>
            </a:solidFill>
            <a:prstDash val="solid"/>
          </a:ln>
        </p:spPr>
      </p:sp>
      <p:sp>
        <p:nvSpPr>
          <p:cNvPr id="54" name="Text 52"/>
          <p:cNvSpPr txBox="1"/>
          <p:nvPr/>
        </p:nvSpPr>
        <p:spPr>
          <a:xfrm>
            <a:off x="10093757" y="4718304"/>
            <a:ext cx="912465" cy="384048"/>
          </a:xfrm>
          <a:prstGeom prst="rect">
            <a:avLst/>
          </a:prstGeom>
          <a:noFill/>
          <a:ln/>
        </p:spPr>
        <p:txBody>
          <a:bodyPr wrap="square" lIns="0" tIns="0" rIns="0" bIns="0" rtlCol="0" anchor="ctr"/>
          <a:lstStyle/>
          <a:p>
            <a:pPr indent="0" marL="0">
              <a:buNone/>
            </a:pPr>
            <a:r>
              <a:rPr lang="en-US" sz="1050" dirty="0">
                <a:solidFill>
                  <a:srgbClr val="3A536B"/>
                </a:solidFill>
                <a:latin typeface="Courier New" pitchFamily="34" charset="0"/>
                <a:ea typeface="Courier New" pitchFamily="34" charset="-122"/>
                <a:cs typeface="Courier New" pitchFamily="34" charset="-120"/>
              </a:rPr>
              <a:t>i</a:t>
            </a:r>
            <a:endParaRPr lang="en-US" sz="1050" dirty="0"/>
          </a:p>
        </p:txBody>
      </p:sp>
      <p:sp>
        <p:nvSpPr>
          <p:cNvPr id="55" name="Text 53"/>
          <p:cNvSpPr txBox="1"/>
          <p:nvPr/>
        </p:nvSpPr>
        <p:spPr>
          <a:xfrm>
            <a:off x="10878205" y="4718304"/>
            <a:ext cx="618546" cy="384048"/>
          </a:xfrm>
          <a:prstGeom prst="rect">
            <a:avLst/>
          </a:prstGeom>
          <a:noFill/>
          <a:ln/>
        </p:spPr>
        <p:txBody>
          <a:bodyPr wrap="square" lIns="0" tIns="0" rIns="0" bIns="0" rtlCol="0" anchor="ctr"/>
          <a:lstStyle/>
          <a:p>
            <a:pPr algn="r" indent="0" marL="0">
              <a:buNone/>
            </a:pPr>
            <a:r>
              <a:rPr lang="en-US" sz="1050" b="1" dirty="0">
                <a:solidFill>
                  <a:srgbClr val="0F2942"/>
                </a:solidFill>
                <a:latin typeface="Courier New" pitchFamily="34" charset="0"/>
                <a:ea typeface="Courier New" pitchFamily="34" charset="-122"/>
                <a:cs typeface="Courier New" pitchFamily="34" charset="-120"/>
              </a:rPr>
              <a:t>5</a:t>
            </a:r>
            <a:endParaRPr lang="en-US" sz="1050" dirty="0"/>
          </a:p>
        </p:txBody>
      </p:sp>
      <p:sp>
        <p:nvSpPr>
          <p:cNvPr id="56" name="Text 54"/>
          <p:cNvSpPr txBox="1"/>
          <p:nvPr/>
        </p:nvSpPr>
        <p:spPr>
          <a:xfrm>
            <a:off x="6190488" y="5605272"/>
            <a:ext cx="5434279" cy="548640"/>
          </a:xfrm>
          <a:prstGeom prst="rect">
            <a:avLst/>
          </a:prstGeom>
          <a:noFill/>
          <a:ln/>
        </p:spPr>
        <p:txBody>
          <a:bodyPr wrap="square" lIns="0" tIns="0" rIns="0" bIns="0" rtlCol="0" anchor="t"/>
          <a:lstStyle/>
          <a:p>
            <a:pPr indent="0" marL="0">
              <a:lnSpc>
                <a:spcPct val="110000"/>
              </a:lnSpc>
              <a:buNone/>
            </a:pPr>
            <a:r>
              <a:rPr lang="en-US" sz="1150" i="1" dirty="0">
                <a:solidFill>
                  <a:srgbClr val="4B6377"/>
                </a:solidFill>
                <a:latin typeface="Calibri" pitchFamily="34" charset="0"/>
                <a:ea typeface="Calibri" pitchFamily="34" charset="-122"/>
                <a:cs typeface="Calibri" pitchFamily="34" charset="-120"/>
              </a:rPr>
              <a:t>The stack grows upwards as calls are made and shrinks as they return. A method that calls itself forever fills it — StackOverflowError.</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1E5"/>
        </a:solidFill>
      </p:bgPr>
    </p:bg>
    <p:spTree>
      <p:nvGrpSpPr>
        <p:cNvPr id="1" name=""/>
        <p:cNvGrpSpPr/>
        <p:nvPr/>
      </p:nvGrpSpPr>
      <p:grpSpPr>
        <a:xfrm>
          <a:off x="0" y="0"/>
          <a:ext cx="0" cy="0"/>
          <a:chOff x="0" y="0"/>
          <a:chExt cx="0" cy="0"/>
        </a:xfrm>
      </p:grpSpPr>
      <p:sp>
        <p:nvSpPr>
          <p:cNvPr id="2" name="Text 0"/>
          <p:cNvSpPr txBox="1"/>
          <p:nvPr/>
        </p:nvSpPr>
        <p:spPr>
          <a:xfrm>
            <a:off x="566928" y="566928"/>
            <a:ext cx="5486400" cy="274320"/>
          </a:xfrm>
          <a:prstGeom prst="rect">
            <a:avLst/>
          </a:prstGeom>
          <a:noFill/>
          <a:ln/>
        </p:spPr>
        <p:txBody>
          <a:bodyPr wrap="square" lIns="0" tIns="0" rIns="0" bIns="0" rtlCol="0" anchor="ctr"/>
          <a:lstStyle/>
          <a:p>
            <a:pPr indent="0" marL="0">
              <a:buNone/>
            </a:pPr>
            <a:r>
              <a:rPr lang="en-US" sz="1200" b="1" spc="200" kern="0" dirty="0">
                <a:solidFill>
                  <a:srgbClr val="9A430A"/>
                </a:solidFill>
                <a:latin typeface="Calibri" pitchFamily="34" charset="0"/>
                <a:ea typeface="Calibri" pitchFamily="34" charset="-122"/>
                <a:cs typeface="Calibri" pitchFamily="34" charset="-120"/>
              </a:rPr>
              <a:t>CHECKPOINT 1</a:t>
            </a:r>
            <a:endParaRPr lang="en-US" sz="1200" dirty="0"/>
          </a:p>
        </p:txBody>
      </p:sp>
      <p:sp>
        <p:nvSpPr>
          <p:cNvPr id="3" name="Text 1"/>
          <p:cNvSpPr txBox="1"/>
          <p:nvPr/>
        </p:nvSpPr>
        <p:spPr>
          <a:xfrm>
            <a:off x="566928" y="841248"/>
            <a:ext cx="7315200" cy="566928"/>
          </a:xfrm>
          <a:prstGeom prst="rect">
            <a:avLst/>
          </a:prstGeom>
          <a:noFill/>
          <a:ln/>
        </p:spPr>
        <p:txBody>
          <a:bodyPr wrap="square" lIns="0" tIns="0" rIns="0" bIns="0" rtlCol="0" anchor="ctr"/>
          <a:lstStyle/>
          <a:p>
            <a:pPr indent="0" marL="0">
              <a:buNone/>
            </a:pPr>
            <a:r>
              <a:rPr lang="en-US" sz="3400" b="1" dirty="0">
                <a:solidFill>
                  <a:srgbClr val="0F2942"/>
                </a:solidFill>
                <a:latin typeface="Cambria" pitchFamily="34" charset="0"/>
                <a:ea typeface="Cambria" pitchFamily="34" charset="-122"/>
                <a:cs typeface="Cambria" pitchFamily="34" charset="-120"/>
              </a:rPr>
              <a:t>Over to You</a:t>
            </a:r>
            <a:endParaRPr lang="en-US" sz="3400" dirty="0"/>
          </a:p>
        </p:txBody>
      </p:sp>
      <p:sp>
        <p:nvSpPr>
          <p:cNvPr id="4" name="Text 2"/>
          <p:cNvSpPr txBox="1"/>
          <p:nvPr/>
        </p:nvSpPr>
        <p:spPr>
          <a:xfrm>
            <a:off x="6687007" y="960120"/>
            <a:ext cx="4937760" cy="365760"/>
          </a:xfrm>
          <a:prstGeom prst="rect">
            <a:avLst/>
          </a:prstGeom>
          <a:noFill/>
          <a:ln/>
        </p:spPr>
        <p:txBody>
          <a:bodyPr wrap="square" lIns="0" tIns="0" rIns="0" bIns="0" rtlCol="0" anchor="ctr"/>
          <a:lstStyle/>
          <a:p>
            <a:pPr algn="r" indent="0" marL="0">
              <a:buNone/>
            </a:pPr>
            <a:r>
              <a:rPr lang="en-US" sz="1250" dirty="0">
                <a:solidFill>
                  <a:srgbClr val="4B6377"/>
                </a:solidFill>
                <a:latin typeface="Calibri" pitchFamily="34" charset="0"/>
                <a:ea typeface="Calibri" pitchFamily="34" charset="-122"/>
                <a:cs typeface="Calibri" pitchFamily="34" charset="-120"/>
              </a:rPr>
              <a:t>Covering slides 4–8</a:t>
            </a:r>
            <a:endParaRPr lang="en-US" sz="1250" dirty="0"/>
          </a:p>
        </p:txBody>
      </p:sp>
      <p:sp>
        <p:nvSpPr>
          <p:cNvPr id="5" name="Shape 3"/>
          <p:cNvSpPr/>
          <p:nvPr/>
        </p:nvSpPr>
        <p:spPr>
          <a:xfrm>
            <a:off x="566928" y="1668963"/>
            <a:ext cx="11057839" cy="960120"/>
          </a:xfrm>
          <a:prstGeom prst="roundRect">
            <a:avLst>
              <a:gd name="adj" fmla="val 8571"/>
            </a:avLst>
          </a:prstGeom>
          <a:solidFill>
            <a:srgbClr val="FFFFFF"/>
          </a:solidFill>
          <a:ln w="12700">
            <a:solidFill>
              <a:srgbClr val="D3DEE7"/>
            </a:solidFill>
            <a:prstDash val="solid"/>
          </a:ln>
        </p:spPr>
      </p:sp>
      <p:sp>
        <p:nvSpPr>
          <p:cNvPr id="6" name="Shape 4"/>
          <p:cNvSpPr/>
          <p:nvPr/>
        </p:nvSpPr>
        <p:spPr>
          <a:xfrm>
            <a:off x="841248" y="1906707"/>
            <a:ext cx="402336" cy="402336"/>
          </a:xfrm>
          <a:prstGeom prst="ellipse">
            <a:avLst/>
          </a:prstGeom>
          <a:solidFill>
            <a:srgbClr val="C4560C"/>
          </a:solidFill>
          <a:ln w="12700">
            <a:solidFill>
              <a:srgbClr val="C4560C"/>
            </a:solidFill>
            <a:prstDash val="solid"/>
          </a:ln>
        </p:spPr>
      </p:sp>
      <p:sp>
        <p:nvSpPr>
          <p:cNvPr id="7" name="Text 5"/>
          <p:cNvSpPr txBox="1"/>
          <p:nvPr/>
        </p:nvSpPr>
        <p:spPr>
          <a:xfrm>
            <a:off x="841248" y="1906707"/>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8" name="Text 6"/>
          <p:cNvSpPr txBox="1"/>
          <p:nvPr/>
        </p:nvSpPr>
        <p:spPr>
          <a:xfrm>
            <a:off x="1435608" y="1833555"/>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What exactly is a method's signature, and what are the two things it does NOT include?</a:t>
            </a:r>
            <a:endParaRPr lang="en-US" sz="1550" dirty="0"/>
          </a:p>
        </p:txBody>
      </p:sp>
      <p:sp>
        <p:nvSpPr>
          <p:cNvPr id="9" name="Shape 7"/>
          <p:cNvSpPr/>
          <p:nvPr/>
        </p:nvSpPr>
        <p:spPr>
          <a:xfrm>
            <a:off x="566928" y="2848539"/>
            <a:ext cx="11057839" cy="2130186"/>
          </a:xfrm>
          <a:prstGeom prst="roundRect">
            <a:avLst>
              <a:gd name="adj" fmla="val 3863"/>
            </a:avLst>
          </a:prstGeom>
          <a:solidFill>
            <a:srgbClr val="FFFFFF"/>
          </a:solidFill>
          <a:ln w="12700">
            <a:solidFill>
              <a:srgbClr val="D3DEE7"/>
            </a:solidFill>
            <a:prstDash val="solid"/>
          </a:ln>
        </p:spPr>
      </p:sp>
      <p:sp>
        <p:nvSpPr>
          <p:cNvPr id="10" name="Shape 8"/>
          <p:cNvSpPr/>
          <p:nvPr/>
        </p:nvSpPr>
        <p:spPr>
          <a:xfrm>
            <a:off x="841248" y="3086283"/>
            <a:ext cx="402336" cy="402336"/>
          </a:xfrm>
          <a:prstGeom prst="ellipse">
            <a:avLst/>
          </a:prstGeom>
          <a:solidFill>
            <a:srgbClr val="C4560C"/>
          </a:solidFill>
          <a:ln w="12700">
            <a:solidFill>
              <a:srgbClr val="C4560C"/>
            </a:solidFill>
            <a:prstDash val="solid"/>
          </a:ln>
        </p:spPr>
      </p:sp>
      <p:sp>
        <p:nvSpPr>
          <p:cNvPr id="11" name="Text 9"/>
          <p:cNvSpPr txBox="1"/>
          <p:nvPr/>
        </p:nvSpPr>
        <p:spPr>
          <a:xfrm>
            <a:off x="841248" y="3086283"/>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2" name="Text 10"/>
          <p:cNvSpPr txBox="1"/>
          <p:nvPr/>
        </p:nvSpPr>
        <p:spPr>
          <a:xfrm>
            <a:off x="1435608" y="3013131"/>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Name every variable that exists while max is running, and say which frame each one lives in.</a:t>
            </a:r>
            <a:endParaRPr lang="en-US" sz="1550" dirty="0"/>
          </a:p>
        </p:txBody>
      </p:sp>
      <p:sp>
        <p:nvSpPr>
          <p:cNvPr id="13" name="Shape 11"/>
          <p:cNvSpPr/>
          <p:nvPr/>
        </p:nvSpPr>
        <p:spPr>
          <a:xfrm>
            <a:off x="1435608" y="3488619"/>
            <a:ext cx="6949440" cy="968898"/>
          </a:xfrm>
          <a:prstGeom prst="roundRect">
            <a:avLst>
              <a:gd name="adj" fmla="val 6606"/>
            </a:avLst>
          </a:prstGeom>
          <a:solidFill>
            <a:srgbClr val="EDF2F7"/>
          </a:solidFill>
          <a:ln w="12700">
            <a:solidFill>
              <a:srgbClr val="CFDBE5"/>
            </a:solidFill>
            <a:prstDash val="solid"/>
          </a:ln>
        </p:spPr>
      </p:sp>
      <p:sp>
        <p:nvSpPr>
          <p:cNvPr id="14" name="Text 12"/>
          <p:cNvSpPr txBox="1"/>
          <p:nvPr/>
        </p:nvSpPr>
        <p:spPr>
          <a:xfrm>
            <a:off x="1600200" y="3625779"/>
            <a:ext cx="6620256" cy="767730"/>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max</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max</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num1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num2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result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result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5" name="Shape 13"/>
          <p:cNvSpPr/>
          <p:nvPr/>
        </p:nvSpPr>
        <p:spPr>
          <a:xfrm>
            <a:off x="566928" y="5198181"/>
            <a:ext cx="11057839" cy="960120"/>
          </a:xfrm>
          <a:prstGeom prst="roundRect">
            <a:avLst>
              <a:gd name="adj" fmla="val 8571"/>
            </a:avLst>
          </a:prstGeom>
          <a:solidFill>
            <a:srgbClr val="FFFFFF"/>
          </a:solidFill>
          <a:ln w="12700">
            <a:solidFill>
              <a:srgbClr val="D3DEE7"/>
            </a:solidFill>
            <a:prstDash val="solid"/>
          </a:ln>
        </p:spPr>
      </p:sp>
      <p:sp>
        <p:nvSpPr>
          <p:cNvPr id="16" name="Shape 14"/>
          <p:cNvSpPr/>
          <p:nvPr/>
        </p:nvSpPr>
        <p:spPr>
          <a:xfrm>
            <a:off x="841248" y="5435925"/>
            <a:ext cx="402336" cy="402336"/>
          </a:xfrm>
          <a:prstGeom prst="ellipse">
            <a:avLst/>
          </a:prstGeom>
          <a:solidFill>
            <a:srgbClr val="C4560C"/>
          </a:solidFill>
          <a:ln w="12700">
            <a:solidFill>
              <a:srgbClr val="C4560C"/>
            </a:solidFill>
            <a:prstDash val="solid"/>
          </a:ln>
        </p:spPr>
      </p:sp>
      <p:sp>
        <p:nvSpPr>
          <p:cNvPr id="17" name="Text 15"/>
          <p:cNvSpPr txBox="1"/>
          <p:nvPr/>
        </p:nvSpPr>
        <p:spPr>
          <a:xfrm>
            <a:off x="841248" y="5435925"/>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8" name="Text 16"/>
          <p:cNvSpPr txBox="1"/>
          <p:nvPr/>
        </p:nvSpPr>
        <p:spPr>
          <a:xfrm>
            <a:off x="1435608" y="5362773"/>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Why does the sum method need a return statement but main does not?</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DF2F7"/>
        </a:solidFill>
      </p:bgPr>
    </p:bg>
    <p:spTree>
      <p:nvGrpSpPr>
        <p:cNvPr id="1" name=""/>
        <p:cNvGrpSpPr/>
        <p:nvPr/>
      </p:nvGrpSpPr>
      <p:grpSpPr>
        <a:xfrm>
          <a:off x="0" y="0"/>
          <a:ext cx="0" cy="0"/>
          <a:chOff x="0" y="0"/>
          <a:chExt cx="0" cy="0"/>
        </a:xfrm>
      </p:grpSpPr>
      <p:sp>
        <p:nvSpPr>
          <p:cNvPr id="2" name="Text 0"/>
          <p:cNvSpPr txBox="1"/>
          <p:nvPr/>
        </p:nvSpPr>
        <p:spPr>
          <a:xfrm>
            <a:off x="566928" y="2286000"/>
            <a:ext cx="5486400" cy="310896"/>
          </a:xfrm>
          <a:prstGeom prst="rect">
            <a:avLst/>
          </a:prstGeom>
          <a:noFill/>
          <a:ln/>
        </p:spPr>
        <p:txBody>
          <a:bodyPr wrap="square" lIns="0" tIns="0" rIns="0" bIns="0" rtlCol="0" anchor="ctr"/>
          <a:lstStyle/>
          <a:p>
            <a:pPr indent="0" marL="0">
              <a:buNone/>
            </a:pPr>
            <a:r>
              <a:rPr lang="en-US" sz="1300" b="1" spc="240" kern="0" dirty="0">
                <a:solidFill>
                  <a:srgbClr val="9A430A"/>
                </a:solidFill>
                <a:latin typeface="Calibri" pitchFamily="34" charset="0"/>
                <a:ea typeface="Calibri" pitchFamily="34" charset="-122"/>
                <a:cs typeface="Calibri" pitchFamily="34" charset="-120"/>
              </a:rPr>
              <a:t>PART 01</a:t>
            </a:r>
            <a:endParaRPr lang="en-US" sz="1300" dirty="0"/>
          </a:p>
        </p:txBody>
      </p:sp>
      <p:sp>
        <p:nvSpPr>
          <p:cNvPr id="3" name="Text 1"/>
          <p:cNvSpPr txBox="1"/>
          <p:nvPr/>
        </p:nvSpPr>
        <p:spPr>
          <a:xfrm>
            <a:off x="566928" y="2697480"/>
            <a:ext cx="8046720" cy="1737360"/>
          </a:xfrm>
          <a:prstGeom prst="rect">
            <a:avLst/>
          </a:prstGeom>
          <a:noFill/>
          <a:ln/>
        </p:spPr>
        <p:txBody>
          <a:bodyPr wrap="square" lIns="0" tIns="0" rIns="0" bIns="0" rtlCol="0" anchor="ctr"/>
          <a:lstStyle/>
          <a:p>
            <a:pPr indent="0" marL="0">
              <a:lnSpc>
                <a:spcPct val="105000"/>
              </a:lnSpc>
              <a:buNone/>
            </a:pPr>
            <a:r>
              <a:rPr lang="en-US" sz="4400" b="1" dirty="0">
                <a:solidFill>
                  <a:srgbClr val="0F2942"/>
                </a:solidFill>
                <a:latin typeface="Cambria" pitchFamily="34" charset="0"/>
                <a:ea typeface="Cambria" pitchFamily="34" charset="-122"/>
                <a:cs typeface="Cambria" pitchFamily="34" charset="-120"/>
              </a:rPr>
              <a:t>Returning Values</a:t>
            </a:r>
            <a:endParaRPr lang="en-US" sz="4400" dirty="0"/>
          </a:p>
          <a:p>
            <a:pPr indent="0" marL="0">
              <a:lnSpc>
                <a:spcPct val="105000"/>
              </a:lnSpc>
              <a:buNone/>
            </a:pPr>
            <a:r>
              <a:rPr lang="en-US" sz="4400" b="1" dirty="0">
                <a:solidFill>
                  <a:srgbClr val="0F2942"/>
                </a:solidFill>
                <a:latin typeface="Cambria" pitchFamily="34" charset="0"/>
                <a:ea typeface="Cambria" pitchFamily="34" charset="-122"/>
                <a:cs typeface="Cambria" pitchFamily="34" charset="-120"/>
              </a:rPr>
              <a:t>and Passing Arguments</a:t>
            </a:r>
            <a:endParaRPr lang="en-US" sz="4400" dirty="0"/>
          </a:p>
        </p:txBody>
      </p:sp>
      <p:sp>
        <p:nvSpPr>
          <p:cNvPr id="4" name="Text 2"/>
          <p:cNvSpPr txBox="1"/>
          <p:nvPr/>
        </p:nvSpPr>
        <p:spPr>
          <a:xfrm>
            <a:off x="566928" y="4526280"/>
            <a:ext cx="8686800" cy="365760"/>
          </a:xfrm>
          <a:prstGeom prst="rect">
            <a:avLst/>
          </a:prstGeom>
          <a:noFill/>
          <a:ln/>
        </p:spPr>
        <p:txBody>
          <a:bodyPr wrap="square" lIns="0" tIns="0" rIns="0" bIns="0" rtlCol="0" anchor="ctr"/>
          <a:lstStyle/>
          <a:p>
            <a:pPr indent="0" marL="0">
              <a:buNone/>
            </a:pPr>
            <a:r>
              <a:rPr lang="en-US" sz="1500" dirty="0">
                <a:solidFill>
                  <a:srgbClr val="3A536B"/>
                </a:solidFill>
                <a:latin typeface="Calibri" pitchFamily="34" charset="0"/>
                <a:ea typeface="Calibri" pitchFamily="34" charset="-122"/>
                <a:cs typeface="Calibri" pitchFamily="34" charset="-120"/>
              </a:rPr>
              <a:t>What comes back out of a method, and what goes in — and what the method can change.</a:t>
            </a:r>
            <a:endParaRPr lang="en-US" sz="1500" dirty="0"/>
          </a:p>
        </p:txBody>
      </p:sp>
      <p:sp>
        <p:nvSpPr>
          <p:cNvPr id="5" name="Text 3"/>
          <p:cNvSpPr txBox="1"/>
          <p:nvPr/>
        </p:nvSpPr>
        <p:spPr>
          <a:xfrm>
            <a:off x="9247327" y="2011680"/>
            <a:ext cx="2377440" cy="2194560"/>
          </a:xfrm>
          <a:prstGeom prst="rect">
            <a:avLst/>
          </a:prstGeom>
          <a:noFill/>
          <a:ln/>
        </p:spPr>
        <p:txBody>
          <a:bodyPr wrap="square" lIns="0" tIns="0" rIns="0" bIns="0" rtlCol="0" anchor="ctr"/>
          <a:lstStyle/>
          <a:p>
            <a:pPr algn="r" indent="0" marL="0">
              <a:buNone/>
            </a:pPr>
            <a:r>
              <a:rPr lang="en-US" sz="13000" b="1" dirty="0">
                <a:solidFill>
                  <a:srgbClr val="CFDCE8"/>
                </a:solidFill>
                <a:latin typeface="Cambria" pitchFamily="34" charset="0"/>
                <a:ea typeface="Cambria" pitchFamily="34" charset="-122"/>
                <a:cs typeface="Cambria" pitchFamily="34" charset="-120"/>
              </a:rPr>
              <a:t>01</a:t>
            </a:r>
            <a:endParaRPr lang="en-US" sz="13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RETURN 01</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Two Kinds of Method</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One hands a value back. The other performs an action and hands back nothing.</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11</a:t>
            </a:r>
            <a:endParaRPr lang="en-US" sz="900" dirty="0"/>
          </a:p>
        </p:txBody>
      </p:sp>
      <p:sp>
        <p:nvSpPr>
          <p:cNvPr id="7" name="Shape 5"/>
          <p:cNvSpPr/>
          <p:nvPr/>
        </p:nvSpPr>
        <p:spPr>
          <a:xfrm>
            <a:off x="566928" y="1536192"/>
            <a:ext cx="5323180" cy="2704795"/>
          </a:xfrm>
          <a:prstGeom prst="roundRect">
            <a:avLst>
              <a:gd name="adj" fmla="val 2366"/>
            </a:avLst>
          </a:prstGeom>
          <a:solidFill>
            <a:srgbClr val="EDF2F7"/>
          </a:solidFill>
          <a:ln w="12700">
            <a:solidFill>
              <a:srgbClr val="CFDBE5"/>
            </a:solidFill>
            <a:prstDash val="solid"/>
          </a:ln>
        </p:spPr>
      </p:sp>
      <p:sp>
        <p:nvSpPr>
          <p:cNvPr id="8" name="Text 6"/>
          <p:cNvSpPr txBox="1"/>
          <p:nvPr/>
        </p:nvSpPr>
        <p:spPr>
          <a:xfrm>
            <a:off x="71323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VALUE-RETURNING — RETURN TYPE int</a:t>
            </a:r>
            <a:endParaRPr lang="en-US" sz="950" dirty="0"/>
          </a:p>
        </p:txBody>
      </p:sp>
      <p:sp>
        <p:nvSpPr>
          <p:cNvPr id="9" name="Text 7"/>
          <p:cNvSpPr txBox="1"/>
          <p:nvPr/>
        </p:nvSpPr>
        <p:spPr>
          <a:xfrm>
            <a:off x="731520" y="1810512"/>
            <a:ext cx="4993996" cy="2375611"/>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max</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else</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used as a value:</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max</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max</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7</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10" name="Shape 8"/>
          <p:cNvSpPr/>
          <p:nvPr/>
        </p:nvSpPr>
        <p:spPr>
          <a:xfrm>
            <a:off x="566928" y="4497019"/>
            <a:ext cx="5323180" cy="1371600"/>
          </a:xfrm>
          <a:prstGeom prst="roundRect">
            <a:avLst>
              <a:gd name="adj" fmla="val 6000"/>
            </a:avLst>
          </a:prstGeom>
          <a:solidFill>
            <a:srgbClr val="E6F2EC"/>
          </a:solidFill>
          <a:ln w="12700">
            <a:solidFill>
              <a:srgbClr val="E6F2EC"/>
            </a:solidFill>
            <a:prstDash val="solid"/>
          </a:ln>
        </p:spPr>
      </p:sp>
      <p:sp>
        <p:nvSpPr>
          <p:cNvPr id="11" name="Text 9"/>
          <p:cNvSpPr txBox="1"/>
          <p:nvPr/>
        </p:nvSpPr>
        <p:spPr>
          <a:xfrm>
            <a:off x="822960" y="4625035"/>
            <a:ext cx="4811116" cy="274320"/>
          </a:xfrm>
          <a:prstGeom prst="rect">
            <a:avLst/>
          </a:prstGeom>
          <a:noFill/>
          <a:ln/>
        </p:spPr>
        <p:txBody>
          <a:bodyPr wrap="square" lIns="0" tIns="0" rIns="0" bIns="0" rtlCol="0" anchor="ctr"/>
          <a:lstStyle/>
          <a:p>
            <a:pPr indent="0" marL="0">
              <a:buNone/>
            </a:pPr>
            <a:r>
              <a:rPr lang="en-US" sz="1350" b="1" dirty="0">
                <a:solidFill>
                  <a:srgbClr val="176240"/>
                </a:solidFill>
                <a:latin typeface="Calibri" pitchFamily="34" charset="0"/>
                <a:ea typeface="Calibri" pitchFamily="34" charset="-122"/>
                <a:cs typeface="Calibri" pitchFamily="34" charset="-120"/>
              </a:rPr>
              <a:t>A call is an expression</a:t>
            </a:r>
            <a:endParaRPr lang="en-US" sz="1350" dirty="0"/>
          </a:p>
        </p:txBody>
      </p:sp>
      <p:sp>
        <p:nvSpPr>
          <p:cNvPr id="12" name="Text 10"/>
          <p:cNvSpPr txBox="1"/>
          <p:nvPr/>
        </p:nvSpPr>
        <p:spPr>
          <a:xfrm>
            <a:off x="822960" y="4917643"/>
            <a:ext cx="4811116" cy="91440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It has a value and a type, so it can go anywhere a value of that type can go — the right of an assignment, inside a bigger expression, as an argument to another method.</a:t>
            </a:r>
            <a:endParaRPr lang="en-US" sz="1200" dirty="0"/>
          </a:p>
        </p:txBody>
      </p:sp>
      <p:sp>
        <p:nvSpPr>
          <p:cNvPr id="13" name="Shape 11"/>
          <p:cNvSpPr/>
          <p:nvPr/>
        </p:nvSpPr>
        <p:spPr>
          <a:xfrm>
            <a:off x="6301588" y="1536192"/>
            <a:ext cx="5323180" cy="2927726"/>
          </a:xfrm>
          <a:prstGeom prst="roundRect">
            <a:avLst>
              <a:gd name="adj" fmla="val 2186"/>
            </a:avLst>
          </a:prstGeom>
          <a:solidFill>
            <a:srgbClr val="EDF2F7"/>
          </a:solidFill>
          <a:ln w="12700">
            <a:solidFill>
              <a:srgbClr val="CFDBE5"/>
            </a:solidFill>
            <a:prstDash val="solid"/>
          </a:ln>
        </p:spPr>
      </p:sp>
      <p:sp>
        <p:nvSpPr>
          <p:cNvPr id="14" name="Text 12"/>
          <p:cNvSpPr txBox="1"/>
          <p:nvPr/>
        </p:nvSpPr>
        <p:spPr>
          <a:xfrm>
            <a:off x="644789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void — PERFORMS AN ACTION</a:t>
            </a:r>
            <a:endParaRPr lang="en-US" sz="950" dirty="0"/>
          </a:p>
        </p:txBody>
      </p:sp>
      <p:sp>
        <p:nvSpPr>
          <p:cNvPr id="15" name="Text 13"/>
          <p:cNvSpPr txBox="1"/>
          <p:nvPr/>
        </p:nvSpPr>
        <p:spPr>
          <a:xfrm>
            <a:off x="6466180" y="1810512"/>
            <a:ext cx="4993996" cy="2598542"/>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void</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printGrade</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score</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score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90.0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"A"</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else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score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80.0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"B"</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else</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"F"</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used as a statement: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printGrade</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78.5</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16" name="Shape 14"/>
          <p:cNvSpPr/>
          <p:nvPr/>
        </p:nvSpPr>
        <p:spPr>
          <a:xfrm>
            <a:off x="6301588" y="4719950"/>
            <a:ext cx="5323180" cy="1234440"/>
          </a:xfrm>
          <a:prstGeom prst="roundRect">
            <a:avLst>
              <a:gd name="adj" fmla="val 6667"/>
            </a:avLst>
          </a:prstGeom>
          <a:solidFill>
            <a:srgbClr val="FBEAE8"/>
          </a:solidFill>
          <a:ln w="12700">
            <a:solidFill>
              <a:srgbClr val="FBEAE8"/>
            </a:solidFill>
            <a:prstDash val="solid"/>
          </a:ln>
        </p:spPr>
      </p:sp>
      <p:sp>
        <p:nvSpPr>
          <p:cNvPr id="17" name="Text 15"/>
          <p:cNvSpPr txBox="1"/>
          <p:nvPr/>
        </p:nvSpPr>
        <p:spPr>
          <a:xfrm>
            <a:off x="6575908" y="4719950"/>
            <a:ext cx="4774540" cy="1234440"/>
          </a:xfrm>
          <a:prstGeom prst="rect">
            <a:avLst/>
          </a:prstGeom>
          <a:noFill/>
          <a:ln/>
        </p:spPr>
        <p:txBody>
          <a:bodyPr wrap="square" lIns="0" tIns="0" rIns="0" bIns="0" rtlCol="0" anchor="ctr"/>
          <a:lstStyle/>
          <a:p>
            <a:pPr indent="0" marL="0">
              <a:lnSpc>
                <a:spcPct val="112000"/>
              </a:lnSpc>
              <a:buNone/>
            </a:pPr>
            <a:r>
              <a:rPr lang="en-US" sz="1250" b="1" dirty="0">
                <a:solidFill>
                  <a:srgbClr val="9C241C"/>
                </a:solidFill>
                <a:latin typeface="Calibri" pitchFamily="34" charset="0"/>
                <a:ea typeface="Calibri" pitchFamily="34" charset="-122"/>
                <a:cs typeface="Calibri" pitchFamily="34" charset="-120"/>
              </a:rPr>
              <a:t>A void call is a statement, not an expression.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int x = printGrade(78.5); does not compile — there is no value to assign.</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RETURN 02</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Every Path Out Must Return a Value</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The compiler checks this, and it is stricter than your reasoning about the program.</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12</a:t>
            </a:r>
            <a:endParaRPr lang="en-US" sz="900" dirty="0"/>
          </a:p>
        </p:txBody>
      </p:sp>
      <p:sp>
        <p:nvSpPr>
          <p:cNvPr id="7" name="Shape 5"/>
          <p:cNvSpPr/>
          <p:nvPr/>
        </p:nvSpPr>
        <p:spPr>
          <a:xfrm>
            <a:off x="566928" y="1536192"/>
            <a:ext cx="5323180" cy="2181393"/>
          </a:xfrm>
          <a:prstGeom prst="roundRect">
            <a:avLst>
              <a:gd name="adj" fmla="val 2934"/>
            </a:avLst>
          </a:prstGeom>
          <a:solidFill>
            <a:srgbClr val="EDF2F7"/>
          </a:solidFill>
          <a:ln w="12700">
            <a:solidFill>
              <a:srgbClr val="CFDBE5"/>
            </a:solidFill>
            <a:prstDash val="solid"/>
          </a:ln>
        </p:spPr>
      </p:sp>
      <p:sp>
        <p:nvSpPr>
          <p:cNvPr id="8" name="Text 6"/>
          <p:cNvSpPr txBox="1"/>
          <p:nvPr/>
        </p:nvSpPr>
        <p:spPr>
          <a:xfrm>
            <a:off x="71323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(a) — DOES NOT COMPILE</a:t>
            </a:r>
            <a:endParaRPr lang="en-US" sz="950" dirty="0"/>
          </a:p>
        </p:txBody>
      </p:sp>
      <p:sp>
        <p:nvSpPr>
          <p:cNvPr id="9" name="Text 7"/>
          <p:cNvSpPr txBox="1"/>
          <p:nvPr/>
        </p:nvSpPr>
        <p:spPr>
          <a:xfrm>
            <a:off x="731520" y="1810512"/>
            <a:ext cx="4993996" cy="1852209"/>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sign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else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else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0" name="Shape 8"/>
          <p:cNvSpPr/>
          <p:nvPr/>
        </p:nvSpPr>
        <p:spPr>
          <a:xfrm>
            <a:off x="566928" y="3937041"/>
            <a:ext cx="5323180" cy="663397"/>
          </a:xfrm>
          <a:prstGeom prst="roundRect">
            <a:avLst>
              <a:gd name="adj" fmla="val 9649"/>
            </a:avLst>
          </a:prstGeom>
          <a:solidFill>
            <a:srgbClr val="FFFFFF"/>
          </a:solidFill>
          <a:ln w="12700">
            <a:solidFill>
              <a:srgbClr val="4B6377"/>
            </a:solidFill>
            <a:prstDash val="solid"/>
          </a:ln>
        </p:spPr>
      </p:sp>
      <p:sp>
        <p:nvSpPr>
          <p:cNvPr id="11" name="Text 9"/>
          <p:cNvSpPr txBox="1"/>
          <p:nvPr/>
        </p:nvSpPr>
        <p:spPr>
          <a:xfrm>
            <a:off x="713232" y="4010193"/>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2" name="Text 10"/>
          <p:cNvSpPr txBox="1"/>
          <p:nvPr/>
        </p:nvSpPr>
        <p:spPr>
          <a:xfrm>
            <a:off x="713232" y="4211361"/>
            <a:ext cx="5030572" cy="297637"/>
          </a:xfrm>
          <a:prstGeom prst="rect">
            <a:avLst/>
          </a:prstGeom>
          <a:noFill/>
          <a:ln/>
        </p:spPr>
        <p:txBody>
          <a:bodyPr wrap="square" lIns="0" tIns="0" rIns="0" bIns="0" rtlCol="0" anchor="t"/>
          <a:lstStyle/>
          <a:p>
            <a:pPr indent="0" marL="0">
              <a:lnSpc>
                <a:spcPct val="110000"/>
              </a:lnSpc>
              <a:buNone/>
            </a:pPr>
            <a:r>
              <a:rPr lang="en-US" sz="1100" dirty="0">
                <a:solidFill>
                  <a:srgbClr val="0F2942"/>
                </a:solidFill>
                <a:latin typeface="Courier New" pitchFamily="34" charset="0"/>
                <a:ea typeface="Courier New" pitchFamily="34" charset="-122"/>
                <a:cs typeface="Courier New" pitchFamily="34" charset="-120"/>
              </a:rPr>
              <a:t>error: missing return statement</a:t>
            </a:r>
            <a:endParaRPr lang="en-US" sz="1100" dirty="0"/>
          </a:p>
        </p:txBody>
      </p:sp>
      <p:sp>
        <p:nvSpPr>
          <p:cNvPr id="13" name="Shape 11"/>
          <p:cNvSpPr/>
          <p:nvPr/>
        </p:nvSpPr>
        <p:spPr>
          <a:xfrm>
            <a:off x="566928" y="4838182"/>
            <a:ext cx="5323180" cy="1280160"/>
          </a:xfrm>
          <a:prstGeom prst="roundRect">
            <a:avLst>
              <a:gd name="adj" fmla="val 6429"/>
            </a:avLst>
          </a:prstGeom>
          <a:solidFill>
            <a:srgbClr val="FBEAE8"/>
          </a:solidFill>
          <a:ln w="12700">
            <a:solidFill>
              <a:srgbClr val="FBEAE8"/>
            </a:solidFill>
            <a:prstDash val="solid"/>
          </a:ln>
        </p:spPr>
      </p:sp>
      <p:sp>
        <p:nvSpPr>
          <p:cNvPr id="14" name="Text 12"/>
          <p:cNvSpPr txBox="1"/>
          <p:nvPr/>
        </p:nvSpPr>
        <p:spPr>
          <a:xfrm>
            <a:off x="822960" y="4966198"/>
            <a:ext cx="4811116" cy="274320"/>
          </a:xfrm>
          <a:prstGeom prst="rect">
            <a:avLst/>
          </a:prstGeom>
          <a:noFill/>
          <a:ln/>
        </p:spPr>
        <p:txBody>
          <a:bodyPr wrap="square" lIns="0" tIns="0" rIns="0" bIns="0" rtlCol="0" anchor="ctr"/>
          <a:lstStyle/>
          <a:p>
            <a:pPr indent="0" marL="0">
              <a:buNone/>
            </a:pPr>
            <a:r>
              <a:rPr lang="en-US" sz="1350" b="1" dirty="0">
                <a:solidFill>
                  <a:srgbClr val="9C241C"/>
                </a:solidFill>
                <a:latin typeface="Calibri" pitchFamily="34" charset="0"/>
                <a:ea typeface="Calibri" pitchFamily="34" charset="-122"/>
                <a:cs typeface="Calibri" pitchFamily="34" charset="-120"/>
              </a:rPr>
              <a:t>Logically fine, formally not</a:t>
            </a:r>
            <a:endParaRPr lang="en-US" sz="1350" dirty="0"/>
          </a:p>
        </p:txBody>
      </p:sp>
      <p:sp>
        <p:nvSpPr>
          <p:cNvPr id="15" name="Text 13"/>
          <p:cNvSpPr txBox="1"/>
          <p:nvPr/>
        </p:nvSpPr>
        <p:spPr>
          <a:xfrm>
            <a:off x="822960" y="5240518"/>
            <a:ext cx="4811116" cy="82296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You know every int is positive, zero or negative. The compiler sees three conditions that could all be false, and a path that falls off the end.</a:t>
            </a:r>
            <a:endParaRPr lang="en-US" sz="1200" dirty="0"/>
          </a:p>
        </p:txBody>
      </p:sp>
      <p:sp>
        <p:nvSpPr>
          <p:cNvPr id="16" name="Shape 14"/>
          <p:cNvSpPr/>
          <p:nvPr/>
        </p:nvSpPr>
        <p:spPr>
          <a:xfrm>
            <a:off x="6301588" y="1536192"/>
            <a:ext cx="5323180" cy="2181393"/>
          </a:xfrm>
          <a:prstGeom prst="roundRect">
            <a:avLst>
              <a:gd name="adj" fmla="val 2934"/>
            </a:avLst>
          </a:prstGeom>
          <a:solidFill>
            <a:srgbClr val="EDF2F7"/>
          </a:solidFill>
          <a:ln w="12700">
            <a:solidFill>
              <a:srgbClr val="CFDBE5"/>
            </a:solidFill>
            <a:prstDash val="solid"/>
          </a:ln>
        </p:spPr>
      </p:sp>
      <p:sp>
        <p:nvSpPr>
          <p:cNvPr id="17" name="Text 15"/>
          <p:cNvSpPr txBox="1"/>
          <p:nvPr/>
        </p:nvSpPr>
        <p:spPr>
          <a:xfrm>
            <a:off x="644789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(b) — COMPILES</a:t>
            </a:r>
            <a:endParaRPr lang="en-US" sz="950" dirty="0"/>
          </a:p>
        </p:txBody>
      </p:sp>
      <p:sp>
        <p:nvSpPr>
          <p:cNvPr id="18" name="Text 16"/>
          <p:cNvSpPr txBox="1"/>
          <p:nvPr/>
        </p:nvSpPr>
        <p:spPr>
          <a:xfrm>
            <a:off x="6466180" y="1810512"/>
            <a:ext cx="4993996" cy="1852209"/>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sign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else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else</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9" name="Shape 17"/>
          <p:cNvSpPr/>
          <p:nvPr/>
        </p:nvSpPr>
        <p:spPr>
          <a:xfrm>
            <a:off x="6301588" y="3937041"/>
            <a:ext cx="5323180" cy="663397"/>
          </a:xfrm>
          <a:prstGeom prst="roundRect">
            <a:avLst>
              <a:gd name="adj" fmla="val 9649"/>
            </a:avLst>
          </a:prstGeom>
          <a:solidFill>
            <a:srgbClr val="FFFFFF"/>
          </a:solidFill>
          <a:ln w="12700">
            <a:solidFill>
              <a:srgbClr val="4B6377"/>
            </a:solidFill>
            <a:prstDash val="solid"/>
          </a:ln>
        </p:spPr>
      </p:sp>
      <p:sp>
        <p:nvSpPr>
          <p:cNvPr id="20" name="Text 18"/>
          <p:cNvSpPr txBox="1"/>
          <p:nvPr/>
        </p:nvSpPr>
        <p:spPr>
          <a:xfrm>
            <a:off x="6447892" y="4010193"/>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21" name="Text 19"/>
          <p:cNvSpPr txBox="1"/>
          <p:nvPr/>
        </p:nvSpPr>
        <p:spPr>
          <a:xfrm>
            <a:off x="6447892" y="4211361"/>
            <a:ext cx="5030572" cy="297637"/>
          </a:xfrm>
          <a:prstGeom prst="rect">
            <a:avLst/>
          </a:prstGeom>
          <a:noFill/>
          <a:ln/>
        </p:spPr>
        <p:txBody>
          <a:bodyPr wrap="square" lIns="0" tIns="0" rIns="0" bIns="0" rtlCol="0" anchor="t"/>
          <a:lstStyle/>
          <a:p>
            <a:pPr indent="0" marL="0">
              <a:lnSpc>
                <a:spcPct val="110000"/>
              </a:lnSpc>
              <a:buNone/>
            </a:pPr>
            <a:r>
              <a:rPr lang="en-US" sz="1100" dirty="0">
                <a:solidFill>
                  <a:srgbClr val="0F2942"/>
                </a:solidFill>
                <a:latin typeface="Courier New" pitchFamily="34" charset="0"/>
                <a:ea typeface="Courier New" pitchFamily="34" charset="-122"/>
                <a:cs typeface="Courier New" pitchFamily="34" charset="-120"/>
              </a:rPr>
              <a:t>sign(-7) is -1</a:t>
            </a:r>
            <a:endParaRPr lang="en-US" sz="1100" dirty="0"/>
          </a:p>
        </p:txBody>
      </p:sp>
      <p:sp>
        <p:nvSpPr>
          <p:cNvPr id="22" name="Shape 20"/>
          <p:cNvSpPr/>
          <p:nvPr/>
        </p:nvSpPr>
        <p:spPr>
          <a:xfrm>
            <a:off x="6301588" y="4838182"/>
            <a:ext cx="5323180" cy="1280160"/>
          </a:xfrm>
          <a:prstGeom prst="roundRect">
            <a:avLst>
              <a:gd name="adj" fmla="val 6429"/>
            </a:avLst>
          </a:prstGeom>
          <a:solidFill>
            <a:srgbClr val="E6F2EC"/>
          </a:solidFill>
          <a:ln w="12700">
            <a:solidFill>
              <a:srgbClr val="E6F2EC"/>
            </a:solidFill>
            <a:prstDash val="solid"/>
          </a:ln>
        </p:spPr>
      </p:sp>
      <p:sp>
        <p:nvSpPr>
          <p:cNvPr id="23" name="Text 21"/>
          <p:cNvSpPr txBox="1"/>
          <p:nvPr/>
        </p:nvSpPr>
        <p:spPr>
          <a:xfrm>
            <a:off x="6557620" y="4966198"/>
            <a:ext cx="4811116" cy="274320"/>
          </a:xfrm>
          <a:prstGeom prst="rect">
            <a:avLst/>
          </a:prstGeom>
          <a:noFill/>
          <a:ln/>
        </p:spPr>
        <p:txBody>
          <a:bodyPr wrap="square" lIns="0" tIns="0" rIns="0" bIns="0" rtlCol="0" anchor="ctr"/>
          <a:lstStyle/>
          <a:p>
            <a:pPr indent="0" marL="0">
              <a:buNone/>
            </a:pPr>
            <a:r>
              <a:rPr lang="en-US" sz="1350" b="1" dirty="0">
                <a:solidFill>
                  <a:srgbClr val="176240"/>
                </a:solidFill>
                <a:latin typeface="Calibri" pitchFamily="34" charset="0"/>
                <a:ea typeface="Calibri" pitchFamily="34" charset="-122"/>
                <a:cs typeface="Calibri" pitchFamily="34" charset="-120"/>
              </a:rPr>
              <a:t>Delete the last condition</a:t>
            </a:r>
            <a:endParaRPr lang="en-US" sz="1350" dirty="0"/>
          </a:p>
        </p:txBody>
      </p:sp>
      <p:sp>
        <p:nvSpPr>
          <p:cNvPr id="24" name="Text 22"/>
          <p:cNvSpPr txBox="1"/>
          <p:nvPr/>
        </p:nvSpPr>
        <p:spPr>
          <a:xfrm>
            <a:off x="6557620" y="5258806"/>
            <a:ext cx="4811116" cy="96012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A bare else has no condition to fail, so the compiler can see that one of the three returns is always reached. Same behaviour, and now it is provable.</a:t>
            </a:r>
            <a:endParaRPr lang="en-US" sz="1200" dirty="0"/>
          </a:p>
        </p:txBody>
      </p:sp>
      <p:sp>
        <p:nvSpPr>
          <p:cNvPr id="25" name="Text 23"/>
          <p:cNvSpPr txBox="1"/>
          <p:nvPr/>
        </p:nvSpPr>
        <p:spPr>
          <a:xfrm>
            <a:off x="566928" y="6228070"/>
            <a:ext cx="11057839" cy="292608"/>
          </a:xfrm>
          <a:prstGeom prst="rect">
            <a:avLst/>
          </a:prstGeom>
          <a:noFill/>
          <a:ln/>
        </p:spPr>
        <p:txBody>
          <a:bodyPr wrap="square" lIns="0" tIns="0" rIns="0" bIns="0" rtlCol="0" anchor="ctr"/>
          <a:lstStyle/>
          <a:p>
            <a:pPr indent="0" marL="0">
              <a:buNone/>
            </a:pPr>
            <a:r>
              <a:rPr lang="en-US" sz="1250" b="1" i="1" dirty="0">
                <a:solidFill>
                  <a:srgbClr val="0F2942"/>
                </a:solidFill>
                <a:latin typeface="Calibri" pitchFamily="34" charset="0"/>
                <a:ea typeface="Calibri" pitchFamily="34" charset="-122"/>
                <a:cs typeface="Calibri" pitchFamily="34" charset="-120"/>
              </a:rPr>
              <a:t>return ends the method immediately.  </a:t>
            </a:r>
            <a:pPr indent="0" marL="0">
              <a:buNone/>
            </a:pPr>
            <a:r>
              <a:rPr lang="en-US" sz="1250" i="1" dirty="0">
                <a:solidFill>
                  <a:srgbClr val="3A536B"/>
                </a:solidFill>
                <a:latin typeface="Calibri" pitchFamily="34" charset="0"/>
                <a:ea typeface="Calibri" pitchFamily="34" charset="-122"/>
                <a:cs typeface="Calibri" pitchFamily="34" charset="-120"/>
              </a:rPr>
              <a:t>Anything after it in the same block is unreachable. In a void method a bare </a:t>
            </a:r>
            <a:pPr indent="0" marL="0">
              <a:buNone/>
            </a:pPr>
            <a:r>
              <a:rPr lang="en-US" sz="1250" b="1" i="1" dirty="0">
                <a:solidFill>
                  <a:srgbClr val="9A430A"/>
                </a:solidFill>
                <a:latin typeface="Courier New" pitchFamily="34" charset="0"/>
                <a:ea typeface="Courier New" pitchFamily="34" charset="-122"/>
                <a:cs typeface="Courier New" pitchFamily="34" charset="-120"/>
              </a:rPr>
              <a:t>return;</a:t>
            </a:r>
            <a:pPr indent="0" marL="0">
              <a:buNone/>
            </a:pPr>
            <a:r>
              <a:rPr lang="en-US" sz="1250" i="1" dirty="0">
                <a:solidFill>
                  <a:srgbClr val="3A536B"/>
                </a:solidFill>
                <a:latin typeface="Calibri" pitchFamily="34" charset="0"/>
                <a:ea typeface="Calibri" pitchFamily="34" charset="-122"/>
                <a:cs typeface="Calibri" pitchFamily="34" charset="-120"/>
              </a:rPr>
              <a:t> is a legal way to leave early.</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ARGUMENTS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Arguments Are Matched by Position and by Type</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Not by name. The compiler checks the order and the types; it cannot check your intent.</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13</a:t>
            </a:r>
            <a:endParaRPr lang="en-US" sz="900" dirty="0"/>
          </a:p>
        </p:txBody>
      </p:sp>
      <p:sp>
        <p:nvSpPr>
          <p:cNvPr id="7" name="Shape 5"/>
          <p:cNvSpPr/>
          <p:nvPr/>
        </p:nvSpPr>
        <p:spPr>
          <a:xfrm>
            <a:off x="566928" y="1536192"/>
            <a:ext cx="5852160" cy="1328440"/>
          </a:xfrm>
          <a:prstGeom prst="roundRect">
            <a:avLst>
              <a:gd name="adj" fmla="val 4818"/>
            </a:avLst>
          </a:prstGeom>
          <a:solidFill>
            <a:srgbClr val="EDF2F7"/>
          </a:solidFill>
          <a:ln w="12700">
            <a:solidFill>
              <a:srgbClr val="CFDBE5"/>
            </a:solidFill>
            <a:prstDash val="solid"/>
          </a:ln>
        </p:spPr>
      </p:sp>
      <p:sp>
        <p:nvSpPr>
          <p:cNvPr id="8" name="Text 6"/>
          <p:cNvSpPr txBox="1"/>
          <p:nvPr/>
        </p:nvSpPr>
        <p:spPr>
          <a:xfrm>
            <a:off x="713232" y="1581912"/>
            <a:ext cx="555955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nPrintln — PRINT A MESSAGE n TIMES</a:t>
            </a:r>
            <a:endParaRPr lang="en-US" sz="950" dirty="0"/>
          </a:p>
        </p:txBody>
      </p:sp>
      <p:sp>
        <p:nvSpPr>
          <p:cNvPr id="9" name="Text 7"/>
          <p:cNvSpPr txBox="1"/>
          <p:nvPr/>
        </p:nvSpPr>
        <p:spPr>
          <a:xfrm>
            <a:off x="731520" y="1810512"/>
            <a:ext cx="5522976" cy="999256"/>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void</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String</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message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message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0" name="Shape 8"/>
          <p:cNvSpPr/>
          <p:nvPr/>
        </p:nvSpPr>
        <p:spPr>
          <a:xfrm>
            <a:off x="566928" y="3184672"/>
            <a:ext cx="5852160" cy="841248"/>
          </a:xfrm>
          <a:prstGeom prst="roundRect">
            <a:avLst>
              <a:gd name="adj" fmla="val 9783"/>
            </a:avLst>
          </a:prstGeom>
          <a:solidFill>
            <a:srgbClr val="E6F2EC"/>
          </a:solidFill>
          <a:ln w="12700">
            <a:solidFill>
              <a:srgbClr val="E6F2EC"/>
            </a:solidFill>
            <a:prstDash val="solid"/>
          </a:ln>
        </p:spPr>
      </p:sp>
      <p:sp>
        <p:nvSpPr>
          <p:cNvPr id="11" name="Text 9"/>
          <p:cNvSpPr txBox="1"/>
          <p:nvPr/>
        </p:nvSpPr>
        <p:spPr>
          <a:xfrm>
            <a:off x="822960" y="3276112"/>
            <a:ext cx="5340096" cy="329184"/>
          </a:xfrm>
          <a:prstGeom prst="rect">
            <a:avLst/>
          </a:prstGeom>
          <a:noFill/>
          <a:ln/>
        </p:spPr>
        <p:txBody>
          <a:bodyPr wrap="square" lIns="0" tIns="0" rIns="0" bIns="0" rtlCol="0" anchor="ctr"/>
          <a:lstStyle/>
          <a:p>
            <a:pPr indent="0" marL="0">
              <a:buNone/>
            </a:pPr>
            <a:r>
              <a:rPr lang="en-US" sz="1150" b="1" dirty="0">
                <a:solidFill>
                  <a:srgbClr val="176240"/>
                </a:solidFill>
                <a:latin typeface="Courier New" pitchFamily="34" charset="0"/>
                <a:ea typeface="Courier New" pitchFamily="34" charset="-122"/>
                <a:cs typeface="Courier New" pitchFamily="34" charset="-120"/>
              </a:rPr>
              <a:t>nPrintln("Welcome to Java", 5);</a:t>
            </a:r>
            <a:endParaRPr lang="en-US" sz="1150" dirty="0"/>
          </a:p>
        </p:txBody>
      </p:sp>
      <p:sp>
        <p:nvSpPr>
          <p:cNvPr id="12" name="Text 10"/>
          <p:cNvSpPr txBox="1"/>
          <p:nvPr/>
        </p:nvSpPr>
        <p:spPr>
          <a:xfrm>
            <a:off x="822960" y="3605296"/>
            <a:ext cx="5340096" cy="329184"/>
          </a:xfrm>
          <a:prstGeom prst="rect">
            <a:avLst/>
          </a:prstGeom>
          <a:noFill/>
          <a:ln/>
        </p:spPr>
        <p:txBody>
          <a:bodyPr wrap="square" lIns="0" tIns="0" rIns="0" bIns="0" rtlCol="0" anchor="ctr"/>
          <a:lstStyle/>
          <a:p>
            <a:pPr indent="0" marL="0">
              <a:buNone/>
            </a:pPr>
            <a:r>
              <a:rPr lang="en-US" sz="1150" dirty="0">
                <a:solidFill>
                  <a:srgbClr val="3A536B"/>
                </a:solidFill>
                <a:latin typeface="Calibri" pitchFamily="34" charset="0"/>
                <a:ea typeface="Calibri" pitchFamily="34" charset="-122"/>
                <a:cs typeface="Calibri" pitchFamily="34" charset="-120"/>
              </a:rPr>
              <a:t>prints the message five times</a:t>
            </a:r>
            <a:endParaRPr lang="en-US" sz="1150" dirty="0"/>
          </a:p>
        </p:txBody>
      </p:sp>
      <p:sp>
        <p:nvSpPr>
          <p:cNvPr id="13" name="Shape 11"/>
          <p:cNvSpPr/>
          <p:nvPr/>
        </p:nvSpPr>
        <p:spPr>
          <a:xfrm>
            <a:off x="566928" y="4099072"/>
            <a:ext cx="5852160" cy="841248"/>
          </a:xfrm>
          <a:prstGeom prst="roundRect">
            <a:avLst>
              <a:gd name="adj" fmla="val 9783"/>
            </a:avLst>
          </a:prstGeom>
          <a:solidFill>
            <a:srgbClr val="E6F2EC"/>
          </a:solidFill>
          <a:ln w="12700">
            <a:solidFill>
              <a:srgbClr val="E6F2EC"/>
            </a:solidFill>
            <a:prstDash val="solid"/>
          </a:ln>
        </p:spPr>
      </p:sp>
      <p:sp>
        <p:nvSpPr>
          <p:cNvPr id="14" name="Text 12"/>
          <p:cNvSpPr txBox="1"/>
          <p:nvPr/>
        </p:nvSpPr>
        <p:spPr>
          <a:xfrm>
            <a:off x="822960" y="4190512"/>
            <a:ext cx="5340096" cy="329184"/>
          </a:xfrm>
          <a:prstGeom prst="rect">
            <a:avLst/>
          </a:prstGeom>
          <a:noFill/>
          <a:ln/>
        </p:spPr>
        <p:txBody>
          <a:bodyPr wrap="square" lIns="0" tIns="0" rIns="0" bIns="0" rtlCol="0" anchor="ctr"/>
          <a:lstStyle/>
          <a:p>
            <a:pPr indent="0" marL="0">
              <a:buNone/>
            </a:pPr>
            <a:r>
              <a:rPr lang="en-US" sz="1150" b="1" dirty="0">
                <a:solidFill>
                  <a:srgbClr val="176240"/>
                </a:solidFill>
                <a:latin typeface="Courier New" pitchFamily="34" charset="0"/>
                <a:ea typeface="Courier New" pitchFamily="34" charset="-122"/>
                <a:cs typeface="Courier New" pitchFamily="34" charset="-120"/>
              </a:rPr>
              <a:t>nPrintln("Computer Science", 15);</a:t>
            </a:r>
            <a:endParaRPr lang="en-US" sz="1150" dirty="0"/>
          </a:p>
        </p:txBody>
      </p:sp>
      <p:sp>
        <p:nvSpPr>
          <p:cNvPr id="15" name="Text 13"/>
          <p:cNvSpPr txBox="1"/>
          <p:nvPr/>
        </p:nvSpPr>
        <p:spPr>
          <a:xfrm>
            <a:off x="822960" y="4519696"/>
            <a:ext cx="5340096" cy="329184"/>
          </a:xfrm>
          <a:prstGeom prst="rect">
            <a:avLst/>
          </a:prstGeom>
          <a:noFill/>
          <a:ln/>
        </p:spPr>
        <p:txBody>
          <a:bodyPr wrap="square" lIns="0" tIns="0" rIns="0" bIns="0" rtlCol="0" anchor="ctr"/>
          <a:lstStyle/>
          <a:p>
            <a:pPr indent="0" marL="0">
              <a:buNone/>
            </a:pPr>
            <a:r>
              <a:rPr lang="en-US" sz="1150" dirty="0">
                <a:solidFill>
                  <a:srgbClr val="3A536B"/>
                </a:solidFill>
                <a:latin typeface="Calibri" pitchFamily="34" charset="0"/>
                <a:ea typeface="Calibri" pitchFamily="34" charset="-122"/>
                <a:cs typeface="Calibri" pitchFamily="34" charset="-120"/>
              </a:rPr>
              <a:t>prints the message fifteen times</a:t>
            </a:r>
            <a:endParaRPr lang="en-US" sz="1150" dirty="0"/>
          </a:p>
        </p:txBody>
      </p:sp>
      <p:sp>
        <p:nvSpPr>
          <p:cNvPr id="16" name="Shape 14"/>
          <p:cNvSpPr/>
          <p:nvPr/>
        </p:nvSpPr>
        <p:spPr>
          <a:xfrm>
            <a:off x="566928" y="5013472"/>
            <a:ext cx="5852160" cy="841248"/>
          </a:xfrm>
          <a:prstGeom prst="roundRect">
            <a:avLst>
              <a:gd name="adj" fmla="val 9783"/>
            </a:avLst>
          </a:prstGeom>
          <a:solidFill>
            <a:srgbClr val="FBEAE8"/>
          </a:solidFill>
          <a:ln w="12700">
            <a:solidFill>
              <a:srgbClr val="FBEAE8"/>
            </a:solidFill>
            <a:prstDash val="solid"/>
          </a:ln>
        </p:spPr>
      </p:sp>
      <p:sp>
        <p:nvSpPr>
          <p:cNvPr id="17" name="Text 15"/>
          <p:cNvSpPr txBox="1"/>
          <p:nvPr/>
        </p:nvSpPr>
        <p:spPr>
          <a:xfrm>
            <a:off x="822960" y="5104912"/>
            <a:ext cx="5340096" cy="329184"/>
          </a:xfrm>
          <a:prstGeom prst="rect">
            <a:avLst/>
          </a:prstGeom>
          <a:noFill/>
          <a:ln/>
        </p:spPr>
        <p:txBody>
          <a:bodyPr wrap="square" lIns="0" tIns="0" rIns="0" bIns="0" rtlCol="0" anchor="ctr"/>
          <a:lstStyle/>
          <a:p>
            <a:pPr indent="0" marL="0">
              <a:buNone/>
            </a:pPr>
            <a:r>
              <a:rPr lang="en-US" sz="1150" b="1" dirty="0">
                <a:solidFill>
                  <a:srgbClr val="9C241C"/>
                </a:solidFill>
                <a:latin typeface="Courier New" pitchFamily="34" charset="0"/>
                <a:ea typeface="Courier New" pitchFamily="34" charset="-122"/>
                <a:cs typeface="Courier New" pitchFamily="34" charset="-120"/>
              </a:rPr>
              <a:t>nPrintln(15, "Computer Science");</a:t>
            </a:r>
            <a:endParaRPr lang="en-US" sz="1150" dirty="0"/>
          </a:p>
        </p:txBody>
      </p:sp>
      <p:sp>
        <p:nvSpPr>
          <p:cNvPr id="18" name="Text 16"/>
          <p:cNvSpPr txBox="1"/>
          <p:nvPr/>
        </p:nvSpPr>
        <p:spPr>
          <a:xfrm>
            <a:off x="822960" y="5434096"/>
            <a:ext cx="5340096" cy="329184"/>
          </a:xfrm>
          <a:prstGeom prst="rect">
            <a:avLst/>
          </a:prstGeom>
          <a:noFill/>
          <a:ln/>
        </p:spPr>
        <p:txBody>
          <a:bodyPr wrap="square" lIns="0" tIns="0" rIns="0" bIns="0" rtlCol="0" anchor="ctr"/>
          <a:lstStyle/>
          <a:p>
            <a:pPr indent="0" marL="0">
              <a:buNone/>
            </a:pPr>
            <a:r>
              <a:rPr lang="en-US" sz="1150" dirty="0">
                <a:solidFill>
                  <a:srgbClr val="3A536B"/>
                </a:solidFill>
                <a:latin typeface="Calibri" pitchFamily="34" charset="0"/>
                <a:ea typeface="Calibri" pitchFamily="34" charset="-122"/>
                <a:cs typeface="Calibri" pitchFamily="34" charset="-120"/>
              </a:rPr>
              <a:t>does not compile — the types are the wrong way round</a:t>
            </a:r>
            <a:endParaRPr lang="en-US" sz="1150" dirty="0"/>
          </a:p>
        </p:txBody>
      </p:sp>
      <p:sp>
        <p:nvSpPr>
          <p:cNvPr id="19" name="Shape 17"/>
          <p:cNvSpPr/>
          <p:nvPr/>
        </p:nvSpPr>
        <p:spPr>
          <a:xfrm>
            <a:off x="6876288" y="1536192"/>
            <a:ext cx="4748479" cy="1691640"/>
          </a:xfrm>
          <a:prstGeom prst="roundRect">
            <a:avLst>
              <a:gd name="adj" fmla="val 4865"/>
            </a:avLst>
          </a:prstGeom>
          <a:solidFill>
            <a:srgbClr val="E4ECF4"/>
          </a:solidFill>
          <a:ln w="12700">
            <a:solidFill>
              <a:srgbClr val="E4ECF4"/>
            </a:solidFill>
            <a:prstDash val="solid"/>
          </a:ln>
        </p:spPr>
      </p:sp>
      <p:sp>
        <p:nvSpPr>
          <p:cNvPr id="20" name="Text 18"/>
          <p:cNvSpPr txBox="1"/>
          <p:nvPr/>
        </p:nvSpPr>
        <p:spPr>
          <a:xfrm>
            <a:off x="7095744" y="1700784"/>
            <a:ext cx="4309567"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Number, order and type must all match</a:t>
            </a:r>
            <a:endParaRPr lang="en-US" sz="1450" dirty="0"/>
          </a:p>
        </p:txBody>
      </p:sp>
      <p:sp>
        <p:nvSpPr>
          <p:cNvPr id="21" name="Text 19"/>
          <p:cNvSpPr txBox="1"/>
          <p:nvPr/>
        </p:nvSpPr>
        <p:spPr>
          <a:xfrm>
            <a:off x="7095744" y="2029968"/>
            <a:ext cx="4309567" cy="106984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Two arguments for two parameters, in the same order, each assignable to its parameter's type. Java will widen an int to a double for you — but it will not reorder your arguments, and it will not warn you when two parameters of the same type are swapped.</a:t>
            </a:r>
            <a:endParaRPr lang="en-US" sz="1200" dirty="0"/>
          </a:p>
        </p:txBody>
      </p:sp>
      <p:sp>
        <p:nvSpPr>
          <p:cNvPr id="22" name="Shape 20"/>
          <p:cNvSpPr/>
          <p:nvPr/>
        </p:nvSpPr>
        <p:spPr>
          <a:xfrm>
            <a:off x="6876288" y="3410712"/>
            <a:ext cx="4748479" cy="1645920"/>
          </a:xfrm>
          <a:prstGeom prst="roundRect">
            <a:avLst>
              <a:gd name="adj" fmla="val 5000"/>
            </a:avLst>
          </a:prstGeom>
          <a:solidFill>
            <a:srgbClr val="FBEEE0"/>
          </a:solidFill>
          <a:ln w="12700">
            <a:solidFill>
              <a:srgbClr val="FBEEE0"/>
            </a:solidFill>
            <a:prstDash val="solid"/>
          </a:ln>
        </p:spPr>
      </p:sp>
      <p:sp>
        <p:nvSpPr>
          <p:cNvPr id="23" name="Text 21"/>
          <p:cNvSpPr txBox="1"/>
          <p:nvPr/>
        </p:nvSpPr>
        <p:spPr>
          <a:xfrm>
            <a:off x="7132320" y="3547872"/>
            <a:ext cx="4236415" cy="274320"/>
          </a:xfrm>
          <a:prstGeom prst="rect">
            <a:avLst/>
          </a:prstGeom>
          <a:noFill/>
          <a:ln/>
        </p:spPr>
        <p:txBody>
          <a:bodyPr wrap="square" lIns="0" tIns="0" rIns="0" bIns="0" rtlCol="0" anchor="ctr"/>
          <a:lstStyle/>
          <a:p>
            <a:pPr indent="0" marL="0">
              <a:buNone/>
            </a:pPr>
            <a:r>
              <a:rPr lang="en-US" sz="1350" b="1" dirty="0">
                <a:solidFill>
                  <a:srgbClr val="9A430A"/>
                </a:solidFill>
                <a:latin typeface="Calibri" pitchFamily="34" charset="0"/>
                <a:ea typeface="Calibri" pitchFamily="34" charset="-122"/>
                <a:cs typeface="Calibri" pitchFamily="34" charset="-120"/>
              </a:rPr>
              <a:t>The dangerous case</a:t>
            </a:r>
            <a:endParaRPr lang="en-US" sz="1350" dirty="0"/>
          </a:p>
        </p:txBody>
      </p:sp>
      <p:sp>
        <p:nvSpPr>
          <p:cNvPr id="24" name="Text 22"/>
          <p:cNvSpPr txBox="1"/>
          <p:nvPr/>
        </p:nvSpPr>
        <p:spPr>
          <a:xfrm>
            <a:off x="7132320" y="3858768"/>
            <a:ext cx="4236415" cy="109728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If both parameters were ints — drawRect(int width, int height) — then swapping them compiles perfectly and draws the wrong rectangle. The compiler cannot help. Name your parameters well and keep the order obvious.</a:t>
            </a:r>
            <a:endParaRPr lang="en-US" sz="1200" dirty="0"/>
          </a:p>
        </p:txBody>
      </p:sp>
      <p:sp>
        <p:nvSpPr>
          <p:cNvPr id="25" name="Shape 23"/>
          <p:cNvSpPr/>
          <p:nvPr/>
        </p:nvSpPr>
        <p:spPr>
          <a:xfrm>
            <a:off x="6876288" y="5239512"/>
            <a:ext cx="4748479" cy="914400"/>
          </a:xfrm>
          <a:prstGeom prst="roundRect">
            <a:avLst>
              <a:gd name="adj" fmla="val 9000"/>
            </a:avLst>
          </a:prstGeom>
          <a:solidFill>
            <a:srgbClr val="F1F5F9"/>
          </a:solidFill>
          <a:ln w="12700">
            <a:solidFill>
              <a:srgbClr val="F1F5F9"/>
            </a:solidFill>
            <a:prstDash val="solid"/>
          </a:ln>
        </p:spPr>
      </p:sp>
      <p:sp>
        <p:nvSpPr>
          <p:cNvPr id="26" name="Text 24"/>
          <p:cNvSpPr txBox="1"/>
          <p:nvPr/>
        </p:nvSpPr>
        <p:spPr>
          <a:xfrm>
            <a:off x="7150608" y="5239512"/>
            <a:ext cx="4199839" cy="914400"/>
          </a:xfrm>
          <a:prstGeom prst="rect">
            <a:avLst/>
          </a:prstGeom>
          <a:noFill/>
          <a:ln/>
        </p:spPr>
        <p:txBody>
          <a:bodyPr wrap="square" lIns="0" tIns="0" rIns="0" bIns="0" rtlCol="0" anchor="ctr"/>
          <a:lstStyle/>
          <a:p>
            <a:pPr indent="0" marL="0">
              <a:lnSpc>
                <a:spcPct val="110000"/>
              </a:lnSpc>
              <a:buNone/>
            </a:pPr>
            <a:r>
              <a:rPr lang="en-US" sz="1200" i="1" dirty="0">
                <a:solidFill>
                  <a:srgbClr val="3A536B"/>
                </a:solidFill>
                <a:latin typeface="Calibri" pitchFamily="34" charset="0"/>
                <a:ea typeface="Calibri" pitchFamily="34" charset="-122"/>
                <a:cs typeface="Calibri" pitchFamily="34" charset="-120"/>
              </a:rPr>
              <a:t>A method with more than about four parameters is usually telling you it should be two methods, or that the parameters belong together in an object.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ARGUMENTS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Java Passes Arguments by Value — Always</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The method gets a copy. Changing the copy does nothing to the original.</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14</a:t>
            </a:r>
            <a:endParaRPr lang="en-US" sz="900" dirty="0"/>
          </a:p>
        </p:txBody>
      </p:sp>
      <p:sp>
        <p:nvSpPr>
          <p:cNvPr id="7" name="Shape 5"/>
          <p:cNvSpPr/>
          <p:nvPr/>
        </p:nvSpPr>
        <p:spPr>
          <a:xfrm>
            <a:off x="566928" y="1536192"/>
            <a:ext cx="5852160" cy="2394631"/>
          </a:xfrm>
          <a:prstGeom prst="roundRect">
            <a:avLst>
              <a:gd name="adj" fmla="val 2673"/>
            </a:avLst>
          </a:prstGeom>
          <a:solidFill>
            <a:srgbClr val="EDF2F7"/>
          </a:solidFill>
          <a:ln w="12700">
            <a:solidFill>
              <a:srgbClr val="CFDBE5"/>
            </a:solidFill>
            <a:prstDash val="solid"/>
          </a:ln>
        </p:spPr>
      </p:sp>
      <p:sp>
        <p:nvSpPr>
          <p:cNvPr id="8" name="Text 6"/>
          <p:cNvSpPr txBox="1"/>
          <p:nvPr/>
        </p:nvSpPr>
        <p:spPr>
          <a:xfrm>
            <a:off x="713232" y="1581912"/>
            <a:ext cx="555955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A swap METHOD THAT DOES NOT SWAP</a:t>
            </a:r>
            <a:endParaRPr lang="en-US" sz="950" dirty="0"/>
          </a:p>
        </p:txBody>
      </p:sp>
      <p:sp>
        <p:nvSpPr>
          <p:cNvPr id="9" name="Text 7"/>
          <p:cNvSpPr txBox="1"/>
          <p:nvPr/>
        </p:nvSpPr>
        <p:spPr>
          <a:xfrm>
            <a:off x="731520" y="1810512"/>
            <a:ext cx="5522976" cy="2065447"/>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void</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swap</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temp</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temp</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num1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num2</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swap</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num1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num2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num1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num2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0" name="Shape 8"/>
          <p:cNvSpPr/>
          <p:nvPr/>
        </p:nvSpPr>
        <p:spPr>
          <a:xfrm>
            <a:off x="566928" y="4168567"/>
            <a:ext cx="5852160" cy="682142"/>
          </a:xfrm>
          <a:prstGeom prst="roundRect">
            <a:avLst>
              <a:gd name="adj" fmla="val 9383"/>
            </a:avLst>
          </a:prstGeom>
          <a:solidFill>
            <a:srgbClr val="FFFFFF"/>
          </a:solidFill>
          <a:ln w="12700">
            <a:solidFill>
              <a:srgbClr val="4B6377"/>
            </a:solidFill>
            <a:prstDash val="solid"/>
          </a:ln>
        </p:spPr>
      </p:sp>
      <p:sp>
        <p:nvSpPr>
          <p:cNvPr id="11" name="Text 9"/>
          <p:cNvSpPr txBox="1"/>
          <p:nvPr/>
        </p:nvSpPr>
        <p:spPr>
          <a:xfrm>
            <a:off x="713232" y="4241719"/>
            <a:ext cx="555955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2" name="Text 10"/>
          <p:cNvSpPr txBox="1"/>
          <p:nvPr/>
        </p:nvSpPr>
        <p:spPr>
          <a:xfrm>
            <a:off x="713232" y="4442887"/>
            <a:ext cx="5559552" cy="316382"/>
          </a:xfrm>
          <a:prstGeom prst="rect">
            <a:avLst/>
          </a:prstGeom>
          <a:noFill/>
          <a:ln/>
        </p:spPr>
        <p:txBody>
          <a:bodyPr wrap="square" lIns="0" tIns="0" rIns="0" bIns="0" rtlCol="0" anchor="t"/>
          <a:lstStyle/>
          <a:p>
            <a:pPr indent="0" marL="0">
              <a:lnSpc>
                <a:spcPct val="110000"/>
              </a:lnSpc>
              <a:buNone/>
            </a:pPr>
            <a:r>
              <a:rPr lang="en-US" sz="1200" dirty="0">
                <a:solidFill>
                  <a:srgbClr val="0F2942"/>
                </a:solidFill>
                <a:latin typeface="Courier New" pitchFamily="34" charset="0"/>
                <a:ea typeface="Courier New" pitchFamily="34" charset="-122"/>
                <a:cs typeface="Courier New" pitchFamily="34" charset="-120"/>
              </a:rPr>
              <a:t>1 2</a:t>
            </a:r>
            <a:endParaRPr lang="en-US" sz="1200" dirty="0"/>
          </a:p>
        </p:txBody>
      </p:sp>
      <p:sp>
        <p:nvSpPr>
          <p:cNvPr id="13" name="Shape 11"/>
          <p:cNvSpPr/>
          <p:nvPr/>
        </p:nvSpPr>
        <p:spPr>
          <a:xfrm>
            <a:off x="566928" y="5088453"/>
            <a:ext cx="5852160" cy="1188720"/>
          </a:xfrm>
          <a:prstGeom prst="roundRect">
            <a:avLst>
              <a:gd name="adj" fmla="val 6923"/>
            </a:avLst>
          </a:prstGeom>
          <a:solidFill>
            <a:srgbClr val="FBEAE8"/>
          </a:solidFill>
          <a:ln w="12700">
            <a:solidFill>
              <a:srgbClr val="FBEAE8"/>
            </a:solidFill>
            <a:prstDash val="solid"/>
          </a:ln>
        </p:spPr>
      </p:sp>
      <p:sp>
        <p:nvSpPr>
          <p:cNvPr id="14" name="Text 12"/>
          <p:cNvSpPr txBox="1"/>
          <p:nvPr/>
        </p:nvSpPr>
        <p:spPr>
          <a:xfrm>
            <a:off x="822960" y="5198181"/>
            <a:ext cx="5340096" cy="274320"/>
          </a:xfrm>
          <a:prstGeom prst="rect">
            <a:avLst/>
          </a:prstGeom>
          <a:noFill/>
          <a:ln/>
        </p:spPr>
        <p:txBody>
          <a:bodyPr wrap="square" lIns="0" tIns="0" rIns="0" bIns="0" rtlCol="0" anchor="ctr"/>
          <a:lstStyle/>
          <a:p>
            <a:pPr indent="0" marL="0">
              <a:buNone/>
            </a:pPr>
            <a:r>
              <a:rPr lang="en-US" sz="1350" b="1" dirty="0">
                <a:solidFill>
                  <a:srgbClr val="9C241C"/>
                </a:solidFill>
                <a:latin typeface="Calibri" pitchFamily="34" charset="0"/>
                <a:ea typeface="Calibri" pitchFamily="34" charset="-122"/>
                <a:cs typeface="Calibri" pitchFamily="34" charset="-120"/>
              </a:rPr>
              <a:t>Nothing was swapped</a:t>
            </a:r>
            <a:endParaRPr lang="en-US" sz="1350" dirty="0"/>
          </a:p>
        </p:txBody>
      </p:sp>
      <p:sp>
        <p:nvSpPr>
          <p:cNvPr id="15" name="Text 13"/>
          <p:cNvSpPr txBox="1"/>
          <p:nvPr/>
        </p:nvSpPr>
        <p:spPr>
          <a:xfrm>
            <a:off x="822960" y="5490789"/>
            <a:ext cx="5340096" cy="77724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n1 and n2 are fresh variables in swap's frame holding copies of 1 and 2. It swaps its own copies, then the frame is destroyed.</a:t>
            </a:r>
            <a:endParaRPr lang="en-US" sz="1200" dirty="0"/>
          </a:p>
        </p:txBody>
      </p:sp>
      <p:sp>
        <p:nvSpPr>
          <p:cNvPr id="16" name="Text 14"/>
          <p:cNvSpPr txBox="1"/>
          <p:nvPr/>
        </p:nvSpPr>
        <p:spPr>
          <a:xfrm>
            <a:off x="6876288" y="1536192"/>
            <a:ext cx="4748479" cy="219456"/>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WHAT THE FRAMES HOLD</a:t>
            </a:r>
            <a:endParaRPr lang="en-US" sz="950" dirty="0"/>
          </a:p>
        </p:txBody>
      </p:sp>
      <p:sp>
        <p:nvSpPr>
          <p:cNvPr id="17" name="Shape 15"/>
          <p:cNvSpPr/>
          <p:nvPr/>
        </p:nvSpPr>
        <p:spPr>
          <a:xfrm>
            <a:off x="6876288" y="1810512"/>
            <a:ext cx="4748479" cy="585216"/>
          </a:xfrm>
          <a:prstGeom prst="roundRect">
            <a:avLst>
              <a:gd name="adj" fmla="val 14063"/>
            </a:avLst>
          </a:prstGeom>
          <a:solidFill>
            <a:srgbClr val="FFFFFF"/>
          </a:solidFill>
          <a:ln w="12700">
            <a:solidFill>
              <a:srgbClr val="D3DEE7"/>
            </a:solidFill>
            <a:prstDash val="solid"/>
          </a:ln>
        </p:spPr>
      </p:sp>
      <p:sp>
        <p:nvSpPr>
          <p:cNvPr id="18" name="Shape 16"/>
          <p:cNvSpPr/>
          <p:nvPr/>
        </p:nvSpPr>
        <p:spPr>
          <a:xfrm>
            <a:off x="7059168" y="1929384"/>
            <a:ext cx="347472" cy="347472"/>
          </a:xfrm>
          <a:prstGeom prst="ellipse">
            <a:avLst/>
          </a:prstGeom>
          <a:solidFill>
            <a:srgbClr val="1D4468"/>
          </a:solidFill>
          <a:ln w="12700">
            <a:solidFill>
              <a:srgbClr val="1D4468"/>
            </a:solidFill>
            <a:prstDash val="solid"/>
          </a:ln>
        </p:spPr>
      </p:sp>
      <p:sp>
        <p:nvSpPr>
          <p:cNvPr id="19" name="Text 17"/>
          <p:cNvSpPr txBox="1"/>
          <p:nvPr/>
        </p:nvSpPr>
        <p:spPr>
          <a:xfrm>
            <a:off x="7059168" y="1929384"/>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20" name="Text 18"/>
          <p:cNvSpPr txBox="1"/>
          <p:nvPr/>
        </p:nvSpPr>
        <p:spPr>
          <a:xfrm>
            <a:off x="7534656" y="1856232"/>
            <a:ext cx="3907231" cy="280904"/>
          </a:xfrm>
          <a:prstGeom prst="rect">
            <a:avLst/>
          </a:prstGeom>
          <a:noFill/>
          <a:ln/>
        </p:spPr>
        <p:txBody>
          <a:bodyPr wrap="square" lIns="0" tIns="0" rIns="0" bIns="0" rtlCol="0" anchor="ctr"/>
          <a:lstStyle/>
          <a:p>
            <a:pPr indent="0" marL="0">
              <a:buNone/>
            </a:pPr>
            <a:r>
              <a:rPr lang="en-US" sz="1100" b="1" dirty="0">
                <a:solidFill>
                  <a:srgbClr val="0F2942"/>
                </a:solidFill>
                <a:latin typeface="Courier New" pitchFamily="34" charset="0"/>
                <a:ea typeface="Courier New" pitchFamily="34" charset="-122"/>
                <a:cs typeface="Courier New" pitchFamily="34" charset="-120"/>
              </a:rPr>
              <a:t>main:  num1 = 1, num2 = 2</a:t>
            </a:r>
            <a:endParaRPr lang="en-US" sz="1100" dirty="0"/>
          </a:p>
        </p:txBody>
      </p:sp>
      <p:sp>
        <p:nvSpPr>
          <p:cNvPr id="21" name="Text 19"/>
          <p:cNvSpPr txBox="1"/>
          <p:nvPr/>
        </p:nvSpPr>
        <p:spPr>
          <a:xfrm>
            <a:off x="7534656" y="2079711"/>
            <a:ext cx="3907231" cy="292608"/>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the originals, before the call</a:t>
            </a:r>
            <a:endParaRPr lang="en-US" sz="1100" dirty="0"/>
          </a:p>
        </p:txBody>
      </p:sp>
      <p:sp>
        <p:nvSpPr>
          <p:cNvPr id="22" name="Shape 20"/>
          <p:cNvSpPr/>
          <p:nvPr/>
        </p:nvSpPr>
        <p:spPr>
          <a:xfrm>
            <a:off x="6876288" y="2505456"/>
            <a:ext cx="4748479" cy="585216"/>
          </a:xfrm>
          <a:prstGeom prst="roundRect">
            <a:avLst>
              <a:gd name="adj" fmla="val 14063"/>
            </a:avLst>
          </a:prstGeom>
          <a:solidFill>
            <a:srgbClr val="E6F2EC"/>
          </a:solidFill>
          <a:ln w="12700">
            <a:solidFill>
              <a:srgbClr val="176240"/>
            </a:solidFill>
            <a:prstDash val="solid"/>
          </a:ln>
        </p:spPr>
      </p:sp>
      <p:sp>
        <p:nvSpPr>
          <p:cNvPr id="23" name="Shape 21"/>
          <p:cNvSpPr/>
          <p:nvPr/>
        </p:nvSpPr>
        <p:spPr>
          <a:xfrm>
            <a:off x="7059168" y="2624328"/>
            <a:ext cx="347472" cy="347472"/>
          </a:xfrm>
          <a:prstGeom prst="ellipse">
            <a:avLst/>
          </a:prstGeom>
          <a:solidFill>
            <a:srgbClr val="176240"/>
          </a:solidFill>
          <a:ln w="12700">
            <a:solidFill>
              <a:srgbClr val="176240"/>
            </a:solidFill>
            <a:prstDash val="solid"/>
          </a:ln>
        </p:spPr>
      </p:sp>
      <p:sp>
        <p:nvSpPr>
          <p:cNvPr id="24" name="Text 22"/>
          <p:cNvSpPr txBox="1"/>
          <p:nvPr/>
        </p:nvSpPr>
        <p:spPr>
          <a:xfrm>
            <a:off x="7059168" y="2624328"/>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25" name="Text 23"/>
          <p:cNvSpPr txBox="1"/>
          <p:nvPr/>
        </p:nvSpPr>
        <p:spPr>
          <a:xfrm>
            <a:off x="7534656" y="2551176"/>
            <a:ext cx="3907231" cy="280904"/>
          </a:xfrm>
          <a:prstGeom prst="rect">
            <a:avLst/>
          </a:prstGeom>
          <a:noFill/>
          <a:ln/>
        </p:spPr>
        <p:txBody>
          <a:bodyPr wrap="square" lIns="0" tIns="0" rIns="0" bIns="0" rtlCol="0" anchor="ctr"/>
          <a:lstStyle/>
          <a:p>
            <a:pPr indent="0" marL="0">
              <a:buNone/>
            </a:pPr>
            <a:r>
              <a:rPr lang="en-US" sz="1100" b="1" dirty="0">
                <a:solidFill>
                  <a:srgbClr val="176240"/>
                </a:solidFill>
                <a:latin typeface="Courier New" pitchFamily="34" charset="0"/>
                <a:ea typeface="Courier New" pitchFamily="34" charset="-122"/>
                <a:cs typeface="Courier New" pitchFamily="34" charset="-120"/>
              </a:rPr>
              <a:t>swap:  n1 = 1, n2 = 2</a:t>
            </a:r>
            <a:endParaRPr lang="en-US" sz="1100" dirty="0"/>
          </a:p>
        </p:txBody>
      </p:sp>
      <p:sp>
        <p:nvSpPr>
          <p:cNvPr id="26" name="Text 24"/>
          <p:cNvSpPr txBox="1"/>
          <p:nvPr/>
        </p:nvSpPr>
        <p:spPr>
          <a:xfrm>
            <a:off x="7534656" y="2774655"/>
            <a:ext cx="3907231" cy="292608"/>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copies made on entry</a:t>
            </a:r>
            <a:endParaRPr lang="en-US" sz="1100" dirty="0"/>
          </a:p>
        </p:txBody>
      </p:sp>
      <p:sp>
        <p:nvSpPr>
          <p:cNvPr id="27" name="Shape 25"/>
          <p:cNvSpPr/>
          <p:nvPr/>
        </p:nvSpPr>
        <p:spPr>
          <a:xfrm>
            <a:off x="6876288" y="3200400"/>
            <a:ext cx="4748479" cy="585216"/>
          </a:xfrm>
          <a:prstGeom prst="roundRect">
            <a:avLst>
              <a:gd name="adj" fmla="val 14063"/>
            </a:avLst>
          </a:prstGeom>
          <a:solidFill>
            <a:srgbClr val="E6F2EC"/>
          </a:solidFill>
          <a:ln w="12700">
            <a:solidFill>
              <a:srgbClr val="176240"/>
            </a:solidFill>
            <a:prstDash val="solid"/>
          </a:ln>
        </p:spPr>
      </p:sp>
      <p:sp>
        <p:nvSpPr>
          <p:cNvPr id="28" name="Shape 26"/>
          <p:cNvSpPr/>
          <p:nvPr/>
        </p:nvSpPr>
        <p:spPr>
          <a:xfrm>
            <a:off x="7059168" y="3319272"/>
            <a:ext cx="347472" cy="347472"/>
          </a:xfrm>
          <a:prstGeom prst="ellipse">
            <a:avLst/>
          </a:prstGeom>
          <a:solidFill>
            <a:srgbClr val="176240"/>
          </a:solidFill>
          <a:ln w="12700">
            <a:solidFill>
              <a:srgbClr val="176240"/>
            </a:solidFill>
            <a:prstDash val="solid"/>
          </a:ln>
        </p:spPr>
      </p:sp>
      <p:sp>
        <p:nvSpPr>
          <p:cNvPr id="29" name="Text 27"/>
          <p:cNvSpPr txBox="1"/>
          <p:nvPr/>
        </p:nvSpPr>
        <p:spPr>
          <a:xfrm>
            <a:off x="7059168" y="3319272"/>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30" name="Text 28"/>
          <p:cNvSpPr txBox="1"/>
          <p:nvPr/>
        </p:nvSpPr>
        <p:spPr>
          <a:xfrm>
            <a:off x="7534656" y="3246120"/>
            <a:ext cx="3907231" cy="280904"/>
          </a:xfrm>
          <a:prstGeom prst="rect">
            <a:avLst/>
          </a:prstGeom>
          <a:noFill/>
          <a:ln/>
        </p:spPr>
        <p:txBody>
          <a:bodyPr wrap="square" lIns="0" tIns="0" rIns="0" bIns="0" rtlCol="0" anchor="ctr"/>
          <a:lstStyle/>
          <a:p>
            <a:pPr indent="0" marL="0">
              <a:buNone/>
            </a:pPr>
            <a:r>
              <a:rPr lang="en-US" sz="1100" b="1" dirty="0">
                <a:solidFill>
                  <a:srgbClr val="176240"/>
                </a:solidFill>
                <a:latin typeface="Courier New" pitchFamily="34" charset="0"/>
                <a:ea typeface="Courier New" pitchFamily="34" charset="-122"/>
                <a:cs typeface="Courier New" pitchFamily="34" charset="-120"/>
              </a:rPr>
              <a:t>swap:  n1 = 2, n2 = 1</a:t>
            </a:r>
            <a:endParaRPr lang="en-US" sz="1100" dirty="0"/>
          </a:p>
        </p:txBody>
      </p:sp>
      <p:sp>
        <p:nvSpPr>
          <p:cNvPr id="31" name="Text 29"/>
          <p:cNvSpPr txBox="1"/>
          <p:nvPr/>
        </p:nvSpPr>
        <p:spPr>
          <a:xfrm>
            <a:off x="7534656" y="3469599"/>
            <a:ext cx="3907231" cy="292608"/>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the copies are swapped</a:t>
            </a:r>
            <a:endParaRPr lang="en-US" sz="1100" dirty="0"/>
          </a:p>
        </p:txBody>
      </p:sp>
      <p:sp>
        <p:nvSpPr>
          <p:cNvPr id="32" name="Shape 30"/>
          <p:cNvSpPr/>
          <p:nvPr/>
        </p:nvSpPr>
        <p:spPr>
          <a:xfrm>
            <a:off x="6876288" y="3895344"/>
            <a:ext cx="4748479" cy="585216"/>
          </a:xfrm>
          <a:prstGeom prst="roundRect">
            <a:avLst>
              <a:gd name="adj" fmla="val 14063"/>
            </a:avLst>
          </a:prstGeom>
          <a:solidFill>
            <a:srgbClr val="FBEEE0"/>
          </a:solidFill>
          <a:ln w="12700">
            <a:solidFill>
              <a:srgbClr val="C4560C"/>
            </a:solidFill>
            <a:prstDash val="solid"/>
          </a:ln>
        </p:spPr>
      </p:sp>
      <p:sp>
        <p:nvSpPr>
          <p:cNvPr id="33" name="Shape 31"/>
          <p:cNvSpPr/>
          <p:nvPr/>
        </p:nvSpPr>
        <p:spPr>
          <a:xfrm>
            <a:off x="7059168" y="4014216"/>
            <a:ext cx="347472" cy="347472"/>
          </a:xfrm>
          <a:prstGeom prst="ellipse">
            <a:avLst/>
          </a:prstGeom>
          <a:solidFill>
            <a:srgbClr val="C4560C"/>
          </a:solidFill>
          <a:ln w="12700">
            <a:solidFill>
              <a:srgbClr val="C4560C"/>
            </a:solidFill>
            <a:prstDash val="solid"/>
          </a:ln>
        </p:spPr>
      </p:sp>
      <p:sp>
        <p:nvSpPr>
          <p:cNvPr id="34" name="Text 32"/>
          <p:cNvSpPr txBox="1"/>
          <p:nvPr/>
        </p:nvSpPr>
        <p:spPr>
          <a:xfrm>
            <a:off x="7059168" y="4014216"/>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35" name="Text 33"/>
          <p:cNvSpPr txBox="1"/>
          <p:nvPr/>
        </p:nvSpPr>
        <p:spPr>
          <a:xfrm>
            <a:off x="7534656" y="3941064"/>
            <a:ext cx="3907231" cy="280904"/>
          </a:xfrm>
          <a:prstGeom prst="rect">
            <a:avLst/>
          </a:prstGeom>
          <a:noFill/>
          <a:ln/>
        </p:spPr>
        <p:txBody>
          <a:bodyPr wrap="square" lIns="0" tIns="0" rIns="0" bIns="0" rtlCol="0" anchor="ctr"/>
          <a:lstStyle/>
          <a:p>
            <a:pPr indent="0" marL="0">
              <a:buNone/>
            </a:pPr>
            <a:r>
              <a:rPr lang="en-US" sz="1100" b="1" dirty="0">
                <a:solidFill>
                  <a:srgbClr val="0F2942"/>
                </a:solidFill>
                <a:latin typeface="Courier New" pitchFamily="34" charset="0"/>
                <a:ea typeface="Courier New" pitchFamily="34" charset="-122"/>
                <a:cs typeface="Courier New" pitchFamily="34" charset="-120"/>
              </a:rPr>
              <a:t>swap frame destroyed</a:t>
            </a:r>
            <a:endParaRPr lang="en-US" sz="1100" dirty="0"/>
          </a:p>
        </p:txBody>
      </p:sp>
      <p:sp>
        <p:nvSpPr>
          <p:cNvPr id="36" name="Text 34"/>
          <p:cNvSpPr txBox="1"/>
          <p:nvPr/>
        </p:nvSpPr>
        <p:spPr>
          <a:xfrm>
            <a:off x="7534656" y="4164543"/>
            <a:ext cx="3907231" cy="292608"/>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the swapped copies are discarded</a:t>
            </a:r>
            <a:endParaRPr lang="en-US" sz="1100" dirty="0"/>
          </a:p>
        </p:txBody>
      </p:sp>
      <p:sp>
        <p:nvSpPr>
          <p:cNvPr id="37" name="Shape 35"/>
          <p:cNvSpPr/>
          <p:nvPr/>
        </p:nvSpPr>
        <p:spPr>
          <a:xfrm>
            <a:off x="6876288" y="4590288"/>
            <a:ext cx="4748479" cy="585216"/>
          </a:xfrm>
          <a:prstGeom prst="roundRect">
            <a:avLst>
              <a:gd name="adj" fmla="val 14063"/>
            </a:avLst>
          </a:prstGeom>
          <a:solidFill>
            <a:srgbClr val="FFFFFF"/>
          </a:solidFill>
          <a:ln w="12700">
            <a:solidFill>
              <a:srgbClr val="D3DEE7"/>
            </a:solidFill>
            <a:prstDash val="solid"/>
          </a:ln>
        </p:spPr>
      </p:sp>
      <p:sp>
        <p:nvSpPr>
          <p:cNvPr id="38" name="Shape 36"/>
          <p:cNvSpPr/>
          <p:nvPr/>
        </p:nvSpPr>
        <p:spPr>
          <a:xfrm>
            <a:off x="7059168" y="4709160"/>
            <a:ext cx="347472" cy="347472"/>
          </a:xfrm>
          <a:prstGeom prst="ellipse">
            <a:avLst/>
          </a:prstGeom>
          <a:solidFill>
            <a:srgbClr val="1D4468"/>
          </a:solidFill>
          <a:ln w="12700">
            <a:solidFill>
              <a:srgbClr val="1D4468"/>
            </a:solidFill>
            <a:prstDash val="solid"/>
          </a:ln>
        </p:spPr>
      </p:sp>
      <p:sp>
        <p:nvSpPr>
          <p:cNvPr id="39" name="Text 37"/>
          <p:cNvSpPr txBox="1"/>
          <p:nvPr/>
        </p:nvSpPr>
        <p:spPr>
          <a:xfrm>
            <a:off x="7059168" y="4709160"/>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40" name="Text 38"/>
          <p:cNvSpPr txBox="1"/>
          <p:nvPr/>
        </p:nvSpPr>
        <p:spPr>
          <a:xfrm>
            <a:off x="7534656" y="4636008"/>
            <a:ext cx="3907231" cy="280904"/>
          </a:xfrm>
          <a:prstGeom prst="rect">
            <a:avLst/>
          </a:prstGeom>
          <a:noFill/>
          <a:ln/>
        </p:spPr>
        <p:txBody>
          <a:bodyPr wrap="square" lIns="0" tIns="0" rIns="0" bIns="0" rtlCol="0" anchor="ctr"/>
          <a:lstStyle/>
          <a:p>
            <a:pPr indent="0" marL="0">
              <a:buNone/>
            </a:pPr>
            <a:r>
              <a:rPr lang="en-US" sz="1100" b="1" dirty="0">
                <a:solidFill>
                  <a:srgbClr val="0F2942"/>
                </a:solidFill>
                <a:latin typeface="Courier New" pitchFamily="34" charset="0"/>
                <a:ea typeface="Courier New" pitchFamily="34" charset="-122"/>
                <a:cs typeface="Courier New" pitchFamily="34" charset="-120"/>
              </a:rPr>
              <a:t>main:  num1 = 1, num2 = 2</a:t>
            </a:r>
            <a:endParaRPr lang="en-US" sz="1100" dirty="0"/>
          </a:p>
        </p:txBody>
      </p:sp>
      <p:sp>
        <p:nvSpPr>
          <p:cNvPr id="41" name="Text 39"/>
          <p:cNvSpPr txBox="1"/>
          <p:nvPr/>
        </p:nvSpPr>
        <p:spPr>
          <a:xfrm>
            <a:off x="7534656" y="4859487"/>
            <a:ext cx="3907231" cy="292608"/>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unchanged, exactly as before</a:t>
            </a:r>
            <a:endParaRPr lang="en-US" sz="1100" dirty="0"/>
          </a:p>
        </p:txBody>
      </p:sp>
      <p:sp>
        <p:nvSpPr>
          <p:cNvPr id="42" name="Shape 40"/>
          <p:cNvSpPr/>
          <p:nvPr/>
        </p:nvSpPr>
        <p:spPr>
          <a:xfrm>
            <a:off x="6876288" y="5303520"/>
            <a:ext cx="4748479" cy="960120"/>
          </a:xfrm>
          <a:prstGeom prst="roundRect">
            <a:avLst>
              <a:gd name="adj" fmla="val 8571"/>
            </a:avLst>
          </a:prstGeom>
          <a:solidFill>
            <a:srgbClr val="E4ECF4"/>
          </a:solidFill>
          <a:ln w="12700">
            <a:solidFill>
              <a:srgbClr val="E4ECF4"/>
            </a:solidFill>
            <a:prstDash val="solid"/>
          </a:ln>
        </p:spPr>
      </p:sp>
      <p:sp>
        <p:nvSpPr>
          <p:cNvPr id="43" name="Text 41"/>
          <p:cNvSpPr txBox="1"/>
          <p:nvPr/>
        </p:nvSpPr>
        <p:spPr>
          <a:xfrm>
            <a:off x="7150608" y="5303520"/>
            <a:ext cx="4199839" cy="960120"/>
          </a:xfrm>
          <a:prstGeom prst="rect">
            <a:avLst/>
          </a:prstGeom>
          <a:noFill/>
          <a:ln/>
        </p:spPr>
        <p:txBody>
          <a:bodyPr wrap="square" lIns="0" tIns="0" rIns="0" bIns="0" rtlCol="0" anchor="ctr"/>
          <a:lstStyle/>
          <a:p>
            <a:pPr indent="0" marL="0">
              <a:lnSpc>
                <a:spcPct val="112000"/>
              </a:lnSpc>
              <a:buNone/>
            </a:pPr>
            <a:r>
              <a:rPr lang="en-US" sz="1250" b="1" dirty="0">
                <a:solidFill>
                  <a:srgbClr val="0F2942"/>
                </a:solidFill>
                <a:latin typeface="Calibri" pitchFamily="34" charset="0"/>
                <a:ea typeface="Calibri" pitchFamily="34" charset="-122"/>
                <a:cs typeface="Calibri" pitchFamily="34" charset="-120"/>
              </a:rPr>
              <a:t>To get a value out, return it.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A method cannot change the caller's variables. Arrays and objects look like an exception — we settle that on Tuesday.</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REUSE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Calling a Method That Lives in Another Class</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A public static method can be called from anywhere by qualifying it with its class name.</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15</a:t>
            </a:r>
            <a:endParaRPr lang="en-US" sz="900" dirty="0"/>
          </a:p>
        </p:txBody>
      </p:sp>
      <p:sp>
        <p:nvSpPr>
          <p:cNvPr id="7" name="Shape 5"/>
          <p:cNvSpPr/>
          <p:nvPr/>
        </p:nvSpPr>
        <p:spPr>
          <a:xfrm>
            <a:off x="566928" y="1536192"/>
            <a:ext cx="5323180" cy="2821107"/>
          </a:xfrm>
          <a:prstGeom prst="roundRect">
            <a:avLst>
              <a:gd name="adj" fmla="val 2269"/>
            </a:avLst>
          </a:prstGeom>
          <a:solidFill>
            <a:srgbClr val="EDF2F7"/>
          </a:solidFill>
          <a:ln w="12700">
            <a:solidFill>
              <a:srgbClr val="CFDBE5"/>
            </a:solidFill>
            <a:prstDash val="solid"/>
          </a:ln>
        </p:spPr>
      </p:sp>
      <p:sp>
        <p:nvSpPr>
          <p:cNvPr id="8" name="Text 6"/>
          <p:cNvSpPr txBox="1"/>
          <p:nvPr/>
        </p:nvSpPr>
        <p:spPr>
          <a:xfrm>
            <a:off x="71323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MyMath.java</a:t>
            </a:r>
            <a:endParaRPr lang="en-US" sz="950" dirty="0"/>
          </a:p>
        </p:txBody>
      </p:sp>
      <p:sp>
        <p:nvSpPr>
          <p:cNvPr id="9" name="Text 7"/>
          <p:cNvSpPr txBox="1"/>
          <p:nvPr/>
        </p:nvSpPr>
        <p:spPr>
          <a:xfrm>
            <a:off x="731520" y="1810512"/>
            <a:ext cx="4993996" cy="2491923"/>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class</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MyMath</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Returns</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the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larger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of</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two</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ints</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param</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the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first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value</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param</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the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second</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value</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the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larger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of</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and</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n2</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max</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0" name="Shape 8"/>
          <p:cNvSpPr/>
          <p:nvPr/>
        </p:nvSpPr>
        <p:spPr>
          <a:xfrm>
            <a:off x="6301588" y="1536192"/>
            <a:ext cx="5323180" cy="1813072"/>
          </a:xfrm>
          <a:prstGeom prst="roundRect">
            <a:avLst>
              <a:gd name="adj" fmla="val 3530"/>
            </a:avLst>
          </a:prstGeom>
          <a:solidFill>
            <a:srgbClr val="EDF2F7"/>
          </a:solidFill>
          <a:ln w="12700">
            <a:solidFill>
              <a:srgbClr val="CFDBE5"/>
            </a:solidFill>
            <a:prstDash val="solid"/>
          </a:ln>
        </p:spPr>
      </p:sp>
      <p:sp>
        <p:nvSpPr>
          <p:cNvPr id="11" name="Text 9"/>
          <p:cNvSpPr txBox="1"/>
          <p:nvPr/>
        </p:nvSpPr>
        <p:spPr>
          <a:xfrm>
            <a:off x="644789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Report.java — A DIFFERENT FILE</a:t>
            </a:r>
            <a:endParaRPr lang="en-US" sz="950" dirty="0"/>
          </a:p>
        </p:txBody>
      </p:sp>
      <p:sp>
        <p:nvSpPr>
          <p:cNvPr id="12" name="Text 10"/>
          <p:cNvSpPr txBox="1"/>
          <p:nvPr/>
        </p:nvSpPr>
        <p:spPr>
          <a:xfrm>
            <a:off x="6466180" y="1810512"/>
            <a:ext cx="4993996" cy="1483888"/>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class</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Report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void</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main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String</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args</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best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MyMath</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max</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37</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42</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best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42</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13" name="Shape 11"/>
          <p:cNvSpPr/>
          <p:nvPr/>
        </p:nvSpPr>
        <p:spPr>
          <a:xfrm>
            <a:off x="6301588" y="3605296"/>
            <a:ext cx="5323180" cy="1371600"/>
          </a:xfrm>
          <a:prstGeom prst="roundRect">
            <a:avLst>
              <a:gd name="adj" fmla="val 6000"/>
            </a:avLst>
          </a:prstGeom>
          <a:solidFill>
            <a:srgbClr val="E6F2EC"/>
          </a:solidFill>
          <a:ln w="12700">
            <a:solidFill>
              <a:srgbClr val="E6F2EC"/>
            </a:solidFill>
            <a:prstDash val="solid"/>
          </a:ln>
        </p:spPr>
      </p:sp>
      <p:sp>
        <p:nvSpPr>
          <p:cNvPr id="14" name="Text 12"/>
          <p:cNvSpPr txBox="1"/>
          <p:nvPr/>
        </p:nvSpPr>
        <p:spPr>
          <a:xfrm>
            <a:off x="6557620" y="3733312"/>
            <a:ext cx="4811116" cy="274320"/>
          </a:xfrm>
          <a:prstGeom prst="rect">
            <a:avLst/>
          </a:prstGeom>
          <a:noFill/>
          <a:ln/>
        </p:spPr>
        <p:txBody>
          <a:bodyPr wrap="square" lIns="0" tIns="0" rIns="0" bIns="0" rtlCol="0" anchor="ctr"/>
          <a:lstStyle/>
          <a:p>
            <a:pPr indent="0" marL="0">
              <a:buNone/>
            </a:pPr>
            <a:r>
              <a:rPr lang="en-US" sz="1300" b="1" dirty="0">
                <a:solidFill>
                  <a:srgbClr val="176240"/>
                </a:solidFill>
                <a:latin typeface="Courier New" pitchFamily="34" charset="0"/>
                <a:ea typeface="Courier New" pitchFamily="34" charset="-122"/>
                <a:cs typeface="Courier New" pitchFamily="34" charset="-120"/>
              </a:rPr>
              <a:t>ClassName.methodName</a:t>
            </a:r>
            <a:endParaRPr lang="en-US" sz="1300" dirty="0"/>
          </a:p>
        </p:txBody>
      </p:sp>
      <p:sp>
        <p:nvSpPr>
          <p:cNvPr id="15" name="Text 13"/>
          <p:cNvSpPr txBox="1"/>
          <p:nvPr/>
        </p:nvSpPr>
        <p:spPr>
          <a:xfrm>
            <a:off x="6557620" y="4044208"/>
            <a:ext cx="4811116" cy="91440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You have been doing this since week one — Math.pow, Math.random, System.out.println. Your own classes work exactly the same way. Inside the same class you can drop the prefix.</a:t>
            </a:r>
            <a:endParaRPr lang="en-US" sz="1200" dirty="0"/>
          </a:p>
        </p:txBody>
      </p:sp>
      <p:sp>
        <p:nvSpPr>
          <p:cNvPr id="16" name="Shape 14"/>
          <p:cNvSpPr/>
          <p:nvPr/>
        </p:nvSpPr>
        <p:spPr>
          <a:xfrm>
            <a:off x="566928" y="4631619"/>
            <a:ext cx="5323180" cy="1600200"/>
          </a:xfrm>
          <a:prstGeom prst="roundRect">
            <a:avLst>
              <a:gd name="adj" fmla="val 5143"/>
            </a:avLst>
          </a:prstGeom>
          <a:solidFill>
            <a:srgbClr val="FBEEE0"/>
          </a:solidFill>
          <a:ln w="12700">
            <a:solidFill>
              <a:srgbClr val="FBEEE0"/>
            </a:solidFill>
            <a:prstDash val="solid"/>
          </a:ln>
        </p:spPr>
      </p:sp>
      <p:sp>
        <p:nvSpPr>
          <p:cNvPr id="17" name="Text 15"/>
          <p:cNvSpPr txBox="1"/>
          <p:nvPr/>
        </p:nvSpPr>
        <p:spPr>
          <a:xfrm>
            <a:off x="786384" y="4796211"/>
            <a:ext cx="4884268" cy="310896"/>
          </a:xfrm>
          <a:prstGeom prst="rect">
            <a:avLst/>
          </a:prstGeom>
          <a:noFill/>
          <a:ln/>
        </p:spPr>
        <p:txBody>
          <a:bodyPr wrap="square" lIns="0" tIns="0" rIns="0" bIns="0" rtlCol="0" anchor="t"/>
          <a:lstStyle/>
          <a:p>
            <a:pPr indent="0" marL="0">
              <a:buNone/>
            </a:pPr>
            <a:r>
              <a:rPr lang="en-US" sz="1450" b="1" dirty="0">
                <a:solidFill>
                  <a:srgbClr val="9A430A"/>
                </a:solidFill>
                <a:latin typeface="Calibri" pitchFamily="34" charset="0"/>
                <a:ea typeface="Calibri" pitchFamily="34" charset="-122"/>
                <a:cs typeface="Calibri" pitchFamily="34" charset="-120"/>
              </a:rPr>
              <a:t>Write the /** */ comment first</a:t>
            </a:r>
            <a:endParaRPr lang="en-US" sz="1450" dirty="0"/>
          </a:p>
        </p:txBody>
      </p:sp>
      <p:sp>
        <p:nvSpPr>
          <p:cNvPr id="18" name="Text 16"/>
          <p:cNvSpPr txBox="1"/>
          <p:nvPr/>
        </p:nvSpPr>
        <p:spPr>
          <a:xfrm>
            <a:off x="786384" y="5125395"/>
            <a:ext cx="4884268" cy="97840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A javadoc comment sits above the method and says what it returns, what each parameter means, and nothing about how it works. If you cannot write that sentence, the method is doing too much. Your IDE shows it on hover; javadoc turns it into HTML.</a:t>
            </a:r>
            <a:endParaRPr lang="en-US" sz="1200" dirty="0"/>
          </a:p>
        </p:txBody>
      </p:sp>
      <p:sp>
        <p:nvSpPr>
          <p:cNvPr id="19" name="Shape 17"/>
          <p:cNvSpPr/>
          <p:nvPr/>
        </p:nvSpPr>
        <p:spPr>
          <a:xfrm>
            <a:off x="6301588" y="5132344"/>
            <a:ext cx="5323180" cy="1188720"/>
          </a:xfrm>
          <a:prstGeom prst="roundRect">
            <a:avLst>
              <a:gd name="adj" fmla="val 6923"/>
            </a:avLst>
          </a:prstGeom>
          <a:solidFill>
            <a:srgbClr val="E4ECF4"/>
          </a:solidFill>
          <a:ln w="12700">
            <a:solidFill>
              <a:srgbClr val="E4ECF4"/>
            </a:solidFill>
            <a:prstDash val="solid"/>
          </a:ln>
        </p:spPr>
      </p:sp>
      <p:sp>
        <p:nvSpPr>
          <p:cNvPr id="20" name="Text 18"/>
          <p:cNvSpPr txBox="1"/>
          <p:nvPr/>
        </p:nvSpPr>
        <p:spPr>
          <a:xfrm>
            <a:off x="6575908" y="5132344"/>
            <a:ext cx="4774540" cy="1188720"/>
          </a:xfrm>
          <a:prstGeom prst="rect">
            <a:avLst/>
          </a:prstGeom>
          <a:noFill/>
          <a:ln/>
        </p:spPr>
        <p:txBody>
          <a:bodyPr wrap="square" lIns="0" tIns="0" rIns="0" bIns="0" rtlCol="0" anchor="ctr"/>
          <a:lstStyle/>
          <a:p>
            <a:pPr indent="0" marL="0">
              <a:lnSpc>
                <a:spcPct val="112000"/>
              </a:lnSpc>
              <a:buNone/>
            </a:pPr>
            <a:r>
              <a:rPr lang="en-US" sz="1250" b="1" dirty="0">
                <a:solidFill>
                  <a:srgbClr val="0F2942"/>
                </a:solidFill>
                <a:latin typeface="Calibri" pitchFamily="34" charset="0"/>
                <a:ea typeface="Calibri" pitchFamily="34" charset="-122"/>
                <a:cs typeface="Calibri" pitchFamily="34" charset="-120"/>
              </a:rPr>
              <a:t>Both files must be compiled.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Put them in the same folder and javac Report.java will compile MyMath.java too.</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JUDGEMENT</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When Should a Block of Code Become a Method?</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Four signals. Any one of them is enough.</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16</a:t>
            </a:r>
            <a:endParaRPr lang="en-US" sz="900" dirty="0"/>
          </a:p>
        </p:txBody>
      </p:sp>
      <p:sp>
        <p:nvSpPr>
          <p:cNvPr id="7" name="Shape 5"/>
          <p:cNvSpPr/>
          <p:nvPr/>
        </p:nvSpPr>
        <p:spPr>
          <a:xfrm>
            <a:off x="566928" y="1536192"/>
            <a:ext cx="5391760" cy="1280160"/>
          </a:xfrm>
          <a:prstGeom prst="roundRect">
            <a:avLst>
              <a:gd name="adj" fmla="val 6429"/>
            </a:avLst>
          </a:prstGeom>
          <a:solidFill>
            <a:srgbClr val="F1F5F9"/>
          </a:solidFill>
          <a:ln w="12700">
            <a:solidFill>
              <a:srgbClr val="F1F5F9"/>
            </a:solidFill>
            <a:prstDash val="solid"/>
          </a:ln>
        </p:spPr>
      </p:sp>
      <p:sp>
        <p:nvSpPr>
          <p:cNvPr id="8" name="Shape 6"/>
          <p:cNvSpPr/>
          <p:nvPr/>
        </p:nvSpPr>
        <p:spPr>
          <a:xfrm>
            <a:off x="804672" y="1773936"/>
            <a:ext cx="402336" cy="402336"/>
          </a:xfrm>
          <a:prstGeom prst="ellipse">
            <a:avLst/>
          </a:prstGeom>
          <a:solidFill>
            <a:srgbClr val="C4560C"/>
          </a:solidFill>
          <a:ln w="12700">
            <a:solidFill>
              <a:srgbClr val="C4560C"/>
            </a:solidFill>
            <a:prstDash val="solid"/>
          </a:ln>
        </p:spPr>
      </p:sp>
      <p:sp>
        <p:nvSpPr>
          <p:cNvPr id="9" name="Text 7"/>
          <p:cNvSpPr txBox="1"/>
          <p:nvPr/>
        </p:nvSpPr>
        <p:spPr>
          <a:xfrm>
            <a:off x="804672" y="177393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1371600" y="1682496"/>
            <a:ext cx="4340200" cy="329184"/>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You are about to copy and paste it</a:t>
            </a:r>
            <a:endParaRPr lang="en-US" sz="1400" dirty="0"/>
          </a:p>
        </p:txBody>
      </p:sp>
      <p:sp>
        <p:nvSpPr>
          <p:cNvPr id="11" name="Text 9"/>
          <p:cNvSpPr txBox="1"/>
          <p:nvPr/>
        </p:nvSpPr>
        <p:spPr>
          <a:xfrm>
            <a:off x="1371600" y="2029968"/>
            <a:ext cx="4340200" cy="713232"/>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The clearest signal there is. The second copy is the moment to extract — not the fourth.</a:t>
            </a:r>
            <a:endParaRPr lang="en-US" sz="1200" dirty="0"/>
          </a:p>
        </p:txBody>
      </p:sp>
      <p:sp>
        <p:nvSpPr>
          <p:cNvPr id="12" name="Shape 10"/>
          <p:cNvSpPr/>
          <p:nvPr/>
        </p:nvSpPr>
        <p:spPr>
          <a:xfrm>
            <a:off x="6233008" y="1536192"/>
            <a:ext cx="5391760" cy="1280160"/>
          </a:xfrm>
          <a:prstGeom prst="roundRect">
            <a:avLst>
              <a:gd name="adj" fmla="val 6429"/>
            </a:avLst>
          </a:prstGeom>
          <a:solidFill>
            <a:srgbClr val="FFFFFF"/>
          </a:solidFill>
          <a:ln w="12700">
            <a:solidFill>
              <a:srgbClr val="D3DEE7"/>
            </a:solidFill>
            <a:prstDash val="solid"/>
          </a:ln>
        </p:spPr>
      </p:sp>
      <p:sp>
        <p:nvSpPr>
          <p:cNvPr id="13" name="Shape 11"/>
          <p:cNvSpPr/>
          <p:nvPr/>
        </p:nvSpPr>
        <p:spPr>
          <a:xfrm>
            <a:off x="6470752" y="1773936"/>
            <a:ext cx="402336" cy="402336"/>
          </a:xfrm>
          <a:prstGeom prst="ellipse">
            <a:avLst/>
          </a:prstGeom>
          <a:solidFill>
            <a:srgbClr val="C4560C"/>
          </a:solidFill>
          <a:ln w="12700">
            <a:solidFill>
              <a:srgbClr val="C4560C"/>
            </a:solidFill>
            <a:prstDash val="solid"/>
          </a:ln>
        </p:spPr>
      </p:sp>
      <p:sp>
        <p:nvSpPr>
          <p:cNvPr id="14" name="Text 12"/>
          <p:cNvSpPr txBox="1"/>
          <p:nvPr/>
        </p:nvSpPr>
        <p:spPr>
          <a:xfrm>
            <a:off x="6470752" y="177393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7037680" y="1682496"/>
            <a:ext cx="4340200" cy="329184"/>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You want to write a comment above it</a:t>
            </a:r>
            <a:endParaRPr lang="en-US" sz="1400" dirty="0"/>
          </a:p>
        </p:txBody>
      </p:sp>
      <p:sp>
        <p:nvSpPr>
          <p:cNvPr id="16" name="Text 14"/>
          <p:cNvSpPr txBox="1"/>
          <p:nvPr/>
        </p:nvSpPr>
        <p:spPr>
          <a:xfrm>
            <a:off x="7037680" y="2029968"/>
            <a:ext cx="4340200" cy="713232"/>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A comment saying 'now compute the tax' is a method name waiting to happen: computeTax. The name replaces the comment.</a:t>
            </a:r>
            <a:endParaRPr lang="en-US" sz="1200" dirty="0"/>
          </a:p>
        </p:txBody>
      </p:sp>
      <p:sp>
        <p:nvSpPr>
          <p:cNvPr id="17" name="Shape 15"/>
          <p:cNvSpPr/>
          <p:nvPr/>
        </p:nvSpPr>
        <p:spPr>
          <a:xfrm>
            <a:off x="566928" y="2953512"/>
            <a:ext cx="5391760" cy="1280160"/>
          </a:xfrm>
          <a:prstGeom prst="roundRect">
            <a:avLst>
              <a:gd name="adj" fmla="val 6429"/>
            </a:avLst>
          </a:prstGeom>
          <a:solidFill>
            <a:srgbClr val="F1F5F9"/>
          </a:solidFill>
          <a:ln w="12700">
            <a:solidFill>
              <a:srgbClr val="F1F5F9"/>
            </a:solidFill>
            <a:prstDash val="solid"/>
          </a:ln>
        </p:spPr>
      </p:sp>
      <p:sp>
        <p:nvSpPr>
          <p:cNvPr id="18" name="Shape 16"/>
          <p:cNvSpPr/>
          <p:nvPr/>
        </p:nvSpPr>
        <p:spPr>
          <a:xfrm>
            <a:off x="804672" y="3191256"/>
            <a:ext cx="402336" cy="402336"/>
          </a:xfrm>
          <a:prstGeom prst="ellipse">
            <a:avLst/>
          </a:prstGeom>
          <a:solidFill>
            <a:srgbClr val="C4560C"/>
          </a:solidFill>
          <a:ln w="12700">
            <a:solidFill>
              <a:srgbClr val="C4560C"/>
            </a:solidFill>
            <a:prstDash val="solid"/>
          </a:ln>
        </p:spPr>
      </p:sp>
      <p:sp>
        <p:nvSpPr>
          <p:cNvPr id="19" name="Text 17"/>
          <p:cNvSpPr txBox="1"/>
          <p:nvPr/>
        </p:nvSpPr>
        <p:spPr>
          <a:xfrm>
            <a:off x="804672" y="31912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1371600" y="3099816"/>
            <a:ext cx="4340200" cy="329184"/>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It is hard to see where main ends</a:t>
            </a:r>
            <a:endParaRPr lang="en-US" sz="1400" dirty="0"/>
          </a:p>
        </p:txBody>
      </p:sp>
      <p:sp>
        <p:nvSpPr>
          <p:cNvPr id="21" name="Text 19"/>
          <p:cNvSpPr txBox="1"/>
          <p:nvPr/>
        </p:nvSpPr>
        <p:spPr>
          <a:xfrm>
            <a:off x="1371600" y="3447288"/>
            <a:ext cx="4340200" cy="713232"/>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If a method does not fit on one screen you cannot hold it in your head. Break out the middle.</a:t>
            </a:r>
            <a:endParaRPr lang="en-US" sz="1200" dirty="0"/>
          </a:p>
        </p:txBody>
      </p:sp>
      <p:sp>
        <p:nvSpPr>
          <p:cNvPr id="22" name="Shape 20"/>
          <p:cNvSpPr/>
          <p:nvPr/>
        </p:nvSpPr>
        <p:spPr>
          <a:xfrm>
            <a:off x="6233008" y="2953512"/>
            <a:ext cx="5391760" cy="1280160"/>
          </a:xfrm>
          <a:prstGeom prst="roundRect">
            <a:avLst>
              <a:gd name="adj" fmla="val 6429"/>
            </a:avLst>
          </a:prstGeom>
          <a:solidFill>
            <a:srgbClr val="FFFFFF"/>
          </a:solidFill>
          <a:ln w="12700">
            <a:solidFill>
              <a:srgbClr val="D3DEE7"/>
            </a:solidFill>
            <a:prstDash val="solid"/>
          </a:ln>
        </p:spPr>
      </p:sp>
      <p:sp>
        <p:nvSpPr>
          <p:cNvPr id="23" name="Shape 21"/>
          <p:cNvSpPr/>
          <p:nvPr/>
        </p:nvSpPr>
        <p:spPr>
          <a:xfrm>
            <a:off x="6470752" y="3191256"/>
            <a:ext cx="402336" cy="402336"/>
          </a:xfrm>
          <a:prstGeom prst="ellipse">
            <a:avLst/>
          </a:prstGeom>
          <a:solidFill>
            <a:srgbClr val="C4560C"/>
          </a:solidFill>
          <a:ln w="12700">
            <a:solidFill>
              <a:srgbClr val="C4560C"/>
            </a:solidFill>
            <a:prstDash val="solid"/>
          </a:ln>
        </p:spPr>
      </p:sp>
      <p:sp>
        <p:nvSpPr>
          <p:cNvPr id="24" name="Text 22"/>
          <p:cNvSpPr txBox="1"/>
          <p:nvPr/>
        </p:nvSpPr>
        <p:spPr>
          <a:xfrm>
            <a:off x="6470752" y="31912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txBox="1"/>
          <p:nvPr/>
        </p:nvSpPr>
        <p:spPr>
          <a:xfrm>
            <a:off x="7037680" y="3099816"/>
            <a:ext cx="4340200" cy="329184"/>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You want to test just that part</a:t>
            </a:r>
            <a:endParaRPr lang="en-US" sz="1400" dirty="0"/>
          </a:p>
        </p:txBody>
      </p:sp>
      <p:sp>
        <p:nvSpPr>
          <p:cNvPr id="26" name="Text 24"/>
          <p:cNvSpPr txBox="1"/>
          <p:nvPr/>
        </p:nvSpPr>
        <p:spPr>
          <a:xfrm>
            <a:off x="7037680" y="3447288"/>
            <a:ext cx="4340200" cy="713232"/>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A method can be called from a small test program on its own. A block buried inside main cannot.</a:t>
            </a:r>
            <a:endParaRPr lang="en-US" sz="1200" dirty="0"/>
          </a:p>
        </p:txBody>
      </p:sp>
      <p:sp>
        <p:nvSpPr>
          <p:cNvPr id="27" name="Shape 25"/>
          <p:cNvSpPr/>
          <p:nvPr/>
        </p:nvSpPr>
        <p:spPr>
          <a:xfrm>
            <a:off x="566928" y="4507992"/>
            <a:ext cx="11057839" cy="1417320"/>
          </a:xfrm>
          <a:prstGeom prst="roundRect">
            <a:avLst>
              <a:gd name="adj" fmla="val 5806"/>
            </a:avLst>
          </a:prstGeom>
          <a:solidFill>
            <a:srgbClr val="E4ECF4"/>
          </a:solidFill>
          <a:ln w="12700">
            <a:solidFill>
              <a:srgbClr val="E4ECF4"/>
            </a:solidFill>
            <a:prstDash val="solid"/>
          </a:ln>
        </p:spPr>
      </p:sp>
      <p:sp>
        <p:nvSpPr>
          <p:cNvPr id="28" name="Text 26"/>
          <p:cNvSpPr txBox="1"/>
          <p:nvPr/>
        </p:nvSpPr>
        <p:spPr>
          <a:xfrm>
            <a:off x="859536" y="4645152"/>
            <a:ext cx="10472623" cy="274320"/>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And the counter-signal</a:t>
            </a:r>
            <a:endParaRPr lang="en-US" sz="1400" dirty="0"/>
          </a:p>
        </p:txBody>
      </p:sp>
      <p:sp>
        <p:nvSpPr>
          <p:cNvPr id="29" name="Text 27"/>
          <p:cNvSpPr txBox="1"/>
          <p:nvPr/>
        </p:nvSpPr>
        <p:spPr>
          <a:xfrm>
            <a:off x="859536" y="4956048"/>
            <a:ext cx="10472623" cy="868680"/>
          </a:xfrm>
          <a:prstGeom prst="rect">
            <a:avLst/>
          </a:prstGeom>
          <a:noFill/>
          <a:ln/>
        </p:spPr>
        <p:txBody>
          <a:bodyPr wrap="square" lIns="0" tIns="0" rIns="0" bIns="0" rtlCol="0" anchor="t"/>
          <a:lstStyle/>
          <a:p>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A method should do one thing that you can name. If the best name you can find is processData or doStuff, or if the name needs the word "and" in it, you are extracting the wrong block. Split it differently and try again.</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1E5"/>
        </a:solidFill>
      </p:bgPr>
    </p:bg>
    <p:spTree>
      <p:nvGrpSpPr>
        <p:cNvPr id="1" name=""/>
        <p:cNvGrpSpPr/>
        <p:nvPr/>
      </p:nvGrpSpPr>
      <p:grpSpPr>
        <a:xfrm>
          <a:off x="0" y="0"/>
          <a:ext cx="0" cy="0"/>
          <a:chOff x="0" y="0"/>
          <a:chExt cx="0" cy="0"/>
        </a:xfrm>
      </p:grpSpPr>
      <p:sp>
        <p:nvSpPr>
          <p:cNvPr id="2" name="Text 0"/>
          <p:cNvSpPr txBox="1"/>
          <p:nvPr/>
        </p:nvSpPr>
        <p:spPr>
          <a:xfrm>
            <a:off x="566928" y="566928"/>
            <a:ext cx="5486400" cy="274320"/>
          </a:xfrm>
          <a:prstGeom prst="rect">
            <a:avLst/>
          </a:prstGeom>
          <a:noFill/>
          <a:ln/>
        </p:spPr>
        <p:txBody>
          <a:bodyPr wrap="square" lIns="0" tIns="0" rIns="0" bIns="0" rtlCol="0" anchor="ctr"/>
          <a:lstStyle/>
          <a:p>
            <a:pPr indent="0" marL="0">
              <a:buNone/>
            </a:pPr>
            <a:r>
              <a:rPr lang="en-US" sz="1200" b="1" spc="200" kern="0" dirty="0">
                <a:solidFill>
                  <a:srgbClr val="9A430A"/>
                </a:solidFill>
                <a:latin typeface="Calibri" pitchFamily="34" charset="0"/>
                <a:ea typeface="Calibri" pitchFamily="34" charset="-122"/>
                <a:cs typeface="Calibri" pitchFamily="34" charset="-120"/>
              </a:rPr>
              <a:t>CHECKPOINT 2</a:t>
            </a:r>
            <a:endParaRPr lang="en-US" sz="1200" dirty="0"/>
          </a:p>
        </p:txBody>
      </p:sp>
      <p:sp>
        <p:nvSpPr>
          <p:cNvPr id="3" name="Text 1"/>
          <p:cNvSpPr txBox="1"/>
          <p:nvPr/>
        </p:nvSpPr>
        <p:spPr>
          <a:xfrm>
            <a:off x="566928" y="841248"/>
            <a:ext cx="7315200" cy="566928"/>
          </a:xfrm>
          <a:prstGeom prst="rect">
            <a:avLst/>
          </a:prstGeom>
          <a:noFill/>
          <a:ln/>
        </p:spPr>
        <p:txBody>
          <a:bodyPr wrap="square" lIns="0" tIns="0" rIns="0" bIns="0" rtlCol="0" anchor="ctr"/>
          <a:lstStyle/>
          <a:p>
            <a:pPr indent="0" marL="0">
              <a:buNone/>
            </a:pPr>
            <a:r>
              <a:rPr lang="en-US" sz="3400" b="1" dirty="0">
                <a:solidFill>
                  <a:srgbClr val="0F2942"/>
                </a:solidFill>
                <a:latin typeface="Cambria" pitchFamily="34" charset="0"/>
                <a:ea typeface="Cambria" pitchFamily="34" charset="-122"/>
                <a:cs typeface="Cambria" pitchFamily="34" charset="-120"/>
              </a:rPr>
              <a:t>Over to You</a:t>
            </a:r>
            <a:endParaRPr lang="en-US" sz="3400" dirty="0"/>
          </a:p>
        </p:txBody>
      </p:sp>
      <p:sp>
        <p:nvSpPr>
          <p:cNvPr id="4" name="Text 2"/>
          <p:cNvSpPr txBox="1"/>
          <p:nvPr/>
        </p:nvSpPr>
        <p:spPr>
          <a:xfrm>
            <a:off x="6687007" y="960120"/>
            <a:ext cx="4937760" cy="365760"/>
          </a:xfrm>
          <a:prstGeom prst="rect">
            <a:avLst/>
          </a:prstGeom>
          <a:noFill/>
          <a:ln/>
        </p:spPr>
        <p:txBody>
          <a:bodyPr wrap="square" lIns="0" tIns="0" rIns="0" bIns="0" rtlCol="0" anchor="ctr"/>
          <a:lstStyle/>
          <a:p>
            <a:pPr algn="r" indent="0" marL="0">
              <a:buNone/>
            </a:pPr>
            <a:r>
              <a:rPr lang="en-US" sz="1250" dirty="0">
                <a:solidFill>
                  <a:srgbClr val="4B6377"/>
                </a:solidFill>
                <a:latin typeface="Calibri" pitchFamily="34" charset="0"/>
                <a:ea typeface="Calibri" pitchFamily="34" charset="-122"/>
                <a:cs typeface="Calibri" pitchFamily="34" charset="-120"/>
              </a:rPr>
              <a:t>Covering slides 11–16</a:t>
            </a:r>
            <a:endParaRPr lang="en-US" sz="1250" dirty="0"/>
          </a:p>
        </p:txBody>
      </p:sp>
      <p:sp>
        <p:nvSpPr>
          <p:cNvPr id="5" name="Shape 3"/>
          <p:cNvSpPr/>
          <p:nvPr/>
        </p:nvSpPr>
        <p:spPr>
          <a:xfrm>
            <a:off x="566928" y="1668963"/>
            <a:ext cx="11057839" cy="2130186"/>
          </a:xfrm>
          <a:prstGeom prst="roundRect">
            <a:avLst>
              <a:gd name="adj" fmla="val 3863"/>
            </a:avLst>
          </a:prstGeom>
          <a:solidFill>
            <a:srgbClr val="FFFFFF"/>
          </a:solidFill>
          <a:ln w="12700">
            <a:solidFill>
              <a:srgbClr val="D3DEE7"/>
            </a:solidFill>
            <a:prstDash val="solid"/>
          </a:ln>
        </p:spPr>
      </p:sp>
      <p:sp>
        <p:nvSpPr>
          <p:cNvPr id="6" name="Shape 4"/>
          <p:cNvSpPr/>
          <p:nvPr/>
        </p:nvSpPr>
        <p:spPr>
          <a:xfrm>
            <a:off x="841248" y="1906707"/>
            <a:ext cx="402336" cy="402336"/>
          </a:xfrm>
          <a:prstGeom prst="ellipse">
            <a:avLst/>
          </a:prstGeom>
          <a:solidFill>
            <a:srgbClr val="C4560C"/>
          </a:solidFill>
          <a:ln w="12700">
            <a:solidFill>
              <a:srgbClr val="C4560C"/>
            </a:solidFill>
            <a:prstDash val="solid"/>
          </a:ln>
        </p:spPr>
      </p:sp>
      <p:sp>
        <p:nvSpPr>
          <p:cNvPr id="7" name="Text 5"/>
          <p:cNvSpPr txBox="1"/>
          <p:nvPr/>
        </p:nvSpPr>
        <p:spPr>
          <a:xfrm>
            <a:off x="841248" y="1906707"/>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8" name="Text 6"/>
          <p:cNvSpPr txBox="1"/>
          <p:nvPr/>
        </p:nvSpPr>
        <p:spPr>
          <a:xfrm>
            <a:off x="1435608" y="1833555"/>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Why will the compiler reject this, and what is the smallest fix?</a:t>
            </a:r>
            <a:endParaRPr lang="en-US" sz="1550" dirty="0"/>
          </a:p>
        </p:txBody>
      </p:sp>
      <p:sp>
        <p:nvSpPr>
          <p:cNvPr id="9" name="Shape 7"/>
          <p:cNvSpPr/>
          <p:nvPr/>
        </p:nvSpPr>
        <p:spPr>
          <a:xfrm>
            <a:off x="1435608" y="2309043"/>
            <a:ext cx="6949440" cy="968898"/>
          </a:xfrm>
          <a:prstGeom prst="roundRect">
            <a:avLst>
              <a:gd name="adj" fmla="val 6606"/>
            </a:avLst>
          </a:prstGeom>
          <a:solidFill>
            <a:srgbClr val="EDF2F7"/>
          </a:solidFill>
          <a:ln w="12700">
            <a:solidFill>
              <a:srgbClr val="CFDBE5"/>
            </a:solidFill>
            <a:prstDash val="solid"/>
          </a:ln>
        </p:spPr>
      </p:sp>
      <p:sp>
        <p:nvSpPr>
          <p:cNvPr id="10" name="Text 8"/>
          <p:cNvSpPr txBox="1"/>
          <p:nvPr/>
        </p:nvSpPr>
        <p:spPr>
          <a:xfrm>
            <a:off x="1600200" y="2446203"/>
            <a:ext cx="6620256" cy="767730"/>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abs</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else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1" name="Shape 9"/>
          <p:cNvSpPr/>
          <p:nvPr/>
        </p:nvSpPr>
        <p:spPr>
          <a:xfrm>
            <a:off x="566928" y="4018605"/>
            <a:ext cx="11057839" cy="960120"/>
          </a:xfrm>
          <a:prstGeom prst="roundRect">
            <a:avLst>
              <a:gd name="adj" fmla="val 8571"/>
            </a:avLst>
          </a:prstGeom>
          <a:solidFill>
            <a:srgbClr val="FFFFFF"/>
          </a:solidFill>
          <a:ln w="12700">
            <a:solidFill>
              <a:srgbClr val="D3DEE7"/>
            </a:solidFill>
            <a:prstDash val="solid"/>
          </a:ln>
        </p:spPr>
      </p:sp>
      <p:sp>
        <p:nvSpPr>
          <p:cNvPr id="12" name="Shape 10"/>
          <p:cNvSpPr/>
          <p:nvPr/>
        </p:nvSpPr>
        <p:spPr>
          <a:xfrm>
            <a:off x="841248" y="4256349"/>
            <a:ext cx="402336" cy="402336"/>
          </a:xfrm>
          <a:prstGeom prst="ellipse">
            <a:avLst/>
          </a:prstGeom>
          <a:solidFill>
            <a:srgbClr val="C4560C"/>
          </a:solidFill>
          <a:ln w="12700">
            <a:solidFill>
              <a:srgbClr val="C4560C"/>
            </a:solidFill>
            <a:prstDash val="solid"/>
          </a:ln>
        </p:spPr>
      </p:sp>
      <p:sp>
        <p:nvSpPr>
          <p:cNvPr id="13" name="Text 11"/>
          <p:cNvSpPr txBox="1"/>
          <p:nvPr/>
        </p:nvSpPr>
        <p:spPr>
          <a:xfrm>
            <a:off x="841248" y="4256349"/>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4" name="Text 12"/>
          <p:cNvSpPr txBox="1"/>
          <p:nvPr/>
        </p:nvSpPr>
        <p:spPr>
          <a:xfrm>
            <a:off x="1435608" y="4183197"/>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num1 is 1 and num2 is 2. After swap(num1, num2) runs, what are they — and why?</a:t>
            </a:r>
            <a:endParaRPr lang="en-US" sz="1550" dirty="0"/>
          </a:p>
        </p:txBody>
      </p:sp>
      <p:sp>
        <p:nvSpPr>
          <p:cNvPr id="15" name="Shape 13"/>
          <p:cNvSpPr/>
          <p:nvPr/>
        </p:nvSpPr>
        <p:spPr>
          <a:xfrm>
            <a:off x="566928" y="5198181"/>
            <a:ext cx="11057839" cy="960120"/>
          </a:xfrm>
          <a:prstGeom prst="roundRect">
            <a:avLst>
              <a:gd name="adj" fmla="val 8571"/>
            </a:avLst>
          </a:prstGeom>
          <a:solidFill>
            <a:srgbClr val="FFFFFF"/>
          </a:solidFill>
          <a:ln w="12700">
            <a:solidFill>
              <a:srgbClr val="D3DEE7"/>
            </a:solidFill>
            <a:prstDash val="solid"/>
          </a:ln>
        </p:spPr>
      </p:sp>
      <p:sp>
        <p:nvSpPr>
          <p:cNvPr id="16" name="Shape 14"/>
          <p:cNvSpPr/>
          <p:nvPr/>
        </p:nvSpPr>
        <p:spPr>
          <a:xfrm>
            <a:off x="841248" y="5435925"/>
            <a:ext cx="402336" cy="402336"/>
          </a:xfrm>
          <a:prstGeom prst="ellipse">
            <a:avLst/>
          </a:prstGeom>
          <a:solidFill>
            <a:srgbClr val="C4560C"/>
          </a:solidFill>
          <a:ln w="12700">
            <a:solidFill>
              <a:srgbClr val="C4560C"/>
            </a:solidFill>
            <a:prstDash val="solid"/>
          </a:ln>
        </p:spPr>
      </p:sp>
      <p:sp>
        <p:nvSpPr>
          <p:cNvPr id="17" name="Text 15"/>
          <p:cNvSpPr txBox="1"/>
          <p:nvPr/>
        </p:nvSpPr>
        <p:spPr>
          <a:xfrm>
            <a:off x="841248" y="5435925"/>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8" name="Text 16"/>
          <p:cNvSpPr txBox="1"/>
          <p:nvPr/>
        </p:nvSpPr>
        <p:spPr>
          <a:xfrm>
            <a:off x="1435608" y="5362773"/>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You have written the same six lines in three places. Give two reasons to make them a method.</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DF2F7"/>
        </a:solidFill>
      </p:bgPr>
    </p:bg>
    <p:spTree>
      <p:nvGrpSpPr>
        <p:cNvPr id="1" name=""/>
        <p:cNvGrpSpPr/>
        <p:nvPr/>
      </p:nvGrpSpPr>
      <p:grpSpPr>
        <a:xfrm>
          <a:off x="0" y="0"/>
          <a:ext cx="0" cy="0"/>
          <a:chOff x="0" y="0"/>
          <a:chExt cx="0" cy="0"/>
        </a:xfrm>
      </p:grpSpPr>
      <p:sp>
        <p:nvSpPr>
          <p:cNvPr id="2" name="Text 0"/>
          <p:cNvSpPr txBox="1"/>
          <p:nvPr/>
        </p:nvSpPr>
        <p:spPr>
          <a:xfrm>
            <a:off x="566928" y="2286000"/>
            <a:ext cx="5486400" cy="310896"/>
          </a:xfrm>
          <a:prstGeom prst="rect">
            <a:avLst/>
          </a:prstGeom>
          <a:noFill/>
          <a:ln/>
        </p:spPr>
        <p:txBody>
          <a:bodyPr wrap="square" lIns="0" tIns="0" rIns="0" bIns="0" rtlCol="0" anchor="ctr"/>
          <a:lstStyle/>
          <a:p>
            <a:pPr indent="0" marL="0">
              <a:buNone/>
            </a:pPr>
            <a:r>
              <a:rPr lang="en-US" sz="1300" b="1" spc="240" kern="0" dirty="0">
                <a:solidFill>
                  <a:srgbClr val="9A430A"/>
                </a:solidFill>
                <a:latin typeface="Calibri" pitchFamily="34" charset="0"/>
                <a:ea typeface="Calibri" pitchFamily="34" charset="-122"/>
                <a:cs typeface="Calibri" pitchFamily="34" charset="-120"/>
              </a:rPr>
              <a:t>PART 02</a:t>
            </a:r>
            <a:endParaRPr lang="en-US" sz="1300" dirty="0"/>
          </a:p>
        </p:txBody>
      </p:sp>
      <p:sp>
        <p:nvSpPr>
          <p:cNvPr id="3" name="Text 1"/>
          <p:cNvSpPr txBox="1"/>
          <p:nvPr/>
        </p:nvSpPr>
        <p:spPr>
          <a:xfrm>
            <a:off x="566928" y="2697480"/>
            <a:ext cx="8046720" cy="1737360"/>
          </a:xfrm>
          <a:prstGeom prst="rect">
            <a:avLst/>
          </a:prstGeom>
          <a:noFill/>
          <a:ln/>
        </p:spPr>
        <p:txBody>
          <a:bodyPr wrap="square" lIns="0" tIns="0" rIns="0" bIns="0" rtlCol="0" anchor="ctr"/>
          <a:lstStyle/>
          <a:p>
            <a:pPr indent="0" marL="0">
              <a:lnSpc>
                <a:spcPct val="105000"/>
              </a:lnSpc>
              <a:buNone/>
            </a:pPr>
            <a:r>
              <a:rPr lang="en-US" sz="4400" b="1" dirty="0">
                <a:solidFill>
                  <a:srgbClr val="0F2942"/>
                </a:solidFill>
                <a:latin typeface="Cambria" pitchFamily="34" charset="0"/>
                <a:ea typeface="Cambria" pitchFamily="34" charset="-122"/>
                <a:cs typeface="Cambria" pitchFamily="34" charset="-120"/>
              </a:rPr>
              <a:t>Overloading</a:t>
            </a:r>
            <a:endParaRPr lang="en-US" sz="4400" dirty="0"/>
          </a:p>
          <a:p>
            <a:pPr indent="0" marL="0">
              <a:lnSpc>
                <a:spcPct val="105000"/>
              </a:lnSpc>
              <a:buNone/>
            </a:pPr>
            <a:r>
              <a:rPr lang="en-US" sz="4400" b="1" dirty="0">
                <a:solidFill>
                  <a:srgbClr val="0F2942"/>
                </a:solidFill>
                <a:latin typeface="Cambria" pitchFamily="34" charset="0"/>
                <a:ea typeface="Cambria" pitchFamily="34" charset="-122"/>
                <a:cs typeface="Cambria" pitchFamily="34" charset="-120"/>
              </a:rPr>
              <a:t>and Scope</a:t>
            </a:r>
            <a:endParaRPr lang="en-US" sz="4400" dirty="0"/>
          </a:p>
        </p:txBody>
      </p:sp>
      <p:sp>
        <p:nvSpPr>
          <p:cNvPr id="4" name="Text 2"/>
          <p:cNvSpPr txBox="1"/>
          <p:nvPr/>
        </p:nvSpPr>
        <p:spPr>
          <a:xfrm>
            <a:off x="566928" y="4526280"/>
            <a:ext cx="8686800" cy="365760"/>
          </a:xfrm>
          <a:prstGeom prst="rect">
            <a:avLst/>
          </a:prstGeom>
          <a:noFill/>
          <a:ln/>
        </p:spPr>
        <p:txBody>
          <a:bodyPr wrap="square" lIns="0" tIns="0" rIns="0" bIns="0" rtlCol="0" anchor="ctr"/>
          <a:lstStyle/>
          <a:p>
            <a:pPr indent="0" marL="0">
              <a:buNone/>
            </a:pPr>
            <a:r>
              <a:rPr lang="en-US" sz="1500" dirty="0">
                <a:solidFill>
                  <a:srgbClr val="3A536B"/>
                </a:solidFill>
                <a:latin typeface="Calibri" pitchFamily="34" charset="0"/>
                <a:ea typeface="Calibri" pitchFamily="34" charset="-122"/>
                <a:cs typeface="Calibri" pitchFamily="34" charset="-120"/>
              </a:rPr>
              <a:t>Which method actually gets called, and where a variable is allowed to be used.</a:t>
            </a:r>
            <a:endParaRPr lang="en-US" sz="1500" dirty="0"/>
          </a:p>
        </p:txBody>
      </p:sp>
      <p:sp>
        <p:nvSpPr>
          <p:cNvPr id="5" name="Text 3"/>
          <p:cNvSpPr txBox="1"/>
          <p:nvPr/>
        </p:nvSpPr>
        <p:spPr>
          <a:xfrm>
            <a:off x="9247327" y="2011680"/>
            <a:ext cx="2377440" cy="2194560"/>
          </a:xfrm>
          <a:prstGeom prst="rect">
            <a:avLst/>
          </a:prstGeom>
          <a:noFill/>
          <a:ln/>
        </p:spPr>
        <p:txBody>
          <a:bodyPr wrap="square" lIns="0" tIns="0" rIns="0" bIns="0" rtlCol="0" anchor="ctr"/>
          <a:lstStyle/>
          <a:p>
            <a:pPr algn="r" indent="0" marL="0">
              <a:buNone/>
            </a:pPr>
            <a:r>
              <a:rPr lang="en-US" sz="13000" b="1" dirty="0">
                <a:solidFill>
                  <a:srgbClr val="CFDCE8"/>
                </a:solidFill>
                <a:latin typeface="Cambria" pitchFamily="34" charset="0"/>
                <a:ea typeface="Cambria" pitchFamily="34" charset="-122"/>
                <a:cs typeface="Cambria" pitchFamily="34" charset="-120"/>
              </a:rPr>
              <a:t>02</a:t>
            </a:r>
            <a:endParaRPr lang="en-US" sz="13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OVERLOADING</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Two Methods, One Name</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Several methods in a class may share a name, provided their parameter lists differ.</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19</a:t>
            </a:r>
            <a:endParaRPr lang="en-US" sz="900" dirty="0"/>
          </a:p>
        </p:txBody>
      </p:sp>
      <p:sp>
        <p:nvSpPr>
          <p:cNvPr id="7" name="Shape 5"/>
          <p:cNvSpPr/>
          <p:nvPr/>
        </p:nvSpPr>
        <p:spPr>
          <a:xfrm>
            <a:off x="566928" y="1536192"/>
            <a:ext cx="5852160" cy="3034345"/>
          </a:xfrm>
          <a:prstGeom prst="roundRect">
            <a:avLst>
              <a:gd name="adj" fmla="val 2109"/>
            </a:avLst>
          </a:prstGeom>
          <a:solidFill>
            <a:srgbClr val="EDF2F7"/>
          </a:solidFill>
          <a:ln w="12700">
            <a:solidFill>
              <a:srgbClr val="CFDBE5"/>
            </a:solidFill>
            <a:prstDash val="solid"/>
          </a:ln>
        </p:spPr>
      </p:sp>
      <p:sp>
        <p:nvSpPr>
          <p:cNvPr id="8" name="Text 6"/>
          <p:cNvSpPr txBox="1"/>
          <p:nvPr/>
        </p:nvSpPr>
        <p:spPr>
          <a:xfrm>
            <a:off x="713232" y="1581912"/>
            <a:ext cx="555955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TestMethodOverloading.java</a:t>
            </a:r>
            <a:endParaRPr lang="en-US" sz="950" dirty="0"/>
          </a:p>
        </p:txBody>
      </p:sp>
      <p:sp>
        <p:nvSpPr>
          <p:cNvPr id="9" name="Text 7"/>
          <p:cNvSpPr txBox="1"/>
          <p:nvPr/>
        </p:nvSpPr>
        <p:spPr>
          <a:xfrm>
            <a:off x="731520" y="1810512"/>
            <a:ext cx="5522976" cy="2705161"/>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max</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max</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max</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n3</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max</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max</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n3</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0" name="Shape 8"/>
          <p:cNvSpPr/>
          <p:nvPr/>
        </p:nvSpPr>
        <p:spPr>
          <a:xfrm>
            <a:off x="566928" y="4826569"/>
            <a:ext cx="5852160" cy="1234440"/>
          </a:xfrm>
          <a:prstGeom prst="roundRect">
            <a:avLst>
              <a:gd name="adj" fmla="val 6667"/>
            </a:avLst>
          </a:prstGeom>
          <a:solidFill>
            <a:srgbClr val="E4ECF4"/>
          </a:solidFill>
          <a:ln w="12700">
            <a:solidFill>
              <a:srgbClr val="E4ECF4"/>
            </a:solidFill>
            <a:prstDash val="solid"/>
          </a:ln>
        </p:spPr>
      </p:sp>
      <p:sp>
        <p:nvSpPr>
          <p:cNvPr id="11" name="Text 9"/>
          <p:cNvSpPr txBox="1"/>
          <p:nvPr/>
        </p:nvSpPr>
        <p:spPr>
          <a:xfrm>
            <a:off x="841248" y="4826569"/>
            <a:ext cx="5303520" cy="1234440"/>
          </a:xfrm>
          <a:prstGeom prst="rect">
            <a:avLst/>
          </a:prstGeom>
          <a:noFill/>
          <a:ln/>
        </p:spPr>
        <p:txBody>
          <a:bodyPr wrap="square" lIns="0" tIns="0" rIns="0" bIns="0" rtlCol="0" anchor="ctr"/>
          <a:lstStyle/>
          <a:p>
            <a:pPr indent="0" marL="0">
              <a:lnSpc>
                <a:spcPct val="112000"/>
              </a:lnSpc>
              <a:buNone/>
            </a:pPr>
            <a:r>
              <a:rPr lang="en-US" sz="1250" b="1" dirty="0">
                <a:solidFill>
                  <a:srgbClr val="0F2942"/>
                </a:solidFill>
                <a:latin typeface="Calibri" pitchFamily="34" charset="0"/>
                <a:ea typeface="Calibri" pitchFamily="34" charset="-122"/>
                <a:cs typeface="Calibri" pitchFamily="34" charset="-120"/>
              </a:rPr>
              <a:t>The third one calls the second twice.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Overloads are ordinary methods — they can call each other, and often should.</a:t>
            </a:r>
            <a:endParaRPr lang="en-US" sz="12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876288" y="1536192"/>
          <a:ext cx="4748479" cy="914400"/>
        </p:xfrm>
        <a:graphic>
          <a:graphicData uri="http://schemas.openxmlformats.org/drawingml/2006/table">
            <a:tbl>
              <a:tblPr/>
              <a:tblGrid>
                <a:gridCol w="1614483"/>
                <a:gridCol w="1614483"/>
                <a:gridCol w="1519513"/>
              </a:tblGrid>
              <a:tr h="40233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The call</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Which one runs</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Why</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r>
              <a:tr h="402336">
                <a:tc>
                  <a:txBody>
                    <a:bodyPr/>
                    <a:lstStyle/>
                    <a:p>
                      <a:pPr indent="0" marL="0">
                        <a:buNone/>
                      </a:pPr>
                      <a:r>
                        <a:rPr lang="en-US" sz="1100" b="1" dirty="0">
                          <a:solidFill>
                            <a:srgbClr val="9A430A"/>
                          </a:solidFill>
                          <a:latin typeface="Courier New" pitchFamily="34" charset="0"/>
                          <a:ea typeface="Courier New" pitchFamily="34" charset="-122"/>
                          <a:cs typeface="Courier New" pitchFamily="34" charset="-120"/>
                        </a:rPr>
                        <a:t>max(3, 4)</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int version</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050" dirty="0">
                          <a:solidFill>
                            <a:srgbClr val="4B6377"/>
                          </a:solidFill>
                          <a:latin typeface="Calibri" pitchFamily="34" charset="0"/>
                          <a:ea typeface="Calibri" pitchFamily="34" charset="-122"/>
                          <a:cs typeface="Calibri" pitchFamily="34" charset="-120"/>
                        </a:rPr>
                        <a:t>exact match</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402336">
                <a:tc>
                  <a:txBody>
                    <a:bodyPr/>
                    <a:lstStyle/>
                    <a:p>
                      <a:pPr indent="0" marL="0">
                        <a:buNone/>
                      </a:pPr>
                      <a:r>
                        <a:rPr lang="en-US" sz="1100" b="1" dirty="0">
                          <a:solidFill>
                            <a:srgbClr val="9A430A"/>
                          </a:solidFill>
                          <a:latin typeface="Courier New" pitchFamily="34" charset="0"/>
                          <a:ea typeface="Courier New" pitchFamily="34" charset="-122"/>
                          <a:cs typeface="Courier New" pitchFamily="34" charset="-120"/>
                        </a:rPr>
                        <a:t>max(3.0, 4.0)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double version</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050" dirty="0">
                          <a:solidFill>
                            <a:srgbClr val="4B6377"/>
                          </a:solidFill>
                          <a:latin typeface="Calibri" pitchFamily="34" charset="0"/>
                          <a:ea typeface="Calibri" pitchFamily="34" charset="-122"/>
                          <a:cs typeface="Calibri" pitchFamily="34" charset="-120"/>
                        </a:rPr>
                        <a:t>exact match</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9A430A"/>
                          </a:solidFill>
                          <a:latin typeface="Courier New" pitchFamily="34" charset="0"/>
                          <a:ea typeface="Courier New" pitchFamily="34" charset="-122"/>
                          <a:cs typeface="Courier New" pitchFamily="34" charset="-120"/>
                        </a:rPr>
                        <a:t>max(3, 4.0)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double version</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050" dirty="0">
                          <a:solidFill>
                            <a:srgbClr val="4B6377"/>
                          </a:solidFill>
                          <a:latin typeface="Calibri" pitchFamily="34" charset="0"/>
                          <a:ea typeface="Calibri" pitchFamily="34" charset="-122"/>
                          <a:cs typeface="Calibri" pitchFamily="34" charset="-120"/>
                        </a:rPr>
                        <a:t>3 widens to 3.0</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402336">
                <a:tc>
                  <a:txBody>
                    <a:bodyPr/>
                    <a:lstStyle/>
                    <a:p>
                      <a:pPr indent="0" marL="0">
                        <a:buNone/>
                      </a:pPr>
                      <a:r>
                        <a:rPr lang="en-US" sz="1100" b="1" dirty="0">
                          <a:solidFill>
                            <a:srgbClr val="9A430A"/>
                          </a:solidFill>
                          <a:latin typeface="Courier New" pitchFamily="34" charset="0"/>
                          <a:ea typeface="Courier New" pitchFamily="34" charset="-122"/>
                          <a:cs typeface="Courier New" pitchFamily="34" charset="-120"/>
                        </a:rPr>
                        <a:t>max(1, 2, 3)</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three-arg version</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050" dirty="0">
                          <a:solidFill>
                            <a:srgbClr val="4B6377"/>
                          </a:solidFill>
                          <a:latin typeface="Calibri" pitchFamily="34" charset="0"/>
                          <a:ea typeface="Calibri" pitchFamily="34" charset="-122"/>
                          <a:cs typeface="Calibri" pitchFamily="34" charset="-120"/>
                        </a:rPr>
                        <a:t>only one takes three</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bl>
          </a:graphicData>
        </a:graphic>
      </p:graphicFrame>
      <p:sp>
        <p:nvSpPr>
          <p:cNvPr id="13" name="Shape 10"/>
          <p:cNvSpPr/>
          <p:nvPr/>
        </p:nvSpPr>
        <p:spPr>
          <a:xfrm>
            <a:off x="6876288" y="3867912"/>
            <a:ext cx="4748479" cy="1417320"/>
          </a:xfrm>
          <a:prstGeom prst="roundRect">
            <a:avLst>
              <a:gd name="adj" fmla="val 5806"/>
            </a:avLst>
          </a:prstGeom>
          <a:solidFill>
            <a:srgbClr val="F1F5F9"/>
          </a:solidFill>
          <a:ln w="12700">
            <a:solidFill>
              <a:srgbClr val="F1F5F9"/>
            </a:solidFill>
            <a:prstDash val="solid"/>
          </a:ln>
        </p:spPr>
      </p:sp>
      <p:sp>
        <p:nvSpPr>
          <p:cNvPr id="14" name="Text 11"/>
          <p:cNvSpPr txBox="1"/>
          <p:nvPr/>
        </p:nvSpPr>
        <p:spPr>
          <a:xfrm>
            <a:off x="7095744" y="4032504"/>
            <a:ext cx="4309567"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The rule the compiler uses</a:t>
            </a:r>
            <a:endParaRPr lang="en-US" sz="1450" dirty="0"/>
          </a:p>
        </p:txBody>
      </p:sp>
      <p:sp>
        <p:nvSpPr>
          <p:cNvPr id="15" name="Text 12"/>
          <p:cNvSpPr txBox="1"/>
          <p:nvPr/>
        </p:nvSpPr>
        <p:spPr>
          <a:xfrm>
            <a:off x="7095744" y="4361688"/>
            <a:ext cx="4309567" cy="79552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It looks for an exact match first. Failing that, it looks for a match reachable by widening — int to long to float to double. Among several candidates it takes the most specific one.</a:t>
            </a:r>
            <a:endParaRPr lang="en-US" sz="1200" dirty="0"/>
          </a:p>
        </p:txBody>
      </p:sp>
      <p:sp>
        <p:nvSpPr>
          <p:cNvPr id="16" name="Shape 13"/>
          <p:cNvSpPr/>
          <p:nvPr/>
        </p:nvSpPr>
        <p:spPr>
          <a:xfrm>
            <a:off x="6876288" y="5468112"/>
            <a:ext cx="4748479" cy="822960"/>
          </a:xfrm>
          <a:prstGeom prst="roundRect">
            <a:avLst>
              <a:gd name="adj" fmla="val 10000"/>
            </a:avLst>
          </a:prstGeom>
          <a:solidFill>
            <a:srgbClr val="FBEAE8"/>
          </a:solidFill>
          <a:ln w="12700">
            <a:solidFill>
              <a:srgbClr val="FBEAE8"/>
            </a:solidFill>
            <a:prstDash val="solid"/>
          </a:ln>
        </p:spPr>
      </p:sp>
      <p:sp>
        <p:nvSpPr>
          <p:cNvPr id="17" name="Text 14"/>
          <p:cNvSpPr txBox="1"/>
          <p:nvPr/>
        </p:nvSpPr>
        <p:spPr>
          <a:xfrm>
            <a:off x="7150608" y="5468112"/>
            <a:ext cx="4199839" cy="822960"/>
          </a:xfrm>
          <a:prstGeom prst="rect">
            <a:avLst/>
          </a:prstGeom>
          <a:noFill/>
          <a:ln/>
        </p:spPr>
        <p:txBody>
          <a:bodyPr wrap="square" lIns="0" tIns="0" rIns="0" bIns="0" rtlCol="0" anchor="ctr"/>
          <a:lstStyle/>
          <a:p>
            <a:pPr indent="0" marL="0">
              <a:lnSpc>
                <a:spcPct val="110000"/>
              </a:lnSpc>
              <a:buNone/>
            </a:pPr>
            <a:r>
              <a:rPr lang="en-US" sz="1200" b="1" dirty="0">
                <a:solidFill>
                  <a:srgbClr val="9C241C"/>
                </a:solidFill>
                <a:latin typeface="Calibri" pitchFamily="34" charset="0"/>
                <a:ea typeface="Calibri" pitchFamily="34" charset="-122"/>
                <a:cs typeface="Calibri" pitchFamily="34" charset="-120"/>
              </a:rPr>
              <a:t>The return type is not part of the signature.  </a:t>
            </a:r>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Two methods differing only in return type will not compile.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OVERLOADING</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When the Compiler Cannot Choose</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If two overloads match equally well and neither is more specific, the call is a compile error.</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20</a:t>
            </a:r>
            <a:endParaRPr lang="en-US" sz="900" dirty="0"/>
          </a:p>
        </p:txBody>
      </p:sp>
      <p:sp>
        <p:nvSpPr>
          <p:cNvPr id="7" name="Shape 5"/>
          <p:cNvSpPr/>
          <p:nvPr/>
        </p:nvSpPr>
        <p:spPr>
          <a:xfrm>
            <a:off x="566928" y="1536192"/>
            <a:ext cx="5943600" cy="3247583"/>
          </a:xfrm>
          <a:prstGeom prst="roundRect">
            <a:avLst>
              <a:gd name="adj" fmla="val 1971"/>
            </a:avLst>
          </a:prstGeom>
          <a:solidFill>
            <a:srgbClr val="EDF2F7"/>
          </a:solidFill>
          <a:ln w="12700">
            <a:solidFill>
              <a:srgbClr val="CFDBE5"/>
            </a:solidFill>
            <a:prstDash val="solid"/>
          </a:ln>
        </p:spPr>
      </p:sp>
      <p:sp>
        <p:nvSpPr>
          <p:cNvPr id="8" name="Text 6"/>
          <p:cNvSpPr txBox="1"/>
          <p:nvPr/>
        </p:nvSpPr>
        <p:spPr>
          <a:xfrm>
            <a:off x="713232" y="1581912"/>
            <a:ext cx="565099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AmbiguousOverloading.java</a:t>
            </a:r>
            <a:endParaRPr lang="en-US" sz="950" dirty="0"/>
          </a:p>
        </p:txBody>
      </p:sp>
      <p:sp>
        <p:nvSpPr>
          <p:cNvPr id="9" name="Text 7"/>
          <p:cNvSpPr txBox="1"/>
          <p:nvPr/>
        </p:nvSpPr>
        <p:spPr>
          <a:xfrm>
            <a:off x="731520" y="1810512"/>
            <a:ext cx="5614416" cy="2918399"/>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class</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AmbiguousOverloading</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void</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main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String</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args</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max</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max</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max</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0" name="Shape 8"/>
          <p:cNvSpPr/>
          <p:nvPr/>
        </p:nvSpPr>
        <p:spPr>
          <a:xfrm>
            <a:off x="6967728" y="1536192"/>
            <a:ext cx="4657039" cy="1047674"/>
          </a:xfrm>
          <a:prstGeom prst="roundRect">
            <a:avLst>
              <a:gd name="adj" fmla="val 6110"/>
            </a:avLst>
          </a:prstGeom>
          <a:solidFill>
            <a:srgbClr val="FFFFFF"/>
          </a:solidFill>
          <a:ln w="12700">
            <a:solidFill>
              <a:srgbClr val="4B6377"/>
            </a:solidFill>
            <a:prstDash val="solid"/>
          </a:ln>
        </p:spPr>
      </p:sp>
      <p:sp>
        <p:nvSpPr>
          <p:cNvPr id="11" name="Text 9"/>
          <p:cNvSpPr txBox="1"/>
          <p:nvPr/>
        </p:nvSpPr>
        <p:spPr>
          <a:xfrm>
            <a:off x="7114032" y="1609344"/>
            <a:ext cx="436443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2" name="Text 10"/>
          <p:cNvSpPr txBox="1"/>
          <p:nvPr/>
        </p:nvSpPr>
        <p:spPr>
          <a:xfrm>
            <a:off x="7114032" y="1810512"/>
            <a:ext cx="4364431" cy="681914"/>
          </a:xfrm>
          <a:prstGeom prst="rect">
            <a:avLst/>
          </a:prstGeom>
          <a:noFill/>
          <a:ln/>
        </p:spPr>
        <p:txBody>
          <a:bodyPr wrap="square" lIns="0" tIns="0" rIns="0" bIns="0" rtlCol="0" anchor="t"/>
          <a:lstStyle/>
          <a:p>
            <a:pPr indent="0" marL="0">
              <a:lnSpc>
                <a:spcPct val="110000"/>
              </a:lnSpc>
              <a:buNone/>
            </a:pPr>
            <a:r>
              <a:rPr lang="en-US" sz="1050" dirty="0">
                <a:solidFill>
                  <a:srgbClr val="0F2942"/>
                </a:solidFill>
                <a:latin typeface="Courier New" pitchFamily="34" charset="0"/>
                <a:ea typeface="Courier New" pitchFamily="34" charset="-122"/>
                <a:cs typeface="Courier New" pitchFamily="34" charset="-120"/>
              </a:rPr>
              <a:t>error: reference to max is ambiguous</a:t>
            </a:r>
            <a:endParaRPr lang="en-US" sz="1050" dirty="0"/>
          </a:p>
          <a:p>
            <a:pPr indent="0" marL="0">
              <a:lnSpc>
                <a:spcPct val="110000"/>
              </a:lnSpc>
              <a:buNone/>
            </a:pPr>
            <a:r>
              <a:rPr lang="en-US" sz="1050" dirty="0">
                <a:solidFill>
                  <a:srgbClr val="0F2942"/>
                </a:solidFill>
                <a:latin typeface="Courier New" pitchFamily="34" charset="0"/>
                <a:ea typeface="Courier New" pitchFamily="34" charset="-122"/>
                <a:cs typeface="Courier New" pitchFamily="34" charset="-120"/>
              </a:rPr>
              <a:t>  both method max(int,double)</a:t>
            </a:r>
            <a:endParaRPr lang="en-US" sz="1050" dirty="0"/>
          </a:p>
          <a:p>
            <a:pPr indent="0" marL="0">
              <a:lnSpc>
                <a:spcPct val="110000"/>
              </a:lnSpc>
              <a:buNone/>
            </a:pPr>
            <a:r>
              <a:rPr lang="en-US" sz="1050" dirty="0">
                <a:solidFill>
                  <a:srgbClr val="0F2942"/>
                </a:solidFill>
                <a:latin typeface="Courier New" pitchFamily="34" charset="0"/>
                <a:ea typeface="Courier New" pitchFamily="34" charset="-122"/>
                <a:cs typeface="Courier New" pitchFamily="34" charset="-120"/>
              </a:rPr>
              <a:t>  and method max(double,int) match</a:t>
            </a:r>
            <a:endParaRPr lang="en-US" sz="1050" dirty="0"/>
          </a:p>
        </p:txBody>
      </p:sp>
      <p:sp>
        <p:nvSpPr>
          <p:cNvPr id="13" name="Shape 11"/>
          <p:cNvSpPr/>
          <p:nvPr/>
        </p:nvSpPr>
        <p:spPr>
          <a:xfrm>
            <a:off x="6967728" y="2862072"/>
            <a:ext cx="4657039" cy="1600200"/>
          </a:xfrm>
          <a:prstGeom prst="roundRect">
            <a:avLst>
              <a:gd name="adj" fmla="val 5143"/>
            </a:avLst>
          </a:prstGeom>
          <a:solidFill>
            <a:srgbClr val="F1F5F9"/>
          </a:solidFill>
          <a:ln w="12700">
            <a:solidFill>
              <a:srgbClr val="F1F5F9"/>
            </a:solidFill>
            <a:prstDash val="solid"/>
          </a:ln>
        </p:spPr>
      </p:sp>
      <p:sp>
        <p:nvSpPr>
          <p:cNvPr id="14" name="Text 12"/>
          <p:cNvSpPr txBox="1"/>
          <p:nvPr/>
        </p:nvSpPr>
        <p:spPr>
          <a:xfrm>
            <a:off x="7187184" y="3026664"/>
            <a:ext cx="4218127"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Why neither wins</a:t>
            </a:r>
            <a:endParaRPr lang="en-US" sz="1450" dirty="0"/>
          </a:p>
        </p:txBody>
      </p:sp>
      <p:sp>
        <p:nvSpPr>
          <p:cNvPr id="15" name="Text 13"/>
          <p:cNvSpPr txBox="1"/>
          <p:nvPr/>
        </p:nvSpPr>
        <p:spPr>
          <a:xfrm>
            <a:off x="7187184" y="3355848"/>
            <a:ext cx="4218127" cy="97840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max(1, 2) can reach the first overload by widening the second argument, and the second overload by widening the first. Both need exactly one widening, so neither is more specific. The compiler refuses to guess.</a:t>
            </a:r>
            <a:endParaRPr lang="en-US" sz="1200" dirty="0"/>
          </a:p>
        </p:txBody>
      </p:sp>
      <p:sp>
        <p:nvSpPr>
          <p:cNvPr id="16" name="Shape 14"/>
          <p:cNvSpPr/>
          <p:nvPr/>
        </p:nvSpPr>
        <p:spPr>
          <a:xfrm>
            <a:off x="6967728" y="4645152"/>
            <a:ext cx="4657039" cy="1463040"/>
          </a:xfrm>
          <a:prstGeom prst="roundRect">
            <a:avLst>
              <a:gd name="adj" fmla="val 5625"/>
            </a:avLst>
          </a:prstGeom>
          <a:solidFill>
            <a:srgbClr val="E6F2EC"/>
          </a:solidFill>
          <a:ln w="12700">
            <a:solidFill>
              <a:srgbClr val="E6F2EC"/>
            </a:solidFill>
            <a:prstDash val="solid"/>
          </a:ln>
        </p:spPr>
      </p:sp>
      <p:sp>
        <p:nvSpPr>
          <p:cNvPr id="17" name="Text 15"/>
          <p:cNvSpPr txBox="1"/>
          <p:nvPr/>
        </p:nvSpPr>
        <p:spPr>
          <a:xfrm>
            <a:off x="7223760" y="4773168"/>
            <a:ext cx="4144975" cy="274320"/>
          </a:xfrm>
          <a:prstGeom prst="rect">
            <a:avLst/>
          </a:prstGeom>
          <a:noFill/>
          <a:ln/>
        </p:spPr>
        <p:txBody>
          <a:bodyPr wrap="square" lIns="0" tIns="0" rIns="0" bIns="0" rtlCol="0" anchor="ctr"/>
          <a:lstStyle/>
          <a:p>
            <a:pPr indent="0" marL="0">
              <a:buNone/>
            </a:pPr>
            <a:r>
              <a:rPr lang="en-US" sz="1350" b="1" dirty="0">
                <a:solidFill>
                  <a:srgbClr val="176240"/>
                </a:solidFill>
                <a:latin typeface="Calibri" pitchFamily="34" charset="0"/>
                <a:ea typeface="Calibri" pitchFamily="34" charset="-122"/>
                <a:cs typeface="Calibri" pitchFamily="34" charset="-120"/>
              </a:rPr>
              <a:t>Two ways to fix it</a:t>
            </a:r>
            <a:endParaRPr lang="en-US" sz="1350" dirty="0"/>
          </a:p>
        </p:txBody>
      </p:sp>
      <p:sp>
        <p:nvSpPr>
          <p:cNvPr id="18" name="Text 16"/>
          <p:cNvSpPr txBox="1"/>
          <p:nvPr/>
        </p:nvSpPr>
        <p:spPr>
          <a:xfrm>
            <a:off x="7260336" y="5084064"/>
            <a:ext cx="4090111" cy="96012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3A536B"/>
                </a:solidFill>
                <a:latin typeface="Calibri" pitchFamily="34" charset="0"/>
                <a:ea typeface="Calibri" pitchFamily="34" charset="-122"/>
                <a:cs typeface="Calibri" pitchFamily="34" charset="-120"/>
              </a:rPr>
              <a:t>Add an exact match: max(int, int).</a:t>
            </a:r>
            <a:endParaRPr lang="en-US" sz="1100" dirty="0"/>
          </a:p>
          <a:p>
            <a:pPr marL="177800" indent="-177800">
              <a:spcAft>
                <a:spcPts val="300"/>
              </a:spcAft>
              <a:buSzPct val="100000"/>
              <a:buChar char="•"/>
            </a:pPr>
            <a:r>
              <a:rPr lang="en-US" sz="1100" dirty="0">
                <a:solidFill>
                  <a:srgbClr val="3A536B"/>
                </a:solidFill>
                <a:latin typeface="Calibri" pitchFamily="34" charset="0"/>
                <a:ea typeface="Calibri" pitchFamily="34" charset="-122"/>
                <a:cs typeface="Calibri" pitchFamily="34" charset="-120"/>
              </a:rPr>
              <a:t>Or cast at the call site: max(1, (double) 2).</a:t>
            </a:r>
            <a:endParaRPr lang="en-US" sz="1100" dirty="0"/>
          </a:p>
          <a:p>
            <a:pPr marL="177800" indent="-177800">
              <a:spcAft>
                <a:spcPts val="300"/>
              </a:spcAft>
              <a:buSzPct val="100000"/>
              <a:buChar char="•"/>
            </a:pPr>
            <a:r>
              <a:rPr lang="en-US" sz="1100" dirty="0">
                <a:solidFill>
                  <a:srgbClr val="3A536B"/>
                </a:solidFill>
                <a:latin typeface="Calibri" pitchFamily="34" charset="0"/>
                <a:ea typeface="Calibri" pitchFamily="34" charset="-122"/>
                <a:cs typeface="Calibri" pitchFamily="34" charset="-120"/>
              </a:rPr>
              <a:t>Better still, do not write overload sets that differ only by which argument is wider.</a:t>
            </a:r>
            <a:endParaRPr lang="en-US" sz="1100" dirty="0"/>
          </a:p>
        </p:txBody>
      </p:sp>
      <p:sp>
        <p:nvSpPr>
          <p:cNvPr id="19" name="Shape 17"/>
          <p:cNvSpPr/>
          <p:nvPr/>
        </p:nvSpPr>
        <p:spPr>
          <a:xfrm>
            <a:off x="566928" y="5058095"/>
            <a:ext cx="5943600" cy="1051560"/>
          </a:xfrm>
          <a:prstGeom prst="roundRect">
            <a:avLst>
              <a:gd name="adj" fmla="val 7826"/>
            </a:avLst>
          </a:prstGeom>
          <a:solidFill>
            <a:srgbClr val="FBEEE0"/>
          </a:solidFill>
          <a:ln w="12700">
            <a:solidFill>
              <a:srgbClr val="FBEEE0"/>
            </a:solidFill>
            <a:prstDash val="solid"/>
          </a:ln>
        </p:spPr>
      </p:sp>
      <p:sp>
        <p:nvSpPr>
          <p:cNvPr id="20" name="Text 18"/>
          <p:cNvSpPr txBox="1"/>
          <p:nvPr/>
        </p:nvSpPr>
        <p:spPr>
          <a:xfrm>
            <a:off x="841248" y="5058095"/>
            <a:ext cx="5394960" cy="1051560"/>
          </a:xfrm>
          <a:prstGeom prst="rect">
            <a:avLst/>
          </a:prstGeom>
          <a:noFill/>
          <a:ln/>
        </p:spPr>
        <p:txBody>
          <a:bodyPr wrap="square" lIns="0" tIns="0" rIns="0" bIns="0" rtlCol="0" anchor="ctr"/>
          <a:lstStyle/>
          <a:p>
            <a:pPr indent="0" marL="0">
              <a:lnSpc>
                <a:spcPct val="112000"/>
              </a:lnSpc>
              <a:buNone/>
            </a:pPr>
            <a:r>
              <a:rPr lang="en-US" sz="1250" b="1" dirty="0">
                <a:solidFill>
                  <a:srgbClr val="9A430A"/>
                </a:solidFill>
                <a:latin typeface="Calibri" pitchFamily="34" charset="0"/>
                <a:ea typeface="Calibri" pitchFamily="34" charset="-122"/>
                <a:cs typeface="Calibri" pitchFamily="34" charset="-120"/>
              </a:rPr>
              <a:t>Ambiguity is detected at the call, not at the definition.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Both methods are legal; it is max(1, 2) that fails.</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SCOPE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Where a Variable Can Be Used</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A local variable is declared inside a method. Its scope runs from its declaration to the end of the block that contains it.</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21</a:t>
            </a:r>
            <a:endParaRPr lang="en-US" sz="900" dirty="0"/>
          </a:p>
        </p:txBody>
      </p:sp>
      <p:sp>
        <p:nvSpPr>
          <p:cNvPr id="7" name="Shape 5"/>
          <p:cNvSpPr/>
          <p:nvPr/>
        </p:nvSpPr>
        <p:spPr>
          <a:xfrm>
            <a:off x="566928" y="1536192"/>
            <a:ext cx="5852160" cy="2607869"/>
          </a:xfrm>
          <a:prstGeom prst="roundRect">
            <a:avLst>
              <a:gd name="adj" fmla="val 2454"/>
            </a:avLst>
          </a:prstGeom>
          <a:solidFill>
            <a:srgbClr val="EDF2F7"/>
          </a:solidFill>
          <a:ln w="12700">
            <a:solidFill>
              <a:srgbClr val="CFDBE5"/>
            </a:solidFill>
            <a:prstDash val="solid"/>
          </a:ln>
        </p:spPr>
      </p:sp>
      <p:sp>
        <p:nvSpPr>
          <p:cNvPr id="8" name="Text 6"/>
          <p:cNvSpPr txBox="1"/>
          <p:nvPr/>
        </p:nvSpPr>
        <p:spPr>
          <a:xfrm>
            <a:off x="713232" y="1581912"/>
            <a:ext cx="555955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SCOPE IS THE ENCLOSING BLOCK</a:t>
            </a:r>
            <a:endParaRPr lang="en-US" sz="950" dirty="0"/>
          </a:p>
        </p:txBody>
      </p:sp>
      <p:sp>
        <p:nvSpPr>
          <p:cNvPr id="9" name="Text 7"/>
          <p:cNvSpPr txBox="1"/>
          <p:nvPr/>
        </p:nvSpPr>
        <p:spPr>
          <a:xfrm>
            <a:off x="731520" y="1810512"/>
            <a:ext cx="5522976" cy="2278685"/>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void</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demo</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x starts here</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y</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y starts here</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y</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both fine</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y ends here</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y</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ERROR: y is gone</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x ends here</a:t>
            </a:r>
            <a:endParaRPr lang="en-US" sz="1100" dirty="0"/>
          </a:p>
        </p:txBody>
      </p:sp>
      <p:sp>
        <p:nvSpPr>
          <p:cNvPr id="10" name="Shape 8"/>
          <p:cNvSpPr/>
          <p:nvPr/>
        </p:nvSpPr>
        <p:spPr>
          <a:xfrm>
            <a:off x="566928" y="4400093"/>
            <a:ext cx="5852160" cy="1325880"/>
          </a:xfrm>
          <a:prstGeom prst="roundRect">
            <a:avLst>
              <a:gd name="adj" fmla="val 6207"/>
            </a:avLst>
          </a:prstGeom>
          <a:solidFill>
            <a:srgbClr val="E4ECF4"/>
          </a:solidFill>
          <a:ln w="12700">
            <a:solidFill>
              <a:srgbClr val="E4ECF4"/>
            </a:solidFill>
            <a:prstDash val="solid"/>
          </a:ln>
        </p:spPr>
      </p:sp>
      <p:sp>
        <p:nvSpPr>
          <p:cNvPr id="11" name="Text 9"/>
          <p:cNvSpPr txBox="1"/>
          <p:nvPr/>
        </p:nvSpPr>
        <p:spPr>
          <a:xfrm>
            <a:off x="841248" y="4400093"/>
            <a:ext cx="5303520" cy="1325880"/>
          </a:xfrm>
          <a:prstGeom prst="rect">
            <a:avLst/>
          </a:prstGeom>
          <a:noFill/>
          <a:ln/>
        </p:spPr>
        <p:txBody>
          <a:bodyPr wrap="square" lIns="0" tIns="0" rIns="0" bIns="0" rtlCol="0" anchor="ctr"/>
          <a:lstStyle/>
          <a:p>
            <a:pPr indent="0" marL="0">
              <a:lnSpc>
                <a:spcPct val="112000"/>
              </a:lnSpc>
              <a:buNone/>
            </a:pPr>
            <a:r>
              <a:rPr lang="en-US" sz="1250" b="1" dirty="0">
                <a:solidFill>
                  <a:srgbClr val="0F2942"/>
                </a:solidFill>
                <a:latin typeface="Calibri" pitchFamily="34" charset="0"/>
                <a:ea typeface="Calibri" pitchFamily="34" charset="-122"/>
                <a:cs typeface="Calibri" pitchFamily="34" charset="-120"/>
              </a:rPr>
              <a:t>Braces make scopes.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Every pair of braces opens a new one. A variable declared inside is invisible outside — the compiler says "cannot find symbol".</a:t>
            </a:r>
            <a:endParaRPr lang="en-US" sz="1250" dirty="0"/>
          </a:p>
        </p:txBody>
      </p:sp>
      <p:sp>
        <p:nvSpPr>
          <p:cNvPr id="12" name="Shape 10"/>
          <p:cNvSpPr/>
          <p:nvPr/>
        </p:nvSpPr>
        <p:spPr>
          <a:xfrm>
            <a:off x="6876288" y="1536192"/>
            <a:ext cx="4748479" cy="1541678"/>
          </a:xfrm>
          <a:prstGeom prst="roundRect">
            <a:avLst>
              <a:gd name="adj" fmla="val 4152"/>
            </a:avLst>
          </a:prstGeom>
          <a:solidFill>
            <a:srgbClr val="EDF2F7"/>
          </a:solidFill>
          <a:ln w="12700">
            <a:solidFill>
              <a:srgbClr val="CFDBE5"/>
            </a:solidFill>
            <a:prstDash val="solid"/>
          </a:ln>
        </p:spPr>
      </p:sp>
      <p:sp>
        <p:nvSpPr>
          <p:cNvPr id="13" name="Text 11"/>
          <p:cNvSpPr txBox="1"/>
          <p:nvPr/>
        </p:nvSpPr>
        <p:spPr>
          <a:xfrm>
            <a:off x="7022592" y="1581912"/>
            <a:ext cx="445587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A for LOOP HAS TWO SCOPES</a:t>
            </a:r>
            <a:endParaRPr lang="en-US" sz="950" dirty="0"/>
          </a:p>
        </p:txBody>
      </p:sp>
      <p:sp>
        <p:nvSpPr>
          <p:cNvPr id="14" name="Text 12"/>
          <p:cNvSpPr txBox="1"/>
          <p:nvPr/>
        </p:nvSpPr>
        <p:spPr>
          <a:xfrm>
            <a:off x="7040880" y="1810512"/>
            <a:ext cx="4419295" cy="1212494"/>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a new x on every pass</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i and x are both gone here</a:t>
            </a:r>
            <a:endParaRPr lang="en-US" sz="1100" dirty="0"/>
          </a:p>
        </p:txBody>
      </p:sp>
      <p:sp>
        <p:nvSpPr>
          <p:cNvPr id="15" name="Shape 13"/>
          <p:cNvSpPr/>
          <p:nvPr/>
        </p:nvSpPr>
        <p:spPr>
          <a:xfrm>
            <a:off x="6876288" y="3333902"/>
            <a:ext cx="4748479" cy="1554480"/>
          </a:xfrm>
          <a:prstGeom prst="roundRect">
            <a:avLst>
              <a:gd name="adj" fmla="val 5294"/>
            </a:avLst>
          </a:prstGeom>
          <a:solidFill>
            <a:srgbClr val="F1F5F9"/>
          </a:solidFill>
          <a:ln w="12700">
            <a:solidFill>
              <a:srgbClr val="F1F5F9"/>
            </a:solidFill>
            <a:prstDash val="solid"/>
          </a:ln>
        </p:spPr>
      </p:sp>
      <p:sp>
        <p:nvSpPr>
          <p:cNvPr id="16" name="Text 14"/>
          <p:cNvSpPr txBox="1"/>
          <p:nvPr/>
        </p:nvSpPr>
        <p:spPr>
          <a:xfrm>
            <a:off x="7095744" y="3498494"/>
            <a:ext cx="4309567"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The loop variable and the loop body</a:t>
            </a:r>
            <a:endParaRPr lang="en-US" sz="1450" dirty="0"/>
          </a:p>
        </p:txBody>
      </p:sp>
      <p:sp>
        <p:nvSpPr>
          <p:cNvPr id="17" name="Text 15"/>
          <p:cNvSpPr txBox="1"/>
          <p:nvPr/>
        </p:nvSpPr>
        <p:spPr>
          <a:xfrm>
            <a:off x="7095744" y="3827678"/>
            <a:ext cx="4309567" cy="93268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A variable declared in the initial-action part — the i — has the whole loop as its scope, header and body. A variable declared inside the body starts fresh on every pass and is gone at the closing brace. Both are unusable after the loop.</a:t>
            </a:r>
            <a:endParaRPr lang="en-US" sz="1200" dirty="0"/>
          </a:p>
        </p:txBody>
      </p:sp>
      <p:sp>
        <p:nvSpPr>
          <p:cNvPr id="18" name="Shape 16"/>
          <p:cNvSpPr/>
          <p:nvPr/>
        </p:nvSpPr>
        <p:spPr>
          <a:xfrm>
            <a:off x="6876288" y="5089550"/>
            <a:ext cx="4748479" cy="1188720"/>
          </a:xfrm>
          <a:prstGeom prst="roundRect">
            <a:avLst>
              <a:gd name="adj" fmla="val 6923"/>
            </a:avLst>
          </a:prstGeom>
          <a:solidFill>
            <a:srgbClr val="FBEEE0"/>
          </a:solidFill>
          <a:ln w="12700">
            <a:solidFill>
              <a:srgbClr val="FBEEE0"/>
            </a:solidFill>
            <a:prstDash val="solid"/>
          </a:ln>
        </p:spPr>
      </p:sp>
      <p:sp>
        <p:nvSpPr>
          <p:cNvPr id="19" name="Text 17"/>
          <p:cNvSpPr txBox="1"/>
          <p:nvPr/>
        </p:nvSpPr>
        <p:spPr>
          <a:xfrm>
            <a:off x="7132320" y="5208422"/>
            <a:ext cx="4236415" cy="274320"/>
          </a:xfrm>
          <a:prstGeom prst="rect">
            <a:avLst/>
          </a:prstGeom>
          <a:noFill/>
          <a:ln/>
        </p:spPr>
        <p:txBody>
          <a:bodyPr wrap="square" lIns="0" tIns="0" rIns="0" bIns="0" rtlCol="0" anchor="ctr"/>
          <a:lstStyle/>
          <a:p>
            <a:pPr indent="0" marL="0">
              <a:buNone/>
            </a:pPr>
            <a:r>
              <a:rPr lang="en-US" sz="1350" b="1" dirty="0">
                <a:solidFill>
                  <a:srgbClr val="9A430A"/>
                </a:solidFill>
                <a:latin typeface="Calibri" pitchFamily="34" charset="0"/>
                <a:ea typeface="Calibri" pitchFamily="34" charset="-122"/>
                <a:cs typeface="Calibri" pitchFamily="34" charset="-120"/>
              </a:rPr>
              <a:t>Declare variables where you use them</a:t>
            </a:r>
            <a:endParaRPr lang="en-US" sz="1350" dirty="0"/>
          </a:p>
        </p:txBody>
      </p:sp>
      <p:sp>
        <p:nvSpPr>
          <p:cNvPr id="20" name="Text 18"/>
          <p:cNvSpPr txBox="1"/>
          <p:nvPr/>
        </p:nvSpPr>
        <p:spPr>
          <a:xfrm>
            <a:off x="7132320" y="5501030"/>
            <a:ext cx="4236415" cy="73152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The narrower a variable's scope, the less of the program you must read to understand it. Declaring everything at the top is a habit from C.</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SCOPE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Two Declarations, One Name</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Legal in sibling blocks. Illegal in nested ones.</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22</a:t>
            </a:r>
            <a:endParaRPr lang="en-US" sz="900" dirty="0"/>
          </a:p>
        </p:txBody>
      </p:sp>
      <p:sp>
        <p:nvSpPr>
          <p:cNvPr id="7" name="Shape 5"/>
          <p:cNvSpPr/>
          <p:nvPr/>
        </p:nvSpPr>
        <p:spPr>
          <a:xfrm>
            <a:off x="566928" y="1536192"/>
            <a:ext cx="5323180" cy="2394631"/>
          </a:xfrm>
          <a:prstGeom prst="roundRect">
            <a:avLst>
              <a:gd name="adj" fmla="val 2673"/>
            </a:avLst>
          </a:prstGeom>
          <a:solidFill>
            <a:srgbClr val="EDF2F7"/>
          </a:solidFill>
          <a:ln w="12700">
            <a:solidFill>
              <a:srgbClr val="CFDBE5"/>
            </a:solidFill>
            <a:prstDash val="solid"/>
          </a:ln>
        </p:spPr>
      </p:sp>
      <p:sp>
        <p:nvSpPr>
          <p:cNvPr id="8" name="Text 6"/>
          <p:cNvSpPr txBox="1"/>
          <p:nvPr/>
        </p:nvSpPr>
        <p:spPr>
          <a:xfrm>
            <a:off x="71323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FINE — THE TWO SCOPES DO NOT OVERLAP</a:t>
            </a:r>
            <a:endParaRPr lang="en-US" sz="950" dirty="0"/>
          </a:p>
        </p:txBody>
      </p:sp>
      <p:sp>
        <p:nvSpPr>
          <p:cNvPr id="9" name="Text 7"/>
          <p:cNvSpPr txBox="1"/>
          <p:nvPr/>
        </p:nvSpPr>
        <p:spPr>
          <a:xfrm>
            <a:off x="731520" y="1810512"/>
            <a:ext cx="4993996" cy="2065447"/>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void</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correctMethod</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y</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i declared</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i again</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y</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0" name="Shape 8"/>
          <p:cNvSpPr/>
          <p:nvPr/>
        </p:nvSpPr>
        <p:spPr>
          <a:xfrm>
            <a:off x="566928" y="4168567"/>
            <a:ext cx="5323180" cy="1051560"/>
          </a:xfrm>
          <a:prstGeom prst="roundRect">
            <a:avLst>
              <a:gd name="adj" fmla="val 7826"/>
            </a:avLst>
          </a:prstGeom>
          <a:solidFill>
            <a:srgbClr val="E6F2EC"/>
          </a:solidFill>
          <a:ln w="12700">
            <a:solidFill>
              <a:srgbClr val="E6F2EC"/>
            </a:solidFill>
            <a:prstDash val="solid"/>
          </a:ln>
        </p:spPr>
      </p:sp>
      <p:sp>
        <p:nvSpPr>
          <p:cNvPr id="11" name="Text 9"/>
          <p:cNvSpPr txBox="1"/>
          <p:nvPr/>
        </p:nvSpPr>
        <p:spPr>
          <a:xfrm>
            <a:off x="841248" y="4168567"/>
            <a:ext cx="4774540" cy="1051560"/>
          </a:xfrm>
          <a:prstGeom prst="rect">
            <a:avLst/>
          </a:prstGeom>
          <a:noFill/>
          <a:ln/>
        </p:spPr>
        <p:txBody>
          <a:bodyPr wrap="square" lIns="0" tIns="0" rIns="0" bIns="0" rtlCol="0" anchor="ctr"/>
          <a:lstStyle/>
          <a:p>
            <a:pPr indent="0" marL="0">
              <a:lnSpc>
                <a:spcPct val="112000"/>
              </a:lnSpc>
              <a:buNone/>
            </a:pPr>
            <a:r>
              <a:rPr lang="en-US" sz="1250" b="1" dirty="0">
                <a:solidFill>
                  <a:srgbClr val="176240"/>
                </a:solidFill>
                <a:latin typeface="Calibri" pitchFamily="34" charset="0"/>
                <a:ea typeface="Calibri" pitchFamily="34" charset="-122"/>
                <a:cs typeface="Calibri" pitchFamily="34" charset="-120"/>
              </a:rPr>
              <a:t>The first i is gone before the second is declared.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Two separate variables that happen to share a name.</a:t>
            </a:r>
            <a:endParaRPr lang="en-US" sz="1250" dirty="0"/>
          </a:p>
        </p:txBody>
      </p:sp>
      <p:sp>
        <p:nvSpPr>
          <p:cNvPr id="12" name="Shape 10"/>
          <p:cNvSpPr/>
          <p:nvPr/>
        </p:nvSpPr>
        <p:spPr>
          <a:xfrm>
            <a:off x="6301588" y="1536192"/>
            <a:ext cx="5323180" cy="1968155"/>
          </a:xfrm>
          <a:prstGeom prst="roundRect">
            <a:avLst>
              <a:gd name="adj" fmla="val 3252"/>
            </a:avLst>
          </a:prstGeom>
          <a:solidFill>
            <a:srgbClr val="EDF2F7"/>
          </a:solidFill>
          <a:ln w="12700">
            <a:solidFill>
              <a:srgbClr val="CFDBE5"/>
            </a:solidFill>
            <a:prstDash val="solid"/>
          </a:ln>
        </p:spPr>
      </p:sp>
      <p:sp>
        <p:nvSpPr>
          <p:cNvPr id="13" name="Text 11"/>
          <p:cNvSpPr txBox="1"/>
          <p:nvPr/>
        </p:nvSpPr>
        <p:spPr>
          <a:xfrm>
            <a:off x="644789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NOT FINE — THE INNER BLOCK IS NESTED</a:t>
            </a:r>
            <a:endParaRPr lang="en-US" sz="950" dirty="0"/>
          </a:p>
        </p:txBody>
      </p:sp>
      <p:sp>
        <p:nvSpPr>
          <p:cNvPr id="14" name="Text 12"/>
          <p:cNvSpPr txBox="1"/>
          <p:nvPr/>
        </p:nvSpPr>
        <p:spPr>
          <a:xfrm>
            <a:off x="6466180" y="1810512"/>
            <a:ext cx="4993996" cy="1638971"/>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void</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incorrectMethod</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y</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ERROR: x already defined</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5" name="Shape 13"/>
          <p:cNvSpPr/>
          <p:nvPr/>
        </p:nvSpPr>
        <p:spPr>
          <a:xfrm>
            <a:off x="6301588" y="3742091"/>
            <a:ext cx="5323180" cy="1234440"/>
          </a:xfrm>
          <a:prstGeom prst="roundRect">
            <a:avLst>
              <a:gd name="adj" fmla="val 6667"/>
            </a:avLst>
          </a:prstGeom>
          <a:solidFill>
            <a:srgbClr val="FBEAE8"/>
          </a:solidFill>
          <a:ln w="12700">
            <a:solidFill>
              <a:srgbClr val="FBEAE8"/>
            </a:solidFill>
            <a:prstDash val="solid"/>
          </a:ln>
        </p:spPr>
      </p:sp>
      <p:sp>
        <p:nvSpPr>
          <p:cNvPr id="16" name="Text 14"/>
          <p:cNvSpPr txBox="1"/>
          <p:nvPr/>
        </p:nvSpPr>
        <p:spPr>
          <a:xfrm>
            <a:off x="6557620" y="3851819"/>
            <a:ext cx="4811116" cy="274320"/>
          </a:xfrm>
          <a:prstGeom prst="rect">
            <a:avLst/>
          </a:prstGeom>
          <a:noFill/>
          <a:ln/>
        </p:spPr>
        <p:txBody>
          <a:bodyPr wrap="square" lIns="0" tIns="0" rIns="0" bIns="0" rtlCol="0" anchor="ctr"/>
          <a:lstStyle/>
          <a:p>
            <a:pPr indent="0" marL="0">
              <a:buNone/>
            </a:pPr>
            <a:r>
              <a:rPr lang="en-US" sz="1350" b="1" dirty="0">
                <a:solidFill>
                  <a:srgbClr val="9C241C"/>
                </a:solidFill>
                <a:latin typeface="Calibri" pitchFamily="34" charset="0"/>
                <a:ea typeface="Calibri" pitchFamily="34" charset="-122"/>
                <a:cs typeface="Calibri" pitchFamily="34" charset="-120"/>
              </a:rPr>
              <a:t>Java does not let you shadow a local</a:t>
            </a:r>
            <a:endParaRPr lang="en-US" sz="1350" dirty="0"/>
          </a:p>
        </p:txBody>
      </p:sp>
      <p:sp>
        <p:nvSpPr>
          <p:cNvPr id="17" name="Text 15"/>
          <p:cNvSpPr txBox="1"/>
          <p:nvPr/>
        </p:nvSpPr>
        <p:spPr>
          <a:xfrm>
            <a:off x="6557620" y="4144427"/>
            <a:ext cx="4811116" cy="82296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The outer x is still in scope inside the loop, so the inner declaration is a duplicate. Some languages let the inner one hide the outer; Java does not.</a:t>
            </a:r>
            <a:endParaRPr lang="en-US" sz="1200" dirty="0"/>
          </a:p>
        </p:txBody>
      </p:sp>
      <p:sp>
        <p:nvSpPr>
          <p:cNvPr id="18" name="Shape 16"/>
          <p:cNvSpPr/>
          <p:nvPr/>
        </p:nvSpPr>
        <p:spPr>
          <a:xfrm>
            <a:off x="566928" y="5558455"/>
            <a:ext cx="11057839" cy="822960"/>
          </a:xfrm>
          <a:prstGeom prst="roundRect">
            <a:avLst>
              <a:gd name="adj" fmla="val 10000"/>
            </a:avLst>
          </a:prstGeom>
          <a:solidFill>
            <a:srgbClr val="E4ECF4"/>
          </a:solidFill>
          <a:ln w="12700">
            <a:solidFill>
              <a:srgbClr val="E4ECF4"/>
            </a:solidFill>
            <a:prstDash val="solid"/>
          </a:ln>
        </p:spPr>
      </p:sp>
      <p:sp>
        <p:nvSpPr>
          <p:cNvPr id="19" name="Text 17"/>
          <p:cNvSpPr txBox="1"/>
          <p:nvPr/>
        </p:nvSpPr>
        <p:spPr>
          <a:xfrm>
            <a:off x="859536" y="5558455"/>
            <a:ext cx="10472623" cy="822960"/>
          </a:xfrm>
          <a:prstGeom prst="rect">
            <a:avLst/>
          </a:prstGeom>
          <a:noFill/>
          <a:ln/>
        </p:spPr>
        <p:txBody>
          <a:bodyPr wrap="square" lIns="0" tIns="0" rIns="0" bIns="0" rtlCol="0" anchor="ctr"/>
          <a:lstStyle/>
          <a:p>
            <a:pPr indent="0" marL="0">
              <a:lnSpc>
                <a:spcPct val="112000"/>
              </a:lnSpc>
              <a:buNone/>
            </a:pPr>
            <a:r>
              <a:rPr lang="en-US" sz="1250" b="1" dirty="0">
                <a:solidFill>
                  <a:srgbClr val="0F2942"/>
                </a:solidFill>
                <a:latin typeface="Calibri" pitchFamily="34" charset="0"/>
                <a:ea typeface="Calibri" pitchFamily="34" charset="-122"/>
                <a:cs typeface="Calibri" pitchFamily="34" charset="-120"/>
              </a:rPr>
              <a:t>The test to apply: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is the first variable still in scope where the second is declared? Sibling blocks are fine — the first has already ended. Nested blocks are not.</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ABSTRACTION</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The Method Body Is a Black Box</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The caller needs the contract — the name, the parameters, what comes back. Not the implementation.</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23</a:t>
            </a:r>
            <a:endParaRPr lang="en-US" sz="900" dirty="0"/>
          </a:p>
        </p:txBody>
      </p:sp>
      <p:sp>
        <p:nvSpPr>
          <p:cNvPr id="7" name="Text 5"/>
          <p:cNvSpPr txBox="1"/>
          <p:nvPr/>
        </p:nvSpPr>
        <p:spPr>
          <a:xfrm>
            <a:off x="566928" y="1536192"/>
            <a:ext cx="5577840" cy="219456"/>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THE CONTRACT IS ALL THE CALLER SEES</a:t>
            </a:r>
            <a:endParaRPr lang="en-US" sz="950" dirty="0"/>
          </a:p>
        </p:txBody>
      </p:sp>
      <p:sp>
        <p:nvSpPr>
          <p:cNvPr id="8" name="Shape 6"/>
          <p:cNvSpPr/>
          <p:nvPr/>
        </p:nvSpPr>
        <p:spPr>
          <a:xfrm>
            <a:off x="1618488" y="2450592"/>
            <a:ext cx="3474720" cy="1371600"/>
          </a:xfrm>
          <a:prstGeom prst="roundRect">
            <a:avLst>
              <a:gd name="adj" fmla="val 8000"/>
            </a:avLst>
          </a:prstGeom>
          <a:solidFill>
            <a:srgbClr val="0F2942"/>
          </a:solidFill>
          <a:ln w="12700">
            <a:solidFill>
              <a:srgbClr val="0F2942"/>
            </a:solidFill>
            <a:prstDash val="solid"/>
          </a:ln>
        </p:spPr>
      </p:sp>
      <p:sp>
        <p:nvSpPr>
          <p:cNvPr id="9" name="Text 7"/>
          <p:cNvSpPr txBox="1"/>
          <p:nvPr/>
        </p:nvSpPr>
        <p:spPr>
          <a:xfrm>
            <a:off x="1618488" y="2587752"/>
            <a:ext cx="347472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max</a:t>
            </a:r>
            <a:endParaRPr lang="en-US" sz="2000" dirty="0"/>
          </a:p>
        </p:txBody>
      </p:sp>
      <p:sp>
        <p:nvSpPr>
          <p:cNvPr id="10" name="Text 8"/>
          <p:cNvSpPr txBox="1"/>
          <p:nvPr/>
        </p:nvSpPr>
        <p:spPr>
          <a:xfrm>
            <a:off x="1618488" y="2999232"/>
            <a:ext cx="3474720" cy="658368"/>
          </a:xfrm>
          <a:prstGeom prst="rect">
            <a:avLst/>
          </a:prstGeom>
          <a:noFill/>
          <a:ln/>
        </p:spPr>
        <p:txBody>
          <a:bodyPr wrap="square" lIns="0" tIns="0" rIns="0" bIns="0" rtlCol="0" anchor="ctr"/>
          <a:lstStyle/>
          <a:p>
            <a:pPr algn="ctr" indent="0" marL="0">
              <a:lnSpc>
                <a:spcPct val="110000"/>
              </a:lnSpc>
              <a:buNone/>
            </a:pPr>
            <a:r>
              <a:rPr lang="en-US" sz="1150" dirty="0">
                <a:solidFill>
                  <a:srgbClr val="C7D6E2"/>
                </a:solidFill>
                <a:latin typeface="Calibri" pitchFamily="34" charset="0"/>
                <a:ea typeface="Calibri" pitchFamily="34" charset="-122"/>
                <a:cs typeface="Calibri" pitchFamily="34" charset="-120"/>
              </a:rPr>
              <a:t>the implementation</a:t>
            </a:r>
            <a:endParaRPr lang="en-US" sz="1150" dirty="0"/>
          </a:p>
          <a:p>
            <a:pPr algn="ctr" indent="0" marL="0">
              <a:lnSpc>
                <a:spcPct val="110000"/>
              </a:lnSpc>
              <a:buNone/>
            </a:pPr>
            <a:r>
              <a:rPr lang="en-US" sz="1150" dirty="0">
                <a:solidFill>
                  <a:srgbClr val="C7D6E2"/>
                </a:solidFill>
                <a:latin typeface="Calibri" pitchFamily="34" charset="0"/>
                <a:ea typeface="Calibri" pitchFamily="34" charset="-122"/>
                <a:cs typeface="Calibri" pitchFamily="34" charset="-120"/>
              </a:rPr>
              <a:t>is hidden in here</a:t>
            </a:r>
            <a:endParaRPr lang="en-US" sz="1150" dirty="0"/>
          </a:p>
        </p:txBody>
      </p:sp>
      <p:sp>
        <p:nvSpPr>
          <p:cNvPr id="11" name="Shape 9"/>
          <p:cNvSpPr/>
          <p:nvPr/>
        </p:nvSpPr>
        <p:spPr>
          <a:xfrm>
            <a:off x="566928" y="1920240"/>
            <a:ext cx="5577840" cy="384048"/>
          </a:xfrm>
          <a:prstGeom prst="roundRect">
            <a:avLst>
              <a:gd name="adj" fmla="val 14286"/>
            </a:avLst>
          </a:prstGeom>
          <a:solidFill>
            <a:srgbClr val="E4ECF4"/>
          </a:solidFill>
          <a:ln w="15240">
            <a:solidFill>
              <a:srgbClr val="1D4468"/>
            </a:solidFill>
            <a:prstDash val="solid"/>
          </a:ln>
        </p:spPr>
      </p:sp>
      <p:sp>
        <p:nvSpPr>
          <p:cNvPr id="12" name="Text 10"/>
          <p:cNvSpPr txBox="1"/>
          <p:nvPr/>
        </p:nvSpPr>
        <p:spPr>
          <a:xfrm>
            <a:off x="566928" y="1920240"/>
            <a:ext cx="5577840" cy="384048"/>
          </a:xfrm>
          <a:prstGeom prst="rect">
            <a:avLst/>
          </a:prstGeom>
          <a:noFill/>
          <a:ln/>
        </p:spPr>
        <p:txBody>
          <a:bodyPr wrap="square" lIns="0" tIns="0" rIns="0" bIns="0" rtlCol="0" anchor="ctr"/>
          <a:lstStyle/>
          <a:p>
            <a:pPr algn="ctr" indent="0" marL="0">
              <a:buNone/>
            </a:pPr>
            <a:r>
              <a:rPr lang="en-US" sz="1150" b="1" dirty="0">
                <a:solidFill>
                  <a:srgbClr val="0F2942"/>
                </a:solidFill>
                <a:latin typeface="Courier New" pitchFamily="34" charset="0"/>
                <a:ea typeface="Courier New" pitchFamily="34" charset="-122"/>
                <a:cs typeface="Courier New" pitchFamily="34" charset="-120"/>
              </a:rPr>
              <a:t>in:   int num1, int num2</a:t>
            </a:r>
            <a:endParaRPr lang="en-US" sz="1150" dirty="0"/>
          </a:p>
        </p:txBody>
      </p:sp>
      <p:sp>
        <p:nvSpPr>
          <p:cNvPr id="13" name="Shape 11"/>
          <p:cNvSpPr/>
          <p:nvPr/>
        </p:nvSpPr>
        <p:spPr>
          <a:xfrm>
            <a:off x="3355848" y="2304288"/>
            <a:ext cx="0" cy="146304"/>
          </a:xfrm>
          <a:prstGeom prst="line">
            <a:avLst/>
          </a:prstGeom>
          <a:noFill/>
          <a:ln w="19050">
            <a:solidFill>
              <a:srgbClr val="1D4468"/>
            </a:solidFill>
            <a:prstDash val="solid"/>
            <a:tailEnd type="triangle"/>
          </a:ln>
        </p:spPr>
      </p:sp>
      <p:sp>
        <p:nvSpPr>
          <p:cNvPr id="14" name="Shape 12"/>
          <p:cNvSpPr/>
          <p:nvPr/>
        </p:nvSpPr>
        <p:spPr>
          <a:xfrm>
            <a:off x="3355848" y="3822192"/>
            <a:ext cx="0" cy="146304"/>
          </a:xfrm>
          <a:prstGeom prst="line">
            <a:avLst/>
          </a:prstGeom>
          <a:noFill/>
          <a:ln w="19050">
            <a:solidFill>
              <a:srgbClr val="176240"/>
            </a:solidFill>
            <a:prstDash val="solid"/>
            <a:tailEnd type="triangle"/>
          </a:ln>
        </p:spPr>
      </p:sp>
      <p:sp>
        <p:nvSpPr>
          <p:cNvPr id="15" name="Shape 13"/>
          <p:cNvSpPr/>
          <p:nvPr/>
        </p:nvSpPr>
        <p:spPr>
          <a:xfrm>
            <a:off x="566928" y="3968496"/>
            <a:ext cx="5577840" cy="384048"/>
          </a:xfrm>
          <a:prstGeom prst="roundRect">
            <a:avLst>
              <a:gd name="adj" fmla="val 14286"/>
            </a:avLst>
          </a:prstGeom>
          <a:solidFill>
            <a:srgbClr val="E6F2EC"/>
          </a:solidFill>
          <a:ln w="15240">
            <a:solidFill>
              <a:srgbClr val="176240"/>
            </a:solidFill>
            <a:prstDash val="solid"/>
          </a:ln>
        </p:spPr>
      </p:sp>
      <p:sp>
        <p:nvSpPr>
          <p:cNvPr id="16" name="Text 14"/>
          <p:cNvSpPr txBox="1"/>
          <p:nvPr/>
        </p:nvSpPr>
        <p:spPr>
          <a:xfrm>
            <a:off x="566928" y="3968496"/>
            <a:ext cx="5577840" cy="384048"/>
          </a:xfrm>
          <a:prstGeom prst="rect">
            <a:avLst/>
          </a:prstGeom>
          <a:noFill/>
          <a:ln/>
        </p:spPr>
        <p:txBody>
          <a:bodyPr wrap="square" lIns="0" tIns="0" rIns="0" bIns="0" rtlCol="0" anchor="ctr"/>
          <a:lstStyle/>
          <a:p>
            <a:pPr algn="ctr" indent="0" marL="0">
              <a:buNone/>
            </a:pPr>
            <a:r>
              <a:rPr lang="en-US" sz="1150" b="1" dirty="0">
                <a:solidFill>
                  <a:srgbClr val="176240"/>
                </a:solidFill>
                <a:latin typeface="Courier New" pitchFamily="34" charset="0"/>
                <a:ea typeface="Courier New" pitchFamily="34" charset="-122"/>
                <a:cs typeface="Courier New" pitchFamily="34" charset="-120"/>
              </a:rPr>
              <a:t>out:  the larger of the two</a:t>
            </a:r>
            <a:endParaRPr lang="en-US" sz="1150" dirty="0"/>
          </a:p>
        </p:txBody>
      </p:sp>
      <p:sp>
        <p:nvSpPr>
          <p:cNvPr id="17" name="Shape 15"/>
          <p:cNvSpPr/>
          <p:nvPr/>
        </p:nvSpPr>
        <p:spPr>
          <a:xfrm>
            <a:off x="566928" y="4553712"/>
            <a:ext cx="5577840" cy="1554480"/>
          </a:xfrm>
          <a:prstGeom prst="roundRect">
            <a:avLst>
              <a:gd name="adj" fmla="val 5294"/>
            </a:avLst>
          </a:prstGeom>
          <a:solidFill>
            <a:srgbClr val="FBEEE0"/>
          </a:solidFill>
          <a:ln w="12700">
            <a:solidFill>
              <a:srgbClr val="FBEEE0"/>
            </a:solidFill>
            <a:prstDash val="solid"/>
          </a:ln>
        </p:spPr>
      </p:sp>
      <p:sp>
        <p:nvSpPr>
          <p:cNvPr id="18" name="Text 16"/>
          <p:cNvSpPr txBox="1"/>
          <p:nvPr/>
        </p:nvSpPr>
        <p:spPr>
          <a:xfrm>
            <a:off x="822960" y="4690872"/>
            <a:ext cx="5065776" cy="274320"/>
          </a:xfrm>
          <a:prstGeom prst="rect">
            <a:avLst/>
          </a:prstGeom>
          <a:noFill/>
          <a:ln/>
        </p:spPr>
        <p:txBody>
          <a:bodyPr wrap="square" lIns="0" tIns="0" rIns="0" bIns="0" rtlCol="0" anchor="ctr"/>
          <a:lstStyle/>
          <a:p>
            <a:pPr indent="0" marL="0">
              <a:buNone/>
            </a:pPr>
            <a:r>
              <a:rPr lang="en-US" sz="1350" b="1" dirty="0">
                <a:solidFill>
                  <a:srgbClr val="9A430A"/>
                </a:solidFill>
                <a:latin typeface="Calibri" pitchFamily="34" charset="0"/>
                <a:ea typeface="Calibri" pitchFamily="34" charset="-122"/>
                <a:cs typeface="Calibri" pitchFamily="34" charset="-120"/>
              </a:rPr>
              <a:t>Why hiding is the point</a:t>
            </a:r>
            <a:endParaRPr lang="en-US" sz="1350" dirty="0"/>
          </a:p>
        </p:txBody>
      </p:sp>
      <p:sp>
        <p:nvSpPr>
          <p:cNvPr id="19" name="Text 17"/>
          <p:cNvSpPr txBox="1"/>
          <p:nvPr/>
        </p:nvSpPr>
        <p:spPr>
          <a:xfrm>
            <a:off x="822960" y="5001768"/>
            <a:ext cx="5065776" cy="105156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Rewrite the body to use Math.max, or a ternary, or a lookup table — every caller keeps working, untouched. The contract is the promise; the body is an implementation detail you are free to change.</a:t>
            </a:r>
            <a:endParaRPr lang="en-US" sz="1200" dirty="0"/>
          </a:p>
        </p:txBody>
      </p:sp>
      <p:sp>
        <p:nvSpPr>
          <p:cNvPr id="20" name="Text 18"/>
          <p:cNvSpPr txBox="1"/>
          <p:nvPr/>
        </p:nvSpPr>
        <p:spPr>
          <a:xfrm>
            <a:off x="6601968" y="1536192"/>
            <a:ext cx="5022799" cy="219456"/>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THE FIVE BENEFITS</a:t>
            </a:r>
            <a:endParaRPr lang="en-US" sz="950" dirty="0"/>
          </a:p>
        </p:txBody>
      </p:sp>
      <p:sp>
        <p:nvSpPr>
          <p:cNvPr id="21" name="Shape 19"/>
          <p:cNvSpPr/>
          <p:nvPr/>
        </p:nvSpPr>
        <p:spPr>
          <a:xfrm>
            <a:off x="6601968" y="1810512"/>
            <a:ext cx="5022799" cy="841248"/>
          </a:xfrm>
          <a:prstGeom prst="roundRect">
            <a:avLst>
              <a:gd name="adj" fmla="val 9783"/>
            </a:avLst>
          </a:prstGeom>
          <a:solidFill>
            <a:srgbClr val="F1F5F9"/>
          </a:solidFill>
          <a:ln w="12700">
            <a:solidFill>
              <a:srgbClr val="F1F5F9"/>
            </a:solidFill>
            <a:prstDash val="solid"/>
          </a:ln>
        </p:spPr>
      </p:sp>
      <p:sp>
        <p:nvSpPr>
          <p:cNvPr id="22" name="Shape 20"/>
          <p:cNvSpPr/>
          <p:nvPr/>
        </p:nvSpPr>
        <p:spPr>
          <a:xfrm>
            <a:off x="6803136" y="2039112"/>
            <a:ext cx="384048" cy="384048"/>
          </a:xfrm>
          <a:prstGeom prst="ellipse">
            <a:avLst/>
          </a:prstGeom>
          <a:solidFill>
            <a:srgbClr val="C4560C"/>
          </a:solidFill>
          <a:ln w="12700">
            <a:solidFill>
              <a:srgbClr val="C4560C"/>
            </a:solidFill>
            <a:prstDash val="solid"/>
          </a:ln>
        </p:spPr>
      </p:sp>
      <p:sp>
        <p:nvSpPr>
          <p:cNvPr id="23" name="Text 21"/>
          <p:cNvSpPr txBox="1"/>
          <p:nvPr/>
        </p:nvSpPr>
        <p:spPr>
          <a:xfrm>
            <a:off x="6803136" y="20391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4" name="Text 22"/>
          <p:cNvSpPr txBox="1"/>
          <p:nvPr/>
        </p:nvSpPr>
        <p:spPr>
          <a:xfrm>
            <a:off x="7333488" y="1901952"/>
            <a:ext cx="4062679" cy="274320"/>
          </a:xfrm>
          <a:prstGeom prst="rect">
            <a:avLst/>
          </a:prstGeom>
          <a:noFill/>
          <a:ln/>
        </p:spPr>
        <p:txBody>
          <a:bodyPr wrap="square" lIns="0" tIns="0" rIns="0" bIns="0" rtlCol="0" anchor="ctr"/>
          <a:lstStyle/>
          <a:p>
            <a:pPr indent="0" marL="0">
              <a:buNone/>
            </a:pPr>
            <a:r>
              <a:rPr lang="en-US" sz="1300" b="1" dirty="0">
                <a:solidFill>
                  <a:srgbClr val="0F2942"/>
                </a:solidFill>
                <a:latin typeface="Calibri" pitchFamily="34" charset="0"/>
                <a:ea typeface="Calibri" pitchFamily="34" charset="-122"/>
                <a:cs typeface="Calibri" pitchFamily="34" charset="-120"/>
              </a:rPr>
              <a:t>Reuse</a:t>
            </a:r>
            <a:endParaRPr lang="en-US" sz="1300" dirty="0"/>
          </a:p>
        </p:txBody>
      </p:sp>
      <p:sp>
        <p:nvSpPr>
          <p:cNvPr id="25" name="Text 23"/>
          <p:cNvSpPr txBox="1"/>
          <p:nvPr/>
        </p:nvSpPr>
        <p:spPr>
          <a:xfrm>
            <a:off x="7333488" y="2176272"/>
            <a:ext cx="4062679" cy="420624"/>
          </a:xfrm>
          <a:prstGeom prst="rect">
            <a:avLst/>
          </a:prstGeom>
          <a:noFill/>
          <a:ln/>
        </p:spPr>
        <p:txBody>
          <a:bodyPr wrap="square" lIns="0" tIns="0" rIns="0" bIns="0" rtlCol="0" anchor="t"/>
          <a:lstStyle/>
          <a:p>
            <a:pPr indent="0" marL="0">
              <a:lnSpc>
                <a:spcPct val="106000"/>
              </a:lnSpc>
              <a:buNone/>
            </a:pPr>
            <a:r>
              <a:rPr lang="en-US" sz="1150" dirty="0">
                <a:solidFill>
                  <a:srgbClr val="3A536B"/>
                </a:solidFill>
                <a:latin typeface="Calibri" pitchFamily="34" charset="0"/>
                <a:ea typeface="Calibri" pitchFamily="34" charset="-122"/>
                <a:cs typeface="Calibri" pitchFamily="34" charset="-120"/>
              </a:rPr>
              <a:t>Write it once, call it from anywhere — including from classes that do not exist yet.</a:t>
            </a:r>
            <a:endParaRPr lang="en-US" sz="1150" dirty="0"/>
          </a:p>
        </p:txBody>
      </p:sp>
      <p:sp>
        <p:nvSpPr>
          <p:cNvPr id="26" name="Shape 24"/>
          <p:cNvSpPr/>
          <p:nvPr/>
        </p:nvSpPr>
        <p:spPr>
          <a:xfrm>
            <a:off x="6601968" y="2724912"/>
            <a:ext cx="5022799" cy="841248"/>
          </a:xfrm>
          <a:prstGeom prst="roundRect">
            <a:avLst>
              <a:gd name="adj" fmla="val 9783"/>
            </a:avLst>
          </a:prstGeom>
          <a:solidFill>
            <a:srgbClr val="FFFFFF"/>
          </a:solidFill>
          <a:ln w="12700">
            <a:solidFill>
              <a:srgbClr val="D3DEE7"/>
            </a:solidFill>
            <a:prstDash val="solid"/>
          </a:ln>
        </p:spPr>
      </p:sp>
      <p:sp>
        <p:nvSpPr>
          <p:cNvPr id="27" name="Shape 25"/>
          <p:cNvSpPr/>
          <p:nvPr/>
        </p:nvSpPr>
        <p:spPr>
          <a:xfrm>
            <a:off x="6803136" y="2953512"/>
            <a:ext cx="384048" cy="384048"/>
          </a:xfrm>
          <a:prstGeom prst="ellipse">
            <a:avLst/>
          </a:prstGeom>
          <a:solidFill>
            <a:srgbClr val="C4560C"/>
          </a:solidFill>
          <a:ln w="12700">
            <a:solidFill>
              <a:srgbClr val="C4560C"/>
            </a:solidFill>
            <a:prstDash val="solid"/>
          </a:ln>
        </p:spPr>
      </p:sp>
      <p:sp>
        <p:nvSpPr>
          <p:cNvPr id="28" name="Text 26"/>
          <p:cNvSpPr txBox="1"/>
          <p:nvPr/>
        </p:nvSpPr>
        <p:spPr>
          <a:xfrm>
            <a:off x="6803136" y="29535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9" name="Text 27"/>
          <p:cNvSpPr txBox="1"/>
          <p:nvPr/>
        </p:nvSpPr>
        <p:spPr>
          <a:xfrm>
            <a:off x="7333488" y="2816352"/>
            <a:ext cx="4062679" cy="274320"/>
          </a:xfrm>
          <a:prstGeom prst="rect">
            <a:avLst/>
          </a:prstGeom>
          <a:noFill/>
          <a:ln/>
        </p:spPr>
        <p:txBody>
          <a:bodyPr wrap="square" lIns="0" tIns="0" rIns="0" bIns="0" rtlCol="0" anchor="ctr"/>
          <a:lstStyle/>
          <a:p>
            <a:pPr indent="0" marL="0">
              <a:buNone/>
            </a:pPr>
            <a:r>
              <a:rPr lang="en-US" sz="1300" b="1" dirty="0">
                <a:solidFill>
                  <a:srgbClr val="0F2942"/>
                </a:solidFill>
                <a:latin typeface="Calibri" pitchFamily="34" charset="0"/>
                <a:ea typeface="Calibri" pitchFamily="34" charset="-122"/>
                <a:cs typeface="Calibri" pitchFamily="34" charset="-120"/>
              </a:rPr>
              <a:t>Information hiding</a:t>
            </a:r>
            <a:endParaRPr lang="en-US" sz="1300" dirty="0"/>
          </a:p>
        </p:txBody>
      </p:sp>
      <p:sp>
        <p:nvSpPr>
          <p:cNvPr id="30" name="Text 28"/>
          <p:cNvSpPr txBox="1"/>
          <p:nvPr/>
        </p:nvSpPr>
        <p:spPr>
          <a:xfrm>
            <a:off x="7333488" y="3090672"/>
            <a:ext cx="4062679" cy="420624"/>
          </a:xfrm>
          <a:prstGeom prst="rect">
            <a:avLst/>
          </a:prstGeom>
          <a:noFill/>
          <a:ln/>
        </p:spPr>
        <p:txBody>
          <a:bodyPr wrap="square" lIns="0" tIns="0" rIns="0" bIns="0" rtlCol="0" anchor="t"/>
          <a:lstStyle/>
          <a:p>
            <a:pPr indent="0" marL="0">
              <a:lnSpc>
                <a:spcPct val="106000"/>
              </a:lnSpc>
              <a:buNone/>
            </a:pPr>
            <a:r>
              <a:rPr lang="en-US" sz="1150" dirty="0">
                <a:solidFill>
                  <a:srgbClr val="3A536B"/>
                </a:solidFill>
                <a:latin typeface="Calibri" pitchFamily="34" charset="0"/>
                <a:ea typeface="Calibri" pitchFamily="34" charset="-122"/>
                <a:cs typeface="Calibri" pitchFamily="34" charset="-120"/>
              </a:rPr>
              <a:t>The caller cannot depend on how it works, so you are free to change how it works.</a:t>
            </a:r>
            <a:endParaRPr lang="en-US" sz="1150" dirty="0"/>
          </a:p>
        </p:txBody>
      </p:sp>
      <p:sp>
        <p:nvSpPr>
          <p:cNvPr id="31" name="Shape 29"/>
          <p:cNvSpPr/>
          <p:nvPr/>
        </p:nvSpPr>
        <p:spPr>
          <a:xfrm>
            <a:off x="6601968" y="3639312"/>
            <a:ext cx="5022799" cy="841248"/>
          </a:xfrm>
          <a:prstGeom prst="roundRect">
            <a:avLst>
              <a:gd name="adj" fmla="val 9783"/>
            </a:avLst>
          </a:prstGeom>
          <a:solidFill>
            <a:srgbClr val="F1F5F9"/>
          </a:solidFill>
          <a:ln w="12700">
            <a:solidFill>
              <a:srgbClr val="F1F5F9"/>
            </a:solidFill>
            <a:prstDash val="solid"/>
          </a:ln>
        </p:spPr>
      </p:sp>
      <p:sp>
        <p:nvSpPr>
          <p:cNvPr id="32" name="Shape 30"/>
          <p:cNvSpPr/>
          <p:nvPr/>
        </p:nvSpPr>
        <p:spPr>
          <a:xfrm>
            <a:off x="6803136" y="3867912"/>
            <a:ext cx="384048" cy="384048"/>
          </a:xfrm>
          <a:prstGeom prst="ellipse">
            <a:avLst/>
          </a:prstGeom>
          <a:solidFill>
            <a:srgbClr val="C4560C"/>
          </a:solidFill>
          <a:ln w="12700">
            <a:solidFill>
              <a:srgbClr val="C4560C"/>
            </a:solidFill>
            <a:prstDash val="solid"/>
          </a:ln>
        </p:spPr>
      </p:sp>
      <p:sp>
        <p:nvSpPr>
          <p:cNvPr id="33" name="Text 31"/>
          <p:cNvSpPr txBox="1"/>
          <p:nvPr/>
        </p:nvSpPr>
        <p:spPr>
          <a:xfrm>
            <a:off x="6803136" y="38679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4" name="Text 32"/>
          <p:cNvSpPr txBox="1"/>
          <p:nvPr/>
        </p:nvSpPr>
        <p:spPr>
          <a:xfrm>
            <a:off x="7333488" y="3730752"/>
            <a:ext cx="4062679" cy="274320"/>
          </a:xfrm>
          <a:prstGeom prst="rect">
            <a:avLst/>
          </a:prstGeom>
          <a:noFill/>
          <a:ln/>
        </p:spPr>
        <p:txBody>
          <a:bodyPr wrap="square" lIns="0" tIns="0" rIns="0" bIns="0" rtlCol="0" anchor="ctr"/>
          <a:lstStyle/>
          <a:p>
            <a:pPr indent="0" marL="0">
              <a:buNone/>
            </a:pPr>
            <a:r>
              <a:rPr lang="en-US" sz="1300" b="1" dirty="0">
                <a:solidFill>
                  <a:srgbClr val="0F2942"/>
                </a:solidFill>
                <a:latin typeface="Calibri" pitchFamily="34" charset="0"/>
                <a:ea typeface="Calibri" pitchFamily="34" charset="-122"/>
                <a:cs typeface="Calibri" pitchFamily="34" charset="-120"/>
              </a:rPr>
              <a:t>Less complexity</a:t>
            </a:r>
            <a:endParaRPr lang="en-US" sz="1300" dirty="0"/>
          </a:p>
        </p:txBody>
      </p:sp>
      <p:sp>
        <p:nvSpPr>
          <p:cNvPr id="35" name="Text 33"/>
          <p:cNvSpPr txBox="1"/>
          <p:nvPr/>
        </p:nvSpPr>
        <p:spPr>
          <a:xfrm>
            <a:off x="7333488" y="4005072"/>
            <a:ext cx="4062679" cy="420624"/>
          </a:xfrm>
          <a:prstGeom prst="rect">
            <a:avLst/>
          </a:prstGeom>
          <a:noFill/>
          <a:ln/>
        </p:spPr>
        <p:txBody>
          <a:bodyPr wrap="square" lIns="0" tIns="0" rIns="0" bIns="0" rtlCol="0" anchor="t"/>
          <a:lstStyle/>
          <a:p>
            <a:pPr indent="0" marL="0">
              <a:lnSpc>
                <a:spcPct val="106000"/>
              </a:lnSpc>
              <a:buNone/>
            </a:pPr>
            <a:r>
              <a:rPr lang="en-US" sz="1150" dirty="0">
                <a:solidFill>
                  <a:srgbClr val="3A536B"/>
                </a:solidFill>
                <a:latin typeface="Calibri" pitchFamily="34" charset="0"/>
                <a:ea typeface="Calibri" pitchFamily="34" charset="-122"/>
                <a:cs typeface="Calibri" pitchFamily="34" charset="-120"/>
              </a:rPr>
              <a:t>A program of ten named methods is ten small problems, not one large one.</a:t>
            </a:r>
            <a:endParaRPr lang="en-US" sz="1150" dirty="0"/>
          </a:p>
        </p:txBody>
      </p:sp>
      <p:sp>
        <p:nvSpPr>
          <p:cNvPr id="36" name="Shape 34"/>
          <p:cNvSpPr/>
          <p:nvPr/>
        </p:nvSpPr>
        <p:spPr>
          <a:xfrm>
            <a:off x="6601968" y="4553712"/>
            <a:ext cx="5022799" cy="841248"/>
          </a:xfrm>
          <a:prstGeom prst="roundRect">
            <a:avLst>
              <a:gd name="adj" fmla="val 9783"/>
            </a:avLst>
          </a:prstGeom>
          <a:solidFill>
            <a:srgbClr val="FFFFFF"/>
          </a:solidFill>
          <a:ln w="12700">
            <a:solidFill>
              <a:srgbClr val="D3DEE7"/>
            </a:solidFill>
            <a:prstDash val="solid"/>
          </a:ln>
        </p:spPr>
      </p:sp>
      <p:sp>
        <p:nvSpPr>
          <p:cNvPr id="37" name="Shape 35"/>
          <p:cNvSpPr/>
          <p:nvPr/>
        </p:nvSpPr>
        <p:spPr>
          <a:xfrm>
            <a:off x="6803136" y="4782312"/>
            <a:ext cx="384048" cy="384048"/>
          </a:xfrm>
          <a:prstGeom prst="ellipse">
            <a:avLst/>
          </a:prstGeom>
          <a:solidFill>
            <a:srgbClr val="C4560C"/>
          </a:solidFill>
          <a:ln w="12700">
            <a:solidFill>
              <a:srgbClr val="C4560C"/>
            </a:solidFill>
            <a:prstDash val="solid"/>
          </a:ln>
        </p:spPr>
      </p:sp>
      <p:sp>
        <p:nvSpPr>
          <p:cNvPr id="38" name="Text 36"/>
          <p:cNvSpPr txBox="1"/>
          <p:nvPr/>
        </p:nvSpPr>
        <p:spPr>
          <a:xfrm>
            <a:off x="6803136" y="47823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9" name="Text 37"/>
          <p:cNvSpPr txBox="1"/>
          <p:nvPr/>
        </p:nvSpPr>
        <p:spPr>
          <a:xfrm>
            <a:off x="7333488" y="4645152"/>
            <a:ext cx="4062679" cy="274320"/>
          </a:xfrm>
          <a:prstGeom prst="rect">
            <a:avLst/>
          </a:prstGeom>
          <a:noFill/>
          <a:ln/>
        </p:spPr>
        <p:txBody>
          <a:bodyPr wrap="square" lIns="0" tIns="0" rIns="0" bIns="0" rtlCol="0" anchor="ctr"/>
          <a:lstStyle/>
          <a:p>
            <a:pPr indent="0" marL="0">
              <a:buNone/>
            </a:pPr>
            <a:r>
              <a:rPr lang="en-US" sz="1300" b="1" dirty="0">
                <a:solidFill>
                  <a:srgbClr val="0F2942"/>
                </a:solidFill>
                <a:latin typeface="Calibri" pitchFamily="34" charset="0"/>
                <a:ea typeface="Calibri" pitchFamily="34" charset="-122"/>
                <a:cs typeface="Calibri" pitchFamily="34" charset="-120"/>
              </a:rPr>
              <a:t>Easier debugging</a:t>
            </a:r>
            <a:endParaRPr lang="en-US" sz="1300" dirty="0"/>
          </a:p>
        </p:txBody>
      </p:sp>
      <p:sp>
        <p:nvSpPr>
          <p:cNvPr id="40" name="Text 38"/>
          <p:cNvSpPr txBox="1"/>
          <p:nvPr/>
        </p:nvSpPr>
        <p:spPr>
          <a:xfrm>
            <a:off x="7333488" y="4919472"/>
            <a:ext cx="4062679" cy="420624"/>
          </a:xfrm>
          <a:prstGeom prst="rect">
            <a:avLst/>
          </a:prstGeom>
          <a:noFill/>
          <a:ln/>
        </p:spPr>
        <p:txBody>
          <a:bodyPr wrap="square" lIns="0" tIns="0" rIns="0" bIns="0" rtlCol="0" anchor="t"/>
          <a:lstStyle/>
          <a:p>
            <a:pPr indent="0" marL="0">
              <a:lnSpc>
                <a:spcPct val="106000"/>
              </a:lnSpc>
              <a:buNone/>
            </a:pPr>
            <a:r>
              <a:rPr lang="en-US" sz="1150" dirty="0">
                <a:solidFill>
                  <a:srgbClr val="3A536B"/>
                </a:solidFill>
                <a:latin typeface="Calibri" pitchFamily="34" charset="0"/>
                <a:ea typeface="Calibri" pitchFamily="34" charset="-122"/>
                <a:cs typeface="Calibri" pitchFamily="34" charset="-120"/>
              </a:rPr>
              <a:t>When a method is wrong you can test it alone, with a handful of inputs.</a:t>
            </a:r>
            <a:endParaRPr lang="en-US" sz="1150" dirty="0"/>
          </a:p>
        </p:txBody>
      </p:sp>
      <p:sp>
        <p:nvSpPr>
          <p:cNvPr id="41" name="Shape 39"/>
          <p:cNvSpPr/>
          <p:nvPr/>
        </p:nvSpPr>
        <p:spPr>
          <a:xfrm>
            <a:off x="6601968" y="5468112"/>
            <a:ext cx="5022799" cy="841248"/>
          </a:xfrm>
          <a:prstGeom prst="roundRect">
            <a:avLst>
              <a:gd name="adj" fmla="val 9783"/>
            </a:avLst>
          </a:prstGeom>
          <a:solidFill>
            <a:srgbClr val="F1F5F9"/>
          </a:solidFill>
          <a:ln w="12700">
            <a:solidFill>
              <a:srgbClr val="F1F5F9"/>
            </a:solidFill>
            <a:prstDash val="solid"/>
          </a:ln>
        </p:spPr>
      </p:sp>
      <p:sp>
        <p:nvSpPr>
          <p:cNvPr id="42" name="Shape 40"/>
          <p:cNvSpPr/>
          <p:nvPr/>
        </p:nvSpPr>
        <p:spPr>
          <a:xfrm>
            <a:off x="6803136" y="5696712"/>
            <a:ext cx="384048" cy="384048"/>
          </a:xfrm>
          <a:prstGeom prst="ellipse">
            <a:avLst/>
          </a:prstGeom>
          <a:solidFill>
            <a:srgbClr val="C4560C"/>
          </a:solidFill>
          <a:ln w="12700">
            <a:solidFill>
              <a:srgbClr val="C4560C"/>
            </a:solidFill>
            <a:prstDash val="solid"/>
          </a:ln>
        </p:spPr>
      </p:sp>
      <p:sp>
        <p:nvSpPr>
          <p:cNvPr id="43" name="Text 41"/>
          <p:cNvSpPr txBox="1"/>
          <p:nvPr/>
        </p:nvSpPr>
        <p:spPr>
          <a:xfrm>
            <a:off x="6803136" y="5696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4" name="Text 42"/>
          <p:cNvSpPr txBox="1"/>
          <p:nvPr/>
        </p:nvSpPr>
        <p:spPr>
          <a:xfrm>
            <a:off x="7333488" y="5559552"/>
            <a:ext cx="4062679" cy="274320"/>
          </a:xfrm>
          <a:prstGeom prst="rect">
            <a:avLst/>
          </a:prstGeom>
          <a:noFill/>
          <a:ln/>
        </p:spPr>
        <p:txBody>
          <a:bodyPr wrap="square" lIns="0" tIns="0" rIns="0" bIns="0" rtlCol="0" anchor="ctr"/>
          <a:lstStyle/>
          <a:p>
            <a:pPr indent="0" marL="0">
              <a:buNone/>
            </a:pPr>
            <a:r>
              <a:rPr lang="en-US" sz="1300" b="1" dirty="0">
                <a:solidFill>
                  <a:srgbClr val="0F2942"/>
                </a:solidFill>
                <a:latin typeface="Calibri" pitchFamily="34" charset="0"/>
                <a:ea typeface="Calibri" pitchFamily="34" charset="-122"/>
                <a:cs typeface="Calibri" pitchFamily="34" charset="-120"/>
              </a:rPr>
              <a:t>Easier reading</a:t>
            </a:r>
            <a:endParaRPr lang="en-US" sz="1300" dirty="0"/>
          </a:p>
        </p:txBody>
      </p:sp>
      <p:sp>
        <p:nvSpPr>
          <p:cNvPr id="45" name="Text 43"/>
          <p:cNvSpPr txBox="1"/>
          <p:nvPr/>
        </p:nvSpPr>
        <p:spPr>
          <a:xfrm>
            <a:off x="7333488" y="5833872"/>
            <a:ext cx="4062679" cy="420624"/>
          </a:xfrm>
          <a:prstGeom prst="rect">
            <a:avLst/>
          </a:prstGeom>
          <a:noFill/>
          <a:ln/>
        </p:spPr>
        <p:txBody>
          <a:bodyPr wrap="square" lIns="0" tIns="0" rIns="0" bIns="0" rtlCol="0" anchor="t"/>
          <a:lstStyle/>
          <a:p>
            <a:pPr indent="0" marL="0">
              <a:lnSpc>
                <a:spcPct val="106000"/>
              </a:lnSpc>
              <a:buNone/>
            </a:pPr>
            <a:r>
              <a:rPr lang="en-US" sz="1150" dirty="0">
                <a:solidFill>
                  <a:srgbClr val="3A536B"/>
                </a:solidFill>
                <a:latin typeface="Calibri" pitchFamily="34" charset="0"/>
                <a:ea typeface="Calibri" pitchFamily="34" charset="-122"/>
                <a:cs typeface="Calibri" pitchFamily="34" charset="-120"/>
              </a:rPr>
              <a:t>computeTax(income) says what it does. Fourteen lines of arithmetic do not.</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IN PRACTICE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Turning Last Week's Programs Into Methods</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The GCD and prime-number programs from Lecture 4 become reusable, testable units.</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24</a:t>
            </a:r>
            <a:endParaRPr lang="en-US" sz="900" dirty="0"/>
          </a:p>
        </p:txBody>
      </p:sp>
      <p:sp>
        <p:nvSpPr>
          <p:cNvPr id="7" name="Shape 5"/>
          <p:cNvSpPr/>
          <p:nvPr/>
        </p:nvSpPr>
        <p:spPr>
          <a:xfrm>
            <a:off x="566928" y="1536192"/>
            <a:ext cx="5323180" cy="2510942"/>
          </a:xfrm>
          <a:prstGeom prst="roundRect">
            <a:avLst>
              <a:gd name="adj" fmla="val 2549"/>
            </a:avLst>
          </a:prstGeom>
          <a:solidFill>
            <a:srgbClr val="EDF2F7"/>
          </a:solidFill>
          <a:ln w="12700">
            <a:solidFill>
              <a:srgbClr val="CFDBE5"/>
            </a:solidFill>
            <a:prstDash val="solid"/>
          </a:ln>
        </p:spPr>
      </p:sp>
      <p:sp>
        <p:nvSpPr>
          <p:cNvPr id="8" name="Text 6"/>
          <p:cNvSpPr txBox="1"/>
          <p:nvPr/>
        </p:nvSpPr>
        <p:spPr>
          <a:xfrm>
            <a:off x="71323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GreatestCommonDivisorMethod.java</a:t>
            </a:r>
            <a:endParaRPr lang="en-US" sz="950" dirty="0"/>
          </a:p>
        </p:txBody>
      </p:sp>
      <p:sp>
        <p:nvSpPr>
          <p:cNvPr id="9" name="Text 7"/>
          <p:cNvSpPr txBox="1"/>
          <p:nvPr/>
        </p:nvSpPr>
        <p:spPr>
          <a:xfrm>
            <a:off x="731520" y="1810512"/>
            <a:ext cx="4993996" cy="2181758"/>
          </a:xfrm>
          <a:prstGeom prst="rect">
            <a:avLst/>
          </a:prstGeom>
          <a:noFill/>
          <a:ln/>
        </p:spPr>
        <p:txBody>
          <a:bodyPr wrap="square" lIns="0" tIns="0" rIns="0" bIns="0" rtlCol="0" anchor="t"/>
          <a:lstStyle/>
          <a:p>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Returns</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the</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greatest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common</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divisor</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of</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and</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gcd</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gcd</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&amp;</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&amp;</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&amp;</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&amp;</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gcd</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gcd</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gcd</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125</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2525</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415C6E"/>
                </a:solidFill>
                <a:latin typeface="Courier New" pitchFamily="34" charset="0"/>
                <a:ea typeface="Courier New" pitchFamily="34" charset="-122"/>
                <a:cs typeface="Courier New" pitchFamily="34" charset="-120"/>
              </a:rPr>
              <a:t>// 25</a:t>
            </a:r>
            <a:endParaRPr lang="en-US" sz="1050" dirty="0"/>
          </a:p>
        </p:txBody>
      </p:sp>
      <p:sp>
        <p:nvSpPr>
          <p:cNvPr id="10" name="Shape 8"/>
          <p:cNvSpPr/>
          <p:nvPr/>
        </p:nvSpPr>
        <p:spPr>
          <a:xfrm>
            <a:off x="6301588" y="1536192"/>
            <a:ext cx="5323180" cy="2510942"/>
          </a:xfrm>
          <a:prstGeom prst="roundRect">
            <a:avLst>
              <a:gd name="adj" fmla="val 2549"/>
            </a:avLst>
          </a:prstGeom>
          <a:solidFill>
            <a:srgbClr val="EDF2F7"/>
          </a:solidFill>
          <a:ln w="12700">
            <a:solidFill>
              <a:srgbClr val="CFDBE5"/>
            </a:solidFill>
            <a:prstDash val="solid"/>
          </a:ln>
        </p:spPr>
      </p:sp>
      <p:sp>
        <p:nvSpPr>
          <p:cNvPr id="11" name="Text 9"/>
          <p:cNvSpPr txBox="1"/>
          <p:nvPr/>
        </p:nvSpPr>
        <p:spPr>
          <a:xfrm>
            <a:off x="644789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PrimeNumberMethod.java</a:t>
            </a:r>
            <a:endParaRPr lang="en-US" sz="950" dirty="0"/>
          </a:p>
        </p:txBody>
      </p:sp>
      <p:sp>
        <p:nvSpPr>
          <p:cNvPr id="12" name="Text 10"/>
          <p:cNvSpPr txBox="1"/>
          <p:nvPr/>
        </p:nvSpPr>
        <p:spPr>
          <a:xfrm>
            <a:off x="6466180" y="1810512"/>
            <a:ext cx="4993996" cy="2181758"/>
          </a:xfrm>
          <a:prstGeom prst="rect">
            <a:avLst/>
          </a:prstGeom>
          <a:noFill/>
          <a:ln/>
        </p:spPr>
        <p:txBody>
          <a:bodyPr wrap="square" lIns="0" tIns="0" rIns="0" bIns="0" rtlCol="0" anchor="t"/>
          <a:lstStyle/>
          <a:p>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Returns</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true</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is</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prime</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boolean</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isPrime</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false</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d</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d</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d</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d</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d</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false</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true</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isPrime</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229</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count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p:txBody>
      </p:sp>
      <p:sp>
        <p:nvSpPr>
          <p:cNvPr id="13" name="Shape 11"/>
          <p:cNvSpPr/>
          <p:nvPr/>
        </p:nvSpPr>
        <p:spPr>
          <a:xfrm>
            <a:off x="566928" y="4321454"/>
            <a:ext cx="5323180" cy="1234440"/>
          </a:xfrm>
          <a:prstGeom prst="roundRect">
            <a:avLst>
              <a:gd name="adj" fmla="val 6667"/>
            </a:avLst>
          </a:prstGeom>
          <a:solidFill>
            <a:srgbClr val="E6F2EC"/>
          </a:solidFill>
          <a:ln w="12700">
            <a:solidFill>
              <a:srgbClr val="E6F2EC"/>
            </a:solidFill>
            <a:prstDash val="solid"/>
          </a:ln>
        </p:spPr>
      </p:sp>
      <p:sp>
        <p:nvSpPr>
          <p:cNvPr id="14" name="Text 12"/>
          <p:cNvSpPr txBox="1"/>
          <p:nvPr/>
        </p:nvSpPr>
        <p:spPr>
          <a:xfrm>
            <a:off x="822960" y="4458614"/>
            <a:ext cx="4811116" cy="274320"/>
          </a:xfrm>
          <a:prstGeom prst="rect">
            <a:avLst/>
          </a:prstGeom>
          <a:noFill/>
          <a:ln/>
        </p:spPr>
        <p:txBody>
          <a:bodyPr wrap="square" lIns="0" tIns="0" rIns="0" bIns="0" rtlCol="0" anchor="ctr"/>
          <a:lstStyle/>
          <a:p>
            <a:pPr indent="0" marL="0">
              <a:buNone/>
            </a:pPr>
            <a:r>
              <a:rPr lang="en-US" sz="1350" b="1" dirty="0">
                <a:solidFill>
                  <a:srgbClr val="176240"/>
                </a:solidFill>
                <a:latin typeface="Calibri" pitchFamily="34" charset="0"/>
                <a:ea typeface="Calibri" pitchFamily="34" charset="-122"/>
                <a:cs typeface="Calibri" pitchFamily="34" charset="-120"/>
              </a:rPr>
              <a:t>Notice what changed</a:t>
            </a:r>
            <a:endParaRPr lang="en-US" sz="1350" dirty="0"/>
          </a:p>
        </p:txBody>
      </p:sp>
      <p:sp>
        <p:nvSpPr>
          <p:cNvPr id="15" name="Text 13"/>
          <p:cNvSpPr txBox="1"/>
          <p:nvPr/>
        </p:nvSpPr>
        <p:spPr>
          <a:xfrm>
            <a:off x="822960" y="4769510"/>
            <a:ext cx="4811116" cy="73152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Nothing about the algorithm — the loop is the same loop. It now has a name, takes parameters, and hands its answer back.</a:t>
            </a:r>
            <a:endParaRPr lang="en-US" sz="1200" dirty="0"/>
          </a:p>
        </p:txBody>
      </p:sp>
      <p:sp>
        <p:nvSpPr>
          <p:cNvPr id="16" name="Shape 14"/>
          <p:cNvSpPr/>
          <p:nvPr/>
        </p:nvSpPr>
        <p:spPr>
          <a:xfrm>
            <a:off x="6301588" y="4321454"/>
            <a:ext cx="5323180" cy="1234440"/>
          </a:xfrm>
          <a:prstGeom prst="roundRect">
            <a:avLst>
              <a:gd name="adj" fmla="val 6667"/>
            </a:avLst>
          </a:prstGeom>
          <a:solidFill>
            <a:srgbClr val="FBEEE0"/>
          </a:solidFill>
          <a:ln w="12700">
            <a:solidFill>
              <a:srgbClr val="FBEEE0"/>
            </a:solidFill>
            <a:prstDash val="solid"/>
          </a:ln>
        </p:spPr>
      </p:sp>
      <p:sp>
        <p:nvSpPr>
          <p:cNvPr id="17" name="Text 15"/>
          <p:cNvSpPr txBox="1"/>
          <p:nvPr/>
        </p:nvSpPr>
        <p:spPr>
          <a:xfrm>
            <a:off x="6557620" y="4458614"/>
            <a:ext cx="4811116" cy="274320"/>
          </a:xfrm>
          <a:prstGeom prst="rect">
            <a:avLst/>
          </a:prstGeom>
          <a:noFill/>
          <a:ln/>
        </p:spPr>
        <p:txBody>
          <a:bodyPr wrap="square" lIns="0" tIns="0" rIns="0" bIns="0" rtlCol="0" anchor="ctr"/>
          <a:lstStyle/>
          <a:p>
            <a:pPr indent="0" marL="0">
              <a:buNone/>
            </a:pPr>
            <a:r>
              <a:rPr lang="en-US" sz="1350" b="1" dirty="0">
                <a:solidFill>
                  <a:srgbClr val="9A430A"/>
                </a:solidFill>
                <a:latin typeface="Calibri" pitchFamily="34" charset="0"/>
                <a:ea typeface="Calibri" pitchFamily="34" charset="-122"/>
                <a:cs typeface="Calibri" pitchFamily="34" charset="-120"/>
              </a:rPr>
              <a:t>A boolean method reads like a question</a:t>
            </a:r>
            <a:endParaRPr lang="en-US" sz="1350" dirty="0"/>
          </a:p>
        </p:txBody>
      </p:sp>
      <p:sp>
        <p:nvSpPr>
          <p:cNvPr id="18" name="Text 16"/>
          <p:cNvSpPr txBox="1"/>
          <p:nvPr/>
        </p:nvSpPr>
        <p:spPr>
          <a:xfrm>
            <a:off x="6557620" y="4769510"/>
            <a:ext cx="4811116" cy="73152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if (isPrime(n)) is a sentence. Name boolean methods as is-, has- or can- questions, and never write == true after them.</a:t>
            </a:r>
            <a:endParaRPr lang="en-US" sz="1200" dirty="0"/>
          </a:p>
        </p:txBody>
      </p:sp>
      <p:sp>
        <p:nvSpPr>
          <p:cNvPr id="19" name="Shape 17"/>
          <p:cNvSpPr/>
          <p:nvPr/>
        </p:nvSpPr>
        <p:spPr>
          <a:xfrm>
            <a:off x="566928" y="5656478"/>
            <a:ext cx="11057839" cy="713232"/>
          </a:xfrm>
          <a:prstGeom prst="roundRect">
            <a:avLst>
              <a:gd name="adj" fmla="val 11538"/>
            </a:avLst>
          </a:prstGeom>
          <a:solidFill>
            <a:srgbClr val="E4ECF4"/>
          </a:solidFill>
          <a:ln w="12700">
            <a:solidFill>
              <a:srgbClr val="E4ECF4"/>
            </a:solidFill>
            <a:prstDash val="solid"/>
          </a:ln>
        </p:spPr>
      </p:sp>
      <p:sp>
        <p:nvSpPr>
          <p:cNvPr id="20" name="Text 18"/>
          <p:cNvSpPr txBox="1"/>
          <p:nvPr/>
        </p:nvSpPr>
        <p:spPr>
          <a:xfrm>
            <a:off x="859536" y="5656478"/>
            <a:ext cx="10472623" cy="713232"/>
          </a:xfrm>
          <a:prstGeom prst="rect">
            <a:avLst/>
          </a:prstGeom>
          <a:noFill/>
          <a:ln/>
        </p:spPr>
        <p:txBody>
          <a:bodyPr wrap="square" lIns="0" tIns="0" rIns="0" bIns="0" rtlCol="0" anchor="ctr"/>
          <a:lstStyle/>
          <a:p>
            <a:pPr indent="0" marL="0">
              <a:lnSpc>
                <a:spcPct val="112000"/>
              </a:lnSpc>
              <a:buNone/>
            </a:pPr>
            <a:r>
              <a:rPr lang="en-US" sz="1250" b="1" dirty="0">
                <a:solidFill>
                  <a:srgbClr val="0F2942"/>
                </a:solidFill>
                <a:latin typeface="Calibri" pitchFamily="34" charset="0"/>
                <a:ea typeface="Calibri" pitchFamily="34" charset="-122"/>
                <a:cs typeface="Calibri" pitchFamily="34" charset="-120"/>
              </a:rPr>
              <a:t>The early return in isPrime is worth a look.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Last week this needed a boolean flag and a break. A method can return the moment it knows the answer.</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CF1E5"/>
        </a:solidFill>
      </p:bgPr>
    </p:bg>
    <p:spTree>
      <p:nvGrpSpPr>
        <p:cNvPr id="1" name=""/>
        <p:cNvGrpSpPr/>
        <p:nvPr/>
      </p:nvGrpSpPr>
      <p:grpSpPr>
        <a:xfrm>
          <a:off x="0" y="0"/>
          <a:ext cx="0" cy="0"/>
          <a:chOff x="0" y="0"/>
          <a:chExt cx="0" cy="0"/>
        </a:xfrm>
      </p:grpSpPr>
      <p:sp>
        <p:nvSpPr>
          <p:cNvPr id="2" name="Text 0"/>
          <p:cNvSpPr txBox="1"/>
          <p:nvPr/>
        </p:nvSpPr>
        <p:spPr>
          <a:xfrm>
            <a:off x="566928" y="566928"/>
            <a:ext cx="5486400" cy="274320"/>
          </a:xfrm>
          <a:prstGeom prst="rect">
            <a:avLst/>
          </a:prstGeom>
          <a:noFill/>
          <a:ln/>
        </p:spPr>
        <p:txBody>
          <a:bodyPr wrap="square" lIns="0" tIns="0" rIns="0" bIns="0" rtlCol="0" anchor="ctr"/>
          <a:lstStyle/>
          <a:p>
            <a:pPr indent="0" marL="0">
              <a:buNone/>
            </a:pPr>
            <a:r>
              <a:rPr lang="en-US" sz="1200" b="1" spc="200" kern="0" dirty="0">
                <a:solidFill>
                  <a:srgbClr val="9A430A"/>
                </a:solidFill>
                <a:latin typeface="Calibri" pitchFamily="34" charset="0"/>
                <a:ea typeface="Calibri" pitchFamily="34" charset="-122"/>
                <a:cs typeface="Calibri" pitchFamily="34" charset="-120"/>
              </a:rPr>
              <a:t>CHECKPOINT 3</a:t>
            </a:r>
            <a:endParaRPr lang="en-US" sz="1200" dirty="0"/>
          </a:p>
        </p:txBody>
      </p:sp>
      <p:sp>
        <p:nvSpPr>
          <p:cNvPr id="3" name="Text 1"/>
          <p:cNvSpPr txBox="1"/>
          <p:nvPr/>
        </p:nvSpPr>
        <p:spPr>
          <a:xfrm>
            <a:off x="566928" y="841248"/>
            <a:ext cx="7315200" cy="566928"/>
          </a:xfrm>
          <a:prstGeom prst="rect">
            <a:avLst/>
          </a:prstGeom>
          <a:noFill/>
          <a:ln/>
        </p:spPr>
        <p:txBody>
          <a:bodyPr wrap="square" lIns="0" tIns="0" rIns="0" bIns="0" rtlCol="0" anchor="ctr"/>
          <a:lstStyle/>
          <a:p>
            <a:pPr indent="0" marL="0">
              <a:buNone/>
            </a:pPr>
            <a:r>
              <a:rPr lang="en-US" sz="3400" b="1" dirty="0">
                <a:solidFill>
                  <a:srgbClr val="0F2942"/>
                </a:solidFill>
                <a:latin typeface="Cambria" pitchFamily="34" charset="0"/>
                <a:ea typeface="Cambria" pitchFamily="34" charset="-122"/>
                <a:cs typeface="Cambria" pitchFamily="34" charset="-120"/>
              </a:rPr>
              <a:t>Over to You</a:t>
            </a:r>
            <a:endParaRPr lang="en-US" sz="3400" dirty="0"/>
          </a:p>
        </p:txBody>
      </p:sp>
      <p:sp>
        <p:nvSpPr>
          <p:cNvPr id="4" name="Text 2"/>
          <p:cNvSpPr txBox="1"/>
          <p:nvPr/>
        </p:nvSpPr>
        <p:spPr>
          <a:xfrm>
            <a:off x="6687007" y="960120"/>
            <a:ext cx="4937760" cy="365760"/>
          </a:xfrm>
          <a:prstGeom prst="rect">
            <a:avLst/>
          </a:prstGeom>
          <a:noFill/>
          <a:ln/>
        </p:spPr>
        <p:txBody>
          <a:bodyPr wrap="square" lIns="0" tIns="0" rIns="0" bIns="0" rtlCol="0" anchor="ctr"/>
          <a:lstStyle/>
          <a:p>
            <a:pPr algn="r" indent="0" marL="0">
              <a:buNone/>
            </a:pPr>
            <a:r>
              <a:rPr lang="en-US" sz="1250" dirty="0">
                <a:solidFill>
                  <a:srgbClr val="4B6377"/>
                </a:solidFill>
                <a:latin typeface="Calibri" pitchFamily="34" charset="0"/>
                <a:ea typeface="Calibri" pitchFamily="34" charset="-122"/>
                <a:cs typeface="Calibri" pitchFamily="34" charset="-120"/>
              </a:rPr>
              <a:t>Covering slides 19–24</a:t>
            </a:r>
            <a:endParaRPr lang="en-US" sz="1250" dirty="0"/>
          </a:p>
        </p:txBody>
      </p:sp>
      <p:sp>
        <p:nvSpPr>
          <p:cNvPr id="5" name="Shape 3"/>
          <p:cNvSpPr/>
          <p:nvPr/>
        </p:nvSpPr>
        <p:spPr>
          <a:xfrm>
            <a:off x="566928" y="1481328"/>
            <a:ext cx="11057839" cy="960120"/>
          </a:xfrm>
          <a:prstGeom prst="roundRect">
            <a:avLst>
              <a:gd name="adj" fmla="val 8571"/>
            </a:avLst>
          </a:prstGeom>
          <a:solidFill>
            <a:srgbClr val="FFFFFF"/>
          </a:solidFill>
          <a:ln w="12700">
            <a:solidFill>
              <a:srgbClr val="D3DEE7"/>
            </a:solidFill>
            <a:prstDash val="solid"/>
          </a:ln>
        </p:spPr>
      </p:sp>
      <p:sp>
        <p:nvSpPr>
          <p:cNvPr id="6" name="Shape 4"/>
          <p:cNvSpPr/>
          <p:nvPr/>
        </p:nvSpPr>
        <p:spPr>
          <a:xfrm>
            <a:off x="841248" y="1719072"/>
            <a:ext cx="402336" cy="402336"/>
          </a:xfrm>
          <a:prstGeom prst="ellipse">
            <a:avLst/>
          </a:prstGeom>
          <a:solidFill>
            <a:srgbClr val="C4560C"/>
          </a:solidFill>
          <a:ln w="12700">
            <a:solidFill>
              <a:srgbClr val="C4560C"/>
            </a:solidFill>
            <a:prstDash val="solid"/>
          </a:ln>
        </p:spPr>
      </p:sp>
      <p:sp>
        <p:nvSpPr>
          <p:cNvPr id="7" name="Text 5"/>
          <p:cNvSpPr txBox="1"/>
          <p:nvPr/>
        </p:nvSpPr>
        <p:spPr>
          <a:xfrm>
            <a:off x="841248" y="171907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8" name="Text 6"/>
          <p:cNvSpPr txBox="1"/>
          <p:nvPr/>
        </p:nvSpPr>
        <p:spPr>
          <a:xfrm>
            <a:off x="1435608" y="1645920"/>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Which overload runs for max(3, 4.0), and which for max(3, 4)? Explain in one sentence each.</a:t>
            </a:r>
            <a:endParaRPr lang="en-US" sz="1550" dirty="0"/>
          </a:p>
        </p:txBody>
      </p:sp>
      <p:sp>
        <p:nvSpPr>
          <p:cNvPr id="9" name="Shape 7"/>
          <p:cNvSpPr/>
          <p:nvPr/>
        </p:nvSpPr>
        <p:spPr>
          <a:xfrm>
            <a:off x="566928" y="2660904"/>
            <a:ext cx="11057839" cy="2343424"/>
          </a:xfrm>
          <a:prstGeom prst="roundRect">
            <a:avLst>
              <a:gd name="adj" fmla="val 3512"/>
            </a:avLst>
          </a:prstGeom>
          <a:solidFill>
            <a:srgbClr val="FFFFFF"/>
          </a:solidFill>
          <a:ln w="12700">
            <a:solidFill>
              <a:srgbClr val="D3DEE7"/>
            </a:solidFill>
            <a:prstDash val="solid"/>
          </a:ln>
        </p:spPr>
      </p:sp>
      <p:sp>
        <p:nvSpPr>
          <p:cNvPr id="10" name="Shape 8"/>
          <p:cNvSpPr/>
          <p:nvPr/>
        </p:nvSpPr>
        <p:spPr>
          <a:xfrm>
            <a:off x="841248" y="2898648"/>
            <a:ext cx="402336" cy="402336"/>
          </a:xfrm>
          <a:prstGeom prst="ellipse">
            <a:avLst/>
          </a:prstGeom>
          <a:solidFill>
            <a:srgbClr val="C4560C"/>
          </a:solidFill>
          <a:ln w="12700">
            <a:solidFill>
              <a:srgbClr val="C4560C"/>
            </a:solidFill>
            <a:prstDash val="solid"/>
          </a:ln>
        </p:spPr>
      </p:sp>
      <p:sp>
        <p:nvSpPr>
          <p:cNvPr id="11" name="Text 9"/>
          <p:cNvSpPr txBox="1"/>
          <p:nvPr/>
        </p:nvSpPr>
        <p:spPr>
          <a:xfrm>
            <a:off x="841248" y="289864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2" name="Text 10"/>
          <p:cNvSpPr txBox="1"/>
          <p:nvPr/>
        </p:nvSpPr>
        <p:spPr>
          <a:xfrm>
            <a:off x="1435608" y="2825496"/>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Why is this a compile error, and where is the error reported?</a:t>
            </a:r>
            <a:endParaRPr lang="en-US" sz="1550" dirty="0"/>
          </a:p>
        </p:txBody>
      </p:sp>
      <p:sp>
        <p:nvSpPr>
          <p:cNvPr id="13" name="Shape 11"/>
          <p:cNvSpPr/>
          <p:nvPr/>
        </p:nvSpPr>
        <p:spPr>
          <a:xfrm>
            <a:off x="1435608" y="3300984"/>
            <a:ext cx="6949440" cy="1182136"/>
          </a:xfrm>
          <a:prstGeom prst="roundRect">
            <a:avLst>
              <a:gd name="adj" fmla="val 5415"/>
            </a:avLst>
          </a:prstGeom>
          <a:solidFill>
            <a:srgbClr val="EDF2F7"/>
          </a:solidFill>
          <a:ln w="12700">
            <a:solidFill>
              <a:srgbClr val="CFDBE5"/>
            </a:solidFill>
            <a:prstDash val="solid"/>
          </a:ln>
        </p:spPr>
      </p:sp>
      <p:sp>
        <p:nvSpPr>
          <p:cNvPr id="14" name="Text 12"/>
          <p:cNvSpPr txBox="1"/>
          <p:nvPr/>
        </p:nvSpPr>
        <p:spPr>
          <a:xfrm>
            <a:off x="1600200" y="3438144"/>
            <a:ext cx="6620256" cy="980968"/>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max</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b</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max</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b</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max</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5" name="Shape 13"/>
          <p:cNvSpPr/>
          <p:nvPr/>
        </p:nvSpPr>
        <p:spPr>
          <a:xfrm>
            <a:off x="566928" y="5223784"/>
            <a:ext cx="11057839" cy="960120"/>
          </a:xfrm>
          <a:prstGeom prst="roundRect">
            <a:avLst>
              <a:gd name="adj" fmla="val 8571"/>
            </a:avLst>
          </a:prstGeom>
          <a:solidFill>
            <a:srgbClr val="FFFFFF"/>
          </a:solidFill>
          <a:ln w="12700">
            <a:solidFill>
              <a:srgbClr val="D3DEE7"/>
            </a:solidFill>
            <a:prstDash val="solid"/>
          </a:ln>
        </p:spPr>
      </p:sp>
      <p:sp>
        <p:nvSpPr>
          <p:cNvPr id="16" name="Shape 14"/>
          <p:cNvSpPr/>
          <p:nvPr/>
        </p:nvSpPr>
        <p:spPr>
          <a:xfrm>
            <a:off x="841248" y="5461528"/>
            <a:ext cx="402336" cy="402336"/>
          </a:xfrm>
          <a:prstGeom prst="ellipse">
            <a:avLst/>
          </a:prstGeom>
          <a:solidFill>
            <a:srgbClr val="C4560C"/>
          </a:solidFill>
          <a:ln w="12700">
            <a:solidFill>
              <a:srgbClr val="C4560C"/>
            </a:solidFill>
            <a:prstDash val="solid"/>
          </a:ln>
        </p:spPr>
      </p:sp>
      <p:sp>
        <p:nvSpPr>
          <p:cNvPr id="17" name="Text 15"/>
          <p:cNvSpPr txBox="1"/>
          <p:nvPr/>
        </p:nvSpPr>
        <p:spPr>
          <a:xfrm>
            <a:off x="841248" y="546152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8" name="Text 16"/>
          <p:cNvSpPr txBox="1"/>
          <p:nvPr/>
        </p:nvSpPr>
        <p:spPr>
          <a:xfrm>
            <a:off x="1435608" y="5388376"/>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Can two methods in one class differ only in their return type? Why or why not?</a:t>
            </a:r>
            <a:endParaRPr lang="en-US" sz="15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DF2F7"/>
        </a:solidFill>
      </p:bgPr>
    </p:bg>
    <p:spTree>
      <p:nvGrpSpPr>
        <p:cNvPr id="1" name=""/>
        <p:cNvGrpSpPr/>
        <p:nvPr/>
      </p:nvGrpSpPr>
      <p:grpSpPr>
        <a:xfrm>
          <a:off x="0" y="0"/>
          <a:ext cx="0" cy="0"/>
          <a:chOff x="0" y="0"/>
          <a:chExt cx="0" cy="0"/>
        </a:xfrm>
      </p:grpSpPr>
      <p:sp>
        <p:nvSpPr>
          <p:cNvPr id="2" name="Text 0"/>
          <p:cNvSpPr txBox="1"/>
          <p:nvPr/>
        </p:nvSpPr>
        <p:spPr>
          <a:xfrm>
            <a:off x="566928" y="2286000"/>
            <a:ext cx="5486400" cy="310896"/>
          </a:xfrm>
          <a:prstGeom prst="rect">
            <a:avLst/>
          </a:prstGeom>
          <a:noFill/>
          <a:ln/>
        </p:spPr>
        <p:txBody>
          <a:bodyPr wrap="square" lIns="0" tIns="0" rIns="0" bIns="0" rtlCol="0" anchor="ctr"/>
          <a:lstStyle/>
          <a:p>
            <a:pPr indent="0" marL="0">
              <a:buNone/>
            </a:pPr>
            <a:r>
              <a:rPr lang="en-US" sz="1300" b="1" spc="240" kern="0" dirty="0">
                <a:solidFill>
                  <a:srgbClr val="9A430A"/>
                </a:solidFill>
                <a:latin typeface="Calibri" pitchFamily="34" charset="0"/>
                <a:ea typeface="Calibri" pitchFamily="34" charset="-122"/>
                <a:cs typeface="Calibri" pitchFamily="34" charset="-120"/>
              </a:rPr>
              <a:t>PART 03</a:t>
            </a:r>
            <a:endParaRPr lang="en-US" sz="1300" dirty="0"/>
          </a:p>
        </p:txBody>
      </p:sp>
      <p:sp>
        <p:nvSpPr>
          <p:cNvPr id="3" name="Text 1"/>
          <p:cNvSpPr txBox="1"/>
          <p:nvPr/>
        </p:nvSpPr>
        <p:spPr>
          <a:xfrm>
            <a:off x="566928" y="2697480"/>
            <a:ext cx="8046720" cy="1737360"/>
          </a:xfrm>
          <a:prstGeom prst="rect">
            <a:avLst/>
          </a:prstGeom>
          <a:noFill/>
          <a:ln/>
        </p:spPr>
        <p:txBody>
          <a:bodyPr wrap="square" lIns="0" tIns="0" rIns="0" bIns="0" rtlCol="0" anchor="ctr"/>
          <a:lstStyle/>
          <a:p>
            <a:pPr indent="0" marL="0">
              <a:lnSpc>
                <a:spcPct val="105000"/>
              </a:lnSpc>
              <a:buNone/>
            </a:pPr>
            <a:r>
              <a:rPr lang="en-US" sz="4400" b="1" dirty="0">
                <a:solidFill>
                  <a:srgbClr val="0F2942"/>
                </a:solidFill>
                <a:latin typeface="Cambria" pitchFamily="34" charset="0"/>
                <a:ea typeface="Cambria" pitchFamily="34" charset="-122"/>
                <a:cs typeface="Cambria" pitchFamily="34" charset="-120"/>
              </a:rPr>
              <a:t>Designing</a:t>
            </a:r>
            <a:endParaRPr lang="en-US" sz="4400" dirty="0"/>
          </a:p>
          <a:p>
            <a:pPr indent="0" marL="0">
              <a:lnSpc>
                <a:spcPct val="105000"/>
              </a:lnSpc>
              <a:buNone/>
            </a:pPr>
            <a:r>
              <a:rPr lang="en-US" sz="4400" b="1" dirty="0">
                <a:solidFill>
                  <a:srgbClr val="0F2942"/>
                </a:solidFill>
                <a:latin typeface="Cambria" pitchFamily="34" charset="0"/>
                <a:ea typeface="Cambria" pitchFamily="34" charset="-122"/>
                <a:cs typeface="Cambria" pitchFamily="34" charset="-120"/>
              </a:rPr>
              <a:t>with Methods</a:t>
            </a:r>
            <a:endParaRPr lang="en-US" sz="4400" dirty="0"/>
          </a:p>
        </p:txBody>
      </p:sp>
      <p:sp>
        <p:nvSpPr>
          <p:cNvPr id="4" name="Text 2"/>
          <p:cNvSpPr txBox="1"/>
          <p:nvPr/>
        </p:nvSpPr>
        <p:spPr>
          <a:xfrm>
            <a:off x="566928" y="4526280"/>
            <a:ext cx="8686800" cy="365760"/>
          </a:xfrm>
          <a:prstGeom prst="rect">
            <a:avLst/>
          </a:prstGeom>
          <a:noFill/>
          <a:ln/>
        </p:spPr>
        <p:txBody>
          <a:bodyPr wrap="square" lIns="0" tIns="0" rIns="0" bIns="0" rtlCol="0" anchor="ctr"/>
          <a:lstStyle/>
          <a:p>
            <a:pPr indent="0" marL="0">
              <a:buNone/>
            </a:pPr>
            <a:r>
              <a:rPr lang="en-US" sz="1500" dirty="0">
                <a:solidFill>
                  <a:srgbClr val="3A536B"/>
                </a:solidFill>
                <a:latin typeface="Calibri" pitchFamily="34" charset="0"/>
                <a:ea typeface="Calibri" pitchFamily="34" charset="-122"/>
                <a:cs typeface="Calibri" pitchFamily="34" charset="-120"/>
              </a:rPr>
              <a:t>Two case studies, and the technique for breaking a large program into small ones.</a:t>
            </a:r>
            <a:endParaRPr lang="en-US" sz="1500" dirty="0"/>
          </a:p>
        </p:txBody>
      </p:sp>
      <p:sp>
        <p:nvSpPr>
          <p:cNvPr id="5" name="Text 3"/>
          <p:cNvSpPr txBox="1"/>
          <p:nvPr/>
        </p:nvSpPr>
        <p:spPr>
          <a:xfrm>
            <a:off x="9247327" y="2011680"/>
            <a:ext cx="2377440" cy="2194560"/>
          </a:xfrm>
          <a:prstGeom prst="rect">
            <a:avLst/>
          </a:prstGeom>
          <a:noFill/>
          <a:ln/>
        </p:spPr>
        <p:txBody>
          <a:bodyPr wrap="square" lIns="0" tIns="0" rIns="0" bIns="0" rtlCol="0" anchor="ctr"/>
          <a:lstStyle/>
          <a:p>
            <a:pPr algn="r" indent="0" marL="0">
              <a:buNone/>
            </a:pPr>
            <a:r>
              <a:rPr lang="en-US" sz="13000" b="1" dirty="0">
                <a:solidFill>
                  <a:srgbClr val="CFDCE8"/>
                </a:solidFill>
                <a:latin typeface="Cambria" pitchFamily="34" charset="0"/>
                <a:ea typeface="Cambria" pitchFamily="34" charset="-122"/>
                <a:cs typeface="Cambria" pitchFamily="34" charset="-120"/>
              </a:rPr>
              <a:t>03</a:t>
            </a:r>
            <a:endParaRPr lang="en-US" sz="13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CASE STUDY</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Hex2Dec — a Method With a Loop Inside It</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Convert a hexadecimal string to its decimal value. The reverse of last Thursday's Dec2Hex.</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27</a:t>
            </a:r>
            <a:endParaRPr lang="en-US" sz="900" dirty="0"/>
          </a:p>
        </p:txBody>
      </p:sp>
      <p:sp>
        <p:nvSpPr>
          <p:cNvPr id="7" name="Shape 5"/>
          <p:cNvSpPr/>
          <p:nvPr/>
        </p:nvSpPr>
        <p:spPr>
          <a:xfrm>
            <a:off x="566928" y="1536192"/>
            <a:ext cx="5943600" cy="3121579"/>
          </a:xfrm>
          <a:prstGeom prst="roundRect">
            <a:avLst>
              <a:gd name="adj" fmla="val 2051"/>
            </a:avLst>
          </a:prstGeom>
          <a:solidFill>
            <a:srgbClr val="EDF2F7"/>
          </a:solidFill>
          <a:ln w="12700">
            <a:solidFill>
              <a:srgbClr val="CFDBE5"/>
            </a:solidFill>
            <a:prstDash val="solid"/>
          </a:ln>
        </p:spPr>
      </p:sp>
      <p:sp>
        <p:nvSpPr>
          <p:cNvPr id="8" name="Text 6"/>
          <p:cNvSpPr txBox="1"/>
          <p:nvPr/>
        </p:nvSpPr>
        <p:spPr>
          <a:xfrm>
            <a:off x="713232" y="1581912"/>
            <a:ext cx="565099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Hex2Dec.java — TWO METHODS, NOT ONE</a:t>
            </a:r>
            <a:endParaRPr lang="en-US" sz="950" dirty="0"/>
          </a:p>
        </p:txBody>
      </p:sp>
      <p:sp>
        <p:nvSpPr>
          <p:cNvPr id="9" name="Text 7"/>
          <p:cNvSpPr txBox="1"/>
          <p:nvPr/>
        </p:nvSpPr>
        <p:spPr>
          <a:xfrm>
            <a:off x="731520" y="1810512"/>
            <a:ext cx="5614416" cy="2792395"/>
          </a:xfrm>
          <a:prstGeom prst="rect">
            <a:avLst/>
          </a:prstGeom>
          <a:noFill/>
          <a:ln/>
        </p:spPr>
        <p:txBody>
          <a:bodyPr wrap="square" lIns="0" tIns="0" rIns="0" bIns="0" rtlCol="0" anchor="t"/>
          <a:lstStyle/>
          <a:p>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hexToDecimal</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568A"/>
                </a:solidFill>
                <a:latin typeface="Courier New" pitchFamily="34" charset="0"/>
                <a:ea typeface="Courier New" pitchFamily="34" charset="-122"/>
                <a:cs typeface="Courier New" pitchFamily="34" charset="-120"/>
              </a:rPr>
              <a:t>String</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hex</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decimal</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hex</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decimal</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decimal</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16</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hexCharToDecimal</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hex</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charAt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decimal</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hexCharToDecimal</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char</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ch</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ch</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&amp;</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&amp;</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ch</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F</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ch</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else</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ch</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p:txBody>
      </p:sp>
      <p:sp>
        <p:nvSpPr>
          <p:cNvPr id="10" name="Shape 8"/>
          <p:cNvSpPr/>
          <p:nvPr/>
        </p:nvSpPr>
        <p:spPr>
          <a:xfrm>
            <a:off x="566928" y="4913803"/>
            <a:ext cx="5943600" cy="1325880"/>
          </a:xfrm>
          <a:prstGeom prst="roundRect">
            <a:avLst>
              <a:gd name="adj" fmla="val 6207"/>
            </a:avLst>
          </a:prstGeom>
          <a:solidFill>
            <a:srgbClr val="E6F2EC"/>
          </a:solidFill>
          <a:ln w="12700">
            <a:solidFill>
              <a:srgbClr val="E6F2EC"/>
            </a:solidFill>
            <a:prstDash val="solid"/>
          </a:ln>
        </p:spPr>
      </p:sp>
      <p:sp>
        <p:nvSpPr>
          <p:cNvPr id="11" name="Text 9"/>
          <p:cNvSpPr txBox="1"/>
          <p:nvPr/>
        </p:nvSpPr>
        <p:spPr>
          <a:xfrm>
            <a:off x="841248" y="4913803"/>
            <a:ext cx="5394960" cy="1325880"/>
          </a:xfrm>
          <a:prstGeom prst="rect">
            <a:avLst/>
          </a:prstGeom>
          <a:noFill/>
          <a:ln/>
        </p:spPr>
        <p:txBody>
          <a:bodyPr wrap="square" lIns="0" tIns="0" rIns="0" bIns="0" rtlCol="0" anchor="ctr"/>
          <a:lstStyle/>
          <a:p>
            <a:pPr indent="0" marL="0">
              <a:lnSpc>
                <a:spcPct val="112000"/>
              </a:lnSpc>
              <a:buNone/>
            </a:pPr>
            <a:r>
              <a:rPr lang="en-US" sz="1250" b="1" dirty="0">
                <a:solidFill>
                  <a:srgbClr val="176240"/>
                </a:solidFill>
                <a:latin typeface="Calibri" pitchFamily="34" charset="0"/>
                <a:ea typeface="Calibri" pitchFamily="34" charset="-122"/>
                <a:cs typeface="Calibri" pitchFamily="34" charset="-120"/>
              </a:rPr>
              <a:t>Two methods, each with one job.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One walks the string; the other converts a single character. Either can be tested on its own — and the second one is where the bugs live.</a:t>
            </a:r>
            <a:endParaRPr lang="en-US" sz="1250" dirty="0"/>
          </a:p>
        </p:txBody>
      </p:sp>
      <p:sp>
        <p:nvSpPr>
          <p:cNvPr id="12" name="Shape 10"/>
          <p:cNvSpPr/>
          <p:nvPr/>
        </p:nvSpPr>
        <p:spPr>
          <a:xfrm>
            <a:off x="6967728" y="1536192"/>
            <a:ext cx="4657039" cy="1328440"/>
          </a:xfrm>
          <a:prstGeom prst="roundRect">
            <a:avLst>
              <a:gd name="adj" fmla="val 4818"/>
            </a:avLst>
          </a:prstGeom>
          <a:solidFill>
            <a:srgbClr val="EDF2F7"/>
          </a:solidFill>
          <a:ln w="12700">
            <a:solidFill>
              <a:srgbClr val="CFDBE5"/>
            </a:solidFill>
            <a:prstDash val="solid"/>
          </a:ln>
        </p:spPr>
      </p:sp>
      <p:sp>
        <p:nvSpPr>
          <p:cNvPr id="13" name="Text 11"/>
          <p:cNvSpPr txBox="1"/>
          <p:nvPr/>
        </p:nvSpPr>
        <p:spPr>
          <a:xfrm>
            <a:off x="7114032" y="1581912"/>
            <a:ext cx="436443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WHY THE LOOP LOOKS LIKE THAT</a:t>
            </a:r>
            <a:endParaRPr lang="en-US" sz="950" dirty="0"/>
          </a:p>
        </p:txBody>
      </p:sp>
      <p:sp>
        <p:nvSpPr>
          <p:cNvPr id="14" name="Text 12"/>
          <p:cNvSpPr txBox="1"/>
          <p:nvPr/>
        </p:nvSpPr>
        <p:spPr>
          <a:xfrm>
            <a:off x="7132320" y="1810512"/>
            <a:ext cx="4327855" cy="999256"/>
          </a:xfrm>
          <a:prstGeom prst="rect">
            <a:avLst/>
          </a:prstGeom>
          <a:noFill/>
          <a:ln/>
        </p:spPr>
        <p:txBody>
          <a:bodyPr wrap="square" lIns="0" tIns="0" rIns="0" bIns="0" rtlCol="0" anchor="t"/>
          <a:lstStyle/>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ABCD</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16</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³</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B</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16</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²</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16</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¹</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D</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16</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⁰</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16</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B</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16</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16</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D</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16</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16</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16</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13</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43981</a:t>
            </a:r>
            <a:endParaRPr lang="en-US" sz="1100" dirty="0"/>
          </a:p>
        </p:txBody>
      </p:sp>
      <p:sp>
        <p:nvSpPr>
          <p:cNvPr id="15" name="Shape 13"/>
          <p:cNvSpPr/>
          <p:nvPr/>
        </p:nvSpPr>
        <p:spPr>
          <a:xfrm>
            <a:off x="6967728" y="3120664"/>
            <a:ext cx="4657039" cy="1417320"/>
          </a:xfrm>
          <a:prstGeom prst="roundRect">
            <a:avLst>
              <a:gd name="adj" fmla="val 5806"/>
            </a:avLst>
          </a:prstGeom>
          <a:solidFill>
            <a:srgbClr val="F1F5F9"/>
          </a:solidFill>
          <a:ln w="12700">
            <a:solidFill>
              <a:srgbClr val="F1F5F9"/>
            </a:solidFill>
            <a:prstDash val="solid"/>
          </a:ln>
        </p:spPr>
      </p:sp>
      <p:sp>
        <p:nvSpPr>
          <p:cNvPr id="16" name="Text 14"/>
          <p:cNvSpPr txBox="1"/>
          <p:nvPr/>
        </p:nvSpPr>
        <p:spPr>
          <a:xfrm>
            <a:off x="7187184" y="3285256"/>
            <a:ext cx="4218127"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Horner's method, and why it matters here</a:t>
            </a:r>
            <a:endParaRPr lang="en-US" sz="1450" dirty="0"/>
          </a:p>
        </p:txBody>
      </p:sp>
      <p:sp>
        <p:nvSpPr>
          <p:cNvPr id="17" name="Text 15"/>
          <p:cNvSpPr txBox="1"/>
          <p:nvPr/>
        </p:nvSpPr>
        <p:spPr>
          <a:xfrm>
            <a:off x="7187184" y="3614440"/>
            <a:ext cx="4218127" cy="79552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Factorising the powers of 16 turns the whole conversion into one multiply-and-add per digit — no Math.pow, no exponent to keep track of. It is the same shape as the running total in a sum loop.</a:t>
            </a:r>
            <a:endParaRPr lang="en-US" sz="1200" dirty="0"/>
          </a:p>
        </p:txBody>
      </p:sp>
      <p:sp>
        <p:nvSpPr>
          <p:cNvPr id="18" name="Shape 16"/>
          <p:cNvSpPr/>
          <p:nvPr/>
        </p:nvSpPr>
        <p:spPr>
          <a:xfrm>
            <a:off x="6967728" y="4739152"/>
            <a:ext cx="4657039" cy="888340"/>
          </a:xfrm>
          <a:prstGeom prst="roundRect">
            <a:avLst>
              <a:gd name="adj" fmla="val 7205"/>
            </a:avLst>
          </a:prstGeom>
          <a:solidFill>
            <a:srgbClr val="FFFFFF"/>
          </a:solidFill>
          <a:ln w="12700">
            <a:solidFill>
              <a:srgbClr val="4B6377"/>
            </a:solidFill>
            <a:prstDash val="solid"/>
          </a:ln>
        </p:spPr>
      </p:sp>
      <p:sp>
        <p:nvSpPr>
          <p:cNvPr id="19" name="Text 17"/>
          <p:cNvSpPr txBox="1"/>
          <p:nvPr/>
        </p:nvSpPr>
        <p:spPr>
          <a:xfrm>
            <a:off x="7114032" y="4812304"/>
            <a:ext cx="436443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20" name="Text 18"/>
          <p:cNvSpPr txBox="1"/>
          <p:nvPr/>
        </p:nvSpPr>
        <p:spPr>
          <a:xfrm>
            <a:off x="7114032" y="5013472"/>
            <a:ext cx="4364431" cy="522580"/>
          </a:xfrm>
          <a:prstGeom prst="rect">
            <a:avLst/>
          </a:prstGeom>
          <a:noFill/>
          <a:ln/>
        </p:spPr>
        <p:txBody>
          <a:bodyPr wrap="square" lIns="0" tIns="0" rIns="0" bIns="0" rtlCol="0" anchor="t"/>
          <a:lstStyle/>
          <a:p>
            <a:pPr indent="0" marL="0">
              <a:lnSpc>
                <a:spcPct val="110000"/>
              </a:lnSpc>
              <a:buNone/>
            </a:pPr>
            <a:r>
              <a:rPr lang="en-US" sz="1150" dirty="0">
                <a:solidFill>
                  <a:srgbClr val="0F2942"/>
                </a:solidFill>
                <a:latin typeface="Courier New" pitchFamily="34" charset="0"/>
                <a:ea typeface="Courier New" pitchFamily="34" charset="-122"/>
                <a:cs typeface="Courier New" pitchFamily="34" charset="-120"/>
              </a:rPr>
              <a:t>Enter a hex number: ABCD</a:t>
            </a:r>
            <a:endParaRPr lang="en-US" sz="1150" dirty="0"/>
          </a:p>
          <a:p>
            <a:pPr indent="0" marL="0">
              <a:lnSpc>
                <a:spcPct val="110000"/>
              </a:lnSpc>
              <a:buNone/>
            </a:pPr>
            <a:r>
              <a:rPr lang="en-US" sz="1150" dirty="0">
                <a:solidFill>
                  <a:srgbClr val="0F2942"/>
                </a:solidFill>
                <a:latin typeface="Courier New" pitchFamily="34" charset="0"/>
                <a:ea typeface="Courier New" pitchFamily="34" charset="-122"/>
                <a:cs typeface="Courier New" pitchFamily="34" charset="-120"/>
              </a:rPr>
              <a:t>The decimal value is 43981</a:t>
            </a:r>
            <a:endParaRPr lang="en-US" sz="1150" dirty="0"/>
          </a:p>
        </p:txBody>
      </p:sp>
      <p:sp>
        <p:nvSpPr>
          <p:cNvPr id="21" name="Shape 19"/>
          <p:cNvSpPr/>
          <p:nvPr/>
        </p:nvSpPr>
        <p:spPr>
          <a:xfrm>
            <a:off x="6967728" y="5744992"/>
            <a:ext cx="4657039" cy="658368"/>
          </a:xfrm>
          <a:prstGeom prst="roundRect">
            <a:avLst>
              <a:gd name="adj" fmla="val 12500"/>
            </a:avLst>
          </a:prstGeom>
          <a:solidFill>
            <a:srgbClr val="FBEEE0"/>
          </a:solidFill>
          <a:ln w="12700">
            <a:solidFill>
              <a:srgbClr val="FBEEE0"/>
            </a:solidFill>
            <a:prstDash val="solid"/>
          </a:ln>
        </p:spPr>
      </p:sp>
      <p:sp>
        <p:nvSpPr>
          <p:cNvPr id="22" name="Text 20"/>
          <p:cNvSpPr txBox="1"/>
          <p:nvPr/>
        </p:nvSpPr>
        <p:spPr>
          <a:xfrm>
            <a:off x="7242048" y="5744992"/>
            <a:ext cx="4108399" cy="658368"/>
          </a:xfrm>
          <a:prstGeom prst="rect">
            <a:avLst/>
          </a:prstGeom>
          <a:noFill/>
          <a:ln/>
        </p:spPr>
        <p:txBody>
          <a:bodyPr wrap="square" lIns="0" tIns="0" rIns="0" bIns="0" rtlCol="0" anchor="ctr"/>
          <a:lstStyle/>
          <a:p>
            <a:pPr indent="0" marL="0">
              <a:buNone/>
            </a:pPr>
            <a:r>
              <a:rPr lang="en-US" sz="1200" b="1" dirty="0">
                <a:solidFill>
                  <a:srgbClr val="9A430A"/>
                </a:solidFill>
                <a:latin typeface="Courier New" pitchFamily="34" charset="0"/>
                <a:ea typeface="Courier New" pitchFamily="34" charset="-122"/>
                <a:cs typeface="Courier New" pitchFamily="34" charset="-120"/>
              </a:rPr>
              <a:t>ch - '0'</a:t>
            </a:r>
            <a:pPr indent="0" marL="0">
              <a:buNone/>
            </a:pPr>
            <a:r>
              <a:rPr lang="en-US" sz="1200" dirty="0">
                <a:solidFill>
                  <a:srgbClr val="3A536B"/>
                </a:solidFill>
                <a:latin typeface="Calibri" pitchFamily="34" charset="0"/>
                <a:ea typeface="Calibri" pitchFamily="34" charset="-122"/>
                <a:cs typeface="Calibri" pitchFamily="34" charset="-120"/>
              </a:rPr>
              <a:t> is char arithmetic again — the character '7' minus the character '0' is the int 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CASE STUDY</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A Class That Is Nothing But Methods</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RandomCharacter is a toolbox: five methods, no main, built to be called from elsewhere.</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28</a:t>
            </a:r>
            <a:endParaRPr lang="en-US" sz="900" dirty="0"/>
          </a:p>
        </p:txBody>
      </p:sp>
      <p:sp>
        <p:nvSpPr>
          <p:cNvPr id="7" name="Shape 5"/>
          <p:cNvSpPr/>
          <p:nvPr/>
        </p:nvSpPr>
        <p:spPr>
          <a:xfrm>
            <a:off x="566928" y="1536192"/>
            <a:ext cx="6126480" cy="4342851"/>
          </a:xfrm>
          <a:prstGeom prst="roundRect">
            <a:avLst>
              <a:gd name="adj" fmla="val 1474"/>
            </a:avLst>
          </a:prstGeom>
          <a:solidFill>
            <a:srgbClr val="EDF2F7"/>
          </a:solidFill>
          <a:ln w="12700">
            <a:solidFill>
              <a:srgbClr val="CFDBE5"/>
            </a:solidFill>
            <a:prstDash val="solid"/>
          </a:ln>
        </p:spPr>
      </p:sp>
      <p:sp>
        <p:nvSpPr>
          <p:cNvPr id="8" name="Text 6"/>
          <p:cNvSpPr txBox="1"/>
          <p:nvPr/>
        </p:nvSpPr>
        <p:spPr>
          <a:xfrm>
            <a:off x="713232" y="1581912"/>
            <a:ext cx="58338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RandomCharacter.java</a:t>
            </a:r>
            <a:endParaRPr lang="en-US" sz="950" dirty="0"/>
          </a:p>
        </p:txBody>
      </p:sp>
      <p:sp>
        <p:nvSpPr>
          <p:cNvPr id="9" name="Text 7"/>
          <p:cNvSpPr txBox="1"/>
          <p:nvPr/>
        </p:nvSpPr>
        <p:spPr>
          <a:xfrm>
            <a:off x="731520" y="1810512"/>
            <a:ext cx="5797296" cy="4013667"/>
          </a:xfrm>
          <a:prstGeom prst="rect">
            <a:avLst/>
          </a:prstGeom>
          <a:noFill/>
          <a:ln/>
        </p:spPr>
        <p:txBody>
          <a:bodyPr wrap="square" lIns="0" tIns="0" rIns="0" bIns="0" rtlCol="0" anchor="t"/>
          <a:lstStyle/>
          <a:p>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class</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568A"/>
                </a:solidFill>
                <a:latin typeface="Courier New" pitchFamily="34" charset="0"/>
                <a:ea typeface="Courier New" pitchFamily="34" charset="-122"/>
                <a:cs typeface="Courier New" pitchFamily="34" charset="-120"/>
              </a:rPr>
              <a:t>RandomCharacter</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random</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character</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between</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ch1</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and</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ch2</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char</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getRandomCharacter</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char</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ch1</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char</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ch2</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char</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ch1</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568A"/>
                </a:solidFill>
                <a:latin typeface="Courier New" pitchFamily="34" charset="0"/>
                <a:ea typeface="Courier New" pitchFamily="34" charset="-122"/>
                <a:cs typeface="Courier New" pitchFamily="34" charset="-120"/>
              </a:rPr>
              <a:t>Math</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random</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ch2</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ch1</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random</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lowercase</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letter</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char</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getRandomLowerCaseLetter</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getRandomCharacter</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z</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random</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uppercase</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letter</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char</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getRandomUpperCaseLetter</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getRandomCharacter</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Z</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random</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digit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character</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char</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getRandomDigitCharacter</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getRandomCharacter</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6B3FA0"/>
                </a:solidFill>
                <a:latin typeface="Courier New" pitchFamily="34" charset="0"/>
                <a:ea typeface="Courier New" pitchFamily="34" charset="-122"/>
                <a:cs typeface="Courier New" pitchFamily="34" charset="-120"/>
              </a:rPr>
              <a:t>9</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p:txBody>
      </p:sp>
      <p:sp>
        <p:nvSpPr>
          <p:cNvPr id="10" name="Shape 8"/>
          <p:cNvSpPr/>
          <p:nvPr/>
        </p:nvSpPr>
        <p:spPr>
          <a:xfrm>
            <a:off x="7150608" y="1536192"/>
            <a:ext cx="4474159" cy="1783080"/>
          </a:xfrm>
          <a:prstGeom prst="roundRect">
            <a:avLst>
              <a:gd name="adj" fmla="val 4615"/>
            </a:avLst>
          </a:prstGeom>
          <a:solidFill>
            <a:srgbClr val="E4ECF4"/>
          </a:solidFill>
          <a:ln w="12700">
            <a:solidFill>
              <a:srgbClr val="E4ECF4"/>
            </a:solidFill>
            <a:prstDash val="solid"/>
          </a:ln>
        </p:spPr>
      </p:sp>
      <p:sp>
        <p:nvSpPr>
          <p:cNvPr id="11" name="Text 9"/>
          <p:cNvSpPr txBox="1"/>
          <p:nvPr/>
        </p:nvSpPr>
        <p:spPr>
          <a:xfrm>
            <a:off x="7370064" y="1700784"/>
            <a:ext cx="4035247"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One method works; three name a use of it</a:t>
            </a:r>
            <a:endParaRPr lang="en-US" sz="1450" dirty="0"/>
          </a:p>
        </p:txBody>
      </p:sp>
      <p:sp>
        <p:nvSpPr>
          <p:cNvPr id="12" name="Text 10"/>
          <p:cNvSpPr txBox="1"/>
          <p:nvPr/>
        </p:nvSpPr>
        <p:spPr>
          <a:xfrm>
            <a:off x="7370064" y="2029968"/>
            <a:ext cx="4035247" cy="116128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getRandomCharacter is the only place the arithmetic appears. The other three are one line each, because getRandomLowerCaseLetter() reads better than getRandomCharacter('a', 'z'). And there is no main — this class is meant to be called, not run.</a:t>
            </a:r>
            <a:endParaRPr lang="en-US" sz="1200" dirty="0"/>
          </a:p>
        </p:txBody>
      </p:sp>
      <p:sp>
        <p:nvSpPr>
          <p:cNvPr id="13" name="Shape 11"/>
          <p:cNvSpPr/>
          <p:nvPr/>
        </p:nvSpPr>
        <p:spPr>
          <a:xfrm>
            <a:off x="7150608" y="3474720"/>
            <a:ext cx="4474159" cy="679033"/>
          </a:xfrm>
          <a:prstGeom prst="roundRect">
            <a:avLst>
              <a:gd name="adj" fmla="val 9426"/>
            </a:avLst>
          </a:prstGeom>
          <a:solidFill>
            <a:srgbClr val="EDF2F7"/>
          </a:solidFill>
          <a:ln w="12700">
            <a:solidFill>
              <a:srgbClr val="CFDBE5"/>
            </a:solidFill>
            <a:prstDash val="solid"/>
          </a:ln>
        </p:spPr>
      </p:sp>
      <p:sp>
        <p:nvSpPr>
          <p:cNvPr id="14" name="Text 12"/>
          <p:cNvSpPr txBox="1"/>
          <p:nvPr/>
        </p:nvSpPr>
        <p:spPr>
          <a:xfrm>
            <a:off x="7296912" y="3520440"/>
            <a:ext cx="418155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THE ONE EXPRESSION THAT MATTERS</a:t>
            </a:r>
            <a:endParaRPr lang="en-US" sz="950" dirty="0"/>
          </a:p>
        </p:txBody>
      </p:sp>
      <p:sp>
        <p:nvSpPr>
          <p:cNvPr id="15" name="Text 13"/>
          <p:cNvSpPr txBox="1"/>
          <p:nvPr/>
        </p:nvSpPr>
        <p:spPr>
          <a:xfrm>
            <a:off x="7315200" y="3749040"/>
            <a:ext cx="4144975" cy="349849"/>
          </a:xfrm>
          <a:prstGeom prst="rect">
            <a:avLst/>
          </a:prstGeom>
          <a:noFill/>
          <a:ln/>
        </p:spPr>
        <p:txBody>
          <a:bodyPr wrap="square" lIns="0" tIns="0" rIns="0" bIns="0" rtlCol="0" anchor="t"/>
          <a:lstStyle/>
          <a:p>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char</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568A"/>
                </a:solidFill>
                <a:latin typeface="Courier New" pitchFamily="34" charset="0"/>
                <a:ea typeface="Courier New" pitchFamily="34" charset="-122"/>
                <a:cs typeface="Courier New" pitchFamily="34" charset="-120"/>
              </a:rPr>
              <a:t>Math</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random</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z</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p:txBody>
      </p:sp>
      <p:sp>
        <p:nvSpPr>
          <p:cNvPr id="16" name="Shape 14"/>
          <p:cNvSpPr/>
          <p:nvPr/>
        </p:nvSpPr>
        <p:spPr>
          <a:xfrm>
            <a:off x="7150608" y="4391497"/>
            <a:ext cx="4474159" cy="1783080"/>
          </a:xfrm>
          <a:prstGeom prst="roundRect">
            <a:avLst>
              <a:gd name="adj" fmla="val 4615"/>
            </a:avLst>
          </a:prstGeom>
          <a:solidFill>
            <a:srgbClr val="F1F5F9"/>
          </a:solidFill>
          <a:ln w="12700">
            <a:solidFill>
              <a:srgbClr val="F1F5F9"/>
            </a:solidFill>
            <a:prstDash val="solid"/>
          </a:ln>
        </p:spPr>
      </p:sp>
      <p:sp>
        <p:nvSpPr>
          <p:cNvPr id="17" name="Text 15"/>
          <p:cNvSpPr txBox="1"/>
          <p:nvPr/>
        </p:nvSpPr>
        <p:spPr>
          <a:xfrm>
            <a:off x="7406640" y="4519513"/>
            <a:ext cx="3962095"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Read it from the inside out</a:t>
            </a:r>
            <a:endParaRPr lang="en-US" sz="1350" dirty="0"/>
          </a:p>
        </p:txBody>
      </p:sp>
      <p:sp>
        <p:nvSpPr>
          <p:cNvPr id="18" name="Text 16"/>
          <p:cNvSpPr txBox="1"/>
          <p:nvPr/>
        </p:nvSpPr>
        <p:spPr>
          <a:xfrm>
            <a:off x="7443216" y="4830409"/>
            <a:ext cx="3907231" cy="1234440"/>
          </a:xfrm>
          <a:prstGeom prst="rect">
            <a:avLst/>
          </a:prstGeom>
          <a:noFill/>
          <a:ln/>
        </p:spPr>
        <p:txBody>
          <a:bodyPr wrap="square" lIns="0" tIns="0" rIns="0" bIns="0" rtlCol="0" anchor="t"/>
          <a:lstStyle/>
          <a:p>
            <a:pPr marL="177800" indent="-177800">
              <a:spcAft>
                <a:spcPts val="200"/>
              </a:spcAft>
              <a:buSzPct val="100000"/>
              <a:buChar char="•"/>
            </a:pPr>
            <a:r>
              <a:rPr lang="en-US" sz="1100" dirty="0">
                <a:solidFill>
                  <a:srgbClr val="3A536B"/>
                </a:solidFill>
                <a:latin typeface="Calibri" pitchFamily="34" charset="0"/>
                <a:ea typeface="Calibri" pitchFamily="34" charset="-122"/>
                <a:cs typeface="Calibri" pitchFamily="34" charset="-120"/>
              </a:rPr>
              <a:t>'z' - 'a' + 1 is 26 — the number of letters.</a:t>
            </a:r>
            <a:endParaRPr lang="en-US" sz="1100" dirty="0"/>
          </a:p>
          <a:p>
            <a:pPr marL="177800" indent="-177800">
              <a:spcAft>
                <a:spcPts val="200"/>
              </a:spcAft>
              <a:buSzPct val="100000"/>
              <a:buChar char="•"/>
            </a:pPr>
            <a:r>
              <a:rPr lang="en-US" sz="1100" dirty="0">
                <a:solidFill>
                  <a:srgbClr val="3A536B"/>
                </a:solidFill>
                <a:latin typeface="Calibri" pitchFamily="34" charset="0"/>
                <a:ea typeface="Calibri" pitchFamily="34" charset="-122"/>
                <a:cs typeface="Calibri" pitchFamily="34" charset="-120"/>
              </a:rPr>
              <a:t>Math.random() * 26 gives 0.0 up to but not including 26.0.</a:t>
            </a:r>
            <a:endParaRPr lang="en-US" sz="1100" dirty="0"/>
          </a:p>
          <a:p>
            <a:pPr marL="177800" indent="-177800">
              <a:spcAft>
                <a:spcPts val="200"/>
              </a:spcAft>
              <a:buSzPct val="100000"/>
              <a:buChar char="•"/>
            </a:pPr>
            <a:r>
              <a:rPr lang="en-US" sz="1100" dirty="0">
                <a:solidFill>
                  <a:srgbClr val="3A536B"/>
                </a:solidFill>
                <a:latin typeface="Calibri" pitchFamily="34" charset="0"/>
                <a:ea typeface="Calibri" pitchFamily="34" charset="-122"/>
                <a:cs typeface="Calibri" pitchFamily="34" charset="-120"/>
              </a:rPr>
              <a:t>Adding 'a' shifts the range to start at 97, the code for 'a'.</a:t>
            </a:r>
            <a:endParaRPr lang="en-US" sz="1100" dirty="0"/>
          </a:p>
          <a:p>
            <a:pPr marL="177800" indent="-177800">
              <a:spcAft>
                <a:spcPts val="200"/>
              </a:spcAft>
              <a:buSzPct val="100000"/>
              <a:buChar char="•"/>
            </a:pPr>
            <a:r>
              <a:rPr lang="en-US" sz="1100" dirty="0">
                <a:solidFill>
                  <a:srgbClr val="3A536B"/>
                </a:solidFill>
                <a:latin typeface="Calibri" pitchFamily="34" charset="0"/>
                <a:ea typeface="Calibri" pitchFamily="34" charset="-122"/>
                <a:cs typeface="Calibri" pitchFamily="34" charset="-120"/>
              </a:rPr>
              <a:t>The (char) cast turns the number back into a letter.</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DESIGN</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Stepwise Refinement — Divide and Conquer</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Write the program you wish you had, then write the methods it needed. PrintCalendar, top down.</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29</a:t>
            </a:r>
            <a:endParaRPr lang="en-US" sz="900" dirty="0"/>
          </a:p>
        </p:txBody>
      </p:sp>
      <p:sp>
        <p:nvSpPr>
          <p:cNvPr id="7" name="Shape 5"/>
          <p:cNvSpPr/>
          <p:nvPr/>
        </p:nvSpPr>
        <p:spPr>
          <a:xfrm>
            <a:off x="6903720" y="1536192"/>
            <a:ext cx="2286000" cy="548640"/>
          </a:xfrm>
          <a:prstGeom prst="roundRect">
            <a:avLst>
              <a:gd name="adj" fmla="val 11667"/>
            </a:avLst>
          </a:prstGeom>
          <a:solidFill>
            <a:srgbClr val="0F2942"/>
          </a:solidFill>
          <a:ln w="15240">
            <a:solidFill>
              <a:srgbClr val="0F2942"/>
            </a:solidFill>
            <a:prstDash val="solid"/>
          </a:ln>
        </p:spPr>
      </p:sp>
      <p:sp>
        <p:nvSpPr>
          <p:cNvPr id="8" name="Text 6"/>
          <p:cNvSpPr txBox="1"/>
          <p:nvPr/>
        </p:nvSpPr>
        <p:spPr>
          <a:xfrm>
            <a:off x="6903720" y="1536192"/>
            <a:ext cx="2286000"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printCalendar (main)</a:t>
            </a:r>
            <a:endParaRPr lang="en-US" sz="1000" dirty="0"/>
          </a:p>
        </p:txBody>
      </p:sp>
      <p:sp>
        <p:nvSpPr>
          <p:cNvPr id="9" name="Shape 7"/>
          <p:cNvSpPr/>
          <p:nvPr/>
        </p:nvSpPr>
        <p:spPr>
          <a:xfrm>
            <a:off x="4617720" y="2404872"/>
            <a:ext cx="1737360" cy="548640"/>
          </a:xfrm>
          <a:prstGeom prst="roundRect">
            <a:avLst>
              <a:gd name="adj" fmla="val 11667"/>
            </a:avLst>
          </a:prstGeom>
          <a:solidFill>
            <a:srgbClr val="E4ECF4"/>
          </a:solidFill>
          <a:ln w="15240">
            <a:solidFill>
              <a:srgbClr val="E4ECF4"/>
            </a:solidFill>
            <a:prstDash val="solid"/>
          </a:ln>
        </p:spPr>
      </p:sp>
      <p:sp>
        <p:nvSpPr>
          <p:cNvPr id="10" name="Text 8"/>
          <p:cNvSpPr txBox="1"/>
          <p:nvPr/>
        </p:nvSpPr>
        <p:spPr>
          <a:xfrm>
            <a:off x="4617720" y="2404872"/>
            <a:ext cx="1737360" cy="548640"/>
          </a:xfrm>
          <a:prstGeom prst="rect">
            <a:avLst/>
          </a:prstGeom>
          <a:noFill/>
          <a:ln/>
        </p:spPr>
        <p:txBody>
          <a:bodyPr wrap="square" lIns="0" tIns="0" rIns="0" bIns="0" rtlCol="0" anchor="ctr"/>
          <a:lstStyle/>
          <a:p>
            <a:pPr algn="ctr" indent="0" marL="0">
              <a:buNone/>
            </a:pPr>
            <a:r>
              <a:rPr lang="en-US" sz="1000" b="1" dirty="0">
                <a:solidFill>
                  <a:srgbClr val="0F2942"/>
                </a:solidFill>
                <a:latin typeface="Courier New" pitchFamily="34" charset="0"/>
                <a:ea typeface="Courier New" pitchFamily="34" charset="-122"/>
                <a:cs typeface="Courier New" pitchFamily="34" charset="-120"/>
              </a:rPr>
              <a:t>readInput</a:t>
            </a:r>
            <a:endParaRPr lang="en-US" sz="1000" dirty="0"/>
          </a:p>
        </p:txBody>
      </p:sp>
      <p:sp>
        <p:nvSpPr>
          <p:cNvPr id="11" name="Shape 9"/>
          <p:cNvSpPr/>
          <p:nvPr/>
        </p:nvSpPr>
        <p:spPr>
          <a:xfrm>
            <a:off x="7635240" y="2404872"/>
            <a:ext cx="1828800" cy="548640"/>
          </a:xfrm>
          <a:prstGeom prst="roundRect">
            <a:avLst>
              <a:gd name="adj" fmla="val 11667"/>
            </a:avLst>
          </a:prstGeom>
          <a:solidFill>
            <a:srgbClr val="E4ECF4"/>
          </a:solidFill>
          <a:ln w="15240">
            <a:solidFill>
              <a:srgbClr val="E4ECF4"/>
            </a:solidFill>
            <a:prstDash val="solid"/>
          </a:ln>
        </p:spPr>
      </p:sp>
      <p:sp>
        <p:nvSpPr>
          <p:cNvPr id="12" name="Text 10"/>
          <p:cNvSpPr txBox="1"/>
          <p:nvPr/>
        </p:nvSpPr>
        <p:spPr>
          <a:xfrm>
            <a:off x="7635240" y="2404872"/>
            <a:ext cx="1828800" cy="548640"/>
          </a:xfrm>
          <a:prstGeom prst="rect">
            <a:avLst/>
          </a:prstGeom>
          <a:noFill/>
          <a:ln/>
        </p:spPr>
        <p:txBody>
          <a:bodyPr wrap="square" lIns="0" tIns="0" rIns="0" bIns="0" rtlCol="0" anchor="ctr"/>
          <a:lstStyle/>
          <a:p>
            <a:pPr algn="ctr" indent="0" marL="0">
              <a:buNone/>
            </a:pPr>
            <a:r>
              <a:rPr lang="en-US" sz="1000" b="1" dirty="0">
                <a:solidFill>
                  <a:srgbClr val="0F2942"/>
                </a:solidFill>
                <a:latin typeface="Courier New" pitchFamily="34" charset="0"/>
                <a:ea typeface="Courier New" pitchFamily="34" charset="-122"/>
                <a:cs typeface="Courier New" pitchFamily="34" charset="-120"/>
              </a:rPr>
              <a:t>printMonth</a:t>
            </a:r>
            <a:endParaRPr lang="en-US" sz="1000" dirty="0"/>
          </a:p>
        </p:txBody>
      </p:sp>
      <p:sp>
        <p:nvSpPr>
          <p:cNvPr id="13" name="Shape 11"/>
          <p:cNvSpPr/>
          <p:nvPr/>
        </p:nvSpPr>
        <p:spPr>
          <a:xfrm>
            <a:off x="5760720" y="3273552"/>
            <a:ext cx="1920240" cy="548640"/>
          </a:xfrm>
          <a:prstGeom prst="roundRect">
            <a:avLst>
              <a:gd name="adj" fmla="val 11667"/>
            </a:avLst>
          </a:prstGeom>
          <a:solidFill>
            <a:srgbClr val="F1F5F9"/>
          </a:solidFill>
          <a:ln w="15240">
            <a:solidFill>
              <a:srgbClr val="F1F5F9"/>
            </a:solidFill>
            <a:prstDash val="solid"/>
          </a:ln>
        </p:spPr>
      </p:sp>
      <p:sp>
        <p:nvSpPr>
          <p:cNvPr id="14" name="Text 12"/>
          <p:cNvSpPr txBox="1"/>
          <p:nvPr/>
        </p:nvSpPr>
        <p:spPr>
          <a:xfrm>
            <a:off x="5760720" y="3273552"/>
            <a:ext cx="1920240" cy="548640"/>
          </a:xfrm>
          <a:prstGeom prst="rect">
            <a:avLst/>
          </a:prstGeom>
          <a:noFill/>
          <a:ln/>
        </p:spPr>
        <p:txBody>
          <a:bodyPr wrap="square" lIns="0" tIns="0" rIns="0" bIns="0" rtlCol="0" anchor="ctr"/>
          <a:lstStyle/>
          <a:p>
            <a:pPr algn="ctr" indent="0" marL="0">
              <a:buNone/>
            </a:pPr>
            <a:r>
              <a:rPr lang="en-US" sz="1000" b="1" dirty="0">
                <a:solidFill>
                  <a:srgbClr val="0F2942"/>
                </a:solidFill>
                <a:latin typeface="Courier New" pitchFamily="34" charset="0"/>
                <a:ea typeface="Courier New" pitchFamily="34" charset="-122"/>
                <a:cs typeface="Courier New" pitchFamily="34" charset="-120"/>
              </a:rPr>
              <a:t>printMonthTitle</a:t>
            </a:r>
            <a:endParaRPr lang="en-US" sz="1000" dirty="0"/>
          </a:p>
        </p:txBody>
      </p:sp>
      <p:sp>
        <p:nvSpPr>
          <p:cNvPr id="15" name="Shape 13"/>
          <p:cNvSpPr/>
          <p:nvPr/>
        </p:nvSpPr>
        <p:spPr>
          <a:xfrm>
            <a:off x="8503920" y="3273552"/>
            <a:ext cx="1920240" cy="548640"/>
          </a:xfrm>
          <a:prstGeom prst="roundRect">
            <a:avLst>
              <a:gd name="adj" fmla="val 11667"/>
            </a:avLst>
          </a:prstGeom>
          <a:solidFill>
            <a:srgbClr val="F1F5F9"/>
          </a:solidFill>
          <a:ln w="15240">
            <a:solidFill>
              <a:srgbClr val="F1F5F9"/>
            </a:solidFill>
            <a:prstDash val="solid"/>
          </a:ln>
        </p:spPr>
      </p:sp>
      <p:sp>
        <p:nvSpPr>
          <p:cNvPr id="16" name="Text 14"/>
          <p:cNvSpPr txBox="1"/>
          <p:nvPr/>
        </p:nvSpPr>
        <p:spPr>
          <a:xfrm>
            <a:off x="8503920" y="3273552"/>
            <a:ext cx="1920240" cy="548640"/>
          </a:xfrm>
          <a:prstGeom prst="rect">
            <a:avLst/>
          </a:prstGeom>
          <a:noFill/>
          <a:ln/>
        </p:spPr>
        <p:txBody>
          <a:bodyPr wrap="square" lIns="0" tIns="0" rIns="0" bIns="0" rtlCol="0" anchor="ctr"/>
          <a:lstStyle/>
          <a:p>
            <a:pPr algn="ctr" indent="0" marL="0">
              <a:buNone/>
            </a:pPr>
            <a:r>
              <a:rPr lang="en-US" sz="1000" b="1" dirty="0">
                <a:solidFill>
                  <a:srgbClr val="0F2942"/>
                </a:solidFill>
                <a:latin typeface="Courier New" pitchFamily="34" charset="0"/>
                <a:ea typeface="Courier New" pitchFamily="34" charset="-122"/>
                <a:cs typeface="Courier New" pitchFamily="34" charset="-120"/>
              </a:rPr>
              <a:t>printMonthBody</a:t>
            </a:r>
            <a:endParaRPr lang="en-US" sz="1000" dirty="0"/>
          </a:p>
        </p:txBody>
      </p:sp>
      <p:sp>
        <p:nvSpPr>
          <p:cNvPr id="17" name="Shape 15"/>
          <p:cNvSpPr/>
          <p:nvPr/>
        </p:nvSpPr>
        <p:spPr>
          <a:xfrm>
            <a:off x="4754880" y="4142232"/>
            <a:ext cx="1920240" cy="548640"/>
          </a:xfrm>
          <a:prstGeom prst="roundRect">
            <a:avLst>
              <a:gd name="adj" fmla="val 11667"/>
            </a:avLst>
          </a:prstGeom>
          <a:solidFill>
            <a:srgbClr val="FFFFFF"/>
          </a:solidFill>
          <a:ln w="15240">
            <a:solidFill>
              <a:srgbClr val="D3DEE7"/>
            </a:solidFill>
            <a:prstDash val="solid"/>
          </a:ln>
        </p:spPr>
      </p:sp>
      <p:sp>
        <p:nvSpPr>
          <p:cNvPr id="18" name="Text 16"/>
          <p:cNvSpPr txBox="1"/>
          <p:nvPr/>
        </p:nvSpPr>
        <p:spPr>
          <a:xfrm>
            <a:off x="4754880" y="4142232"/>
            <a:ext cx="1920240" cy="548640"/>
          </a:xfrm>
          <a:prstGeom prst="rect">
            <a:avLst/>
          </a:prstGeom>
          <a:noFill/>
          <a:ln/>
        </p:spPr>
        <p:txBody>
          <a:bodyPr wrap="square" lIns="0" tIns="0" rIns="0" bIns="0" rtlCol="0" anchor="ctr"/>
          <a:lstStyle/>
          <a:p>
            <a:pPr algn="ctr" indent="0" marL="0">
              <a:buNone/>
            </a:pPr>
            <a:r>
              <a:rPr lang="en-US" sz="1000" b="1" dirty="0">
                <a:solidFill>
                  <a:srgbClr val="3A536B"/>
                </a:solidFill>
                <a:latin typeface="Courier New" pitchFamily="34" charset="0"/>
                <a:ea typeface="Courier New" pitchFamily="34" charset="-122"/>
                <a:cs typeface="Courier New" pitchFamily="34" charset="-120"/>
              </a:rPr>
              <a:t>getMonthName</a:t>
            </a:r>
            <a:endParaRPr lang="en-US" sz="1000" dirty="0"/>
          </a:p>
        </p:txBody>
      </p:sp>
      <p:sp>
        <p:nvSpPr>
          <p:cNvPr id="19" name="Shape 17"/>
          <p:cNvSpPr/>
          <p:nvPr/>
        </p:nvSpPr>
        <p:spPr>
          <a:xfrm>
            <a:off x="7178040" y="4142232"/>
            <a:ext cx="1737360" cy="548640"/>
          </a:xfrm>
          <a:prstGeom prst="roundRect">
            <a:avLst>
              <a:gd name="adj" fmla="val 11667"/>
            </a:avLst>
          </a:prstGeom>
          <a:solidFill>
            <a:srgbClr val="FFFFFF"/>
          </a:solidFill>
          <a:ln w="15240">
            <a:solidFill>
              <a:srgbClr val="D3DEE7"/>
            </a:solidFill>
            <a:prstDash val="solid"/>
          </a:ln>
        </p:spPr>
      </p:sp>
      <p:sp>
        <p:nvSpPr>
          <p:cNvPr id="20" name="Text 18"/>
          <p:cNvSpPr txBox="1"/>
          <p:nvPr/>
        </p:nvSpPr>
        <p:spPr>
          <a:xfrm>
            <a:off x="7178040" y="4142232"/>
            <a:ext cx="1737360" cy="548640"/>
          </a:xfrm>
          <a:prstGeom prst="rect">
            <a:avLst/>
          </a:prstGeom>
          <a:noFill/>
          <a:ln/>
        </p:spPr>
        <p:txBody>
          <a:bodyPr wrap="square" lIns="0" tIns="0" rIns="0" bIns="0" rtlCol="0" anchor="ctr"/>
          <a:lstStyle/>
          <a:p>
            <a:pPr algn="ctr" indent="0" marL="0">
              <a:buNone/>
            </a:pPr>
            <a:r>
              <a:rPr lang="en-US" sz="1000" b="1" dirty="0">
                <a:solidFill>
                  <a:srgbClr val="3A536B"/>
                </a:solidFill>
                <a:latin typeface="Courier New" pitchFamily="34" charset="0"/>
                <a:ea typeface="Courier New" pitchFamily="34" charset="-122"/>
                <a:cs typeface="Courier New" pitchFamily="34" charset="-120"/>
              </a:rPr>
              <a:t>getStartDay</a:t>
            </a:r>
            <a:endParaRPr lang="en-US" sz="1000" dirty="0"/>
          </a:p>
        </p:txBody>
      </p:sp>
      <p:sp>
        <p:nvSpPr>
          <p:cNvPr id="21" name="Shape 19"/>
          <p:cNvSpPr/>
          <p:nvPr/>
        </p:nvSpPr>
        <p:spPr>
          <a:xfrm>
            <a:off x="6858000" y="5010912"/>
            <a:ext cx="2103120" cy="548640"/>
          </a:xfrm>
          <a:prstGeom prst="roundRect">
            <a:avLst>
              <a:gd name="adj" fmla="val 11667"/>
            </a:avLst>
          </a:prstGeom>
          <a:solidFill>
            <a:srgbClr val="FFFFFF"/>
          </a:solidFill>
          <a:ln w="15240">
            <a:solidFill>
              <a:srgbClr val="D3DEE7"/>
            </a:solidFill>
            <a:prstDash val="solid"/>
          </a:ln>
        </p:spPr>
      </p:sp>
      <p:sp>
        <p:nvSpPr>
          <p:cNvPr id="22" name="Text 20"/>
          <p:cNvSpPr txBox="1"/>
          <p:nvPr/>
        </p:nvSpPr>
        <p:spPr>
          <a:xfrm>
            <a:off x="6858000" y="5010912"/>
            <a:ext cx="2103120" cy="548640"/>
          </a:xfrm>
          <a:prstGeom prst="rect">
            <a:avLst/>
          </a:prstGeom>
          <a:noFill/>
          <a:ln/>
        </p:spPr>
        <p:txBody>
          <a:bodyPr wrap="square" lIns="0" tIns="0" rIns="0" bIns="0" rtlCol="0" anchor="ctr"/>
          <a:lstStyle/>
          <a:p>
            <a:pPr algn="ctr" indent="0" marL="0">
              <a:buNone/>
            </a:pPr>
            <a:r>
              <a:rPr lang="en-US" sz="1000" b="1" dirty="0">
                <a:solidFill>
                  <a:srgbClr val="3A536B"/>
                </a:solidFill>
                <a:latin typeface="Courier New" pitchFamily="34" charset="0"/>
                <a:ea typeface="Courier New" pitchFamily="34" charset="-122"/>
                <a:cs typeface="Courier New" pitchFamily="34" charset="-120"/>
              </a:rPr>
              <a:t>getTotalNumOfDays</a:t>
            </a:r>
            <a:endParaRPr lang="en-US" sz="1000" dirty="0"/>
          </a:p>
        </p:txBody>
      </p:sp>
      <p:sp>
        <p:nvSpPr>
          <p:cNvPr id="23" name="Shape 21"/>
          <p:cNvSpPr/>
          <p:nvPr/>
        </p:nvSpPr>
        <p:spPr>
          <a:xfrm>
            <a:off x="9189720" y="5010912"/>
            <a:ext cx="2377440" cy="548640"/>
          </a:xfrm>
          <a:prstGeom prst="roundRect">
            <a:avLst>
              <a:gd name="adj" fmla="val 11667"/>
            </a:avLst>
          </a:prstGeom>
          <a:solidFill>
            <a:srgbClr val="FFFFFF"/>
          </a:solidFill>
          <a:ln w="15240">
            <a:solidFill>
              <a:srgbClr val="D3DEE7"/>
            </a:solidFill>
            <a:prstDash val="solid"/>
          </a:ln>
        </p:spPr>
      </p:sp>
      <p:sp>
        <p:nvSpPr>
          <p:cNvPr id="24" name="Text 22"/>
          <p:cNvSpPr txBox="1"/>
          <p:nvPr/>
        </p:nvSpPr>
        <p:spPr>
          <a:xfrm>
            <a:off x="9189720" y="5010912"/>
            <a:ext cx="2377440" cy="548640"/>
          </a:xfrm>
          <a:prstGeom prst="rect">
            <a:avLst/>
          </a:prstGeom>
          <a:noFill/>
          <a:ln/>
        </p:spPr>
        <p:txBody>
          <a:bodyPr wrap="square" lIns="0" tIns="0" rIns="0" bIns="0" rtlCol="0" anchor="ctr"/>
          <a:lstStyle/>
          <a:p>
            <a:pPr algn="ctr" indent="0" marL="0">
              <a:buNone/>
            </a:pPr>
            <a:r>
              <a:rPr lang="en-US" sz="1000" b="1" dirty="0">
                <a:solidFill>
                  <a:srgbClr val="3A536B"/>
                </a:solidFill>
                <a:latin typeface="Courier New" pitchFamily="34" charset="0"/>
                <a:ea typeface="Courier New" pitchFamily="34" charset="-122"/>
                <a:cs typeface="Courier New" pitchFamily="34" charset="-120"/>
              </a:rPr>
              <a:t>getNumOfDaysInMonth</a:t>
            </a:r>
            <a:endParaRPr lang="en-US" sz="1000" dirty="0"/>
          </a:p>
        </p:txBody>
      </p:sp>
      <p:sp>
        <p:nvSpPr>
          <p:cNvPr id="25" name="Shape 23"/>
          <p:cNvSpPr/>
          <p:nvPr/>
        </p:nvSpPr>
        <p:spPr>
          <a:xfrm>
            <a:off x="7818120" y="5879592"/>
            <a:ext cx="1828800" cy="548640"/>
          </a:xfrm>
          <a:prstGeom prst="roundRect">
            <a:avLst>
              <a:gd name="adj" fmla="val 11667"/>
            </a:avLst>
          </a:prstGeom>
          <a:solidFill>
            <a:srgbClr val="FBEEE0"/>
          </a:solidFill>
          <a:ln w="15240">
            <a:solidFill>
              <a:srgbClr val="FBEEE0"/>
            </a:solidFill>
            <a:prstDash val="solid"/>
          </a:ln>
        </p:spPr>
      </p:sp>
      <p:sp>
        <p:nvSpPr>
          <p:cNvPr id="26" name="Text 24"/>
          <p:cNvSpPr txBox="1"/>
          <p:nvPr/>
        </p:nvSpPr>
        <p:spPr>
          <a:xfrm>
            <a:off x="7818120" y="5879592"/>
            <a:ext cx="1828800" cy="548640"/>
          </a:xfrm>
          <a:prstGeom prst="rect">
            <a:avLst/>
          </a:prstGeom>
          <a:noFill/>
          <a:ln/>
        </p:spPr>
        <p:txBody>
          <a:bodyPr wrap="square" lIns="0" tIns="0" rIns="0" bIns="0" rtlCol="0" anchor="ctr"/>
          <a:lstStyle/>
          <a:p>
            <a:pPr algn="ctr" indent="0" marL="0">
              <a:buNone/>
            </a:pPr>
            <a:r>
              <a:rPr lang="en-US" sz="1000" b="1" dirty="0">
                <a:solidFill>
                  <a:srgbClr val="9A430A"/>
                </a:solidFill>
                <a:latin typeface="Courier New" pitchFamily="34" charset="0"/>
                <a:ea typeface="Courier New" pitchFamily="34" charset="-122"/>
                <a:cs typeface="Courier New" pitchFamily="34" charset="-120"/>
              </a:rPr>
              <a:t>isLeapYear</a:t>
            </a:r>
            <a:endParaRPr lang="en-US" sz="1000" dirty="0"/>
          </a:p>
        </p:txBody>
      </p:sp>
      <p:sp>
        <p:nvSpPr>
          <p:cNvPr id="27" name="Shape 25"/>
          <p:cNvSpPr/>
          <p:nvPr/>
        </p:nvSpPr>
        <p:spPr>
          <a:xfrm>
            <a:off x="8046720" y="2084832"/>
            <a:ext cx="0" cy="146304"/>
          </a:xfrm>
          <a:prstGeom prst="line">
            <a:avLst/>
          </a:prstGeom>
          <a:noFill/>
          <a:ln w="15240">
            <a:solidFill>
              <a:srgbClr val="C4560C"/>
            </a:solidFill>
            <a:prstDash val="solid"/>
          </a:ln>
        </p:spPr>
      </p:sp>
      <p:sp>
        <p:nvSpPr>
          <p:cNvPr id="28" name="Shape 26"/>
          <p:cNvSpPr/>
          <p:nvPr/>
        </p:nvSpPr>
        <p:spPr>
          <a:xfrm>
            <a:off x="5486400" y="2231136"/>
            <a:ext cx="2560320" cy="0"/>
          </a:xfrm>
          <a:prstGeom prst="line">
            <a:avLst/>
          </a:prstGeom>
          <a:noFill/>
          <a:ln w="15240">
            <a:solidFill>
              <a:srgbClr val="C4560C"/>
            </a:solidFill>
            <a:prstDash val="solid"/>
          </a:ln>
        </p:spPr>
      </p:sp>
      <p:sp>
        <p:nvSpPr>
          <p:cNvPr id="29" name="Shape 27"/>
          <p:cNvSpPr/>
          <p:nvPr/>
        </p:nvSpPr>
        <p:spPr>
          <a:xfrm>
            <a:off x="5486400" y="2231136"/>
            <a:ext cx="0" cy="173736"/>
          </a:xfrm>
          <a:prstGeom prst="line">
            <a:avLst/>
          </a:prstGeom>
          <a:noFill/>
          <a:ln w="15240">
            <a:solidFill>
              <a:srgbClr val="C4560C"/>
            </a:solidFill>
            <a:prstDash val="solid"/>
            <a:tailEnd type="triangle"/>
          </a:ln>
        </p:spPr>
      </p:sp>
      <p:sp>
        <p:nvSpPr>
          <p:cNvPr id="30" name="Shape 28"/>
          <p:cNvSpPr/>
          <p:nvPr/>
        </p:nvSpPr>
        <p:spPr>
          <a:xfrm>
            <a:off x="8046720" y="2084832"/>
            <a:ext cx="0" cy="146304"/>
          </a:xfrm>
          <a:prstGeom prst="line">
            <a:avLst/>
          </a:prstGeom>
          <a:noFill/>
          <a:ln w="15240">
            <a:solidFill>
              <a:srgbClr val="C4560C"/>
            </a:solidFill>
            <a:prstDash val="solid"/>
          </a:ln>
        </p:spPr>
      </p:sp>
      <p:sp>
        <p:nvSpPr>
          <p:cNvPr id="31" name="Shape 29"/>
          <p:cNvSpPr/>
          <p:nvPr/>
        </p:nvSpPr>
        <p:spPr>
          <a:xfrm>
            <a:off x="8046720" y="2231136"/>
            <a:ext cx="502920" cy="0"/>
          </a:xfrm>
          <a:prstGeom prst="line">
            <a:avLst/>
          </a:prstGeom>
          <a:noFill/>
          <a:ln w="15240">
            <a:solidFill>
              <a:srgbClr val="C4560C"/>
            </a:solidFill>
            <a:prstDash val="solid"/>
          </a:ln>
        </p:spPr>
      </p:sp>
      <p:sp>
        <p:nvSpPr>
          <p:cNvPr id="32" name="Shape 30"/>
          <p:cNvSpPr/>
          <p:nvPr/>
        </p:nvSpPr>
        <p:spPr>
          <a:xfrm>
            <a:off x="8549640" y="2231136"/>
            <a:ext cx="0" cy="173736"/>
          </a:xfrm>
          <a:prstGeom prst="line">
            <a:avLst/>
          </a:prstGeom>
          <a:noFill/>
          <a:ln w="15240">
            <a:solidFill>
              <a:srgbClr val="C4560C"/>
            </a:solidFill>
            <a:prstDash val="solid"/>
            <a:tailEnd type="triangle"/>
          </a:ln>
        </p:spPr>
      </p:sp>
      <p:sp>
        <p:nvSpPr>
          <p:cNvPr id="33" name="Shape 31"/>
          <p:cNvSpPr/>
          <p:nvPr/>
        </p:nvSpPr>
        <p:spPr>
          <a:xfrm>
            <a:off x="8549640" y="2953512"/>
            <a:ext cx="0" cy="146304"/>
          </a:xfrm>
          <a:prstGeom prst="line">
            <a:avLst/>
          </a:prstGeom>
          <a:noFill/>
          <a:ln w="15240">
            <a:solidFill>
              <a:srgbClr val="C4560C"/>
            </a:solidFill>
            <a:prstDash val="solid"/>
          </a:ln>
        </p:spPr>
      </p:sp>
      <p:sp>
        <p:nvSpPr>
          <p:cNvPr id="34" name="Shape 32"/>
          <p:cNvSpPr/>
          <p:nvPr/>
        </p:nvSpPr>
        <p:spPr>
          <a:xfrm>
            <a:off x="6720840" y="3099816"/>
            <a:ext cx="1828800" cy="0"/>
          </a:xfrm>
          <a:prstGeom prst="line">
            <a:avLst/>
          </a:prstGeom>
          <a:noFill/>
          <a:ln w="15240">
            <a:solidFill>
              <a:srgbClr val="C4560C"/>
            </a:solidFill>
            <a:prstDash val="solid"/>
          </a:ln>
        </p:spPr>
      </p:sp>
      <p:sp>
        <p:nvSpPr>
          <p:cNvPr id="35" name="Shape 33"/>
          <p:cNvSpPr/>
          <p:nvPr/>
        </p:nvSpPr>
        <p:spPr>
          <a:xfrm>
            <a:off x="6720840" y="3099816"/>
            <a:ext cx="0" cy="173736"/>
          </a:xfrm>
          <a:prstGeom prst="line">
            <a:avLst/>
          </a:prstGeom>
          <a:noFill/>
          <a:ln w="15240">
            <a:solidFill>
              <a:srgbClr val="C4560C"/>
            </a:solidFill>
            <a:prstDash val="solid"/>
            <a:tailEnd type="triangle"/>
          </a:ln>
        </p:spPr>
      </p:sp>
      <p:sp>
        <p:nvSpPr>
          <p:cNvPr id="36" name="Shape 34"/>
          <p:cNvSpPr/>
          <p:nvPr/>
        </p:nvSpPr>
        <p:spPr>
          <a:xfrm>
            <a:off x="8549640" y="2953512"/>
            <a:ext cx="0" cy="146304"/>
          </a:xfrm>
          <a:prstGeom prst="line">
            <a:avLst/>
          </a:prstGeom>
          <a:noFill/>
          <a:ln w="15240">
            <a:solidFill>
              <a:srgbClr val="C4560C"/>
            </a:solidFill>
            <a:prstDash val="solid"/>
          </a:ln>
        </p:spPr>
      </p:sp>
      <p:sp>
        <p:nvSpPr>
          <p:cNvPr id="37" name="Shape 35"/>
          <p:cNvSpPr/>
          <p:nvPr/>
        </p:nvSpPr>
        <p:spPr>
          <a:xfrm>
            <a:off x="8549640" y="3099816"/>
            <a:ext cx="914400" cy="0"/>
          </a:xfrm>
          <a:prstGeom prst="line">
            <a:avLst/>
          </a:prstGeom>
          <a:noFill/>
          <a:ln w="15240">
            <a:solidFill>
              <a:srgbClr val="C4560C"/>
            </a:solidFill>
            <a:prstDash val="solid"/>
          </a:ln>
        </p:spPr>
      </p:sp>
      <p:sp>
        <p:nvSpPr>
          <p:cNvPr id="38" name="Shape 36"/>
          <p:cNvSpPr/>
          <p:nvPr/>
        </p:nvSpPr>
        <p:spPr>
          <a:xfrm>
            <a:off x="9464040" y="3099816"/>
            <a:ext cx="0" cy="173736"/>
          </a:xfrm>
          <a:prstGeom prst="line">
            <a:avLst/>
          </a:prstGeom>
          <a:noFill/>
          <a:ln w="15240">
            <a:solidFill>
              <a:srgbClr val="C4560C"/>
            </a:solidFill>
            <a:prstDash val="solid"/>
            <a:tailEnd type="triangle"/>
          </a:ln>
        </p:spPr>
      </p:sp>
      <p:sp>
        <p:nvSpPr>
          <p:cNvPr id="39" name="Shape 37"/>
          <p:cNvSpPr/>
          <p:nvPr/>
        </p:nvSpPr>
        <p:spPr>
          <a:xfrm>
            <a:off x="6720840" y="3822192"/>
            <a:ext cx="0" cy="146304"/>
          </a:xfrm>
          <a:prstGeom prst="line">
            <a:avLst/>
          </a:prstGeom>
          <a:noFill/>
          <a:ln w="15240">
            <a:solidFill>
              <a:srgbClr val="C4560C"/>
            </a:solidFill>
            <a:prstDash val="solid"/>
          </a:ln>
        </p:spPr>
      </p:sp>
      <p:sp>
        <p:nvSpPr>
          <p:cNvPr id="40" name="Shape 38"/>
          <p:cNvSpPr/>
          <p:nvPr/>
        </p:nvSpPr>
        <p:spPr>
          <a:xfrm>
            <a:off x="5715000" y="3968496"/>
            <a:ext cx="1005840" cy="0"/>
          </a:xfrm>
          <a:prstGeom prst="line">
            <a:avLst/>
          </a:prstGeom>
          <a:noFill/>
          <a:ln w="15240">
            <a:solidFill>
              <a:srgbClr val="C4560C"/>
            </a:solidFill>
            <a:prstDash val="solid"/>
          </a:ln>
        </p:spPr>
      </p:sp>
      <p:sp>
        <p:nvSpPr>
          <p:cNvPr id="41" name="Shape 39"/>
          <p:cNvSpPr/>
          <p:nvPr/>
        </p:nvSpPr>
        <p:spPr>
          <a:xfrm>
            <a:off x="5715000" y="3968496"/>
            <a:ext cx="0" cy="173736"/>
          </a:xfrm>
          <a:prstGeom prst="line">
            <a:avLst/>
          </a:prstGeom>
          <a:noFill/>
          <a:ln w="15240">
            <a:solidFill>
              <a:srgbClr val="C4560C"/>
            </a:solidFill>
            <a:prstDash val="solid"/>
            <a:tailEnd type="triangle"/>
          </a:ln>
        </p:spPr>
      </p:sp>
      <p:sp>
        <p:nvSpPr>
          <p:cNvPr id="42" name="Shape 40"/>
          <p:cNvSpPr/>
          <p:nvPr/>
        </p:nvSpPr>
        <p:spPr>
          <a:xfrm>
            <a:off x="9464040" y="3822192"/>
            <a:ext cx="0" cy="146304"/>
          </a:xfrm>
          <a:prstGeom prst="line">
            <a:avLst/>
          </a:prstGeom>
          <a:noFill/>
          <a:ln w="15240">
            <a:solidFill>
              <a:srgbClr val="C4560C"/>
            </a:solidFill>
            <a:prstDash val="solid"/>
          </a:ln>
        </p:spPr>
      </p:sp>
      <p:sp>
        <p:nvSpPr>
          <p:cNvPr id="43" name="Shape 41"/>
          <p:cNvSpPr/>
          <p:nvPr/>
        </p:nvSpPr>
        <p:spPr>
          <a:xfrm>
            <a:off x="8046720" y="3968496"/>
            <a:ext cx="1417320" cy="0"/>
          </a:xfrm>
          <a:prstGeom prst="line">
            <a:avLst/>
          </a:prstGeom>
          <a:noFill/>
          <a:ln w="15240">
            <a:solidFill>
              <a:srgbClr val="C4560C"/>
            </a:solidFill>
            <a:prstDash val="solid"/>
          </a:ln>
        </p:spPr>
      </p:sp>
      <p:sp>
        <p:nvSpPr>
          <p:cNvPr id="44" name="Shape 42"/>
          <p:cNvSpPr/>
          <p:nvPr/>
        </p:nvSpPr>
        <p:spPr>
          <a:xfrm>
            <a:off x="8046720" y="3968496"/>
            <a:ext cx="0" cy="173736"/>
          </a:xfrm>
          <a:prstGeom prst="line">
            <a:avLst/>
          </a:prstGeom>
          <a:noFill/>
          <a:ln w="15240">
            <a:solidFill>
              <a:srgbClr val="C4560C"/>
            </a:solidFill>
            <a:prstDash val="solid"/>
            <a:tailEnd type="triangle"/>
          </a:ln>
        </p:spPr>
      </p:sp>
      <p:sp>
        <p:nvSpPr>
          <p:cNvPr id="45" name="Shape 43"/>
          <p:cNvSpPr/>
          <p:nvPr/>
        </p:nvSpPr>
        <p:spPr>
          <a:xfrm>
            <a:off x="8046720" y="4690872"/>
            <a:ext cx="0" cy="146304"/>
          </a:xfrm>
          <a:prstGeom prst="line">
            <a:avLst/>
          </a:prstGeom>
          <a:noFill/>
          <a:ln w="15240">
            <a:solidFill>
              <a:srgbClr val="C4560C"/>
            </a:solidFill>
            <a:prstDash val="solid"/>
          </a:ln>
        </p:spPr>
      </p:sp>
      <p:sp>
        <p:nvSpPr>
          <p:cNvPr id="46" name="Shape 44"/>
          <p:cNvSpPr/>
          <p:nvPr/>
        </p:nvSpPr>
        <p:spPr>
          <a:xfrm>
            <a:off x="7909560" y="4837176"/>
            <a:ext cx="137160" cy="0"/>
          </a:xfrm>
          <a:prstGeom prst="line">
            <a:avLst/>
          </a:prstGeom>
          <a:noFill/>
          <a:ln w="15240">
            <a:solidFill>
              <a:srgbClr val="C4560C"/>
            </a:solidFill>
            <a:prstDash val="solid"/>
          </a:ln>
        </p:spPr>
      </p:sp>
      <p:sp>
        <p:nvSpPr>
          <p:cNvPr id="47" name="Shape 45"/>
          <p:cNvSpPr/>
          <p:nvPr/>
        </p:nvSpPr>
        <p:spPr>
          <a:xfrm>
            <a:off x="7909560" y="4837176"/>
            <a:ext cx="0" cy="173736"/>
          </a:xfrm>
          <a:prstGeom prst="line">
            <a:avLst/>
          </a:prstGeom>
          <a:noFill/>
          <a:ln w="15240">
            <a:solidFill>
              <a:srgbClr val="C4560C"/>
            </a:solidFill>
            <a:prstDash val="solid"/>
            <a:tailEnd type="triangle"/>
          </a:ln>
        </p:spPr>
      </p:sp>
      <p:sp>
        <p:nvSpPr>
          <p:cNvPr id="48" name="Shape 46"/>
          <p:cNvSpPr/>
          <p:nvPr/>
        </p:nvSpPr>
        <p:spPr>
          <a:xfrm>
            <a:off x="9464040" y="3822192"/>
            <a:ext cx="0" cy="146304"/>
          </a:xfrm>
          <a:prstGeom prst="line">
            <a:avLst/>
          </a:prstGeom>
          <a:noFill/>
          <a:ln w="15240">
            <a:solidFill>
              <a:srgbClr val="C4560C"/>
            </a:solidFill>
            <a:prstDash val="solid"/>
          </a:ln>
        </p:spPr>
      </p:sp>
      <p:sp>
        <p:nvSpPr>
          <p:cNvPr id="49" name="Shape 47"/>
          <p:cNvSpPr/>
          <p:nvPr/>
        </p:nvSpPr>
        <p:spPr>
          <a:xfrm>
            <a:off x="9464040" y="3968496"/>
            <a:ext cx="914400" cy="0"/>
          </a:xfrm>
          <a:prstGeom prst="line">
            <a:avLst/>
          </a:prstGeom>
          <a:noFill/>
          <a:ln w="15240">
            <a:solidFill>
              <a:srgbClr val="C4560C"/>
            </a:solidFill>
            <a:prstDash val="solid"/>
          </a:ln>
        </p:spPr>
      </p:sp>
      <p:sp>
        <p:nvSpPr>
          <p:cNvPr id="50" name="Shape 48"/>
          <p:cNvSpPr/>
          <p:nvPr/>
        </p:nvSpPr>
        <p:spPr>
          <a:xfrm>
            <a:off x="10378440" y="3968496"/>
            <a:ext cx="0" cy="1042416"/>
          </a:xfrm>
          <a:prstGeom prst="line">
            <a:avLst/>
          </a:prstGeom>
          <a:noFill/>
          <a:ln w="15240">
            <a:solidFill>
              <a:srgbClr val="C4560C"/>
            </a:solidFill>
            <a:prstDash val="solid"/>
            <a:tailEnd type="triangle"/>
          </a:ln>
        </p:spPr>
      </p:sp>
      <p:sp>
        <p:nvSpPr>
          <p:cNvPr id="51" name="Shape 49"/>
          <p:cNvSpPr/>
          <p:nvPr/>
        </p:nvSpPr>
        <p:spPr>
          <a:xfrm>
            <a:off x="7909560" y="5559552"/>
            <a:ext cx="0" cy="146304"/>
          </a:xfrm>
          <a:prstGeom prst="line">
            <a:avLst/>
          </a:prstGeom>
          <a:noFill/>
          <a:ln w="15240">
            <a:solidFill>
              <a:srgbClr val="C4560C"/>
            </a:solidFill>
            <a:prstDash val="solid"/>
          </a:ln>
        </p:spPr>
      </p:sp>
      <p:sp>
        <p:nvSpPr>
          <p:cNvPr id="52" name="Shape 50"/>
          <p:cNvSpPr/>
          <p:nvPr/>
        </p:nvSpPr>
        <p:spPr>
          <a:xfrm>
            <a:off x="7909560" y="5705856"/>
            <a:ext cx="822960" cy="0"/>
          </a:xfrm>
          <a:prstGeom prst="line">
            <a:avLst/>
          </a:prstGeom>
          <a:noFill/>
          <a:ln w="15240">
            <a:solidFill>
              <a:srgbClr val="C4560C"/>
            </a:solidFill>
            <a:prstDash val="solid"/>
          </a:ln>
        </p:spPr>
      </p:sp>
      <p:sp>
        <p:nvSpPr>
          <p:cNvPr id="53" name="Shape 51"/>
          <p:cNvSpPr/>
          <p:nvPr/>
        </p:nvSpPr>
        <p:spPr>
          <a:xfrm>
            <a:off x="8732520" y="5705856"/>
            <a:ext cx="0" cy="173736"/>
          </a:xfrm>
          <a:prstGeom prst="line">
            <a:avLst/>
          </a:prstGeom>
          <a:noFill/>
          <a:ln w="15240">
            <a:solidFill>
              <a:srgbClr val="C4560C"/>
            </a:solidFill>
            <a:prstDash val="solid"/>
            <a:tailEnd type="triangle"/>
          </a:ln>
        </p:spPr>
      </p:sp>
      <p:sp>
        <p:nvSpPr>
          <p:cNvPr id="54" name="Shape 52"/>
          <p:cNvSpPr/>
          <p:nvPr/>
        </p:nvSpPr>
        <p:spPr>
          <a:xfrm>
            <a:off x="10378440" y="5559552"/>
            <a:ext cx="0" cy="146304"/>
          </a:xfrm>
          <a:prstGeom prst="line">
            <a:avLst/>
          </a:prstGeom>
          <a:noFill/>
          <a:ln w="15240">
            <a:solidFill>
              <a:srgbClr val="C4560C"/>
            </a:solidFill>
            <a:prstDash val="solid"/>
          </a:ln>
        </p:spPr>
      </p:sp>
      <p:sp>
        <p:nvSpPr>
          <p:cNvPr id="55" name="Shape 53"/>
          <p:cNvSpPr/>
          <p:nvPr/>
        </p:nvSpPr>
        <p:spPr>
          <a:xfrm>
            <a:off x="8732520" y="5705856"/>
            <a:ext cx="1645920" cy="0"/>
          </a:xfrm>
          <a:prstGeom prst="line">
            <a:avLst/>
          </a:prstGeom>
          <a:noFill/>
          <a:ln w="15240">
            <a:solidFill>
              <a:srgbClr val="C4560C"/>
            </a:solidFill>
            <a:prstDash val="solid"/>
          </a:ln>
        </p:spPr>
      </p:sp>
      <p:sp>
        <p:nvSpPr>
          <p:cNvPr id="56" name="Shape 54"/>
          <p:cNvSpPr/>
          <p:nvPr/>
        </p:nvSpPr>
        <p:spPr>
          <a:xfrm>
            <a:off x="8732520" y="5705856"/>
            <a:ext cx="0" cy="173736"/>
          </a:xfrm>
          <a:prstGeom prst="line">
            <a:avLst/>
          </a:prstGeom>
          <a:noFill/>
          <a:ln w="15240">
            <a:solidFill>
              <a:srgbClr val="C4560C"/>
            </a:solidFill>
            <a:prstDash val="solid"/>
            <a:tailEnd type="triangle"/>
          </a:ln>
        </p:spPr>
      </p:sp>
      <p:sp>
        <p:nvSpPr>
          <p:cNvPr id="57" name="Shape 55"/>
          <p:cNvSpPr/>
          <p:nvPr/>
        </p:nvSpPr>
        <p:spPr>
          <a:xfrm>
            <a:off x="566928" y="2039112"/>
            <a:ext cx="3703320" cy="2011680"/>
          </a:xfrm>
          <a:prstGeom prst="roundRect">
            <a:avLst>
              <a:gd name="adj" fmla="val 4091"/>
            </a:avLst>
          </a:prstGeom>
          <a:solidFill>
            <a:srgbClr val="E6F2EC"/>
          </a:solidFill>
          <a:ln w="12700">
            <a:solidFill>
              <a:srgbClr val="E6F2EC"/>
            </a:solidFill>
            <a:prstDash val="solid"/>
          </a:ln>
        </p:spPr>
      </p:sp>
      <p:sp>
        <p:nvSpPr>
          <p:cNvPr id="58" name="Text 56"/>
          <p:cNvSpPr txBox="1"/>
          <p:nvPr/>
        </p:nvSpPr>
        <p:spPr>
          <a:xfrm>
            <a:off x="804672" y="2176272"/>
            <a:ext cx="3246120" cy="274320"/>
          </a:xfrm>
          <a:prstGeom prst="rect">
            <a:avLst/>
          </a:prstGeom>
          <a:noFill/>
          <a:ln/>
        </p:spPr>
        <p:txBody>
          <a:bodyPr wrap="square" lIns="0" tIns="0" rIns="0" bIns="0" rtlCol="0" anchor="ctr"/>
          <a:lstStyle/>
          <a:p>
            <a:pPr indent="0" marL="0">
              <a:buNone/>
            </a:pPr>
            <a:r>
              <a:rPr lang="en-US" sz="1350" b="1" dirty="0">
                <a:solidFill>
                  <a:srgbClr val="176240"/>
                </a:solidFill>
                <a:latin typeface="Calibri" pitchFamily="34" charset="0"/>
                <a:ea typeface="Calibri" pitchFamily="34" charset="-122"/>
                <a:cs typeface="Calibri" pitchFamily="34" charset="-120"/>
              </a:rPr>
              <a:t>Read it downwards</a:t>
            </a:r>
            <a:endParaRPr lang="en-US" sz="1350" dirty="0"/>
          </a:p>
        </p:txBody>
      </p:sp>
      <p:sp>
        <p:nvSpPr>
          <p:cNvPr id="59" name="Text 57"/>
          <p:cNvSpPr txBox="1"/>
          <p:nvPr/>
        </p:nvSpPr>
        <p:spPr>
          <a:xfrm>
            <a:off x="804672" y="2487168"/>
            <a:ext cx="3246120" cy="146304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Each box is one method. An arrow means "calls". Nothing here is code yet — it is a plan, and you can check it for sense before writing a line.</a:t>
            </a:r>
            <a:endParaRPr lang="en-US" sz="1200" dirty="0"/>
          </a:p>
        </p:txBody>
      </p:sp>
      <p:sp>
        <p:nvSpPr>
          <p:cNvPr id="60" name="Shape 58"/>
          <p:cNvSpPr/>
          <p:nvPr/>
        </p:nvSpPr>
        <p:spPr>
          <a:xfrm>
            <a:off x="566928" y="4233672"/>
            <a:ext cx="3703320" cy="2011680"/>
          </a:xfrm>
          <a:prstGeom prst="roundRect">
            <a:avLst>
              <a:gd name="adj" fmla="val 4091"/>
            </a:avLst>
          </a:prstGeom>
          <a:solidFill>
            <a:srgbClr val="FBEEE0"/>
          </a:solidFill>
          <a:ln w="12700">
            <a:solidFill>
              <a:srgbClr val="FBEEE0"/>
            </a:solidFill>
            <a:prstDash val="solid"/>
          </a:ln>
        </p:spPr>
      </p:sp>
      <p:sp>
        <p:nvSpPr>
          <p:cNvPr id="61" name="Text 59"/>
          <p:cNvSpPr txBox="1"/>
          <p:nvPr/>
        </p:nvSpPr>
        <p:spPr>
          <a:xfrm>
            <a:off x="804672" y="4370832"/>
            <a:ext cx="3246120" cy="274320"/>
          </a:xfrm>
          <a:prstGeom prst="rect">
            <a:avLst/>
          </a:prstGeom>
          <a:noFill/>
          <a:ln/>
        </p:spPr>
        <p:txBody>
          <a:bodyPr wrap="square" lIns="0" tIns="0" rIns="0" bIns="0" rtlCol="0" anchor="ctr"/>
          <a:lstStyle/>
          <a:p>
            <a:pPr indent="0" marL="0">
              <a:buNone/>
            </a:pPr>
            <a:r>
              <a:rPr lang="en-US" sz="1350" b="1" dirty="0">
                <a:solidFill>
                  <a:srgbClr val="9A430A"/>
                </a:solidFill>
                <a:latin typeface="Calibri" pitchFamily="34" charset="0"/>
                <a:ea typeface="Calibri" pitchFamily="34" charset="-122"/>
                <a:cs typeface="Calibri" pitchFamily="34" charset="-120"/>
              </a:rPr>
              <a:t>isLeapYear at the bottom</a:t>
            </a:r>
            <a:endParaRPr lang="en-US" sz="1350" dirty="0"/>
          </a:p>
        </p:txBody>
      </p:sp>
      <p:sp>
        <p:nvSpPr>
          <p:cNvPr id="62" name="Text 60"/>
          <p:cNvSpPr txBox="1"/>
          <p:nvPr/>
        </p:nvSpPr>
        <p:spPr>
          <a:xfrm>
            <a:off x="804672" y="4681728"/>
            <a:ext cx="3246120" cy="146304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It is called by two different methods. A box with more than one arrow into it is the one most worth writing first, and testing hardest — a bug there shows up in two places.</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DESIGN</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Two Ways to Fill In the Chart</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Both work. Both build the program a method at a time, so a mistake is never more than one method away.</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30</a:t>
            </a:r>
            <a:endParaRPr lang="en-US" sz="900" dirty="0"/>
          </a:p>
        </p:txBody>
      </p:sp>
      <p:sp>
        <p:nvSpPr>
          <p:cNvPr id="7" name="Shape 5"/>
          <p:cNvSpPr/>
          <p:nvPr/>
        </p:nvSpPr>
        <p:spPr>
          <a:xfrm>
            <a:off x="566928" y="1536192"/>
            <a:ext cx="5323180" cy="1234440"/>
          </a:xfrm>
          <a:prstGeom prst="roundRect">
            <a:avLst>
              <a:gd name="adj" fmla="val 6667"/>
            </a:avLst>
          </a:prstGeom>
          <a:solidFill>
            <a:srgbClr val="E4ECF4"/>
          </a:solidFill>
          <a:ln w="12700">
            <a:solidFill>
              <a:srgbClr val="E4ECF4"/>
            </a:solidFill>
            <a:prstDash val="solid"/>
          </a:ln>
        </p:spPr>
      </p:sp>
      <p:sp>
        <p:nvSpPr>
          <p:cNvPr id="8" name="Text 6"/>
          <p:cNvSpPr txBox="1"/>
          <p:nvPr/>
        </p:nvSpPr>
        <p:spPr>
          <a:xfrm>
            <a:off x="786384" y="1700784"/>
            <a:ext cx="4884268" cy="310896"/>
          </a:xfrm>
          <a:prstGeom prst="rect">
            <a:avLst/>
          </a:prstGeom>
          <a:noFill/>
          <a:ln/>
        </p:spPr>
        <p:txBody>
          <a:bodyPr wrap="square" lIns="0" tIns="0" rIns="0" bIns="0" rtlCol="0" anchor="t"/>
          <a:lstStyle/>
          <a:p>
            <a:pPr indent="0" marL="0">
              <a:buNone/>
            </a:pPr>
            <a:r>
              <a:rPr lang="en-US" sz="1500" b="1" dirty="0">
                <a:solidFill>
                  <a:srgbClr val="0F2942"/>
                </a:solidFill>
                <a:latin typeface="Calibri" pitchFamily="34" charset="0"/>
                <a:ea typeface="Calibri" pitchFamily="34" charset="-122"/>
                <a:cs typeface="Calibri" pitchFamily="34" charset="-120"/>
              </a:rPr>
              <a:t>Top-down — start at main</a:t>
            </a:r>
            <a:endParaRPr lang="en-US" sz="1500" dirty="0"/>
          </a:p>
        </p:txBody>
      </p:sp>
      <p:sp>
        <p:nvSpPr>
          <p:cNvPr id="9" name="Text 7"/>
          <p:cNvSpPr txBox="1"/>
          <p:nvPr/>
        </p:nvSpPr>
        <p:spPr>
          <a:xfrm>
            <a:off x="786384" y="2029968"/>
            <a:ext cx="4884268" cy="61264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Implement the top box first and use stubs for everything below it. The program runs from day one; it just does not do much yet.</a:t>
            </a:r>
            <a:endParaRPr lang="en-US" sz="1200" dirty="0"/>
          </a:p>
        </p:txBody>
      </p:sp>
      <p:sp>
        <p:nvSpPr>
          <p:cNvPr id="10" name="Shape 8"/>
          <p:cNvSpPr/>
          <p:nvPr/>
        </p:nvSpPr>
        <p:spPr>
          <a:xfrm>
            <a:off x="6301588" y="1536192"/>
            <a:ext cx="5323180" cy="1234440"/>
          </a:xfrm>
          <a:prstGeom prst="roundRect">
            <a:avLst>
              <a:gd name="adj" fmla="val 6667"/>
            </a:avLst>
          </a:prstGeom>
          <a:solidFill>
            <a:srgbClr val="F1F5F9"/>
          </a:solidFill>
          <a:ln w="12700">
            <a:solidFill>
              <a:srgbClr val="F1F5F9"/>
            </a:solidFill>
            <a:prstDash val="solid"/>
          </a:ln>
        </p:spPr>
      </p:sp>
      <p:sp>
        <p:nvSpPr>
          <p:cNvPr id="11" name="Text 9"/>
          <p:cNvSpPr txBox="1"/>
          <p:nvPr/>
        </p:nvSpPr>
        <p:spPr>
          <a:xfrm>
            <a:off x="6521044" y="1700784"/>
            <a:ext cx="4884268" cy="310896"/>
          </a:xfrm>
          <a:prstGeom prst="rect">
            <a:avLst/>
          </a:prstGeom>
          <a:noFill/>
          <a:ln/>
        </p:spPr>
        <p:txBody>
          <a:bodyPr wrap="square" lIns="0" tIns="0" rIns="0" bIns="0" rtlCol="0" anchor="t"/>
          <a:lstStyle/>
          <a:p>
            <a:pPr indent="0" marL="0">
              <a:buNone/>
            </a:pPr>
            <a:r>
              <a:rPr lang="en-US" sz="1500" b="1" dirty="0">
                <a:solidFill>
                  <a:srgbClr val="0F2942"/>
                </a:solidFill>
                <a:latin typeface="Calibri" pitchFamily="34" charset="0"/>
                <a:ea typeface="Calibri" pitchFamily="34" charset="-122"/>
                <a:cs typeface="Calibri" pitchFamily="34" charset="-120"/>
              </a:rPr>
              <a:t>Bottom-up — start at the leaves</a:t>
            </a:r>
            <a:endParaRPr lang="en-US" sz="1500" dirty="0"/>
          </a:p>
        </p:txBody>
      </p:sp>
      <p:sp>
        <p:nvSpPr>
          <p:cNvPr id="12" name="Text 10"/>
          <p:cNvSpPr txBox="1"/>
          <p:nvPr/>
        </p:nvSpPr>
        <p:spPr>
          <a:xfrm>
            <a:off x="6521044" y="2029968"/>
            <a:ext cx="4884268" cy="61264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Implement isLeapYear first and test it properly, then build upwards. Each method you write can be tested against methods you already trust.</a:t>
            </a:r>
            <a:endParaRPr lang="en-US" sz="1200" dirty="0"/>
          </a:p>
        </p:txBody>
      </p:sp>
      <p:sp>
        <p:nvSpPr>
          <p:cNvPr id="13" name="Shape 11"/>
          <p:cNvSpPr/>
          <p:nvPr/>
        </p:nvSpPr>
        <p:spPr>
          <a:xfrm>
            <a:off x="566928" y="2907792"/>
            <a:ext cx="5323180" cy="2220163"/>
          </a:xfrm>
          <a:prstGeom prst="roundRect">
            <a:avLst>
              <a:gd name="adj" fmla="val 2883"/>
            </a:avLst>
          </a:prstGeom>
          <a:solidFill>
            <a:srgbClr val="EDF2F7"/>
          </a:solidFill>
          <a:ln w="12700">
            <a:solidFill>
              <a:srgbClr val="CFDBE5"/>
            </a:solidFill>
            <a:prstDash val="solid"/>
          </a:ln>
        </p:spPr>
      </p:sp>
      <p:sp>
        <p:nvSpPr>
          <p:cNvPr id="14" name="Text 12"/>
          <p:cNvSpPr txBox="1"/>
          <p:nvPr/>
        </p:nvSpPr>
        <p:spPr>
          <a:xfrm>
            <a:off x="713232" y="29535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TOP-DOWN: A STUB FOR printMonth</a:t>
            </a:r>
            <a:endParaRPr lang="en-US" sz="950" dirty="0"/>
          </a:p>
        </p:txBody>
      </p:sp>
      <p:sp>
        <p:nvSpPr>
          <p:cNvPr id="15" name="Text 13"/>
          <p:cNvSpPr txBox="1"/>
          <p:nvPr/>
        </p:nvSpPr>
        <p:spPr>
          <a:xfrm>
            <a:off x="731520" y="3182112"/>
            <a:ext cx="4993996" cy="1890979"/>
          </a:xfrm>
          <a:prstGeom prst="rect">
            <a:avLst/>
          </a:prstGeom>
          <a:noFill/>
          <a:ln/>
        </p:spPr>
        <p:txBody>
          <a:bodyPr wrap="square" lIns="0" tIns="0" rIns="0" bIns="0" rtlCol="0" anchor="t"/>
          <a:lstStyle/>
          <a:p>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void</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main</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568A"/>
                </a:solidFill>
                <a:latin typeface="Courier New" pitchFamily="34" charset="0"/>
                <a:ea typeface="Courier New" pitchFamily="34" charset="-122"/>
                <a:cs typeface="Courier New" pitchFamily="34" charset="-120"/>
              </a:rPr>
              <a:t>String</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args</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year</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2026</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month</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9</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printMonth</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year</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month</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endParaRPr lang="en-US" sz="1000" dirty="0"/>
          </a:p>
          <a:p>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STUB</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enough</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to</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prove</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the</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call</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works</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void</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printMonth</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year</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month</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month</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614A"/>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year</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p:txBody>
      </p:sp>
      <p:sp>
        <p:nvSpPr>
          <p:cNvPr id="16" name="Shape 14"/>
          <p:cNvSpPr/>
          <p:nvPr/>
        </p:nvSpPr>
        <p:spPr>
          <a:xfrm>
            <a:off x="566928" y="5329123"/>
            <a:ext cx="5323180" cy="1051560"/>
          </a:xfrm>
          <a:prstGeom prst="roundRect">
            <a:avLst>
              <a:gd name="adj" fmla="val 7826"/>
            </a:avLst>
          </a:prstGeom>
          <a:solidFill>
            <a:srgbClr val="E6F2EC"/>
          </a:solidFill>
          <a:ln w="12700">
            <a:solidFill>
              <a:srgbClr val="E6F2EC"/>
            </a:solidFill>
            <a:prstDash val="solid"/>
          </a:ln>
        </p:spPr>
      </p:sp>
      <p:sp>
        <p:nvSpPr>
          <p:cNvPr id="17" name="Text 15"/>
          <p:cNvSpPr txBox="1"/>
          <p:nvPr/>
        </p:nvSpPr>
        <p:spPr>
          <a:xfrm>
            <a:off x="822960" y="5475427"/>
            <a:ext cx="4811116" cy="274320"/>
          </a:xfrm>
          <a:prstGeom prst="rect">
            <a:avLst/>
          </a:prstGeom>
          <a:noFill/>
          <a:ln/>
        </p:spPr>
        <p:txBody>
          <a:bodyPr wrap="square" lIns="0" tIns="0" rIns="0" bIns="0" rtlCol="0" anchor="ctr"/>
          <a:lstStyle/>
          <a:p>
            <a:pPr indent="0" marL="0">
              <a:buNone/>
            </a:pPr>
            <a:r>
              <a:rPr lang="en-US" sz="1350" b="1" dirty="0">
                <a:solidFill>
                  <a:srgbClr val="176240"/>
                </a:solidFill>
                <a:latin typeface="Calibri" pitchFamily="34" charset="0"/>
                <a:ea typeface="Calibri" pitchFamily="34" charset="-122"/>
                <a:cs typeface="Calibri" pitchFamily="34" charset="-120"/>
              </a:rPr>
              <a:t>What a stub buys you</a:t>
            </a:r>
            <a:endParaRPr lang="en-US" sz="1350" dirty="0"/>
          </a:p>
        </p:txBody>
      </p:sp>
      <p:sp>
        <p:nvSpPr>
          <p:cNvPr id="18" name="Text 16"/>
          <p:cNvSpPr txBox="1"/>
          <p:nvPr/>
        </p:nvSpPr>
        <p:spPr>
          <a:xfrm>
            <a:off x="822960" y="5768035"/>
            <a:ext cx="4811116" cy="77724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A stub has the right header and a placeholder body. It lets you compile and run the caller before the callee exists.</a:t>
            </a:r>
            <a:endParaRPr lang="en-US" sz="1200" dirty="0"/>
          </a:p>
        </p:txBody>
      </p:sp>
      <p:sp>
        <p:nvSpPr>
          <p:cNvPr id="19" name="Shape 17"/>
          <p:cNvSpPr/>
          <p:nvPr/>
        </p:nvSpPr>
        <p:spPr>
          <a:xfrm>
            <a:off x="6301588" y="2907792"/>
            <a:ext cx="5323180" cy="1832458"/>
          </a:xfrm>
          <a:prstGeom prst="roundRect">
            <a:avLst>
              <a:gd name="adj" fmla="val 3493"/>
            </a:avLst>
          </a:prstGeom>
          <a:solidFill>
            <a:srgbClr val="EDF2F7"/>
          </a:solidFill>
          <a:ln w="12700">
            <a:solidFill>
              <a:srgbClr val="CFDBE5"/>
            </a:solidFill>
            <a:prstDash val="solid"/>
          </a:ln>
        </p:spPr>
      </p:sp>
      <p:sp>
        <p:nvSpPr>
          <p:cNvPr id="20" name="Text 18"/>
          <p:cNvSpPr txBox="1"/>
          <p:nvPr/>
        </p:nvSpPr>
        <p:spPr>
          <a:xfrm>
            <a:off x="6447892" y="29535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BOTTOM-UP: A DRIVER FOR isLeapYear</a:t>
            </a:r>
            <a:endParaRPr lang="en-US" sz="950" dirty="0"/>
          </a:p>
        </p:txBody>
      </p:sp>
      <p:sp>
        <p:nvSpPr>
          <p:cNvPr id="21" name="Text 19"/>
          <p:cNvSpPr txBox="1"/>
          <p:nvPr/>
        </p:nvSpPr>
        <p:spPr>
          <a:xfrm>
            <a:off x="6466180" y="3182112"/>
            <a:ext cx="4993996" cy="1503274"/>
          </a:xfrm>
          <a:prstGeom prst="rect">
            <a:avLst/>
          </a:prstGeom>
          <a:noFill/>
          <a:ln/>
        </p:spPr>
        <p:txBody>
          <a:bodyPr wrap="square" lIns="0" tIns="0" rIns="0" bIns="0" rtlCol="0" anchor="t"/>
          <a:lstStyle/>
          <a:p>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void</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main</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568A"/>
                </a:solidFill>
                <a:latin typeface="Courier New" pitchFamily="34" charset="0"/>
                <a:ea typeface="Courier New" pitchFamily="34" charset="-122"/>
                <a:cs typeface="Courier New" pitchFamily="34" charset="-120"/>
              </a:rPr>
              <a:t>String</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args</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415C6E"/>
                </a:solidFill>
                <a:latin typeface="Courier New" pitchFamily="34" charset="0"/>
                <a:ea typeface="Courier New" pitchFamily="34" charset="-122"/>
                <a:cs typeface="Courier New" pitchFamily="34" charset="-120"/>
              </a:rPr>
              <a:t>// a throwaway test for one method</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isLeapYear</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2024</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415C6E"/>
                </a:solidFill>
                <a:latin typeface="Courier New" pitchFamily="34" charset="0"/>
                <a:ea typeface="Courier New" pitchFamily="34" charset="-122"/>
                <a:cs typeface="Courier New" pitchFamily="34" charset="-120"/>
              </a:rPr>
              <a:t>// true</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isLeapYear</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1900</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415C6E"/>
                </a:solidFill>
                <a:latin typeface="Courier New" pitchFamily="34" charset="0"/>
                <a:ea typeface="Courier New" pitchFamily="34" charset="-122"/>
                <a:cs typeface="Courier New" pitchFamily="34" charset="-120"/>
              </a:rPr>
              <a:t>// false</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isLeapYear</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2000</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415C6E"/>
                </a:solidFill>
                <a:latin typeface="Courier New" pitchFamily="34" charset="0"/>
                <a:ea typeface="Courier New" pitchFamily="34" charset="-122"/>
                <a:cs typeface="Courier New" pitchFamily="34" charset="-120"/>
              </a:rPr>
              <a:t>// true</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isLeapYear</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2100</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415C6E"/>
                </a:solidFill>
                <a:latin typeface="Courier New" pitchFamily="34" charset="0"/>
                <a:ea typeface="Courier New" pitchFamily="34" charset="-122"/>
                <a:cs typeface="Courier New" pitchFamily="34" charset="-120"/>
              </a:rPr>
              <a:t>// false</a:t>
            </a:r>
            <a:endParaRPr lang="en-US" sz="1000" dirty="0"/>
          </a:p>
          <a:p>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p:txBody>
      </p:sp>
      <p:sp>
        <p:nvSpPr>
          <p:cNvPr id="22" name="Shape 20"/>
          <p:cNvSpPr/>
          <p:nvPr/>
        </p:nvSpPr>
        <p:spPr>
          <a:xfrm>
            <a:off x="6301588" y="4941418"/>
            <a:ext cx="5323180" cy="1051560"/>
          </a:xfrm>
          <a:prstGeom prst="roundRect">
            <a:avLst>
              <a:gd name="adj" fmla="val 7826"/>
            </a:avLst>
          </a:prstGeom>
          <a:solidFill>
            <a:srgbClr val="FBEEE0"/>
          </a:solidFill>
          <a:ln w="12700">
            <a:solidFill>
              <a:srgbClr val="FBEEE0"/>
            </a:solidFill>
            <a:prstDash val="solid"/>
          </a:ln>
        </p:spPr>
      </p:sp>
      <p:sp>
        <p:nvSpPr>
          <p:cNvPr id="23" name="Text 21"/>
          <p:cNvSpPr txBox="1"/>
          <p:nvPr/>
        </p:nvSpPr>
        <p:spPr>
          <a:xfrm>
            <a:off x="6557620" y="5087722"/>
            <a:ext cx="4811116" cy="274320"/>
          </a:xfrm>
          <a:prstGeom prst="rect">
            <a:avLst/>
          </a:prstGeom>
          <a:noFill/>
          <a:ln/>
        </p:spPr>
        <p:txBody>
          <a:bodyPr wrap="square" lIns="0" tIns="0" rIns="0" bIns="0" rtlCol="0" anchor="ctr"/>
          <a:lstStyle/>
          <a:p>
            <a:pPr indent="0" marL="0">
              <a:buNone/>
            </a:pPr>
            <a:r>
              <a:rPr lang="en-US" sz="1350" b="1" dirty="0">
                <a:solidFill>
                  <a:srgbClr val="9A430A"/>
                </a:solidFill>
                <a:latin typeface="Calibri" pitchFamily="34" charset="0"/>
                <a:ea typeface="Calibri" pitchFamily="34" charset="-122"/>
                <a:cs typeface="Calibri" pitchFamily="34" charset="-120"/>
              </a:rPr>
              <a:t>Test each method as you finish it</a:t>
            </a:r>
            <a:endParaRPr lang="en-US" sz="1350" dirty="0"/>
          </a:p>
        </p:txBody>
      </p:sp>
      <p:sp>
        <p:nvSpPr>
          <p:cNvPr id="24" name="Text 22"/>
          <p:cNvSpPr txBox="1"/>
          <p:nvPr/>
        </p:nvSpPr>
        <p:spPr>
          <a:xfrm>
            <a:off x="6557620" y="5380330"/>
            <a:ext cx="4811116" cy="77724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A main written only to exercise one other method is a driver. Keep it — that is what JUnit becomes in November.</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DESIGN</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Why Break It Up At All?</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PrintCalendar is about 100 lines. Written as one method it is unreadable; written as nine it is nine easy problems.</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31</a:t>
            </a:r>
            <a:endParaRPr lang="en-US" sz="900" dirty="0"/>
          </a:p>
        </p:txBody>
      </p:sp>
      <p:sp>
        <p:nvSpPr>
          <p:cNvPr id="7" name="Shape 5"/>
          <p:cNvSpPr/>
          <p:nvPr/>
        </p:nvSpPr>
        <p:spPr>
          <a:xfrm>
            <a:off x="566928" y="1536192"/>
            <a:ext cx="5391760" cy="1325880"/>
          </a:xfrm>
          <a:prstGeom prst="roundRect">
            <a:avLst>
              <a:gd name="adj" fmla="val 6207"/>
            </a:avLst>
          </a:prstGeom>
          <a:solidFill>
            <a:srgbClr val="F1F5F9"/>
          </a:solidFill>
          <a:ln w="12700">
            <a:solidFill>
              <a:srgbClr val="F1F5F9"/>
            </a:solidFill>
            <a:prstDash val="solid"/>
          </a:ln>
        </p:spPr>
      </p:sp>
      <p:sp>
        <p:nvSpPr>
          <p:cNvPr id="8" name="Shape 6"/>
          <p:cNvSpPr/>
          <p:nvPr/>
        </p:nvSpPr>
        <p:spPr>
          <a:xfrm>
            <a:off x="804672" y="1792224"/>
            <a:ext cx="402336" cy="402336"/>
          </a:xfrm>
          <a:prstGeom prst="ellipse">
            <a:avLst/>
          </a:prstGeom>
          <a:solidFill>
            <a:srgbClr val="C4560C"/>
          </a:solidFill>
          <a:ln w="12700">
            <a:solidFill>
              <a:srgbClr val="C4560C"/>
            </a:solidFill>
            <a:prstDash val="solid"/>
          </a:ln>
        </p:spPr>
      </p:sp>
      <p:sp>
        <p:nvSpPr>
          <p:cNvPr id="9" name="Text 7"/>
          <p:cNvSpPr txBox="1"/>
          <p:nvPr/>
        </p:nvSpPr>
        <p:spPr>
          <a:xfrm>
            <a:off x="804672" y="17922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1371600" y="1682496"/>
            <a:ext cx="4340200" cy="329184"/>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It is simpler</a:t>
            </a:r>
            <a:endParaRPr lang="en-US" sz="1400" dirty="0"/>
          </a:p>
        </p:txBody>
      </p:sp>
      <p:sp>
        <p:nvSpPr>
          <p:cNvPr id="11" name="Text 9"/>
          <p:cNvSpPr txBox="1"/>
          <p:nvPr/>
        </p:nvSpPr>
        <p:spPr>
          <a:xfrm>
            <a:off x="1371600" y="2048256"/>
            <a:ext cx="4340200" cy="749808"/>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Nine problems of ten lines each, solved one at a time, rather than one problem of a hundred lines held in your head all at once.</a:t>
            </a:r>
            <a:endParaRPr lang="en-US" sz="1200" dirty="0"/>
          </a:p>
        </p:txBody>
      </p:sp>
      <p:sp>
        <p:nvSpPr>
          <p:cNvPr id="12" name="Shape 10"/>
          <p:cNvSpPr/>
          <p:nvPr/>
        </p:nvSpPr>
        <p:spPr>
          <a:xfrm>
            <a:off x="6233008" y="1536192"/>
            <a:ext cx="5391760" cy="1325880"/>
          </a:xfrm>
          <a:prstGeom prst="roundRect">
            <a:avLst>
              <a:gd name="adj" fmla="val 6207"/>
            </a:avLst>
          </a:prstGeom>
          <a:solidFill>
            <a:srgbClr val="FFFFFF"/>
          </a:solidFill>
          <a:ln w="12700">
            <a:solidFill>
              <a:srgbClr val="D3DEE7"/>
            </a:solidFill>
            <a:prstDash val="solid"/>
          </a:ln>
        </p:spPr>
      </p:sp>
      <p:sp>
        <p:nvSpPr>
          <p:cNvPr id="13" name="Shape 11"/>
          <p:cNvSpPr/>
          <p:nvPr/>
        </p:nvSpPr>
        <p:spPr>
          <a:xfrm>
            <a:off x="6470752" y="1792224"/>
            <a:ext cx="402336" cy="402336"/>
          </a:xfrm>
          <a:prstGeom prst="ellipse">
            <a:avLst/>
          </a:prstGeom>
          <a:solidFill>
            <a:srgbClr val="C4560C"/>
          </a:solidFill>
          <a:ln w="12700">
            <a:solidFill>
              <a:srgbClr val="C4560C"/>
            </a:solidFill>
            <a:prstDash val="solid"/>
          </a:ln>
        </p:spPr>
      </p:sp>
      <p:sp>
        <p:nvSpPr>
          <p:cNvPr id="14" name="Text 12"/>
          <p:cNvSpPr txBox="1"/>
          <p:nvPr/>
        </p:nvSpPr>
        <p:spPr>
          <a:xfrm>
            <a:off x="6470752" y="17922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7037680" y="1682496"/>
            <a:ext cx="4340200" cy="329184"/>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You can reuse the parts</a:t>
            </a:r>
            <a:endParaRPr lang="en-US" sz="1400" dirty="0"/>
          </a:p>
        </p:txBody>
      </p:sp>
      <p:sp>
        <p:nvSpPr>
          <p:cNvPr id="16" name="Text 14"/>
          <p:cNvSpPr txBox="1"/>
          <p:nvPr/>
        </p:nvSpPr>
        <p:spPr>
          <a:xfrm>
            <a:off x="7037680" y="2048256"/>
            <a:ext cx="4340200" cy="749808"/>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isLeapYear and getTotalNumOfDays are useful far beyond printing a calendar. Buried inside main, they would not be.</a:t>
            </a:r>
            <a:endParaRPr lang="en-US" sz="1200" dirty="0"/>
          </a:p>
        </p:txBody>
      </p:sp>
      <p:sp>
        <p:nvSpPr>
          <p:cNvPr id="17" name="Shape 15"/>
          <p:cNvSpPr/>
          <p:nvPr/>
        </p:nvSpPr>
        <p:spPr>
          <a:xfrm>
            <a:off x="566928" y="2999232"/>
            <a:ext cx="5391760" cy="1325880"/>
          </a:xfrm>
          <a:prstGeom prst="roundRect">
            <a:avLst>
              <a:gd name="adj" fmla="val 6207"/>
            </a:avLst>
          </a:prstGeom>
          <a:solidFill>
            <a:srgbClr val="F1F5F9"/>
          </a:solidFill>
          <a:ln w="12700">
            <a:solidFill>
              <a:srgbClr val="F1F5F9"/>
            </a:solidFill>
            <a:prstDash val="solid"/>
          </a:ln>
        </p:spPr>
      </p:sp>
      <p:sp>
        <p:nvSpPr>
          <p:cNvPr id="18" name="Shape 16"/>
          <p:cNvSpPr/>
          <p:nvPr/>
        </p:nvSpPr>
        <p:spPr>
          <a:xfrm>
            <a:off x="804672" y="3255264"/>
            <a:ext cx="402336" cy="402336"/>
          </a:xfrm>
          <a:prstGeom prst="ellipse">
            <a:avLst/>
          </a:prstGeom>
          <a:solidFill>
            <a:srgbClr val="C4560C"/>
          </a:solidFill>
          <a:ln w="12700">
            <a:solidFill>
              <a:srgbClr val="C4560C"/>
            </a:solidFill>
            <a:prstDash val="solid"/>
          </a:ln>
        </p:spPr>
      </p:sp>
      <p:sp>
        <p:nvSpPr>
          <p:cNvPr id="19" name="Text 17"/>
          <p:cNvSpPr txBox="1"/>
          <p:nvPr/>
        </p:nvSpPr>
        <p:spPr>
          <a:xfrm>
            <a:off x="804672" y="325526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1371600" y="3145536"/>
            <a:ext cx="4340200" cy="329184"/>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You can find bugs</a:t>
            </a:r>
            <a:endParaRPr lang="en-US" sz="1400" dirty="0"/>
          </a:p>
        </p:txBody>
      </p:sp>
      <p:sp>
        <p:nvSpPr>
          <p:cNvPr id="21" name="Text 19"/>
          <p:cNvSpPr txBox="1"/>
          <p:nvPr/>
        </p:nvSpPr>
        <p:spPr>
          <a:xfrm>
            <a:off x="1371600" y="3511296"/>
            <a:ext cx="4340200" cy="749808"/>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When the calendar starts on the wrong day, the fault is in getStartDay. You know where to look before you start looking.</a:t>
            </a:r>
            <a:endParaRPr lang="en-US" sz="1200" dirty="0"/>
          </a:p>
        </p:txBody>
      </p:sp>
      <p:sp>
        <p:nvSpPr>
          <p:cNvPr id="22" name="Shape 20"/>
          <p:cNvSpPr/>
          <p:nvPr/>
        </p:nvSpPr>
        <p:spPr>
          <a:xfrm>
            <a:off x="6233008" y="2999232"/>
            <a:ext cx="5391760" cy="1325880"/>
          </a:xfrm>
          <a:prstGeom prst="roundRect">
            <a:avLst>
              <a:gd name="adj" fmla="val 6207"/>
            </a:avLst>
          </a:prstGeom>
          <a:solidFill>
            <a:srgbClr val="FFFFFF"/>
          </a:solidFill>
          <a:ln w="12700">
            <a:solidFill>
              <a:srgbClr val="D3DEE7"/>
            </a:solidFill>
            <a:prstDash val="solid"/>
          </a:ln>
        </p:spPr>
      </p:sp>
      <p:sp>
        <p:nvSpPr>
          <p:cNvPr id="23" name="Shape 21"/>
          <p:cNvSpPr/>
          <p:nvPr/>
        </p:nvSpPr>
        <p:spPr>
          <a:xfrm>
            <a:off x="6470752" y="3255264"/>
            <a:ext cx="402336" cy="402336"/>
          </a:xfrm>
          <a:prstGeom prst="ellipse">
            <a:avLst/>
          </a:prstGeom>
          <a:solidFill>
            <a:srgbClr val="C4560C"/>
          </a:solidFill>
          <a:ln w="12700">
            <a:solidFill>
              <a:srgbClr val="C4560C"/>
            </a:solidFill>
            <a:prstDash val="solid"/>
          </a:ln>
        </p:spPr>
      </p:sp>
      <p:sp>
        <p:nvSpPr>
          <p:cNvPr id="24" name="Text 22"/>
          <p:cNvSpPr txBox="1"/>
          <p:nvPr/>
        </p:nvSpPr>
        <p:spPr>
          <a:xfrm>
            <a:off x="6470752" y="325526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txBox="1"/>
          <p:nvPr/>
        </p:nvSpPr>
        <p:spPr>
          <a:xfrm>
            <a:off x="7037680" y="3145536"/>
            <a:ext cx="4340200" cy="329184"/>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You can divide the work</a:t>
            </a:r>
            <a:endParaRPr lang="en-US" sz="1400" dirty="0"/>
          </a:p>
        </p:txBody>
      </p:sp>
      <p:sp>
        <p:nvSpPr>
          <p:cNvPr id="26" name="Text 24"/>
          <p:cNvSpPr txBox="1"/>
          <p:nvPr/>
        </p:nvSpPr>
        <p:spPr>
          <a:xfrm>
            <a:off x="7037680" y="3511296"/>
            <a:ext cx="4340200" cy="749808"/>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Four people can write four methods at once, provided they agree the headers first. That is what the chart is for.</a:t>
            </a:r>
            <a:endParaRPr lang="en-US" sz="1200" dirty="0"/>
          </a:p>
        </p:txBody>
      </p:sp>
      <p:sp>
        <p:nvSpPr>
          <p:cNvPr id="27" name="Shape 25"/>
          <p:cNvSpPr/>
          <p:nvPr/>
        </p:nvSpPr>
        <p:spPr>
          <a:xfrm>
            <a:off x="566928" y="4599432"/>
            <a:ext cx="11057839" cy="1280160"/>
          </a:xfrm>
          <a:prstGeom prst="roundRect">
            <a:avLst>
              <a:gd name="adj" fmla="val 6429"/>
            </a:avLst>
          </a:prstGeom>
          <a:solidFill>
            <a:srgbClr val="E4ECF4"/>
          </a:solidFill>
          <a:ln w="12700">
            <a:solidFill>
              <a:srgbClr val="E4ECF4"/>
            </a:solidFill>
            <a:prstDash val="solid"/>
          </a:ln>
        </p:spPr>
      </p:sp>
      <p:sp>
        <p:nvSpPr>
          <p:cNvPr id="28" name="Text 26"/>
          <p:cNvSpPr txBox="1"/>
          <p:nvPr/>
        </p:nvSpPr>
        <p:spPr>
          <a:xfrm>
            <a:off x="859536" y="4736592"/>
            <a:ext cx="10472623" cy="274320"/>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The habit to take from today</a:t>
            </a:r>
            <a:endParaRPr lang="en-US" sz="1400" dirty="0"/>
          </a:p>
        </p:txBody>
      </p:sp>
      <p:sp>
        <p:nvSpPr>
          <p:cNvPr id="29" name="Text 27"/>
          <p:cNvSpPr txBox="1"/>
          <p:nvPr/>
        </p:nvSpPr>
        <p:spPr>
          <a:xfrm>
            <a:off x="859536" y="5047488"/>
            <a:ext cx="10472623" cy="731520"/>
          </a:xfrm>
          <a:prstGeom prst="rect">
            <a:avLst/>
          </a:prstGeom>
          <a:noFill/>
          <a:ln/>
        </p:spPr>
        <p:txBody>
          <a:bodyPr wrap="square" lIns="0" tIns="0" rIns="0" bIns="0" rtlCol="0" anchor="t"/>
          <a:lstStyle/>
          <a:p>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Before writing a program, list the things it has to do and give each one a name. You have just drawn a structure chart, and the names you chose are your method headers. The code is the easy part after that.</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PITFALLS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Six Mistakes to Recognise Before the Lab</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Five of these are compile errors. The last one is not, which makes it the dangerous one.</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32</a:t>
            </a:r>
            <a:endParaRPr lang="en-US" sz="9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66928" y="1536192"/>
          <a:ext cx="11057839" cy="914400"/>
        </p:xfrm>
        <a:graphic>
          <a:graphicData uri="http://schemas.openxmlformats.org/drawingml/2006/table">
            <a:tbl>
              <a:tblPr/>
              <a:tblGrid>
                <a:gridCol w="3291840"/>
                <a:gridCol w="4114800"/>
                <a:gridCol w="3651199"/>
              </a:tblGrid>
              <a:tr h="47548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you wrote</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the compiler says</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The fix</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r>
              <a:tr h="475488">
                <a:tc>
                  <a:txBody>
                    <a:bodyPr/>
                    <a:lstStyle/>
                    <a:p>
                      <a:pPr indent="0" marL="0">
                        <a:buNone/>
                      </a:pPr>
                      <a:r>
                        <a:rPr lang="en-US" sz="1050" dirty="0">
                          <a:solidFill>
                            <a:srgbClr val="0F2942"/>
                          </a:solidFill>
                          <a:latin typeface="Courier New" pitchFamily="34" charset="0"/>
                          <a:ea typeface="Courier New" pitchFamily="34" charset="-122"/>
                          <a:cs typeface="Courier New" pitchFamily="34" charset="-120"/>
                        </a:rPr>
                        <a:t>A path with no return</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050" dirty="0">
                          <a:solidFill>
                            <a:srgbClr val="3A536B"/>
                          </a:solidFill>
                          <a:latin typeface="Calibri" pitchFamily="34" charset="0"/>
                          <a:ea typeface="Calibri" pitchFamily="34" charset="-122"/>
                          <a:cs typeface="Calibri" pitchFamily="34" charset="-120"/>
                        </a:rPr>
                        <a:t>missing return statement</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050" dirty="0">
                          <a:solidFill>
                            <a:srgbClr val="3A536B"/>
                          </a:solidFill>
                          <a:latin typeface="Calibri" pitchFamily="34" charset="0"/>
                          <a:ea typeface="Calibri" pitchFamily="34" charset="-122"/>
                          <a:cs typeface="Calibri" pitchFamily="34" charset="-120"/>
                        </a:rPr>
                        <a:t>end the ladder with a bare else</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475488">
                <a:tc>
                  <a:txBody>
                    <a:bodyPr/>
                    <a:lstStyle/>
                    <a:p>
                      <a:pPr indent="0" marL="0">
                        <a:buNone/>
                      </a:pPr>
                      <a:r>
                        <a:rPr lang="en-US" sz="1050" dirty="0">
                          <a:solidFill>
                            <a:srgbClr val="0F2942"/>
                          </a:solidFill>
                          <a:latin typeface="Courier New" pitchFamily="34" charset="0"/>
                          <a:ea typeface="Courier New" pitchFamily="34" charset="-122"/>
                          <a:cs typeface="Courier New" pitchFamily="34" charset="-120"/>
                        </a:rPr>
                        <a:t>int x = printGrade(85);</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050" dirty="0">
                          <a:solidFill>
                            <a:srgbClr val="3A536B"/>
                          </a:solidFill>
                          <a:latin typeface="Calibri" pitchFamily="34" charset="0"/>
                          <a:ea typeface="Calibri" pitchFamily="34" charset="-122"/>
                          <a:cs typeface="Calibri" pitchFamily="34" charset="-120"/>
                        </a:rPr>
                        <a:t>incompatible types: void cannot be converted to int</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050" dirty="0">
                          <a:solidFill>
                            <a:srgbClr val="3A536B"/>
                          </a:solidFill>
                          <a:latin typeface="Calibri" pitchFamily="34" charset="0"/>
                          <a:ea typeface="Calibri" pitchFamily="34" charset="-122"/>
                          <a:cs typeface="Calibri" pitchFamily="34" charset="-120"/>
                        </a:rPr>
                        <a:t>a void method has no value to assign</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0F2942"/>
                          </a:solidFill>
                          <a:latin typeface="Courier New" pitchFamily="34" charset="0"/>
                          <a:ea typeface="Courier New" pitchFamily="34" charset="-122"/>
                          <a:cs typeface="Courier New" pitchFamily="34" charset="-120"/>
                        </a:rPr>
                        <a:t>nPrintln(15, "Science");</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050" dirty="0">
                          <a:solidFill>
                            <a:srgbClr val="3A536B"/>
                          </a:solidFill>
                          <a:latin typeface="Calibri" pitchFamily="34" charset="0"/>
                          <a:ea typeface="Calibri" pitchFamily="34" charset="-122"/>
                          <a:cs typeface="Calibri" pitchFamily="34" charset="-120"/>
                        </a:rPr>
                        <a:t>incompatible types: int cannot be converted to String</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050" dirty="0">
                          <a:solidFill>
                            <a:srgbClr val="3A536B"/>
                          </a:solidFill>
                          <a:latin typeface="Calibri" pitchFamily="34" charset="0"/>
                          <a:ea typeface="Calibri" pitchFamily="34" charset="-122"/>
                          <a:cs typeface="Calibri" pitchFamily="34" charset="-120"/>
                        </a:rPr>
                        <a:t>arguments go in the parameter order</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475488">
                <a:tc>
                  <a:txBody>
                    <a:bodyPr/>
                    <a:lstStyle/>
                    <a:p>
                      <a:pPr indent="0" marL="0">
                        <a:buNone/>
                      </a:pPr>
                      <a:r>
                        <a:rPr lang="en-US" sz="1050" dirty="0">
                          <a:solidFill>
                            <a:srgbClr val="0F2942"/>
                          </a:solidFill>
                          <a:latin typeface="Courier New" pitchFamily="34" charset="0"/>
                          <a:ea typeface="Courier New" pitchFamily="34" charset="-122"/>
                          <a:cs typeface="Courier New" pitchFamily="34" charset="-120"/>
                        </a:rPr>
                        <a:t>max(1, 2) with two wide overloads</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050" dirty="0">
                          <a:solidFill>
                            <a:srgbClr val="3A536B"/>
                          </a:solidFill>
                          <a:latin typeface="Calibri" pitchFamily="34" charset="0"/>
                          <a:ea typeface="Calibri" pitchFamily="34" charset="-122"/>
                          <a:cs typeface="Calibri" pitchFamily="34" charset="-120"/>
                        </a:rPr>
                        <a:t>reference to max is ambiguous</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050" dirty="0">
                          <a:solidFill>
                            <a:srgbClr val="3A536B"/>
                          </a:solidFill>
                          <a:latin typeface="Calibri" pitchFamily="34" charset="0"/>
                          <a:ea typeface="Calibri" pitchFamily="34" charset="-122"/>
                          <a:cs typeface="Calibri" pitchFamily="34" charset="-120"/>
                        </a:rPr>
                        <a:t>add an exact overload, or cast</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0F2942"/>
                          </a:solidFill>
                          <a:latin typeface="Courier New" pitchFamily="34" charset="0"/>
                          <a:ea typeface="Courier New" pitchFamily="34" charset="-122"/>
                          <a:cs typeface="Courier New" pitchFamily="34" charset="-120"/>
                        </a:rPr>
                        <a:t>int x inside a block that has an x</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050" dirty="0">
                          <a:solidFill>
                            <a:srgbClr val="3A536B"/>
                          </a:solidFill>
                          <a:latin typeface="Calibri" pitchFamily="34" charset="0"/>
                          <a:ea typeface="Calibri" pitchFamily="34" charset="-122"/>
                          <a:cs typeface="Calibri" pitchFamily="34" charset="-120"/>
                        </a:rPr>
                        <a:t>variable x is already defined</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050" dirty="0">
                          <a:solidFill>
                            <a:srgbClr val="3A536B"/>
                          </a:solidFill>
                          <a:latin typeface="Calibri" pitchFamily="34" charset="0"/>
                          <a:ea typeface="Calibri" pitchFamily="34" charset="-122"/>
                          <a:cs typeface="Calibri" pitchFamily="34" charset="-120"/>
                        </a:rPr>
                        <a:t>rename it, or reuse the outer one</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475488">
                <a:tc>
                  <a:txBody>
                    <a:bodyPr/>
                    <a:lstStyle/>
                    <a:p>
                      <a:pPr indent="0" marL="0">
                        <a:buNone/>
                      </a:pPr>
                      <a:r>
                        <a:rPr lang="en-US" sz="1050" dirty="0">
                          <a:solidFill>
                            <a:srgbClr val="0F2942"/>
                          </a:solidFill>
                          <a:latin typeface="Courier New" pitchFamily="34" charset="0"/>
                          <a:ea typeface="Courier New" pitchFamily="34" charset="-122"/>
                          <a:cs typeface="Courier New" pitchFamily="34" charset="-120"/>
                        </a:rPr>
                        <a:t>swap(a, b) to swap two ints</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AE8"/>
                    </a:solidFill>
                  </a:tcPr>
                </a:tc>
                <a:tc>
                  <a:txBody>
                    <a:bodyPr/>
                    <a:lstStyle/>
                    <a:p>
                      <a:pPr indent="0" marL="0">
                        <a:buNone/>
                      </a:pPr>
                      <a:r>
                        <a:rPr lang="en-US" sz="1050" b="1" dirty="0">
                          <a:solidFill>
                            <a:srgbClr val="9C241C"/>
                          </a:solidFill>
                          <a:latin typeface="Calibri" pitchFamily="34" charset="0"/>
                          <a:ea typeface="Calibri" pitchFamily="34" charset="-122"/>
                          <a:cs typeface="Calibri" pitchFamily="34" charset="-120"/>
                        </a:rPr>
                        <a:t>nothing — it compiles and runs</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AE8"/>
                    </a:solidFill>
                  </a:tcPr>
                </a:tc>
                <a:tc>
                  <a:txBody>
                    <a:bodyPr/>
                    <a:lstStyle/>
                    <a:p>
                      <a:pPr indent="0" marL="0">
                        <a:buNone/>
                      </a:pPr>
                      <a:r>
                        <a:rPr lang="en-US" sz="1050" dirty="0">
                          <a:solidFill>
                            <a:srgbClr val="3A536B"/>
                          </a:solidFill>
                          <a:latin typeface="Calibri" pitchFamily="34" charset="0"/>
                          <a:ea typeface="Calibri" pitchFamily="34" charset="-122"/>
                          <a:cs typeface="Calibri" pitchFamily="34" charset="-120"/>
                        </a:rPr>
                        <a:t>it cannot work; return the values instead</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AE8"/>
                    </a:solidFill>
                  </a:tcPr>
                </a:tc>
              </a:tr>
            </a:tbl>
          </a:graphicData>
        </a:graphic>
      </p:graphicFrame>
      <p:sp>
        <p:nvSpPr>
          <p:cNvPr id="8" name="Shape 5"/>
          <p:cNvSpPr/>
          <p:nvPr/>
        </p:nvSpPr>
        <p:spPr>
          <a:xfrm>
            <a:off x="566928" y="5239512"/>
            <a:ext cx="11057839" cy="914400"/>
          </a:xfrm>
          <a:prstGeom prst="roundRect">
            <a:avLst>
              <a:gd name="adj" fmla="val 9000"/>
            </a:avLst>
          </a:prstGeom>
          <a:solidFill>
            <a:srgbClr val="E4ECF4"/>
          </a:solidFill>
          <a:ln w="12700">
            <a:solidFill>
              <a:srgbClr val="E4ECF4"/>
            </a:solidFill>
            <a:prstDash val="solid"/>
          </a:ln>
        </p:spPr>
      </p:sp>
      <p:sp>
        <p:nvSpPr>
          <p:cNvPr id="9" name="Text 6"/>
          <p:cNvSpPr txBox="1"/>
          <p:nvPr/>
        </p:nvSpPr>
        <p:spPr>
          <a:xfrm>
            <a:off x="859536" y="5239512"/>
            <a:ext cx="10472623" cy="914400"/>
          </a:xfrm>
          <a:prstGeom prst="rect">
            <a:avLst/>
          </a:prstGeom>
          <a:noFill/>
          <a:ln/>
        </p:spPr>
        <p:txBody>
          <a:bodyPr wrap="square" lIns="0" tIns="0" rIns="0" bIns="0" rtlCol="0" anchor="ctr"/>
          <a:lstStyle/>
          <a:p>
            <a:pPr indent="0" marL="0">
              <a:lnSpc>
                <a:spcPct val="112000"/>
              </a:lnSpc>
              <a:buNone/>
            </a:pPr>
            <a:r>
              <a:rPr lang="en-US" sz="1250" b="1" dirty="0">
                <a:solidFill>
                  <a:srgbClr val="0F2942"/>
                </a:solidFill>
                <a:latin typeface="Calibri" pitchFamily="34" charset="0"/>
                <a:ea typeface="Calibri" pitchFamily="34" charset="-122"/>
                <a:cs typeface="Calibri" pitchFamily="34" charset="-120"/>
              </a:rPr>
              <a:t>Read the message, then read the line above it.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javac reports where it gave up, which is often one line past where you went wrong — 'missing return statement' points at the closing brace, not at the ladder that caused it.</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CF1E5"/>
        </a:solidFill>
      </p:bgPr>
    </p:bg>
    <p:spTree>
      <p:nvGrpSpPr>
        <p:cNvPr id="1" name=""/>
        <p:cNvGrpSpPr/>
        <p:nvPr/>
      </p:nvGrpSpPr>
      <p:grpSpPr>
        <a:xfrm>
          <a:off x="0" y="0"/>
          <a:ext cx="0" cy="0"/>
          <a:chOff x="0" y="0"/>
          <a:chExt cx="0" cy="0"/>
        </a:xfrm>
      </p:grpSpPr>
      <p:sp>
        <p:nvSpPr>
          <p:cNvPr id="2" name="Text 0"/>
          <p:cNvSpPr txBox="1"/>
          <p:nvPr/>
        </p:nvSpPr>
        <p:spPr>
          <a:xfrm>
            <a:off x="566928" y="566928"/>
            <a:ext cx="5486400" cy="274320"/>
          </a:xfrm>
          <a:prstGeom prst="rect">
            <a:avLst/>
          </a:prstGeom>
          <a:noFill/>
          <a:ln/>
        </p:spPr>
        <p:txBody>
          <a:bodyPr wrap="square" lIns="0" tIns="0" rIns="0" bIns="0" rtlCol="0" anchor="ctr"/>
          <a:lstStyle/>
          <a:p>
            <a:pPr indent="0" marL="0">
              <a:buNone/>
            </a:pPr>
            <a:r>
              <a:rPr lang="en-US" sz="1200" b="1" spc="200" kern="0" dirty="0">
                <a:solidFill>
                  <a:srgbClr val="9A430A"/>
                </a:solidFill>
                <a:latin typeface="Calibri" pitchFamily="34" charset="0"/>
                <a:ea typeface="Calibri" pitchFamily="34" charset="-122"/>
                <a:cs typeface="Calibri" pitchFamily="34" charset="-120"/>
              </a:rPr>
              <a:t>CHECKPOINT 4</a:t>
            </a:r>
            <a:endParaRPr lang="en-US" sz="1200" dirty="0"/>
          </a:p>
        </p:txBody>
      </p:sp>
      <p:sp>
        <p:nvSpPr>
          <p:cNvPr id="3" name="Text 1"/>
          <p:cNvSpPr txBox="1"/>
          <p:nvPr/>
        </p:nvSpPr>
        <p:spPr>
          <a:xfrm>
            <a:off x="566928" y="841248"/>
            <a:ext cx="7315200" cy="566928"/>
          </a:xfrm>
          <a:prstGeom prst="rect">
            <a:avLst/>
          </a:prstGeom>
          <a:noFill/>
          <a:ln/>
        </p:spPr>
        <p:txBody>
          <a:bodyPr wrap="square" lIns="0" tIns="0" rIns="0" bIns="0" rtlCol="0" anchor="ctr"/>
          <a:lstStyle/>
          <a:p>
            <a:pPr indent="0" marL="0">
              <a:buNone/>
            </a:pPr>
            <a:r>
              <a:rPr lang="en-US" sz="3400" b="1" dirty="0">
                <a:solidFill>
                  <a:srgbClr val="0F2942"/>
                </a:solidFill>
                <a:latin typeface="Cambria" pitchFamily="34" charset="0"/>
                <a:ea typeface="Cambria" pitchFamily="34" charset="-122"/>
                <a:cs typeface="Cambria" pitchFamily="34" charset="-120"/>
              </a:rPr>
              <a:t>Over to You</a:t>
            </a:r>
            <a:endParaRPr lang="en-US" sz="3400" dirty="0"/>
          </a:p>
        </p:txBody>
      </p:sp>
      <p:sp>
        <p:nvSpPr>
          <p:cNvPr id="4" name="Text 2"/>
          <p:cNvSpPr txBox="1"/>
          <p:nvPr/>
        </p:nvSpPr>
        <p:spPr>
          <a:xfrm>
            <a:off x="6687007" y="960120"/>
            <a:ext cx="4937760" cy="365760"/>
          </a:xfrm>
          <a:prstGeom prst="rect">
            <a:avLst/>
          </a:prstGeom>
          <a:noFill/>
          <a:ln/>
        </p:spPr>
        <p:txBody>
          <a:bodyPr wrap="square" lIns="0" tIns="0" rIns="0" bIns="0" rtlCol="0" anchor="ctr"/>
          <a:lstStyle/>
          <a:p>
            <a:pPr algn="r" indent="0" marL="0">
              <a:buNone/>
            </a:pPr>
            <a:r>
              <a:rPr lang="en-US" sz="1250" dirty="0">
                <a:solidFill>
                  <a:srgbClr val="4B6377"/>
                </a:solidFill>
                <a:latin typeface="Calibri" pitchFamily="34" charset="0"/>
                <a:ea typeface="Calibri" pitchFamily="34" charset="-122"/>
                <a:cs typeface="Calibri" pitchFamily="34" charset="-120"/>
              </a:rPr>
              <a:t>Covering slides 27–32</a:t>
            </a:r>
            <a:endParaRPr lang="en-US" sz="1250" dirty="0"/>
          </a:p>
        </p:txBody>
      </p:sp>
      <p:sp>
        <p:nvSpPr>
          <p:cNvPr id="5" name="Shape 3"/>
          <p:cNvSpPr/>
          <p:nvPr/>
        </p:nvSpPr>
        <p:spPr>
          <a:xfrm>
            <a:off x="566928" y="2253996"/>
            <a:ext cx="11057839" cy="960120"/>
          </a:xfrm>
          <a:prstGeom prst="roundRect">
            <a:avLst>
              <a:gd name="adj" fmla="val 8571"/>
            </a:avLst>
          </a:prstGeom>
          <a:solidFill>
            <a:srgbClr val="FFFFFF"/>
          </a:solidFill>
          <a:ln w="12700">
            <a:solidFill>
              <a:srgbClr val="D3DEE7"/>
            </a:solidFill>
            <a:prstDash val="solid"/>
          </a:ln>
        </p:spPr>
      </p:sp>
      <p:sp>
        <p:nvSpPr>
          <p:cNvPr id="6" name="Shape 4"/>
          <p:cNvSpPr/>
          <p:nvPr/>
        </p:nvSpPr>
        <p:spPr>
          <a:xfrm>
            <a:off x="841248" y="2491740"/>
            <a:ext cx="402336" cy="402336"/>
          </a:xfrm>
          <a:prstGeom prst="ellipse">
            <a:avLst/>
          </a:prstGeom>
          <a:solidFill>
            <a:srgbClr val="C4560C"/>
          </a:solidFill>
          <a:ln w="12700">
            <a:solidFill>
              <a:srgbClr val="C4560C"/>
            </a:solidFill>
            <a:prstDash val="solid"/>
          </a:ln>
        </p:spPr>
      </p:sp>
      <p:sp>
        <p:nvSpPr>
          <p:cNvPr id="7" name="Text 5"/>
          <p:cNvSpPr txBox="1"/>
          <p:nvPr/>
        </p:nvSpPr>
        <p:spPr>
          <a:xfrm>
            <a:off x="841248" y="249174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8" name="Text 6"/>
          <p:cNvSpPr txBox="1"/>
          <p:nvPr/>
        </p:nvSpPr>
        <p:spPr>
          <a:xfrm>
            <a:off x="1435608" y="2418588"/>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In the PrintCalendar chart, why is isLeapYear the method worth writing and testing first?</a:t>
            </a:r>
            <a:endParaRPr lang="en-US" sz="1550" dirty="0"/>
          </a:p>
        </p:txBody>
      </p:sp>
      <p:sp>
        <p:nvSpPr>
          <p:cNvPr id="9" name="Shape 7"/>
          <p:cNvSpPr/>
          <p:nvPr/>
        </p:nvSpPr>
        <p:spPr>
          <a:xfrm>
            <a:off x="566928" y="3433572"/>
            <a:ext cx="11057839" cy="960120"/>
          </a:xfrm>
          <a:prstGeom prst="roundRect">
            <a:avLst>
              <a:gd name="adj" fmla="val 8571"/>
            </a:avLst>
          </a:prstGeom>
          <a:solidFill>
            <a:srgbClr val="FFFFFF"/>
          </a:solidFill>
          <a:ln w="12700">
            <a:solidFill>
              <a:srgbClr val="D3DEE7"/>
            </a:solidFill>
            <a:prstDash val="solid"/>
          </a:ln>
        </p:spPr>
      </p:sp>
      <p:sp>
        <p:nvSpPr>
          <p:cNvPr id="10" name="Shape 8"/>
          <p:cNvSpPr/>
          <p:nvPr/>
        </p:nvSpPr>
        <p:spPr>
          <a:xfrm>
            <a:off x="841248" y="3671316"/>
            <a:ext cx="402336" cy="402336"/>
          </a:xfrm>
          <a:prstGeom prst="ellipse">
            <a:avLst/>
          </a:prstGeom>
          <a:solidFill>
            <a:srgbClr val="C4560C"/>
          </a:solidFill>
          <a:ln w="12700">
            <a:solidFill>
              <a:srgbClr val="C4560C"/>
            </a:solidFill>
            <a:prstDash val="solid"/>
          </a:ln>
        </p:spPr>
      </p:sp>
      <p:sp>
        <p:nvSpPr>
          <p:cNvPr id="11" name="Text 9"/>
          <p:cNvSpPr txBox="1"/>
          <p:nvPr/>
        </p:nvSpPr>
        <p:spPr>
          <a:xfrm>
            <a:off x="841248" y="367131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2" name="Text 10"/>
          <p:cNvSpPr txBox="1"/>
          <p:nvPr/>
        </p:nvSpPr>
        <p:spPr>
          <a:xfrm>
            <a:off x="1435608" y="3598164"/>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What is a stub, and what does it let you do that you could not otherwise do?</a:t>
            </a:r>
            <a:endParaRPr lang="en-US" sz="1550" dirty="0"/>
          </a:p>
        </p:txBody>
      </p:sp>
      <p:sp>
        <p:nvSpPr>
          <p:cNvPr id="13" name="Shape 11"/>
          <p:cNvSpPr/>
          <p:nvPr/>
        </p:nvSpPr>
        <p:spPr>
          <a:xfrm>
            <a:off x="566928" y="4613148"/>
            <a:ext cx="11057839" cy="960120"/>
          </a:xfrm>
          <a:prstGeom prst="roundRect">
            <a:avLst>
              <a:gd name="adj" fmla="val 8571"/>
            </a:avLst>
          </a:prstGeom>
          <a:solidFill>
            <a:srgbClr val="FFFFFF"/>
          </a:solidFill>
          <a:ln w="12700">
            <a:solidFill>
              <a:srgbClr val="D3DEE7"/>
            </a:solidFill>
            <a:prstDash val="solid"/>
          </a:ln>
        </p:spPr>
      </p:sp>
      <p:sp>
        <p:nvSpPr>
          <p:cNvPr id="14" name="Shape 12"/>
          <p:cNvSpPr/>
          <p:nvPr/>
        </p:nvSpPr>
        <p:spPr>
          <a:xfrm>
            <a:off x="841248" y="4850892"/>
            <a:ext cx="402336" cy="402336"/>
          </a:xfrm>
          <a:prstGeom prst="ellipse">
            <a:avLst/>
          </a:prstGeom>
          <a:solidFill>
            <a:srgbClr val="C4560C"/>
          </a:solidFill>
          <a:ln w="12700">
            <a:solidFill>
              <a:srgbClr val="C4560C"/>
            </a:solidFill>
            <a:prstDash val="solid"/>
          </a:ln>
        </p:spPr>
      </p:sp>
      <p:sp>
        <p:nvSpPr>
          <p:cNvPr id="15" name="Text 13"/>
          <p:cNvSpPr txBox="1"/>
          <p:nvPr/>
        </p:nvSpPr>
        <p:spPr>
          <a:xfrm>
            <a:off x="841248" y="485089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6" name="Text 14"/>
          <p:cNvSpPr txBox="1"/>
          <p:nvPr/>
        </p:nvSpPr>
        <p:spPr>
          <a:xfrm>
            <a:off x="1435608" y="4777740"/>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Why is RandomCharacter written with four methods rather than one?</a:t>
            </a:r>
            <a:endParaRPr lang="en-US" sz="15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PRACTICE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Five Programs to Write Before Tuesday</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Every one is a method problem. Write the header first, then the body, then a driver to test it.</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34</a:t>
            </a:r>
            <a:endParaRPr lang="en-US" sz="900" dirty="0"/>
          </a:p>
        </p:txBody>
      </p:sp>
      <p:sp>
        <p:nvSpPr>
          <p:cNvPr id="7" name="Shape 5"/>
          <p:cNvSpPr/>
          <p:nvPr/>
        </p:nvSpPr>
        <p:spPr>
          <a:xfrm>
            <a:off x="566928" y="1536192"/>
            <a:ext cx="3551834" cy="2103120"/>
          </a:xfrm>
          <a:prstGeom prst="roundRect">
            <a:avLst>
              <a:gd name="adj" fmla="val 3913"/>
            </a:avLst>
          </a:prstGeom>
          <a:solidFill>
            <a:srgbClr val="F1F5F9"/>
          </a:solidFill>
          <a:ln w="12700">
            <a:solidFill>
              <a:srgbClr val="F1F5F9"/>
            </a:solidFill>
            <a:prstDash val="solid"/>
          </a:ln>
        </p:spPr>
      </p:sp>
      <p:sp>
        <p:nvSpPr>
          <p:cNvPr id="8" name="Shape 6"/>
          <p:cNvSpPr/>
          <p:nvPr/>
        </p:nvSpPr>
        <p:spPr>
          <a:xfrm>
            <a:off x="804672" y="1755648"/>
            <a:ext cx="402336" cy="402336"/>
          </a:xfrm>
          <a:prstGeom prst="ellipse">
            <a:avLst/>
          </a:prstGeom>
          <a:solidFill>
            <a:srgbClr val="C4560C"/>
          </a:solidFill>
          <a:ln w="12700">
            <a:solidFill>
              <a:srgbClr val="C4560C"/>
            </a:solidFill>
            <a:prstDash val="solid"/>
          </a:ln>
        </p:spPr>
      </p:sp>
      <p:sp>
        <p:nvSpPr>
          <p:cNvPr id="9" name="Text 7"/>
          <p:cNvSpPr txBox="1"/>
          <p:nvPr/>
        </p:nvSpPr>
        <p:spPr>
          <a:xfrm>
            <a:off x="804672" y="17556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txBox="1"/>
          <p:nvPr/>
        </p:nvSpPr>
        <p:spPr>
          <a:xfrm>
            <a:off x="1353312" y="1755648"/>
            <a:ext cx="2545994" cy="402336"/>
          </a:xfrm>
          <a:prstGeom prst="rect">
            <a:avLst/>
          </a:prstGeom>
          <a:noFill/>
          <a:ln/>
        </p:spPr>
        <p:txBody>
          <a:bodyPr wrap="square" lIns="0" tIns="0" rIns="0" bIns="0" rtlCol="0" anchor="ctr"/>
          <a:lstStyle/>
          <a:p>
            <a:pPr indent="0" marL="0">
              <a:buNone/>
            </a:pPr>
            <a:r>
              <a:rPr lang="en-US" sz="1250" b="1" dirty="0">
                <a:solidFill>
                  <a:srgbClr val="0F2942"/>
                </a:solidFill>
                <a:latin typeface="Courier New" pitchFamily="34" charset="0"/>
                <a:ea typeface="Courier New" pitchFamily="34" charset="-122"/>
                <a:cs typeface="Courier New" pitchFamily="34" charset="-120"/>
              </a:rPr>
              <a:t>isPrime + countPrimes</a:t>
            </a:r>
            <a:endParaRPr lang="en-US" sz="1250" dirty="0"/>
          </a:p>
        </p:txBody>
      </p:sp>
      <p:sp>
        <p:nvSpPr>
          <p:cNvPr id="11" name="Text 9"/>
          <p:cNvSpPr txBox="1"/>
          <p:nvPr/>
        </p:nvSpPr>
        <p:spPr>
          <a:xfrm>
            <a:off x="822960" y="2304288"/>
            <a:ext cx="3039770" cy="96012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Write boolean isPrime(int n), then use it to count the primes below 1000. Compare with last week's version.</a:t>
            </a:r>
            <a:endParaRPr lang="en-US" sz="1200" dirty="0"/>
          </a:p>
        </p:txBody>
      </p:sp>
      <p:sp>
        <p:nvSpPr>
          <p:cNvPr id="12" name="Text 10"/>
          <p:cNvSpPr txBox="1"/>
          <p:nvPr/>
        </p:nvSpPr>
        <p:spPr>
          <a:xfrm>
            <a:off x="822960" y="3310128"/>
            <a:ext cx="3039770" cy="256032"/>
          </a:xfrm>
          <a:prstGeom prst="rect">
            <a:avLst/>
          </a:prstGeom>
          <a:noFill/>
          <a:ln/>
        </p:spPr>
        <p:txBody>
          <a:bodyPr wrap="square" lIns="0" tIns="0" rIns="0" bIns="0" rtlCol="0" anchor="ctr"/>
          <a:lstStyle/>
          <a:p>
            <a:pPr indent="0" marL="0">
              <a:buNone/>
            </a:pPr>
            <a:r>
              <a:rPr lang="en-US" sz="1100" i="1" dirty="0">
                <a:solidFill>
                  <a:srgbClr val="9A430A"/>
                </a:solidFill>
                <a:latin typeface="Calibri" pitchFamily="34" charset="0"/>
                <a:ea typeface="Calibri" pitchFamily="34" charset="-122"/>
                <a:cs typeface="Calibri" pitchFamily="34" charset="-120"/>
              </a:rPr>
              <a:t>a boolean method</a:t>
            </a:r>
            <a:endParaRPr lang="en-US" sz="1100" dirty="0"/>
          </a:p>
        </p:txBody>
      </p:sp>
      <p:sp>
        <p:nvSpPr>
          <p:cNvPr id="13" name="Shape 11"/>
          <p:cNvSpPr/>
          <p:nvPr/>
        </p:nvSpPr>
        <p:spPr>
          <a:xfrm>
            <a:off x="4319930" y="1536192"/>
            <a:ext cx="3551834" cy="2103120"/>
          </a:xfrm>
          <a:prstGeom prst="roundRect">
            <a:avLst>
              <a:gd name="adj" fmla="val 3913"/>
            </a:avLst>
          </a:prstGeom>
          <a:solidFill>
            <a:srgbClr val="FFFFFF"/>
          </a:solidFill>
          <a:ln w="12700">
            <a:solidFill>
              <a:srgbClr val="D3DEE7"/>
            </a:solidFill>
            <a:prstDash val="solid"/>
          </a:ln>
        </p:spPr>
      </p:sp>
      <p:sp>
        <p:nvSpPr>
          <p:cNvPr id="14" name="Shape 12"/>
          <p:cNvSpPr/>
          <p:nvPr/>
        </p:nvSpPr>
        <p:spPr>
          <a:xfrm>
            <a:off x="4557674" y="1755648"/>
            <a:ext cx="402336" cy="402336"/>
          </a:xfrm>
          <a:prstGeom prst="ellipse">
            <a:avLst/>
          </a:prstGeom>
          <a:solidFill>
            <a:srgbClr val="C4560C"/>
          </a:solidFill>
          <a:ln w="12700">
            <a:solidFill>
              <a:srgbClr val="C4560C"/>
            </a:solidFill>
            <a:prstDash val="solid"/>
          </a:ln>
        </p:spPr>
      </p:sp>
      <p:sp>
        <p:nvSpPr>
          <p:cNvPr id="15" name="Text 13"/>
          <p:cNvSpPr txBox="1"/>
          <p:nvPr/>
        </p:nvSpPr>
        <p:spPr>
          <a:xfrm>
            <a:off x="4557674" y="17556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txBox="1"/>
          <p:nvPr/>
        </p:nvSpPr>
        <p:spPr>
          <a:xfrm>
            <a:off x="5106314" y="1755648"/>
            <a:ext cx="2545994" cy="402336"/>
          </a:xfrm>
          <a:prstGeom prst="rect">
            <a:avLst/>
          </a:prstGeom>
          <a:noFill/>
          <a:ln/>
        </p:spPr>
        <p:txBody>
          <a:bodyPr wrap="square" lIns="0" tIns="0" rIns="0" bIns="0" rtlCol="0" anchor="ctr"/>
          <a:lstStyle/>
          <a:p>
            <a:pPr indent="0" marL="0">
              <a:buNone/>
            </a:pPr>
            <a:r>
              <a:rPr lang="en-US" sz="1250" b="1" dirty="0">
                <a:solidFill>
                  <a:srgbClr val="0F2942"/>
                </a:solidFill>
                <a:latin typeface="Courier New" pitchFamily="34" charset="0"/>
                <a:ea typeface="Courier New" pitchFamily="34" charset="-122"/>
                <a:cs typeface="Courier New" pitchFamily="34" charset="-120"/>
              </a:rPr>
              <a:t>MyTriangle</a:t>
            </a:r>
            <a:endParaRPr lang="en-US" sz="1250" dirty="0"/>
          </a:p>
        </p:txBody>
      </p:sp>
      <p:sp>
        <p:nvSpPr>
          <p:cNvPr id="17" name="Text 15"/>
          <p:cNvSpPr txBox="1"/>
          <p:nvPr/>
        </p:nvSpPr>
        <p:spPr>
          <a:xfrm>
            <a:off x="4575962" y="2304288"/>
            <a:ext cx="3039770" cy="96012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Write isValid(s1, s2, s3) and area(s1, s2, s3) using Heron's formula. Two methods, one program.</a:t>
            </a:r>
            <a:endParaRPr lang="en-US" sz="1200" dirty="0"/>
          </a:p>
        </p:txBody>
      </p:sp>
      <p:sp>
        <p:nvSpPr>
          <p:cNvPr id="18" name="Text 16"/>
          <p:cNvSpPr txBox="1"/>
          <p:nvPr/>
        </p:nvSpPr>
        <p:spPr>
          <a:xfrm>
            <a:off x="4575962" y="3310128"/>
            <a:ext cx="3039770" cy="256032"/>
          </a:xfrm>
          <a:prstGeom prst="rect">
            <a:avLst/>
          </a:prstGeom>
          <a:noFill/>
          <a:ln/>
        </p:spPr>
        <p:txBody>
          <a:bodyPr wrap="square" lIns="0" tIns="0" rIns="0" bIns="0" rtlCol="0" anchor="ctr"/>
          <a:lstStyle/>
          <a:p>
            <a:pPr indent="0" marL="0">
              <a:buNone/>
            </a:pPr>
            <a:r>
              <a:rPr lang="en-US" sz="1100" i="1" dirty="0">
                <a:solidFill>
                  <a:srgbClr val="9A430A"/>
                </a:solidFill>
                <a:latin typeface="Calibri" pitchFamily="34" charset="0"/>
                <a:ea typeface="Calibri" pitchFamily="34" charset="-122"/>
                <a:cs typeface="Calibri" pitchFamily="34" charset="-120"/>
              </a:rPr>
              <a:t>two methods that pair up</a:t>
            </a:r>
            <a:endParaRPr lang="en-US" sz="1100" dirty="0"/>
          </a:p>
        </p:txBody>
      </p:sp>
      <p:sp>
        <p:nvSpPr>
          <p:cNvPr id="19" name="Shape 17"/>
          <p:cNvSpPr/>
          <p:nvPr/>
        </p:nvSpPr>
        <p:spPr>
          <a:xfrm>
            <a:off x="8072933" y="1536192"/>
            <a:ext cx="3551834" cy="2103120"/>
          </a:xfrm>
          <a:prstGeom prst="roundRect">
            <a:avLst>
              <a:gd name="adj" fmla="val 3913"/>
            </a:avLst>
          </a:prstGeom>
          <a:solidFill>
            <a:srgbClr val="F1F5F9"/>
          </a:solidFill>
          <a:ln w="12700">
            <a:solidFill>
              <a:srgbClr val="F1F5F9"/>
            </a:solidFill>
            <a:prstDash val="solid"/>
          </a:ln>
        </p:spPr>
      </p:sp>
      <p:sp>
        <p:nvSpPr>
          <p:cNvPr id="20" name="Shape 18"/>
          <p:cNvSpPr/>
          <p:nvPr/>
        </p:nvSpPr>
        <p:spPr>
          <a:xfrm>
            <a:off x="8310677" y="1755648"/>
            <a:ext cx="402336" cy="402336"/>
          </a:xfrm>
          <a:prstGeom prst="ellipse">
            <a:avLst/>
          </a:prstGeom>
          <a:solidFill>
            <a:srgbClr val="C4560C"/>
          </a:solidFill>
          <a:ln w="12700">
            <a:solidFill>
              <a:srgbClr val="C4560C"/>
            </a:solidFill>
            <a:prstDash val="solid"/>
          </a:ln>
        </p:spPr>
      </p:sp>
      <p:sp>
        <p:nvSpPr>
          <p:cNvPr id="21" name="Text 19"/>
          <p:cNvSpPr txBox="1"/>
          <p:nvPr/>
        </p:nvSpPr>
        <p:spPr>
          <a:xfrm>
            <a:off x="8310677" y="17556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20"/>
          <p:cNvSpPr txBox="1"/>
          <p:nvPr/>
        </p:nvSpPr>
        <p:spPr>
          <a:xfrm>
            <a:off x="8859317" y="1755648"/>
            <a:ext cx="2545994" cy="402336"/>
          </a:xfrm>
          <a:prstGeom prst="rect">
            <a:avLst/>
          </a:prstGeom>
          <a:noFill/>
          <a:ln/>
        </p:spPr>
        <p:txBody>
          <a:bodyPr wrap="square" lIns="0" tIns="0" rIns="0" bIns="0" rtlCol="0" anchor="ctr"/>
          <a:lstStyle/>
          <a:p>
            <a:pPr indent="0" marL="0">
              <a:buNone/>
            </a:pPr>
            <a:r>
              <a:rPr lang="en-US" sz="1250" b="1" dirty="0">
                <a:solidFill>
                  <a:srgbClr val="0F2942"/>
                </a:solidFill>
                <a:latin typeface="Courier New" pitchFamily="34" charset="0"/>
                <a:ea typeface="Courier New" pitchFamily="34" charset="-122"/>
                <a:cs typeface="Courier New" pitchFamily="34" charset="-120"/>
              </a:rPr>
              <a:t>reverseDigits</a:t>
            </a:r>
            <a:endParaRPr lang="en-US" sz="1250" dirty="0"/>
          </a:p>
        </p:txBody>
      </p:sp>
      <p:sp>
        <p:nvSpPr>
          <p:cNvPr id="23" name="Text 21"/>
          <p:cNvSpPr txBox="1"/>
          <p:nvPr/>
        </p:nvSpPr>
        <p:spPr>
          <a:xfrm>
            <a:off x="8328965" y="2304288"/>
            <a:ext cx="3039770" cy="96012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Write int reverse(int n) so reverse(3456) is 6543. Then write a palindrome test that uses it.</a:t>
            </a:r>
            <a:endParaRPr lang="en-US" sz="1200" dirty="0"/>
          </a:p>
        </p:txBody>
      </p:sp>
      <p:sp>
        <p:nvSpPr>
          <p:cNvPr id="24" name="Text 22"/>
          <p:cNvSpPr txBox="1"/>
          <p:nvPr/>
        </p:nvSpPr>
        <p:spPr>
          <a:xfrm>
            <a:off x="8328965" y="3310128"/>
            <a:ext cx="3039770" cy="256032"/>
          </a:xfrm>
          <a:prstGeom prst="rect">
            <a:avLst/>
          </a:prstGeom>
          <a:noFill/>
          <a:ln/>
        </p:spPr>
        <p:txBody>
          <a:bodyPr wrap="square" lIns="0" tIns="0" rIns="0" bIns="0" rtlCol="0" anchor="ctr"/>
          <a:lstStyle/>
          <a:p>
            <a:pPr indent="0" marL="0">
              <a:buNone/>
            </a:pPr>
            <a:r>
              <a:rPr lang="en-US" sz="1100" i="1" dirty="0">
                <a:solidFill>
                  <a:srgbClr val="9A430A"/>
                </a:solidFill>
                <a:latin typeface="Calibri" pitchFamily="34" charset="0"/>
                <a:ea typeface="Calibri" pitchFamily="34" charset="-122"/>
                <a:cs typeface="Calibri" pitchFamily="34" charset="-120"/>
              </a:rPr>
              <a:t>% and / in a loop</a:t>
            </a:r>
            <a:endParaRPr lang="en-US" sz="1100" dirty="0"/>
          </a:p>
        </p:txBody>
      </p:sp>
      <p:sp>
        <p:nvSpPr>
          <p:cNvPr id="25" name="Shape 23"/>
          <p:cNvSpPr/>
          <p:nvPr/>
        </p:nvSpPr>
        <p:spPr>
          <a:xfrm>
            <a:off x="566928" y="3822192"/>
            <a:ext cx="3551834" cy="2103120"/>
          </a:xfrm>
          <a:prstGeom prst="roundRect">
            <a:avLst>
              <a:gd name="adj" fmla="val 3913"/>
            </a:avLst>
          </a:prstGeom>
          <a:solidFill>
            <a:srgbClr val="FFFFFF"/>
          </a:solidFill>
          <a:ln w="12700">
            <a:solidFill>
              <a:srgbClr val="D3DEE7"/>
            </a:solidFill>
            <a:prstDash val="solid"/>
          </a:ln>
        </p:spPr>
      </p:sp>
      <p:sp>
        <p:nvSpPr>
          <p:cNvPr id="26" name="Shape 24"/>
          <p:cNvSpPr/>
          <p:nvPr/>
        </p:nvSpPr>
        <p:spPr>
          <a:xfrm>
            <a:off x="804672" y="4041648"/>
            <a:ext cx="402336" cy="402336"/>
          </a:xfrm>
          <a:prstGeom prst="ellipse">
            <a:avLst/>
          </a:prstGeom>
          <a:solidFill>
            <a:srgbClr val="C4560C"/>
          </a:solidFill>
          <a:ln w="12700">
            <a:solidFill>
              <a:srgbClr val="C4560C"/>
            </a:solidFill>
            <a:prstDash val="solid"/>
          </a:ln>
        </p:spPr>
      </p:sp>
      <p:sp>
        <p:nvSpPr>
          <p:cNvPr id="27" name="Text 25"/>
          <p:cNvSpPr txBox="1"/>
          <p:nvPr/>
        </p:nvSpPr>
        <p:spPr>
          <a:xfrm>
            <a:off x="804672" y="40416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8" name="Text 26"/>
          <p:cNvSpPr txBox="1"/>
          <p:nvPr/>
        </p:nvSpPr>
        <p:spPr>
          <a:xfrm>
            <a:off x="1353312" y="4041648"/>
            <a:ext cx="2545994" cy="402336"/>
          </a:xfrm>
          <a:prstGeom prst="rect">
            <a:avLst/>
          </a:prstGeom>
          <a:noFill/>
          <a:ln/>
        </p:spPr>
        <p:txBody>
          <a:bodyPr wrap="square" lIns="0" tIns="0" rIns="0" bIns="0" rtlCol="0" anchor="ctr"/>
          <a:lstStyle/>
          <a:p>
            <a:pPr indent="0" marL="0">
              <a:buNone/>
            </a:pPr>
            <a:r>
              <a:rPr lang="en-US" sz="1250" b="1" dirty="0">
                <a:solidFill>
                  <a:srgbClr val="0F2942"/>
                </a:solidFill>
                <a:latin typeface="Courier New" pitchFamily="34" charset="0"/>
                <a:ea typeface="Courier New" pitchFamily="34" charset="-122"/>
                <a:cs typeface="Courier New" pitchFamily="34" charset="-120"/>
              </a:rPr>
              <a:t>Hex2Dec</a:t>
            </a:r>
            <a:endParaRPr lang="en-US" sz="1250" dirty="0"/>
          </a:p>
        </p:txBody>
      </p:sp>
      <p:sp>
        <p:nvSpPr>
          <p:cNvPr id="29" name="Text 27"/>
          <p:cNvSpPr txBox="1"/>
          <p:nvPr/>
        </p:nvSpPr>
        <p:spPr>
          <a:xfrm>
            <a:off x="822960" y="4590288"/>
            <a:ext cx="3039770" cy="96012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Complete both methods from slide 27, then extend hexCharToDecimal to accept lowercase a–f as well.</a:t>
            </a:r>
            <a:endParaRPr lang="en-US" sz="1200" dirty="0"/>
          </a:p>
        </p:txBody>
      </p:sp>
      <p:sp>
        <p:nvSpPr>
          <p:cNvPr id="30" name="Text 28"/>
          <p:cNvSpPr txBox="1"/>
          <p:nvPr/>
        </p:nvSpPr>
        <p:spPr>
          <a:xfrm>
            <a:off x="822960" y="5596128"/>
            <a:ext cx="3039770" cy="256032"/>
          </a:xfrm>
          <a:prstGeom prst="rect">
            <a:avLst/>
          </a:prstGeom>
          <a:noFill/>
          <a:ln/>
        </p:spPr>
        <p:txBody>
          <a:bodyPr wrap="square" lIns="0" tIns="0" rIns="0" bIns="0" rtlCol="0" anchor="ctr"/>
          <a:lstStyle/>
          <a:p>
            <a:pPr indent="0" marL="0">
              <a:buNone/>
            </a:pPr>
            <a:r>
              <a:rPr lang="en-US" sz="1100" i="1" dirty="0">
                <a:solidFill>
                  <a:srgbClr val="9A430A"/>
                </a:solidFill>
                <a:latin typeface="Calibri" pitchFamily="34" charset="0"/>
                <a:ea typeface="Calibri" pitchFamily="34" charset="-122"/>
                <a:cs typeface="Calibri" pitchFamily="34" charset="-120"/>
              </a:rPr>
              <a:t>one method calling another</a:t>
            </a:r>
            <a:endParaRPr lang="en-US" sz="1100" dirty="0"/>
          </a:p>
        </p:txBody>
      </p:sp>
      <p:sp>
        <p:nvSpPr>
          <p:cNvPr id="31" name="Shape 29"/>
          <p:cNvSpPr/>
          <p:nvPr/>
        </p:nvSpPr>
        <p:spPr>
          <a:xfrm>
            <a:off x="4319930" y="3822192"/>
            <a:ext cx="3551834" cy="2103120"/>
          </a:xfrm>
          <a:prstGeom prst="roundRect">
            <a:avLst>
              <a:gd name="adj" fmla="val 3913"/>
            </a:avLst>
          </a:prstGeom>
          <a:solidFill>
            <a:srgbClr val="F1F5F9"/>
          </a:solidFill>
          <a:ln w="12700">
            <a:solidFill>
              <a:srgbClr val="F1F5F9"/>
            </a:solidFill>
            <a:prstDash val="solid"/>
          </a:ln>
        </p:spPr>
      </p:sp>
      <p:sp>
        <p:nvSpPr>
          <p:cNvPr id="32" name="Shape 30"/>
          <p:cNvSpPr/>
          <p:nvPr/>
        </p:nvSpPr>
        <p:spPr>
          <a:xfrm>
            <a:off x="4557674" y="4041648"/>
            <a:ext cx="402336" cy="402336"/>
          </a:xfrm>
          <a:prstGeom prst="ellipse">
            <a:avLst/>
          </a:prstGeom>
          <a:solidFill>
            <a:srgbClr val="C4560C"/>
          </a:solidFill>
          <a:ln w="12700">
            <a:solidFill>
              <a:srgbClr val="C4560C"/>
            </a:solidFill>
            <a:prstDash val="solid"/>
          </a:ln>
        </p:spPr>
      </p:sp>
      <p:sp>
        <p:nvSpPr>
          <p:cNvPr id="33" name="Text 31"/>
          <p:cNvSpPr txBox="1"/>
          <p:nvPr/>
        </p:nvSpPr>
        <p:spPr>
          <a:xfrm>
            <a:off x="4557674" y="40416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4" name="Text 32"/>
          <p:cNvSpPr txBox="1"/>
          <p:nvPr/>
        </p:nvSpPr>
        <p:spPr>
          <a:xfrm>
            <a:off x="5106314" y="4041648"/>
            <a:ext cx="2545994" cy="402336"/>
          </a:xfrm>
          <a:prstGeom prst="rect">
            <a:avLst/>
          </a:prstGeom>
          <a:noFill/>
          <a:ln/>
        </p:spPr>
        <p:txBody>
          <a:bodyPr wrap="square" lIns="0" tIns="0" rIns="0" bIns="0" rtlCol="0" anchor="ctr"/>
          <a:lstStyle/>
          <a:p>
            <a:pPr indent="0" marL="0">
              <a:buNone/>
            </a:pPr>
            <a:r>
              <a:rPr lang="en-US" sz="1250" b="1" dirty="0">
                <a:solidFill>
                  <a:srgbClr val="0F2942"/>
                </a:solidFill>
                <a:latin typeface="Courier New" pitchFamily="34" charset="0"/>
                <a:ea typeface="Courier New" pitchFamily="34" charset="-122"/>
                <a:cs typeface="Courier New" pitchFamily="34" charset="-120"/>
              </a:rPr>
              <a:t>PrintCalendar</a:t>
            </a:r>
            <a:endParaRPr lang="en-US" sz="1250" dirty="0"/>
          </a:p>
        </p:txBody>
      </p:sp>
      <p:sp>
        <p:nvSpPr>
          <p:cNvPr id="35" name="Text 33"/>
          <p:cNvSpPr txBox="1"/>
          <p:nvPr/>
        </p:nvSpPr>
        <p:spPr>
          <a:xfrm>
            <a:off x="4575962" y="4590288"/>
            <a:ext cx="3039770" cy="96012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Implement the top three boxes of the chart with stubs for the rest, and get it to print the month and year.</a:t>
            </a:r>
            <a:endParaRPr lang="en-US" sz="1200" dirty="0"/>
          </a:p>
        </p:txBody>
      </p:sp>
      <p:sp>
        <p:nvSpPr>
          <p:cNvPr id="36" name="Text 34"/>
          <p:cNvSpPr txBox="1"/>
          <p:nvPr/>
        </p:nvSpPr>
        <p:spPr>
          <a:xfrm>
            <a:off x="4575962" y="5596128"/>
            <a:ext cx="3039770" cy="256032"/>
          </a:xfrm>
          <a:prstGeom prst="rect">
            <a:avLst/>
          </a:prstGeom>
          <a:noFill/>
          <a:ln/>
        </p:spPr>
        <p:txBody>
          <a:bodyPr wrap="square" lIns="0" tIns="0" rIns="0" bIns="0" rtlCol="0" anchor="ctr"/>
          <a:lstStyle/>
          <a:p>
            <a:pPr indent="0" marL="0">
              <a:buNone/>
            </a:pPr>
            <a:r>
              <a:rPr lang="en-US" sz="1100" i="1" dirty="0">
                <a:solidFill>
                  <a:srgbClr val="9A430A"/>
                </a:solidFill>
                <a:latin typeface="Calibri" pitchFamily="34" charset="0"/>
                <a:ea typeface="Calibri" pitchFamily="34" charset="-122"/>
                <a:cs typeface="Calibri" pitchFamily="34" charset="-120"/>
              </a:rPr>
              <a:t>top-down with stubs</a:t>
            </a:r>
            <a:endParaRPr lang="en-US" sz="1100" dirty="0"/>
          </a:p>
        </p:txBody>
      </p:sp>
      <p:sp>
        <p:nvSpPr>
          <p:cNvPr id="37" name="Shape 35"/>
          <p:cNvSpPr/>
          <p:nvPr/>
        </p:nvSpPr>
        <p:spPr>
          <a:xfrm>
            <a:off x="8072933" y="3822192"/>
            <a:ext cx="3551834" cy="2103120"/>
          </a:xfrm>
          <a:prstGeom prst="roundRect">
            <a:avLst>
              <a:gd name="adj" fmla="val 3913"/>
            </a:avLst>
          </a:prstGeom>
          <a:solidFill>
            <a:srgbClr val="FBEEE0"/>
          </a:solidFill>
          <a:ln w="12700">
            <a:solidFill>
              <a:srgbClr val="FBEEE0"/>
            </a:solidFill>
            <a:prstDash val="solid"/>
          </a:ln>
        </p:spPr>
      </p:sp>
      <p:sp>
        <p:nvSpPr>
          <p:cNvPr id="38" name="Text 36"/>
          <p:cNvSpPr txBox="1"/>
          <p:nvPr/>
        </p:nvSpPr>
        <p:spPr>
          <a:xfrm>
            <a:off x="8328965" y="4005072"/>
            <a:ext cx="3039770" cy="292608"/>
          </a:xfrm>
          <a:prstGeom prst="rect">
            <a:avLst/>
          </a:prstGeom>
          <a:noFill/>
          <a:ln/>
        </p:spPr>
        <p:txBody>
          <a:bodyPr wrap="square" lIns="0" tIns="0" rIns="0" bIns="0" rtlCol="0" anchor="ctr"/>
          <a:lstStyle/>
          <a:p>
            <a:pPr indent="0" marL="0">
              <a:buNone/>
            </a:pPr>
            <a:r>
              <a:rPr lang="en-US" sz="1350" b="1" dirty="0">
                <a:solidFill>
                  <a:srgbClr val="9A430A"/>
                </a:solidFill>
                <a:latin typeface="Calibri" pitchFamily="34" charset="0"/>
                <a:ea typeface="Calibri" pitchFamily="34" charset="-122"/>
                <a:cs typeface="Calibri" pitchFamily="34" charset="-120"/>
              </a:rPr>
              <a:t>Write a javadoc comment for each</a:t>
            </a:r>
            <a:endParaRPr lang="en-US" sz="1350" dirty="0"/>
          </a:p>
        </p:txBody>
      </p:sp>
      <p:sp>
        <p:nvSpPr>
          <p:cNvPr id="39" name="Text 37"/>
          <p:cNvSpPr txBox="1"/>
          <p:nvPr/>
        </p:nvSpPr>
        <p:spPr>
          <a:xfrm>
            <a:off x="8328965" y="4370832"/>
            <a:ext cx="3039770" cy="137160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One sentence saying what the method returns, plus an @param line for each parameter. If the sentence needs the word "and", the method is doing two things — split it.</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WRAP-UP</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Six Things to Take Away from Today</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35</a:t>
            </a:r>
            <a:endParaRPr lang="en-US" sz="900" dirty="0"/>
          </a:p>
        </p:txBody>
      </p:sp>
      <p:sp>
        <p:nvSpPr>
          <p:cNvPr id="6" name="Shape 4"/>
          <p:cNvSpPr/>
          <p:nvPr/>
        </p:nvSpPr>
        <p:spPr>
          <a:xfrm>
            <a:off x="566928" y="1261872"/>
            <a:ext cx="5391760" cy="1444752"/>
          </a:xfrm>
          <a:prstGeom prst="roundRect">
            <a:avLst>
              <a:gd name="adj" fmla="val 5696"/>
            </a:avLst>
          </a:prstGeom>
          <a:solidFill>
            <a:srgbClr val="F1F5F9"/>
          </a:solidFill>
          <a:ln w="12700">
            <a:solidFill>
              <a:srgbClr val="F1F5F9"/>
            </a:solidFill>
            <a:prstDash val="solid"/>
          </a:ln>
        </p:spPr>
      </p:sp>
      <p:sp>
        <p:nvSpPr>
          <p:cNvPr id="7" name="Shape 5"/>
          <p:cNvSpPr/>
          <p:nvPr/>
        </p:nvSpPr>
        <p:spPr>
          <a:xfrm>
            <a:off x="804672" y="1517904"/>
            <a:ext cx="402336" cy="402336"/>
          </a:xfrm>
          <a:prstGeom prst="ellipse">
            <a:avLst/>
          </a:prstGeom>
          <a:solidFill>
            <a:srgbClr val="C4560C"/>
          </a:solidFill>
          <a:ln w="12700">
            <a:solidFill>
              <a:srgbClr val="C4560C"/>
            </a:solidFill>
            <a:prstDash val="solid"/>
          </a:ln>
        </p:spPr>
      </p:sp>
      <p:sp>
        <p:nvSpPr>
          <p:cNvPr id="8" name="Text 6"/>
          <p:cNvSpPr txBox="1"/>
          <p:nvPr/>
        </p:nvSpPr>
        <p:spPr>
          <a:xfrm>
            <a:off x="804672" y="15179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371600" y="1426464"/>
            <a:ext cx="4340200" cy="310896"/>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A method is a named block with a contract</a:t>
            </a:r>
            <a:endParaRPr lang="en-US" sz="1400" dirty="0"/>
          </a:p>
        </p:txBody>
      </p:sp>
      <p:sp>
        <p:nvSpPr>
          <p:cNvPr id="10" name="Text 8"/>
          <p:cNvSpPr txBox="1"/>
          <p:nvPr/>
        </p:nvSpPr>
        <p:spPr>
          <a:xfrm>
            <a:off x="1371600" y="1773936"/>
            <a:ext cx="4340200" cy="82296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Header and body. The caller depends on the header; the body is yours to change.</a:t>
            </a:r>
            <a:endParaRPr lang="en-US" sz="1200" dirty="0"/>
          </a:p>
        </p:txBody>
      </p:sp>
      <p:sp>
        <p:nvSpPr>
          <p:cNvPr id="11" name="Shape 9"/>
          <p:cNvSpPr/>
          <p:nvPr/>
        </p:nvSpPr>
        <p:spPr>
          <a:xfrm>
            <a:off x="6233008" y="1261872"/>
            <a:ext cx="5391760" cy="1444752"/>
          </a:xfrm>
          <a:prstGeom prst="roundRect">
            <a:avLst>
              <a:gd name="adj" fmla="val 5696"/>
            </a:avLst>
          </a:prstGeom>
          <a:solidFill>
            <a:srgbClr val="FFFFFF"/>
          </a:solidFill>
          <a:ln w="12700">
            <a:solidFill>
              <a:srgbClr val="D3DEE7"/>
            </a:solidFill>
            <a:prstDash val="solid"/>
          </a:ln>
        </p:spPr>
      </p:sp>
      <p:sp>
        <p:nvSpPr>
          <p:cNvPr id="12" name="Shape 10"/>
          <p:cNvSpPr/>
          <p:nvPr/>
        </p:nvSpPr>
        <p:spPr>
          <a:xfrm>
            <a:off x="6470752" y="1517904"/>
            <a:ext cx="402336" cy="402336"/>
          </a:xfrm>
          <a:prstGeom prst="ellipse">
            <a:avLst/>
          </a:prstGeom>
          <a:solidFill>
            <a:srgbClr val="C4560C"/>
          </a:solidFill>
          <a:ln w="12700">
            <a:solidFill>
              <a:srgbClr val="C4560C"/>
            </a:solidFill>
            <a:prstDash val="solid"/>
          </a:ln>
        </p:spPr>
      </p:sp>
      <p:sp>
        <p:nvSpPr>
          <p:cNvPr id="13" name="Text 11"/>
          <p:cNvSpPr txBox="1"/>
          <p:nvPr/>
        </p:nvSpPr>
        <p:spPr>
          <a:xfrm>
            <a:off x="6470752" y="15179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7037680" y="1426464"/>
            <a:ext cx="4340200" cy="310896"/>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The signature is the name plus the parameter list</a:t>
            </a:r>
            <a:endParaRPr lang="en-US" sz="1400" dirty="0"/>
          </a:p>
        </p:txBody>
      </p:sp>
      <p:sp>
        <p:nvSpPr>
          <p:cNvPr id="15" name="Text 13"/>
          <p:cNvSpPr txBox="1"/>
          <p:nvPr/>
        </p:nvSpPr>
        <p:spPr>
          <a:xfrm>
            <a:off x="7037680" y="1773936"/>
            <a:ext cx="4340200" cy="82296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Not the return type, not the parameter names. That is what overloading is built on.</a:t>
            </a:r>
            <a:endParaRPr lang="en-US" sz="1200" dirty="0"/>
          </a:p>
        </p:txBody>
      </p:sp>
      <p:sp>
        <p:nvSpPr>
          <p:cNvPr id="16" name="Shape 14"/>
          <p:cNvSpPr/>
          <p:nvPr/>
        </p:nvSpPr>
        <p:spPr>
          <a:xfrm>
            <a:off x="566928" y="2862072"/>
            <a:ext cx="5391760" cy="1444752"/>
          </a:xfrm>
          <a:prstGeom prst="roundRect">
            <a:avLst>
              <a:gd name="adj" fmla="val 5696"/>
            </a:avLst>
          </a:prstGeom>
          <a:solidFill>
            <a:srgbClr val="F1F5F9"/>
          </a:solidFill>
          <a:ln w="12700">
            <a:solidFill>
              <a:srgbClr val="F1F5F9"/>
            </a:solidFill>
            <a:prstDash val="solid"/>
          </a:ln>
        </p:spPr>
      </p:sp>
      <p:sp>
        <p:nvSpPr>
          <p:cNvPr id="17" name="Shape 15"/>
          <p:cNvSpPr/>
          <p:nvPr/>
        </p:nvSpPr>
        <p:spPr>
          <a:xfrm>
            <a:off x="804672" y="3118104"/>
            <a:ext cx="402336" cy="402336"/>
          </a:xfrm>
          <a:prstGeom prst="ellipse">
            <a:avLst/>
          </a:prstGeom>
          <a:solidFill>
            <a:srgbClr val="C4560C"/>
          </a:solidFill>
          <a:ln w="12700">
            <a:solidFill>
              <a:srgbClr val="C4560C"/>
            </a:solidFill>
            <a:prstDash val="solid"/>
          </a:ln>
        </p:spPr>
      </p:sp>
      <p:sp>
        <p:nvSpPr>
          <p:cNvPr id="18" name="Text 16"/>
          <p:cNvSpPr txBox="1"/>
          <p:nvPr/>
        </p:nvSpPr>
        <p:spPr>
          <a:xfrm>
            <a:off x="804672" y="31181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1371600" y="3026664"/>
            <a:ext cx="4340200" cy="310896"/>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Every path out of a value-returning method must return</a:t>
            </a:r>
            <a:endParaRPr lang="en-US" sz="1400" dirty="0"/>
          </a:p>
        </p:txBody>
      </p:sp>
      <p:sp>
        <p:nvSpPr>
          <p:cNvPr id="20" name="Text 18"/>
          <p:cNvSpPr txBox="1"/>
          <p:nvPr/>
        </p:nvSpPr>
        <p:spPr>
          <a:xfrm>
            <a:off x="1371600" y="3374136"/>
            <a:ext cx="4340200" cy="82296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The compiler will not reason about your conditions for you. End the ladder with a bare else.</a:t>
            </a:r>
            <a:endParaRPr lang="en-US" sz="1200" dirty="0"/>
          </a:p>
        </p:txBody>
      </p:sp>
      <p:sp>
        <p:nvSpPr>
          <p:cNvPr id="21" name="Shape 19"/>
          <p:cNvSpPr/>
          <p:nvPr/>
        </p:nvSpPr>
        <p:spPr>
          <a:xfrm>
            <a:off x="6233008" y="2862072"/>
            <a:ext cx="5391760" cy="1444752"/>
          </a:xfrm>
          <a:prstGeom prst="roundRect">
            <a:avLst>
              <a:gd name="adj" fmla="val 5696"/>
            </a:avLst>
          </a:prstGeom>
          <a:solidFill>
            <a:srgbClr val="FFFFFF"/>
          </a:solidFill>
          <a:ln w="12700">
            <a:solidFill>
              <a:srgbClr val="D3DEE7"/>
            </a:solidFill>
            <a:prstDash val="solid"/>
          </a:ln>
        </p:spPr>
      </p:sp>
      <p:sp>
        <p:nvSpPr>
          <p:cNvPr id="22" name="Shape 20"/>
          <p:cNvSpPr/>
          <p:nvPr/>
        </p:nvSpPr>
        <p:spPr>
          <a:xfrm>
            <a:off x="6470752" y="3118104"/>
            <a:ext cx="402336" cy="402336"/>
          </a:xfrm>
          <a:prstGeom prst="ellipse">
            <a:avLst/>
          </a:prstGeom>
          <a:solidFill>
            <a:srgbClr val="C4560C"/>
          </a:solidFill>
          <a:ln w="12700">
            <a:solidFill>
              <a:srgbClr val="C4560C"/>
            </a:solidFill>
            <a:prstDash val="solid"/>
          </a:ln>
        </p:spPr>
      </p:sp>
      <p:sp>
        <p:nvSpPr>
          <p:cNvPr id="23" name="Text 21"/>
          <p:cNvSpPr txBox="1"/>
          <p:nvPr/>
        </p:nvSpPr>
        <p:spPr>
          <a:xfrm>
            <a:off x="6470752" y="31181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7037680" y="3026664"/>
            <a:ext cx="4340200" cy="310896"/>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Arguments are copied in, by position</a:t>
            </a:r>
            <a:endParaRPr lang="en-US" sz="1400" dirty="0"/>
          </a:p>
        </p:txBody>
      </p:sp>
      <p:sp>
        <p:nvSpPr>
          <p:cNvPr id="25" name="Text 23"/>
          <p:cNvSpPr txBox="1"/>
          <p:nvPr/>
        </p:nvSpPr>
        <p:spPr>
          <a:xfrm>
            <a:off x="7037680" y="3374136"/>
            <a:ext cx="4340200" cy="82296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Java is pass by value, always. To get a value out, return it — a method cannot change your variables.</a:t>
            </a:r>
            <a:endParaRPr lang="en-US" sz="1200" dirty="0"/>
          </a:p>
        </p:txBody>
      </p:sp>
      <p:sp>
        <p:nvSpPr>
          <p:cNvPr id="26" name="Shape 24"/>
          <p:cNvSpPr/>
          <p:nvPr/>
        </p:nvSpPr>
        <p:spPr>
          <a:xfrm>
            <a:off x="566928" y="4462272"/>
            <a:ext cx="5391760" cy="1444752"/>
          </a:xfrm>
          <a:prstGeom prst="roundRect">
            <a:avLst>
              <a:gd name="adj" fmla="val 5696"/>
            </a:avLst>
          </a:prstGeom>
          <a:solidFill>
            <a:srgbClr val="F1F5F9"/>
          </a:solidFill>
          <a:ln w="12700">
            <a:solidFill>
              <a:srgbClr val="F1F5F9"/>
            </a:solidFill>
            <a:prstDash val="solid"/>
          </a:ln>
        </p:spPr>
      </p:sp>
      <p:sp>
        <p:nvSpPr>
          <p:cNvPr id="27" name="Shape 25"/>
          <p:cNvSpPr/>
          <p:nvPr/>
        </p:nvSpPr>
        <p:spPr>
          <a:xfrm>
            <a:off x="804672" y="4718304"/>
            <a:ext cx="402336" cy="402336"/>
          </a:xfrm>
          <a:prstGeom prst="ellipse">
            <a:avLst/>
          </a:prstGeom>
          <a:solidFill>
            <a:srgbClr val="C4560C"/>
          </a:solidFill>
          <a:ln w="12700">
            <a:solidFill>
              <a:srgbClr val="C4560C"/>
            </a:solidFill>
            <a:prstDash val="solid"/>
          </a:ln>
        </p:spPr>
      </p:sp>
      <p:sp>
        <p:nvSpPr>
          <p:cNvPr id="28" name="Text 26"/>
          <p:cNvSpPr txBox="1"/>
          <p:nvPr/>
        </p:nvSpPr>
        <p:spPr>
          <a:xfrm>
            <a:off x="804672" y="47183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txBox="1"/>
          <p:nvPr/>
        </p:nvSpPr>
        <p:spPr>
          <a:xfrm>
            <a:off x="1371600" y="4626864"/>
            <a:ext cx="4340200" cy="310896"/>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A local variable lives in its block and no further</a:t>
            </a:r>
            <a:endParaRPr lang="en-US" sz="1400" dirty="0"/>
          </a:p>
        </p:txBody>
      </p:sp>
      <p:sp>
        <p:nvSpPr>
          <p:cNvPr id="30" name="Text 28"/>
          <p:cNvSpPr txBox="1"/>
          <p:nvPr/>
        </p:nvSpPr>
        <p:spPr>
          <a:xfrm>
            <a:off x="1371600" y="4974336"/>
            <a:ext cx="4340200" cy="82296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Declare it where you use it. You cannot redeclare it in a nested block.</a:t>
            </a:r>
            <a:endParaRPr lang="en-US" sz="1200" dirty="0"/>
          </a:p>
        </p:txBody>
      </p:sp>
      <p:sp>
        <p:nvSpPr>
          <p:cNvPr id="31" name="Shape 29"/>
          <p:cNvSpPr/>
          <p:nvPr/>
        </p:nvSpPr>
        <p:spPr>
          <a:xfrm>
            <a:off x="6233008" y="4462272"/>
            <a:ext cx="5391760" cy="1444752"/>
          </a:xfrm>
          <a:prstGeom prst="roundRect">
            <a:avLst>
              <a:gd name="adj" fmla="val 5696"/>
            </a:avLst>
          </a:prstGeom>
          <a:solidFill>
            <a:srgbClr val="FFFFFF"/>
          </a:solidFill>
          <a:ln w="12700">
            <a:solidFill>
              <a:srgbClr val="D3DEE7"/>
            </a:solidFill>
            <a:prstDash val="solid"/>
          </a:ln>
        </p:spPr>
      </p:sp>
      <p:sp>
        <p:nvSpPr>
          <p:cNvPr id="32" name="Shape 30"/>
          <p:cNvSpPr/>
          <p:nvPr/>
        </p:nvSpPr>
        <p:spPr>
          <a:xfrm>
            <a:off x="6470752" y="4718304"/>
            <a:ext cx="402336" cy="402336"/>
          </a:xfrm>
          <a:prstGeom prst="ellipse">
            <a:avLst/>
          </a:prstGeom>
          <a:solidFill>
            <a:srgbClr val="C4560C"/>
          </a:solidFill>
          <a:ln w="12700">
            <a:solidFill>
              <a:srgbClr val="C4560C"/>
            </a:solidFill>
            <a:prstDash val="solid"/>
          </a:ln>
        </p:spPr>
      </p:sp>
      <p:sp>
        <p:nvSpPr>
          <p:cNvPr id="33" name="Text 31"/>
          <p:cNvSpPr txBox="1"/>
          <p:nvPr/>
        </p:nvSpPr>
        <p:spPr>
          <a:xfrm>
            <a:off x="6470752" y="47183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4" name="Text 32"/>
          <p:cNvSpPr txBox="1"/>
          <p:nvPr/>
        </p:nvSpPr>
        <p:spPr>
          <a:xfrm>
            <a:off x="7037680" y="4626864"/>
            <a:ext cx="4340200" cy="310896"/>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Name it before you write it</a:t>
            </a:r>
            <a:endParaRPr lang="en-US" sz="1400" dirty="0"/>
          </a:p>
        </p:txBody>
      </p:sp>
      <p:sp>
        <p:nvSpPr>
          <p:cNvPr id="35" name="Text 33"/>
          <p:cNvSpPr txBox="1"/>
          <p:nvPr/>
        </p:nvSpPr>
        <p:spPr>
          <a:xfrm>
            <a:off x="7037680" y="4974336"/>
            <a:ext cx="4340200" cy="82296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If you can name the job in two or three words, it is a method. If you cannot, it is two methods.</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NEXT STEPS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Before Tuesday, 29 September</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36</a:t>
            </a:r>
            <a:endParaRPr lang="en-US" sz="900" dirty="0"/>
          </a:p>
        </p:txBody>
      </p:sp>
      <p:sp>
        <p:nvSpPr>
          <p:cNvPr id="6" name="Shape 4"/>
          <p:cNvSpPr/>
          <p:nvPr/>
        </p:nvSpPr>
        <p:spPr>
          <a:xfrm>
            <a:off x="566928" y="1353312"/>
            <a:ext cx="5346040" cy="1051560"/>
          </a:xfrm>
          <a:prstGeom prst="roundRect">
            <a:avLst>
              <a:gd name="adj" fmla="val 7826"/>
            </a:avLst>
          </a:prstGeom>
          <a:solidFill>
            <a:srgbClr val="F1F5F9"/>
          </a:solidFill>
          <a:ln w="12700">
            <a:solidFill>
              <a:srgbClr val="F1F5F9"/>
            </a:solidFill>
            <a:prstDash val="solid"/>
          </a:ln>
        </p:spPr>
      </p:sp>
      <p:sp>
        <p:nvSpPr>
          <p:cNvPr id="7" name="Shape 5"/>
          <p:cNvSpPr/>
          <p:nvPr/>
        </p:nvSpPr>
        <p:spPr>
          <a:xfrm>
            <a:off x="804672" y="1682496"/>
            <a:ext cx="384048" cy="384048"/>
          </a:xfrm>
          <a:prstGeom prst="ellipse">
            <a:avLst/>
          </a:prstGeom>
          <a:solidFill>
            <a:srgbClr val="176240"/>
          </a:solidFill>
          <a:ln w="12700">
            <a:solidFill>
              <a:srgbClr val="176240"/>
            </a:solidFill>
            <a:prstDash val="solid"/>
          </a:ln>
        </p:spPr>
      </p:sp>
      <p:sp>
        <p:nvSpPr>
          <p:cNvPr id="8" name="Text 6"/>
          <p:cNvSpPr txBox="1"/>
          <p:nvPr/>
        </p:nvSpPr>
        <p:spPr>
          <a:xfrm>
            <a:off x="804672" y="16824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9" name="Text 7"/>
          <p:cNvSpPr txBox="1"/>
          <p:nvPr/>
        </p:nvSpPr>
        <p:spPr>
          <a:xfrm>
            <a:off x="1353312" y="1517904"/>
            <a:ext cx="4321912"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Write the five practice programs</a:t>
            </a:r>
            <a:endParaRPr lang="en-US" sz="1350" dirty="0"/>
          </a:p>
        </p:txBody>
      </p:sp>
      <p:sp>
        <p:nvSpPr>
          <p:cNvPr id="10" name="Text 8"/>
          <p:cNvSpPr txBox="1"/>
          <p:nvPr/>
        </p:nvSpPr>
        <p:spPr>
          <a:xfrm>
            <a:off x="1353312" y="1828800"/>
            <a:ext cx="4321912" cy="50292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Header first, then body, then a driver main that calls it with three different inputs.</a:t>
            </a:r>
            <a:endParaRPr lang="en-US" sz="1200" dirty="0"/>
          </a:p>
        </p:txBody>
      </p:sp>
      <p:sp>
        <p:nvSpPr>
          <p:cNvPr id="11" name="Shape 9"/>
          <p:cNvSpPr/>
          <p:nvPr/>
        </p:nvSpPr>
        <p:spPr>
          <a:xfrm>
            <a:off x="566928" y="2487168"/>
            <a:ext cx="5346040" cy="1051560"/>
          </a:xfrm>
          <a:prstGeom prst="roundRect">
            <a:avLst>
              <a:gd name="adj" fmla="val 7826"/>
            </a:avLst>
          </a:prstGeom>
          <a:solidFill>
            <a:srgbClr val="FFFFFF"/>
          </a:solidFill>
          <a:ln w="12700">
            <a:solidFill>
              <a:srgbClr val="D3DEE7"/>
            </a:solidFill>
            <a:prstDash val="solid"/>
          </a:ln>
        </p:spPr>
      </p:sp>
      <p:sp>
        <p:nvSpPr>
          <p:cNvPr id="12" name="Shape 10"/>
          <p:cNvSpPr/>
          <p:nvPr/>
        </p:nvSpPr>
        <p:spPr>
          <a:xfrm>
            <a:off x="804672" y="2816352"/>
            <a:ext cx="384048" cy="384048"/>
          </a:xfrm>
          <a:prstGeom prst="ellipse">
            <a:avLst/>
          </a:prstGeom>
          <a:solidFill>
            <a:srgbClr val="176240"/>
          </a:solidFill>
          <a:ln w="12700">
            <a:solidFill>
              <a:srgbClr val="176240"/>
            </a:solidFill>
            <a:prstDash val="solid"/>
          </a:ln>
        </p:spPr>
      </p:sp>
      <p:sp>
        <p:nvSpPr>
          <p:cNvPr id="13" name="Text 11"/>
          <p:cNvSpPr txBox="1"/>
          <p:nvPr/>
        </p:nvSpPr>
        <p:spPr>
          <a:xfrm>
            <a:off x="804672" y="28163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4" name="Text 12"/>
          <p:cNvSpPr txBox="1"/>
          <p:nvPr/>
        </p:nvSpPr>
        <p:spPr>
          <a:xfrm>
            <a:off x="1353312" y="2651760"/>
            <a:ext cx="4321912"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Read Liang, Chapter 6</a:t>
            </a:r>
            <a:endParaRPr lang="en-US" sz="1350" dirty="0"/>
          </a:p>
        </p:txBody>
      </p:sp>
      <p:sp>
        <p:nvSpPr>
          <p:cNvPr id="15" name="Text 13"/>
          <p:cNvSpPr txBox="1"/>
          <p:nvPr/>
        </p:nvSpPr>
        <p:spPr>
          <a:xfrm>
            <a:off x="1353312" y="2962656"/>
            <a:ext cx="4321912" cy="50292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Sections 6.1 to 6.11. The checkpoint questions at the end of each section are quiz-shaped.</a:t>
            </a:r>
            <a:endParaRPr lang="en-US" sz="1200" dirty="0"/>
          </a:p>
        </p:txBody>
      </p:sp>
      <p:sp>
        <p:nvSpPr>
          <p:cNvPr id="16" name="Shape 14"/>
          <p:cNvSpPr/>
          <p:nvPr/>
        </p:nvSpPr>
        <p:spPr>
          <a:xfrm>
            <a:off x="566928" y="3621024"/>
            <a:ext cx="5346040" cy="1051560"/>
          </a:xfrm>
          <a:prstGeom prst="roundRect">
            <a:avLst>
              <a:gd name="adj" fmla="val 7826"/>
            </a:avLst>
          </a:prstGeom>
          <a:solidFill>
            <a:srgbClr val="F1F5F9"/>
          </a:solidFill>
          <a:ln w="12700">
            <a:solidFill>
              <a:srgbClr val="F1F5F9"/>
            </a:solidFill>
            <a:prstDash val="solid"/>
          </a:ln>
        </p:spPr>
      </p:sp>
      <p:sp>
        <p:nvSpPr>
          <p:cNvPr id="17" name="Shape 15"/>
          <p:cNvSpPr/>
          <p:nvPr/>
        </p:nvSpPr>
        <p:spPr>
          <a:xfrm>
            <a:off x="804672" y="3950208"/>
            <a:ext cx="384048" cy="384048"/>
          </a:xfrm>
          <a:prstGeom prst="ellipse">
            <a:avLst/>
          </a:prstGeom>
          <a:solidFill>
            <a:srgbClr val="176240"/>
          </a:solidFill>
          <a:ln w="12700">
            <a:solidFill>
              <a:srgbClr val="176240"/>
            </a:solidFill>
            <a:prstDash val="solid"/>
          </a:ln>
        </p:spPr>
      </p:sp>
      <p:sp>
        <p:nvSpPr>
          <p:cNvPr id="18" name="Text 16"/>
          <p:cNvSpPr txBox="1"/>
          <p:nvPr/>
        </p:nvSpPr>
        <p:spPr>
          <a:xfrm>
            <a:off x="804672" y="39502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9" name="Text 17"/>
          <p:cNvSpPr txBox="1"/>
          <p:nvPr/>
        </p:nvSpPr>
        <p:spPr>
          <a:xfrm>
            <a:off x="1353312" y="3785616"/>
            <a:ext cx="4321912"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Extract one method from Lecture 4's code</a:t>
            </a:r>
            <a:endParaRPr lang="en-US" sz="1350" dirty="0"/>
          </a:p>
        </p:txBody>
      </p:sp>
      <p:sp>
        <p:nvSpPr>
          <p:cNvPr id="20" name="Text 18"/>
          <p:cNvSpPr txBox="1"/>
          <p:nvPr/>
        </p:nvSpPr>
        <p:spPr>
          <a:xfrm>
            <a:off x="1353312" y="4096512"/>
            <a:ext cx="4321912" cy="50292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Take any loop program you wrote last week and pull the loop out into a named method.</a:t>
            </a:r>
            <a:endParaRPr lang="en-US" sz="1200" dirty="0"/>
          </a:p>
        </p:txBody>
      </p:sp>
      <p:sp>
        <p:nvSpPr>
          <p:cNvPr id="21" name="Shape 19"/>
          <p:cNvSpPr/>
          <p:nvPr/>
        </p:nvSpPr>
        <p:spPr>
          <a:xfrm>
            <a:off x="566928" y="4754880"/>
            <a:ext cx="5346040" cy="1051560"/>
          </a:xfrm>
          <a:prstGeom prst="roundRect">
            <a:avLst>
              <a:gd name="adj" fmla="val 7826"/>
            </a:avLst>
          </a:prstGeom>
          <a:solidFill>
            <a:srgbClr val="FFFFFF"/>
          </a:solidFill>
          <a:ln w="12700">
            <a:solidFill>
              <a:srgbClr val="D3DEE7"/>
            </a:solidFill>
            <a:prstDash val="solid"/>
          </a:ln>
        </p:spPr>
      </p:sp>
      <p:sp>
        <p:nvSpPr>
          <p:cNvPr id="22" name="Shape 20"/>
          <p:cNvSpPr/>
          <p:nvPr/>
        </p:nvSpPr>
        <p:spPr>
          <a:xfrm>
            <a:off x="804672" y="5084064"/>
            <a:ext cx="384048" cy="384048"/>
          </a:xfrm>
          <a:prstGeom prst="ellipse">
            <a:avLst/>
          </a:prstGeom>
          <a:solidFill>
            <a:srgbClr val="176240"/>
          </a:solidFill>
          <a:ln w="12700">
            <a:solidFill>
              <a:srgbClr val="176240"/>
            </a:solidFill>
            <a:prstDash val="solid"/>
          </a:ln>
        </p:spPr>
      </p:sp>
      <p:sp>
        <p:nvSpPr>
          <p:cNvPr id="23" name="Text 21"/>
          <p:cNvSpPr txBox="1"/>
          <p:nvPr/>
        </p:nvSpPr>
        <p:spPr>
          <a:xfrm>
            <a:off x="804672" y="50840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4" name="Text 22"/>
          <p:cNvSpPr txBox="1"/>
          <p:nvPr/>
        </p:nvSpPr>
        <p:spPr>
          <a:xfrm>
            <a:off x="1353312" y="4919472"/>
            <a:ext cx="4321912"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Revise Weeks 1–3 for Quiz 1</a:t>
            </a:r>
            <a:endParaRPr lang="en-US" sz="1350" dirty="0"/>
          </a:p>
        </p:txBody>
      </p:sp>
      <p:sp>
        <p:nvSpPr>
          <p:cNvPr id="25" name="Text 23"/>
          <p:cNvSpPr txBox="1"/>
          <p:nvPr/>
        </p:nvSpPr>
        <p:spPr>
          <a:xfrm>
            <a:off x="1353312" y="5230368"/>
            <a:ext cx="4321912" cy="50292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It is a week today, on Thursday 01.10, and it covers everything up to and including today.</a:t>
            </a:r>
            <a:endParaRPr lang="en-US" sz="1200" dirty="0"/>
          </a:p>
        </p:txBody>
      </p:sp>
      <p:sp>
        <p:nvSpPr>
          <p:cNvPr id="26" name="Shape 24"/>
          <p:cNvSpPr/>
          <p:nvPr/>
        </p:nvSpPr>
        <p:spPr>
          <a:xfrm>
            <a:off x="6278728" y="1353312"/>
            <a:ext cx="5346040" cy="2103120"/>
          </a:xfrm>
          <a:prstGeom prst="roundRect">
            <a:avLst>
              <a:gd name="adj" fmla="val 3913"/>
            </a:avLst>
          </a:prstGeom>
          <a:solidFill>
            <a:srgbClr val="E4ECF4"/>
          </a:solidFill>
          <a:ln w="12700">
            <a:solidFill>
              <a:srgbClr val="E4ECF4"/>
            </a:solidFill>
            <a:prstDash val="solid"/>
          </a:ln>
        </p:spPr>
      </p:sp>
      <p:sp>
        <p:nvSpPr>
          <p:cNvPr id="27" name="Text 25"/>
          <p:cNvSpPr txBox="1"/>
          <p:nvPr/>
        </p:nvSpPr>
        <p:spPr>
          <a:xfrm>
            <a:off x="6553048" y="1591056"/>
            <a:ext cx="4797400" cy="274320"/>
          </a:xfrm>
          <a:prstGeom prst="rect">
            <a:avLst/>
          </a:prstGeom>
          <a:noFill/>
          <a:ln/>
        </p:spPr>
        <p:txBody>
          <a:bodyPr wrap="square" lIns="0" tIns="0" rIns="0" bIns="0" rtlCol="0" anchor="ctr"/>
          <a:lstStyle/>
          <a:p>
            <a:pPr indent="0" marL="0">
              <a:buNone/>
            </a:pPr>
            <a:r>
              <a:rPr lang="en-US" sz="1100" b="1" spc="140" kern="0" dirty="0">
                <a:solidFill>
                  <a:srgbClr val="9A430A"/>
                </a:solidFill>
                <a:latin typeface="Calibri" pitchFamily="34" charset="0"/>
                <a:ea typeface="Calibri" pitchFamily="34" charset="-122"/>
                <a:cs typeface="Calibri" pitchFamily="34" charset="-120"/>
              </a:rPr>
              <a:t>Next session</a:t>
            </a:r>
            <a:endParaRPr lang="en-US" sz="1100" dirty="0"/>
          </a:p>
        </p:txBody>
      </p:sp>
      <p:sp>
        <p:nvSpPr>
          <p:cNvPr id="28" name="Text 26"/>
          <p:cNvSpPr txBox="1"/>
          <p:nvPr/>
        </p:nvSpPr>
        <p:spPr>
          <a:xfrm>
            <a:off x="6553048" y="1901952"/>
            <a:ext cx="4797400" cy="621792"/>
          </a:xfrm>
          <a:prstGeom prst="rect">
            <a:avLst/>
          </a:prstGeom>
          <a:noFill/>
          <a:ln/>
        </p:spPr>
        <p:txBody>
          <a:bodyPr wrap="square" lIns="0" tIns="0" rIns="0" bIns="0" rtlCol="0" anchor="t"/>
          <a:lstStyle/>
          <a:p>
            <a:pPr indent="0" marL="0">
              <a:buNone/>
            </a:pPr>
            <a:r>
              <a:rPr lang="en-US" sz="2100" b="1" dirty="0">
                <a:solidFill>
                  <a:srgbClr val="0F2942"/>
                </a:solidFill>
                <a:latin typeface="Cambria" pitchFamily="34" charset="0"/>
                <a:ea typeface="Cambria" pitchFamily="34" charset="-122"/>
                <a:cs typeface="Cambria" pitchFamily="34" charset="-120"/>
              </a:rPr>
              <a:t>Tuesday 29.09 — Arrays</a:t>
            </a:r>
            <a:endParaRPr lang="en-US" sz="2100" dirty="0"/>
          </a:p>
        </p:txBody>
      </p:sp>
      <p:sp>
        <p:nvSpPr>
          <p:cNvPr id="29" name="Text 27"/>
          <p:cNvSpPr txBox="1"/>
          <p:nvPr/>
        </p:nvSpPr>
        <p:spPr>
          <a:xfrm>
            <a:off x="6553048" y="2615184"/>
            <a:ext cx="4797400" cy="685800"/>
          </a:xfrm>
          <a:prstGeom prst="rect">
            <a:avLst/>
          </a:prstGeom>
          <a:noFill/>
          <a:ln/>
        </p:spPr>
        <p:txBody>
          <a:bodyPr wrap="square" lIns="0" tIns="0" rIns="0" bIns="0" rtlCol="0" anchor="t"/>
          <a:lstStyle/>
          <a:p>
            <a:pPr indent="0" marL="0">
              <a:lnSpc>
                <a:spcPct val="110000"/>
              </a:lnSpc>
              <a:buNone/>
            </a:pPr>
            <a:r>
              <a:rPr lang="en-US" sz="1250" dirty="0">
                <a:solidFill>
                  <a:srgbClr val="3A536B"/>
                </a:solidFill>
                <a:latin typeface="Calibri" pitchFamily="34" charset="0"/>
                <a:ea typeface="Calibri" pitchFamily="34" charset="-122"/>
                <a:cs typeface="Calibri" pitchFamily="34" charset="-120"/>
              </a:rPr>
              <a:t>Holding a hundred values in one variable — declaration, initialisation, traversal, and two dimensions. It opens with the one case where today's pass-by-value rule surprises people.</a:t>
            </a:r>
            <a:endParaRPr lang="en-US" sz="1250" dirty="0"/>
          </a:p>
        </p:txBody>
      </p:sp>
      <p:sp>
        <p:nvSpPr>
          <p:cNvPr id="30" name="Shape 28"/>
          <p:cNvSpPr/>
          <p:nvPr/>
        </p:nvSpPr>
        <p:spPr>
          <a:xfrm>
            <a:off x="6278728" y="3602736"/>
            <a:ext cx="5346040" cy="1051560"/>
          </a:xfrm>
          <a:prstGeom prst="roundRect">
            <a:avLst>
              <a:gd name="adj" fmla="val 7826"/>
            </a:avLst>
          </a:prstGeom>
          <a:solidFill>
            <a:srgbClr val="FBEEE0"/>
          </a:solidFill>
          <a:ln w="12700">
            <a:solidFill>
              <a:srgbClr val="FBEEE0"/>
            </a:solidFill>
            <a:prstDash val="solid"/>
          </a:ln>
        </p:spPr>
      </p:sp>
      <p:sp>
        <p:nvSpPr>
          <p:cNvPr id="31" name="Text 29"/>
          <p:cNvSpPr txBox="1"/>
          <p:nvPr/>
        </p:nvSpPr>
        <p:spPr>
          <a:xfrm>
            <a:off x="6553048" y="3602736"/>
            <a:ext cx="4797400" cy="1051560"/>
          </a:xfrm>
          <a:prstGeom prst="rect">
            <a:avLst/>
          </a:prstGeom>
          <a:noFill/>
          <a:ln/>
        </p:spPr>
        <p:txBody>
          <a:bodyPr wrap="square" lIns="0" tIns="0" rIns="0" bIns="0" rtlCol="0" anchor="ctr"/>
          <a:lstStyle/>
          <a:p>
            <a:pPr indent="0" marL="0">
              <a:lnSpc>
                <a:spcPct val="112000"/>
              </a:lnSpc>
              <a:buNone/>
            </a:pPr>
            <a:r>
              <a:rPr lang="en-US" sz="1250" b="1" dirty="0">
                <a:solidFill>
                  <a:srgbClr val="9A430A"/>
                </a:solidFill>
                <a:latin typeface="Calibri" pitchFamily="34" charset="0"/>
                <a:ea typeface="Calibri" pitchFamily="34" charset="-122"/>
                <a:cs typeface="Calibri" pitchFamily="34" charset="-120"/>
              </a:rPr>
              <a:t>Quiz 1 — Thursday 01.10.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Weeks 1, 2 and 3: setup, data types, selection, loops and methods. 10% of the course mark.</a:t>
            </a:r>
            <a:endParaRPr lang="en-US" sz="1250" dirty="0"/>
          </a:p>
        </p:txBody>
      </p:sp>
      <p:sp>
        <p:nvSpPr>
          <p:cNvPr id="32" name="Shape 30"/>
          <p:cNvSpPr/>
          <p:nvPr/>
        </p:nvSpPr>
        <p:spPr>
          <a:xfrm>
            <a:off x="6278728" y="4800600"/>
            <a:ext cx="5346040" cy="1051560"/>
          </a:xfrm>
          <a:prstGeom prst="roundRect">
            <a:avLst>
              <a:gd name="adj" fmla="val 7826"/>
            </a:avLst>
          </a:prstGeom>
          <a:solidFill>
            <a:srgbClr val="F1F5F9"/>
          </a:solidFill>
          <a:ln w="12700">
            <a:solidFill>
              <a:srgbClr val="F1F5F9"/>
            </a:solidFill>
            <a:prstDash val="solid"/>
          </a:ln>
        </p:spPr>
      </p:sp>
      <p:sp>
        <p:nvSpPr>
          <p:cNvPr id="33" name="Text 31"/>
          <p:cNvSpPr txBox="1"/>
          <p:nvPr/>
        </p:nvSpPr>
        <p:spPr>
          <a:xfrm>
            <a:off x="6553048" y="4800600"/>
            <a:ext cx="4797400" cy="1051560"/>
          </a:xfrm>
          <a:prstGeom prst="rect">
            <a:avLst/>
          </a:prstGeom>
          <a:noFill/>
          <a:ln/>
        </p:spPr>
        <p:txBody>
          <a:bodyPr wrap="square" lIns="0" tIns="0" rIns="0" bIns="0" rtlCol="0" anchor="ctr"/>
          <a:lstStyle/>
          <a:p>
            <a:pPr indent="0" marL="0">
              <a:lnSpc>
                <a:spcPct val="110000"/>
              </a:lnSpc>
              <a:buNone/>
            </a:pPr>
            <a:r>
              <a:rPr lang="en-US" sz="1250" b="1" dirty="0">
                <a:solidFill>
                  <a:srgbClr val="0F2942"/>
                </a:solidFill>
                <a:latin typeface="Calibri" pitchFamily="34" charset="0"/>
                <a:ea typeface="Calibri" pitchFamily="34" charset="-122"/>
                <a:cs typeface="Calibri" pitchFamily="34" charset="-120"/>
              </a:rPr>
              <a:t>Office hours:  </a:t>
            </a:r>
            <a:pPr indent="0" marL="0">
              <a:lnSpc>
                <a:spcPct val="110000"/>
              </a:lnSpc>
              <a:buNone/>
            </a:pPr>
            <a:r>
              <a:rPr lang="en-US" sz="1250" dirty="0">
                <a:solidFill>
                  <a:srgbClr val="3A536B"/>
                </a:solidFill>
                <a:latin typeface="Calibri" pitchFamily="34" charset="0"/>
                <a:ea typeface="Calibri" pitchFamily="34" charset="-122"/>
                <a:cs typeface="Calibri" pitchFamily="34" charset="-120"/>
              </a:rPr>
              <a:t>Tuesday and Thursday 15:00–17:30 in MB 253 — the best week of the semester to use them.</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EDF2F7"/>
        </a:solidFill>
      </p:bgPr>
    </p:bg>
    <p:spTree>
      <p:nvGrpSpPr>
        <p:cNvPr id="1" name=""/>
        <p:cNvGrpSpPr/>
        <p:nvPr/>
      </p:nvGrpSpPr>
      <p:grpSpPr>
        <a:xfrm>
          <a:off x="0" y="0"/>
          <a:ext cx="0" cy="0"/>
          <a:chOff x="0" y="0"/>
          <a:chExt cx="0" cy="0"/>
        </a:xfrm>
      </p:grpSpPr>
      <p:sp>
        <p:nvSpPr>
          <p:cNvPr id="2" name="Text 0"/>
          <p:cNvSpPr txBox="1"/>
          <p:nvPr/>
        </p:nvSpPr>
        <p:spPr>
          <a:xfrm>
            <a:off x="566928" y="2331720"/>
            <a:ext cx="7772400" cy="1005840"/>
          </a:xfrm>
          <a:prstGeom prst="rect">
            <a:avLst/>
          </a:prstGeom>
          <a:noFill/>
          <a:ln/>
        </p:spPr>
        <p:txBody>
          <a:bodyPr wrap="square" lIns="0" tIns="0" rIns="0" bIns="0" rtlCol="0" anchor="ctr"/>
          <a:lstStyle/>
          <a:p>
            <a:pPr indent="0" marL="0">
              <a:buNone/>
            </a:pPr>
            <a:r>
              <a:rPr lang="en-US" sz="5800" b="1" dirty="0">
                <a:solidFill>
                  <a:srgbClr val="0F2942"/>
                </a:solidFill>
                <a:latin typeface="Cambria" pitchFamily="34" charset="0"/>
                <a:ea typeface="Cambria" pitchFamily="34" charset="-122"/>
                <a:cs typeface="Cambria" pitchFamily="34" charset="-120"/>
              </a:rPr>
              <a:t>Questions?</a:t>
            </a:r>
            <a:endParaRPr lang="en-US" sz="5800" dirty="0"/>
          </a:p>
        </p:txBody>
      </p:sp>
      <p:sp>
        <p:nvSpPr>
          <p:cNvPr id="3" name="Text 1"/>
          <p:cNvSpPr txBox="1"/>
          <p:nvPr/>
        </p:nvSpPr>
        <p:spPr>
          <a:xfrm>
            <a:off x="566928" y="3383280"/>
            <a:ext cx="7772400" cy="402336"/>
          </a:xfrm>
          <a:prstGeom prst="rect">
            <a:avLst/>
          </a:prstGeom>
          <a:noFill/>
          <a:ln/>
        </p:spPr>
        <p:txBody>
          <a:bodyPr wrap="square" lIns="0" tIns="0" rIns="0" bIns="0" rtlCol="0" anchor="ctr"/>
          <a:lstStyle/>
          <a:p>
            <a:pPr indent="0" marL="0">
              <a:buNone/>
            </a:pPr>
            <a:r>
              <a:rPr lang="en-US" sz="1800" dirty="0">
                <a:solidFill>
                  <a:srgbClr val="9A430A"/>
                </a:solidFill>
                <a:latin typeface="Calibri" pitchFamily="34" charset="0"/>
                <a:ea typeface="Calibri" pitchFamily="34" charset="-122"/>
                <a:cs typeface="Calibri" pitchFamily="34" charset="-120"/>
              </a:rPr>
              <a:t>Thank you for your attention — see you on Tuesday.</a:t>
            </a:r>
            <a:endParaRPr lang="en-US" sz="1800" dirty="0"/>
          </a:p>
        </p:txBody>
      </p:sp>
      <p:sp>
        <p:nvSpPr>
          <p:cNvPr id="4" name="Text 2"/>
          <p:cNvSpPr txBox="1"/>
          <p:nvPr/>
        </p:nvSpPr>
        <p:spPr>
          <a:xfrm>
            <a:off x="566928" y="4206240"/>
            <a:ext cx="8229600" cy="1005840"/>
          </a:xfrm>
          <a:prstGeom prst="rect">
            <a:avLst/>
          </a:prstGeom>
          <a:noFill/>
          <a:ln/>
        </p:spPr>
        <p:txBody>
          <a:bodyPr wrap="square" lIns="0" tIns="0" rIns="0" bIns="0" rtlCol="0" anchor="ctr"/>
          <a:lstStyle/>
          <a:p>
            <a:pPr indent="0" marL="0">
              <a:lnSpc>
                <a:spcPct val="135000"/>
              </a:lnSpc>
              <a:buNone/>
            </a:pPr>
            <a:r>
              <a:rPr lang="en-US" sz="1350" b="1" dirty="0">
                <a:solidFill>
                  <a:srgbClr val="0F2942"/>
                </a:solidFill>
                <a:latin typeface="Calibri" pitchFamily="34" charset="0"/>
                <a:ea typeface="Calibri" pitchFamily="34" charset="-122"/>
                <a:cs typeface="Calibri" pitchFamily="34" charset="-120"/>
              </a:rPr>
              <a:t>Dr. Narasimha Rao Vajjhala</a:t>
            </a:r>
            <a:endParaRPr lang="en-US" sz="1350" dirty="0"/>
          </a:p>
          <a:p>
            <a:pPr indent="0" marL="0">
              <a:lnSpc>
                <a:spcPct val="135000"/>
              </a:lnSpc>
              <a:buNone/>
            </a:pPr>
            <a:r>
              <a:rPr lang="en-US" sz="1350" dirty="0">
                <a:solidFill>
                  <a:srgbClr val="3A536B"/>
                </a:solidFill>
                <a:latin typeface="Calibri" pitchFamily="34" charset="0"/>
                <a:ea typeface="Calibri" pitchFamily="34" charset="-122"/>
                <a:cs typeface="Calibri" pitchFamily="34" charset="-120"/>
              </a:rPr>
              <a:t>nrao@aubg.edu  ·  Office MB 253  ·  Office hours Tue &amp; Thu 15:00–17:30</a:t>
            </a:r>
            <a:endParaRPr lang="en-US" sz="1350" dirty="0"/>
          </a:p>
          <a:p>
            <a:pPr indent="0" marL="0">
              <a:lnSpc>
                <a:spcPct val="135000"/>
              </a:lnSpc>
              <a:buNone/>
            </a:pPr>
            <a:r>
              <a:rPr lang="en-US" sz="1350" dirty="0">
                <a:solidFill>
                  <a:srgbClr val="3A536B"/>
                </a:solidFill>
                <a:latin typeface="Calibri" pitchFamily="34" charset="0"/>
                <a:ea typeface="Calibri" pitchFamily="34" charset="-122"/>
                <a:cs typeface="Calibri" pitchFamily="34" charset="-120"/>
              </a:rPr>
              <a:t>Slides, recordings and the syllabus: aubg.instructure.com</a:t>
            </a:r>
            <a:endParaRPr lang="en-US" sz="1350" dirty="0"/>
          </a:p>
        </p:txBody>
      </p:sp>
      <p:sp>
        <p:nvSpPr>
          <p:cNvPr id="5" name="Text 3"/>
          <p:cNvSpPr txBox="1"/>
          <p:nvPr/>
        </p:nvSpPr>
        <p:spPr>
          <a:xfrm>
            <a:off x="7601407" y="2377440"/>
            <a:ext cx="4023360" cy="822960"/>
          </a:xfrm>
          <a:prstGeom prst="rect">
            <a:avLst/>
          </a:prstGeom>
          <a:noFill/>
          <a:ln/>
        </p:spPr>
        <p:txBody>
          <a:bodyPr wrap="square" lIns="0" tIns="0" rIns="0" bIns="0" rtlCol="0" anchor="ctr"/>
          <a:lstStyle/>
          <a:p>
            <a:pPr algn="r" indent="0" marL="0">
              <a:buNone/>
            </a:pPr>
            <a:r>
              <a:rPr lang="en-US" sz="4000" b="1" dirty="0">
                <a:solidFill>
                  <a:srgbClr val="5E778C"/>
                </a:solidFill>
                <a:latin typeface="Cambria" pitchFamily="34" charset="0"/>
                <a:ea typeface="Cambria" pitchFamily="34" charset="-122"/>
                <a:cs typeface="Cambria" pitchFamily="34" charset="-120"/>
              </a:rPr>
              <a:t>COS 2030</a:t>
            </a:r>
            <a:endParaRPr lang="en-US" sz="4000" dirty="0"/>
          </a:p>
        </p:txBody>
      </p:sp>
      <p:sp>
        <p:nvSpPr>
          <p:cNvPr id="6" name="Text 4"/>
          <p:cNvSpPr txBox="1"/>
          <p:nvPr/>
        </p:nvSpPr>
        <p:spPr>
          <a:xfrm>
            <a:off x="7601407" y="3200400"/>
            <a:ext cx="4023360" cy="731520"/>
          </a:xfrm>
          <a:prstGeom prst="rect">
            <a:avLst/>
          </a:prstGeom>
          <a:noFill/>
          <a:ln/>
        </p:spPr>
        <p:txBody>
          <a:bodyPr wrap="square" lIns="0" tIns="0" rIns="0" bIns="0" rtlCol="0" anchor="ctr"/>
          <a:lstStyle/>
          <a:p>
            <a:pPr algn="r" indent="0" marL="0">
              <a:lnSpc>
                <a:spcPct val="120000"/>
              </a:lnSpc>
              <a:buNone/>
            </a:pPr>
            <a:r>
              <a:rPr lang="en-US" sz="1300" dirty="0">
                <a:solidFill>
                  <a:srgbClr val="4B6377"/>
                </a:solidFill>
                <a:latin typeface="Calibri" pitchFamily="34" charset="0"/>
                <a:ea typeface="Calibri" pitchFamily="34" charset="-122"/>
                <a:cs typeface="Calibri" pitchFamily="34" charset="-120"/>
              </a:rPr>
              <a:t>Methods</a:t>
            </a:r>
            <a:endParaRPr lang="en-US" sz="1300" dirty="0"/>
          </a:p>
          <a:p>
            <a:pPr algn="r" indent="0" marL="0">
              <a:lnSpc>
                <a:spcPct val="120000"/>
              </a:lnSpc>
              <a:buNone/>
            </a:pPr>
            <a:r>
              <a:rPr lang="en-US" sz="1300" dirty="0">
                <a:solidFill>
                  <a:srgbClr val="4B6377"/>
                </a:solidFill>
                <a:latin typeface="Calibri" pitchFamily="34" charset="0"/>
                <a:ea typeface="Calibri" pitchFamily="34" charset="-122"/>
                <a:cs typeface="Calibri" pitchFamily="34" charset="-120"/>
              </a:rPr>
              <a:t>Fall 2026 · Lecture 5</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American University in Bulgaria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 2030 - Basics in Java Programming - Lecture 5</dc:title>
  <dc:subject>PptxGenJS Presentation</dc:subject>
  <dc:creator>Dr. Narasimha Rao Vajjhala</dc:creator>
  <cp:lastModifiedBy>Dr. Narasimha Rao Vajjhala</cp:lastModifiedBy>
  <cp:revision>1</cp:revision>
  <dcterms:created xsi:type="dcterms:W3CDTF">2026-09-11T09:07:11Z</dcterms:created>
  <dcterms:modified xsi:type="dcterms:W3CDTF">2026-09-11T09:07:11Z</dcterms:modified>
</cp:coreProperties>
</file>