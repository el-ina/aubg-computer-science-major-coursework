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1 is on Thursday and covers Weeks 1-3 — not today's material. Say so early, or half the room will spend the lecture worrying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100 to 1000 in the right-hand version and exactly one character changes. That is the argument, and it is worth making before any syntax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shown in each cell is the default, which the next slide covers. Stress the split between the reference and the array itself — everything surprising about arrays later today follows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default in the table was verified by printing a new array of that type. The zero-filling point matters for the summing idiom later — no initialisation pass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error message was produced by compiling the split version. The new double[]{...} form is the anonymous array from later in the lecture, met here for the first time — worth flagging so it is not a surprise on slide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deck animated this across sixteen frames. Every row of this table was produced by running the program. Worth pausing on the last row: values[1] is 1 and values[4] is 10, so values[0] becomes 11 — and the 0 it replaces was never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exception text is the real JDK message, produced by running the code. The Python comparison is worth making — several of them will have seen negative indexing there and expect it to work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Declaring creates only the variable, which holds a reference and is initially null. Creating — with new, or with an initialiser — builds the array itself and makes the variable refer to it. Using the variable in between gives a NullPointerException. Q2: It prints '5 0'. list[2] holds 0, because every element of a new int array is filled with the type's default value. Unlike a local variable, an array element never needs to be assigned before it is read. Q3: Because length is a field of the array object, not a method, so there is nothing to call. String.length() is a real method. The distinction is arbitrary and historical — you simply have to remember it, and the compiler will tell you when you get it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negative-numbers trap in the last sentence is worth two minutes: initialise max to list[0], never to 0 and never to a made-up 'very small' constant. Ask what happens with {-5, -2, -9} if max starts at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slide said 'JDK 1.5 introduced' — that naming was retired in 2004 and nobody says it now. The doubling trap is the examinable point; run it live so they see the array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shuffle shown is the naive version, which does not produce a perfectly uniform permutation. The Fisher-Yates fix is to pick j from 0..i rather than 0..length-1 — mention it only if someone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was produced by running the program with those six values. Asking the user for n rather than hard-coding 100 is a small improvement on the textbook version and costs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slide wrote the signature as arraycopy(...) without the System. prefix, which does not compile. It is a static method of System, and it is the fastest of the three because it is implemented natively.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behaviours in the red and orange cards were verified by running them. binarySearch on an unsorted array returns a meaningless answer rather than an error — worth saying, because it is a silent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Because the array may contain only negative numbers. With {-5, -2, -9}, starting max at 0 gives the answer 0 — a value that is not in the array at all. Taking list[0] as the answer so far is always safe and needs no assumption about the data. Q2: It prints 99. The assignment b = a copies the reference, not the array, so a and b refer to the same array — changing it through b changes what a sees. To copy, use Arrays.copyOf(a, a.length). Q3: Any of: change the elements (the loop variable is a copy); walk backwards or in steps; know the current index; or work with two arrays in step. The enhanced for gives you the values and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was produced by running it. Anonymous arrays come back in the varargs slide, where Java builds one for you behind the scenes.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printed values were produced by running the program. This is the slide Thursday's lecture promised. If a student says 'so arrays are pass by reference', correct it gently: the reference is passed by value — which is why m could not make y point at a different array.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deck traced this across twenty-two animation frames. The table is the trace, and every row was produced by running the method. Returning a new array rather than modifying the argument is the safer habit —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call results were verified by running them, including sum() returning 0. Varargs is Java 5, the same release as the enhanced for — both were added to make the language less tedious.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runs were verified. The switch expression is Tuesday-of-last-week's material doing real work — point that out. The shell-expansion explanation for the . operator is in the textbook but never explained there; it is worth the ten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Both parameters are copies. number is a copy of an int, so reassigning it affects nothing outside. numbers is a copy of a reference, and following that copy leads to the very same array on the heap — so writing through it is visible to the caller. Java is pass by value in both cases; what differs is what the value is. Q2: It prints 'alpha 2'. args[0] is the first argument after the class name — the class name itself is not in the array, unlike in C. Q3: It must be the last parameter, and there may be at most one. Otherwise the compiler could not tell where the variable-length part ended and the next parameter began.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array[1][2] being 6 was verified by running it. The 'array of arrays' framing is the single most useful sentence on this slide — everything about ragged arrays and about matrix[row].length follows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row lengths 2, 3 and 1 were verified by running the code. Ragged arrays are rare in practice but the reason they exist — rows are separate objects — is what makes the whole model coherent.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loop variables row and column rather than i and j in two dimensions — it removes an entire category of mistake. deepToString on {{1,2,3},{4,5,6},{7,8,9}} gives [[1, 2, 3], [4, 5, 6], [7, 8, 9]], verified by running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scores were produced by running this code with these exact arrays. The scope point in the blue card is Lecture 5's scope rule doing real work — move the declaration out and ask what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write out hasAllNine, row, column and box on the slide — ask the class how they would write hasAllNine given a nine-element array. The usual answer, a boolean[10] of seen flags, is a good use of default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short — two minutes. The examinable content is that the pattern generalises; the practical advice is that it rarely should past two dimensions. The forward reference to classes is worth making, because it is the honest answer to 'what do I do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m.length is the number of rows. m[0].length is the length of row zero — not "the number of columns", because rows need not all be the same length. In a ragged array, using m[0].length as the inner loop bound either skips elements or throws. Use m[row].length. Q2: It prints '3 2 5'. The array has three rows; row 1 is {4, 5} so its length is 2; and a[1][1] is the second element of that row, which is 5. Q3: Because a 2-D array's elements are themselves arrays, and toString calls the default toString on each one — so you get row addresses like [I@2f92e0f4 rather than contents. Arrays.deepToString recurses into the rows and prints [[1, 2, 3], [4, 5],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3 is the CountLettersInArray program from the textbook. The 'ch' - 'a' trick is Lecture 2's char arithmetic and Lecture 5's RandomCharacter meeting the tally idiom — worth pointing out as the exercise that pulls three weeks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F2F7"/>
        </a:solidFill>
      </p:bgPr>
    </p:bg>
    <p:spTree>
      <p:nvGrpSpPr>
        <p:cNvPr id="1" name=""/>
        <p:cNvGrpSpPr/>
        <p:nvPr/>
      </p:nvGrpSpPr>
      <p:grpSpPr>
        <a:xfrm>
          <a:off x="0" y="0"/>
          <a:ext cx="0" cy="0"/>
          <a:chOff x="0" y="0"/>
          <a:chExt cx="0" cy="0"/>
        </a:xfrm>
      </p:grpSpPr>
      <p:sp>
        <p:nvSpPr>
          <p:cNvPr id="2" name="Shape 0"/>
          <p:cNvSpPr/>
          <p:nvPr/>
        </p:nvSpPr>
        <p:spPr>
          <a:xfrm>
            <a:off x="566928" y="1417320"/>
            <a:ext cx="566928" cy="566928"/>
          </a:xfrm>
          <a:prstGeom prst="roundRect">
            <a:avLst>
              <a:gd name="adj" fmla="val 16129"/>
            </a:avLst>
          </a:prstGeom>
          <a:solidFill>
            <a:srgbClr val="C4560C"/>
          </a:solidFill>
          <a:ln w="12700">
            <a:solidFill>
              <a:srgbClr val="C4560C"/>
            </a:solidFill>
            <a:prstDash val="solid"/>
          </a:ln>
        </p:spPr>
      </p:sp>
      <p:sp>
        <p:nvSpPr>
          <p:cNvPr id="3" name="Text 1"/>
          <p:cNvSpPr txBox="1"/>
          <p:nvPr/>
        </p:nvSpPr>
        <p:spPr>
          <a:xfrm>
            <a:off x="566928" y="1417320"/>
            <a:ext cx="566928" cy="566928"/>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J</a:t>
            </a:r>
            <a:endParaRPr lang="en-US" sz="3000" dirty="0"/>
          </a:p>
        </p:txBody>
      </p:sp>
      <p:sp>
        <p:nvSpPr>
          <p:cNvPr id="4" name="Text 2"/>
          <p:cNvSpPr txBox="1"/>
          <p:nvPr/>
        </p:nvSpPr>
        <p:spPr>
          <a:xfrm>
            <a:off x="566928" y="822960"/>
            <a:ext cx="11057839" cy="256032"/>
          </a:xfrm>
          <a:prstGeom prst="rect">
            <a:avLst/>
          </a:prstGeom>
          <a:noFill/>
          <a:ln/>
        </p:spPr>
        <p:txBody>
          <a:bodyPr wrap="square" lIns="0" tIns="0" rIns="0" bIns="0" rtlCol="0" anchor="ctr"/>
          <a:lstStyle/>
          <a:p>
            <a:pPr indent="0" marL="0">
              <a:buNone/>
            </a:pPr>
            <a:r>
              <a:rPr lang="en-US" sz="1100" b="1" spc="180" kern="0" dirty="0">
                <a:solidFill>
                  <a:srgbClr val="9A430A"/>
                </a:solidFill>
                <a:latin typeface="Calibri" pitchFamily="34" charset="0"/>
                <a:ea typeface="Calibri" pitchFamily="34" charset="-122"/>
                <a:cs typeface="Calibri" pitchFamily="34" charset="-120"/>
              </a:rPr>
              <a:t>AMERICAN UNIVERSITY IN BULGARIA  ·  DEPARTMENT OF COMPUTER SCIENCE</a:t>
            </a:r>
            <a:endParaRPr lang="en-US" sz="1100" dirty="0"/>
          </a:p>
        </p:txBody>
      </p:sp>
      <p:sp>
        <p:nvSpPr>
          <p:cNvPr id="5" name="Text 3"/>
          <p:cNvSpPr txBox="1"/>
          <p:nvPr/>
        </p:nvSpPr>
        <p:spPr>
          <a:xfrm>
            <a:off x="566928" y="2212848"/>
            <a:ext cx="11057839" cy="713232"/>
          </a:xfrm>
          <a:prstGeom prst="rect">
            <a:avLst/>
          </a:prstGeom>
          <a:noFill/>
          <a:ln/>
        </p:spPr>
        <p:txBody>
          <a:bodyPr wrap="square" lIns="0" tIns="0" rIns="0" bIns="0" rtlCol="0" anchor="ctr"/>
          <a:lstStyle/>
          <a:p>
            <a:pPr indent="0" marL="0">
              <a:buNone/>
            </a:pPr>
            <a:r>
              <a:rPr lang="en-US" sz="5800" b="1" dirty="0">
                <a:solidFill>
                  <a:srgbClr val="0F2942"/>
                </a:solidFill>
                <a:latin typeface="Cambria" pitchFamily="34" charset="0"/>
                <a:ea typeface="Cambria" pitchFamily="34" charset="-122"/>
                <a:cs typeface="Cambria" pitchFamily="34" charset="-120"/>
              </a:rPr>
              <a:t>COS 2030</a:t>
            </a:r>
            <a:endParaRPr lang="en-US" sz="5800" dirty="0"/>
          </a:p>
        </p:txBody>
      </p:sp>
      <p:sp>
        <p:nvSpPr>
          <p:cNvPr id="6" name="Text 4"/>
          <p:cNvSpPr txBox="1"/>
          <p:nvPr/>
        </p:nvSpPr>
        <p:spPr>
          <a:xfrm>
            <a:off x="566928" y="2944368"/>
            <a:ext cx="11057839" cy="566928"/>
          </a:xfrm>
          <a:prstGeom prst="rect">
            <a:avLst/>
          </a:prstGeom>
          <a:noFill/>
          <a:ln/>
        </p:spPr>
        <p:txBody>
          <a:bodyPr wrap="square" lIns="0" tIns="0" rIns="0" bIns="0" rtlCol="0" anchor="ctr"/>
          <a:lstStyle/>
          <a:p>
            <a:pPr indent="0" marL="0">
              <a:buNone/>
            </a:pPr>
            <a:r>
              <a:rPr lang="en-US" sz="3400" dirty="0">
                <a:solidFill>
                  <a:srgbClr val="3A536B"/>
                </a:solidFill>
                <a:latin typeface="Cambria" pitchFamily="34" charset="0"/>
                <a:ea typeface="Cambria" pitchFamily="34" charset="-122"/>
                <a:cs typeface="Cambria" pitchFamily="34" charset="-120"/>
              </a:rPr>
              <a:t>Arrays</a:t>
            </a:r>
            <a:endParaRPr lang="en-US" sz="3400" dirty="0"/>
          </a:p>
        </p:txBody>
      </p:sp>
      <p:sp>
        <p:nvSpPr>
          <p:cNvPr id="7" name="Text 5"/>
          <p:cNvSpPr txBox="1"/>
          <p:nvPr/>
        </p:nvSpPr>
        <p:spPr>
          <a:xfrm>
            <a:off x="566928" y="3703320"/>
            <a:ext cx="11057839" cy="310896"/>
          </a:xfrm>
          <a:prstGeom prst="rect">
            <a:avLst/>
          </a:prstGeom>
          <a:noFill/>
          <a:ln/>
        </p:spPr>
        <p:txBody>
          <a:bodyPr wrap="square" lIns="0" tIns="0" rIns="0" bIns="0" rtlCol="0" anchor="ctr"/>
          <a:lstStyle/>
          <a:p>
            <a:pPr indent="0" marL="0">
              <a:buNone/>
            </a:pPr>
            <a:r>
              <a:rPr lang="en-US" sz="1600" dirty="0">
                <a:solidFill>
                  <a:srgbClr val="9A430A"/>
                </a:solidFill>
                <a:latin typeface="Calibri" pitchFamily="34" charset="0"/>
                <a:ea typeface="Calibri" pitchFamily="34" charset="-122"/>
                <a:cs typeface="Calibri" pitchFamily="34" charset="-120"/>
              </a:rPr>
              <a:t>Lecture 6  ·  Declaration, initialisation, traversal, and two dimensions</a:t>
            </a:r>
            <a:endParaRPr lang="en-US" sz="1600" dirty="0"/>
          </a:p>
        </p:txBody>
      </p:sp>
      <p:sp>
        <p:nvSpPr>
          <p:cNvPr id="8" name="Text 6"/>
          <p:cNvSpPr txBox="1"/>
          <p:nvPr/>
        </p:nvSpPr>
        <p:spPr>
          <a:xfrm>
            <a:off x="566928" y="5074920"/>
            <a:ext cx="7315200" cy="640080"/>
          </a:xfrm>
          <a:prstGeom prst="rect">
            <a:avLst/>
          </a:prstGeom>
          <a:noFill/>
          <a:ln/>
        </p:spPr>
        <p:txBody>
          <a:bodyPr wrap="square" lIns="0" tIns="0" rIns="0" bIns="0" rtlCol="0" anchor="ctr"/>
          <a:lstStyle/>
          <a:p>
            <a:pPr indent="0" marL="0">
              <a:lnSpc>
                <a:spcPct val="125000"/>
              </a:lnSpc>
              <a:buNone/>
            </a:pPr>
            <a:r>
              <a:rPr lang="en-US" sz="1400" b="1" dirty="0">
                <a:solidFill>
                  <a:srgbClr val="0F2942"/>
                </a:solidFill>
                <a:latin typeface="Calibri" pitchFamily="34" charset="0"/>
                <a:ea typeface="Calibri" pitchFamily="34" charset="-122"/>
                <a:cs typeface="Calibri" pitchFamily="34" charset="-120"/>
              </a:rPr>
              <a:t>Dr. Narasimha Rao Vajjhala</a:t>
            </a:r>
            <a:endParaRPr lang="en-US" sz="1400" dirty="0"/>
          </a:p>
          <a:p>
            <a:pPr indent="0" marL="0">
              <a:lnSpc>
                <a:spcPct val="125000"/>
              </a:lnSpc>
              <a:buNone/>
            </a:pPr>
            <a:r>
              <a:rPr lang="en-US" sz="1400" dirty="0">
                <a:solidFill>
                  <a:srgbClr val="3A536B"/>
                </a:solidFill>
                <a:latin typeface="Calibri" pitchFamily="34" charset="0"/>
                <a:ea typeface="Calibri" pitchFamily="34" charset="-122"/>
                <a:cs typeface="Calibri" pitchFamily="34" charset="-120"/>
              </a:rPr>
              <a:t>Tuesday 29 September 2026  ·  17:45–19:05  ·  Room MB 2</a:t>
            </a:r>
            <a:endParaRPr lang="en-US" sz="1400" dirty="0"/>
          </a:p>
        </p:txBody>
      </p:sp>
      <p:sp>
        <p:nvSpPr>
          <p:cNvPr id="9" name="Text 7"/>
          <p:cNvSpPr txBox="1"/>
          <p:nvPr/>
        </p:nvSpPr>
        <p:spPr>
          <a:xfrm>
            <a:off x="7967167" y="5074920"/>
            <a:ext cx="3657600" cy="310896"/>
          </a:xfrm>
          <a:prstGeom prst="rect">
            <a:avLst/>
          </a:prstGeom>
          <a:noFill/>
          <a:ln/>
        </p:spPr>
        <p:txBody>
          <a:bodyPr wrap="square" lIns="0" tIns="0" rIns="0" bIns="0" rtlCol="0" anchor="ctr"/>
          <a:lstStyle/>
          <a:p>
            <a:pPr algn="r" indent="0" marL="0">
              <a:buNone/>
            </a:pPr>
            <a:r>
              <a:rPr lang="en-US" sz="1300" dirty="0">
                <a:solidFill>
                  <a:srgbClr val="4B6377"/>
                </a:solidFill>
                <a:latin typeface="Calibri" pitchFamily="34" charset="0"/>
                <a:ea typeface="Calibri" pitchFamily="34" charset="-122"/>
                <a:cs typeface="Calibri" pitchFamily="34" charset="-120"/>
              </a:rPr>
              <a:t>Week 4, session 1 of 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LECTURE 6</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How We Will Spend the Next 75 Minutes</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66928" y="1353312"/>
            <a:ext cx="11057839" cy="713232"/>
          </a:xfrm>
          <a:prstGeom prst="roundRect">
            <a:avLst>
              <a:gd name="adj" fmla="val 11538"/>
            </a:avLst>
          </a:prstGeom>
          <a:solidFill>
            <a:srgbClr val="F1F5F9"/>
          </a:solidFill>
          <a:ln w="12700">
            <a:solidFill>
              <a:srgbClr val="F1F5F9"/>
            </a:solidFill>
            <a:prstDash val="solid"/>
          </a:ln>
        </p:spPr>
      </p:sp>
      <p:sp>
        <p:nvSpPr>
          <p:cNvPr id="7" name="Text 5"/>
          <p:cNvSpPr txBox="1"/>
          <p:nvPr/>
        </p:nvSpPr>
        <p:spPr>
          <a:xfrm>
            <a:off x="804672" y="1408176"/>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00–16 min</a:t>
            </a:r>
            <a:endParaRPr lang="en-US" sz="1300" dirty="0"/>
          </a:p>
        </p:txBody>
      </p:sp>
      <p:sp>
        <p:nvSpPr>
          <p:cNvPr id="8" name="Text 6"/>
          <p:cNvSpPr txBox="1"/>
          <p:nvPr/>
        </p:nvSpPr>
        <p:spPr>
          <a:xfrm>
            <a:off x="2121408" y="1408176"/>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One variable, many values</a:t>
            </a:r>
            <a:endParaRPr lang="en-US" sz="1450" dirty="0"/>
          </a:p>
        </p:txBody>
      </p:sp>
      <p:sp>
        <p:nvSpPr>
          <p:cNvPr id="9" name="Text 7"/>
          <p:cNvSpPr txBox="1"/>
          <p:nvPr/>
        </p:nvSpPr>
        <p:spPr>
          <a:xfrm>
            <a:off x="6784848" y="1408176"/>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Declaring, creating, indexing, and the error everyone meets</a:t>
            </a:r>
            <a:endParaRPr lang="en-US" sz="1250" dirty="0"/>
          </a:p>
        </p:txBody>
      </p:sp>
      <p:sp>
        <p:nvSpPr>
          <p:cNvPr id="10" name="Shape 8"/>
          <p:cNvSpPr/>
          <p:nvPr/>
        </p:nvSpPr>
        <p:spPr>
          <a:xfrm>
            <a:off x="566928" y="2139696"/>
            <a:ext cx="11057839" cy="713232"/>
          </a:xfrm>
          <a:prstGeom prst="roundRect">
            <a:avLst>
              <a:gd name="adj" fmla="val 11538"/>
            </a:avLst>
          </a:prstGeom>
          <a:solidFill>
            <a:srgbClr val="FFFFFF"/>
          </a:solidFill>
          <a:ln w="12700">
            <a:solidFill>
              <a:srgbClr val="D3DEE7"/>
            </a:solidFill>
            <a:prstDash val="solid"/>
          </a:ln>
        </p:spPr>
      </p:sp>
      <p:sp>
        <p:nvSpPr>
          <p:cNvPr id="11" name="Text 9"/>
          <p:cNvSpPr txBox="1"/>
          <p:nvPr/>
        </p:nvSpPr>
        <p:spPr>
          <a:xfrm>
            <a:off x="804672" y="2194560"/>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16–34 min</a:t>
            </a:r>
            <a:endParaRPr lang="en-US" sz="1300" dirty="0"/>
          </a:p>
        </p:txBody>
      </p:sp>
      <p:sp>
        <p:nvSpPr>
          <p:cNvPr id="12" name="Text 10"/>
          <p:cNvSpPr txBox="1"/>
          <p:nvPr/>
        </p:nvSpPr>
        <p:spPr>
          <a:xfrm>
            <a:off x="2121408" y="2194560"/>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Processing an array</a:t>
            </a:r>
            <a:endParaRPr lang="en-US" sz="1450" dirty="0"/>
          </a:p>
        </p:txBody>
      </p:sp>
      <p:sp>
        <p:nvSpPr>
          <p:cNvPr id="13" name="Text 11"/>
          <p:cNvSpPr txBox="1"/>
          <p:nvPr/>
        </p:nvSpPr>
        <p:spPr>
          <a:xfrm>
            <a:off x="6784848" y="2194560"/>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The six idioms, the enhanced for, copying, java.util.Arrays</a:t>
            </a:r>
            <a:endParaRPr lang="en-US" sz="1250" dirty="0"/>
          </a:p>
        </p:txBody>
      </p:sp>
      <p:sp>
        <p:nvSpPr>
          <p:cNvPr id="14" name="Shape 12"/>
          <p:cNvSpPr/>
          <p:nvPr/>
        </p:nvSpPr>
        <p:spPr>
          <a:xfrm>
            <a:off x="566928" y="2926080"/>
            <a:ext cx="11057839" cy="713232"/>
          </a:xfrm>
          <a:prstGeom prst="roundRect">
            <a:avLst>
              <a:gd name="adj" fmla="val 11538"/>
            </a:avLst>
          </a:prstGeom>
          <a:solidFill>
            <a:srgbClr val="F1F5F9"/>
          </a:solidFill>
          <a:ln w="12700">
            <a:solidFill>
              <a:srgbClr val="F1F5F9"/>
            </a:solidFill>
            <a:prstDash val="solid"/>
          </a:ln>
        </p:spPr>
      </p:sp>
      <p:sp>
        <p:nvSpPr>
          <p:cNvPr id="15" name="Text 13"/>
          <p:cNvSpPr txBox="1"/>
          <p:nvPr/>
        </p:nvSpPr>
        <p:spPr>
          <a:xfrm>
            <a:off x="804672" y="2980944"/>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34–50 min</a:t>
            </a:r>
            <a:endParaRPr lang="en-US" sz="1300" dirty="0"/>
          </a:p>
        </p:txBody>
      </p:sp>
      <p:sp>
        <p:nvSpPr>
          <p:cNvPr id="16" name="Text 14"/>
          <p:cNvSpPr txBox="1"/>
          <p:nvPr/>
        </p:nvSpPr>
        <p:spPr>
          <a:xfrm>
            <a:off x="2121408" y="2980944"/>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Arrays and methods</a:t>
            </a:r>
            <a:endParaRPr lang="en-US" sz="1450" dirty="0"/>
          </a:p>
        </p:txBody>
      </p:sp>
      <p:sp>
        <p:nvSpPr>
          <p:cNvPr id="17" name="Text 15"/>
          <p:cNvSpPr txBox="1"/>
          <p:nvPr/>
        </p:nvSpPr>
        <p:spPr>
          <a:xfrm>
            <a:off x="6784848" y="2980944"/>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Passing them in, returning them out, and why they behave differently</a:t>
            </a:r>
            <a:endParaRPr lang="en-US" sz="1250" dirty="0"/>
          </a:p>
        </p:txBody>
      </p:sp>
      <p:sp>
        <p:nvSpPr>
          <p:cNvPr id="18" name="Shape 16"/>
          <p:cNvSpPr/>
          <p:nvPr/>
        </p:nvSpPr>
        <p:spPr>
          <a:xfrm>
            <a:off x="566928" y="3712464"/>
            <a:ext cx="11057839" cy="713232"/>
          </a:xfrm>
          <a:prstGeom prst="roundRect">
            <a:avLst>
              <a:gd name="adj" fmla="val 11538"/>
            </a:avLst>
          </a:prstGeom>
          <a:solidFill>
            <a:srgbClr val="FFFFFF"/>
          </a:solidFill>
          <a:ln w="12700">
            <a:solidFill>
              <a:srgbClr val="D3DEE7"/>
            </a:solidFill>
            <a:prstDash val="solid"/>
          </a:ln>
        </p:spPr>
      </p:sp>
      <p:sp>
        <p:nvSpPr>
          <p:cNvPr id="19" name="Text 17"/>
          <p:cNvSpPr txBox="1"/>
          <p:nvPr/>
        </p:nvSpPr>
        <p:spPr>
          <a:xfrm>
            <a:off x="804672" y="3767328"/>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50–68 min</a:t>
            </a:r>
            <a:endParaRPr lang="en-US" sz="1300" dirty="0"/>
          </a:p>
        </p:txBody>
      </p:sp>
      <p:sp>
        <p:nvSpPr>
          <p:cNvPr id="20" name="Text 18"/>
          <p:cNvSpPr txBox="1"/>
          <p:nvPr/>
        </p:nvSpPr>
        <p:spPr>
          <a:xfrm>
            <a:off x="2121408" y="3767328"/>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Two dimensions</a:t>
            </a:r>
            <a:endParaRPr lang="en-US" sz="1450" dirty="0"/>
          </a:p>
        </p:txBody>
      </p:sp>
      <p:sp>
        <p:nvSpPr>
          <p:cNvPr id="21" name="Text 19"/>
          <p:cNvSpPr txBox="1"/>
          <p:nvPr/>
        </p:nvSpPr>
        <p:spPr>
          <a:xfrm>
            <a:off x="6784848" y="3767328"/>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Rows and columns, ragged arrays, and a Sudoku checker</a:t>
            </a:r>
            <a:endParaRPr lang="en-US" sz="1250" dirty="0"/>
          </a:p>
        </p:txBody>
      </p:sp>
      <p:sp>
        <p:nvSpPr>
          <p:cNvPr id="22" name="Shape 20"/>
          <p:cNvSpPr/>
          <p:nvPr/>
        </p:nvSpPr>
        <p:spPr>
          <a:xfrm>
            <a:off x="566928" y="4498848"/>
            <a:ext cx="11057839" cy="713232"/>
          </a:xfrm>
          <a:prstGeom prst="roundRect">
            <a:avLst>
              <a:gd name="adj" fmla="val 11538"/>
            </a:avLst>
          </a:prstGeom>
          <a:solidFill>
            <a:srgbClr val="F1F5F9"/>
          </a:solidFill>
          <a:ln w="12700">
            <a:solidFill>
              <a:srgbClr val="F1F5F9"/>
            </a:solidFill>
            <a:prstDash val="solid"/>
          </a:ln>
        </p:spPr>
      </p:sp>
      <p:sp>
        <p:nvSpPr>
          <p:cNvPr id="23" name="Text 21"/>
          <p:cNvSpPr txBox="1"/>
          <p:nvPr/>
        </p:nvSpPr>
        <p:spPr>
          <a:xfrm>
            <a:off x="804672" y="4553712"/>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68–75 min</a:t>
            </a:r>
            <a:endParaRPr lang="en-US" sz="1300" dirty="0"/>
          </a:p>
        </p:txBody>
      </p:sp>
      <p:sp>
        <p:nvSpPr>
          <p:cNvPr id="24" name="Text 22"/>
          <p:cNvSpPr txBox="1"/>
          <p:nvPr/>
        </p:nvSpPr>
        <p:spPr>
          <a:xfrm>
            <a:off x="2121408" y="4553712"/>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Practice and questions</a:t>
            </a:r>
            <a:endParaRPr lang="en-US" sz="1450" dirty="0"/>
          </a:p>
        </p:txBody>
      </p:sp>
      <p:sp>
        <p:nvSpPr>
          <p:cNvPr id="25" name="Text 23"/>
          <p:cNvSpPr txBox="1"/>
          <p:nvPr/>
        </p:nvSpPr>
        <p:spPr>
          <a:xfrm>
            <a:off x="6784848" y="4553712"/>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Five problems, and what to bring to Thursday's quiz</a:t>
            </a:r>
            <a:endParaRPr lang="en-US" sz="1250" dirty="0"/>
          </a:p>
        </p:txBody>
      </p:sp>
      <p:sp>
        <p:nvSpPr>
          <p:cNvPr id="26" name="Text 24"/>
          <p:cNvSpPr txBox="1"/>
          <p:nvPr/>
        </p:nvSpPr>
        <p:spPr>
          <a:xfrm>
            <a:off x="566928" y="5394960"/>
            <a:ext cx="11057839" cy="274320"/>
          </a:xfrm>
          <a:prstGeom prst="rect">
            <a:avLst/>
          </a:prstGeom>
          <a:noFill/>
          <a:ln/>
        </p:spPr>
        <p:txBody>
          <a:bodyPr wrap="square" lIns="0" tIns="0" rIns="0" bIns="0" rtlCol="0" anchor="ctr"/>
          <a:lstStyle/>
          <a:p>
            <a:pPr indent="0" marL="0">
              <a:buNone/>
            </a:pPr>
            <a:r>
              <a:rPr lang="en-US" sz="1300" i="1" dirty="0">
                <a:solidFill>
                  <a:srgbClr val="9A430A"/>
                </a:solidFill>
                <a:latin typeface="Calibri" pitchFamily="34" charset="0"/>
                <a:ea typeface="Calibri" pitchFamily="34" charset="-122"/>
                <a:cs typeface="Calibri" pitchFamily="34" charset="-120"/>
              </a:rPr>
              <a:t>Four short checkpoints are built into the slides — I will ask, you answer.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CHAPTERS 7 AND 8</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What You Will Be Able to Do by 19:05</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Liang, Introduction to Java Programming, 13th edition — Chapter 7 (single-dimensional) and Chapter 8 (multi-dimensional).</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566928" y="1581912"/>
            <a:ext cx="2613584" cy="3977640"/>
          </a:xfrm>
          <a:prstGeom prst="roundRect">
            <a:avLst>
              <a:gd name="adj" fmla="val 3149"/>
            </a:avLst>
          </a:prstGeom>
          <a:solidFill>
            <a:srgbClr val="F1F5F9"/>
          </a:solidFill>
          <a:ln w="12700">
            <a:solidFill>
              <a:srgbClr val="F1F5F9"/>
            </a:solidFill>
            <a:prstDash val="solid"/>
          </a:ln>
        </p:spPr>
      </p:sp>
      <p:sp>
        <p:nvSpPr>
          <p:cNvPr id="8" name="Shape 6"/>
          <p:cNvSpPr/>
          <p:nvPr/>
        </p:nvSpPr>
        <p:spPr>
          <a:xfrm>
            <a:off x="804672" y="1837944"/>
            <a:ext cx="384048" cy="384048"/>
          </a:xfrm>
          <a:prstGeom prst="ellipse">
            <a:avLst/>
          </a:prstGeom>
          <a:solidFill>
            <a:srgbClr val="C4560C"/>
          </a:solidFill>
          <a:ln w="12700">
            <a:solidFill>
              <a:srgbClr val="C4560C"/>
            </a:solidFill>
            <a:prstDash val="solid"/>
          </a:ln>
        </p:spPr>
      </p:sp>
      <p:sp>
        <p:nvSpPr>
          <p:cNvPr id="9" name="Text 7"/>
          <p:cNvSpPr txBox="1"/>
          <p:nvPr/>
        </p:nvSpPr>
        <p:spPr>
          <a:xfrm>
            <a:off x="804672"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804672" y="2359152"/>
            <a:ext cx="2138096" cy="548640"/>
          </a:xfrm>
          <a:prstGeom prst="rect">
            <a:avLst/>
          </a:prstGeom>
          <a:noFill/>
          <a:ln/>
        </p:spPr>
        <p:txBody>
          <a:bodyPr wrap="square" lIns="0" tIns="0" rIns="0" bIns="0" rtlCol="0" anchor="t"/>
          <a:lstStyle/>
          <a:p>
            <a:pPr indent="0" marL="0">
              <a:lnSpc>
                <a:spcPct val="105000"/>
              </a:lnSpc>
              <a:buNone/>
            </a:pPr>
            <a:r>
              <a:rPr lang="en-US" sz="1700" b="1" dirty="0">
                <a:solidFill>
                  <a:srgbClr val="0F2942"/>
                </a:solidFill>
                <a:latin typeface="Cambria" pitchFamily="34" charset="0"/>
                <a:ea typeface="Cambria" pitchFamily="34" charset="-122"/>
                <a:cs typeface="Cambria" pitchFamily="34" charset="-120"/>
              </a:rPr>
              <a:t>Create and access</a:t>
            </a:r>
            <a:endParaRPr lang="en-US" sz="1700" dirty="0"/>
          </a:p>
        </p:txBody>
      </p:sp>
      <p:sp>
        <p:nvSpPr>
          <p:cNvPr id="11" name="Text 9"/>
          <p:cNvSpPr txBox="1"/>
          <p:nvPr/>
        </p:nvSpPr>
        <p:spPr>
          <a:xfrm>
            <a:off x="822960" y="2999232"/>
            <a:ext cx="2101520" cy="2423160"/>
          </a:xfrm>
          <a:prstGeom prst="rect">
            <a:avLst/>
          </a:prstGeom>
          <a:noFill/>
          <a:ln/>
        </p:spPr>
        <p:txBody>
          <a:bodyPr wrap="square" lIns="0" tIns="0" rIns="0" bIns="0" rtlCol="0" anchor="t"/>
          <a:lstStyle/>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Declare an array variable and create the array.</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Use .length, and know the default values.</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Index from 0 to length − 1 — and recognise the exception when you do not.</a:t>
            </a:r>
            <a:endParaRPr lang="en-US" sz="1200" dirty="0"/>
          </a:p>
        </p:txBody>
      </p:sp>
      <p:sp>
        <p:nvSpPr>
          <p:cNvPr id="12" name="Shape 10"/>
          <p:cNvSpPr/>
          <p:nvPr/>
        </p:nvSpPr>
        <p:spPr>
          <a:xfrm>
            <a:off x="3381680" y="1581912"/>
            <a:ext cx="2613584" cy="3977640"/>
          </a:xfrm>
          <a:prstGeom prst="roundRect">
            <a:avLst>
              <a:gd name="adj" fmla="val 3149"/>
            </a:avLst>
          </a:prstGeom>
          <a:solidFill>
            <a:srgbClr val="FFFFFF"/>
          </a:solidFill>
          <a:ln w="12700">
            <a:solidFill>
              <a:srgbClr val="D3DEE7"/>
            </a:solidFill>
            <a:prstDash val="solid"/>
          </a:ln>
        </p:spPr>
      </p:sp>
      <p:sp>
        <p:nvSpPr>
          <p:cNvPr id="13" name="Shape 11"/>
          <p:cNvSpPr/>
          <p:nvPr/>
        </p:nvSpPr>
        <p:spPr>
          <a:xfrm>
            <a:off x="3619424" y="1837944"/>
            <a:ext cx="384048" cy="384048"/>
          </a:xfrm>
          <a:prstGeom prst="ellipse">
            <a:avLst/>
          </a:prstGeom>
          <a:solidFill>
            <a:srgbClr val="C4560C"/>
          </a:solidFill>
          <a:ln w="12700">
            <a:solidFill>
              <a:srgbClr val="C4560C"/>
            </a:solidFill>
            <a:prstDash val="solid"/>
          </a:ln>
        </p:spPr>
      </p:sp>
      <p:sp>
        <p:nvSpPr>
          <p:cNvPr id="14" name="Text 12"/>
          <p:cNvSpPr txBox="1"/>
          <p:nvPr/>
        </p:nvSpPr>
        <p:spPr>
          <a:xfrm>
            <a:off x="3619424"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3619424" y="2359152"/>
            <a:ext cx="2138096" cy="548640"/>
          </a:xfrm>
          <a:prstGeom prst="rect">
            <a:avLst/>
          </a:prstGeom>
          <a:noFill/>
          <a:ln/>
        </p:spPr>
        <p:txBody>
          <a:bodyPr wrap="square" lIns="0" tIns="0" rIns="0" bIns="0" rtlCol="0" anchor="t"/>
          <a:lstStyle/>
          <a:p>
            <a:pPr indent="0" marL="0">
              <a:lnSpc>
                <a:spcPct val="105000"/>
              </a:lnSpc>
              <a:buNone/>
            </a:pPr>
            <a:r>
              <a:rPr lang="en-US" sz="1700" b="1" dirty="0">
                <a:solidFill>
                  <a:srgbClr val="0F2942"/>
                </a:solidFill>
                <a:latin typeface="Cambria" pitchFamily="34" charset="0"/>
                <a:ea typeface="Cambria" pitchFamily="34" charset="-122"/>
                <a:cs typeface="Cambria" pitchFamily="34" charset="-120"/>
              </a:rPr>
              <a:t>Process</a:t>
            </a:r>
            <a:endParaRPr lang="en-US" sz="1700" dirty="0"/>
          </a:p>
        </p:txBody>
      </p:sp>
      <p:sp>
        <p:nvSpPr>
          <p:cNvPr id="16" name="Text 14"/>
          <p:cNvSpPr txBox="1"/>
          <p:nvPr/>
        </p:nvSpPr>
        <p:spPr>
          <a:xfrm>
            <a:off x="3637712" y="2999232"/>
            <a:ext cx="2101520" cy="2423160"/>
          </a:xfrm>
          <a:prstGeom prst="rect">
            <a:avLst/>
          </a:prstGeom>
          <a:noFill/>
          <a:ln/>
        </p:spPr>
        <p:txBody>
          <a:bodyPr wrap="square" lIns="0" tIns="0" rIns="0" bIns="0" rtlCol="0" anchor="t"/>
          <a:lstStyle/>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The six idioms: fill, print, sum, max, index-of-max, shuffle.</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The enhanced for loop, and when it will not do.</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Copy properly, and use java.util.Arrays.</a:t>
            </a:r>
            <a:endParaRPr lang="en-US" sz="1200" dirty="0"/>
          </a:p>
        </p:txBody>
      </p:sp>
      <p:sp>
        <p:nvSpPr>
          <p:cNvPr id="17" name="Shape 15"/>
          <p:cNvSpPr/>
          <p:nvPr/>
        </p:nvSpPr>
        <p:spPr>
          <a:xfrm>
            <a:off x="6196432" y="1581912"/>
            <a:ext cx="2613584" cy="3977640"/>
          </a:xfrm>
          <a:prstGeom prst="roundRect">
            <a:avLst>
              <a:gd name="adj" fmla="val 3149"/>
            </a:avLst>
          </a:prstGeom>
          <a:solidFill>
            <a:srgbClr val="F1F5F9"/>
          </a:solidFill>
          <a:ln w="12700">
            <a:solidFill>
              <a:srgbClr val="F1F5F9"/>
            </a:solidFill>
            <a:prstDash val="solid"/>
          </a:ln>
        </p:spPr>
      </p:sp>
      <p:sp>
        <p:nvSpPr>
          <p:cNvPr id="18" name="Shape 16"/>
          <p:cNvSpPr/>
          <p:nvPr/>
        </p:nvSpPr>
        <p:spPr>
          <a:xfrm>
            <a:off x="6434176" y="1837944"/>
            <a:ext cx="384048" cy="384048"/>
          </a:xfrm>
          <a:prstGeom prst="ellipse">
            <a:avLst/>
          </a:prstGeom>
          <a:solidFill>
            <a:srgbClr val="C4560C"/>
          </a:solidFill>
          <a:ln w="12700">
            <a:solidFill>
              <a:srgbClr val="C4560C"/>
            </a:solidFill>
            <a:prstDash val="solid"/>
          </a:ln>
        </p:spPr>
      </p:sp>
      <p:sp>
        <p:nvSpPr>
          <p:cNvPr id="19" name="Text 17"/>
          <p:cNvSpPr txBox="1"/>
          <p:nvPr/>
        </p:nvSpPr>
        <p:spPr>
          <a:xfrm>
            <a:off x="6434176"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6434176" y="2359152"/>
            <a:ext cx="2138096" cy="548640"/>
          </a:xfrm>
          <a:prstGeom prst="rect">
            <a:avLst/>
          </a:prstGeom>
          <a:noFill/>
          <a:ln/>
        </p:spPr>
        <p:txBody>
          <a:bodyPr wrap="square" lIns="0" tIns="0" rIns="0" bIns="0" rtlCol="0" anchor="t"/>
          <a:lstStyle/>
          <a:p>
            <a:pPr indent="0" marL="0">
              <a:lnSpc>
                <a:spcPct val="105000"/>
              </a:lnSpc>
              <a:buNone/>
            </a:pPr>
            <a:r>
              <a:rPr lang="en-US" sz="1700" b="1" dirty="0">
                <a:solidFill>
                  <a:srgbClr val="0F2942"/>
                </a:solidFill>
                <a:latin typeface="Cambria" pitchFamily="34" charset="0"/>
                <a:ea typeface="Cambria" pitchFamily="34" charset="-122"/>
                <a:cs typeface="Cambria" pitchFamily="34" charset="-120"/>
              </a:rPr>
              <a:t>Pass and return</a:t>
            </a:r>
            <a:endParaRPr lang="en-US" sz="1700" dirty="0"/>
          </a:p>
        </p:txBody>
      </p:sp>
      <p:sp>
        <p:nvSpPr>
          <p:cNvPr id="21" name="Text 19"/>
          <p:cNvSpPr txBox="1"/>
          <p:nvPr/>
        </p:nvSpPr>
        <p:spPr>
          <a:xfrm>
            <a:off x="6452464" y="2999232"/>
            <a:ext cx="2101520" cy="2423160"/>
          </a:xfrm>
          <a:prstGeom prst="rect">
            <a:avLst/>
          </a:prstGeom>
          <a:noFill/>
          <a:ln/>
        </p:spPr>
        <p:txBody>
          <a:bodyPr wrap="square" lIns="0" tIns="0" rIns="0" bIns="0" rtlCol="0" anchor="t"/>
          <a:lstStyle/>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Pass an array to a method and return one.</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Why a method CAN change an array but not an int.</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Varargs and command-line arguments.</a:t>
            </a:r>
            <a:endParaRPr lang="en-US" sz="1200" dirty="0"/>
          </a:p>
        </p:txBody>
      </p:sp>
      <p:sp>
        <p:nvSpPr>
          <p:cNvPr id="22" name="Shape 20"/>
          <p:cNvSpPr/>
          <p:nvPr/>
        </p:nvSpPr>
        <p:spPr>
          <a:xfrm>
            <a:off x="9011183" y="1581912"/>
            <a:ext cx="2613584" cy="3977640"/>
          </a:xfrm>
          <a:prstGeom prst="roundRect">
            <a:avLst>
              <a:gd name="adj" fmla="val 3149"/>
            </a:avLst>
          </a:prstGeom>
          <a:solidFill>
            <a:srgbClr val="FFFFFF"/>
          </a:solidFill>
          <a:ln w="12700">
            <a:solidFill>
              <a:srgbClr val="D3DEE7"/>
            </a:solidFill>
            <a:prstDash val="solid"/>
          </a:ln>
        </p:spPr>
      </p:sp>
      <p:sp>
        <p:nvSpPr>
          <p:cNvPr id="23" name="Shape 21"/>
          <p:cNvSpPr/>
          <p:nvPr/>
        </p:nvSpPr>
        <p:spPr>
          <a:xfrm>
            <a:off x="9248927" y="1837944"/>
            <a:ext cx="384048" cy="384048"/>
          </a:xfrm>
          <a:prstGeom prst="ellipse">
            <a:avLst/>
          </a:prstGeom>
          <a:solidFill>
            <a:srgbClr val="C4560C"/>
          </a:solidFill>
          <a:ln w="12700">
            <a:solidFill>
              <a:srgbClr val="C4560C"/>
            </a:solidFill>
            <a:prstDash val="solid"/>
          </a:ln>
        </p:spPr>
      </p:sp>
      <p:sp>
        <p:nvSpPr>
          <p:cNvPr id="24" name="Text 22"/>
          <p:cNvSpPr txBox="1"/>
          <p:nvPr/>
        </p:nvSpPr>
        <p:spPr>
          <a:xfrm>
            <a:off x="9248927"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9248927" y="2359152"/>
            <a:ext cx="2138096" cy="548640"/>
          </a:xfrm>
          <a:prstGeom prst="rect">
            <a:avLst/>
          </a:prstGeom>
          <a:noFill/>
          <a:ln/>
        </p:spPr>
        <p:txBody>
          <a:bodyPr wrap="square" lIns="0" tIns="0" rIns="0" bIns="0" rtlCol="0" anchor="t"/>
          <a:lstStyle/>
          <a:p>
            <a:pPr indent="0" marL="0">
              <a:lnSpc>
                <a:spcPct val="105000"/>
              </a:lnSpc>
              <a:buNone/>
            </a:pPr>
            <a:r>
              <a:rPr lang="en-US" sz="1700" b="1" dirty="0">
                <a:solidFill>
                  <a:srgbClr val="0F2942"/>
                </a:solidFill>
                <a:latin typeface="Cambria" pitchFamily="34" charset="0"/>
                <a:ea typeface="Cambria" pitchFamily="34" charset="-122"/>
                <a:cs typeface="Cambria" pitchFamily="34" charset="-120"/>
              </a:rPr>
              <a:t>Two dimensions</a:t>
            </a:r>
            <a:endParaRPr lang="en-US" sz="1700" dirty="0"/>
          </a:p>
        </p:txBody>
      </p:sp>
      <p:sp>
        <p:nvSpPr>
          <p:cNvPr id="26" name="Text 24"/>
          <p:cNvSpPr txBox="1"/>
          <p:nvPr/>
        </p:nvSpPr>
        <p:spPr>
          <a:xfrm>
            <a:off x="9267215" y="2999232"/>
            <a:ext cx="2101520" cy="2423160"/>
          </a:xfrm>
          <a:prstGeom prst="rect">
            <a:avLst/>
          </a:prstGeom>
          <a:noFill/>
          <a:ln/>
        </p:spPr>
        <p:txBody>
          <a:bodyPr wrap="square" lIns="0" tIns="0" rIns="0" bIns="0" rtlCol="0" anchor="t"/>
          <a:lstStyle/>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Declare, create and initialise a 2-D array.</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length vs [0].length, and ragged arrays.</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Nested-loop processing, and a Sudoku checker.</a:t>
            </a:r>
            <a:endParaRPr lang="en-US" sz="1200" dirty="0"/>
          </a:p>
        </p:txBody>
      </p:sp>
      <p:sp>
        <p:nvSpPr>
          <p:cNvPr id="27" name="Text 25"/>
          <p:cNvSpPr txBox="1"/>
          <p:nvPr/>
        </p:nvSpPr>
        <p:spPr>
          <a:xfrm>
            <a:off x="566928" y="5715000"/>
            <a:ext cx="11057839" cy="274320"/>
          </a:xfrm>
          <a:prstGeom prst="rect">
            <a:avLst/>
          </a:prstGeom>
          <a:noFill/>
          <a:ln/>
        </p:spPr>
        <p:txBody>
          <a:bodyPr wrap="square" lIns="0" tIns="0" rIns="0" bIns="0" rtlCol="0" anchor="ctr"/>
          <a:lstStyle/>
          <a:p>
            <a:pPr indent="0" marL="0">
              <a:buNone/>
            </a:pPr>
            <a:r>
              <a:rPr lang="en-US" sz="1250" i="1" dirty="0">
                <a:solidFill>
                  <a:srgbClr val="9A430A"/>
                </a:solidFill>
                <a:latin typeface="Calibri" pitchFamily="34" charset="0"/>
                <a:ea typeface="Calibri" pitchFamily="34" charset="-122"/>
                <a:cs typeface="Calibri" pitchFamily="34" charset="-120"/>
              </a:rPr>
              <a:t>Arrays are the first data structure of the course, and everything from Week 11 onwards is built on the idea.</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WHY</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A Hundred Variables, or One?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Read a hundred numbers, compute their average, and count how many are above it.</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566928" y="1581912"/>
            <a:ext cx="5346040" cy="2181393"/>
          </a:xfrm>
          <a:prstGeom prst="roundRect">
            <a:avLst>
              <a:gd name="adj" fmla="val 2934"/>
            </a:avLst>
          </a:prstGeom>
          <a:solidFill>
            <a:srgbClr val="EDF2F7"/>
          </a:solidFill>
          <a:ln w="12700">
            <a:solidFill>
              <a:srgbClr val="CFDBE5"/>
            </a:solidFill>
            <a:prstDash val="solid"/>
          </a:ln>
        </p:spPr>
      </p:sp>
      <p:sp>
        <p:nvSpPr>
          <p:cNvPr id="8" name="Text 6"/>
          <p:cNvSpPr txBox="1"/>
          <p:nvPr/>
        </p:nvSpPr>
        <p:spPr>
          <a:xfrm>
            <a:off x="713232" y="1627632"/>
            <a:ext cx="5053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WITHOUT ARRAYS</a:t>
            </a:r>
            <a:endParaRPr lang="en-US" sz="950" dirty="0"/>
          </a:p>
        </p:txBody>
      </p:sp>
      <p:sp>
        <p:nvSpPr>
          <p:cNvPr id="9" name="Text 7"/>
          <p:cNvSpPr txBox="1"/>
          <p:nvPr/>
        </p:nvSpPr>
        <p:spPr>
          <a:xfrm>
            <a:off x="731520" y="1856232"/>
            <a:ext cx="5016856" cy="1852209"/>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number0</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nextDouble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nextDouble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nextDouble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97</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more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declarations</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number99</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nextDouble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average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number0</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number2</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number99</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566928" y="4019337"/>
            <a:ext cx="5346040" cy="1691640"/>
          </a:xfrm>
          <a:prstGeom prst="roundRect">
            <a:avLst>
              <a:gd name="adj" fmla="val 4865"/>
            </a:avLst>
          </a:prstGeom>
          <a:solidFill>
            <a:srgbClr val="FBEAE8"/>
          </a:solidFill>
          <a:ln w="12700">
            <a:solidFill>
              <a:srgbClr val="FBEAE8"/>
            </a:solidFill>
            <a:prstDash val="solid"/>
          </a:ln>
        </p:spPr>
      </p:sp>
      <p:sp>
        <p:nvSpPr>
          <p:cNvPr id="11" name="Text 9"/>
          <p:cNvSpPr txBox="1"/>
          <p:nvPr/>
        </p:nvSpPr>
        <p:spPr>
          <a:xfrm>
            <a:off x="822960" y="4147353"/>
            <a:ext cx="4833976" cy="274320"/>
          </a:xfrm>
          <a:prstGeom prst="rect">
            <a:avLst/>
          </a:prstGeom>
          <a:noFill/>
          <a:ln/>
        </p:spPr>
        <p:txBody>
          <a:bodyPr wrap="square" lIns="0" tIns="0" rIns="0" bIns="0" rtlCol="0" anchor="ctr"/>
          <a:lstStyle/>
          <a:p>
            <a:pPr indent="0" marL="0">
              <a:buNone/>
            </a:pPr>
            <a:r>
              <a:rPr lang="en-US" sz="1350" b="1" dirty="0">
                <a:solidFill>
                  <a:srgbClr val="9C241C"/>
                </a:solidFill>
                <a:latin typeface="Calibri" pitchFamily="34" charset="0"/>
                <a:ea typeface="Calibri" pitchFamily="34" charset="-122"/>
                <a:cs typeface="Calibri" pitchFamily="34" charset="-120"/>
              </a:rPr>
              <a:t>And it gets worse</a:t>
            </a:r>
            <a:endParaRPr lang="en-US" sz="1350" dirty="0"/>
          </a:p>
        </p:txBody>
      </p:sp>
      <p:sp>
        <p:nvSpPr>
          <p:cNvPr id="12" name="Text 10"/>
          <p:cNvSpPr txBox="1"/>
          <p:nvPr/>
        </p:nvSpPr>
        <p:spPr>
          <a:xfrm>
            <a:off x="859536" y="4476537"/>
            <a:ext cx="4779112" cy="118872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3A536B"/>
                </a:solidFill>
                <a:latin typeface="Calibri" pitchFamily="34" charset="0"/>
                <a:ea typeface="Calibri" pitchFamily="34" charset="-122"/>
                <a:cs typeface="Calibri" pitchFamily="34" charset="-120"/>
              </a:rPr>
              <a:t>A hundred names to invent and keep straight.</a:t>
            </a:r>
            <a:endParaRPr lang="en-US" sz="1200" dirty="0"/>
          </a:p>
          <a:p>
            <a:pPr marL="177800" indent="-177800">
              <a:spcAft>
                <a:spcPts val="500"/>
              </a:spcAft>
              <a:buSzPct val="100000"/>
              <a:buChar char="•"/>
            </a:pPr>
            <a:r>
              <a:rPr lang="en-US" sz="1200" dirty="0">
                <a:solidFill>
                  <a:srgbClr val="3A536B"/>
                </a:solidFill>
                <a:latin typeface="Calibri" pitchFamily="34" charset="0"/>
                <a:ea typeface="Calibri" pitchFamily="34" charset="-122"/>
                <a:cs typeface="Calibri" pitchFamily="34" charset="-120"/>
              </a:rPr>
              <a:t>No loop can help — a loop cannot say "the next variable".</a:t>
            </a:r>
            <a:endParaRPr lang="en-US" sz="1200" dirty="0"/>
          </a:p>
          <a:p>
            <a:pPr marL="177800" indent="-177800">
              <a:spcAft>
                <a:spcPts val="500"/>
              </a:spcAft>
              <a:buSzPct val="100000"/>
              <a:buChar char="•"/>
            </a:pPr>
            <a:r>
              <a:rPr lang="en-US" sz="1200" dirty="0">
                <a:solidFill>
                  <a:srgbClr val="3A536B"/>
                </a:solidFill>
                <a:latin typeface="Calibri" pitchFamily="34" charset="0"/>
                <a:ea typeface="Calibri" pitchFamily="34" charset="-122"/>
                <a:cs typeface="Calibri" pitchFamily="34" charset="-120"/>
              </a:rPr>
              <a:t>Change it to a thousand numbers and you start again.</a:t>
            </a:r>
            <a:endParaRPr lang="en-US" sz="1200" dirty="0"/>
          </a:p>
        </p:txBody>
      </p:sp>
      <p:sp>
        <p:nvSpPr>
          <p:cNvPr id="13" name="Shape 11"/>
          <p:cNvSpPr/>
          <p:nvPr/>
        </p:nvSpPr>
        <p:spPr>
          <a:xfrm>
            <a:off x="6278728" y="1581912"/>
            <a:ext cx="5346040" cy="2394631"/>
          </a:xfrm>
          <a:prstGeom prst="roundRect">
            <a:avLst>
              <a:gd name="adj" fmla="val 2673"/>
            </a:avLst>
          </a:prstGeom>
          <a:solidFill>
            <a:srgbClr val="EDF2F7"/>
          </a:solidFill>
          <a:ln w="12700">
            <a:solidFill>
              <a:srgbClr val="CFDBE5"/>
            </a:solidFill>
            <a:prstDash val="solid"/>
          </a:ln>
        </p:spPr>
      </p:sp>
      <p:sp>
        <p:nvSpPr>
          <p:cNvPr id="14" name="Text 12"/>
          <p:cNvSpPr txBox="1"/>
          <p:nvPr/>
        </p:nvSpPr>
        <p:spPr>
          <a:xfrm>
            <a:off x="6425032" y="1627632"/>
            <a:ext cx="5053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WITH AN ARRAY</a:t>
            </a:r>
            <a:endParaRPr lang="en-US" sz="950" dirty="0"/>
          </a:p>
        </p:txBody>
      </p:sp>
      <p:sp>
        <p:nvSpPr>
          <p:cNvPr id="15" name="Text 13"/>
          <p:cNvSpPr txBox="1"/>
          <p:nvPr/>
        </p:nvSpPr>
        <p:spPr>
          <a:xfrm>
            <a:off x="6443320" y="1856232"/>
            <a:ext cx="5016856" cy="2065447"/>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numbers</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numbers</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numbers</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nextDouble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total</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numbers</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total</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numbers</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average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total</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numbers</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6" name="Shape 14"/>
          <p:cNvSpPr/>
          <p:nvPr/>
        </p:nvSpPr>
        <p:spPr>
          <a:xfrm>
            <a:off x="6278728" y="4232575"/>
            <a:ext cx="5346040" cy="1691640"/>
          </a:xfrm>
          <a:prstGeom prst="roundRect">
            <a:avLst>
              <a:gd name="adj" fmla="val 4865"/>
            </a:avLst>
          </a:prstGeom>
          <a:solidFill>
            <a:srgbClr val="E6F2EC"/>
          </a:solidFill>
          <a:ln w="12700">
            <a:solidFill>
              <a:srgbClr val="E6F2EC"/>
            </a:solidFill>
            <a:prstDash val="solid"/>
          </a:ln>
        </p:spPr>
      </p:sp>
      <p:sp>
        <p:nvSpPr>
          <p:cNvPr id="17" name="Text 15"/>
          <p:cNvSpPr txBox="1"/>
          <p:nvPr/>
        </p:nvSpPr>
        <p:spPr>
          <a:xfrm>
            <a:off x="6534760" y="4360591"/>
            <a:ext cx="4833976" cy="274320"/>
          </a:xfrm>
          <a:prstGeom prst="rect">
            <a:avLst/>
          </a:prstGeom>
          <a:noFill/>
          <a:ln/>
        </p:spPr>
        <p:txBody>
          <a:bodyPr wrap="square" lIns="0" tIns="0" rIns="0" bIns="0" rtlCol="0" anchor="ctr"/>
          <a:lstStyle/>
          <a:p>
            <a:pPr indent="0" marL="0">
              <a:buNone/>
            </a:pPr>
            <a:r>
              <a:rPr lang="en-US" sz="1350" b="1" dirty="0">
                <a:solidFill>
                  <a:srgbClr val="176240"/>
                </a:solidFill>
                <a:latin typeface="Calibri" pitchFamily="34" charset="0"/>
                <a:ea typeface="Calibri" pitchFamily="34" charset="-122"/>
                <a:cs typeface="Calibri" pitchFamily="34" charset="-120"/>
              </a:rPr>
              <a:t>One name, and a loop can reach every value</a:t>
            </a:r>
            <a:endParaRPr lang="en-US" sz="1350" dirty="0"/>
          </a:p>
        </p:txBody>
      </p:sp>
      <p:sp>
        <p:nvSpPr>
          <p:cNvPr id="18" name="Text 16"/>
          <p:cNvSpPr txBox="1"/>
          <p:nvPr/>
        </p:nvSpPr>
        <p:spPr>
          <a:xfrm>
            <a:off x="6534760" y="4689775"/>
            <a:ext cx="4833976" cy="11887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An array is a single variable that holds many values of the same type, numbered from zero. Because the number is an int, a loop counter can address them — which is why arrays and loops arrive together.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ARRAYS 01</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Declaring an Array and Creating One Are Two Different Things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The variable holds a reference. The array itself is created separately, with new.</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566928" y="1536192"/>
            <a:ext cx="5760720" cy="1754916"/>
          </a:xfrm>
          <a:prstGeom prst="roundRect">
            <a:avLst>
              <a:gd name="adj" fmla="val 3647"/>
            </a:avLst>
          </a:prstGeom>
          <a:solidFill>
            <a:srgbClr val="EDF2F7"/>
          </a:solidFill>
          <a:ln w="12700">
            <a:solidFill>
              <a:srgbClr val="CFDBE5"/>
            </a:solidFill>
            <a:prstDash val="solid"/>
          </a:ln>
        </p:spPr>
      </p:sp>
      <p:sp>
        <p:nvSpPr>
          <p:cNvPr id="8" name="Text 6"/>
          <p:cNvSpPr txBox="1"/>
          <p:nvPr/>
        </p:nvSpPr>
        <p:spPr>
          <a:xfrm>
            <a:off x="713232" y="1581912"/>
            <a:ext cx="546811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THREE FORMS</a:t>
            </a:r>
            <a:endParaRPr lang="en-US" sz="950" dirty="0"/>
          </a:p>
        </p:txBody>
      </p:sp>
      <p:sp>
        <p:nvSpPr>
          <p:cNvPr id="9" name="Text 7"/>
          <p:cNvSpPr txBox="1"/>
          <p:nvPr/>
        </p:nvSpPr>
        <p:spPr>
          <a:xfrm>
            <a:off x="731520" y="1810512"/>
            <a:ext cx="5431536" cy="1425732"/>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1. declare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2. create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both at once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1.9</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2.9</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3.4</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3. initialise</a:t>
            </a:r>
            <a:endParaRPr lang="en-US" sz="1100" dirty="0"/>
          </a:p>
        </p:txBody>
      </p:sp>
      <p:sp>
        <p:nvSpPr>
          <p:cNvPr id="10" name="Shape 8"/>
          <p:cNvSpPr/>
          <p:nvPr/>
        </p:nvSpPr>
        <p:spPr>
          <a:xfrm>
            <a:off x="566928" y="3547140"/>
            <a:ext cx="5760720" cy="1325880"/>
          </a:xfrm>
          <a:prstGeom prst="roundRect">
            <a:avLst>
              <a:gd name="adj" fmla="val 6207"/>
            </a:avLst>
          </a:prstGeom>
          <a:solidFill>
            <a:srgbClr val="E4ECF4"/>
          </a:solidFill>
          <a:ln w="12700">
            <a:solidFill>
              <a:srgbClr val="E4ECF4"/>
            </a:solidFill>
            <a:prstDash val="solid"/>
          </a:ln>
        </p:spPr>
      </p:sp>
      <p:sp>
        <p:nvSpPr>
          <p:cNvPr id="11" name="Text 9"/>
          <p:cNvSpPr txBox="1"/>
          <p:nvPr/>
        </p:nvSpPr>
        <p:spPr>
          <a:xfrm>
            <a:off x="841248" y="3547140"/>
            <a:ext cx="5212080" cy="1325880"/>
          </a:xfrm>
          <a:prstGeom prst="rect">
            <a:avLst/>
          </a:prstGeom>
          <a:noFill/>
          <a:ln/>
        </p:spPr>
        <p:txBody>
          <a:bodyPr wrap="square" lIns="0" tIns="0" rIns="0" bIns="0" rtlCol="0" anchor="ctr"/>
          <a:lstStyle/>
          <a:p>
            <a:pPr indent="0" marL="0">
              <a:lnSpc>
                <a:spcPct val="112000"/>
              </a:lnSpc>
              <a:buNone/>
            </a:pPr>
            <a:r>
              <a:rPr lang="en-US" sz="1250" b="1" dirty="0">
                <a:solidFill>
                  <a:srgbClr val="0F2942"/>
                </a:solidFill>
                <a:latin typeface="Calibri" pitchFamily="34" charset="0"/>
                <a:ea typeface="Calibri" pitchFamily="34" charset="-122"/>
                <a:cs typeface="Calibri" pitchFamily="34" charset="-120"/>
              </a:rPr>
              <a:t>Declaring creates no array.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After line 1, myList exists but refers to nothing — it is null. Using it before line 2 gives a NullPointerException at run time.</a:t>
            </a:r>
            <a:endParaRPr lang="en-US" sz="1250" dirty="0"/>
          </a:p>
        </p:txBody>
      </p:sp>
      <p:sp>
        <p:nvSpPr>
          <p:cNvPr id="12" name="Shape 10"/>
          <p:cNvSpPr/>
          <p:nvPr/>
        </p:nvSpPr>
        <p:spPr>
          <a:xfrm>
            <a:off x="566928" y="5101620"/>
            <a:ext cx="5760720" cy="679033"/>
          </a:xfrm>
          <a:prstGeom prst="roundRect">
            <a:avLst>
              <a:gd name="adj" fmla="val 9426"/>
            </a:avLst>
          </a:prstGeom>
          <a:solidFill>
            <a:srgbClr val="EDF2F7"/>
          </a:solidFill>
          <a:ln w="12700">
            <a:solidFill>
              <a:srgbClr val="CFDBE5"/>
            </a:solidFill>
            <a:prstDash val="solid"/>
          </a:ln>
        </p:spPr>
      </p:sp>
      <p:sp>
        <p:nvSpPr>
          <p:cNvPr id="13" name="Text 11"/>
          <p:cNvSpPr txBox="1"/>
          <p:nvPr/>
        </p:nvSpPr>
        <p:spPr>
          <a:xfrm>
            <a:off x="713232" y="5147340"/>
            <a:ext cx="546811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ALLOWED, BUT NOT PREFERRED</a:t>
            </a:r>
            <a:endParaRPr lang="en-US" sz="950" dirty="0"/>
          </a:p>
        </p:txBody>
      </p:sp>
      <p:sp>
        <p:nvSpPr>
          <p:cNvPr id="14" name="Text 12"/>
          <p:cNvSpPr txBox="1"/>
          <p:nvPr/>
        </p:nvSpPr>
        <p:spPr>
          <a:xfrm>
            <a:off x="731520" y="5375940"/>
            <a:ext cx="5431536" cy="349849"/>
          </a:xfrm>
          <a:prstGeom prst="rect">
            <a:avLst/>
          </a:prstGeom>
          <a:noFill/>
          <a:ln/>
        </p:spPr>
        <p:txBody>
          <a:bodyPr wrap="square" lIns="0" tIns="0" rIns="0" bIns="0" rtlCol="0" anchor="t"/>
          <a:lstStyle/>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415C6E"/>
                </a:solidFill>
                <a:latin typeface="Courier New" pitchFamily="34" charset="0"/>
                <a:ea typeface="Courier New" pitchFamily="34" charset="-122"/>
                <a:cs typeface="Courier New" pitchFamily="34" charset="-120"/>
              </a:rPr>
              <a:t>// legal, C-style</a:t>
            </a:r>
            <a:endParaRPr lang="en-US" sz="1050" dirty="0"/>
          </a:p>
        </p:txBody>
      </p:sp>
      <p:sp>
        <p:nvSpPr>
          <p:cNvPr id="15" name="Text 13"/>
          <p:cNvSpPr txBox="1"/>
          <p:nvPr/>
        </p:nvSpPr>
        <p:spPr>
          <a:xfrm>
            <a:off x="566928" y="5853806"/>
            <a:ext cx="5760720" cy="274320"/>
          </a:xfrm>
          <a:prstGeom prst="rect">
            <a:avLst/>
          </a:prstGeom>
          <a:noFill/>
          <a:ln/>
        </p:spPr>
        <p:txBody>
          <a:bodyPr wrap="square" lIns="0" tIns="0" rIns="0" bIns="0" rtlCol="0" anchor="ctr"/>
          <a:lstStyle/>
          <a:p>
            <a:pPr indent="0" marL="0">
              <a:buNone/>
            </a:pPr>
            <a:r>
              <a:rPr lang="en-US" sz="1150" i="1" dirty="0">
                <a:solidFill>
                  <a:srgbClr val="4B6377"/>
                </a:solidFill>
                <a:latin typeface="Calibri" pitchFamily="34" charset="0"/>
                <a:ea typeface="Calibri" pitchFamily="34" charset="-122"/>
                <a:cs typeface="Calibri" pitchFamily="34" charset="-120"/>
              </a:rPr>
              <a:t>The brackets belong to the type, not the name. Put them after double.</a:t>
            </a:r>
            <a:endParaRPr lang="en-US" sz="1150" dirty="0"/>
          </a:p>
        </p:txBody>
      </p:sp>
      <p:sp>
        <p:nvSpPr>
          <p:cNvPr id="16" name="Text 14"/>
          <p:cNvSpPr txBox="1"/>
          <p:nvPr/>
        </p:nvSpPr>
        <p:spPr>
          <a:xfrm>
            <a:off x="6784848" y="1536192"/>
            <a:ext cx="4839919" cy="219456"/>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WHAT new double[4] BUILDS</a:t>
            </a:r>
            <a:endParaRPr lang="en-US" sz="950" dirty="0"/>
          </a:p>
        </p:txBody>
      </p:sp>
      <p:sp>
        <p:nvSpPr>
          <p:cNvPr id="17" name="Shape 15"/>
          <p:cNvSpPr/>
          <p:nvPr/>
        </p:nvSpPr>
        <p:spPr>
          <a:xfrm>
            <a:off x="6784848" y="1847088"/>
            <a:ext cx="1920240" cy="457200"/>
          </a:xfrm>
          <a:prstGeom prst="roundRect">
            <a:avLst>
              <a:gd name="adj" fmla="val 12000"/>
            </a:avLst>
          </a:prstGeom>
          <a:solidFill>
            <a:srgbClr val="E4ECF4"/>
          </a:solidFill>
          <a:ln w="16510">
            <a:solidFill>
              <a:srgbClr val="1D4468"/>
            </a:solidFill>
            <a:prstDash val="solid"/>
          </a:ln>
        </p:spPr>
      </p:sp>
      <p:sp>
        <p:nvSpPr>
          <p:cNvPr id="18" name="Text 16"/>
          <p:cNvSpPr txBox="1"/>
          <p:nvPr/>
        </p:nvSpPr>
        <p:spPr>
          <a:xfrm>
            <a:off x="6784848" y="1847088"/>
            <a:ext cx="1920240" cy="457200"/>
          </a:xfrm>
          <a:prstGeom prst="rect">
            <a:avLst/>
          </a:prstGeom>
          <a:noFill/>
          <a:ln/>
        </p:spPr>
        <p:txBody>
          <a:bodyPr wrap="square" lIns="0" tIns="0" rIns="0" bIns="0" rtlCol="0" anchor="ctr"/>
          <a:lstStyle/>
          <a:p>
            <a:pPr algn="ctr" indent="0" marL="0">
              <a:buNone/>
            </a:pPr>
            <a:r>
              <a:rPr lang="en-US" sz="1150" b="1" dirty="0">
                <a:solidFill>
                  <a:srgbClr val="0F2942"/>
                </a:solidFill>
                <a:latin typeface="Courier New" pitchFamily="34" charset="0"/>
                <a:ea typeface="Courier New" pitchFamily="34" charset="-122"/>
                <a:cs typeface="Courier New" pitchFamily="34" charset="-120"/>
              </a:rPr>
              <a:t>myList</a:t>
            </a:r>
            <a:endParaRPr lang="en-US" sz="1150" dirty="0"/>
          </a:p>
        </p:txBody>
      </p:sp>
      <p:sp>
        <p:nvSpPr>
          <p:cNvPr id="19" name="Shape 17"/>
          <p:cNvSpPr/>
          <p:nvPr/>
        </p:nvSpPr>
        <p:spPr>
          <a:xfrm>
            <a:off x="8705088" y="2075688"/>
            <a:ext cx="640080" cy="0"/>
          </a:xfrm>
          <a:prstGeom prst="line">
            <a:avLst/>
          </a:prstGeom>
          <a:noFill/>
          <a:ln w="20320">
            <a:solidFill>
              <a:srgbClr val="C4560C"/>
            </a:solidFill>
            <a:prstDash val="solid"/>
            <a:tailEnd type="triangle"/>
          </a:ln>
        </p:spPr>
      </p:sp>
      <p:sp>
        <p:nvSpPr>
          <p:cNvPr id="20" name="Text 18"/>
          <p:cNvSpPr txBox="1"/>
          <p:nvPr/>
        </p:nvSpPr>
        <p:spPr>
          <a:xfrm>
            <a:off x="6784848" y="2322576"/>
            <a:ext cx="1920240" cy="237744"/>
          </a:xfrm>
          <a:prstGeom prst="rect">
            <a:avLst/>
          </a:prstGeom>
          <a:noFill/>
          <a:ln/>
        </p:spPr>
        <p:txBody>
          <a:bodyPr wrap="square" lIns="0" tIns="0" rIns="0" bIns="0" rtlCol="0" anchor="ctr"/>
          <a:lstStyle/>
          <a:p>
            <a:pPr algn="ctr" indent="0" marL="0">
              <a:buNone/>
            </a:pPr>
            <a:r>
              <a:rPr lang="en-US" sz="1000" i="1" dirty="0">
                <a:solidFill>
                  <a:srgbClr val="4B6377"/>
                </a:solidFill>
                <a:latin typeface="Calibri" pitchFamily="34" charset="0"/>
                <a:ea typeface="Calibri" pitchFamily="34" charset="-122"/>
                <a:cs typeface="Calibri" pitchFamily="34" charset="-120"/>
              </a:rPr>
              <a:t>a reference</a:t>
            </a:r>
            <a:endParaRPr lang="en-US" sz="1000" dirty="0"/>
          </a:p>
        </p:txBody>
      </p:sp>
      <p:sp>
        <p:nvSpPr>
          <p:cNvPr id="21" name="Shape 19"/>
          <p:cNvSpPr/>
          <p:nvPr/>
        </p:nvSpPr>
        <p:spPr>
          <a:xfrm>
            <a:off x="9482328" y="1847088"/>
            <a:ext cx="2142439" cy="475488"/>
          </a:xfrm>
          <a:prstGeom prst="roundRect">
            <a:avLst>
              <a:gd name="adj" fmla="val 9615"/>
            </a:avLst>
          </a:prstGeom>
          <a:solidFill>
            <a:srgbClr val="FFFFFF"/>
          </a:solidFill>
          <a:ln w="16510">
            <a:solidFill>
              <a:srgbClr val="D3DEE7"/>
            </a:solidFill>
            <a:prstDash val="solid"/>
          </a:ln>
        </p:spPr>
      </p:sp>
      <p:sp>
        <p:nvSpPr>
          <p:cNvPr id="22" name="Text 20"/>
          <p:cNvSpPr txBox="1"/>
          <p:nvPr/>
        </p:nvSpPr>
        <p:spPr>
          <a:xfrm>
            <a:off x="9610344" y="1847088"/>
            <a:ext cx="1285464" cy="475488"/>
          </a:xfrm>
          <a:prstGeom prst="rect">
            <a:avLst/>
          </a:prstGeom>
          <a:noFill/>
          <a:ln/>
        </p:spPr>
        <p:txBody>
          <a:bodyPr wrap="square" lIns="0" tIns="0" rIns="0" bIns="0" rtlCol="0" anchor="ctr"/>
          <a:lstStyle/>
          <a:p>
            <a:pPr indent="0" marL="0">
              <a:buNone/>
            </a:pPr>
            <a:r>
              <a:rPr lang="en-US" sz="1100" dirty="0">
                <a:solidFill>
                  <a:srgbClr val="3A536B"/>
                </a:solidFill>
                <a:latin typeface="Courier New" pitchFamily="34" charset="0"/>
                <a:ea typeface="Courier New" pitchFamily="34" charset="-122"/>
                <a:cs typeface="Courier New" pitchFamily="34" charset="-120"/>
              </a:rPr>
              <a:t>myList[0]</a:t>
            </a:r>
            <a:endParaRPr lang="en-US" sz="1100" dirty="0"/>
          </a:p>
        </p:txBody>
      </p:sp>
      <p:sp>
        <p:nvSpPr>
          <p:cNvPr id="23" name="Text 21"/>
          <p:cNvSpPr txBox="1"/>
          <p:nvPr/>
        </p:nvSpPr>
        <p:spPr>
          <a:xfrm>
            <a:off x="10767792" y="1847088"/>
            <a:ext cx="728960" cy="475488"/>
          </a:xfrm>
          <a:prstGeom prst="rect">
            <a:avLst/>
          </a:prstGeom>
          <a:noFill/>
          <a:ln/>
        </p:spPr>
        <p:txBody>
          <a:bodyPr wrap="square" lIns="0" tIns="0" rIns="0" bIns="0" rtlCol="0" anchor="ctr"/>
          <a:lstStyle/>
          <a:p>
            <a:pPr algn="r" indent="0" marL="0">
              <a:buNone/>
            </a:pPr>
            <a:r>
              <a:rPr lang="en-US" sz="1100" b="1" dirty="0">
                <a:solidFill>
                  <a:srgbClr val="9A430A"/>
                </a:solidFill>
                <a:latin typeface="Courier New" pitchFamily="34" charset="0"/>
                <a:ea typeface="Courier New" pitchFamily="34" charset="-122"/>
                <a:cs typeface="Courier New" pitchFamily="34" charset="-120"/>
              </a:rPr>
              <a:t>0.0</a:t>
            </a:r>
            <a:endParaRPr lang="en-US" sz="1100" dirty="0"/>
          </a:p>
        </p:txBody>
      </p:sp>
      <p:sp>
        <p:nvSpPr>
          <p:cNvPr id="24" name="Shape 22"/>
          <p:cNvSpPr/>
          <p:nvPr/>
        </p:nvSpPr>
        <p:spPr>
          <a:xfrm>
            <a:off x="9482328" y="2414016"/>
            <a:ext cx="2142439" cy="475488"/>
          </a:xfrm>
          <a:prstGeom prst="roundRect">
            <a:avLst>
              <a:gd name="adj" fmla="val 9615"/>
            </a:avLst>
          </a:prstGeom>
          <a:solidFill>
            <a:srgbClr val="FFFFFF"/>
          </a:solidFill>
          <a:ln w="16510">
            <a:solidFill>
              <a:srgbClr val="D3DEE7"/>
            </a:solidFill>
            <a:prstDash val="solid"/>
          </a:ln>
        </p:spPr>
      </p:sp>
      <p:sp>
        <p:nvSpPr>
          <p:cNvPr id="25" name="Text 23"/>
          <p:cNvSpPr txBox="1"/>
          <p:nvPr/>
        </p:nvSpPr>
        <p:spPr>
          <a:xfrm>
            <a:off x="9610344" y="2414016"/>
            <a:ext cx="1285464" cy="475488"/>
          </a:xfrm>
          <a:prstGeom prst="rect">
            <a:avLst/>
          </a:prstGeom>
          <a:noFill/>
          <a:ln/>
        </p:spPr>
        <p:txBody>
          <a:bodyPr wrap="square" lIns="0" tIns="0" rIns="0" bIns="0" rtlCol="0" anchor="ctr"/>
          <a:lstStyle/>
          <a:p>
            <a:pPr indent="0" marL="0">
              <a:buNone/>
            </a:pPr>
            <a:r>
              <a:rPr lang="en-US" sz="1100" dirty="0">
                <a:solidFill>
                  <a:srgbClr val="3A536B"/>
                </a:solidFill>
                <a:latin typeface="Courier New" pitchFamily="34" charset="0"/>
                <a:ea typeface="Courier New" pitchFamily="34" charset="-122"/>
                <a:cs typeface="Courier New" pitchFamily="34" charset="-120"/>
              </a:rPr>
              <a:t>myList[1]</a:t>
            </a:r>
            <a:endParaRPr lang="en-US" sz="1100" dirty="0"/>
          </a:p>
        </p:txBody>
      </p:sp>
      <p:sp>
        <p:nvSpPr>
          <p:cNvPr id="26" name="Text 24"/>
          <p:cNvSpPr txBox="1"/>
          <p:nvPr/>
        </p:nvSpPr>
        <p:spPr>
          <a:xfrm>
            <a:off x="10767792" y="2414016"/>
            <a:ext cx="728960" cy="475488"/>
          </a:xfrm>
          <a:prstGeom prst="rect">
            <a:avLst/>
          </a:prstGeom>
          <a:noFill/>
          <a:ln/>
        </p:spPr>
        <p:txBody>
          <a:bodyPr wrap="square" lIns="0" tIns="0" rIns="0" bIns="0" rtlCol="0" anchor="ctr"/>
          <a:lstStyle/>
          <a:p>
            <a:pPr algn="r" indent="0" marL="0">
              <a:buNone/>
            </a:pPr>
            <a:r>
              <a:rPr lang="en-US" sz="1100" b="1" dirty="0">
                <a:solidFill>
                  <a:srgbClr val="9A430A"/>
                </a:solidFill>
                <a:latin typeface="Courier New" pitchFamily="34" charset="0"/>
                <a:ea typeface="Courier New" pitchFamily="34" charset="-122"/>
                <a:cs typeface="Courier New" pitchFamily="34" charset="-120"/>
              </a:rPr>
              <a:t>0.0</a:t>
            </a:r>
            <a:endParaRPr lang="en-US" sz="1100" dirty="0"/>
          </a:p>
        </p:txBody>
      </p:sp>
      <p:sp>
        <p:nvSpPr>
          <p:cNvPr id="27" name="Shape 25"/>
          <p:cNvSpPr/>
          <p:nvPr/>
        </p:nvSpPr>
        <p:spPr>
          <a:xfrm>
            <a:off x="9482328" y="2980944"/>
            <a:ext cx="2142439" cy="475488"/>
          </a:xfrm>
          <a:prstGeom prst="roundRect">
            <a:avLst>
              <a:gd name="adj" fmla="val 9615"/>
            </a:avLst>
          </a:prstGeom>
          <a:solidFill>
            <a:srgbClr val="FFFFFF"/>
          </a:solidFill>
          <a:ln w="16510">
            <a:solidFill>
              <a:srgbClr val="D3DEE7"/>
            </a:solidFill>
            <a:prstDash val="solid"/>
          </a:ln>
        </p:spPr>
      </p:sp>
      <p:sp>
        <p:nvSpPr>
          <p:cNvPr id="28" name="Text 26"/>
          <p:cNvSpPr txBox="1"/>
          <p:nvPr/>
        </p:nvSpPr>
        <p:spPr>
          <a:xfrm>
            <a:off x="9610344" y="2980944"/>
            <a:ext cx="1285464" cy="475488"/>
          </a:xfrm>
          <a:prstGeom prst="rect">
            <a:avLst/>
          </a:prstGeom>
          <a:noFill/>
          <a:ln/>
        </p:spPr>
        <p:txBody>
          <a:bodyPr wrap="square" lIns="0" tIns="0" rIns="0" bIns="0" rtlCol="0" anchor="ctr"/>
          <a:lstStyle/>
          <a:p>
            <a:pPr indent="0" marL="0">
              <a:buNone/>
            </a:pPr>
            <a:r>
              <a:rPr lang="en-US" sz="1100" dirty="0">
                <a:solidFill>
                  <a:srgbClr val="3A536B"/>
                </a:solidFill>
                <a:latin typeface="Courier New" pitchFamily="34" charset="0"/>
                <a:ea typeface="Courier New" pitchFamily="34" charset="-122"/>
                <a:cs typeface="Courier New" pitchFamily="34" charset="-120"/>
              </a:rPr>
              <a:t>myList[2]</a:t>
            </a:r>
            <a:endParaRPr lang="en-US" sz="1100" dirty="0"/>
          </a:p>
        </p:txBody>
      </p:sp>
      <p:sp>
        <p:nvSpPr>
          <p:cNvPr id="29" name="Text 27"/>
          <p:cNvSpPr txBox="1"/>
          <p:nvPr/>
        </p:nvSpPr>
        <p:spPr>
          <a:xfrm>
            <a:off x="10767792" y="2980944"/>
            <a:ext cx="728960" cy="475488"/>
          </a:xfrm>
          <a:prstGeom prst="rect">
            <a:avLst/>
          </a:prstGeom>
          <a:noFill/>
          <a:ln/>
        </p:spPr>
        <p:txBody>
          <a:bodyPr wrap="square" lIns="0" tIns="0" rIns="0" bIns="0" rtlCol="0" anchor="ctr"/>
          <a:lstStyle/>
          <a:p>
            <a:pPr algn="r" indent="0" marL="0">
              <a:buNone/>
            </a:pPr>
            <a:r>
              <a:rPr lang="en-US" sz="1100" b="1" dirty="0">
                <a:solidFill>
                  <a:srgbClr val="9A430A"/>
                </a:solidFill>
                <a:latin typeface="Courier New" pitchFamily="34" charset="0"/>
                <a:ea typeface="Courier New" pitchFamily="34" charset="-122"/>
                <a:cs typeface="Courier New" pitchFamily="34" charset="-120"/>
              </a:rPr>
              <a:t>0.0</a:t>
            </a:r>
            <a:endParaRPr lang="en-US" sz="1100" dirty="0"/>
          </a:p>
        </p:txBody>
      </p:sp>
      <p:sp>
        <p:nvSpPr>
          <p:cNvPr id="30" name="Shape 28"/>
          <p:cNvSpPr/>
          <p:nvPr/>
        </p:nvSpPr>
        <p:spPr>
          <a:xfrm>
            <a:off x="9482328" y="3547872"/>
            <a:ext cx="2142439" cy="475488"/>
          </a:xfrm>
          <a:prstGeom prst="roundRect">
            <a:avLst>
              <a:gd name="adj" fmla="val 9615"/>
            </a:avLst>
          </a:prstGeom>
          <a:solidFill>
            <a:srgbClr val="FFFFFF"/>
          </a:solidFill>
          <a:ln w="16510">
            <a:solidFill>
              <a:srgbClr val="D3DEE7"/>
            </a:solidFill>
            <a:prstDash val="solid"/>
          </a:ln>
        </p:spPr>
      </p:sp>
      <p:sp>
        <p:nvSpPr>
          <p:cNvPr id="31" name="Text 29"/>
          <p:cNvSpPr txBox="1"/>
          <p:nvPr/>
        </p:nvSpPr>
        <p:spPr>
          <a:xfrm>
            <a:off x="9610344" y="3547872"/>
            <a:ext cx="1285464" cy="475488"/>
          </a:xfrm>
          <a:prstGeom prst="rect">
            <a:avLst/>
          </a:prstGeom>
          <a:noFill/>
          <a:ln/>
        </p:spPr>
        <p:txBody>
          <a:bodyPr wrap="square" lIns="0" tIns="0" rIns="0" bIns="0" rtlCol="0" anchor="ctr"/>
          <a:lstStyle/>
          <a:p>
            <a:pPr indent="0" marL="0">
              <a:buNone/>
            </a:pPr>
            <a:r>
              <a:rPr lang="en-US" sz="1100" dirty="0">
                <a:solidFill>
                  <a:srgbClr val="3A536B"/>
                </a:solidFill>
                <a:latin typeface="Courier New" pitchFamily="34" charset="0"/>
                <a:ea typeface="Courier New" pitchFamily="34" charset="-122"/>
                <a:cs typeface="Courier New" pitchFamily="34" charset="-120"/>
              </a:rPr>
              <a:t>myList[3]</a:t>
            </a:r>
            <a:endParaRPr lang="en-US" sz="1100" dirty="0"/>
          </a:p>
        </p:txBody>
      </p:sp>
      <p:sp>
        <p:nvSpPr>
          <p:cNvPr id="32" name="Text 30"/>
          <p:cNvSpPr txBox="1"/>
          <p:nvPr/>
        </p:nvSpPr>
        <p:spPr>
          <a:xfrm>
            <a:off x="10767792" y="3547872"/>
            <a:ext cx="728960" cy="475488"/>
          </a:xfrm>
          <a:prstGeom prst="rect">
            <a:avLst/>
          </a:prstGeom>
          <a:noFill/>
          <a:ln/>
        </p:spPr>
        <p:txBody>
          <a:bodyPr wrap="square" lIns="0" tIns="0" rIns="0" bIns="0" rtlCol="0" anchor="ctr"/>
          <a:lstStyle/>
          <a:p>
            <a:pPr algn="r" indent="0" marL="0">
              <a:buNone/>
            </a:pPr>
            <a:r>
              <a:rPr lang="en-US" sz="1100" b="1" dirty="0">
                <a:solidFill>
                  <a:srgbClr val="9A430A"/>
                </a:solidFill>
                <a:latin typeface="Courier New" pitchFamily="34" charset="0"/>
                <a:ea typeface="Courier New" pitchFamily="34" charset="-122"/>
                <a:cs typeface="Courier New" pitchFamily="34" charset="-120"/>
              </a:rPr>
              <a:t>0.0</a:t>
            </a:r>
            <a:endParaRPr lang="en-US" sz="1100" dirty="0"/>
          </a:p>
        </p:txBody>
      </p:sp>
      <p:sp>
        <p:nvSpPr>
          <p:cNvPr id="33" name="Shape 31"/>
          <p:cNvSpPr/>
          <p:nvPr/>
        </p:nvSpPr>
        <p:spPr>
          <a:xfrm>
            <a:off x="6784848" y="4142232"/>
            <a:ext cx="4839919" cy="1234440"/>
          </a:xfrm>
          <a:prstGeom prst="roundRect">
            <a:avLst>
              <a:gd name="adj" fmla="val 6667"/>
            </a:avLst>
          </a:prstGeom>
          <a:solidFill>
            <a:srgbClr val="FBEEE0"/>
          </a:solidFill>
          <a:ln w="12700">
            <a:solidFill>
              <a:srgbClr val="FBEEE0"/>
            </a:solidFill>
            <a:prstDash val="solid"/>
          </a:ln>
        </p:spPr>
      </p:sp>
      <p:sp>
        <p:nvSpPr>
          <p:cNvPr id="34" name="Text 32"/>
          <p:cNvSpPr txBox="1"/>
          <p:nvPr/>
        </p:nvSpPr>
        <p:spPr>
          <a:xfrm>
            <a:off x="7040880" y="4270248"/>
            <a:ext cx="4327855" cy="274320"/>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The size is fixed for ever</a:t>
            </a:r>
            <a:endParaRPr lang="en-US" sz="1350" dirty="0"/>
          </a:p>
        </p:txBody>
      </p:sp>
      <p:sp>
        <p:nvSpPr>
          <p:cNvPr id="35" name="Text 33"/>
          <p:cNvSpPr txBox="1"/>
          <p:nvPr/>
        </p:nvSpPr>
        <p:spPr>
          <a:xfrm>
            <a:off x="7040880" y="4562856"/>
            <a:ext cx="4327855" cy="749808"/>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Once created, an array cannot grow or shrink. To hold more you create a bigger one and copy across — which is what ArrayList does for you in November.</a:t>
            </a:r>
            <a:endParaRPr lang="en-US" sz="1200" dirty="0"/>
          </a:p>
        </p:txBody>
      </p:sp>
      <p:sp>
        <p:nvSpPr>
          <p:cNvPr id="36" name="Shape 34"/>
          <p:cNvSpPr/>
          <p:nvPr/>
        </p:nvSpPr>
        <p:spPr>
          <a:xfrm>
            <a:off x="6784848" y="5513832"/>
            <a:ext cx="4839919" cy="777240"/>
          </a:xfrm>
          <a:prstGeom prst="roundRect">
            <a:avLst>
              <a:gd name="adj" fmla="val 10588"/>
            </a:avLst>
          </a:prstGeom>
          <a:solidFill>
            <a:srgbClr val="F1F5F9"/>
          </a:solidFill>
          <a:ln w="12700">
            <a:solidFill>
              <a:srgbClr val="F1F5F9"/>
            </a:solidFill>
            <a:prstDash val="solid"/>
          </a:ln>
        </p:spPr>
      </p:sp>
      <p:sp>
        <p:nvSpPr>
          <p:cNvPr id="37" name="Text 35"/>
          <p:cNvSpPr txBox="1"/>
          <p:nvPr/>
        </p:nvSpPr>
        <p:spPr>
          <a:xfrm>
            <a:off x="7059168" y="5513832"/>
            <a:ext cx="4291279" cy="777240"/>
          </a:xfrm>
          <a:prstGeom prst="rect">
            <a:avLst/>
          </a:prstGeom>
          <a:noFill/>
          <a:ln/>
        </p:spPr>
        <p:txBody>
          <a:bodyPr wrap="square" lIns="0" tIns="0" rIns="0" bIns="0" rtlCol="0" anchor="ctr"/>
          <a:lstStyle/>
          <a:p>
            <a:pPr indent="0" marL="0">
              <a:buNone/>
            </a:pPr>
            <a:r>
              <a:rPr lang="en-US" sz="1200" b="1" dirty="0">
                <a:solidFill>
                  <a:srgbClr val="9A430A"/>
                </a:solidFill>
                <a:latin typeface="Courier New" pitchFamily="34" charset="0"/>
                <a:ea typeface="Courier New" pitchFamily="34" charset="-122"/>
                <a:cs typeface="Courier New" pitchFamily="34" charset="-120"/>
              </a:rPr>
              <a:t>var myList = new double[10];</a:t>
            </a:r>
            <a:pPr indent="0" marL="0">
              <a:buNone/>
            </a:pPr>
            <a:r>
              <a:rPr lang="en-US" sz="1200" dirty="0">
                <a:solidFill>
                  <a:srgbClr val="3A536B"/>
                </a:solidFill>
                <a:latin typeface="Calibri" pitchFamily="34" charset="0"/>
                <a:ea typeface="Calibri" pitchFamily="34" charset="-122"/>
                <a:cs typeface="Calibri" pitchFamily="34" charset="-120"/>
              </a:rPr>
              <a:t>  works too, from Java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ARRAYS 02</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Length, Indices and Default Values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Three facts that between them explain most first-week array bugs.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566928" y="1536192"/>
            <a:ext cx="5669280" cy="1754916"/>
          </a:xfrm>
          <a:prstGeom prst="roundRect">
            <a:avLst>
              <a:gd name="adj" fmla="val 3647"/>
            </a:avLst>
          </a:prstGeom>
          <a:solidFill>
            <a:srgbClr val="EDF2F7"/>
          </a:solidFill>
          <a:ln w="12700">
            <a:solidFill>
              <a:srgbClr val="CFDBE5"/>
            </a:solidFill>
            <a:prstDash val="solid"/>
          </a:ln>
        </p:spPr>
      </p:sp>
      <p:sp>
        <p:nvSpPr>
          <p:cNvPr id="8" name="Text 6"/>
          <p:cNvSpPr txBox="1"/>
          <p:nvPr/>
        </p:nvSpPr>
        <p:spPr>
          <a:xfrm>
            <a:off x="713232" y="1581912"/>
            <a:ext cx="53766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length IS A FIELD — NO BRACKETS</a:t>
            </a:r>
            <a:endParaRPr lang="en-US" sz="950" dirty="0"/>
          </a:p>
        </p:txBody>
      </p:sp>
      <p:sp>
        <p:nvSpPr>
          <p:cNvPr id="9" name="Text 7"/>
          <p:cNvSpPr txBox="1"/>
          <p:nvPr/>
        </p:nvSpPr>
        <p:spPr>
          <a:xfrm>
            <a:off x="731520" y="1810512"/>
            <a:ext cx="5340096" cy="1425732"/>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10 — a field, not a method</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the first element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9</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the last element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the last, safely</a:t>
            </a:r>
            <a:endParaRPr lang="en-US" sz="1100" dirty="0"/>
          </a:p>
        </p:txBody>
      </p:sp>
      <p:sp>
        <p:nvSpPr>
          <p:cNvPr id="10" name="Shape 8"/>
          <p:cNvSpPr/>
          <p:nvPr/>
        </p:nvSpPr>
        <p:spPr>
          <a:xfrm>
            <a:off x="566928" y="3528852"/>
            <a:ext cx="5669280" cy="1143000"/>
          </a:xfrm>
          <a:prstGeom prst="roundRect">
            <a:avLst>
              <a:gd name="adj" fmla="val 7200"/>
            </a:avLst>
          </a:prstGeom>
          <a:solidFill>
            <a:srgbClr val="FBEAE8"/>
          </a:solidFill>
          <a:ln w="12700">
            <a:solidFill>
              <a:srgbClr val="FBEAE8"/>
            </a:solidFill>
            <a:prstDash val="solid"/>
          </a:ln>
        </p:spPr>
      </p:sp>
      <p:sp>
        <p:nvSpPr>
          <p:cNvPr id="11" name="Text 9"/>
          <p:cNvSpPr txBox="1"/>
          <p:nvPr/>
        </p:nvSpPr>
        <p:spPr>
          <a:xfrm>
            <a:off x="841248" y="3528852"/>
            <a:ext cx="5120640" cy="1143000"/>
          </a:xfrm>
          <a:prstGeom prst="rect">
            <a:avLst/>
          </a:prstGeom>
          <a:noFill/>
          <a:ln/>
        </p:spPr>
        <p:txBody>
          <a:bodyPr wrap="square" lIns="0" tIns="0" rIns="0" bIns="0" rtlCol="0" anchor="ctr"/>
          <a:lstStyle/>
          <a:p>
            <a:pPr indent="0" marL="0">
              <a:lnSpc>
                <a:spcPct val="112000"/>
              </a:lnSpc>
              <a:buNone/>
            </a:pPr>
            <a:r>
              <a:rPr lang="en-US" sz="1250" b="1" dirty="0">
                <a:solidFill>
                  <a:srgbClr val="9C241C"/>
                </a:solidFill>
                <a:latin typeface="Calibri" pitchFamily="34" charset="0"/>
                <a:ea typeface="Calibri" pitchFamily="34" charset="-122"/>
                <a:cs typeface="Calibri" pitchFamily="34" charset="-120"/>
              </a:rPr>
              <a:t>Indices run 0 to length − 1.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An array of 10 has no element 10. This is the single most common runtime error in the course.</a:t>
            </a:r>
            <a:endParaRPr lang="en-US" sz="1250" dirty="0"/>
          </a:p>
        </p:txBody>
      </p:sp>
      <p:sp>
        <p:nvSpPr>
          <p:cNvPr id="12" name="Shape 10"/>
          <p:cNvSpPr/>
          <p:nvPr/>
        </p:nvSpPr>
        <p:spPr>
          <a:xfrm>
            <a:off x="566928" y="4827300"/>
            <a:ext cx="5669280" cy="1188720"/>
          </a:xfrm>
          <a:prstGeom prst="roundRect">
            <a:avLst>
              <a:gd name="adj" fmla="val 6923"/>
            </a:avLst>
          </a:prstGeom>
          <a:solidFill>
            <a:srgbClr val="E4ECF4"/>
          </a:solidFill>
          <a:ln w="12700">
            <a:solidFill>
              <a:srgbClr val="E4ECF4"/>
            </a:solidFill>
            <a:prstDash val="solid"/>
          </a:ln>
        </p:spPr>
      </p:sp>
      <p:sp>
        <p:nvSpPr>
          <p:cNvPr id="13" name="Text 11"/>
          <p:cNvSpPr txBox="1"/>
          <p:nvPr/>
        </p:nvSpPr>
        <p:spPr>
          <a:xfrm>
            <a:off x="822960" y="4937028"/>
            <a:ext cx="5157216"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length vs length()</a:t>
            </a:r>
            <a:endParaRPr lang="en-US" sz="1350" dirty="0"/>
          </a:p>
        </p:txBody>
      </p:sp>
      <p:sp>
        <p:nvSpPr>
          <p:cNvPr id="14" name="Text 12"/>
          <p:cNvSpPr txBox="1"/>
          <p:nvPr/>
        </p:nvSpPr>
        <p:spPr>
          <a:xfrm>
            <a:off x="822960" y="5229636"/>
            <a:ext cx="5157216" cy="749808"/>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An array has a field called length, no brackets. A String has a method length(), with brackets. Everybody mixes them up at least once.</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93408" y="1536192"/>
          <a:ext cx="4931359" cy="914400"/>
        </p:xfrm>
        <a:graphic>
          <a:graphicData uri="http://schemas.openxmlformats.org/drawingml/2006/table">
            <a:tbl>
              <a:tblPr/>
              <a:tblGrid>
                <a:gridCol w="2860188"/>
                <a:gridCol w="2071171"/>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Element type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Default value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347472">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int, short, long, byte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47472">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double, float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char</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'\u0000'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47472">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boolean</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String and any object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null</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bl>
          </a:graphicData>
        </a:graphic>
      </p:graphicFrame>
      <p:sp>
        <p:nvSpPr>
          <p:cNvPr id="16" name="Shape 13"/>
          <p:cNvSpPr/>
          <p:nvPr/>
        </p:nvSpPr>
        <p:spPr>
          <a:xfrm>
            <a:off x="6693408" y="4005072"/>
            <a:ext cx="4931359" cy="1371600"/>
          </a:xfrm>
          <a:prstGeom prst="roundRect">
            <a:avLst>
              <a:gd name="adj" fmla="val 6000"/>
            </a:avLst>
          </a:prstGeom>
          <a:solidFill>
            <a:srgbClr val="E6F2EC"/>
          </a:solidFill>
          <a:ln w="12700">
            <a:solidFill>
              <a:srgbClr val="E6F2EC"/>
            </a:solidFill>
            <a:prstDash val="solid"/>
          </a:ln>
        </p:spPr>
      </p:sp>
      <p:sp>
        <p:nvSpPr>
          <p:cNvPr id="17" name="Text 14"/>
          <p:cNvSpPr txBox="1"/>
          <p:nvPr/>
        </p:nvSpPr>
        <p:spPr>
          <a:xfrm>
            <a:off x="6912864" y="4169664"/>
            <a:ext cx="449244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Arrays are zero-filled for you</a:t>
            </a:r>
            <a:endParaRPr lang="en-US" sz="1450" dirty="0"/>
          </a:p>
        </p:txBody>
      </p:sp>
      <p:sp>
        <p:nvSpPr>
          <p:cNvPr id="18" name="Text 15"/>
          <p:cNvSpPr txBox="1"/>
          <p:nvPr/>
        </p:nvSpPr>
        <p:spPr>
          <a:xfrm>
            <a:off x="6912864" y="4498848"/>
            <a:ext cx="4492447" cy="74980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Unlike a local variable, which must be assigned before it is read, every element of a new array already holds its type's default. A new int[100] is a hundred zeroes, ready to be added to.</a:t>
            </a:r>
            <a:endParaRPr lang="en-US" sz="1200" dirty="0"/>
          </a:p>
        </p:txBody>
      </p:sp>
      <p:sp>
        <p:nvSpPr>
          <p:cNvPr id="19" name="Shape 16"/>
          <p:cNvSpPr/>
          <p:nvPr/>
        </p:nvSpPr>
        <p:spPr>
          <a:xfrm>
            <a:off x="6693408" y="5513832"/>
            <a:ext cx="4931359" cy="731520"/>
          </a:xfrm>
          <a:prstGeom prst="roundRect">
            <a:avLst>
              <a:gd name="adj" fmla="val 11250"/>
            </a:avLst>
          </a:prstGeom>
          <a:solidFill>
            <a:srgbClr val="FBEEE0"/>
          </a:solidFill>
          <a:ln w="12700">
            <a:solidFill>
              <a:srgbClr val="FBEEE0"/>
            </a:solidFill>
            <a:prstDash val="solid"/>
          </a:ln>
        </p:spPr>
      </p:sp>
      <p:sp>
        <p:nvSpPr>
          <p:cNvPr id="20" name="Text 17"/>
          <p:cNvSpPr txBox="1"/>
          <p:nvPr/>
        </p:nvSpPr>
        <p:spPr>
          <a:xfrm>
            <a:off x="6967728" y="5513832"/>
            <a:ext cx="4382719" cy="731520"/>
          </a:xfrm>
          <a:prstGeom prst="rect">
            <a:avLst/>
          </a:prstGeom>
          <a:noFill/>
          <a:ln/>
        </p:spPr>
        <p:txBody>
          <a:bodyPr wrap="square" lIns="0" tIns="0" rIns="0" bIns="0" rtlCol="0" anchor="ctr"/>
          <a:lstStyle/>
          <a:p>
            <a:pPr indent="0" marL="0">
              <a:buNone/>
            </a:pPr>
            <a:r>
              <a:rPr lang="en-US" sz="1200" dirty="0">
                <a:solidFill>
                  <a:srgbClr val="3A536B"/>
                </a:solidFill>
                <a:latin typeface="Calibri" pitchFamily="34" charset="0"/>
                <a:ea typeface="Calibri" pitchFamily="34" charset="-122"/>
                <a:cs typeface="Calibri" pitchFamily="34" charset="-120"/>
              </a:rPr>
              <a:t>A char array is filled with '\u0000', which prints as nothing at all.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ARRAYS 03</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Shorthand — and Its One Rule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An array initialiser declares, creates and fills in a single statement. It cannot be split.</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566928" y="1536192"/>
            <a:ext cx="5323180" cy="717804"/>
          </a:xfrm>
          <a:prstGeom prst="roundRect">
            <a:avLst>
              <a:gd name="adj" fmla="val 8917"/>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SHORTHAND</a:t>
            </a:r>
            <a:endParaRPr lang="en-US" sz="950" dirty="0"/>
          </a:p>
        </p:txBody>
      </p:sp>
      <p:sp>
        <p:nvSpPr>
          <p:cNvPr id="9" name="Text 7"/>
          <p:cNvSpPr txBox="1"/>
          <p:nvPr/>
        </p:nvSpPr>
        <p:spPr>
          <a:xfrm>
            <a:off x="731520" y="1810512"/>
            <a:ext cx="4993996" cy="388620"/>
          </a:xfrm>
          <a:prstGeom prst="rect">
            <a:avLst/>
          </a:prstGeom>
          <a:noFill/>
          <a:ln/>
        </p:spPr>
        <p:txBody>
          <a:bodyPr wrap="square" lIns="0" tIns="0" rIns="0" bIns="0" rtlCol="0" anchor="t"/>
          <a:lstStyle/>
          <a:p>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1.9</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2.9</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3.4</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3.5</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p:txBody>
      </p:sp>
      <p:sp>
        <p:nvSpPr>
          <p:cNvPr id="10" name="Shape 8"/>
          <p:cNvSpPr/>
          <p:nvPr/>
        </p:nvSpPr>
        <p:spPr>
          <a:xfrm>
            <a:off x="566928" y="2528316"/>
            <a:ext cx="5323180" cy="1638605"/>
          </a:xfrm>
          <a:prstGeom prst="roundRect">
            <a:avLst>
              <a:gd name="adj" fmla="val 3906"/>
            </a:avLst>
          </a:prstGeom>
          <a:solidFill>
            <a:srgbClr val="EDF2F7"/>
          </a:solidFill>
          <a:ln w="12700">
            <a:solidFill>
              <a:srgbClr val="CFDBE5"/>
            </a:solidFill>
            <a:prstDash val="solid"/>
          </a:ln>
        </p:spPr>
      </p:sp>
      <p:sp>
        <p:nvSpPr>
          <p:cNvPr id="11" name="Text 9"/>
          <p:cNvSpPr txBox="1"/>
          <p:nvPr/>
        </p:nvSpPr>
        <p:spPr>
          <a:xfrm>
            <a:off x="713232" y="2574036"/>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EXACTLY EQUIVALENT TO</a:t>
            </a:r>
            <a:endParaRPr lang="en-US" sz="950" dirty="0"/>
          </a:p>
        </p:txBody>
      </p:sp>
      <p:sp>
        <p:nvSpPr>
          <p:cNvPr id="12" name="Text 10"/>
          <p:cNvSpPr txBox="1"/>
          <p:nvPr/>
        </p:nvSpPr>
        <p:spPr>
          <a:xfrm>
            <a:off x="731520" y="2802636"/>
            <a:ext cx="4993996" cy="1309421"/>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1.9</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2.9</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3.4</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3.5</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66928" y="4422953"/>
            <a:ext cx="5323180" cy="1188720"/>
          </a:xfrm>
          <a:prstGeom prst="roundRect">
            <a:avLst>
              <a:gd name="adj" fmla="val 6923"/>
            </a:avLst>
          </a:prstGeom>
          <a:solidFill>
            <a:srgbClr val="E6F2EC"/>
          </a:solidFill>
          <a:ln w="12700">
            <a:solidFill>
              <a:srgbClr val="E6F2EC"/>
            </a:solidFill>
            <a:prstDash val="solid"/>
          </a:ln>
        </p:spPr>
      </p:sp>
      <p:sp>
        <p:nvSpPr>
          <p:cNvPr id="14" name="Text 12"/>
          <p:cNvSpPr txBox="1"/>
          <p:nvPr/>
        </p:nvSpPr>
        <p:spPr>
          <a:xfrm>
            <a:off x="841248" y="4422953"/>
            <a:ext cx="4774540" cy="1188720"/>
          </a:xfrm>
          <a:prstGeom prst="rect">
            <a:avLst/>
          </a:prstGeom>
          <a:noFill/>
          <a:ln/>
        </p:spPr>
        <p:txBody>
          <a:bodyPr wrap="square" lIns="0" tIns="0" rIns="0" bIns="0" rtlCol="0" anchor="ctr"/>
          <a:lstStyle/>
          <a:p>
            <a:pPr indent="0" marL="0">
              <a:lnSpc>
                <a:spcPct val="112000"/>
              </a:lnSpc>
              <a:buNone/>
            </a:pPr>
            <a:r>
              <a:rPr lang="en-US" sz="1250" b="1" dirty="0">
                <a:solidFill>
                  <a:srgbClr val="176240"/>
                </a:solidFill>
                <a:latin typeface="Calibri" pitchFamily="34" charset="0"/>
                <a:ea typeface="Calibri" pitchFamily="34" charset="-122"/>
                <a:cs typeface="Calibri" pitchFamily="34" charset="-120"/>
              </a:rPr>
              <a:t>No new, no size.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The length is however many values you wrote — here, four.</a:t>
            </a:r>
            <a:endParaRPr lang="en-US" sz="1250" dirty="0"/>
          </a:p>
        </p:txBody>
      </p:sp>
      <p:sp>
        <p:nvSpPr>
          <p:cNvPr id="15" name="Shape 13"/>
          <p:cNvSpPr/>
          <p:nvPr/>
        </p:nvSpPr>
        <p:spPr>
          <a:xfrm>
            <a:off x="6301588" y="1536192"/>
            <a:ext cx="5323180" cy="940735"/>
          </a:xfrm>
          <a:prstGeom prst="roundRect">
            <a:avLst>
              <a:gd name="adj" fmla="val 6804"/>
            </a:avLst>
          </a:prstGeom>
          <a:solidFill>
            <a:srgbClr val="EDF2F7"/>
          </a:solidFill>
          <a:ln w="12700">
            <a:solidFill>
              <a:srgbClr val="CFDBE5"/>
            </a:solidFill>
            <a:prstDash val="solid"/>
          </a:ln>
        </p:spPr>
      </p:sp>
      <p:sp>
        <p:nvSpPr>
          <p:cNvPr id="16" name="Text 14"/>
          <p:cNvSpPr txBox="1"/>
          <p:nvPr/>
        </p:nvSpPr>
        <p:spPr>
          <a:xfrm>
            <a:off x="644789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DOES NOT COMPILE</a:t>
            </a:r>
            <a:endParaRPr lang="en-US" sz="950" dirty="0"/>
          </a:p>
        </p:txBody>
      </p:sp>
      <p:sp>
        <p:nvSpPr>
          <p:cNvPr id="17" name="Text 15"/>
          <p:cNvSpPr txBox="1"/>
          <p:nvPr/>
        </p:nvSpPr>
        <p:spPr>
          <a:xfrm>
            <a:off x="6466180" y="1810512"/>
            <a:ext cx="4993996" cy="611551"/>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1.9</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2.9</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3.4</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3.5</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WRONG</a:t>
            </a:r>
            <a:endParaRPr lang="en-US" sz="1200" dirty="0"/>
          </a:p>
        </p:txBody>
      </p:sp>
      <p:sp>
        <p:nvSpPr>
          <p:cNvPr id="18" name="Shape 16"/>
          <p:cNvSpPr/>
          <p:nvPr/>
        </p:nvSpPr>
        <p:spPr>
          <a:xfrm>
            <a:off x="6301588" y="2696383"/>
            <a:ext cx="5323180" cy="663397"/>
          </a:xfrm>
          <a:prstGeom prst="roundRect">
            <a:avLst>
              <a:gd name="adj" fmla="val 9649"/>
            </a:avLst>
          </a:prstGeom>
          <a:solidFill>
            <a:srgbClr val="FFFFFF"/>
          </a:solidFill>
          <a:ln w="12700">
            <a:solidFill>
              <a:srgbClr val="4B6377"/>
            </a:solidFill>
            <a:prstDash val="solid"/>
          </a:ln>
        </p:spPr>
      </p:sp>
      <p:sp>
        <p:nvSpPr>
          <p:cNvPr id="19" name="Text 17"/>
          <p:cNvSpPr txBox="1"/>
          <p:nvPr/>
        </p:nvSpPr>
        <p:spPr>
          <a:xfrm>
            <a:off x="6447892" y="2769535"/>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20" name="Text 18"/>
          <p:cNvSpPr txBox="1"/>
          <p:nvPr/>
        </p:nvSpPr>
        <p:spPr>
          <a:xfrm>
            <a:off x="6447892" y="2970703"/>
            <a:ext cx="5030572" cy="297637"/>
          </a:xfrm>
          <a:prstGeom prst="rect">
            <a:avLst/>
          </a:prstGeom>
          <a:noFill/>
          <a:ln/>
        </p:spPr>
        <p:txBody>
          <a:bodyPr wrap="square" lIns="0" tIns="0" rIns="0" bIns="0" rtlCol="0" anchor="t"/>
          <a:lstStyle/>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error: illegal start of expression</a:t>
            </a:r>
            <a:endParaRPr lang="en-US" sz="1100" dirty="0"/>
          </a:p>
        </p:txBody>
      </p:sp>
      <p:sp>
        <p:nvSpPr>
          <p:cNvPr id="21" name="Shape 19"/>
          <p:cNvSpPr/>
          <p:nvPr/>
        </p:nvSpPr>
        <p:spPr>
          <a:xfrm>
            <a:off x="6301588" y="3615812"/>
            <a:ext cx="5323180" cy="1463040"/>
          </a:xfrm>
          <a:prstGeom prst="roundRect">
            <a:avLst>
              <a:gd name="adj" fmla="val 5625"/>
            </a:avLst>
          </a:prstGeom>
          <a:solidFill>
            <a:srgbClr val="FBEAE8"/>
          </a:solidFill>
          <a:ln w="12700">
            <a:solidFill>
              <a:srgbClr val="FBEAE8"/>
            </a:solidFill>
            <a:prstDash val="solid"/>
          </a:ln>
        </p:spPr>
      </p:sp>
      <p:sp>
        <p:nvSpPr>
          <p:cNvPr id="22" name="Text 20"/>
          <p:cNvSpPr txBox="1"/>
          <p:nvPr/>
        </p:nvSpPr>
        <p:spPr>
          <a:xfrm>
            <a:off x="6557620" y="3743828"/>
            <a:ext cx="4811116" cy="274320"/>
          </a:xfrm>
          <a:prstGeom prst="rect">
            <a:avLst/>
          </a:prstGeom>
          <a:noFill/>
          <a:ln/>
        </p:spPr>
        <p:txBody>
          <a:bodyPr wrap="square" lIns="0" tIns="0" rIns="0" bIns="0" rtlCol="0" anchor="ctr"/>
          <a:lstStyle/>
          <a:p>
            <a:pPr indent="0" marL="0">
              <a:buNone/>
            </a:pPr>
            <a:r>
              <a:rPr lang="en-US" sz="1350" b="1" dirty="0">
                <a:solidFill>
                  <a:srgbClr val="9C241C"/>
                </a:solidFill>
                <a:latin typeface="Calibri" pitchFamily="34" charset="0"/>
                <a:ea typeface="Calibri" pitchFamily="34" charset="-122"/>
                <a:cs typeface="Calibri" pitchFamily="34" charset="-120"/>
              </a:rPr>
              <a:t>All three steps or none</a:t>
            </a:r>
            <a:endParaRPr lang="en-US" sz="1350" dirty="0"/>
          </a:p>
        </p:txBody>
      </p:sp>
      <p:sp>
        <p:nvSpPr>
          <p:cNvPr id="23" name="Text 21"/>
          <p:cNvSpPr txBox="1"/>
          <p:nvPr/>
        </p:nvSpPr>
        <p:spPr>
          <a:xfrm>
            <a:off x="6557620" y="4036436"/>
            <a:ext cx="4811116" cy="9601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The braces form is only legal as part of a declaration. Split it across two statements and the compiler does not recognise the braces at all.</a:t>
            </a:r>
            <a:endParaRPr lang="en-US" sz="1200" dirty="0"/>
          </a:p>
        </p:txBody>
      </p:sp>
      <p:sp>
        <p:nvSpPr>
          <p:cNvPr id="24" name="Shape 22"/>
          <p:cNvSpPr/>
          <p:nvPr/>
        </p:nvSpPr>
        <p:spPr>
          <a:xfrm>
            <a:off x="6301588" y="5234300"/>
            <a:ext cx="5323180" cy="679033"/>
          </a:xfrm>
          <a:prstGeom prst="roundRect">
            <a:avLst>
              <a:gd name="adj" fmla="val 9426"/>
            </a:avLst>
          </a:prstGeom>
          <a:solidFill>
            <a:srgbClr val="EDF2F7"/>
          </a:solidFill>
          <a:ln w="12700">
            <a:solidFill>
              <a:srgbClr val="CFDBE5"/>
            </a:solidFill>
            <a:prstDash val="solid"/>
          </a:ln>
        </p:spPr>
      </p:sp>
      <p:sp>
        <p:nvSpPr>
          <p:cNvPr id="25" name="Text 23"/>
          <p:cNvSpPr txBox="1"/>
          <p:nvPr/>
        </p:nvSpPr>
        <p:spPr>
          <a:xfrm>
            <a:off x="6447892" y="5280020"/>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IF YOU MUST ASSIGN LATER</a:t>
            </a:r>
            <a:endParaRPr lang="en-US" sz="950" dirty="0"/>
          </a:p>
        </p:txBody>
      </p:sp>
      <p:sp>
        <p:nvSpPr>
          <p:cNvPr id="26" name="Text 24"/>
          <p:cNvSpPr txBox="1"/>
          <p:nvPr/>
        </p:nvSpPr>
        <p:spPr>
          <a:xfrm>
            <a:off x="6466180" y="5508620"/>
            <a:ext cx="4993996" cy="349849"/>
          </a:xfrm>
          <a:prstGeom prst="rect">
            <a:avLst/>
          </a:prstGeom>
          <a:noFill/>
          <a:ln/>
        </p:spPr>
        <p:txBody>
          <a:bodyPr wrap="square" lIns="0" tIns="0" rIns="0" bIns="0" rtlCol="0" anchor="t"/>
          <a:lstStyle/>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1.9</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2.9</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3.4</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3.5</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415C6E"/>
                </a:solidFill>
                <a:latin typeface="Courier New" pitchFamily="34" charset="0"/>
                <a:ea typeface="Courier New" pitchFamily="34" charset="-122"/>
                <a:cs typeface="Courier New" pitchFamily="34" charset="-120"/>
              </a:rPr>
              <a:t>// this works</a:t>
            </a:r>
            <a:endParaRPr lang="en-US" sz="1050" dirty="0"/>
          </a:p>
        </p:txBody>
      </p:sp>
      <p:sp>
        <p:nvSpPr>
          <p:cNvPr id="27" name="Text 25"/>
          <p:cNvSpPr txBox="1"/>
          <p:nvPr/>
        </p:nvSpPr>
        <p:spPr>
          <a:xfrm>
            <a:off x="6301588" y="5986485"/>
            <a:ext cx="5323180" cy="274320"/>
          </a:xfrm>
          <a:prstGeom prst="rect">
            <a:avLst/>
          </a:prstGeom>
          <a:noFill/>
          <a:ln/>
        </p:spPr>
        <p:txBody>
          <a:bodyPr wrap="square" lIns="0" tIns="0" rIns="0" bIns="0" rtlCol="0" anchor="ctr"/>
          <a:lstStyle/>
          <a:p>
            <a:pPr indent="0" marL="0">
              <a:buNone/>
            </a:pPr>
            <a:r>
              <a:rPr lang="en-US" sz="1150" i="1" dirty="0">
                <a:solidFill>
                  <a:srgbClr val="4B6377"/>
                </a:solidFill>
                <a:latin typeface="Calibri" pitchFamily="34" charset="0"/>
                <a:ea typeface="Calibri" pitchFamily="34" charset="-122"/>
                <a:cs typeface="Calibri" pitchFamily="34" charset="-120"/>
              </a:rPr>
              <a:t>The longer form names the type explicitly, so it is legal anywhere a value is.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TRACE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Following a Program That Fills an Array</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Each pass uses the element the previous pass wrote. Watch the array, not just the counter.</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566928" y="1536192"/>
            <a:ext cx="5029200" cy="2103852"/>
          </a:xfrm>
          <a:prstGeom prst="roundRect">
            <a:avLst>
              <a:gd name="adj" fmla="val 3042"/>
            </a:avLst>
          </a:prstGeom>
          <a:solidFill>
            <a:srgbClr val="EDF2F7"/>
          </a:solidFill>
          <a:ln w="12700">
            <a:solidFill>
              <a:srgbClr val="CFDBE5"/>
            </a:solidFill>
            <a:prstDash val="solid"/>
          </a:ln>
        </p:spPr>
      </p:sp>
      <p:sp>
        <p:nvSpPr>
          <p:cNvPr id="8" name="Text 6"/>
          <p:cNvSpPr txBox="1"/>
          <p:nvPr/>
        </p:nvSpPr>
        <p:spPr>
          <a:xfrm>
            <a:off x="713232" y="1581912"/>
            <a:ext cx="473659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TRACING FIVE ELEMENTS</a:t>
            </a:r>
            <a:endParaRPr lang="en-US" sz="950" dirty="0"/>
          </a:p>
        </p:txBody>
      </p:sp>
      <p:sp>
        <p:nvSpPr>
          <p:cNvPr id="9" name="Text 7"/>
          <p:cNvSpPr txBox="1"/>
          <p:nvPr/>
        </p:nvSpPr>
        <p:spPr>
          <a:xfrm>
            <a:off x="731520" y="1810512"/>
            <a:ext cx="4700016" cy="1774668"/>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values</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values</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values</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values</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values</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values</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p:txBody>
      </p:sp>
      <p:sp>
        <p:nvSpPr>
          <p:cNvPr id="10" name="Shape 8"/>
          <p:cNvSpPr/>
          <p:nvPr/>
        </p:nvSpPr>
        <p:spPr>
          <a:xfrm>
            <a:off x="566928" y="3547872"/>
            <a:ext cx="5029200" cy="1234440"/>
          </a:xfrm>
          <a:prstGeom prst="roundRect">
            <a:avLst>
              <a:gd name="adj" fmla="val 6667"/>
            </a:avLst>
          </a:prstGeom>
          <a:solidFill>
            <a:srgbClr val="E4ECF4"/>
          </a:solidFill>
          <a:ln w="12700">
            <a:solidFill>
              <a:srgbClr val="E4ECF4"/>
            </a:solidFill>
            <a:prstDash val="solid"/>
          </a:ln>
        </p:spPr>
      </p:sp>
      <p:sp>
        <p:nvSpPr>
          <p:cNvPr id="11" name="Text 9"/>
          <p:cNvSpPr txBox="1"/>
          <p:nvPr/>
        </p:nvSpPr>
        <p:spPr>
          <a:xfrm>
            <a:off x="841248" y="3547872"/>
            <a:ext cx="4480560" cy="1234440"/>
          </a:xfrm>
          <a:prstGeom prst="rect">
            <a:avLst/>
          </a:prstGeom>
          <a:noFill/>
          <a:ln/>
        </p:spPr>
        <p:txBody>
          <a:bodyPr wrap="square" lIns="0" tIns="0" rIns="0" bIns="0" rtlCol="0" anchor="ctr"/>
          <a:lstStyle/>
          <a:p>
            <a:pPr indent="0" marL="0">
              <a:lnSpc>
                <a:spcPct val="112000"/>
              </a:lnSpc>
              <a:buNone/>
            </a:pPr>
            <a:r>
              <a:rPr lang="en-US" sz="1250" b="1" dirty="0">
                <a:solidFill>
                  <a:srgbClr val="0F2942"/>
                </a:solidFill>
                <a:latin typeface="Calibri" pitchFamily="34" charset="0"/>
                <a:ea typeface="Calibri" pitchFamily="34" charset="-122"/>
                <a:cs typeface="Calibri" pitchFamily="34" charset="-120"/>
              </a:rPr>
              <a:t>The loop starts at 1, not 0.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It has to — values[i - 1] would be values[-1] on the first pass, which is an exception.</a:t>
            </a:r>
            <a:endParaRPr lang="en-US" sz="1250" dirty="0"/>
          </a:p>
        </p:txBody>
      </p:sp>
      <p:sp>
        <p:nvSpPr>
          <p:cNvPr id="12" name="Shape 10"/>
          <p:cNvSpPr/>
          <p:nvPr/>
        </p:nvSpPr>
        <p:spPr>
          <a:xfrm>
            <a:off x="566928" y="4919472"/>
            <a:ext cx="5029200" cy="1234440"/>
          </a:xfrm>
          <a:prstGeom prst="roundRect">
            <a:avLst>
              <a:gd name="adj" fmla="val 6667"/>
            </a:avLst>
          </a:prstGeom>
          <a:solidFill>
            <a:srgbClr val="E6F2EC"/>
          </a:solidFill>
          <a:ln w="12700">
            <a:solidFill>
              <a:srgbClr val="E6F2EC"/>
            </a:solidFill>
            <a:prstDash val="solid"/>
          </a:ln>
        </p:spPr>
      </p:sp>
      <p:sp>
        <p:nvSpPr>
          <p:cNvPr id="13" name="Text 11"/>
          <p:cNvSpPr txBox="1"/>
          <p:nvPr/>
        </p:nvSpPr>
        <p:spPr>
          <a:xfrm>
            <a:off x="841248" y="4919472"/>
            <a:ext cx="4480560" cy="1234440"/>
          </a:xfrm>
          <a:prstGeom prst="rect">
            <a:avLst/>
          </a:prstGeom>
          <a:noFill/>
          <a:ln/>
        </p:spPr>
        <p:txBody>
          <a:bodyPr wrap="square" lIns="0" tIns="0" rIns="0" bIns="0" rtlCol="0" anchor="ctr"/>
          <a:lstStyle/>
          <a:p>
            <a:pPr indent="0" marL="0">
              <a:lnSpc>
                <a:spcPct val="120000"/>
              </a:lnSpc>
              <a:buNone/>
            </a:pPr>
            <a:r>
              <a:rPr lang="en-US" sz="1250" b="1" dirty="0">
                <a:solidFill>
                  <a:srgbClr val="176240"/>
                </a:solidFill>
                <a:latin typeface="Calibri" pitchFamily="34" charset="0"/>
                <a:ea typeface="Calibri" pitchFamily="34" charset="-122"/>
                <a:cs typeface="Calibri" pitchFamily="34" charset="-120"/>
              </a:rPr>
              <a:t>Final answer:  </a:t>
            </a:r>
            <a:pPr indent="0" marL="0">
              <a:lnSpc>
                <a:spcPct val="120000"/>
              </a:lnSpc>
              <a:buNone/>
            </a:pPr>
            <a:r>
              <a:rPr lang="en-US" sz="1400" b="1" dirty="0">
                <a:solidFill>
                  <a:srgbClr val="176240"/>
                </a:solidFill>
                <a:latin typeface="Courier New" pitchFamily="34" charset="0"/>
                <a:ea typeface="Courier New" pitchFamily="34" charset="-122"/>
                <a:cs typeface="Courier New" pitchFamily="34" charset="-120"/>
              </a:rPr>
              <a:t>[11, 1, 3, 6, 10]</a:t>
            </a:r>
            <a:pPr indent="0" marL="0">
              <a:lnSpc>
                <a:spcPct val="120000"/>
              </a:lnSpc>
              <a:buNone/>
            </a:pPr>
            <a:endParaRPr lang="en-US" sz="1250" dirty="0"/>
          </a:p>
          <a:p>
            <a:pPr indent="0" marL="0">
              <a:lnSpc>
                <a:spcPct val="120000"/>
              </a:lnSpc>
              <a:buNone/>
            </a:pPr>
            <a:r>
              <a:rPr lang="en-US" sz="1250" dirty="0">
                <a:solidFill>
                  <a:srgbClr val="3A536B"/>
                </a:solidFill>
                <a:latin typeface="Calibri" pitchFamily="34" charset="0"/>
                <a:ea typeface="Calibri" pitchFamily="34" charset="-122"/>
                <a:cs typeface="Calibri" pitchFamily="34" charset="-120"/>
              </a:rPr>
              <a:t>The last line reads two elements the loop wrote and stores the sum back at index 0.</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053328" y="1536192"/>
          <a:ext cx="5571439" cy="914400"/>
        </p:xfrm>
        <a:graphic>
          <a:graphicData uri="http://schemas.openxmlformats.org/drawingml/2006/table">
            <a:tbl>
              <a:tblPr/>
              <a:tblGrid>
                <a:gridCol w="1894289"/>
                <a:gridCol w="735430"/>
                <a:gridCol w="735430"/>
                <a:gridCol w="735430"/>
                <a:gridCol w="735430"/>
                <a:gridCol w="735430"/>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After</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365760">
                <a:tc>
                  <a:txBody>
                    <a:bodyPr/>
                    <a:lstStyle/>
                    <a:p>
                      <a:pPr indent="0" marL="0">
                        <a:buNone/>
                      </a:pPr>
                      <a:r>
                        <a:rPr lang="en-US" sz="1000" b="1" dirty="0">
                          <a:solidFill>
                            <a:srgbClr val="0F2942"/>
                          </a:solidFill>
                          <a:latin typeface="Courier New" pitchFamily="34" charset="0"/>
                          <a:ea typeface="Courier New" pitchFamily="34" charset="-122"/>
                          <a:cs typeface="Courier New" pitchFamily="34" charset="-120"/>
                        </a:rPr>
                        <a:t>new int[5]</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65760">
                <a:tc>
                  <a:txBody>
                    <a:bodyPr/>
                    <a:lstStyle/>
                    <a:p>
                      <a:pPr indent="0" marL="0">
                        <a:buNone/>
                      </a:pPr>
                      <a:r>
                        <a:rPr lang="en-US" sz="1000" b="1" dirty="0">
                          <a:solidFill>
                            <a:srgbClr val="0F2942"/>
                          </a:solidFill>
                          <a:latin typeface="Courier New" pitchFamily="34" charset="0"/>
                          <a:ea typeface="Courier New" pitchFamily="34" charset="-122"/>
                          <a:cs typeface="Courier New" pitchFamily="34" charset="-120"/>
                        </a:rPr>
                        <a:t>i = 1</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0F2942"/>
                          </a:solidFill>
                          <a:latin typeface="Courier New" pitchFamily="34" charset="0"/>
                          <a:ea typeface="Courier New" pitchFamily="34" charset="-122"/>
                          <a:cs typeface="Courier New" pitchFamily="34" charset="-120"/>
                        </a:rPr>
                        <a:t>i = 2</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65760">
                <a:tc>
                  <a:txBody>
                    <a:bodyPr/>
                    <a:lstStyle/>
                    <a:p>
                      <a:pPr indent="0" marL="0">
                        <a:buNone/>
                      </a:pPr>
                      <a:r>
                        <a:rPr lang="en-US" sz="1000" b="1" dirty="0">
                          <a:solidFill>
                            <a:srgbClr val="0F2942"/>
                          </a:solidFill>
                          <a:latin typeface="Courier New" pitchFamily="34" charset="0"/>
                          <a:ea typeface="Courier New" pitchFamily="34" charset="-122"/>
                          <a:cs typeface="Courier New" pitchFamily="34" charset="-120"/>
                        </a:rPr>
                        <a:t>i = 3</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6</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0F2942"/>
                          </a:solidFill>
                          <a:latin typeface="Courier New" pitchFamily="34" charset="0"/>
                          <a:ea typeface="Courier New" pitchFamily="34" charset="-122"/>
                          <a:cs typeface="Courier New" pitchFamily="34" charset="-120"/>
                        </a:rPr>
                        <a:t>i = 4</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6</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10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65760">
                <a:tc>
                  <a:txBody>
                    <a:bodyPr/>
                    <a:lstStyle/>
                    <a:p>
                      <a:pPr indent="0" marL="0">
                        <a:buNone/>
                      </a:pPr>
                      <a:r>
                        <a:rPr lang="en-US" sz="1000" b="1" dirty="0">
                          <a:solidFill>
                            <a:srgbClr val="176240"/>
                          </a:solidFill>
                          <a:latin typeface="Courier New" pitchFamily="34" charset="0"/>
                          <a:ea typeface="Courier New" pitchFamily="34" charset="-122"/>
                          <a:cs typeface="Courier New" pitchFamily="34" charset="-120"/>
                        </a:rPr>
                        <a:t>values[0] = 1 + 10</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c>
                  <a:txBody>
                    <a:bodyPr/>
                    <a:lstStyle/>
                    <a:p>
                      <a:pPr algn="ctr" indent="0" marL="0">
                        <a:buNone/>
                      </a:pPr>
                      <a:r>
                        <a:rPr lang="en-US" sz="1100" b="1" dirty="0">
                          <a:solidFill>
                            <a:srgbClr val="176240"/>
                          </a:solidFill>
                          <a:latin typeface="Courier New" pitchFamily="34" charset="0"/>
                          <a:ea typeface="Courier New" pitchFamily="34" charset="-122"/>
                          <a:cs typeface="Courier New" pitchFamily="34" charset="-120"/>
                        </a:rPr>
                        <a:t>11</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c>
                  <a:txBody>
                    <a:bodyPr/>
                    <a:lstStyle/>
                    <a:p>
                      <a:pPr algn="ctr" indent="0" marL="0">
                        <a:buNone/>
                      </a:pPr>
                      <a:r>
                        <a:rPr lang="en-US" sz="1100" b="1" dirty="0">
                          <a:solidFill>
                            <a:srgbClr val="176240"/>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c>
                  <a:txBody>
                    <a:bodyPr/>
                    <a:lstStyle/>
                    <a:p>
                      <a:pPr algn="ctr" indent="0" marL="0">
                        <a:buNone/>
                      </a:pPr>
                      <a:r>
                        <a:rPr lang="en-US" sz="1100" b="1" dirty="0">
                          <a:solidFill>
                            <a:srgbClr val="176240"/>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c>
                  <a:txBody>
                    <a:bodyPr/>
                    <a:lstStyle/>
                    <a:p>
                      <a:pPr algn="ctr" indent="0" marL="0">
                        <a:buNone/>
                      </a:pPr>
                      <a:r>
                        <a:rPr lang="en-US" sz="1100" b="1" dirty="0">
                          <a:solidFill>
                            <a:srgbClr val="176240"/>
                          </a:solidFill>
                          <a:latin typeface="Courier New" pitchFamily="34" charset="0"/>
                          <a:ea typeface="Courier New" pitchFamily="34" charset="-122"/>
                          <a:cs typeface="Courier New" pitchFamily="34" charset="-120"/>
                        </a:rPr>
                        <a:t>6</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c>
                  <a:txBody>
                    <a:bodyPr/>
                    <a:lstStyle/>
                    <a:p>
                      <a:pPr algn="ctr" indent="0" marL="0">
                        <a:buNone/>
                      </a:pPr>
                      <a:r>
                        <a:rPr lang="en-US" sz="1100" b="1" dirty="0">
                          <a:solidFill>
                            <a:srgbClr val="176240"/>
                          </a:solidFill>
                          <a:latin typeface="Courier New" pitchFamily="34" charset="0"/>
                          <a:ea typeface="Courier New" pitchFamily="34" charset="-122"/>
                          <a:cs typeface="Courier New" pitchFamily="34" charset="-120"/>
                        </a:rPr>
                        <a:t>10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r>
            </a:tbl>
          </a:graphicData>
        </a:graphic>
      </p:graphicFrame>
      <p:sp>
        <p:nvSpPr>
          <p:cNvPr id="15" name="Shape 12"/>
          <p:cNvSpPr/>
          <p:nvPr/>
        </p:nvSpPr>
        <p:spPr>
          <a:xfrm>
            <a:off x="6053328" y="4553712"/>
            <a:ext cx="5571439" cy="1234440"/>
          </a:xfrm>
          <a:prstGeom prst="roundRect">
            <a:avLst>
              <a:gd name="adj" fmla="val 6667"/>
            </a:avLst>
          </a:prstGeom>
          <a:solidFill>
            <a:srgbClr val="FBEEE0"/>
          </a:solidFill>
          <a:ln w="12700">
            <a:solidFill>
              <a:srgbClr val="FBEEE0"/>
            </a:solidFill>
            <a:prstDash val="solid"/>
          </a:ln>
        </p:spPr>
      </p:sp>
      <p:sp>
        <p:nvSpPr>
          <p:cNvPr id="16" name="Text 13"/>
          <p:cNvSpPr txBox="1"/>
          <p:nvPr/>
        </p:nvSpPr>
        <p:spPr>
          <a:xfrm>
            <a:off x="6309360" y="4681728"/>
            <a:ext cx="5059375" cy="274320"/>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Trace arrays as a table, not as a list of steps</a:t>
            </a:r>
            <a:endParaRPr lang="en-US" sz="1350" dirty="0"/>
          </a:p>
        </p:txBody>
      </p:sp>
      <p:sp>
        <p:nvSpPr>
          <p:cNvPr id="17" name="Text 14"/>
          <p:cNvSpPr txBox="1"/>
          <p:nvPr/>
        </p:nvSpPr>
        <p:spPr>
          <a:xfrm>
            <a:off x="6309360" y="4992624"/>
            <a:ext cx="5059375" cy="749808"/>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One row per pass, one column per element. Every array bug you will meet this semester becomes obvious the moment you draw this table on paper.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PITFALLS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Exception Everyone Meets in the First Lab</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Indices run 0 to length − 1. Step outside and the program stops.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566928" y="1536192"/>
            <a:ext cx="5323180" cy="1173358"/>
          </a:xfrm>
          <a:prstGeom prst="roundRect">
            <a:avLst>
              <a:gd name="adj" fmla="val 5455"/>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OFF BY ONE</a:t>
            </a:r>
            <a:endParaRPr lang="en-US" sz="950" dirty="0"/>
          </a:p>
        </p:txBody>
      </p:sp>
      <p:sp>
        <p:nvSpPr>
          <p:cNvPr id="9" name="Text 7"/>
          <p:cNvSpPr txBox="1"/>
          <p:nvPr/>
        </p:nvSpPr>
        <p:spPr>
          <a:xfrm>
            <a:off x="731520" y="1810512"/>
            <a:ext cx="4993996" cy="844174"/>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there is no element 3</a:t>
            </a:r>
            <a:endParaRPr lang="en-US" sz="1200" dirty="0"/>
          </a:p>
        </p:txBody>
      </p:sp>
      <p:sp>
        <p:nvSpPr>
          <p:cNvPr id="10" name="Shape 8"/>
          <p:cNvSpPr/>
          <p:nvPr/>
        </p:nvSpPr>
        <p:spPr>
          <a:xfrm>
            <a:off x="566928" y="2947294"/>
            <a:ext cx="5323180" cy="1047674"/>
          </a:xfrm>
          <a:prstGeom prst="roundRect">
            <a:avLst>
              <a:gd name="adj" fmla="val 6110"/>
            </a:avLst>
          </a:prstGeom>
          <a:solidFill>
            <a:srgbClr val="FFFFFF"/>
          </a:solidFill>
          <a:ln w="12700">
            <a:solidFill>
              <a:srgbClr val="4B6377"/>
            </a:solidFill>
            <a:prstDash val="solid"/>
          </a:ln>
        </p:spPr>
      </p:sp>
      <p:sp>
        <p:nvSpPr>
          <p:cNvPr id="11" name="Text 9"/>
          <p:cNvSpPr txBox="1"/>
          <p:nvPr/>
        </p:nvSpPr>
        <p:spPr>
          <a:xfrm>
            <a:off x="713232" y="3020446"/>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13232" y="3221614"/>
            <a:ext cx="5030572" cy="681914"/>
          </a:xfrm>
          <a:prstGeom prst="rect">
            <a:avLst/>
          </a:prstGeom>
          <a:noFill/>
          <a:ln/>
        </p:spPr>
        <p:txBody>
          <a:bodyPr wrap="square" lIns="0" tIns="0" rIns="0" bIns="0" rtlCol="0" anchor="t"/>
          <a:lstStyle/>
          <a:p>
            <a:pPr indent="0" marL="0">
              <a:lnSpc>
                <a:spcPct val="110000"/>
              </a:lnSpc>
              <a:buNone/>
            </a:pPr>
            <a:r>
              <a:rPr lang="en-US" sz="1050" dirty="0">
                <a:solidFill>
                  <a:srgbClr val="0F2942"/>
                </a:solidFill>
                <a:latin typeface="Courier New" pitchFamily="34" charset="0"/>
                <a:ea typeface="Courier New" pitchFamily="34" charset="-122"/>
                <a:cs typeface="Courier New" pitchFamily="34" charset="-120"/>
              </a:rPr>
              <a:t>Exception in thread "main"</a:t>
            </a:r>
            <a:endParaRPr lang="en-US" sz="1050" dirty="0"/>
          </a:p>
          <a:p>
            <a:pPr indent="0" marL="0">
              <a:lnSpc>
                <a:spcPct val="110000"/>
              </a:lnSpc>
              <a:buNone/>
            </a:pPr>
            <a:r>
              <a:rPr lang="en-US" sz="1050" dirty="0">
                <a:solidFill>
                  <a:srgbClr val="0F2942"/>
                </a:solidFill>
                <a:latin typeface="Courier New" pitchFamily="34" charset="0"/>
                <a:ea typeface="Courier New" pitchFamily="34" charset="-122"/>
                <a:cs typeface="Courier New" pitchFamily="34" charset="-120"/>
              </a:rPr>
              <a:t>java.lang.ArrayIndexOutOfBoundsException:</a:t>
            </a:r>
            <a:endParaRPr lang="en-US" sz="1050" dirty="0"/>
          </a:p>
          <a:p>
            <a:pPr indent="0" marL="0">
              <a:lnSpc>
                <a:spcPct val="110000"/>
              </a:lnSpc>
              <a:buNone/>
            </a:pPr>
            <a:r>
              <a:rPr lang="en-US" sz="1050" dirty="0">
                <a:solidFill>
                  <a:srgbClr val="0F2942"/>
                </a:solidFill>
                <a:latin typeface="Courier New" pitchFamily="34" charset="0"/>
                <a:ea typeface="Courier New" pitchFamily="34" charset="-122"/>
                <a:cs typeface="Courier New" pitchFamily="34" charset="-120"/>
              </a:rPr>
              <a:t>  Index 3 out of bounds for length 3</a:t>
            </a:r>
            <a:endParaRPr lang="en-US" sz="1050" dirty="0"/>
          </a:p>
        </p:txBody>
      </p:sp>
      <p:sp>
        <p:nvSpPr>
          <p:cNvPr id="13" name="Shape 11"/>
          <p:cNvSpPr/>
          <p:nvPr/>
        </p:nvSpPr>
        <p:spPr>
          <a:xfrm>
            <a:off x="566928" y="4251000"/>
            <a:ext cx="5323180" cy="1371600"/>
          </a:xfrm>
          <a:prstGeom prst="roundRect">
            <a:avLst>
              <a:gd name="adj" fmla="val 6000"/>
            </a:avLst>
          </a:prstGeom>
          <a:solidFill>
            <a:srgbClr val="FBEAE8"/>
          </a:solidFill>
          <a:ln w="12700">
            <a:solidFill>
              <a:srgbClr val="FBEAE8"/>
            </a:solidFill>
            <a:prstDash val="solid"/>
          </a:ln>
        </p:spPr>
      </p:sp>
      <p:sp>
        <p:nvSpPr>
          <p:cNvPr id="14" name="Text 12"/>
          <p:cNvSpPr txBox="1"/>
          <p:nvPr/>
        </p:nvSpPr>
        <p:spPr>
          <a:xfrm>
            <a:off x="822960" y="4379016"/>
            <a:ext cx="4811116" cy="274320"/>
          </a:xfrm>
          <a:prstGeom prst="rect">
            <a:avLst/>
          </a:prstGeom>
          <a:noFill/>
          <a:ln/>
        </p:spPr>
        <p:txBody>
          <a:bodyPr wrap="square" lIns="0" tIns="0" rIns="0" bIns="0" rtlCol="0" anchor="ctr"/>
          <a:lstStyle/>
          <a:p>
            <a:pPr indent="0" marL="0">
              <a:buNone/>
            </a:pPr>
            <a:r>
              <a:rPr lang="en-US" sz="1350" b="1" dirty="0">
                <a:solidFill>
                  <a:srgbClr val="9C241C"/>
                </a:solidFill>
                <a:latin typeface="Calibri" pitchFamily="34" charset="0"/>
                <a:ea typeface="Calibri" pitchFamily="34" charset="-122"/>
                <a:cs typeface="Calibri" pitchFamily="34" charset="-120"/>
              </a:rPr>
              <a:t>Read the message — it tells you both numbers</a:t>
            </a:r>
            <a:endParaRPr lang="en-US" sz="1350" dirty="0"/>
          </a:p>
        </p:txBody>
      </p:sp>
      <p:sp>
        <p:nvSpPr>
          <p:cNvPr id="15" name="Text 13"/>
          <p:cNvSpPr txBox="1"/>
          <p:nvPr/>
        </p:nvSpPr>
        <p:spPr>
          <a:xfrm>
            <a:off x="822960" y="4671624"/>
            <a:ext cx="4811116" cy="91440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"Index 3 out of bounds for length 3" gives you the index you used and the size of the array. Nine times in ten the fix is &lt;= where you meant &lt;.</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301588" y="1536192"/>
          <a:ext cx="5323180" cy="914400"/>
        </p:xfrm>
        <a:graphic>
          <a:graphicData uri="http://schemas.openxmlformats.org/drawingml/2006/table">
            <a:tbl>
              <a:tblPr/>
              <a:tblGrid>
                <a:gridCol w="3193908"/>
                <a:gridCol w="2129272"/>
              </a:tblGrid>
              <a:tr h="42062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Written as</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420624">
                <a:tc>
                  <a:txBody>
                    <a:bodyPr/>
                    <a:lstStyle/>
                    <a:p>
                      <a:pPr indent="0" marL="0">
                        <a:buNone/>
                      </a:pPr>
                      <a:r>
                        <a:rPr lang="en-US" sz="1000" dirty="0">
                          <a:solidFill>
                            <a:srgbClr val="0F2942"/>
                          </a:solidFill>
                          <a:latin typeface="Courier New" pitchFamily="34" charset="0"/>
                          <a:ea typeface="Courier New" pitchFamily="34" charset="-122"/>
                          <a:cs typeface="Courier New" pitchFamily="34" charset="-120"/>
                        </a:rPr>
                        <a:t>for (int i = 0; i &lt; a.length; i++)</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c>
                  <a:txBody>
                    <a:bodyPr/>
                    <a:lstStyle/>
                    <a:p>
                      <a:pPr indent="0" marL="0">
                        <a:buNone/>
                      </a:pPr>
                      <a:r>
                        <a:rPr lang="en-US" sz="1100" b="1" dirty="0">
                          <a:solidFill>
                            <a:srgbClr val="176240"/>
                          </a:solidFill>
                          <a:latin typeface="Calibri" pitchFamily="34" charset="0"/>
                          <a:ea typeface="Calibri" pitchFamily="34" charset="-122"/>
                          <a:cs typeface="Calibri" pitchFamily="34" charset="-120"/>
                        </a:rPr>
                        <a:t>correct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r>
              <a:tr h="420624">
                <a:tc>
                  <a:txBody>
                    <a:bodyPr/>
                    <a:lstStyle/>
                    <a:p>
                      <a:pPr indent="0" marL="0">
                        <a:buNone/>
                      </a:pPr>
                      <a:r>
                        <a:rPr lang="en-US" sz="1000" dirty="0">
                          <a:solidFill>
                            <a:srgbClr val="0F2942"/>
                          </a:solidFill>
                          <a:latin typeface="Courier New" pitchFamily="34" charset="0"/>
                          <a:ea typeface="Courier New" pitchFamily="34" charset="-122"/>
                          <a:cs typeface="Courier New" pitchFamily="34" charset="-120"/>
                        </a:rPr>
                        <a:t>for (int i = 0; i &lt;= a.length; i++)</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AE8"/>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exception on the last pass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AE8"/>
                    </a:solidFill>
                  </a:tcPr>
                </a:tc>
              </a:tr>
              <a:tr h="420624">
                <a:tc>
                  <a:txBody>
                    <a:bodyPr/>
                    <a:lstStyle/>
                    <a:p>
                      <a:pPr indent="0" marL="0">
                        <a:buNone/>
                      </a:pPr>
                      <a:r>
                        <a:rPr lang="en-US" sz="1000" dirty="0">
                          <a:solidFill>
                            <a:srgbClr val="0F2942"/>
                          </a:solidFill>
                          <a:latin typeface="Courier New" pitchFamily="34" charset="0"/>
                          <a:ea typeface="Courier New" pitchFamily="34" charset="-122"/>
                          <a:cs typeface="Courier New" pitchFamily="34" charset="-120"/>
                        </a:rPr>
                        <a:t>for (int i = 1; i &lt;= a.length; i++)</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AE8"/>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exception, and skips a[0]</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AE8"/>
                    </a:solidFill>
                  </a:tcPr>
                </a:tc>
              </a:tr>
              <a:tr h="420624">
                <a:tc>
                  <a:txBody>
                    <a:bodyPr/>
                    <a:lstStyle/>
                    <a:p>
                      <a:pPr indent="0" marL="0">
                        <a:buNone/>
                      </a:pPr>
                      <a:r>
                        <a:rPr lang="en-US" sz="1000" dirty="0">
                          <a:solidFill>
                            <a:srgbClr val="0F2942"/>
                          </a:solidFill>
                          <a:latin typeface="Courier New" pitchFamily="34" charset="0"/>
                          <a:ea typeface="Courier New" pitchFamily="34" charset="-122"/>
                          <a:cs typeface="Courier New" pitchFamily="34" charset="-120"/>
                        </a:rPr>
                        <a:t>for (int i = 0; i &lt; a.length - 1; i++)</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safe, but misses the last element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tr>
            </a:tbl>
          </a:graphicData>
        </a:graphic>
      </p:graphicFrame>
      <p:sp>
        <p:nvSpPr>
          <p:cNvPr id="17" name="Shape 14"/>
          <p:cNvSpPr/>
          <p:nvPr/>
        </p:nvSpPr>
        <p:spPr>
          <a:xfrm>
            <a:off x="6301588" y="3986784"/>
            <a:ext cx="5323180" cy="1371600"/>
          </a:xfrm>
          <a:prstGeom prst="roundRect">
            <a:avLst>
              <a:gd name="adj" fmla="val 6000"/>
            </a:avLst>
          </a:prstGeom>
          <a:solidFill>
            <a:srgbClr val="E4ECF4"/>
          </a:solidFill>
          <a:ln w="12700">
            <a:solidFill>
              <a:srgbClr val="E4ECF4"/>
            </a:solidFill>
            <a:prstDash val="solid"/>
          </a:ln>
        </p:spPr>
      </p:sp>
      <p:sp>
        <p:nvSpPr>
          <p:cNvPr id="18" name="Text 15"/>
          <p:cNvSpPr txBox="1"/>
          <p:nvPr/>
        </p:nvSpPr>
        <p:spPr>
          <a:xfrm>
            <a:off x="6521044" y="4151376"/>
            <a:ext cx="4884268"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Always write i &lt; array.length</a:t>
            </a:r>
            <a:endParaRPr lang="en-US" sz="1450" dirty="0"/>
          </a:p>
        </p:txBody>
      </p:sp>
      <p:sp>
        <p:nvSpPr>
          <p:cNvPr id="19" name="Text 16"/>
          <p:cNvSpPr txBox="1"/>
          <p:nvPr/>
        </p:nvSpPr>
        <p:spPr>
          <a:xfrm>
            <a:off x="6521044" y="4480560"/>
            <a:ext cx="4884268" cy="74980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Not a literal, not a constant you declared earlier — the array's own length. Then the loop is right by construction and stays right when the array changes size.</a:t>
            </a:r>
            <a:endParaRPr lang="en-US" sz="1200" dirty="0"/>
          </a:p>
        </p:txBody>
      </p:sp>
      <p:sp>
        <p:nvSpPr>
          <p:cNvPr id="20" name="Shape 17"/>
          <p:cNvSpPr/>
          <p:nvPr/>
        </p:nvSpPr>
        <p:spPr>
          <a:xfrm>
            <a:off x="6301588" y="5513832"/>
            <a:ext cx="5323180" cy="749808"/>
          </a:xfrm>
          <a:prstGeom prst="roundRect">
            <a:avLst>
              <a:gd name="adj" fmla="val 10976"/>
            </a:avLst>
          </a:prstGeom>
          <a:solidFill>
            <a:srgbClr val="F1F5F9"/>
          </a:solidFill>
          <a:ln w="12700">
            <a:solidFill>
              <a:srgbClr val="F1F5F9"/>
            </a:solidFill>
            <a:prstDash val="solid"/>
          </a:ln>
        </p:spPr>
      </p:sp>
      <p:sp>
        <p:nvSpPr>
          <p:cNvPr id="21" name="Text 18"/>
          <p:cNvSpPr txBox="1"/>
          <p:nvPr/>
        </p:nvSpPr>
        <p:spPr>
          <a:xfrm>
            <a:off x="6575908" y="5513832"/>
            <a:ext cx="4774540" cy="749808"/>
          </a:xfrm>
          <a:prstGeom prst="rect">
            <a:avLst/>
          </a:prstGeom>
          <a:noFill/>
          <a:ln/>
        </p:spPr>
        <p:txBody>
          <a:bodyPr wrap="square" lIns="0" tIns="0" rIns="0" bIns="0" rtlCol="0" anchor="ctr"/>
          <a:lstStyle/>
          <a:p>
            <a:pPr indent="0" marL="0">
              <a:buNone/>
            </a:pPr>
            <a:r>
              <a:rPr lang="en-US" sz="1200" b="1" dirty="0">
                <a:solidFill>
                  <a:srgbClr val="0F2942"/>
                </a:solidFill>
                <a:latin typeface="Calibri" pitchFamily="34" charset="0"/>
                <a:ea typeface="Calibri" pitchFamily="34" charset="-122"/>
                <a:cs typeface="Calibri" pitchFamily="34" charset="-120"/>
              </a:rPr>
              <a:t>A negative index throws too.  </a:t>
            </a:r>
            <a:pPr indent="0" marL="0">
              <a:buNone/>
            </a:pPr>
            <a:r>
              <a:rPr lang="en-US" sz="1200" dirty="0">
                <a:solidFill>
                  <a:srgbClr val="3A536B"/>
                </a:solidFill>
                <a:latin typeface="Calibri" pitchFamily="34" charset="0"/>
                <a:ea typeface="Calibri" pitchFamily="34" charset="-122"/>
                <a:cs typeface="Calibri" pitchFamily="34" charset="-120"/>
              </a:rPr>
              <a:t>There is no wrapping round to the end, as in Python.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1</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4–9</a:t>
            </a:r>
            <a:endParaRPr lang="en-US" sz="1250" dirty="0"/>
          </a:p>
        </p:txBody>
      </p:sp>
      <p:sp>
        <p:nvSpPr>
          <p:cNvPr id="5" name="Shape 3"/>
          <p:cNvSpPr/>
          <p:nvPr/>
        </p:nvSpPr>
        <p:spPr>
          <a:xfrm>
            <a:off x="566928" y="1637142"/>
            <a:ext cx="11057839" cy="960120"/>
          </a:xfrm>
          <a:prstGeom prst="roundRect">
            <a:avLst>
              <a:gd name="adj" fmla="val 8571"/>
            </a:avLst>
          </a:prstGeom>
          <a:solidFill>
            <a:srgbClr val="FFFFFF"/>
          </a:solidFill>
          <a:ln w="12700">
            <a:solidFill>
              <a:srgbClr val="D3DEE7"/>
            </a:solidFill>
            <a:prstDash val="solid"/>
          </a:ln>
        </p:spPr>
      </p:sp>
      <p:sp>
        <p:nvSpPr>
          <p:cNvPr id="6" name="Shape 4"/>
          <p:cNvSpPr/>
          <p:nvPr/>
        </p:nvSpPr>
        <p:spPr>
          <a:xfrm>
            <a:off x="841248" y="1874886"/>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187488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801734"/>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What is the difference between declaring an array variable and creating the array?</a:t>
            </a:r>
            <a:endParaRPr lang="en-US" sz="1550" dirty="0"/>
          </a:p>
        </p:txBody>
      </p:sp>
      <p:sp>
        <p:nvSpPr>
          <p:cNvPr id="9" name="Shape 7"/>
          <p:cNvSpPr/>
          <p:nvPr/>
        </p:nvSpPr>
        <p:spPr>
          <a:xfrm>
            <a:off x="566928" y="2816718"/>
            <a:ext cx="11057839" cy="2130186"/>
          </a:xfrm>
          <a:prstGeom prst="roundRect">
            <a:avLst>
              <a:gd name="adj" fmla="val 3863"/>
            </a:avLst>
          </a:prstGeom>
          <a:solidFill>
            <a:srgbClr val="FFFFFF"/>
          </a:solidFill>
          <a:ln w="12700">
            <a:solidFill>
              <a:srgbClr val="D3DEE7"/>
            </a:solidFill>
            <a:prstDash val="solid"/>
          </a:ln>
        </p:spPr>
      </p:sp>
      <p:sp>
        <p:nvSpPr>
          <p:cNvPr id="10" name="Shape 8"/>
          <p:cNvSpPr/>
          <p:nvPr/>
        </p:nvSpPr>
        <p:spPr>
          <a:xfrm>
            <a:off x="841248" y="3054462"/>
            <a:ext cx="402336" cy="402336"/>
          </a:xfrm>
          <a:prstGeom prst="ellipse">
            <a:avLst/>
          </a:prstGeom>
          <a:solidFill>
            <a:srgbClr val="C4560C"/>
          </a:solidFill>
          <a:ln w="12700">
            <a:solidFill>
              <a:srgbClr val="C4560C"/>
            </a:solidFill>
            <a:prstDash val="solid"/>
          </a:ln>
        </p:spPr>
      </p:sp>
      <p:sp>
        <p:nvSpPr>
          <p:cNvPr id="11" name="Text 9"/>
          <p:cNvSpPr txBox="1"/>
          <p:nvPr/>
        </p:nvSpPr>
        <p:spPr>
          <a:xfrm>
            <a:off x="841248" y="305446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2981310"/>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What does this print, and what is stored in list[2]?</a:t>
            </a:r>
            <a:endParaRPr lang="en-US" sz="1550" dirty="0"/>
          </a:p>
        </p:txBody>
      </p:sp>
      <p:sp>
        <p:nvSpPr>
          <p:cNvPr id="13" name="Shape 11"/>
          <p:cNvSpPr/>
          <p:nvPr/>
        </p:nvSpPr>
        <p:spPr>
          <a:xfrm>
            <a:off x="1435608" y="3456798"/>
            <a:ext cx="6949440" cy="968898"/>
          </a:xfrm>
          <a:prstGeom prst="roundRect">
            <a:avLst>
              <a:gd name="adj" fmla="val 6606"/>
            </a:avLst>
          </a:prstGeom>
          <a:solidFill>
            <a:srgbClr val="EDF2F7"/>
          </a:solidFill>
          <a:ln w="12700">
            <a:solidFill>
              <a:srgbClr val="CFDBE5"/>
            </a:solidFill>
            <a:prstDash val="solid"/>
          </a:ln>
        </p:spPr>
      </p:sp>
      <p:sp>
        <p:nvSpPr>
          <p:cNvPr id="14" name="Text 12"/>
          <p:cNvSpPr txBox="1"/>
          <p:nvPr/>
        </p:nvSpPr>
        <p:spPr>
          <a:xfrm>
            <a:off x="1600200" y="3593958"/>
            <a:ext cx="6620256" cy="767730"/>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566928" y="5166360"/>
            <a:ext cx="11057839" cy="960120"/>
          </a:xfrm>
          <a:prstGeom prst="roundRect">
            <a:avLst>
              <a:gd name="adj" fmla="val 8571"/>
            </a:avLst>
          </a:prstGeom>
          <a:solidFill>
            <a:srgbClr val="FFFFFF"/>
          </a:solidFill>
          <a:ln w="12700">
            <a:solidFill>
              <a:srgbClr val="D3DEE7"/>
            </a:solidFill>
            <a:prstDash val="solid"/>
          </a:ln>
        </p:spPr>
      </p:sp>
      <p:sp>
        <p:nvSpPr>
          <p:cNvPr id="16" name="Shape 14"/>
          <p:cNvSpPr/>
          <p:nvPr/>
        </p:nvSpPr>
        <p:spPr>
          <a:xfrm>
            <a:off x="841248" y="5404104"/>
            <a:ext cx="402336" cy="402336"/>
          </a:xfrm>
          <a:prstGeom prst="ellipse">
            <a:avLst/>
          </a:prstGeom>
          <a:solidFill>
            <a:srgbClr val="C4560C"/>
          </a:solidFill>
          <a:ln w="12700">
            <a:solidFill>
              <a:srgbClr val="C4560C"/>
            </a:solidFill>
            <a:prstDash val="solid"/>
          </a:ln>
        </p:spPr>
      </p:sp>
      <p:sp>
        <p:nvSpPr>
          <p:cNvPr id="17" name="Text 15"/>
          <p:cNvSpPr txBox="1"/>
          <p:nvPr/>
        </p:nvSpPr>
        <p:spPr>
          <a:xfrm>
            <a:off x="841248" y="540410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8" name="Text 16"/>
          <p:cNvSpPr txBox="1"/>
          <p:nvPr/>
        </p:nvSpPr>
        <p:spPr>
          <a:xfrm>
            <a:off x="1435608" y="5330952"/>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Why is myList.length written without brackets when s.length() has them?</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286000"/>
            <a:ext cx="5486400" cy="310896"/>
          </a:xfrm>
          <a:prstGeom prst="rect">
            <a:avLst/>
          </a:prstGeom>
          <a:noFill/>
          <a:ln/>
        </p:spPr>
        <p:txBody>
          <a:bodyPr wrap="square" lIns="0" tIns="0" rIns="0" bIns="0" rtlCol="0" anchor="ctr"/>
          <a:lstStyle/>
          <a:p>
            <a:pPr indent="0" marL="0">
              <a:buNone/>
            </a:pPr>
            <a:r>
              <a:rPr lang="en-US" sz="1300" b="1" spc="240" kern="0" dirty="0">
                <a:solidFill>
                  <a:srgbClr val="9A430A"/>
                </a:solidFill>
                <a:latin typeface="Calibri" pitchFamily="34" charset="0"/>
                <a:ea typeface="Calibri" pitchFamily="34" charset="-122"/>
                <a:cs typeface="Calibri" pitchFamily="34" charset="-120"/>
              </a:rPr>
              <a:t>PART 01</a:t>
            </a:r>
            <a:endParaRPr lang="en-US" sz="1300" dirty="0"/>
          </a:p>
        </p:txBody>
      </p:sp>
      <p:sp>
        <p:nvSpPr>
          <p:cNvPr id="3" name="Text 1"/>
          <p:cNvSpPr txBox="1"/>
          <p:nvPr/>
        </p:nvSpPr>
        <p:spPr>
          <a:xfrm>
            <a:off x="566928" y="2697480"/>
            <a:ext cx="8046720" cy="1737360"/>
          </a:xfrm>
          <a:prstGeom prst="rect">
            <a:avLst/>
          </a:prstGeom>
          <a:noFill/>
          <a:ln/>
        </p:spPr>
        <p:txBody>
          <a:bodyPr wrap="square" lIns="0" tIns="0" rIns="0" bIns="0" rtlCol="0" anchor="ctr"/>
          <a:lstStyle/>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Processing</a:t>
            </a:r>
            <a:endParaRPr lang="en-US" sz="4400" dirty="0"/>
          </a:p>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an Array</a:t>
            </a:r>
            <a:endParaRPr lang="en-US" sz="4400" dirty="0"/>
          </a:p>
        </p:txBody>
      </p:sp>
      <p:sp>
        <p:nvSpPr>
          <p:cNvPr id="4" name="Text 2"/>
          <p:cNvSpPr txBox="1"/>
          <p:nvPr/>
        </p:nvSpPr>
        <p:spPr>
          <a:xfrm>
            <a:off x="566928" y="4526280"/>
            <a:ext cx="8686800" cy="365760"/>
          </a:xfrm>
          <a:prstGeom prst="rect">
            <a:avLst/>
          </a:prstGeom>
          <a:noFill/>
          <a:ln/>
        </p:spPr>
        <p:txBody>
          <a:bodyPr wrap="square" lIns="0" tIns="0" rIns="0" bIns="0" rtlCol="0" anchor="ctr"/>
          <a:lstStyle/>
          <a:p>
            <a:pPr indent="0" marL="0">
              <a:buNone/>
            </a:pPr>
            <a:r>
              <a:rPr lang="en-US" sz="1500" dirty="0">
                <a:solidFill>
                  <a:srgbClr val="3A536B"/>
                </a:solidFill>
                <a:latin typeface="Calibri" pitchFamily="34" charset="0"/>
                <a:ea typeface="Calibri" pitchFamily="34" charset="-122"/>
                <a:cs typeface="Calibri" pitchFamily="34" charset="-120"/>
              </a:rPr>
              <a:t>The handful of loop shapes that cover almost everything you will ever do with one.</a:t>
            </a:r>
            <a:endParaRPr lang="en-US" sz="1500" dirty="0"/>
          </a:p>
        </p:txBody>
      </p:sp>
      <p:sp>
        <p:nvSpPr>
          <p:cNvPr id="5" name="Text 3"/>
          <p:cNvSpPr txBox="1"/>
          <p:nvPr/>
        </p:nvSpPr>
        <p:spPr>
          <a:xfrm>
            <a:off x="9247327" y="2011680"/>
            <a:ext cx="2377440" cy="2194560"/>
          </a:xfrm>
          <a:prstGeom prst="rect">
            <a:avLst/>
          </a:prstGeom>
          <a:noFill/>
          <a:ln/>
        </p:spPr>
        <p:txBody>
          <a:bodyPr wrap="square" lIns="0" tIns="0" rIns="0" bIns="0" rtlCol="0" anchor="ctr"/>
          <a:lstStyle/>
          <a:p>
            <a:pPr algn="r" indent="0" marL="0">
              <a:buNone/>
            </a:pPr>
            <a:r>
              <a:rPr lang="en-US" sz="13000" b="1" dirty="0">
                <a:solidFill>
                  <a:srgbClr val="CFDCE8"/>
                </a:solidFill>
                <a:latin typeface="Cambria" pitchFamily="34" charset="0"/>
                <a:ea typeface="Cambria" pitchFamily="34" charset="-122"/>
                <a:cs typeface="Cambria" pitchFamily="34" charset="-120"/>
              </a:rPr>
              <a:t>01</a:t>
            </a:r>
            <a:endParaRPr lang="en-US" sz="13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IDIOMS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Six Loops That Cover Almost Everything</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Learn these shapes and most array problems become a matter of picking one.</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12</a:t>
            </a:r>
            <a:endParaRPr lang="en-US" sz="900" dirty="0"/>
          </a:p>
        </p:txBody>
      </p:sp>
      <p:sp>
        <p:nvSpPr>
          <p:cNvPr id="7" name="Text 5"/>
          <p:cNvSpPr txBox="1"/>
          <p:nvPr/>
        </p:nvSpPr>
        <p:spPr>
          <a:xfrm>
            <a:off x="566928" y="1536192"/>
            <a:ext cx="5323180" cy="256032"/>
          </a:xfrm>
          <a:prstGeom prst="rect">
            <a:avLst/>
          </a:prstGeom>
          <a:noFill/>
          <a:ln/>
        </p:spPr>
        <p:txBody>
          <a:bodyPr wrap="square" lIns="0" tIns="0" rIns="0" bIns="0" rtlCol="0" anchor="ctr"/>
          <a:lstStyle/>
          <a:p>
            <a:pPr indent="0" marL="0">
              <a:buNone/>
            </a:pPr>
            <a:r>
              <a:rPr lang="en-US" sz="1250" b="1" dirty="0">
                <a:solidFill>
                  <a:srgbClr val="0F2942"/>
                </a:solidFill>
                <a:latin typeface="Calibri" pitchFamily="34" charset="0"/>
                <a:ea typeface="Calibri" pitchFamily="34" charset="-122"/>
                <a:cs typeface="Calibri" pitchFamily="34" charset="-120"/>
              </a:rPr>
              <a:t>Fill from input</a:t>
            </a:r>
            <a:endParaRPr lang="en-US" sz="1250" dirty="0"/>
          </a:p>
        </p:txBody>
      </p:sp>
      <p:sp>
        <p:nvSpPr>
          <p:cNvPr id="8" name="Shape 6"/>
          <p:cNvSpPr/>
          <p:nvPr/>
        </p:nvSpPr>
        <p:spPr>
          <a:xfrm>
            <a:off x="566928" y="1810512"/>
            <a:ext cx="5323180" cy="716890"/>
          </a:xfrm>
          <a:prstGeom prst="roundRect">
            <a:avLst>
              <a:gd name="adj" fmla="val 8929"/>
            </a:avLst>
          </a:prstGeom>
          <a:solidFill>
            <a:srgbClr val="EDF2F7"/>
          </a:solidFill>
          <a:ln w="12700">
            <a:solidFill>
              <a:srgbClr val="CFDBE5"/>
            </a:solidFill>
            <a:prstDash val="solid"/>
          </a:ln>
        </p:spPr>
      </p:sp>
      <p:sp>
        <p:nvSpPr>
          <p:cNvPr id="9" name="Text 7"/>
          <p:cNvSpPr txBox="1"/>
          <p:nvPr/>
        </p:nvSpPr>
        <p:spPr>
          <a:xfrm>
            <a:off x="731520" y="1947672"/>
            <a:ext cx="4993996" cy="515722"/>
          </a:xfrm>
          <a:prstGeom prst="rect">
            <a:avLst/>
          </a:prstGeom>
          <a:noFill/>
          <a:ln/>
        </p:spPr>
        <p:txBody>
          <a:bodyPr wrap="square" lIns="0" tIns="0" rIns="0" bIns="0" rtlCol="0" anchor="t"/>
          <a:lstStyle/>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nextDouble</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p:txBody>
      </p:sp>
      <p:sp>
        <p:nvSpPr>
          <p:cNvPr id="10" name="Text 8"/>
          <p:cNvSpPr txBox="1"/>
          <p:nvPr/>
        </p:nvSpPr>
        <p:spPr>
          <a:xfrm>
            <a:off x="566928" y="2710282"/>
            <a:ext cx="5323180" cy="256032"/>
          </a:xfrm>
          <a:prstGeom prst="rect">
            <a:avLst/>
          </a:prstGeom>
          <a:noFill/>
          <a:ln/>
        </p:spPr>
        <p:txBody>
          <a:bodyPr wrap="square" lIns="0" tIns="0" rIns="0" bIns="0" rtlCol="0" anchor="ctr"/>
          <a:lstStyle/>
          <a:p>
            <a:pPr indent="0" marL="0">
              <a:buNone/>
            </a:pPr>
            <a:r>
              <a:rPr lang="en-US" sz="1250" b="1" dirty="0">
                <a:solidFill>
                  <a:srgbClr val="0F2942"/>
                </a:solidFill>
                <a:latin typeface="Calibri" pitchFamily="34" charset="0"/>
                <a:ea typeface="Calibri" pitchFamily="34" charset="-122"/>
                <a:cs typeface="Calibri" pitchFamily="34" charset="-120"/>
              </a:rPr>
              <a:t>Fill with random values</a:t>
            </a:r>
            <a:endParaRPr lang="en-US" sz="1250" dirty="0"/>
          </a:p>
        </p:txBody>
      </p:sp>
      <p:sp>
        <p:nvSpPr>
          <p:cNvPr id="11" name="Shape 9"/>
          <p:cNvSpPr/>
          <p:nvPr/>
        </p:nvSpPr>
        <p:spPr>
          <a:xfrm>
            <a:off x="566928" y="2984602"/>
            <a:ext cx="5323180" cy="716890"/>
          </a:xfrm>
          <a:prstGeom prst="roundRect">
            <a:avLst>
              <a:gd name="adj" fmla="val 8929"/>
            </a:avLst>
          </a:prstGeom>
          <a:solidFill>
            <a:srgbClr val="EDF2F7"/>
          </a:solidFill>
          <a:ln w="12700">
            <a:solidFill>
              <a:srgbClr val="CFDBE5"/>
            </a:solidFill>
            <a:prstDash val="solid"/>
          </a:ln>
        </p:spPr>
      </p:sp>
      <p:sp>
        <p:nvSpPr>
          <p:cNvPr id="12" name="Text 10"/>
          <p:cNvSpPr txBox="1"/>
          <p:nvPr/>
        </p:nvSpPr>
        <p:spPr>
          <a:xfrm>
            <a:off x="731520" y="3121762"/>
            <a:ext cx="4993996" cy="515722"/>
          </a:xfrm>
          <a:prstGeom prst="rect">
            <a:avLst/>
          </a:prstGeom>
          <a:noFill/>
          <a:ln/>
        </p:spPr>
        <p:txBody>
          <a:bodyPr wrap="square" lIns="0" tIns="0" rIns="0" bIns="0" rtlCol="0" anchor="t"/>
          <a:lstStyle/>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random</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100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p:txBody>
      </p:sp>
      <p:sp>
        <p:nvSpPr>
          <p:cNvPr id="13" name="Text 11"/>
          <p:cNvSpPr txBox="1"/>
          <p:nvPr/>
        </p:nvSpPr>
        <p:spPr>
          <a:xfrm>
            <a:off x="566928" y="3884371"/>
            <a:ext cx="5323180" cy="256032"/>
          </a:xfrm>
          <a:prstGeom prst="rect">
            <a:avLst/>
          </a:prstGeom>
          <a:noFill/>
          <a:ln/>
        </p:spPr>
        <p:txBody>
          <a:bodyPr wrap="square" lIns="0" tIns="0" rIns="0" bIns="0" rtlCol="0" anchor="ctr"/>
          <a:lstStyle/>
          <a:p>
            <a:pPr indent="0" marL="0">
              <a:buNone/>
            </a:pPr>
            <a:r>
              <a:rPr lang="en-US" sz="1250" b="1" dirty="0">
                <a:solidFill>
                  <a:srgbClr val="0F2942"/>
                </a:solidFill>
                <a:latin typeface="Calibri" pitchFamily="34" charset="0"/>
                <a:ea typeface="Calibri" pitchFamily="34" charset="-122"/>
                <a:cs typeface="Calibri" pitchFamily="34" charset="-120"/>
              </a:rPr>
              <a:t>Print</a:t>
            </a:r>
            <a:endParaRPr lang="en-US" sz="1250" dirty="0"/>
          </a:p>
        </p:txBody>
      </p:sp>
      <p:sp>
        <p:nvSpPr>
          <p:cNvPr id="14" name="Shape 12"/>
          <p:cNvSpPr/>
          <p:nvPr/>
        </p:nvSpPr>
        <p:spPr>
          <a:xfrm>
            <a:off x="566928" y="4158691"/>
            <a:ext cx="5323180" cy="716890"/>
          </a:xfrm>
          <a:prstGeom prst="roundRect">
            <a:avLst>
              <a:gd name="adj" fmla="val 8929"/>
            </a:avLst>
          </a:prstGeom>
          <a:solidFill>
            <a:srgbClr val="EDF2F7"/>
          </a:solidFill>
          <a:ln w="12700">
            <a:solidFill>
              <a:srgbClr val="CFDBE5"/>
            </a:solidFill>
            <a:prstDash val="solid"/>
          </a:ln>
        </p:spPr>
      </p:sp>
      <p:sp>
        <p:nvSpPr>
          <p:cNvPr id="15" name="Text 13"/>
          <p:cNvSpPr txBox="1"/>
          <p:nvPr/>
        </p:nvSpPr>
        <p:spPr>
          <a:xfrm>
            <a:off x="731520" y="4295851"/>
            <a:ext cx="4993996" cy="515722"/>
          </a:xfrm>
          <a:prstGeom prst="rect">
            <a:avLst/>
          </a:prstGeom>
          <a:noFill/>
          <a:ln/>
        </p:spPr>
        <p:txBody>
          <a:bodyPr wrap="square" lIns="0" tIns="0" rIns="0" bIns="0" rtlCol="0" anchor="t"/>
          <a:lstStyle/>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p:txBody>
      </p:sp>
      <p:sp>
        <p:nvSpPr>
          <p:cNvPr id="16" name="Text 14"/>
          <p:cNvSpPr txBox="1"/>
          <p:nvPr/>
        </p:nvSpPr>
        <p:spPr>
          <a:xfrm>
            <a:off x="6301588" y="1536192"/>
            <a:ext cx="5323180" cy="256032"/>
          </a:xfrm>
          <a:prstGeom prst="rect">
            <a:avLst/>
          </a:prstGeom>
          <a:noFill/>
          <a:ln/>
        </p:spPr>
        <p:txBody>
          <a:bodyPr wrap="square" lIns="0" tIns="0" rIns="0" bIns="0" rtlCol="0" anchor="ctr"/>
          <a:lstStyle/>
          <a:p>
            <a:pPr indent="0" marL="0">
              <a:buNone/>
            </a:pPr>
            <a:r>
              <a:rPr lang="en-US" sz="1250" b="1" dirty="0">
                <a:solidFill>
                  <a:srgbClr val="0F2942"/>
                </a:solidFill>
                <a:latin typeface="Calibri" pitchFamily="34" charset="0"/>
                <a:ea typeface="Calibri" pitchFamily="34" charset="-122"/>
                <a:cs typeface="Calibri" pitchFamily="34" charset="-120"/>
              </a:rPr>
              <a:t>Sum</a:t>
            </a:r>
            <a:endParaRPr lang="en-US" sz="1250" dirty="0"/>
          </a:p>
        </p:txBody>
      </p:sp>
      <p:sp>
        <p:nvSpPr>
          <p:cNvPr id="17" name="Shape 15"/>
          <p:cNvSpPr/>
          <p:nvPr/>
        </p:nvSpPr>
        <p:spPr>
          <a:xfrm>
            <a:off x="6301588" y="1810512"/>
            <a:ext cx="5323180" cy="910742"/>
          </a:xfrm>
          <a:prstGeom prst="roundRect">
            <a:avLst>
              <a:gd name="adj" fmla="val 7028"/>
            </a:avLst>
          </a:prstGeom>
          <a:solidFill>
            <a:srgbClr val="EDF2F7"/>
          </a:solidFill>
          <a:ln w="12700">
            <a:solidFill>
              <a:srgbClr val="CFDBE5"/>
            </a:solidFill>
            <a:prstDash val="solid"/>
          </a:ln>
        </p:spPr>
      </p:sp>
      <p:sp>
        <p:nvSpPr>
          <p:cNvPr id="18" name="Text 16"/>
          <p:cNvSpPr txBox="1"/>
          <p:nvPr/>
        </p:nvSpPr>
        <p:spPr>
          <a:xfrm>
            <a:off x="6466180" y="1947672"/>
            <a:ext cx="4993996" cy="709574"/>
          </a:xfrm>
          <a:prstGeom prst="rect">
            <a:avLst/>
          </a:prstGeom>
          <a:noFill/>
          <a:ln/>
        </p:spPr>
        <p:txBody>
          <a:bodyPr wrap="square" lIns="0" tIns="0" rIns="0" bIns="0" rtlCol="0" anchor="t"/>
          <a:lstStyle/>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total</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total</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p:txBody>
      </p:sp>
      <p:sp>
        <p:nvSpPr>
          <p:cNvPr id="19" name="Text 17"/>
          <p:cNvSpPr txBox="1"/>
          <p:nvPr/>
        </p:nvSpPr>
        <p:spPr>
          <a:xfrm>
            <a:off x="6301588" y="2904134"/>
            <a:ext cx="5323180" cy="256032"/>
          </a:xfrm>
          <a:prstGeom prst="rect">
            <a:avLst/>
          </a:prstGeom>
          <a:noFill/>
          <a:ln/>
        </p:spPr>
        <p:txBody>
          <a:bodyPr wrap="square" lIns="0" tIns="0" rIns="0" bIns="0" rtlCol="0" anchor="ctr"/>
          <a:lstStyle/>
          <a:p>
            <a:pPr indent="0" marL="0">
              <a:buNone/>
            </a:pPr>
            <a:r>
              <a:rPr lang="en-US" sz="1250" b="1" dirty="0">
                <a:solidFill>
                  <a:srgbClr val="0F2942"/>
                </a:solidFill>
                <a:latin typeface="Calibri" pitchFamily="34" charset="0"/>
                <a:ea typeface="Calibri" pitchFamily="34" charset="-122"/>
                <a:cs typeface="Calibri" pitchFamily="34" charset="-120"/>
              </a:rPr>
              <a:t>Largest element</a:t>
            </a:r>
            <a:endParaRPr lang="en-US" sz="1250" dirty="0"/>
          </a:p>
        </p:txBody>
      </p:sp>
      <p:sp>
        <p:nvSpPr>
          <p:cNvPr id="20" name="Shape 18"/>
          <p:cNvSpPr/>
          <p:nvPr/>
        </p:nvSpPr>
        <p:spPr>
          <a:xfrm>
            <a:off x="6301588" y="3178454"/>
            <a:ext cx="5323180" cy="910742"/>
          </a:xfrm>
          <a:prstGeom prst="roundRect">
            <a:avLst>
              <a:gd name="adj" fmla="val 7028"/>
            </a:avLst>
          </a:prstGeom>
          <a:solidFill>
            <a:srgbClr val="EDF2F7"/>
          </a:solidFill>
          <a:ln w="12700">
            <a:solidFill>
              <a:srgbClr val="CFDBE5"/>
            </a:solidFill>
            <a:prstDash val="solid"/>
          </a:ln>
        </p:spPr>
      </p:sp>
      <p:sp>
        <p:nvSpPr>
          <p:cNvPr id="21" name="Text 19"/>
          <p:cNvSpPr txBox="1"/>
          <p:nvPr/>
        </p:nvSpPr>
        <p:spPr>
          <a:xfrm>
            <a:off x="6466180" y="3315614"/>
            <a:ext cx="4993996" cy="709574"/>
          </a:xfrm>
          <a:prstGeom prst="rect">
            <a:avLst/>
          </a:prstGeom>
          <a:noFill/>
          <a:ln/>
        </p:spPr>
        <p:txBody>
          <a:bodyPr wrap="square" lIns="0" tIns="0" rIns="0" bIns="0" rtlCol="0" anchor="t"/>
          <a:lstStyle/>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p:txBody>
      </p:sp>
      <p:sp>
        <p:nvSpPr>
          <p:cNvPr id="22" name="Text 20"/>
          <p:cNvSpPr txBox="1"/>
          <p:nvPr/>
        </p:nvSpPr>
        <p:spPr>
          <a:xfrm>
            <a:off x="6301588" y="4272077"/>
            <a:ext cx="5323180" cy="256032"/>
          </a:xfrm>
          <a:prstGeom prst="rect">
            <a:avLst/>
          </a:prstGeom>
          <a:noFill/>
          <a:ln/>
        </p:spPr>
        <p:txBody>
          <a:bodyPr wrap="square" lIns="0" tIns="0" rIns="0" bIns="0" rtlCol="0" anchor="ctr"/>
          <a:lstStyle/>
          <a:p>
            <a:pPr indent="0" marL="0">
              <a:buNone/>
            </a:pPr>
            <a:r>
              <a:rPr lang="en-US" sz="1250" b="1" dirty="0">
                <a:solidFill>
                  <a:srgbClr val="0F2942"/>
                </a:solidFill>
                <a:latin typeface="Calibri" pitchFamily="34" charset="0"/>
                <a:ea typeface="Calibri" pitchFamily="34" charset="-122"/>
                <a:cs typeface="Calibri" pitchFamily="34" charset="-120"/>
              </a:rPr>
              <a:t>Index of the largest</a:t>
            </a:r>
            <a:endParaRPr lang="en-US" sz="1250" dirty="0"/>
          </a:p>
        </p:txBody>
      </p:sp>
      <p:sp>
        <p:nvSpPr>
          <p:cNvPr id="23" name="Shape 21"/>
          <p:cNvSpPr/>
          <p:nvPr/>
        </p:nvSpPr>
        <p:spPr>
          <a:xfrm>
            <a:off x="6301588" y="4546397"/>
            <a:ext cx="5323180" cy="910742"/>
          </a:xfrm>
          <a:prstGeom prst="roundRect">
            <a:avLst>
              <a:gd name="adj" fmla="val 7028"/>
            </a:avLst>
          </a:prstGeom>
          <a:solidFill>
            <a:srgbClr val="EDF2F7"/>
          </a:solidFill>
          <a:ln w="12700">
            <a:solidFill>
              <a:srgbClr val="CFDBE5"/>
            </a:solidFill>
            <a:prstDash val="solid"/>
          </a:ln>
        </p:spPr>
      </p:sp>
      <p:sp>
        <p:nvSpPr>
          <p:cNvPr id="24" name="Text 22"/>
          <p:cNvSpPr txBox="1"/>
          <p:nvPr/>
        </p:nvSpPr>
        <p:spPr>
          <a:xfrm>
            <a:off x="6466180" y="4683557"/>
            <a:ext cx="4993996" cy="709574"/>
          </a:xfrm>
          <a:prstGeom prst="rect">
            <a:avLst/>
          </a:prstGeom>
          <a:noFill/>
          <a:ln/>
        </p:spPr>
        <p:txBody>
          <a:bodyPr wrap="square" lIns="0" tIns="0" rIns="0" bIns="0" rtlCol="0" anchor="t"/>
          <a:lstStyle/>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best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best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best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p:txBody>
      </p:sp>
      <p:sp>
        <p:nvSpPr>
          <p:cNvPr id="25" name="Shape 23"/>
          <p:cNvSpPr/>
          <p:nvPr/>
        </p:nvSpPr>
        <p:spPr>
          <a:xfrm>
            <a:off x="566928" y="5694883"/>
            <a:ext cx="11057839" cy="658368"/>
          </a:xfrm>
          <a:prstGeom prst="roundRect">
            <a:avLst>
              <a:gd name="adj" fmla="val 12500"/>
            </a:avLst>
          </a:prstGeom>
          <a:solidFill>
            <a:srgbClr val="E4ECF4"/>
          </a:solidFill>
          <a:ln w="12700">
            <a:solidFill>
              <a:srgbClr val="E4ECF4"/>
            </a:solidFill>
            <a:prstDash val="solid"/>
          </a:ln>
        </p:spPr>
      </p:sp>
      <p:sp>
        <p:nvSpPr>
          <p:cNvPr id="26" name="Text 24"/>
          <p:cNvSpPr txBox="1"/>
          <p:nvPr/>
        </p:nvSpPr>
        <p:spPr>
          <a:xfrm>
            <a:off x="859536" y="5694883"/>
            <a:ext cx="10472623" cy="658368"/>
          </a:xfrm>
          <a:prstGeom prst="rect">
            <a:avLst/>
          </a:prstGeom>
          <a:noFill/>
          <a:ln/>
        </p:spPr>
        <p:txBody>
          <a:bodyPr wrap="square" lIns="0" tIns="0" rIns="0" bIns="0" rtlCol="0" anchor="ctr"/>
          <a:lstStyle/>
          <a:p>
            <a:pPr indent="0" marL="0">
              <a:lnSpc>
                <a:spcPct val="112000"/>
              </a:lnSpc>
              <a:buNone/>
            </a:pPr>
            <a:r>
              <a:rPr lang="en-US" sz="1200" b="1" dirty="0">
                <a:solidFill>
                  <a:srgbClr val="0F2942"/>
                </a:solidFill>
                <a:latin typeface="Calibri" pitchFamily="34" charset="0"/>
                <a:ea typeface="Calibri" pitchFamily="34" charset="-122"/>
                <a:cs typeface="Calibri" pitchFamily="34" charset="-120"/>
              </a:rPr>
              <a:t>Two of these start at index 1, not 0.  </a:t>
            </a:r>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Finding a maximum takes the first element as the answer so far, then compares the rest against it. Starting max at 0 instead of list[0] is a real bug when every value is negative.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IDIOMS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Enhanced for Loop</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Since Java 5 (2004), a loop that walks every element without a counter at all.</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13</a:t>
            </a:r>
            <a:endParaRPr lang="en-US" sz="900" dirty="0"/>
          </a:p>
        </p:txBody>
      </p:sp>
      <p:sp>
        <p:nvSpPr>
          <p:cNvPr id="7" name="Shape 5"/>
          <p:cNvSpPr/>
          <p:nvPr/>
        </p:nvSpPr>
        <p:spPr>
          <a:xfrm>
            <a:off x="566928" y="1536192"/>
            <a:ext cx="5323180" cy="921349"/>
          </a:xfrm>
          <a:prstGeom prst="roundRect">
            <a:avLst>
              <a:gd name="adj" fmla="val 6947"/>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WITH AN INDEX</a:t>
            </a:r>
            <a:endParaRPr lang="en-US" sz="950" dirty="0"/>
          </a:p>
        </p:txBody>
      </p:sp>
      <p:sp>
        <p:nvSpPr>
          <p:cNvPr id="9" name="Text 7"/>
          <p:cNvSpPr txBox="1"/>
          <p:nvPr/>
        </p:nvSpPr>
        <p:spPr>
          <a:xfrm>
            <a:off x="731520" y="1810512"/>
            <a:ext cx="4993996" cy="592165"/>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0" name="Shape 8"/>
          <p:cNvSpPr/>
          <p:nvPr/>
        </p:nvSpPr>
        <p:spPr>
          <a:xfrm>
            <a:off x="6301588" y="1536192"/>
            <a:ext cx="5323180" cy="921349"/>
          </a:xfrm>
          <a:prstGeom prst="roundRect">
            <a:avLst>
              <a:gd name="adj" fmla="val 6947"/>
            </a:avLst>
          </a:prstGeom>
          <a:solidFill>
            <a:srgbClr val="EDF2F7"/>
          </a:solidFill>
          <a:ln w="12700">
            <a:solidFill>
              <a:srgbClr val="CFDBE5"/>
            </a:solidFill>
            <a:prstDash val="solid"/>
          </a:ln>
        </p:spPr>
      </p:sp>
      <p:sp>
        <p:nvSpPr>
          <p:cNvPr id="11" name="Text 9"/>
          <p:cNvSpPr txBox="1"/>
          <p:nvPr/>
        </p:nvSpPr>
        <p:spPr>
          <a:xfrm>
            <a:off x="644789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WITH THE ENHANCED for</a:t>
            </a:r>
            <a:endParaRPr lang="en-US" sz="950" dirty="0"/>
          </a:p>
        </p:txBody>
      </p:sp>
      <p:sp>
        <p:nvSpPr>
          <p:cNvPr id="12" name="Text 10"/>
          <p:cNvSpPr txBox="1"/>
          <p:nvPr/>
        </p:nvSpPr>
        <p:spPr>
          <a:xfrm>
            <a:off x="6466180" y="1810512"/>
            <a:ext cx="4993996" cy="592165"/>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value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value</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3" name="Text 11"/>
          <p:cNvSpPr txBox="1"/>
          <p:nvPr/>
        </p:nvSpPr>
        <p:spPr>
          <a:xfrm>
            <a:off x="566928" y="2750149"/>
            <a:ext cx="11057839" cy="347472"/>
          </a:xfrm>
          <a:prstGeom prst="rect">
            <a:avLst/>
          </a:prstGeom>
          <a:noFill/>
          <a:ln/>
        </p:spPr>
        <p:txBody>
          <a:bodyPr wrap="square" lIns="0" tIns="0" rIns="0" bIns="0" rtlCol="0" anchor="ctr"/>
          <a:lstStyle/>
          <a:p>
            <a:pPr algn="ctr" indent="0" marL="0">
              <a:buNone/>
            </a:pPr>
            <a:r>
              <a:rPr lang="en-US" sz="1500" b="1" dirty="0">
                <a:solidFill>
                  <a:srgbClr val="9A430A"/>
                </a:solidFill>
                <a:latin typeface="Courier New" pitchFamily="34" charset="0"/>
                <a:ea typeface="Courier New" pitchFamily="34" charset="-122"/>
                <a:cs typeface="Courier New" pitchFamily="34" charset="-120"/>
              </a:rPr>
              <a:t>for (elementType value : arrayRefVar) { ... }</a:t>
            </a:r>
            <a:endParaRPr lang="en-US" sz="1500" dirty="0"/>
          </a:p>
        </p:txBody>
      </p:sp>
      <p:sp>
        <p:nvSpPr>
          <p:cNvPr id="14" name="Text 12"/>
          <p:cNvSpPr txBox="1"/>
          <p:nvPr/>
        </p:nvSpPr>
        <p:spPr>
          <a:xfrm>
            <a:off x="566928" y="3115909"/>
            <a:ext cx="11057839" cy="274320"/>
          </a:xfrm>
          <a:prstGeom prst="rect">
            <a:avLst/>
          </a:prstGeom>
          <a:noFill/>
          <a:ln/>
        </p:spPr>
        <p:txBody>
          <a:bodyPr wrap="square" lIns="0" tIns="0" rIns="0" bIns="0" rtlCol="0" anchor="ctr"/>
          <a:lstStyle/>
          <a:p>
            <a:pPr algn="ctr" indent="0" marL="0">
              <a:buNone/>
            </a:pPr>
            <a:r>
              <a:rPr lang="en-US" sz="1200" i="1" dirty="0">
                <a:solidFill>
                  <a:srgbClr val="4B6377"/>
                </a:solidFill>
                <a:latin typeface="Calibri" pitchFamily="34" charset="0"/>
                <a:ea typeface="Calibri" pitchFamily="34" charset="-122"/>
                <a:cs typeface="Calibri" pitchFamily="34" charset="-120"/>
              </a:rPr>
              <a:t>Read the colon as "in": for each double value in myList.</a:t>
            </a:r>
            <a:endParaRPr lang="en-US" sz="1200" dirty="0"/>
          </a:p>
        </p:txBody>
      </p:sp>
      <p:sp>
        <p:nvSpPr>
          <p:cNvPr id="15" name="Shape 13"/>
          <p:cNvSpPr/>
          <p:nvPr/>
        </p:nvSpPr>
        <p:spPr>
          <a:xfrm>
            <a:off x="566928" y="3536533"/>
            <a:ext cx="5323180" cy="1207008"/>
          </a:xfrm>
          <a:prstGeom prst="roundRect">
            <a:avLst>
              <a:gd name="adj" fmla="val 6818"/>
            </a:avLst>
          </a:prstGeom>
          <a:solidFill>
            <a:srgbClr val="E6F2EC"/>
          </a:solidFill>
          <a:ln w="12700">
            <a:solidFill>
              <a:srgbClr val="E6F2EC"/>
            </a:solidFill>
            <a:prstDash val="solid"/>
          </a:ln>
        </p:spPr>
      </p:sp>
      <p:sp>
        <p:nvSpPr>
          <p:cNvPr id="16" name="Text 14"/>
          <p:cNvSpPr txBox="1"/>
          <p:nvPr/>
        </p:nvSpPr>
        <p:spPr>
          <a:xfrm>
            <a:off x="786384" y="3701125"/>
            <a:ext cx="4884268"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Use it when you just want the values</a:t>
            </a:r>
            <a:endParaRPr lang="en-US" sz="1450" dirty="0"/>
          </a:p>
        </p:txBody>
      </p:sp>
      <p:sp>
        <p:nvSpPr>
          <p:cNvPr id="17" name="Text 15"/>
          <p:cNvSpPr txBox="1"/>
          <p:nvPr/>
        </p:nvSpPr>
        <p:spPr>
          <a:xfrm>
            <a:off x="786384" y="4030309"/>
            <a:ext cx="4884268" cy="585216"/>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No counter to get wrong, no chance of an off-by-one, and the intent is obvious. This should be your default for reading an array end to end.</a:t>
            </a:r>
            <a:endParaRPr lang="en-US" sz="1200" dirty="0"/>
          </a:p>
        </p:txBody>
      </p:sp>
      <p:sp>
        <p:nvSpPr>
          <p:cNvPr id="18" name="Shape 16"/>
          <p:cNvSpPr/>
          <p:nvPr/>
        </p:nvSpPr>
        <p:spPr>
          <a:xfrm>
            <a:off x="6301588" y="3536533"/>
            <a:ext cx="5323180" cy="1207008"/>
          </a:xfrm>
          <a:prstGeom prst="roundRect">
            <a:avLst>
              <a:gd name="adj" fmla="val 6818"/>
            </a:avLst>
          </a:prstGeom>
          <a:solidFill>
            <a:srgbClr val="FBEAE8"/>
          </a:solidFill>
          <a:ln w="12700">
            <a:solidFill>
              <a:srgbClr val="FBEAE8"/>
            </a:solidFill>
            <a:prstDash val="solid"/>
          </a:ln>
        </p:spPr>
      </p:sp>
      <p:sp>
        <p:nvSpPr>
          <p:cNvPr id="19" name="Text 17"/>
          <p:cNvSpPr txBox="1"/>
          <p:nvPr/>
        </p:nvSpPr>
        <p:spPr>
          <a:xfrm>
            <a:off x="6521044" y="3701125"/>
            <a:ext cx="4884268" cy="310896"/>
          </a:xfrm>
          <a:prstGeom prst="rect">
            <a:avLst/>
          </a:prstGeom>
          <a:noFill/>
          <a:ln/>
        </p:spPr>
        <p:txBody>
          <a:bodyPr wrap="square" lIns="0" tIns="0" rIns="0" bIns="0" rtlCol="0" anchor="t"/>
          <a:lstStyle/>
          <a:p>
            <a:pPr indent="0" marL="0">
              <a:buNone/>
            </a:pPr>
            <a:r>
              <a:rPr lang="en-US" sz="1450" b="1" dirty="0">
                <a:solidFill>
                  <a:srgbClr val="9C241C"/>
                </a:solidFill>
                <a:latin typeface="Calibri" pitchFamily="34" charset="0"/>
                <a:ea typeface="Calibri" pitchFamily="34" charset="-122"/>
                <a:cs typeface="Calibri" pitchFamily="34" charset="-120"/>
              </a:rPr>
              <a:t>You still need an index for three things</a:t>
            </a:r>
            <a:endParaRPr lang="en-US" sz="1450" dirty="0"/>
          </a:p>
        </p:txBody>
      </p:sp>
      <p:sp>
        <p:nvSpPr>
          <p:cNvPr id="20" name="Text 18"/>
          <p:cNvSpPr txBox="1"/>
          <p:nvPr/>
        </p:nvSpPr>
        <p:spPr>
          <a:xfrm>
            <a:off x="6557620" y="4030309"/>
            <a:ext cx="4865980" cy="585216"/>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3A536B"/>
                </a:solidFill>
                <a:latin typeface="Calibri" pitchFamily="34" charset="0"/>
                <a:ea typeface="Calibri" pitchFamily="34" charset="-122"/>
                <a:cs typeface="Calibri" pitchFamily="34" charset="-120"/>
              </a:rPr>
              <a:t>Changing the elements — value is a copy.</a:t>
            </a:r>
            <a:endParaRPr lang="en-US" sz="1150" dirty="0"/>
          </a:p>
          <a:p>
            <a:pPr marL="177800" indent="-177800">
              <a:spcAft>
                <a:spcPts val="400"/>
              </a:spcAft>
              <a:buSzPct val="100000"/>
              <a:buChar char="•"/>
            </a:pPr>
            <a:r>
              <a:rPr lang="en-US" sz="1150" dirty="0">
                <a:solidFill>
                  <a:srgbClr val="3A536B"/>
                </a:solidFill>
                <a:latin typeface="Calibri" pitchFamily="34" charset="0"/>
                <a:ea typeface="Calibri" pitchFamily="34" charset="-122"/>
                <a:cs typeface="Calibri" pitchFamily="34" charset="-120"/>
              </a:rPr>
              <a:t>Walking backwards, or in steps.</a:t>
            </a:r>
            <a:endParaRPr lang="en-US" sz="1150" dirty="0"/>
          </a:p>
          <a:p>
            <a:pPr marL="177800" indent="-177800">
              <a:spcAft>
                <a:spcPts val="400"/>
              </a:spcAft>
              <a:buSzPct val="100000"/>
              <a:buChar char="•"/>
            </a:pPr>
            <a:r>
              <a:rPr lang="en-US" sz="1150" dirty="0">
                <a:solidFill>
                  <a:srgbClr val="3A536B"/>
                </a:solidFill>
                <a:latin typeface="Calibri" pitchFamily="34" charset="0"/>
                <a:ea typeface="Calibri" pitchFamily="34" charset="-122"/>
                <a:cs typeface="Calibri" pitchFamily="34" charset="-120"/>
              </a:rPr>
              <a:t>Needing to know where you are.</a:t>
            </a:r>
            <a:endParaRPr lang="en-US" sz="1150" dirty="0"/>
          </a:p>
        </p:txBody>
      </p:sp>
      <p:sp>
        <p:nvSpPr>
          <p:cNvPr id="21" name="Shape 19"/>
          <p:cNvSpPr/>
          <p:nvPr/>
        </p:nvSpPr>
        <p:spPr>
          <a:xfrm>
            <a:off x="566928" y="4862413"/>
            <a:ext cx="11057839" cy="1250899"/>
          </a:xfrm>
          <a:prstGeom prst="roundRect">
            <a:avLst>
              <a:gd name="adj" fmla="val 5117"/>
            </a:avLst>
          </a:prstGeom>
          <a:solidFill>
            <a:srgbClr val="EDF2F7"/>
          </a:solidFill>
          <a:ln w="12700">
            <a:solidFill>
              <a:srgbClr val="CFDBE5"/>
            </a:solidFill>
            <a:prstDash val="solid"/>
          </a:ln>
        </p:spPr>
      </p:sp>
      <p:sp>
        <p:nvSpPr>
          <p:cNvPr id="22" name="Text 20"/>
          <p:cNvSpPr txBox="1"/>
          <p:nvPr/>
        </p:nvSpPr>
        <p:spPr>
          <a:xfrm>
            <a:off x="713232" y="4908133"/>
            <a:ext cx="1076523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TRAP — value IS A COPY OF THE ELEMENT, NOT THE ELEMENT</a:t>
            </a:r>
            <a:endParaRPr lang="en-US" sz="950" dirty="0"/>
          </a:p>
        </p:txBody>
      </p:sp>
      <p:sp>
        <p:nvSpPr>
          <p:cNvPr id="23" name="Text 21"/>
          <p:cNvSpPr txBox="1"/>
          <p:nvPr/>
        </p:nvSpPr>
        <p:spPr>
          <a:xfrm>
            <a:off x="731520" y="5136733"/>
            <a:ext cx="10728655" cy="921715"/>
          </a:xfrm>
          <a:prstGeom prst="rect">
            <a:avLst/>
          </a:prstGeom>
          <a:noFill/>
          <a:ln/>
        </p:spPr>
        <p:txBody>
          <a:bodyPr wrap="square" lIns="0" tIns="0" rIns="0" bIns="0" rtlCol="0" anchor="t"/>
          <a:lstStyle/>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value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value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value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415C6E"/>
                </a:solidFill>
                <a:latin typeface="Courier New" pitchFamily="34" charset="0"/>
                <a:ea typeface="Courier New" pitchFamily="34" charset="-122"/>
                <a:cs typeface="Courier New" pitchFamily="34" charset="-120"/>
              </a:rPr>
              <a:t>// changes nothing at all</a:t>
            </a:r>
            <a:endParaRPr lang="en-US" sz="1000" dirty="0"/>
          </a:p>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myList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415C6E"/>
                </a:solidFill>
                <a:latin typeface="Courier New" pitchFamily="34" charset="0"/>
                <a:ea typeface="Courier New" pitchFamily="34" charset="-122"/>
                <a:cs typeface="Courier New" pitchFamily="34" charset="-120"/>
              </a:rPr>
              <a:t>// this works</a:t>
            </a:r>
            <a:endParaRPr lang="en-US" sz="1000" dirty="0"/>
          </a:p>
        </p:txBody>
      </p:sp>
      <p:sp>
        <p:nvSpPr>
          <p:cNvPr id="24" name="Text 22"/>
          <p:cNvSpPr txBox="1"/>
          <p:nvPr/>
        </p:nvSpPr>
        <p:spPr>
          <a:xfrm>
            <a:off x="566928" y="6186465"/>
            <a:ext cx="11057839" cy="274320"/>
          </a:xfrm>
          <a:prstGeom prst="rect">
            <a:avLst/>
          </a:prstGeom>
          <a:noFill/>
          <a:ln/>
        </p:spPr>
        <p:txBody>
          <a:bodyPr wrap="square" lIns="0" tIns="0" rIns="0" bIns="0" rtlCol="0" anchor="ctr"/>
          <a:lstStyle/>
          <a:p>
            <a:pPr indent="0" marL="0">
              <a:buNone/>
            </a:pPr>
            <a:r>
              <a:rPr lang="en-US" sz="1200" i="1" dirty="0">
                <a:solidFill>
                  <a:srgbClr val="9A430A"/>
                </a:solidFill>
                <a:latin typeface="Calibri" pitchFamily="34" charset="0"/>
                <a:ea typeface="Calibri" pitchFamily="34" charset="-122"/>
                <a:cs typeface="Calibri" pitchFamily="34" charset="-120"/>
              </a:rPr>
              <a:t>Assigning to the loop variable changes the copy and leaves the array untouched — Thursday's pass-by-value rule in a new disguise.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IDIOMS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Two That Need More Than One Index</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Shuffling and shifting both move elements around inside the array.</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14</a:t>
            </a:r>
            <a:endParaRPr lang="en-US" sz="900" dirty="0"/>
          </a:p>
        </p:txBody>
      </p:sp>
      <p:sp>
        <p:nvSpPr>
          <p:cNvPr id="7" name="Shape 5"/>
          <p:cNvSpPr/>
          <p:nvPr/>
        </p:nvSpPr>
        <p:spPr>
          <a:xfrm>
            <a:off x="566928" y="1536192"/>
            <a:ext cx="5323180" cy="2394631"/>
          </a:xfrm>
          <a:prstGeom prst="roundRect">
            <a:avLst>
              <a:gd name="adj" fmla="val 2673"/>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RANDOM SHUFFLING</a:t>
            </a:r>
            <a:endParaRPr lang="en-US" sz="950" dirty="0"/>
          </a:p>
        </p:txBody>
      </p:sp>
      <p:sp>
        <p:nvSpPr>
          <p:cNvPr id="9" name="Text 7"/>
          <p:cNvSpPr txBox="1"/>
          <p:nvPr/>
        </p:nvSpPr>
        <p:spPr>
          <a:xfrm>
            <a:off x="731520" y="1810512"/>
            <a:ext cx="4993996" cy="2065447"/>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pick a random index</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random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swap list[i] with list[j]</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temp</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temp</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566928" y="4168567"/>
            <a:ext cx="5323180" cy="1234440"/>
          </a:xfrm>
          <a:prstGeom prst="roundRect">
            <a:avLst>
              <a:gd name="adj" fmla="val 6667"/>
            </a:avLst>
          </a:prstGeom>
          <a:solidFill>
            <a:srgbClr val="E4ECF4"/>
          </a:solidFill>
          <a:ln w="12700">
            <a:solidFill>
              <a:srgbClr val="E4ECF4"/>
            </a:solidFill>
            <a:prstDash val="solid"/>
          </a:ln>
        </p:spPr>
      </p:sp>
      <p:sp>
        <p:nvSpPr>
          <p:cNvPr id="11" name="Text 9"/>
          <p:cNvSpPr txBox="1"/>
          <p:nvPr/>
        </p:nvSpPr>
        <p:spPr>
          <a:xfrm>
            <a:off x="822960" y="4278295"/>
            <a:ext cx="4811116"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The three-line swap</a:t>
            </a:r>
            <a:endParaRPr lang="en-US" sz="1350" dirty="0"/>
          </a:p>
        </p:txBody>
      </p:sp>
      <p:sp>
        <p:nvSpPr>
          <p:cNvPr id="12" name="Text 10"/>
          <p:cNvSpPr txBox="1"/>
          <p:nvPr/>
        </p:nvSpPr>
        <p:spPr>
          <a:xfrm>
            <a:off x="822960" y="4570903"/>
            <a:ext cx="4811116" cy="82296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A temporary is required: list[i] = list[j]; list[j] = list[i]; loses the first value. This is Thursday's swap — and inside an array it works.</a:t>
            </a:r>
            <a:endParaRPr lang="en-US" sz="1200" dirty="0"/>
          </a:p>
        </p:txBody>
      </p:sp>
      <p:sp>
        <p:nvSpPr>
          <p:cNvPr id="13" name="Shape 11"/>
          <p:cNvSpPr/>
          <p:nvPr/>
        </p:nvSpPr>
        <p:spPr>
          <a:xfrm>
            <a:off x="6301588" y="1536192"/>
            <a:ext cx="5323180" cy="1968155"/>
          </a:xfrm>
          <a:prstGeom prst="roundRect">
            <a:avLst>
              <a:gd name="adj" fmla="val 3252"/>
            </a:avLst>
          </a:prstGeom>
          <a:solidFill>
            <a:srgbClr val="EDF2F7"/>
          </a:solidFill>
          <a:ln w="12700">
            <a:solidFill>
              <a:srgbClr val="CFDBE5"/>
            </a:solidFill>
            <a:prstDash val="solid"/>
          </a:ln>
        </p:spPr>
      </p:sp>
      <p:sp>
        <p:nvSpPr>
          <p:cNvPr id="14" name="Text 12"/>
          <p:cNvSpPr txBox="1"/>
          <p:nvPr/>
        </p:nvSpPr>
        <p:spPr>
          <a:xfrm>
            <a:off x="644789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SHIFTING ELEMENTS LEFT</a:t>
            </a:r>
            <a:endParaRPr lang="en-US" sz="950" dirty="0"/>
          </a:p>
        </p:txBody>
      </p:sp>
      <p:sp>
        <p:nvSpPr>
          <p:cNvPr id="15" name="Text 13"/>
          <p:cNvSpPr txBox="1"/>
          <p:nvPr/>
        </p:nvSpPr>
        <p:spPr>
          <a:xfrm>
            <a:off x="6466180" y="1810512"/>
            <a:ext cx="4993996" cy="1638971"/>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temp</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save the first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shift everything one place left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temp</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wrap it round</a:t>
            </a:r>
            <a:endParaRPr lang="en-US" sz="1100" dirty="0"/>
          </a:p>
        </p:txBody>
      </p:sp>
      <p:sp>
        <p:nvSpPr>
          <p:cNvPr id="16" name="Shape 14"/>
          <p:cNvSpPr/>
          <p:nvPr/>
        </p:nvSpPr>
        <p:spPr>
          <a:xfrm>
            <a:off x="6301588" y="3742091"/>
            <a:ext cx="5323180" cy="1234440"/>
          </a:xfrm>
          <a:prstGeom prst="roundRect">
            <a:avLst>
              <a:gd name="adj" fmla="val 6667"/>
            </a:avLst>
          </a:prstGeom>
          <a:solidFill>
            <a:srgbClr val="FBEEE0"/>
          </a:solidFill>
          <a:ln w="12700">
            <a:solidFill>
              <a:srgbClr val="FBEEE0"/>
            </a:solidFill>
            <a:prstDash val="solid"/>
          </a:ln>
        </p:spPr>
      </p:sp>
      <p:sp>
        <p:nvSpPr>
          <p:cNvPr id="17" name="Text 15"/>
          <p:cNvSpPr txBox="1"/>
          <p:nvPr/>
        </p:nvSpPr>
        <p:spPr>
          <a:xfrm>
            <a:off x="6557620" y="3851819"/>
            <a:ext cx="4811116" cy="274320"/>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Direction matters</a:t>
            </a:r>
            <a:endParaRPr lang="en-US" sz="1350" dirty="0"/>
          </a:p>
        </p:txBody>
      </p:sp>
      <p:sp>
        <p:nvSpPr>
          <p:cNvPr id="18" name="Text 16"/>
          <p:cNvSpPr txBox="1"/>
          <p:nvPr/>
        </p:nvSpPr>
        <p:spPr>
          <a:xfrm>
            <a:off x="6557620" y="4144427"/>
            <a:ext cx="4811116" cy="82296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Shifting left, walk forwards. Shifting right, walk backwards — otherwise each element overwrites the one you have not copied yet.</a:t>
            </a:r>
            <a:endParaRPr lang="en-US" sz="1200" dirty="0"/>
          </a:p>
        </p:txBody>
      </p:sp>
      <p:sp>
        <p:nvSpPr>
          <p:cNvPr id="19" name="Shape 17"/>
          <p:cNvSpPr/>
          <p:nvPr/>
        </p:nvSpPr>
        <p:spPr>
          <a:xfrm>
            <a:off x="566928" y="5631607"/>
            <a:ext cx="11057839" cy="713232"/>
          </a:xfrm>
          <a:prstGeom prst="roundRect">
            <a:avLst>
              <a:gd name="adj" fmla="val 11538"/>
            </a:avLst>
          </a:prstGeom>
          <a:solidFill>
            <a:srgbClr val="F1F5F9"/>
          </a:solidFill>
          <a:ln w="12700">
            <a:solidFill>
              <a:srgbClr val="F1F5F9"/>
            </a:solidFill>
            <a:prstDash val="solid"/>
          </a:ln>
        </p:spPr>
      </p:sp>
      <p:sp>
        <p:nvSpPr>
          <p:cNvPr id="20" name="Text 18"/>
          <p:cNvSpPr txBox="1"/>
          <p:nvPr/>
        </p:nvSpPr>
        <p:spPr>
          <a:xfrm>
            <a:off x="859536" y="5631607"/>
            <a:ext cx="10472623" cy="713232"/>
          </a:xfrm>
          <a:prstGeom prst="rect">
            <a:avLst/>
          </a:prstGeom>
          <a:noFill/>
          <a:ln/>
        </p:spPr>
        <p:txBody>
          <a:bodyPr wrap="square" lIns="0" tIns="0" rIns="0" bIns="0" rtlCol="0" anchor="ctr"/>
          <a:lstStyle/>
          <a:p>
            <a:pPr indent="0" marL="0">
              <a:lnSpc>
                <a:spcPct val="112000"/>
              </a:lnSpc>
              <a:buNone/>
            </a:pPr>
            <a:r>
              <a:rPr lang="en-US" sz="1200" b="1" dirty="0">
                <a:solidFill>
                  <a:srgbClr val="0F2942"/>
                </a:solidFill>
                <a:latin typeface="Calibri" pitchFamily="34" charset="0"/>
                <a:ea typeface="Calibri" pitchFamily="34" charset="-122"/>
                <a:cs typeface="Calibri" pitchFamily="34" charset="-120"/>
              </a:rPr>
              <a:t>Neither is something you would write in production.  </a:t>
            </a:r>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Collections.shuffle and System.arraycopy do both, correctly and faster. Write them once to understand the mechanics, then use the library.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WORKED EXAMPLE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AnalyzeNumbers — the Opening Problem, Solved</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Read a hundred numbers, compute the average, and count how many are above it.</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15</a:t>
            </a:r>
            <a:endParaRPr lang="en-US" sz="900" dirty="0"/>
          </a:p>
        </p:txBody>
      </p:sp>
      <p:sp>
        <p:nvSpPr>
          <p:cNvPr id="7" name="Shape 5"/>
          <p:cNvSpPr/>
          <p:nvPr/>
        </p:nvSpPr>
        <p:spPr>
          <a:xfrm>
            <a:off x="566928" y="1536192"/>
            <a:ext cx="6035040" cy="4352544"/>
          </a:xfrm>
          <a:prstGeom prst="roundRect">
            <a:avLst>
              <a:gd name="adj" fmla="val 1471"/>
            </a:avLst>
          </a:prstGeom>
          <a:solidFill>
            <a:srgbClr val="EDF2F7"/>
          </a:solidFill>
          <a:ln w="12700">
            <a:solidFill>
              <a:srgbClr val="CFDBE5"/>
            </a:solidFill>
            <a:prstDash val="solid"/>
          </a:ln>
        </p:spPr>
      </p:sp>
      <p:sp>
        <p:nvSpPr>
          <p:cNvPr id="8" name="Text 6"/>
          <p:cNvSpPr txBox="1"/>
          <p:nvPr/>
        </p:nvSpPr>
        <p:spPr>
          <a:xfrm>
            <a:off x="713232" y="1581912"/>
            <a:ext cx="5742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AnalyzeNumbers.java</a:t>
            </a:r>
            <a:endParaRPr lang="en-US" sz="950" dirty="0"/>
          </a:p>
        </p:txBody>
      </p:sp>
      <p:sp>
        <p:nvSpPr>
          <p:cNvPr id="9" name="Text 7"/>
          <p:cNvSpPr txBox="1"/>
          <p:nvPr/>
        </p:nvSpPr>
        <p:spPr>
          <a:xfrm>
            <a:off x="731520" y="1810512"/>
            <a:ext cx="5705856" cy="4023360"/>
          </a:xfrm>
          <a:prstGeom prst="rect">
            <a:avLst/>
          </a:prstGeom>
          <a:noFill/>
          <a:ln/>
        </p:spPr>
        <p:txBody>
          <a:bodyPr wrap="square" lIns="0" tIns="0" rIns="0" bIns="0" rtlCol="0" anchor="t"/>
          <a:lstStyle/>
          <a:p>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614A"/>
                </a:solidFill>
                <a:latin typeface="Courier New" pitchFamily="34" charset="0"/>
                <a:ea typeface="Courier New" pitchFamily="34" charset="-122"/>
                <a:cs typeface="Courier New" pitchFamily="34" charset="-120"/>
              </a:rPr>
              <a:t>"Enter the number of items: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nextInt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numbers</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614A"/>
                </a:solidFill>
                <a:latin typeface="Courier New" pitchFamily="34" charset="0"/>
                <a:ea typeface="Courier New" pitchFamily="34" charset="-122"/>
                <a:cs typeface="Courier New" pitchFamily="34" charset="-120"/>
              </a:rPr>
              <a:t>"Enter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614A"/>
                </a:solidFill>
                <a:latin typeface="Courier New" pitchFamily="34" charset="0"/>
                <a:ea typeface="Courier New" pitchFamily="34" charset="-122"/>
                <a:cs typeface="Courier New" pitchFamily="34" charset="-120"/>
              </a:rPr>
              <a:t>" numbers: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numbers</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nextDouble</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numbers</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415C6E"/>
                </a:solidFill>
                <a:latin typeface="Courier New" pitchFamily="34" charset="0"/>
                <a:ea typeface="Courier New" pitchFamily="34" charset="-122"/>
                <a:cs typeface="Courier New" pitchFamily="34" charset="-120"/>
              </a:rPr>
              <a:t>// sum as we read</a:t>
            </a:r>
            <a:endParaRPr lang="en-US" sz="1000" dirty="0"/>
          </a:p>
          <a:p>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average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415C6E"/>
                </a:solidFill>
                <a:latin typeface="Courier New" pitchFamily="34" charset="0"/>
                <a:ea typeface="Courier New" pitchFamily="34" charset="-122"/>
                <a:cs typeface="Courier New" pitchFamily="34" charset="-120"/>
              </a:rPr>
              <a:t>// second pass</a:t>
            </a:r>
            <a:endParaRPr lang="en-US" sz="1000" dirty="0"/>
          </a:p>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numbers</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average</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614A"/>
                </a:solidFill>
                <a:latin typeface="Courier New" pitchFamily="34" charset="0"/>
                <a:ea typeface="Courier New" pitchFamily="34" charset="-122"/>
                <a:cs typeface="Courier New" pitchFamily="34" charset="-120"/>
              </a:rPr>
              <a:t>"Average is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average</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614A"/>
                </a:solidFill>
                <a:latin typeface="Courier New" pitchFamily="34" charset="0"/>
                <a:ea typeface="Courier New" pitchFamily="34" charset="-122"/>
                <a:cs typeface="Courier New" pitchFamily="34" charset="-120"/>
              </a:rPr>
              <a:t>" are above it"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7059168" y="1536192"/>
            <a:ext cx="4565599" cy="1281989"/>
          </a:xfrm>
          <a:prstGeom prst="roundRect">
            <a:avLst>
              <a:gd name="adj" fmla="val 4993"/>
            </a:avLst>
          </a:prstGeom>
          <a:solidFill>
            <a:srgbClr val="FFFFFF"/>
          </a:solidFill>
          <a:ln w="12700">
            <a:solidFill>
              <a:srgbClr val="4B6377"/>
            </a:solidFill>
            <a:prstDash val="solid"/>
          </a:ln>
        </p:spPr>
      </p:sp>
      <p:sp>
        <p:nvSpPr>
          <p:cNvPr id="11" name="Text 9"/>
          <p:cNvSpPr txBox="1"/>
          <p:nvPr/>
        </p:nvSpPr>
        <p:spPr>
          <a:xfrm>
            <a:off x="7205472" y="1609344"/>
            <a:ext cx="427299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205472" y="1810512"/>
            <a:ext cx="4272991" cy="916229"/>
          </a:xfrm>
          <a:prstGeom prst="rect">
            <a:avLst/>
          </a:prstGeom>
          <a:noFill/>
          <a:ln/>
        </p:spPr>
        <p:txBody>
          <a:bodyPr wrap="square" lIns="0" tIns="0" rIns="0" bIns="0" rtlCol="0" anchor="t"/>
          <a:lstStyle/>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Enter the number of items: 6</a:t>
            </a:r>
            <a:endParaRPr lang="en-US" sz="1100" dirty="0"/>
          </a:p>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Enter 6 numbers: 3 5 8 1 9 2</a:t>
            </a:r>
            <a:endParaRPr lang="en-US" sz="1100" dirty="0"/>
          </a:p>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Average is 4.666666666666667</a:t>
            </a:r>
            <a:endParaRPr lang="en-US" sz="1100" dirty="0"/>
          </a:p>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3 are above it</a:t>
            </a:r>
            <a:endParaRPr lang="en-US" sz="1100" dirty="0"/>
          </a:p>
        </p:txBody>
      </p:sp>
      <p:sp>
        <p:nvSpPr>
          <p:cNvPr id="13" name="Shape 11"/>
          <p:cNvSpPr/>
          <p:nvPr/>
        </p:nvSpPr>
        <p:spPr>
          <a:xfrm>
            <a:off x="7059168" y="2999232"/>
            <a:ext cx="4565599" cy="1691640"/>
          </a:xfrm>
          <a:prstGeom prst="roundRect">
            <a:avLst>
              <a:gd name="adj" fmla="val 4865"/>
            </a:avLst>
          </a:prstGeom>
          <a:solidFill>
            <a:srgbClr val="E6F2EC"/>
          </a:solidFill>
          <a:ln w="12700">
            <a:solidFill>
              <a:srgbClr val="E6F2EC"/>
            </a:solidFill>
            <a:prstDash val="solid"/>
          </a:ln>
        </p:spPr>
      </p:sp>
      <p:sp>
        <p:nvSpPr>
          <p:cNvPr id="14" name="Text 12"/>
          <p:cNvSpPr txBox="1"/>
          <p:nvPr/>
        </p:nvSpPr>
        <p:spPr>
          <a:xfrm>
            <a:off x="7278624" y="3163824"/>
            <a:ext cx="412668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Why the array is necessary here</a:t>
            </a:r>
            <a:endParaRPr lang="en-US" sz="1450" dirty="0"/>
          </a:p>
        </p:txBody>
      </p:sp>
      <p:sp>
        <p:nvSpPr>
          <p:cNvPr id="15" name="Text 13"/>
          <p:cNvSpPr txBox="1"/>
          <p:nvPr/>
        </p:nvSpPr>
        <p:spPr>
          <a:xfrm>
            <a:off x="7278624" y="3493008"/>
            <a:ext cx="4126687" cy="106984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The average cannot be known until every number has been read, and the comparison cannot be done until the average is known. So the numbers must be kept. A running sum alone would not do — this is the smallest problem that genuinely needs an array.</a:t>
            </a:r>
            <a:endParaRPr lang="en-US" sz="1200" dirty="0"/>
          </a:p>
        </p:txBody>
      </p:sp>
      <p:sp>
        <p:nvSpPr>
          <p:cNvPr id="16" name="Shape 14"/>
          <p:cNvSpPr/>
          <p:nvPr/>
        </p:nvSpPr>
        <p:spPr>
          <a:xfrm>
            <a:off x="7059168" y="4873752"/>
            <a:ext cx="4565599" cy="1005840"/>
          </a:xfrm>
          <a:prstGeom prst="roundRect">
            <a:avLst>
              <a:gd name="adj" fmla="val 8182"/>
            </a:avLst>
          </a:prstGeom>
          <a:solidFill>
            <a:srgbClr val="E4ECF4"/>
          </a:solidFill>
          <a:ln w="12700">
            <a:solidFill>
              <a:srgbClr val="E4ECF4"/>
            </a:solidFill>
            <a:prstDash val="solid"/>
          </a:ln>
        </p:spPr>
      </p:sp>
      <p:sp>
        <p:nvSpPr>
          <p:cNvPr id="17" name="Text 15"/>
          <p:cNvSpPr txBox="1"/>
          <p:nvPr/>
        </p:nvSpPr>
        <p:spPr>
          <a:xfrm>
            <a:off x="7333488" y="4873752"/>
            <a:ext cx="4016959" cy="1005840"/>
          </a:xfrm>
          <a:prstGeom prst="rect">
            <a:avLst/>
          </a:prstGeom>
          <a:noFill/>
          <a:ln/>
        </p:spPr>
        <p:txBody>
          <a:bodyPr wrap="square" lIns="0" tIns="0" rIns="0" bIns="0" rtlCol="0" anchor="ctr"/>
          <a:lstStyle/>
          <a:p>
            <a:pPr indent="0" marL="0">
              <a:lnSpc>
                <a:spcPct val="112000"/>
              </a:lnSpc>
              <a:buNone/>
            </a:pPr>
            <a:r>
              <a:rPr lang="en-US" sz="1200" b="1" dirty="0">
                <a:solidFill>
                  <a:srgbClr val="0F2942"/>
                </a:solidFill>
                <a:latin typeface="Calibri" pitchFamily="34" charset="0"/>
                <a:ea typeface="Calibri" pitchFamily="34" charset="-122"/>
                <a:cs typeface="Calibri" pitchFamily="34" charset="-120"/>
              </a:rPr>
              <a:t>Two passes, one array.  </a:t>
            </a:r>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The first reads and sums; the second counts. Note the second uses an enhanced for, because it only reads.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COPYING</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Assignment Operator Does Not Copy an Array</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It copies the reference. Both variables then refer to the same array.</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16</a:t>
            </a:r>
            <a:endParaRPr lang="en-US" sz="900" dirty="0"/>
          </a:p>
        </p:txBody>
      </p:sp>
      <p:sp>
        <p:nvSpPr>
          <p:cNvPr id="7" name="Shape 5"/>
          <p:cNvSpPr/>
          <p:nvPr/>
        </p:nvSpPr>
        <p:spPr>
          <a:xfrm>
            <a:off x="566928" y="1536192"/>
            <a:ext cx="5669280" cy="1590142"/>
          </a:xfrm>
          <a:prstGeom prst="roundRect">
            <a:avLst>
              <a:gd name="adj" fmla="val 4025"/>
            </a:avLst>
          </a:prstGeom>
          <a:solidFill>
            <a:srgbClr val="EDF2F7"/>
          </a:solidFill>
          <a:ln w="12700">
            <a:solidFill>
              <a:srgbClr val="CFDBE5"/>
            </a:solidFill>
            <a:prstDash val="solid"/>
          </a:ln>
        </p:spPr>
      </p:sp>
      <p:sp>
        <p:nvSpPr>
          <p:cNvPr id="8" name="Text 6"/>
          <p:cNvSpPr txBox="1"/>
          <p:nvPr/>
        </p:nvSpPr>
        <p:spPr>
          <a:xfrm>
            <a:off x="713232" y="1581912"/>
            <a:ext cx="53766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WHAT GOES WRONG</a:t>
            </a:r>
            <a:endParaRPr lang="en-US" sz="950" dirty="0"/>
          </a:p>
        </p:txBody>
      </p:sp>
      <p:sp>
        <p:nvSpPr>
          <p:cNvPr id="9" name="Text 7"/>
          <p:cNvSpPr txBox="1"/>
          <p:nvPr/>
        </p:nvSpPr>
        <p:spPr>
          <a:xfrm>
            <a:off x="731520" y="1810512"/>
            <a:ext cx="5340096" cy="1260958"/>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list1</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list2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list1</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NOT a copy</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list2</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99</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list1</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prints 99</a:t>
            </a:r>
            <a:endParaRPr lang="en-US" sz="1150" dirty="0"/>
          </a:p>
        </p:txBody>
      </p:sp>
      <p:sp>
        <p:nvSpPr>
          <p:cNvPr id="10" name="Shape 8"/>
          <p:cNvSpPr/>
          <p:nvPr/>
        </p:nvSpPr>
        <p:spPr>
          <a:xfrm>
            <a:off x="566928" y="3446374"/>
            <a:ext cx="1371600" cy="420624"/>
          </a:xfrm>
          <a:prstGeom prst="roundRect">
            <a:avLst>
              <a:gd name="adj" fmla="val 13043"/>
            </a:avLst>
          </a:prstGeom>
          <a:solidFill>
            <a:srgbClr val="E4ECF4"/>
          </a:solidFill>
          <a:ln w="16510">
            <a:solidFill>
              <a:srgbClr val="1D4468"/>
            </a:solidFill>
            <a:prstDash val="solid"/>
          </a:ln>
        </p:spPr>
      </p:sp>
      <p:sp>
        <p:nvSpPr>
          <p:cNvPr id="11" name="Text 9"/>
          <p:cNvSpPr txBox="1"/>
          <p:nvPr/>
        </p:nvSpPr>
        <p:spPr>
          <a:xfrm>
            <a:off x="566928" y="3446374"/>
            <a:ext cx="1371600" cy="420624"/>
          </a:xfrm>
          <a:prstGeom prst="rect">
            <a:avLst/>
          </a:prstGeom>
          <a:noFill/>
          <a:ln/>
        </p:spPr>
        <p:txBody>
          <a:bodyPr wrap="square" lIns="0" tIns="0" rIns="0" bIns="0" rtlCol="0" anchor="ctr"/>
          <a:lstStyle/>
          <a:p>
            <a:pPr algn="ctr" indent="0" marL="0">
              <a:buNone/>
            </a:pPr>
            <a:r>
              <a:rPr lang="en-US" sz="1100" b="1" dirty="0">
                <a:solidFill>
                  <a:srgbClr val="0F2942"/>
                </a:solidFill>
                <a:latin typeface="Courier New" pitchFamily="34" charset="0"/>
                <a:ea typeface="Courier New" pitchFamily="34" charset="-122"/>
                <a:cs typeface="Courier New" pitchFamily="34" charset="-120"/>
              </a:rPr>
              <a:t>list1</a:t>
            </a:r>
            <a:endParaRPr lang="en-US" sz="1100" dirty="0"/>
          </a:p>
        </p:txBody>
      </p:sp>
      <p:sp>
        <p:nvSpPr>
          <p:cNvPr id="12" name="Shape 10"/>
          <p:cNvSpPr/>
          <p:nvPr/>
        </p:nvSpPr>
        <p:spPr>
          <a:xfrm>
            <a:off x="566928" y="4013302"/>
            <a:ext cx="1371600" cy="420624"/>
          </a:xfrm>
          <a:prstGeom prst="roundRect">
            <a:avLst>
              <a:gd name="adj" fmla="val 13043"/>
            </a:avLst>
          </a:prstGeom>
          <a:solidFill>
            <a:srgbClr val="E4ECF4"/>
          </a:solidFill>
          <a:ln w="16510">
            <a:solidFill>
              <a:srgbClr val="1D4468"/>
            </a:solidFill>
            <a:prstDash val="solid"/>
          </a:ln>
        </p:spPr>
      </p:sp>
      <p:sp>
        <p:nvSpPr>
          <p:cNvPr id="13" name="Text 11"/>
          <p:cNvSpPr txBox="1"/>
          <p:nvPr/>
        </p:nvSpPr>
        <p:spPr>
          <a:xfrm>
            <a:off x="566928" y="4013302"/>
            <a:ext cx="1371600" cy="420624"/>
          </a:xfrm>
          <a:prstGeom prst="rect">
            <a:avLst/>
          </a:prstGeom>
          <a:noFill/>
          <a:ln/>
        </p:spPr>
        <p:txBody>
          <a:bodyPr wrap="square" lIns="0" tIns="0" rIns="0" bIns="0" rtlCol="0" anchor="ctr"/>
          <a:lstStyle/>
          <a:p>
            <a:pPr algn="ctr" indent="0" marL="0">
              <a:buNone/>
            </a:pPr>
            <a:r>
              <a:rPr lang="en-US" sz="1100" b="1" dirty="0">
                <a:solidFill>
                  <a:srgbClr val="0F2942"/>
                </a:solidFill>
                <a:latin typeface="Courier New" pitchFamily="34" charset="0"/>
                <a:ea typeface="Courier New" pitchFamily="34" charset="-122"/>
                <a:cs typeface="Courier New" pitchFamily="34" charset="-120"/>
              </a:rPr>
              <a:t>list2</a:t>
            </a:r>
            <a:endParaRPr lang="en-US" sz="1100" dirty="0"/>
          </a:p>
        </p:txBody>
      </p:sp>
      <p:sp>
        <p:nvSpPr>
          <p:cNvPr id="14" name="Shape 12"/>
          <p:cNvSpPr/>
          <p:nvPr/>
        </p:nvSpPr>
        <p:spPr>
          <a:xfrm>
            <a:off x="3218688" y="3537814"/>
            <a:ext cx="2377440" cy="804672"/>
          </a:xfrm>
          <a:prstGeom prst="roundRect">
            <a:avLst>
              <a:gd name="adj" fmla="val 7955"/>
            </a:avLst>
          </a:prstGeom>
          <a:solidFill>
            <a:srgbClr val="FBEEE0"/>
          </a:solidFill>
          <a:ln w="17780">
            <a:solidFill>
              <a:srgbClr val="C4560C"/>
            </a:solidFill>
            <a:prstDash val="solid"/>
          </a:ln>
        </p:spPr>
      </p:sp>
      <p:sp>
        <p:nvSpPr>
          <p:cNvPr id="15" name="Text 13"/>
          <p:cNvSpPr txBox="1"/>
          <p:nvPr/>
        </p:nvSpPr>
        <p:spPr>
          <a:xfrm>
            <a:off x="3218688" y="3537814"/>
            <a:ext cx="2377440" cy="804672"/>
          </a:xfrm>
          <a:prstGeom prst="rect">
            <a:avLst/>
          </a:prstGeom>
          <a:noFill/>
          <a:ln/>
        </p:spPr>
        <p:txBody>
          <a:bodyPr wrap="square" lIns="0" tIns="0" rIns="0" bIns="0" rtlCol="0" anchor="ctr"/>
          <a:lstStyle/>
          <a:p>
            <a:pPr algn="ctr" indent="0" marL="0">
              <a:lnSpc>
                <a:spcPct val="110000"/>
              </a:lnSpc>
              <a:buNone/>
            </a:pPr>
            <a:r>
              <a:rPr lang="en-US" sz="1100" b="1" dirty="0">
                <a:solidFill>
                  <a:srgbClr val="9A430A"/>
                </a:solidFill>
                <a:latin typeface="Courier New" pitchFamily="34" charset="0"/>
                <a:ea typeface="Courier New" pitchFamily="34" charset="-122"/>
                <a:cs typeface="Courier New" pitchFamily="34" charset="-120"/>
              </a:rPr>
              <a:t>one array</a:t>
            </a:r>
            <a:endParaRPr lang="en-US" sz="1100" dirty="0"/>
          </a:p>
          <a:p>
            <a:pPr algn="ctr" indent="0" marL="0">
              <a:lnSpc>
                <a:spcPct val="110000"/>
              </a:lnSpc>
              <a:buNone/>
            </a:pPr>
            <a:r>
              <a:rPr lang="en-US" sz="1100" b="1" dirty="0">
                <a:solidFill>
                  <a:srgbClr val="9A430A"/>
                </a:solidFill>
                <a:latin typeface="Courier New" pitchFamily="34" charset="0"/>
                <a:ea typeface="Courier New" pitchFamily="34" charset="-122"/>
                <a:cs typeface="Courier New" pitchFamily="34" charset="-120"/>
              </a:rPr>
              <a:t>{ 99, 2, 3 }</a:t>
            </a:r>
            <a:endParaRPr lang="en-US" sz="1100" dirty="0"/>
          </a:p>
        </p:txBody>
      </p:sp>
      <p:sp>
        <p:nvSpPr>
          <p:cNvPr id="16" name="Shape 14"/>
          <p:cNvSpPr/>
          <p:nvPr/>
        </p:nvSpPr>
        <p:spPr>
          <a:xfrm>
            <a:off x="1938528" y="3720694"/>
            <a:ext cx="1280160" cy="0"/>
          </a:xfrm>
          <a:prstGeom prst="line">
            <a:avLst/>
          </a:prstGeom>
          <a:noFill/>
          <a:ln w="19050">
            <a:solidFill>
              <a:srgbClr val="C4560C"/>
            </a:solidFill>
            <a:prstDash val="solid"/>
            <a:tailEnd type="triangle"/>
          </a:ln>
        </p:spPr>
      </p:sp>
      <p:sp>
        <p:nvSpPr>
          <p:cNvPr id="17" name="Shape 15"/>
          <p:cNvSpPr/>
          <p:nvPr/>
        </p:nvSpPr>
        <p:spPr>
          <a:xfrm>
            <a:off x="1938528" y="4223614"/>
            <a:ext cx="1280160" cy="0"/>
          </a:xfrm>
          <a:prstGeom prst="line">
            <a:avLst/>
          </a:prstGeom>
          <a:noFill/>
          <a:ln w="19050">
            <a:solidFill>
              <a:srgbClr val="C4560C"/>
            </a:solidFill>
            <a:prstDash val="solid"/>
            <a:tailEnd type="triangle"/>
          </a:ln>
        </p:spPr>
      </p:sp>
      <p:sp>
        <p:nvSpPr>
          <p:cNvPr id="18" name="Shape 16"/>
          <p:cNvSpPr/>
          <p:nvPr/>
        </p:nvSpPr>
        <p:spPr>
          <a:xfrm>
            <a:off x="566928" y="4589374"/>
            <a:ext cx="5669280" cy="1234440"/>
          </a:xfrm>
          <a:prstGeom prst="roundRect">
            <a:avLst>
              <a:gd name="adj" fmla="val 6667"/>
            </a:avLst>
          </a:prstGeom>
          <a:solidFill>
            <a:srgbClr val="FBEAE8"/>
          </a:solidFill>
          <a:ln w="12700">
            <a:solidFill>
              <a:srgbClr val="FBEAE8"/>
            </a:solidFill>
            <a:prstDash val="solid"/>
          </a:ln>
        </p:spPr>
      </p:sp>
      <p:sp>
        <p:nvSpPr>
          <p:cNvPr id="19" name="Text 17"/>
          <p:cNvSpPr txBox="1"/>
          <p:nvPr/>
        </p:nvSpPr>
        <p:spPr>
          <a:xfrm>
            <a:off x="841248" y="4589374"/>
            <a:ext cx="5120640" cy="1234440"/>
          </a:xfrm>
          <a:prstGeom prst="rect">
            <a:avLst/>
          </a:prstGeom>
          <a:noFill/>
          <a:ln/>
        </p:spPr>
        <p:txBody>
          <a:bodyPr wrap="square" lIns="0" tIns="0" rIns="0" bIns="0" rtlCol="0" anchor="ctr"/>
          <a:lstStyle/>
          <a:p>
            <a:pPr indent="0" marL="0">
              <a:lnSpc>
                <a:spcPct val="112000"/>
              </a:lnSpc>
              <a:buNone/>
            </a:pPr>
            <a:r>
              <a:rPr lang="en-US" sz="1250" b="1" dirty="0">
                <a:solidFill>
                  <a:srgbClr val="9C241C"/>
                </a:solidFill>
                <a:latin typeface="Calibri" pitchFamily="34" charset="0"/>
                <a:ea typeface="Calibri" pitchFamily="34" charset="-122"/>
                <a:cs typeface="Calibri" pitchFamily="34" charset="-120"/>
              </a:rPr>
              <a:t>One array, two names.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Changing it through either variable changes it for both. The original array is not copied — and if nothing else referred to it, it is now unreachable.</a:t>
            </a:r>
            <a:endParaRPr lang="en-US" sz="1250" dirty="0"/>
          </a:p>
        </p:txBody>
      </p:sp>
      <p:sp>
        <p:nvSpPr>
          <p:cNvPr id="20" name="Shape 18"/>
          <p:cNvSpPr/>
          <p:nvPr/>
        </p:nvSpPr>
        <p:spPr>
          <a:xfrm>
            <a:off x="6693408" y="1536192"/>
            <a:ext cx="4931359" cy="1115202"/>
          </a:xfrm>
          <a:prstGeom prst="roundRect">
            <a:avLst>
              <a:gd name="adj" fmla="val 5740"/>
            </a:avLst>
          </a:prstGeom>
          <a:solidFill>
            <a:srgbClr val="EDF2F7"/>
          </a:solidFill>
          <a:ln w="12700">
            <a:solidFill>
              <a:srgbClr val="CFDBE5"/>
            </a:solidFill>
            <a:prstDash val="solid"/>
          </a:ln>
        </p:spPr>
      </p:sp>
      <p:sp>
        <p:nvSpPr>
          <p:cNvPr id="21" name="Text 19"/>
          <p:cNvSpPr txBox="1"/>
          <p:nvPr/>
        </p:nvSpPr>
        <p:spPr>
          <a:xfrm>
            <a:off x="6839712" y="1581912"/>
            <a:ext cx="463875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1 — COPY WITH A LOOP</a:t>
            </a:r>
            <a:endParaRPr lang="en-US" sz="950" dirty="0"/>
          </a:p>
        </p:txBody>
      </p:sp>
      <p:sp>
        <p:nvSpPr>
          <p:cNvPr id="22" name="Text 20"/>
          <p:cNvSpPr txBox="1"/>
          <p:nvPr/>
        </p:nvSpPr>
        <p:spPr>
          <a:xfrm>
            <a:off x="6858000" y="1810512"/>
            <a:ext cx="4602175" cy="786018"/>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target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source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source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target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source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23" name="Shape 21"/>
          <p:cNvSpPr/>
          <p:nvPr/>
        </p:nvSpPr>
        <p:spPr>
          <a:xfrm>
            <a:off x="6693408" y="2907426"/>
            <a:ext cx="4931359" cy="901964"/>
          </a:xfrm>
          <a:prstGeom prst="roundRect">
            <a:avLst>
              <a:gd name="adj" fmla="val 7097"/>
            </a:avLst>
          </a:prstGeom>
          <a:solidFill>
            <a:srgbClr val="EDF2F7"/>
          </a:solidFill>
          <a:ln w="12700">
            <a:solidFill>
              <a:srgbClr val="CFDBE5"/>
            </a:solidFill>
            <a:prstDash val="solid"/>
          </a:ln>
        </p:spPr>
      </p:sp>
      <p:sp>
        <p:nvSpPr>
          <p:cNvPr id="24" name="Text 22"/>
          <p:cNvSpPr txBox="1"/>
          <p:nvPr/>
        </p:nvSpPr>
        <p:spPr>
          <a:xfrm>
            <a:off x="6839712" y="2953146"/>
            <a:ext cx="463875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2 — System.arraycopy(src, srcPos, dst, dstPos, n)</a:t>
            </a:r>
            <a:endParaRPr lang="en-US" sz="950" dirty="0"/>
          </a:p>
        </p:txBody>
      </p:sp>
      <p:sp>
        <p:nvSpPr>
          <p:cNvPr id="25" name="Text 23"/>
          <p:cNvSpPr txBox="1"/>
          <p:nvPr/>
        </p:nvSpPr>
        <p:spPr>
          <a:xfrm>
            <a:off x="6858000" y="3181746"/>
            <a:ext cx="4602175" cy="572780"/>
          </a:xfrm>
          <a:prstGeom prst="rect">
            <a:avLst/>
          </a:prstGeom>
          <a:noFill/>
          <a:ln/>
        </p:spPr>
        <p:txBody>
          <a:bodyPr wrap="square" lIns="0" tIns="0" rIns="0" bIns="0" rtlCol="0" anchor="t"/>
          <a:lstStyle/>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arraycopy</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source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target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source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26" name="Shape 24"/>
          <p:cNvSpPr/>
          <p:nvPr/>
        </p:nvSpPr>
        <p:spPr>
          <a:xfrm>
            <a:off x="6693408" y="4065422"/>
            <a:ext cx="4931359" cy="882579"/>
          </a:xfrm>
          <a:prstGeom prst="roundRect">
            <a:avLst>
              <a:gd name="adj" fmla="val 7252"/>
            </a:avLst>
          </a:prstGeom>
          <a:solidFill>
            <a:srgbClr val="EDF2F7"/>
          </a:solidFill>
          <a:ln w="12700">
            <a:solidFill>
              <a:srgbClr val="CFDBE5"/>
            </a:solidFill>
            <a:prstDash val="solid"/>
          </a:ln>
        </p:spPr>
      </p:sp>
      <p:sp>
        <p:nvSpPr>
          <p:cNvPr id="27" name="Text 25"/>
          <p:cNvSpPr txBox="1"/>
          <p:nvPr/>
        </p:nvSpPr>
        <p:spPr>
          <a:xfrm>
            <a:off x="6839712" y="4111142"/>
            <a:ext cx="463875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3 — Arrays.copyOf — THE ONE TO USE</a:t>
            </a:r>
            <a:endParaRPr lang="en-US" sz="950" dirty="0"/>
          </a:p>
        </p:txBody>
      </p:sp>
      <p:sp>
        <p:nvSpPr>
          <p:cNvPr id="28" name="Text 26"/>
          <p:cNvSpPr txBox="1"/>
          <p:nvPr/>
        </p:nvSpPr>
        <p:spPr>
          <a:xfrm>
            <a:off x="6858000" y="4339742"/>
            <a:ext cx="4602175" cy="553395"/>
          </a:xfrm>
          <a:prstGeom prst="rect">
            <a:avLst/>
          </a:prstGeom>
          <a:noFill/>
          <a:ln/>
        </p:spPr>
        <p:txBody>
          <a:bodyPr wrap="square" lIns="0" tIns="0" rIns="0" bIns="0" rtlCol="0" anchor="t"/>
          <a:lstStyle/>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target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Arrays</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copyOf</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source</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source</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part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Arrays</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copyOfRange</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source</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29" name="Shape 27"/>
          <p:cNvSpPr/>
          <p:nvPr/>
        </p:nvSpPr>
        <p:spPr>
          <a:xfrm>
            <a:off x="6693408" y="5167457"/>
            <a:ext cx="4931359" cy="1097280"/>
          </a:xfrm>
          <a:prstGeom prst="roundRect">
            <a:avLst>
              <a:gd name="adj" fmla="val 7500"/>
            </a:avLst>
          </a:prstGeom>
          <a:solidFill>
            <a:srgbClr val="E6F2EC"/>
          </a:solidFill>
          <a:ln w="12700">
            <a:solidFill>
              <a:srgbClr val="E6F2EC"/>
            </a:solidFill>
            <a:prstDash val="solid"/>
          </a:ln>
        </p:spPr>
      </p:sp>
      <p:sp>
        <p:nvSpPr>
          <p:cNvPr id="30" name="Text 28"/>
          <p:cNvSpPr txBox="1"/>
          <p:nvPr/>
        </p:nvSpPr>
        <p:spPr>
          <a:xfrm>
            <a:off x="6949440" y="5277185"/>
            <a:ext cx="4419295" cy="274320"/>
          </a:xfrm>
          <a:prstGeom prst="rect">
            <a:avLst/>
          </a:prstGeom>
          <a:noFill/>
          <a:ln/>
        </p:spPr>
        <p:txBody>
          <a:bodyPr wrap="square" lIns="0" tIns="0" rIns="0" bIns="0" rtlCol="0" anchor="ctr"/>
          <a:lstStyle/>
          <a:p>
            <a:pPr indent="0" marL="0">
              <a:buNone/>
            </a:pPr>
            <a:r>
              <a:rPr lang="en-US" sz="1350" b="1" dirty="0">
                <a:solidFill>
                  <a:srgbClr val="176240"/>
                </a:solidFill>
                <a:latin typeface="Calibri" pitchFamily="34" charset="0"/>
                <a:ea typeface="Calibri" pitchFamily="34" charset="-122"/>
                <a:cs typeface="Calibri" pitchFamily="34" charset="-120"/>
              </a:rPr>
              <a:t>copyOf creates the target for you</a:t>
            </a:r>
            <a:endParaRPr lang="en-US" sz="1350" dirty="0"/>
          </a:p>
        </p:txBody>
      </p:sp>
      <p:sp>
        <p:nvSpPr>
          <p:cNvPr id="31" name="Text 29"/>
          <p:cNvSpPr txBox="1"/>
          <p:nvPr/>
        </p:nvSpPr>
        <p:spPr>
          <a:xfrm>
            <a:off x="6949440" y="5569793"/>
            <a:ext cx="4419295" cy="658368"/>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arraycopy needs a target that already exists and is big enough. Arrays.copyOf allocates one for you, and can resize while copying.</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LIBRARY</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java.util.Arrays — Do Not Write These Yourself</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One import gives you sorting, searching, filling, comparing and printing.</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6766560" cy="914400"/>
        </p:xfrm>
        <a:graphic>
          <a:graphicData uri="http://schemas.openxmlformats.org/drawingml/2006/table">
            <a:tbl>
              <a:tblPr/>
              <a:tblGrid>
                <a:gridCol w="2571293"/>
                <a:gridCol w="4195267"/>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Call</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does</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347472">
                <a:tc>
                  <a:txBody>
                    <a:bodyPr/>
                    <a:lstStyle/>
                    <a:p>
                      <a:pPr indent="0" marL="0">
                        <a:buNone/>
                      </a:pPr>
                      <a:r>
                        <a:rPr lang="en-US" sz="1050" b="1" dirty="0">
                          <a:solidFill>
                            <a:srgbClr val="9A430A"/>
                          </a:solidFill>
                          <a:latin typeface="Courier New" pitchFamily="34" charset="0"/>
                          <a:ea typeface="Courier New" pitchFamily="34" charset="-122"/>
                          <a:cs typeface="Courier New" pitchFamily="34" charset="-120"/>
                        </a:rPr>
                        <a:t>Arrays.toString(a)</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returns "[1, 2, 3]" — the only sane way to print an array</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47472">
                <a:tc>
                  <a:txBody>
                    <a:bodyPr/>
                    <a:lstStyle/>
                    <a:p>
                      <a:pPr indent="0" marL="0">
                        <a:buNone/>
                      </a:pPr>
                      <a:r>
                        <a:rPr lang="en-US" sz="1050" b="1" dirty="0">
                          <a:solidFill>
                            <a:srgbClr val="9A430A"/>
                          </a:solidFill>
                          <a:latin typeface="Courier New" pitchFamily="34" charset="0"/>
                          <a:ea typeface="Courier New" pitchFamily="34" charset="-122"/>
                          <a:cs typeface="Courier New" pitchFamily="34" charset="-120"/>
                        </a:rPr>
                        <a:t>Arrays.sort(a)</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sorts in place, ascending</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9A430A"/>
                          </a:solidFill>
                          <a:latin typeface="Courier New" pitchFamily="34" charset="0"/>
                          <a:ea typeface="Courier New" pitchFamily="34" charset="-122"/>
                          <a:cs typeface="Courier New" pitchFamily="34" charset="-120"/>
                        </a:rPr>
                        <a:t>Arrays.sort(a, from, to)</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sorts part of it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47472">
                <a:tc>
                  <a:txBody>
                    <a:bodyPr/>
                    <a:lstStyle/>
                    <a:p>
                      <a:pPr indent="0" marL="0">
                        <a:buNone/>
                      </a:pPr>
                      <a:r>
                        <a:rPr lang="en-US" sz="1050" b="1" dirty="0">
                          <a:solidFill>
                            <a:srgbClr val="9A430A"/>
                          </a:solidFill>
                          <a:latin typeface="Courier New" pitchFamily="34" charset="0"/>
                          <a:ea typeface="Courier New" pitchFamily="34" charset="-122"/>
                          <a:cs typeface="Courier New" pitchFamily="34" charset="-120"/>
                        </a:rPr>
                        <a:t>Arrays.parallelSort(a)</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same result, uses several cores (Java 8)</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9A430A"/>
                          </a:solidFill>
                          <a:latin typeface="Courier New" pitchFamily="34" charset="0"/>
                          <a:ea typeface="Courier New" pitchFamily="34" charset="-122"/>
                          <a:cs typeface="Courier New" pitchFamily="34" charset="-120"/>
                        </a:rPr>
                        <a:t>Arrays.binarySearch(a, key)</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index of key — the array must be sorted first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47472">
                <a:tc>
                  <a:txBody>
                    <a:bodyPr/>
                    <a:lstStyle/>
                    <a:p>
                      <a:pPr indent="0" marL="0">
                        <a:buNone/>
                      </a:pPr>
                      <a:r>
                        <a:rPr lang="en-US" sz="1050" b="1" dirty="0">
                          <a:solidFill>
                            <a:srgbClr val="9A430A"/>
                          </a:solidFill>
                          <a:latin typeface="Courier New" pitchFamily="34" charset="0"/>
                          <a:ea typeface="Courier New" pitchFamily="34" charset="-122"/>
                          <a:cs typeface="Courier New" pitchFamily="34" charset="-120"/>
                        </a:rPr>
                        <a:t>Arrays.fill(a, v)</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sets every element to v</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9A430A"/>
                          </a:solidFill>
                          <a:latin typeface="Courier New" pitchFamily="34" charset="0"/>
                          <a:ea typeface="Courier New" pitchFamily="34" charset="-122"/>
                          <a:cs typeface="Courier New" pitchFamily="34" charset="-120"/>
                        </a:rPr>
                        <a:t>Arrays.equals(a, b)</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true when the contents match</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47472">
                <a:tc>
                  <a:txBody>
                    <a:bodyPr/>
                    <a:lstStyle/>
                    <a:p>
                      <a:pPr indent="0" marL="0">
                        <a:buNone/>
                      </a:pPr>
                      <a:r>
                        <a:rPr lang="en-US" sz="1050" b="1" dirty="0">
                          <a:solidFill>
                            <a:srgbClr val="9A430A"/>
                          </a:solidFill>
                          <a:latin typeface="Courier New" pitchFamily="34" charset="0"/>
                          <a:ea typeface="Courier New" pitchFamily="34" charset="-122"/>
                          <a:cs typeface="Courier New" pitchFamily="34" charset="-120"/>
                        </a:rPr>
                        <a:t>Arrays.copyOf(a, n)</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 new array of length n, copied from a</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bl>
          </a:graphicData>
        </a:graphic>
      </p:graphicFrame>
      <p:sp>
        <p:nvSpPr>
          <p:cNvPr id="8" name="Shape 5"/>
          <p:cNvSpPr/>
          <p:nvPr/>
        </p:nvSpPr>
        <p:spPr>
          <a:xfrm>
            <a:off x="7790688" y="1536192"/>
            <a:ext cx="3834079" cy="1541678"/>
          </a:xfrm>
          <a:prstGeom prst="roundRect">
            <a:avLst>
              <a:gd name="adj" fmla="val 4152"/>
            </a:avLst>
          </a:prstGeom>
          <a:solidFill>
            <a:srgbClr val="EDF2F7"/>
          </a:solidFill>
          <a:ln w="12700">
            <a:solidFill>
              <a:srgbClr val="CFDBE5"/>
            </a:solidFill>
            <a:prstDash val="solid"/>
          </a:ln>
        </p:spPr>
      </p:sp>
      <p:sp>
        <p:nvSpPr>
          <p:cNvPr id="9" name="Text 6"/>
          <p:cNvSpPr txBox="1"/>
          <p:nvPr/>
        </p:nvSpPr>
        <p:spPr>
          <a:xfrm>
            <a:off x="7936992" y="1581912"/>
            <a:ext cx="354147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IMPORT IT ONCE AT THE TOP</a:t>
            </a:r>
            <a:endParaRPr lang="en-US" sz="950" dirty="0"/>
          </a:p>
        </p:txBody>
      </p:sp>
      <p:sp>
        <p:nvSpPr>
          <p:cNvPr id="10" name="Text 7"/>
          <p:cNvSpPr txBox="1"/>
          <p:nvPr/>
        </p:nvSpPr>
        <p:spPr>
          <a:xfrm>
            <a:off x="7955280" y="1810512"/>
            <a:ext cx="3504895" cy="1212494"/>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import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java</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util</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Arrays</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Arrays</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sort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Arrays</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toString</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1" name="Shape 8"/>
          <p:cNvSpPr/>
          <p:nvPr/>
        </p:nvSpPr>
        <p:spPr>
          <a:xfrm>
            <a:off x="7790688" y="3315614"/>
            <a:ext cx="3834079" cy="672770"/>
          </a:xfrm>
          <a:prstGeom prst="roundRect">
            <a:avLst>
              <a:gd name="adj" fmla="val 9514"/>
            </a:avLst>
          </a:prstGeom>
          <a:solidFill>
            <a:srgbClr val="FFFFFF"/>
          </a:solidFill>
          <a:ln w="12700">
            <a:solidFill>
              <a:srgbClr val="4B6377"/>
            </a:solidFill>
            <a:prstDash val="solid"/>
          </a:ln>
        </p:spPr>
      </p:sp>
      <p:sp>
        <p:nvSpPr>
          <p:cNvPr id="12" name="Text 9"/>
          <p:cNvSpPr txBox="1"/>
          <p:nvPr/>
        </p:nvSpPr>
        <p:spPr>
          <a:xfrm>
            <a:off x="7936992" y="3388766"/>
            <a:ext cx="354147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3" name="Text 10"/>
          <p:cNvSpPr txBox="1"/>
          <p:nvPr/>
        </p:nvSpPr>
        <p:spPr>
          <a:xfrm>
            <a:off x="7936992" y="3589934"/>
            <a:ext cx="3541471" cy="307010"/>
          </a:xfrm>
          <a:prstGeom prst="rect">
            <a:avLst/>
          </a:prstGeom>
          <a:noFill/>
          <a:ln/>
        </p:spPr>
        <p:txBody>
          <a:bodyPr wrap="square" lIns="0" tIns="0" rIns="0" bIns="0" rtlCol="0" anchor="t"/>
          <a:lstStyle/>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[1, 2, 3, 5, 10]</a:t>
            </a:r>
            <a:endParaRPr lang="en-US" sz="1150" dirty="0"/>
          </a:p>
        </p:txBody>
      </p:sp>
      <p:sp>
        <p:nvSpPr>
          <p:cNvPr id="14" name="Shape 11"/>
          <p:cNvSpPr/>
          <p:nvPr/>
        </p:nvSpPr>
        <p:spPr>
          <a:xfrm>
            <a:off x="7790688" y="4129430"/>
            <a:ext cx="3834079" cy="1234440"/>
          </a:xfrm>
          <a:prstGeom prst="roundRect">
            <a:avLst>
              <a:gd name="adj" fmla="val 6667"/>
            </a:avLst>
          </a:prstGeom>
          <a:solidFill>
            <a:srgbClr val="FBEAE8"/>
          </a:solidFill>
          <a:ln w="12700">
            <a:solidFill>
              <a:srgbClr val="FBEAE8"/>
            </a:solidFill>
            <a:prstDash val="solid"/>
          </a:ln>
        </p:spPr>
      </p:sp>
      <p:sp>
        <p:nvSpPr>
          <p:cNvPr id="15" name="Text 12"/>
          <p:cNvSpPr txBox="1"/>
          <p:nvPr/>
        </p:nvSpPr>
        <p:spPr>
          <a:xfrm>
            <a:off x="8046720" y="4239158"/>
            <a:ext cx="3322015" cy="274320"/>
          </a:xfrm>
          <a:prstGeom prst="rect">
            <a:avLst/>
          </a:prstGeom>
          <a:noFill/>
          <a:ln/>
        </p:spPr>
        <p:txBody>
          <a:bodyPr wrap="square" lIns="0" tIns="0" rIns="0" bIns="0" rtlCol="0" anchor="ctr"/>
          <a:lstStyle/>
          <a:p>
            <a:pPr indent="0" marL="0">
              <a:buNone/>
            </a:pPr>
            <a:r>
              <a:rPr lang="en-US" sz="1350" b="1" dirty="0">
                <a:solidFill>
                  <a:srgbClr val="9C241C"/>
                </a:solidFill>
                <a:latin typeface="Calibri" pitchFamily="34" charset="0"/>
                <a:ea typeface="Calibri" pitchFamily="34" charset="-122"/>
                <a:cs typeface="Calibri" pitchFamily="34" charset="-120"/>
              </a:rPr>
              <a:t>Never print an array directly</a:t>
            </a:r>
            <a:endParaRPr lang="en-US" sz="1350" dirty="0"/>
          </a:p>
        </p:txBody>
      </p:sp>
      <p:sp>
        <p:nvSpPr>
          <p:cNvPr id="16" name="Text 13"/>
          <p:cNvSpPr txBox="1"/>
          <p:nvPr/>
        </p:nvSpPr>
        <p:spPr>
          <a:xfrm>
            <a:off x="8046720" y="4531766"/>
            <a:ext cx="3322015" cy="77724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System.out.println(a) prints something like [I@2f92e0f4 — the type and a memory address, not the contents. Use Arrays.toString(a).</a:t>
            </a:r>
            <a:endParaRPr lang="en-US" sz="1200" dirty="0"/>
          </a:p>
        </p:txBody>
      </p:sp>
      <p:sp>
        <p:nvSpPr>
          <p:cNvPr id="17" name="Shape 14"/>
          <p:cNvSpPr/>
          <p:nvPr/>
        </p:nvSpPr>
        <p:spPr>
          <a:xfrm>
            <a:off x="7790688" y="5345582"/>
            <a:ext cx="3834079" cy="1005840"/>
          </a:xfrm>
          <a:prstGeom prst="roundRect">
            <a:avLst>
              <a:gd name="adj" fmla="val 8182"/>
            </a:avLst>
          </a:prstGeom>
          <a:solidFill>
            <a:srgbClr val="FBEEE0"/>
          </a:solidFill>
          <a:ln w="12700">
            <a:solidFill>
              <a:srgbClr val="FBEEE0"/>
            </a:solidFill>
            <a:prstDash val="solid"/>
          </a:ln>
        </p:spPr>
      </p:sp>
      <p:sp>
        <p:nvSpPr>
          <p:cNvPr id="7" name="Text 15"/>
          <p:cNvSpPr txBox="1"/>
          <p:nvPr/>
        </p:nvSpPr>
        <p:spPr>
          <a:xfrm>
            <a:off x="8046720" y="5437022"/>
            <a:ext cx="3322015" cy="274320"/>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 compares references, not contents</a:t>
            </a:r>
            <a:endParaRPr lang="en-US" sz="1350" dirty="0"/>
          </a:p>
        </p:txBody>
      </p:sp>
      <p:sp>
        <p:nvSpPr>
          <p:cNvPr id="19" name="Text 16"/>
          <p:cNvSpPr txBox="1"/>
          <p:nvPr/>
        </p:nvSpPr>
        <p:spPr>
          <a:xfrm>
            <a:off x="8046720" y="5729630"/>
            <a:ext cx="3322015" cy="566928"/>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Two arrays holding {1, 2} are never == to each other. Arrays.equals compares element by element.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2</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12–17</a:t>
            </a:r>
            <a:endParaRPr lang="en-US" sz="1250" dirty="0"/>
          </a:p>
        </p:txBody>
      </p:sp>
      <p:sp>
        <p:nvSpPr>
          <p:cNvPr id="5" name="Shape 3"/>
          <p:cNvSpPr/>
          <p:nvPr/>
        </p:nvSpPr>
        <p:spPr>
          <a:xfrm>
            <a:off x="566928" y="1481328"/>
            <a:ext cx="11057839" cy="960120"/>
          </a:xfrm>
          <a:prstGeom prst="roundRect">
            <a:avLst>
              <a:gd name="adj" fmla="val 8571"/>
            </a:avLst>
          </a:prstGeom>
          <a:solidFill>
            <a:srgbClr val="FFFFFF"/>
          </a:solidFill>
          <a:ln w="12700">
            <a:solidFill>
              <a:srgbClr val="D3DEE7"/>
            </a:solidFill>
            <a:prstDash val="solid"/>
          </a:ln>
        </p:spPr>
      </p:sp>
      <p:sp>
        <p:nvSpPr>
          <p:cNvPr id="6" name="Shape 4"/>
          <p:cNvSpPr/>
          <p:nvPr/>
        </p:nvSpPr>
        <p:spPr>
          <a:xfrm>
            <a:off x="841248" y="1719072"/>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171907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645920"/>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Why must max start at list[0] rather than 0 when finding the largest element?</a:t>
            </a:r>
            <a:endParaRPr lang="en-US" sz="1550" dirty="0"/>
          </a:p>
        </p:txBody>
      </p:sp>
      <p:sp>
        <p:nvSpPr>
          <p:cNvPr id="9" name="Shape 7"/>
          <p:cNvSpPr/>
          <p:nvPr/>
        </p:nvSpPr>
        <p:spPr>
          <a:xfrm>
            <a:off x="566928" y="2660904"/>
            <a:ext cx="11057839" cy="2343424"/>
          </a:xfrm>
          <a:prstGeom prst="roundRect">
            <a:avLst>
              <a:gd name="adj" fmla="val 3512"/>
            </a:avLst>
          </a:prstGeom>
          <a:solidFill>
            <a:srgbClr val="FFFFFF"/>
          </a:solidFill>
          <a:ln w="12700">
            <a:solidFill>
              <a:srgbClr val="D3DEE7"/>
            </a:solidFill>
            <a:prstDash val="solid"/>
          </a:ln>
        </p:spPr>
      </p:sp>
      <p:sp>
        <p:nvSpPr>
          <p:cNvPr id="10" name="Shape 8"/>
          <p:cNvSpPr/>
          <p:nvPr/>
        </p:nvSpPr>
        <p:spPr>
          <a:xfrm>
            <a:off x="841248" y="2898648"/>
            <a:ext cx="402336" cy="402336"/>
          </a:xfrm>
          <a:prstGeom prst="ellipse">
            <a:avLst/>
          </a:prstGeom>
          <a:solidFill>
            <a:srgbClr val="C4560C"/>
          </a:solidFill>
          <a:ln w="12700">
            <a:solidFill>
              <a:srgbClr val="C4560C"/>
            </a:solidFill>
            <a:prstDash val="solid"/>
          </a:ln>
        </p:spPr>
      </p:sp>
      <p:sp>
        <p:nvSpPr>
          <p:cNvPr id="11" name="Text 9"/>
          <p:cNvSpPr txBox="1"/>
          <p:nvPr/>
        </p:nvSpPr>
        <p:spPr>
          <a:xfrm>
            <a:off x="841248" y="289864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2825496"/>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What does this print, and why?</a:t>
            </a:r>
            <a:endParaRPr lang="en-US" sz="1550" dirty="0"/>
          </a:p>
        </p:txBody>
      </p:sp>
      <p:sp>
        <p:nvSpPr>
          <p:cNvPr id="13" name="Shape 11"/>
          <p:cNvSpPr/>
          <p:nvPr/>
        </p:nvSpPr>
        <p:spPr>
          <a:xfrm>
            <a:off x="1435608" y="3300984"/>
            <a:ext cx="6949440" cy="1182136"/>
          </a:xfrm>
          <a:prstGeom prst="roundRect">
            <a:avLst>
              <a:gd name="adj" fmla="val 5415"/>
            </a:avLst>
          </a:prstGeom>
          <a:solidFill>
            <a:srgbClr val="EDF2F7"/>
          </a:solidFill>
          <a:ln w="12700">
            <a:solidFill>
              <a:srgbClr val="CFDBE5"/>
            </a:solidFill>
            <a:prstDash val="solid"/>
          </a:ln>
        </p:spPr>
      </p:sp>
      <p:sp>
        <p:nvSpPr>
          <p:cNvPr id="14" name="Text 12"/>
          <p:cNvSpPr txBox="1"/>
          <p:nvPr/>
        </p:nvSpPr>
        <p:spPr>
          <a:xfrm>
            <a:off x="1600200" y="3438144"/>
            <a:ext cx="6620256" cy="980968"/>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99</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566928" y="5223784"/>
            <a:ext cx="11057839" cy="960120"/>
          </a:xfrm>
          <a:prstGeom prst="roundRect">
            <a:avLst>
              <a:gd name="adj" fmla="val 8571"/>
            </a:avLst>
          </a:prstGeom>
          <a:solidFill>
            <a:srgbClr val="FFFFFF"/>
          </a:solidFill>
          <a:ln w="12700">
            <a:solidFill>
              <a:srgbClr val="D3DEE7"/>
            </a:solidFill>
            <a:prstDash val="solid"/>
          </a:ln>
        </p:spPr>
      </p:sp>
      <p:sp>
        <p:nvSpPr>
          <p:cNvPr id="16" name="Shape 14"/>
          <p:cNvSpPr/>
          <p:nvPr/>
        </p:nvSpPr>
        <p:spPr>
          <a:xfrm>
            <a:off x="841248" y="5461528"/>
            <a:ext cx="402336" cy="402336"/>
          </a:xfrm>
          <a:prstGeom prst="ellipse">
            <a:avLst/>
          </a:prstGeom>
          <a:solidFill>
            <a:srgbClr val="C4560C"/>
          </a:solidFill>
          <a:ln w="12700">
            <a:solidFill>
              <a:srgbClr val="C4560C"/>
            </a:solidFill>
            <a:prstDash val="solid"/>
          </a:ln>
        </p:spPr>
      </p:sp>
      <p:sp>
        <p:nvSpPr>
          <p:cNvPr id="17" name="Text 15"/>
          <p:cNvSpPr txBox="1"/>
          <p:nvPr/>
        </p:nvSpPr>
        <p:spPr>
          <a:xfrm>
            <a:off x="841248" y="546152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8" name="Text 16"/>
          <p:cNvSpPr txBox="1"/>
          <p:nvPr/>
        </p:nvSpPr>
        <p:spPr>
          <a:xfrm>
            <a:off x="1435608" y="5388376"/>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Name one thing an enhanced for loop cannot do that an indexed loop can.</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286000"/>
            <a:ext cx="5486400" cy="310896"/>
          </a:xfrm>
          <a:prstGeom prst="rect">
            <a:avLst/>
          </a:prstGeom>
          <a:noFill/>
          <a:ln/>
        </p:spPr>
        <p:txBody>
          <a:bodyPr wrap="square" lIns="0" tIns="0" rIns="0" bIns="0" rtlCol="0" anchor="ctr"/>
          <a:lstStyle/>
          <a:p>
            <a:pPr indent="0" marL="0">
              <a:buNone/>
            </a:pPr>
            <a:r>
              <a:rPr lang="en-US" sz="1300" b="1" spc="240" kern="0" dirty="0">
                <a:solidFill>
                  <a:srgbClr val="9A430A"/>
                </a:solidFill>
                <a:latin typeface="Calibri" pitchFamily="34" charset="0"/>
                <a:ea typeface="Calibri" pitchFamily="34" charset="-122"/>
                <a:cs typeface="Calibri" pitchFamily="34" charset="-120"/>
              </a:rPr>
              <a:t>PART 02</a:t>
            </a:r>
            <a:endParaRPr lang="en-US" sz="1300" dirty="0"/>
          </a:p>
        </p:txBody>
      </p:sp>
      <p:sp>
        <p:nvSpPr>
          <p:cNvPr id="3" name="Text 1"/>
          <p:cNvSpPr txBox="1"/>
          <p:nvPr/>
        </p:nvSpPr>
        <p:spPr>
          <a:xfrm>
            <a:off x="566928" y="2697480"/>
            <a:ext cx="8046720" cy="1737360"/>
          </a:xfrm>
          <a:prstGeom prst="rect">
            <a:avLst/>
          </a:prstGeom>
          <a:noFill/>
          <a:ln/>
        </p:spPr>
        <p:txBody>
          <a:bodyPr wrap="square" lIns="0" tIns="0" rIns="0" bIns="0" rtlCol="0" anchor="ctr"/>
          <a:lstStyle/>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Arrays</a:t>
            </a:r>
            <a:endParaRPr lang="en-US" sz="4400" dirty="0"/>
          </a:p>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and Methods</a:t>
            </a:r>
            <a:endParaRPr lang="en-US" sz="4400" dirty="0"/>
          </a:p>
        </p:txBody>
      </p:sp>
      <p:sp>
        <p:nvSpPr>
          <p:cNvPr id="4" name="Text 2"/>
          <p:cNvSpPr txBox="1"/>
          <p:nvPr/>
        </p:nvSpPr>
        <p:spPr>
          <a:xfrm>
            <a:off x="566928" y="4526280"/>
            <a:ext cx="8686800" cy="365760"/>
          </a:xfrm>
          <a:prstGeom prst="rect">
            <a:avLst/>
          </a:prstGeom>
          <a:noFill/>
          <a:ln/>
        </p:spPr>
        <p:txBody>
          <a:bodyPr wrap="square" lIns="0" tIns="0" rIns="0" bIns="0" rtlCol="0" anchor="ctr"/>
          <a:lstStyle/>
          <a:p>
            <a:pPr indent="0" marL="0">
              <a:buNone/>
            </a:pPr>
            <a:r>
              <a:rPr lang="en-US" sz="1500" dirty="0">
                <a:solidFill>
                  <a:srgbClr val="3A536B"/>
                </a:solidFill>
                <a:latin typeface="Calibri" pitchFamily="34" charset="0"/>
                <a:ea typeface="Calibri" pitchFamily="34" charset="-122"/>
                <a:cs typeface="Calibri" pitchFamily="34" charset="-120"/>
              </a:rPr>
              <a:t>Passing them in, returning them out — and the one place they behave unlike everything else.</a:t>
            </a:r>
            <a:endParaRPr lang="en-US" sz="1500" dirty="0"/>
          </a:p>
        </p:txBody>
      </p:sp>
      <p:sp>
        <p:nvSpPr>
          <p:cNvPr id="5" name="Text 3"/>
          <p:cNvSpPr txBox="1"/>
          <p:nvPr/>
        </p:nvSpPr>
        <p:spPr>
          <a:xfrm>
            <a:off x="9247327" y="2011680"/>
            <a:ext cx="2377440" cy="2194560"/>
          </a:xfrm>
          <a:prstGeom prst="rect">
            <a:avLst/>
          </a:prstGeom>
          <a:noFill/>
          <a:ln/>
        </p:spPr>
        <p:txBody>
          <a:bodyPr wrap="square" lIns="0" tIns="0" rIns="0" bIns="0" rtlCol="0" anchor="ctr"/>
          <a:lstStyle/>
          <a:p>
            <a:pPr algn="r" indent="0" marL="0">
              <a:buNone/>
            </a:pPr>
            <a:r>
              <a:rPr lang="en-US" sz="13000" b="1" dirty="0">
                <a:solidFill>
                  <a:srgbClr val="CFDCE8"/>
                </a:solidFill>
                <a:latin typeface="Cambria" pitchFamily="34" charset="0"/>
                <a:ea typeface="Cambria" pitchFamily="34" charset="-122"/>
                <a:cs typeface="Cambria" pitchFamily="34" charset="-120"/>
              </a:rPr>
              <a:t>02</a:t>
            </a:r>
            <a:endParaRPr lang="en-US" sz="13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METHODS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Passing an Array to a Method</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The parameter type is written with brackets. The method receives the reference.</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20</a:t>
            </a:r>
            <a:endParaRPr lang="en-US" sz="900" dirty="0"/>
          </a:p>
        </p:txBody>
      </p:sp>
      <p:sp>
        <p:nvSpPr>
          <p:cNvPr id="7" name="Shape 5"/>
          <p:cNvSpPr/>
          <p:nvPr/>
        </p:nvSpPr>
        <p:spPr>
          <a:xfrm>
            <a:off x="566928" y="1536192"/>
            <a:ext cx="5852160" cy="1590142"/>
          </a:xfrm>
          <a:prstGeom prst="roundRect">
            <a:avLst>
              <a:gd name="adj" fmla="val 4025"/>
            </a:avLst>
          </a:prstGeom>
          <a:solidFill>
            <a:srgbClr val="EDF2F7"/>
          </a:solidFill>
          <a:ln w="12700">
            <a:solidFill>
              <a:srgbClr val="CFDBE5"/>
            </a:solidFill>
            <a:prstDash val="solid"/>
          </a:ln>
        </p:spPr>
      </p:sp>
      <p:sp>
        <p:nvSpPr>
          <p:cNvPr id="8" name="Text 6"/>
          <p:cNvSpPr txBox="1"/>
          <p:nvPr/>
        </p:nvSpPr>
        <p:spPr>
          <a:xfrm>
            <a:off x="713232" y="1581912"/>
            <a:ext cx="55595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METHOD</a:t>
            </a:r>
            <a:endParaRPr lang="en-US" sz="950" dirty="0"/>
          </a:p>
        </p:txBody>
      </p:sp>
      <p:sp>
        <p:nvSpPr>
          <p:cNvPr id="9" name="Text 7"/>
          <p:cNvSpPr txBox="1"/>
          <p:nvPr/>
        </p:nvSpPr>
        <p:spPr>
          <a:xfrm>
            <a:off x="731520" y="1810512"/>
            <a:ext cx="5522976" cy="1260958"/>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printArray</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array</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array</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array</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0" name="Shape 8"/>
          <p:cNvSpPr/>
          <p:nvPr/>
        </p:nvSpPr>
        <p:spPr>
          <a:xfrm>
            <a:off x="566928" y="3400654"/>
            <a:ext cx="5852160" cy="921349"/>
          </a:xfrm>
          <a:prstGeom prst="roundRect">
            <a:avLst>
              <a:gd name="adj" fmla="val 6947"/>
            </a:avLst>
          </a:prstGeom>
          <a:solidFill>
            <a:srgbClr val="EDF2F7"/>
          </a:solidFill>
          <a:ln w="12700">
            <a:solidFill>
              <a:srgbClr val="CFDBE5"/>
            </a:solidFill>
            <a:prstDash val="solid"/>
          </a:ln>
        </p:spPr>
      </p:sp>
      <p:sp>
        <p:nvSpPr>
          <p:cNvPr id="11" name="Text 9"/>
          <p:cNvSpPr txBox="1"/>
          <p:nvPr/>
        </p:nvSpPr>
        <p:spPr>
          <a:xfrm>
            <a:off x="713232" y="3446374"/>
            <a:ext cx="55595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CALLING IT WITH A VARIABLE</a:t>
            </a:r>
            <a:endParaRPr lang="en-US" sz="950" dirty="0"/>
          </a:p>
        </p:txBody>
      </p:sp>
      <p:sp>
        <p:nvSpPr>
          <p:cNvPr id="12" name="Text 10"/>
          <p:cNvSpPr txBox="1"/>
          <p:nvPr/>
        </p:nvSpPr>
        <p:spPr>
          <a:xfrm>
            <a:off x="731520" y="3674974"/>
            <a:ext cx="5522976" cy="592165"/>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6</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printArray</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3" name="Shape 11"/>
          <p:cNvSpPr/>
          <p:nvPr/>
        </p:nvSpPr>
        <p:spPr>
          <a:xfrm>
            <a:off x="566928" y="4596323"/>
            <a:ext cx="5852160" cy="698419"/>
          </a:xfrm>
          <a:prstGeom prst="roundRect">
            <a:avLst>
              <a:gd name="adj" fmla="val 9165"/>
            </a:avLst>
          </a:prstGeom>
          <a:solidFill>
            <a:srgbClr val="EDF2F7"/>
          </a:solidFill>
          <a:ln w="12700">
            <a:solidFill>
              <a:srgbClr val="CFDBE5"/>
            </a:solidFill>
            <a:prstDash val="solid"/>
          </a:ln>
        </p:spPr>
      </p:sp>
      <p:sp>
        <p:nvSpPr>
          <p:cNvPr id="14" name="Text 12"/>
          <p:cNvSpPr txBox="1"/>
          <p:nvPr/>
        </p:nvSpPr>
        <p:spPr>
          <a:xfrm>
            <a:off x="713232" y="4642043"/>
            <a:ext cx="55595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CALLING IT WITH AN ANONYMOUS ARRAY</a:t>
            </a:r>
            <a:endParaRPr lang="en-US" sz="950" dirty="0"/>
          </a:p>
        </p:txBody>
      </p:sp>
      <p:sp>
        <p:nvSpPr>
          <p:cNvPr id="15" name="Text 13"/>
          <p:cNvSpPr txBox="1"/>
          <p:nvPr/>
        </p:nvSpPr>
        <p:spPr>
          <a:xfrm>
            <a:off x="731520" y="4870643"/>
            <a:ext cx="5522976" cy="369235"/>
          </a:xfrm>
          <a:prstGeom prst="rect">
            <a:avLst/>
          </a:prstGeom>
          <a:noFill/>
          <a:ln/>
        </p:spPr>
        <p:txBody>
          <a:bodyPr wrap="square" lIns="0" tIns="0" rIns="0" bIns="0" rtlCol="0" anchor="t"/>
          <a:lstStyle/>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printArray</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6</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6" name="Shape 14"/>
          <p:cNvSpPr/>
          <p:nvPr/>
        </p:nvSpPr>
        <p:spPr>
          <a:xfrm>
            <a:off x="566928" y="5532486"/>
            <a:ext cx="5852160" cy="777240"/>
          </a:xfrm>
          <a:prstGeom prst="roundRect">
            <a:avLst>
              <a:gd name="adj" fmla="val 10588"/>
            </a:avLst>
          </a:prstGeom>
          <a:solidFill>
            <a:srgbClr val="E4ECF4"/>
          </a:solidFill>
          <a:ln w="12700">
            <a:solidFill>
              <a:srgbClr val="E4ECF4"/>
            </a:solidFill>
            <a:prstDash val="solid"/>
          </a:ln>
        </p:spPr>
      </p:sp>
      <p:sp>
        <p:nvSpPr>
          <p:cNvPr id="17" name="Text 15"/>
          <p:cNvSpPr txBox="1"/>
          <p:nvPr/>
        </p:nvSpPr>
        <p:spPr>
          <a:xfrm>
            <a:off x="822960" y="5605638"/>
            <a:ext cx="5340096"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An anonymous array has no variable</a:t>
            </a:r>
            <a:endParaRPr lang="en-US" sz="1350" dirty="0"/>
          </a:p>
        </p:txBody>
      </p:sp>
      <p:sp>
        <p:nvSpPr>
          <p:cNvPr id="18" name="Text 16"/>
          <p:cNvSpPr txBox="1"/>
          <p:nvPr/>
        </p:nvSpPr>
        <p:spPr>
          <a:xfrm>
            <a:off x="822960" y="5861670"/>
            <a:ext cx="5340096" cy="292608"/>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Created and handed straight to the method — useful for test data.</a:t>
            </a:r>
            <a:endParaRPr lang="en-US" sz="1200" dirty="0"/>
          </a:p>
        </p:txBody>
      </p:sp>
      <p:sp>
        <p:nvSpPr>
          <p:cNvPr id="19" name="Shape 17"/>
          <p:cNvSpPr/>
          <p:nvPr/>
        </p:nvSpPr>
        <p:spPr>
          <a:xfrm>
            <a:off x="6876288" y="1536192"/>
            <a:ext cx="4748479" cy="672770"/>
          </a:xfrm>
          <a:prstGeom prst="roundRect">
            <a:avLst>
              <a:gd name="adj" fmla="val 9514"/>
            </a:avLst>
          </a:prstGeom>
          <a:solidFill>
            <a:srgbClr val="FFFFFF"/>
          </a:solidFill>
          <a:ln w="12700">
            <a:solidFill>
              <a:srgbClr val="4B6377"/>
            </a:solidFill>
            <a:prstDash val="solid"/>
          </a:ln>
        </p:spPr>
      </p:sp>
      <p:sp>
        <p:nvSpPr>
          <p:cNvPr id="20" name="Text 18"/>
          <p:cNvSpPr txBox="1"/>
          <p:nvPr/>
        </p:nvSpPr>
        <p:spPr>
          <a:xfrm>
            <a:off x="7022592" y="1609344"/>
            <a:ext cx="445587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21" name="Text 19"/>
          <p:cNvSpPr txBox="1"/>
          <p:nvPr/>
        </p:nvSpPr>
        <p:spPr>
          <a:xfrm>
            <a:off x="7022592" y="1810512"/>
            <a:ext cx="4455871" cy="307010"/>
          </a:xfrm>
          <a:prstGeom prst="rect">
            <a:avLst/>
          </a:prstGeom>
          <a:noFill/>
          <a:ln/>
        </p:spPr>
        <p:txBody>
          <a:bodyPr wrap="square" lIns="0" tIns="0" rIns="0" bIns="0" rtlCol="0" anchor="t"/>
          <a:lstStyle/>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3 1 2 6 4 2</a:t>
            </a:r>
            <a:endParaRPr lang="en-US" sz="1150" dirty="0"/>
          </a:p>
        </p:txBody>
      </p:sp>
      <p:sp>
        <p:nvSpPr>
          <p:cNvPr id="22" name="Shape 20"/>
          <p:cNvSpPr/>
          <p:nvPr/>
        </p:nvSpPr>
        <p:spPr>
          <a:xfrm>
            <a:off x="6876288" y="2483282"/>
            <a:ext cx="4748479" cy="1874520"/>
          </a:xfrm>
          <a:prstGeom prst="roundRect">
            <a:avLst>
              <a:gd name="adj" fmla="val 4390"/>
            </a:avLst>
          </a:prstGeom>
          <a:solidFill>
            <a:srgbClr val="F1F5F9"/>
          </a:solidFill>
          <a:ln w="12700">
            <a:solidFill>
              <a:srgbClr val="F1F5F9"/>
            </a:solidFill>
            <a:prstDash val="solid"/>
          </a:ln>
        </p:spPr>
      </p:sp>
      <p:sp>
        <p:nvSpPr>
          <p:cNvPr id="23" name="Text 21"/>
          <p:cNvSpPr txBox="1"/>
          <p:nvPr/>
        </p:nvSpPr>
        <p:spPr>
          <a:xfrm>
            <a:off x="7095744" y="2647874"/>
            <a:ext cx="430956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The method does not know the length in advance</a:t>
            </a:r>
            <a:endParaRPr lang="en-US" sz="1450" dirty="0"/>
          </a:p>
        </p:txBody>
      </p:sp>
      <p:sp>
        <p:nvSpPr>
          <p:cNvPr id="24" name="Text 22"/>
          <p:cNvSpPr txBox="1"/>
          <p:nvPr/>
        </p:nvSpPr>
        <p:spPr>
          <a:xfrm>
            <a:off x="7095744" y="2977058"/>
            <a:ext cx="4309567" cy="125272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It reads array.length at run time, so the same method prints an array of six or of six thousand. A method that took the length as a second parameter would be a C habit — in Java the array carries its own size.</a:t>
            </a:r>
            <a:endParaRPr lang="en-US" sz="1200" dirty="0"/>
          </a:p>
        </p:txBody>
      </p:sp>
      <p:sp>
        <p:nvSpPr>
          <p:cNvPr id="25" name="Shape 23"/>
          <p:cNvSpPr/>
          <p:nvPr/>
        </p:nvSpPr>
        <p:spPr>
          <a:xfrm>
            <a:off x="6876288" y="4540682"/>
            <a:ext cx="4748479" cy="1280160"/>
          </a:xfrm>
          <a:prstGeom prst="roundRect">
            <a:avLst>
              <a:gd name="adj" fmla="val 6429"/>
            </a:avLst>
          </a:prstGeom>
          <a:solidFill>
            <a:srgbClr val="FBEEE0"/>
          </a:solidFill>
          <a:ln w="12700">
            <a:solidFill>
              <a:srgbClr val="FBEEE0"/>
            </a:solidFill>
            <a:prstDash val="solid"/>
          </a:ln>
        </p:spPr>
      </p:sp>
      <p:sp>
        <p:nvSpPr>
          <p:cNvPr id="26" name="Text 24"/>
          <p:cNvSpPr txBox="1"/>
          <p:nvPr/>
        </p:nvSpPr>
        <p:spPr>
          <a:xfrm>
            <a:off x="7132320" y="4659554"/>
            <a:ext cx="4236415" cy="274320"/>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The brackets go with the type</a:t>
            </a:r>
            <a:endParaRPr lang="en-US" sz="1350" dirty="0"/>
          </a:p>
        </p:txBody>
      </p:sp>
      <p:sp>
        <p:nvSpPr>
          <p:cNvPr id="27" name="Text 25"/>
          <p:cNvSpPr txBox="1"/>
          <p:nvPr/>
        </p:nvSpPr>
        <p:spPr>
          <a:xfrm>
            <a:off x="7132320" y="4952162"/>
            <a:ext cx="4236415" cy="804672"/>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int[] array in the header, printArray(list) at the call — no brackets at the call site. Writing printArray(list[]) is a compile error.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METHODS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Why a Method Can Change Your Array but Not Your int</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Java is still pass by value. What gets copied is the reference — and a copy of a reference points at the same array.</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21</a:t>
            </a:r>
            <a:endParaRPr lang="en-US" sz="900" dirty="0"/>
          </a:p>
        </p:txBody>
      </p:sp>
      <p:sp>
        <p:nvSpPr>
          <p:cNvPr id="7" name="Shape 5"/>
          <p:cNvSpPr/>
          <p:nvPr/>
        </p:nvSpPr>
        <p:spPr>
          <a:xfrm>
            <a:off x="566928" y="1536192"/>
            <a:ext cx="5760720" cy="2714488"/>
          </a:xfrm>
          <a:prstGeom prst="roundRect">
            <a:avLst>
              <a:gd name="adj" fmla="val 2358"/>
            </a:avLst>
          </a:prstGeom>
          <a:solidFill>
            <a:srgbClr val="EDF2F7"/>
          </a:solidFill>
          <a:ln w="12700">
            <a:solidFill>
              <a:srgbClr val="CFDBE5"/>
            </a:solidFill>
            <a:prstDash val="solid"/>
          </a:ln>
        </p:spPr>
      </p:sp>
      <p:sp>
        <p:nvSpPr>
          <p:cNvPr id="8" name="Text 6"/>
          <p:cNvSpPr txBox="1"/>
          <p:nvPr/>
        </p:nvSpPr>
        <p:spPr>
          <a:xfrm>
            <a:off x="713232" y="1581912"/>
            <a:ext cx="546811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Test.java</a:t>
            </a:r>
            <a:endParaRPr lang="en-US" sz="950" dirty="0"/>
          </a:p>
        </p:txBody>
      </p:sp>
      <p:sp>
        <p:nvSpPr>
          <p:cNvPr id="9" name="Text 7"/>
          <p:cNvSpPr txBox="1"/>
          <p:nvPr/>
        </p:nvSpPr>
        <p:spPr>
          <a:xfrm>
            <a:off x="731520" y="1810512"/>
            <a:ext cx="5431536" cy="2385304"/>
          </a:xfrm>
          <a:prstGeom prst="rect">
            <a:avLst/>
          </a:prstGeom>
          <a:noFill/>
          <a:ln/>
        </p:spPr>
        <p:txBody>
          <a:bodyPr wrap="square" lIns="0" tIns="0" rIns="0" bIns="0" rtlCol="0" anchor="t"/>
          <a:lstStyle/>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numbers</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1001</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415C6E"/>
                </a:solidFill>
                <a:latin typeface="Courier New" pitchFamily="34" charset="0"/>
                <a:ea typeface="Courier New" pitchFamily="34" charset="-122"/>
                <a:cs typeface="Courier New" pitchFamily="34" charset="-120"/>
              </a:rPr>
              <a:t>// changes the copy</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numbers</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5555</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415C6E"/>
                </a:solidFill>
                <a:latin typeface="Courier New" pitchFamily="34" charset="0"/>
                <a:ea typeface="Courier New" pitchFamily="34" charset="-122"/>
                <a:cs typeface="Courier New" pitchFamily="34" charset="-120"/>
              </a:rPr>
              <a:t>// changes the array</a:t>
            </a:r>
            <a:endParaRPr lang="en-US" sz="1050" dirty="0"/>
          </a:p>
          <a:p>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y</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y</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614A"/>
                </a:solidFill>
                <a:latin typeface="Courier New" pitchFamily="34" charset="0"/>
                <a:ea typeface="Courier New" pitchFamily="34" charset="-122"/>
                <a:cs typeface="Courier New" pitchFamily="34" charset="-120"/>
              </a:rPr>
              <a:t>"x is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614A"/>
                </a:solidFill>
                <a:latin typeface="Courier New" pitchFamily="34" charset="0"/>
                <a:ea typeface="Courier New" pitchFamily="34" charset="-122"/>
                <a:cs typeface="Courier New" pitchFamily="34" charset="-120"/>
              </a:rPr>
              <a:t>"y[0] is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y</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10" name="Shape 8"/>
          <p:cNvSpPr/>
          <p:nvPr/>
        </p:nvSpPr>
        <p:spPr>
          <a:xfrm>
            <a:off x="566928" y="4470136"/>
            <a:ext cx="5760720" cy="869594"/>
          </a:xfrm>
          <a:prstGeom prst="roundRect">
            <a:avLst>
              <a:gd name="adj" fmla="val 7361"/>
            </a:avLst>
          </a:prstGeom>
          <a:solidFill>
            <a:srgbClr val="FFFFFF"/>
          </a:solidFill>
          <a:ln w="12700">
            <a:solidFill>
              <a:srgbClr val="4B6377"/>
            </a:solidFill>
            <a:prstDash val="solid"/>
          </a:ln>
        </p:spPr>
      </p:sp>
      <p:sp>
        <p:nvSpPr>
          <p:cNvPr id="11" name="Text 9"/>
          <p:cNvSpPr txBox="1"/>
          <p:nvPr/>
        </p:nvSpPr>
        <p:spPr>
          <a:xfrm>
            <a:off x="713232" y="4543288"/>
            <a:ext cx="546811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13232" y="4744456"/>
            <a:ext cx="5468112" cy="503834"/>
          </a:xfrm>
          <a:prstGeom prst="rect">
            <a:avLst/>
          </a:prstGeom>
          <a:noFill/>
          <a:ln/>
        </p:spPr>
        <p:txBody>
          <a:bodyPr wrap="square" lIns="0" tIns="0" rIns="0" bIns="0" rtlCol="0" anchor="t"/>
          <a:lstStyle/>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x is 1</a:t>
            </a:r>
            <a:endParaRPr lang="en-US" sz="1100" dirty="0"/>
          </a:p>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y[0] is 5555</a:t>
            </a:r>
            <a:endParaRPr lang="en-US" sz="1100" dirty="0"/>
          </a:p>
        </p:txBody>
      </p:sp>
      <p:sp>
        <p:nvSpPr>
          <p:cNvPr id="13" name="Shape 11"/>
          <p:cNvSpPr/>
          <p:nvPr/>
        </p:nvSpPr>
        <p:spPr>
          <a:xfrm>
            <a:off x="566928" y="5540898"/>
            <a:ext cx="5760720" cy="658368"/>
          </a:xfrm>
          <a:prstGeom prst="roundRect">
            <a:avLst>
              <a:gd name="adj" fmla="val 12500"/>
            </a:avLst>
          </a:prstGeom>
          <a:solidFill>
            <a:srgbClr val="E4ECF4"/>
          </a:solidFill>
          <a:ln w="12700">
            <a:solidFill>
              <a:srgbClr val="E4ECF4"/>
            </a:solidFill>
            <a:prstDash val="solid"/>
          </a:ln>
        </p:spPr>
      </p:sp>
      <p:sp>
        <p:nvSpPr>
          <p:cNvPr id="14" name="Text 12"/>
          <p:cNvSpPr txBox="1"/>
          <p:nvPr/>
        </p:nvSpPr>
        <p:spPr>
          <a:xfrm>
            <a:off x="841248" y="5540898"/>
            <a:ext cx="5212080" cy="658368"/>
          </a:xfrm>
          <a:prstGeom prst="rect">
            <a:avLst/>
          </a:prstGeom>
          <a:noFill/>
          <a:ln/>
        </p:spPr>
        <p:txBody>
          <a:bodyPr wrap="square" lIns="0" tIns="0" rIns="0" bIns="0" rtlCol="0" anchor="ctr"/>
          <a:lstStyle/>
          <a:p>
            <a:pPr indent="0" marL="0">
              <a:buNone/>
            </a:pPr>
            <a:r>
              <a:rPr lang="en-US" sz="1200" b="1" dirty="0">
                <a:solidFill>
                  <a:srgbClr val="0F2942"/>
                </a:solidFill>
                <a:latin typeface="Calibri" pitchFamily="34" charset="0"/>
                <a:ea typeface="Calibri" pitchFamily="34" charset="-122"/>
                <a:cs typeface="Calibri" pitchFamily="34" charset="-120"/>
              </a:rPr>
              <a:t>Both obey the same rule.  </a:t>
            </a:r>
            <a:pPr indent="0" marL="0">
              <a:buNone/>
            </a:pPr>
            <a:r>
              <a:rPr lang="en-US" sz="1200" dirty="0">
                <a:solidFill>
                  <a:srgbClr val="3A536B"/>
                </a:solidFill>
                <a:latin typeface="Calibri" pitchFamily="34" charset="0"/>
                <a:ea typeface="Calibri" pitchFamily="34" charset="-122"/>
                <a:cs typeface="Calibri" pitchFamily="34" charset="-120"/>
              </a:rPr>
              <a:t>A copied int is a copy; a copied reference still leads to the array.</a:t>
            </a:r>
            <a:endParaRPr lang="en-US" sz="1200" dirty="0"/>
          </a:p>
        </p:txBody>
      </p:sp>
      <p:sp>
        <p:nvSpPr>
          <p:cNvPr id="15" name="Text 13"/>
          <p:cNvSpPr txBox="1"/>
          <p:nvPr/>
        </p:nvSpPr>
        <p:spPr>
          <a:xfrm>
            <a:off x="6784848" y="1536192"/>
            <a:ext cx="4839919" cy="219456"/>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STACK AND HEAP DURING THE CALL</a:t>
            </a:r>
            <a:endParaRPr lang="en-US" sz="950" dirty="0"/>
          </a:p>
        </p:txBody>
      </p:sp>
      <p:sp>
        <p:nvSpPr>
          <p:cNvPr id="16" name="Text 14"/>
          <p:cNvSpPr txBox="1"/>
          <p:nvPr/>
        </p:nvSpPr>
        <p:spPr>
          <a:xfrm>
            <a:off x="6784848" y="1828800"/>
            <a:ext cx="2214220" cy="219456"/>
          </a:xfrm>
          <a:prstGeom prst="rect">
            <a:avLst/>
          </a:prstGeom>
          <a:noFill/>
          <a:ln/>
        </p:spPr>
        <p:txBody>
          <a:bodyPr wrap="square" lIns="0" tIns="0" rIns="0" bIns="0" rtlCol="0" anchor="ctr"/>
          <a:lstStyle/>
          <a:p>
            <a:pPr algn="ctr" indent="0" marL="0">
              <a:buNone/>
            </a:pPr>
            <a:r>
              <a:rPr lang="en-US" sz="1000" b="1" dirty="0">
                <a:solidFill>
                  <a:srgbClr val="1D4468"/>
                </a:solidFill>
                <a:latin typeface="Calibri" pitchFamily="34" charset="0"/>
                <a:ea typeface="Calibri" pitchFamily="34" charset="-122"/>
                <a:cs typeface="Calibri" pitchFamily="34" charset="-120"/>
              </a:rPr>
              <a:t>the stack</a:t>
            </a:r>
            <a:endParaRPr lang="en-US" sz="1000" dirty="0"/>
          </a:p>
        </p:txBody>
      </p:sp>
      <p:sp>
        <p:nvSpPr>
          <p:cNvPr id="17" name="Shape 15"/>
          <p:cNvSpPr/>
          <p:nvPr/>
        </p:nvSpPr>
        <p:spPr>
          <a:xfrm>
            <a:off x="6784848" y="2084832"/>
            <a:ext cx="2214220" cy="402336"/>
          </a:xfrm>
          <a:prstGeom prst="roundRect">
            <a:avLst>
              <a:gd name="adj" fmla="val 11364"/>
            </a:avLst>
          </a:prstGeom>
          <a:solidFill>
            <a:srgbClr val="FBEEE0"/>
          </a:solidFill>
          <a:ln w="15240">
            <a:solidFill>
              <a:srgbClr val="C4560C"/>
            </a:solidFill>
            <a:prstDash val="solid"/>
          </a:ln>
        </p:spPr>
      </p:sp>
      <p:sp>
        <p:nvSpPr>
          <p:cNvPr id="18" name="Text 16"/>
          <p:cNvSpPr txBox="1"/>
          <p:nvPr/>
        </p:nvSpPr>
        <p:spPr>
          <a:xfrm>
            <a:off x="6876288" y="2084832"/>
            <a:ext cx="1372816" cy="402336"/>
          </a:xfrm>
          <a:prstGeom prst="rect">
            <a:avLst/>
          </a:prstGeom>
          <a:noFill/>
          <a:ln/>
        </p:spPr>
        <p:txBody>
          <a:bodyPr wrap="square" lIns="0" tIns="0" rIns="0" bIns="0" rtlCol="0" anchor="ctr"/>
          <a:lstStyle/>
          <a:p>
            <a:pPr indent="0" marL="0">
              <a:buNone/>
            </a:pPr>
            <a:r>
              <a:rPr lang="en-US" sz="950" dirty="0">
                <a:solidFill>
                  <a:srgbClr val="3A536B"/>
                </a:solidFill>
                <a:latin typeface="Courier New" pitchFamily="34" charset="0"/>
                <a:ea typeface="Courier New" pitchFamily="34" charset="-122"/>
                <a:cs typeface="Courier New" pitchFamily="34" charset="-120"/>
              </a:rPr>
              <a:t>m: numbers</a:t>
            </a:r>
            <a:endParaRPr lang="en-US" sz="950" dirty="0"/>
          </a:p>
        </p:txBody>
      </p:sp>
      <p:sp>
        <p:nvSpPr>
          <p:cNvPr id="19" name="Text 17"/>
          <p:cNvSpPr txBox="1"/>
          <p:nvPr/>
        </p:nvSpPr>
        <p:spPr>
          <a:xfrm>
            <a:off x="8157664" y="2084832"/>
            <a:ext cx="749963" cy="402336"/>
          </a:xfrm>
          <a:prstGeom prst="rect">
            <a:avLst/>
          </a:prstGeom>
          <a:noFill/>
          <a:ln/>
        </p:spPr>
        <p:txBody>
          <a:bodyPr wrap="square" lIns="0" tIns="0" rIns="0" bIns="0" rtlCol="0" anchor="ctr"/>
          <a:lstStyle/>
          <a:p>
            <a:pPr algn="r" indent="0" marL="0">
              <a:buNone/>
            </a:pPr>
            <a:r>
              <a:rPr lang="en-US" sz="950" b="1" dirty="0">
                <a:solidFill>
                  <a:srgbClr val="9A430A"/>
                </a:solidFill>
                <a:latin typeface="Courier New" pitchFamily="34" charset="0"/>
                <a:ea typeface="Courier New" pitchFamily="34" charset="-122"/>
                <a:cs typeface="Courier New" pitchFamily="34" charset="-120"/>
              </a:rPr>
              <a:t>ref</a:t>
            </a:r>
            <a:endParaRPr lang="en-US" sz="950" dirty="0"/>
          </a:p>
        </p:txBody>
      </p:sp>
      <p:sp>
        <p:nvSpPr>
          <p:cNvPr id="20" name="Shape 18"/>
          <p:cNvSpPr/>
          <p:nvPr/>
        </p:nvSpPr>
        <p:spPr>
          <a:xfrm>
            <a:off x="6784848" y="2560320"/>
            <a:ext cx="2214220" cy="402336"/>
          </a:xfrm>
          <a:prstGeom prst="roundRect">
            <a:avLst>
              <a:gd name="adj" fmla="val 11364"/>
            </a:avLst>
          </a:prstGeom>
          <a:solidFill>
            <a:srgbClr val="E4ECF4"/>
          </a:solidFill>
          <a:ln w="15240">
            <a:solidFill>
              <a:srgbClr val="1D4468"/>
            </a:solidFill>
            <a:prstDash val="solid"/>
          </a:ln>
        </p:spPr>
      </p:sp>
      <p:sp>
        <p:nvSpPr>
          <p:cNvPr id="21" name="Text 19"/>
          <p:cNvSpPr txBox="1"/>
          <p:nvPr/>
        </p:nvSpPr>
        <p:spPr>
          <a:xfrm>
            <a:off x="6876288" y="2560320"/>
            <a:ext cx="1372816" cy="402336"/>
          </a:xfrm>
          <a:prstGeom prst="rect">
            <a:avLst/>
          </a:prstGeom>
          <a:noFill/>
          <a:ln/>
        </p:spPr>
        <p:txBody>
          <a:bodyPr wrap="square" lIns="0" tIns="0" rIns="0" bIns="0" rtlCol="0" anchor="ctr"/>
          <a:lstStyle/>
          <a:p>
            <a:pPr indent="0" marL="0">
              <a:buNone/>
            </a:pPr>
            <a:r>
              <a:rPr lang="en-US" sz="950" dirty="0">
                <a:solidFill>
                  <a:srgbClr val="3A536B"/>
                </a:solidFill>
                <a:latin typeface="Courier New" pitchFamily="34" charset="0"/>
                <a:ea typeface="Courier New" pitchFamily="34" charset="-122"/>
                <a:cs typeface="Courier New" pitchFamily="34" charset="-120"/>
              </a:rPr>
              <a:t>m: number</a:t>
            </a:r>
            <a:endParaRPr lang="en-US" sz="950" dirty="0"/>
          </a:p>
        </p:txBody>
      </p:sp>
      <p:sp>
        <p:nvSpPr>
          <p:cNvPr id="22" name="Text 20"/>
          <p:cNvSpPr txBox="1"/>
          <p:nvPr/>
        </p:nvSpPr>
        <p:spPr>
          <a:xfrm>
            <a:off x="8157664" y="2560320"/>
            <a:ext cx="749963" cy="402336"/>
          </a:xfrm>
          <a:prstGeom prst="rect">
            <a:avLst/>
          </a:prstGeom>
          <a:noFill/>
          <a:ln/>
        </p:spPr>
        <p:txBody>
          <a:bodyPr wrap="square" lIns="0" tIns="0" rIns="0" bIns="0" rtlCol="0" anchor="ctr"/>
          <a:lstStyle/>
          <a:p>
            <a:pPr algn="r" indent="0" marL="0">
              <a:buNone/>
            </a:pPr>
            <a:r>
              <a:rPr lang="en-US" sz="950" b="1" dirty="0">
                <a:solidFill>
                  <a:srgbClr val="0F2942"/>
                </a:solidFill>
                <a:latin typeface="Courier New" pitchFamily="34" charset="0"/>
                <a:ea typeface="Courier New" pitchFamily="34" charset="-122"/>
                <a:cs typeface="Courier New" pitchFamily="34" charset="-120"/>
              </a:rPr>
              <a:t>1001</a:t>
            </a:r>
            <a:endParaRPr lang="en-US" sz="950" dirty="0"/>
          </a:p>
        </p:txBody>
      </p:sp>
      <p:sp>
        <p:nvSpPr>
          <p:cNvPr id="23" name="Shape 21"/>
          <p:cNvSpPr/>
          <p:nvPr/>
        </p:nvSpPr>
        <p:spPr>
          <a:xfrm>
            <a:off x="6784848" y="3035808"/>
            <a:ext cx="2214220" cy="402336"/>
          </a:xfrm>
          <a:prstGeom prst="roundRect">
            <a:avLst>
              <a:gd name="adj" fmla="val 11364"/>
            </a:avLst>
          </a:prstGeom>
          <a:solidFill>
            <a:srgbClr val="FBEEE0"/>
          </a:solidFill>
          <a:ln w="15240">
            <a:solidFill>
              <a:srgbClr val="C4560C"/>
            </a:solidFill>
            <a:prstDash val="solid"/>
          </a:ln>
        </p:spPr>
      </p:sp>
      <p:sp>
        <p:nvSpPr>
          <p:cNvPr id="24" name="Text 22"/>
          <p:cNvSpPr txBox="1"/>
          <p:nvPr/>
        </p:nvSpPr>
        <p:spPr>
          <a:xfrm>
            <a:off x="6876288" y="3035808"/>
            <a:ext cx="1372816" cy="402336"/>
          </a:xfrm>
          <a:prstGeom prst="rect">
            <a:avLst/>
          </a:prstGeom>
          <a:noFill/>
          <a:ln/>
        </p:spPr>
        <p:txBody>
          <a:bodyPr wrap="square" lIns="0" tIns="0" rIns="0" bIns="0" rtlCol="0" anchor="ctr"/>
          <a:lstStyle/>
          <a:p>
            <a:pPr indent="0" marL="0">
              <a:buNone/>
            </a:pPr>
            <a:r>
              <a:rPr lang="en-US" sz="950" dirty="0">
                <a:solidFill>
                  <a:srgbClr val="3A536B"/>
                </a:solidFill>
                <a:latin typeface="Courier New" pitchFamily="34" charset="0"/>
                <a:ea typeface="Courier New" pitchFamily="34" charset="-122"/>
                <a:cs typeface="Courier New" pitchFamily="34" charset="-120"/>
              </a:rPr>
              <a:t>main: y</a:t>
            </a:r>
            <a:endParaRPr lang="en-US" sz="950" dirty="0"/>
          </a:p>
        </p:txBody>
      </p:sp>
      <p:sp>
        <p:nvSpPr>
          <p:cNvPr id="25" name="Text 23"/>
          <p:cNvSpPr txBox="1"/>
          <p:nvPr/>
        </p:nvSpPr>
        <p:spPr>
          <a:xfrm>
            <a:off x="8157664" y="3035808"/>
            <a:ext cx="749963" cy="402336"/>
          </a:xfrm>
          <a:prstGeom prst="rect">
            <a:avLst/>
          </a:prstGeom>
          <a:noFill/>
          <a:ln/>
        </p:spPr>
        <p:txBody>
          <a:bodyPr wrap="square" lIns="0" tIns="0" rIns="0" bIns="0" rtlCol="0" anchor="ctr"/>
          <a:lstStyle/>
          <a:p>
            <a:pPr algn="r" indent="0" marL="0">
              <a:buNone/>
            </a:pPr>
            <a:r>
              <a:rPr lang="en-US" sz="950" b="1" dirty="0">
                <a:solidFill>
                  <a:srgbClr val="9A430A"/>
                </a:solidFill>
                <a:latin typeface="Courier New" pitchFamily="34" charset="0"/>
                <a:ea typeface="Courier New" pitchFamily="34" charset="-122"/>
                <a:cs typeface="Courier New" pitchFamily="34" charset="-120"/>
              </a:rPr>
              <a:t>ref</a:t>
            </a:r>
            <a:endParaRPr lang="en-US" sz="950" dirty="0"/>
          </a:p>
        </p:txBody>
      </p:sp>
      <p:sp>
        <p:nvSpPr>
          <p:cNvPr id="26" name="Shape 24"/>
          <p:cNvSpPr/>
          <p:nvPr/>
        </p:nvSpPr>
        <p:spPr>
          <a:xfrm>
            <a:off x="6784848" y="3511296"/>
            <a:ext cx="2214220" cy="402336"/>
          </a:xfrm>
          <a:prstGeom prst="roundRect">
            <a:avLst>
              <a:gd name="adj" fmla="val 11364"/>
            </a:avLst>
          </a:prstGeom>
          <a:solidFill>
            <a:srgbClr val="E4ECF4"/>
          </a:solidFill>
          <a:ln w="15240">
            <a:solidFill>
              <a:srgbClr val="1D4468"/>
            </a:solidFill>
            <a:prstDash val="solid"/>
          </a:ln>
        </p:spPr>
      </p:sp>
      <p:sp>
        <p:nvSpPr>
          <p:cNvPr id="27" name="Text 25"/>
          <p:cNvSpPr txBox="1"/>
          <p:nvPr/>
        </p:nvSpPr>
        <p:spPr>
          <a:xfrm>
            <a:off x="6876288" y="3511296"/>
            <a:ext cx="1372816" cy="402336"/>
          </a:xfrm>
          <a:prstGeom prst="rect">
            <a:avLst/>
          </a:prstGeom>
          <a:noFill/>
          <a:ln/>
        </p:spPr>
        <p:txBody>
          <a:bodyPr wrap="square" lIns="0" tIns="0" rIns="0" bIns="0" rtlCol="0" anchor="ctr"/>
          <a:lstStyle/>
          <a:p>
            <a:pPr indent="0" marL="0">
              <a:buNone/>
            </a:pPr>
            <a:r>
              <a:rPr lang="en-US" sz="950" dirty="0">
                <a:solidFill>
                  <a:srgbClr val="3A536B"/>
                </a:solidFill>
                <a:latin typeface="Courier New" pitchFamily="34" charset="0"/>
                <a:ea typeface="Courier New" pitchFamily="34" charset="-122"/>
                <a:cs typeface="Courier New" pitchFamily="34" charset="-120"/>
              </a:rPr>
              <a:t>main: x</a:t>
            </a:r>
            <a:endParaRPr lang="en-US" sz="950" dirty="0"/>
          </a:p>
        </p:txBody>
      </p:sp>
      <p:sp>
        <p:nvSpPr>
          <p:cNvPr id="28" name="Text 26"/>
          <p:cNvSpPr txBox="1"/>
          <p:nvPr/>
        </p:nvSpPr>
        <p:spPr>
          <a:xfrm>
            <a:off x="8157664" y="3511296"/>
            <a:ext cx="749963" cy="402336"/>
          </a:xfrm>
          <a:prstGeom prst="rect">
            <a:avLst/>
          </a:prstGeom>
          <a:noFill/>
          <a:ln/>
        </p:spPr>
        <p:txBody>
          <a:bodyPr wrap="square" lIns="0" tIns="0" rIns="0" bIns="0" rtlCol="0" anchor="ctr"/>
          <a:lstStyle/>
          <a:p>
            <a:pPr algn="r" indent="0" marL="0">
              <a:buNone/>
            </a:pPr>
            <a:r>
              <a:rPr lang="en-US" sz="950" b="1" dirty="0">
                <a:solidFill>
                  <a:srgbClr val="0F2942"/>
                </a:solidFill>
                <a:latin typeface="Courier New" pitchFamily="34" charset="0"/>
                <a:ea typeface="Courier New" pitchFamily="34" charset="-122"/>
                <a:cs typeface="Courier New" pitchFamily="34" charset="-120"/>
              </a:rPr>
              <a:t>1</a:t>
            </a:r>
            <a:endParaRPr lang="en-US" sz="950" dirty="0"/>
          </a:p>
        </p:txBody>
      </p:sp>
      <p:sp>
        <p:nvSpPr>
          <p:cNvPr id="29" name="Text 27"/>
          <p:cNvSpPr txBox="1"/>
          <p:nvPr/>
        </p:nvSpPr>
        <p:spPr>
          <a:xfrm>
            <a:off x="9410548" y="1828800"/>
            <a:ext cx="2214220" cy="219456"/>
          </a:xfrm>
          <a:prstGeom prst="rect">
            <a:avLst/>
          </a:prstGeom>
          <a:noFill/>
          <a:ln/>
        </p:spPr>
        <p:txBody>
          <a:bodyPr wrap="square" lIns="0" tIns="0" rIns="0" bIns="0" rtlCol="0" anchor="ctr"/>
          <a:lstStyle/>
          <a:p>
            <a:pPr algn="ctr" indent="0" marL="0">
              <a:buNone/>
            </a:pPr>
            <a:r>
              <a:rPr lang="en-US" sz="1000" b="1" dirty="0">
                <a:solidFill>
                  <a:srgbClr val="9A430A"/>
                </a:solidFill>
                <a:latin typeface="Calibri" pitchFamily="34" charset="0"/>
                <a:ea typeface="Calibri" pitchFamily="34" charset="-122"/>
                <a:cs typeface="Calibri" pitchFamily="34" charset="-120"/>
              </a:rPr>
              <a:t>the heap</a:t>
            </a:r>
            <a:endParaRPr lang="en-US" sz="1000" dirty="0"/>
          </a:p>
        </p:txBody>
      </p:sp>
      <p:sp>
        <p:nvSpPr>
          <p:cNvPr id="30" name="Shape 28"/>
          <p:cNvSpPr/>
          <p:nvPr/>
        </p:nvSpPr>
        <p:spPr>
          <a:xfrm>
            <a:off x="9410548" y="2084832"/>
            <a:ext cx="2214220" cy="1463040"/>
          </a:xfrm>
          <a:prstGeom prst="roundRect">
            <a:avLst>
              <a:gd name="adj" fmla="val 4375"/>
            </a:avLst>
          </a:prstGeom>
          <a:solidFill>
            <a:srgbClr val="FFFFFF"/>
          </a:solidFill>
          <a:ln w="19050">
            <a:solidFill>
              <a:srgbClr val="C4560C"/>
            </a:solidFill>
            <a:prstDash val="solid"/>
          </a:ln>
        </p:spPr>
      </p:sp>
      <p:sp>
        <p:nvSpPr>
          <p:cNvPr id="31" name="Text 29"/>
          <p:cNvSpPr txBox="1"/>
          <p:nvPr/>
        </p:nvSpPr>
        <p:spPr>
          <a:xfrm>
            <a:off x="9410548" y="2084832"/>
            <a:ext cx="2214220" cy="1463040"/>
          </a:xfrm>
          <a:prstGeom prst="rect">
            <a:avLst/>
          </a:prstGeom>
          <a:noFill/>
          <a:ln/>
        </p:spPr>
        <p:txBody>
          <a:bodyPr wrap="square" lIns="0" tIns="0" rIns="0" bIns="0" rtlCol="0" anchor="ctr"/>
          <a:lstStyle/>
          <a:p>
            <a:pPr algn="ctr" indent="0" marL="0">
              <a:lnSpc>
                <a:spcPct val="115000"/>
              </a:lnSpc>
              <a:buNone/>
            </a:pPr>
            <a:r>
              <a:rPr lang="en-US" sz="1000" b="1" dirty="0">
                <a:solidFill>
                  <a:srgbClr val="9A430A"/>
                </a:solidFill>
                <a:latin typeface="Courier New" pitchFamily="34" charset="0"/>
                <a:ea typeface="Courier New" pitchFamily="34" charset="-122"/>
                <a:cs typeface="Courier New" pitchFamily="34" charset="-120"/>
              </a:rPr>
              <a:t>one int[10]</a:t>
            </a:r>
            <a:endParaRPr lang="en-US" sz="1000" dirty="0"/>
          </a:p>
          <a:p>
            <a:pPr algn="ctr" indent="0" marL="0">
              <a:lnSpc>
                <a:spcPct val="115000"/>
              </a:lnSpc>
              <a:buNone/>
            </a:pPr>
            <a:endParaRPr lang="en-US" sz="1000" dirty="0"/>
          </a:p>
          <a:p>
            <a:pPr algn="ctr" indent="0" marL="0">
              <a:lnSpc>
                <a:spcPct val="115000"/>
              </a:lnSpc>
              <a:buNone/>
            </a:pPr>
            <a:r>
              <a:rPr lang="en-US" sz="1000" b="1" dirty="0">
                <a:solidFill>
                  <a:srgbClr val="9A430A"/>
                </a:solidFill>
                <a:latin typeface="Courier New" pitchFamily="34" charset="0"/>
                <a:ea typeface="Courier New" pitchFamily="34" charset="-122"/>
                <a:cs typeface="Courier New" pitchFamily="34" charset="-120"/>
              </a:rPr>
              <a:t>[0] = 5555</a:t>
            </a:r>
            <a:endParaRPr lang="en-US" sz="1000" dirty="0"/>
          </a:p>
          <a:p>
            <a:pPr algn="ctr" indent="0" marL="0">
              <a:lnSpc>
                <a:spcPct val="115000"/>
              </a:lnSpc>
              <a:buNone/>
            </a:pPr>
            <a:r>
              <a:rPr lang="en-US" sz="1000" b="1" dirty="0">
                <a:solidFill>
                  <a:srgbClr val="9A430A"/>
                </a:solidFill>
                <a:latin typeface="Courier New" pitchFamily="34" charset="0"/>
                <a:ea typeface="Courier New" pitchFamily="34" charset="-122"/>
                <a:cs typeface="Courier New" pitchFamily="34" charset="-120"/>
              </a:rPr>
              <a:t>[1..9] = 0</a:t>
            </a:r>
            <a:endParaRPr lang="en-US" sz="1000" dirty="0"/>
          </a:p>
        </p:txBody>
      </p:sp>
      <p:sp>
        <p:nvSpPr>
          <p:cNvPr id="32" name="Shape 30"/>
          <p:cNvSpPr/>
          <p:nvPr/>
        </p:nvSpPr>
        <p:spPr>
          <a:xfrm>
            <a:off x="8999068" y="2304288"/>
            <a:ext cx="411480" cy="0"/>
          </a:xfrm>
          <a:prstGeom prst="line">
            <a:avLst/>
          </a:prstGeom>
          <a:noFill/>
          <a:ln w="17780">
            <a:solidFill>
              <a:srgbClr val="C4560C"/>
            </a:solidFill>
            <a:prstDash val="solid"/>
            <a:tailEnd type="triangle"/>
          </a:ln>
        </p:spPr>
      </p:sp>
      <p:sp>
        <p:nvSpPr>
          <p:cNvPr id="33" name="Shape 31"/>
          <p:cNvSpPr/>
          <p:nvPr/>
        </p:nvSpPr>
        <p:spPr>
          <a:xfrm>
            <a:off x="8999068" y="3328416"/>
            <a:ext cx="411480" cy="0"/>
          </a:xfrm>
          <a:prstGeom prst="line">
            <a:avLst/>
          </a:prstGeom>
          <a:noFill/>
          <a:ln w="17780">
            <a:solidFill>
              <a:srgbClr val="C4560C"/>
            </a:solidFill>
            <a:prstDash val="solid"/>
            <a:tailEnd type="triangle"/>
          </a:ln>
        </p:spPr>
      </p:sp>
      <p:sp>
        <p:nvSpPr>
          <p:cNvPr id="34" name="Shape 32"/>
          <p:cNvSpPr/>
          <p:nvPr/>
        </p:nvSpPr>
        <p:spPr>
          <a:xfrm>
            <a:off x="6784848" y="3931920"/>
            <a:ext cx="4839919" cy="1143000"/>
          </a:xfrm>
          <a:prstGeom prst="roundRect">
            <a:avLst>
              <a:gd name="adj" fmla="val 7200"/>
            </a:avLst>
          </a:prstGeom>
          <a:solidFill>
            <a:srgbClr val="F1F5F9"/>
          </a:solidFill>
          <a:ln w="12700">
            <a:solidFill>
              <a:srgbClr val="F1F5F9"/>
            </a:solidFill>
            <a:prstDash val="solid"/>
          </a:ln>
        </p:spPr>
      </p:sp>
      <p:sp>
        <p:nvSpPr>
          <p:cNvPr id="35" name="Text 33"/>
          <p:cNvSpPr txBox="1"/>
          <p:nvPr/>
        </p:nvSpPr>
        <p:spPr>
          <a:xfrm>
            <a:off x="7004304" y="4096512"/>
            <a:ext cx="440100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Objects live on the heap</a:t>
            </a:r>
            <a:endParaRPr lang="en-US" sz="1450" dirty="0"/>
          </a:p>
        </p:txBody>
      </p:sp>
      <p:sp>
        <p:nvSpPr>
          <p:cNvPr id="36" name="Text 34"/>
          <p:cNvSpPr txBox="1"/>
          <p:nvPr/>
        </p:nvSpPr>
        <p:spPr>
          <a:xfrm>
            <a:off x="7004304" y="4425696"/>
            <a:ext cx="4401007" cy="52120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The stack holds variables and frames; the heap holds arrays and objects. A variable of array type holds only a reference into the heap — which is why two variables can refer to one array.</a:t>
            </a:r>
            <a:endParaRPr lang="en-US" sz="1200" dirty="0"/>
          </a:p>
        </p:txBody>
      </p:sp>
      <p:sp>
        <p:nvSpPr>
          <p:cNvPr id="37" name="Shape 35"/>
          <p:cNvSpPr/>
          <p:nvPr/>
        </p:nvSpPr>
        <p:spPr>
          <a:xfrm>
            <a:off x="6784848" y="5212080"/>
            <a:ext cx="4839919" cy="621792"/>
          </a:xfrm>
          <a:prstGeom prst="roundRect">
            <a:avLst>
              <a:gd name="adj" fmla="val 13235"/>
            </a:avLst>
          </a:prstGeom>
          <a:solidFill>
            <a:srgbClr val="E6F2EC"/>
          </a:solidFill>
          <a:ln w="12700">
            <a:solidFill>
              <a:srgbClr val="E6F2EC"/>
            </a:solidFill>
            <a:prstDash val="solid"/>
          </a:ln>
        </p:spPr>
      </p:sp>
      <p:sp>
        <p:nvSpPr>
          <p:cNvPr id="38" name="Text 36"/>
          <p:cNvSpPr txBox="1"/>
          <p:nvPr/>
        </p:nvSpPr>
        <p:spPr>
          <a:xfrm>
            <a:off x="7059168" y="5212080"/>
            <a:ext cx="4291279" cy="621792"/>
          </a:xfrm>
          <a:prstGeom prst="rect">
            <a:avLst/>
          </a:prstGeom>
          <a:noFill/>
          <a:ln/>
        </p:spPr>
        <p:txBody>
          <a:bodyPr wrap="square" lIns="0" tIns="0" rIns="0" bIns="0" rtlCol="0" anchor="ctr"/>
          <a:lstStyle/>
          <a:p>
            <a:pPr indent="0" marL="0">
              <a:buNone/>
            </a:pPr>
            <a:r>
              <a:rPr lang="en-US" sz="1250" b="1" dirty="0">
                <a:solidFill>
                  <a:srgbClr val="176240"/>
                </a:solidFill>
                <a:latin typeface="Calibri" pitchFamily="34" charset="0"/>
                <a:ea typeface="Calibri" pitchFamily="34" charset="-122"/>
                <a:cs typeface="Calibri" pitchFamily="34" charset="-120"/>
              </a:rPr>
              <a:t>The rule never changed. What is copied did.</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METHODS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Returning an Array</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The return type is written with brackets too. A method may create an array and hand it back.</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22</a:t>
            </a:r>
            <a:endParaRPr lang="en-US" sz="900" dirty="0"/>
          </a:p>
        </p:txBody>
      </p:sp>
      <p:sp>
        <p:nvSpPr>
          <p:cNvPr id="7" name="Shape 5"/>
          <p:cNvSpPr/>
          <p:nvPr/>
        </p:nvSpPr>
        <p:spPr>
          <a:xfrm>
            <a:off x="566928" y="1536192"/>
            <a:ext cx="5852160" cy="3247583"/>
          </a:xfrm>
          <a:prstGeom prst="roundRect">
            <a:avLst>
              <a:gd name="adj" fmla="val 1971"/>
            </a:avLst>
          </a:prstGeom>
          <a:solidFill>
            <a:srgbClr val="EDF2F7"/>
          </a:solidFill>
          <a:ln w="12700">
            <a:solidFill>
              <a:srgbClr val="CFDBE5"/>
            </a:solidFill>
            <a:prstDash val="solid"/>
          </a:ln>
        </p:spPr>
      </p:sp>
      <p:sp>
        <p:nvSpPr>
          <p:cNvPr id="8" name="Text 6"/>
          <p:cNvSpPr txBox="1"/>
          <p:nvPr/>
        </p:nvSpPr>
        <p:spPr>
          <a:xfrm>
            <a:off x="713232" y="1581912"/>
            <a:ext cx="55595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reverse — BUILD A NEW ARRAY, DO NOT EDIT THE OLD</a:t>
            </a:r>
            <a:endParaRPr lang="en-US" sz="950" dirty="0"/>
          </a:p>
        </p:txBody>
      </p:sp>
      <p:sp>
        <p:nvSpPr>
          <p:cNvPr id="9" name="Text 7"/>
          <p:cNvSpPr txBox="1"/>
          <p:nvPr/>
        </p:nvSpPr>
        <p:spPr>
          <a:xfrm>
            <a:off x="731520" y="1810512"/>
            <a:ext cx="5522976" cy="2918399"/>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reverse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6</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reverse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list1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566928" y="5021519"/>
            <a:ext cx="5852160" cy="869594"/>
          </a:xfrm>
          <a:prstGeom prst="roundRect">
            <a:avLst>
              <a:gd name="adj" fmla="val 7361"/>
            </a:avLst>
          </a:prstGeom>
          <a:solidFill>
            <a:srgbClr val="FFFFFF"/>
          </a:solidFill>
          <a:ln w="12700">
            <a:solidFill>
              <a:srgbClr val="4B6377"/>
            </a:solidFill>
            <a:prstDash val="solid"/>
          </a:ln>
        </p:spPr>
      </p:sp>
      <p:sp>
        <p:nvSpPr>
          <p:cNvPr id="11" name="Text 9"/>
          <p:cNvSpPr txBox="1"/>
          <p:nvPr/>
        </p:nvSpPr>
        <p:spPr>
          <a:xfrm>
            <a:off x="713232" y="5094671"/>
            <a:ext cx="55595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13232" y="5295839"/>
            <a:ext cx="5559552" cy="503834"/>
          </a:xfrm>
          <a:prstGeom prst="rect">
            <a:avLst/>
          </a:prstGeom>
          <a:noFill/>
          <a:ln/>
        </p:spPr>
        <p:txBody>
          <a:bodyPr wrap="square" lIns="0" tIns="0" rIns="0" bIns="0" rtlCol="0" anchor="t"/>
          <a:lstStyle/>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list1 is [1, 2, 3, 4, 5, 6]</a:t>
            </a:r>
            <a:endParaRPr lang="en-US" sz="1100" dirty="0"/>
          </a:p>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list2 is [6, 5, 4, 3, 2, 1]</a:t>
            </a:r>
            <a:endParaRPr lang="en-US" sz="1100" dirty="0"/>
          </a:p>
        </p:txBody>
      </p:sp>
      <p:sp>
        <p:nvSpPr>
          <p:cNvPr id="13" name="Text 11"/>
          <p:cNvSpPr txBox="1"/>
          <p:nvPr/>
        </p:nvSpPr>
        <p:spPr>
          <a:xfrm>
            <a:off x="6876288" y="1536192"/>
            <a:ext cx="4748479" cy="219456"/>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TWO INDICES, MOVING OPPOSITE WAYS</a:t>
            </a:r>
            <a:endParaRPr lang="en-US" sz="9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876288" y="1810512"/>
          <a:ext cx="4748479" cy="914400"/>
        </p:xfrm>
        <a:graphic>
          <a:graphicData uri="http://schemas.openxmlformats.org/drawingml/2006/table">
            <a:tbl>
              <a:tblPr/>
              <a:tblGrid>
                <a:gridCol w="664787"/>
                <a:gridCol w="569818"/>
                <a:gridCol w="569818"/>
                <a:gridCol w="2944057"/>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j</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result so far</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329184">
                <a:tc>
                  <a:txBody>
                    <a:bodyPr/>
                    <a:lstStyle/>
                    <a:p>
                      <a:pPr algn="ctr" indent="0" marL="0">
                        <a:buNone/>
                      </a:pPr>
                      <a:r>
                        <a:rPr lang="en-US" sz="1100" dirty="0">
                          <a:solidFill>
                            <a:srgbClr val="0F2942"/>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0F2942"/>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0F2942"/>
                          </a:solidFill>
                          <a:latin typeface="Courier New" pitchFamily="34" charset="0"/>
                          <a:ea typeface="Courier New" pitchFamily="34" charset="-122"/>
                          <a:cs typeface="Courier New" pitchFamily="34" charset="-120"/>
                        </a:rPr>
                        <a:t>5</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l" indent="0" marL="0">
                        <a:buNone/>
                      </a:pPr>
                      <a:r>
                        <a:rPr lang="en-US" sz="1000" dirty="0">
                          <a:solidFill>
                            <a:srgbClr val="0F2942"/>
                          </a:solidFill>
                          <a:latin typeface="Courier New" pitchFamily="34" charset="0"/>
                          <a:ea typeface="Courier New" pitchFamily="34" charset="-122"/>
                          <a:cs typeface="Courier New" pitchFamily="34" charset="-120"/>
                        </a:rPr>
                        <a:t>[_, _, _, _, _, 1]</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29184">
                <a:tc>
                  <a:txBody>
                    <a:bodyPr/>
                    <a:lstStyle/>
                    <a:p>
                      <a:pPr algn="ctr" indent="0" marL="0">
                        <a:buNone/>
                      </a:pPr>
                      <a:r>
                        <a:rPr lang="en-US" sz="1100" dirty="0">
                          <a:solidFill>
                            <a:srgbClr val="0F2942"/>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2942"/>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2942"/>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F2942"/>
                          </a:solidFill>
                          <a:latin typeface="Courier New" pitchFamily="34" charset="0"/>
                          <a:ea typeface="Courier New" pitchFamily="34" charset="-122"/>
                          <a:cs typeface="Courier New" pitchFamily="34" charset="-120"/>
                        </a:rPr>
                        <a:t>[_, _, _, _, 2, 1]</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29184">
                <a:tc>
                  <a:txBody>
                    <a:bodyPr/>
                    <a:lstStyle/>
                    <a:p>
                      <a:pPr algn="ctr" indent="0" marL="0">
                        <a:buNone/>
                      </a:pPr>
                      <a:r>
                        <a:rPr lang="en-US" sz="1100" dirty="0">
                          <a:solidFill>
                            <a:srgbClr val="0F2942"/>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0F2942"/>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0F2942"/>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l" indent="0" marL="0">
                        <a:buNone/>
                      </a:pPr>
                      <a:r>
                        <a:rPr lang="en-US" sz="1000" dirty="0">
                          <a:solidFill>
                            <a:srgbClr val="0F2942"/>
                          </a:solidFill>
                          <a:latin typeface="Courier New" pitchFamily="34" charset="0"/>
                          <a:ea typeface="Courier New" pitchFamily="34" charset="-122"/>
                          <a:cs typeface="Courier New" pitchFamily="34" charset="-120"/>
                        </a:rPr>
                        <a:t>[_, _, _, 3, 2, 1]</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29184">
                <a:tc>
                  <a:txBody>
                    <a:bodyPr/>
                    <a:lstStyle/>
                    <a:p>
                      <a:pPr algn="ctr" indent="0" marL="0">
                        <a:buNone/>
                      </a:pPr>
                      <a:r>
                        <a:rPr lang="en-US" sz="1100" dirty="0">
                          <a:solidFill>
                            <a:srgbClr val="0F2942"/>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2942"/>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F2942"/>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F2942"/>
                          </a:solidFill>
                          <a:latin typeface="Courier New" pitchFamily="34" charset="0"/>
                          <a:ea typeface="Courier New" pitchFamily="34" charset="-122"/>
                          <a:cs typeface="Courier New" pitchFamily="34" charset="-120"/>
                        </a:rPr>
                        <a:t>[_, _, 4, 3, 2, 1]</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29184">
                <a:tc>
                  <a:txBody>
                    <a:bodyPr/>
                    <a:lstStyle/>
                    <a:p>
                      <a:pPr algn="ctr" indent="0" marL="0">
                        <a:buNone/>
                      </a:pPr>
                      <a:r>
                        <a:rPr lang="en-US" sz="1100" dirty="0">
                          <a:solidFill>
                            <a:srgbClr val="0F2942"/>
                          </a:solidFill>
                          <a:latin typeface="Courier New" pitchFamily="34" charset="0"/>
                          <a:ea typeface="Courier New" pitchFamily="34" charset="-122"/>
                          <a:cs typeface="Courier New" pitchFamily="34" charset="-120"/>
                        </a:rPr>
                        <a:t>5</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0F2942"/>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0F2942"/>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l" indent="0" marL="0">
                        <a:buNone/>
                      </a:pPr>
                      <a:r>
                        <a:rPr lang="en-US" sz="1000" dirty="0">
                          <a:solidFill>
                            <a:srgbClr val="0F2942"/>
                          </a:solidFill>
                          <a:latin typeface="Courier New" pitchFamily="34" charset="0"/>
                          <a:ea typeface="Courier New" pitchFamily="34" charset="-122"/>
                          <a:cs typeface="Courier New" pitchFamily="34" charset="-120"/>
                        </a:rPr>
                        <a:t>[_, 5, 4, 3, 2, 1]</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29184">
                <a:tc>
                  <a:txBody>
                    <a:bodyPr/>
                    <a:lstStyle/>
                    <a:p>
                      <a:pPr algn="ctr" indent="0" marL="0">
                        <a:buNone/>
                      </a:pPr>
                      <a:r>
                        <a:rPr lang="en-US" sz="1100" b="1" dirty="0">
                          <a:solidFill>
                            <a:srgbClr val="176240"/>
                          </a:solidFill>
                          <a:latin typeface="Courier New" pitchFamily="34" charset="0"/>
                          <a:ea typeface="Courier New" pitchFamily="34" charset="-122"/>
                          <a:cs typeface="Courier New" pitchFamily="34" charset="-120"/>
                        </a:rPr>
                        <a:t>6</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c>
                  <a:txBody>
                    <a:bodyPr/>
                    <a:lstStyle/>
                    <a:p>
                      <a:pPr algn="ctr" indent="0" marL="0">
                        <a:buNone/>
                      </a:pPr>
                      <a:r>
                        <a:rPr lang="en-US" sz="1100" b="1" dirty="0">
                          <a:solidFill>
                            <a:srgbClr val="176240"/>
                          </a:solidFill>
                          <a:latin typeface="Courier New" pitchFamily="34" charset="0"/>
                          <a:ea typeface="Courier New" pitchFamily="34" charset="-122"/>
                          <a:cs typeface="Courier New" pitchFamily="34" charset="-120"/>
                        </a:rPr>
                        <a:t>5</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c>
                  <a:txBody>
                    <a:bodyPr/>
                    <a:lstStyle/>
                    <a:p>
                      <a:pPr algn="ctr" indent="0" marL="0">
                        <a:buNone/>
                      </a:pPr>
                      <a:r>
                        <a:rPr lang="en-US" sz="1100" b="1" dirty="0">
                          <a:solidFill>
                            <a:srgbClr val="176240"/>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c>
                  <a:txBody>
                    <a:bodyPr/>
                    <a:lstStyle/>
                    <a:p>
                      <a:pPr algn="l" indent="0" marL="0">
                        <a:buNone/>
                      </a:pPr>
                      <a:r>
                        <a:rPr lang="en-US" sz="1000" b="1" dirty="0">
                          <a:solidFill>
                            <a:srgbClr val="176240"/>
                          </a:solidFill>
                          <a:latin typeface="Courier New" pitchFamily="34" charset="0"/>
                          <a:ea typeface="Courier New" pitchFamily="34" charset="-122"/>
                          <a:cs typeface="Courier New" pitchFamily="34" charset="-120"/>
                        </a:rPr>
                        <a:t>[6, 5, 4, 3, 2, 1]</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r>
            </a:tbl>
          </a:graphicData>
        </a:graphic>
      </p:graphicFrame>
      <p:sp>
        <p:nvSpPr>
          <p:cNvPr id="15" name="Shape 12"/>
          <p:cNvSpPr/>
          <p:nvPr/>
        </p:nvSpPr>
        <p:spPr>
          <a:xfrm>
            <a:off x="6876288" y="4462272"/>
            <a:ext cx="4748479" cy="1188720"/>
          </a:xfrm>
          <a:prstGeom prst="roundRect">
            <a:avLst>
              <a:gd name="adj" fmla="val 6923"/>
            </a:avLst>
          </a:prstGeom>
          <a:solidFill>
            <a:srgbClr val="E4ECF4"/>
          </a:solidFill>
          <a:ln w="12700">
            <a:solidFill>
              <a:srgbClr val="E4ECF4"/>
            </a:solidFill>
            <a:prstDash val="solid"/>
          </a:ln>
        </p:spPr>
      </p:sp>
      <p:sp>
        <p:nvSpPr>
          <p:cNvPr id="16" name="Text 13"/>
          <p:cNvSpPr txBox="1"/>
          <p:nvPr/>
        </p:nvSpPr>
        <p:spPr>
          <a:xfrm>
            <a:off x="7132320" y="4572000"/>
            <a:ext cx="4236415"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i counts up while j counts down</a:t>
            </a:r>
            <a:endParaRPr lang="en-US" sz="1350" dirty="0"/>
          </a:p>
        </p:txBody>
      </p:sp>
      <p:sp>
        <p:nvSpPr>
          <p:cNvPr id="17" name="Text 14"/>
          <p:cNvSpPr txBox="1"/>
          <p:nvPr/>
        </p:nvSpPr>
        <p:spPr>
          <a:xfrm>
            <a:off x="7132320" y="4864608"/>
            <a:ext cx="4236415" cy="7315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This is the comma-separated for header from Lecture 4, finally earning its keep. i + j is always 5 — the length minus one.</a:t>
            </a:r>
            <a:endParaRPr lang="en-US" sz="1200" dirty="0"/>
          </a:p>
        </p:txBody>
      </p:sp>
      <p:sp>
        <p:nvSpPr>
          <p:cNvPr id="18" name="Shape 15"/>
          <p:cNvSpPr/>
          <p:nvPr/>
        </p:nvSpPr>
        <p:spPr>
          <a:xfrm>
            <a:off x="6876288" y="5788152"/>
            <a:ext cx="4748479" cy="640080"/>
          </a:xfrm>
          <a:prstGeom prst="roundRect">
            <a:avLst>
              <a:gd name="adj" fmla="val 12857"/>
            </a:avLst>
          </a:prstGeom>
          <a:solidFill>
            <a:srgbClr val="E6F2EC"/>
          </a:solidFill>
          <a:ln w="12700">
            <a:solidFill>
              <a:srgbClr val="E6F2EC"/>
            </a:solidFill>
            <a:prstDash val="solid"/>
          </a:ln>
        </p:spPr>
      </p:sp>
      <p:sp>
        <p:nvSpPr>
          <p:cNvPr id="19" name="Text 16"/>
          <p:cNvSpPr txBox="1"/>
          <p:nvPr/>
        </p:nvSpPr>
        <p:spPr>
          <a:xfrm>
            <a:off x="7150608" y="5788152"/>
            <a:ext cx="4199839" cy="640080"/>
          </a:xfrm>
          <a:prstGeom prst="rect">
            <a:avLst/>
          </a:prstGeom>
          <a:noFill/>
          <a:ln/>
        </p:spPr>
        <p:txBody>
          <a:bodyPr wrap="square" lIns="0" tIns="0" rIns="0" bIns="0" rtlCol="0" anchor="ctr"/>
          <a:lstStyle/>
          <a:p>
            <a:pPr indent="0" marL="0">
              <a:buNone/>
            </a:pPr>
            <a:r>
              <a:rPr lang="en-US" sz="1250" b="1" dirty="0">
                <a:solidFill>
                  <a:srgbClr val="176240"/>
                </a:solidFill>
                <a:latin typeface="Calibri" pitchFamily="34" charset="0"/>
                <a:ea typeface="Calibri" pitchFamily="34" charset="-122"/>
                <a:cs typeface="Calibri" pitchFamily="34" charset="-120"/>
              </a:rPr>
              <a:t>list1 is untouched — a new array came back.</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METHODS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Variable-Length Argument Lists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Three dots let a method take any number of arguments of one type. Inside, it is just an array.</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23</a:t>
            </a:r>
            <a:endParaRPr lang="en-US" sz="900" dirty="0"/>
          </a:p>
        </p:txBody>
      </p:sp>
      <p:sp>
        <p:nvSpPr>
          <p:cNvPr id="7" name="Shape 5"/>
          <p:cNvSpPr/>
          <p:nvPr/>
        </p:nvSpPr>
        <p:spPr>
          <a:xfrm>
            <a:off x="566928" y="1536192"/>
            <a:ext cx="5323180" cy="1813072"/>
          </a:xfrm>
          <a:prstGeom prst="roundRect">
            <a:avLst>
              <a:gd name="adj" fmla="val 3530"/>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DEFINITION — int... NOT int[]</a:t>
            </a:r>
            <a:endParaRPr lang="en-US" sz="950" dirty="0"/>
          </a:p>
        </p:txBody>
      </p:sp>
      <p:sp>
        <p:nvSpPr>
          <p:cNvPr id="9" name="Text 7"/>
          <p:cNvSpPr txBox="1"/>
          <p:nvPr/>
        </p:nvSpPr>
        <p:spPr>
          <a:xfrm>
            <a:off x="731520" y="1810512"/>
            <a:ext cx="4993996" cy="1483888"/>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numbers</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total</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numbers</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total</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total</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0" name="Shape 8"/>
          <p:cNvSpPr/>
          <p:nvPr/>
        </p:nvSpPr>
        <p:spPr>
          <a:xfrm>
            <a:off x="6301588" y="1536192"/>
            <a:ext cx="5323180" cy="1328440"/>
          </a:xfrm>
          <a:prstGeom prst="roundRect">
            <a:avLst>
              <a:gd name="adj" fmla="val 4818"/>
            </a:avLst>
          </a:prstGeom>
          <a:solidFill>
            <a:srgbClr val="EDF2F7"/>
          </a:solidFill>
          <a:ln w="12700">
            <a:solidFill>
              <a:srgbClr val="CFDBE5"/>
            </a:solidFill>
            <a:prstDash val="solid"/>
          </a:ln>
        </p:spPr>
      </p:sp>
      <p:sp>
        <p:nvSpPr>
          <p:cNvPr id="11" name="Text 9"/>
          <p:cNvSpPr txBox="1"/>
          <p:nvPr/>
        </p:nvSpPr>
        <p:spPr>
          <a:xfrm>
            <a:off x="644789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ALL OF THESE CALL IT</a:t>
            </a:r>
            <a:endParaRPr lang="en-US" sz="950" dirty="0"/>
          </a:p>
        </p:txBody>
      </p:sp>
      <p:sp>
        <p:nvSpPr>
          <p:cNvPr id="12" name="Text 10"/>
          <p:cNvSpPr txBox="1"/>
          <p:nvPr/>
        </p:nvSpPr>
        <p:spPr>
          <a:xfrm>
            <a:off x="6466180" y="1810512"/>
            <a:ext cx="4993996" cy="999256"/>
          </a:xfrm>
          <a:prstGeom prst="rect">
            <a:avLst/>
          </a:prstGeom>
          <a:noFill/>
          <a:ln/>
        </p:spPr>
        <p:txBody>
          <a:bodyPr wrap="square" lIns="0" tIns="0" rIns="0" bIns="0" rtlCol="0" anchor="t"/>
          <a:lstStyle/>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6</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15</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0 — legal, an empty array</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6, also legal</a:t>
            </a:r>
            <a:endParaRPr lang="en-US" sz="1100" dirty="0"/>
          </a:p>
        </p:txBody>
      </p:sp>
      <p:sp>
        <p:nvSpPr>
          <p:cNvPr id="13" name="Shape 11"/>
          <p:cNvSpPr/>
          <p:nvPr/>
        </p:nvSpPr>
        <p:spPr>
          <a:xfrm>
            <a:off x="566928" y="3623584"/>
            <a:ext cx="5323180" cy="1234440"/>
          </a:xfrm>
          <a:prstGeom prst="roundRect">
            <a:avLst>
              <a:gd name="adj" fmla="val 6667"/>
            </a:avLst>
          </a:prstGeom>
          <a:solidFill>
            <a:srgbClr val="E6F2EC"/>
          </a:solidFill>
          <a:ln w="12700">
            <a:solidFill>
              <a:srgbClr val="E6F2EC"/>
            </a:solidFill>
            <a:prstDash val="solid"/>
          </a:ln>
        </p:spPr>
      </p:sp>
      <p:sp>
        <p:nvSpPr>
          <p:cNvPr id="14" name="Text 12"/>
          <p:cNvSpPr txBox="1"/>
          <p:nvPr/>
        </p:nvSpPr>
        <p:spPr>
          <a:xfrm>
            <a:off x="786384" y="3788176"/>
            <a:ext cx="4884268"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The compiler builds the array for you</a:t>
            </a:r>
            <a:endParaRPr lang="en-US" sz="1450" dirty="0"/>
          </a:p>
        </p:txBody>
      </p:sp>
      <p:sp>
        <p:nvSpPr>
          <p:cNvPr id="15" name="Text 13"/>
          <p:cNvSpPr txBox="1"/>
          <p:nvPr/>
        </p:nvSpPr>
        <p:spPr>
          <a:xfrm>
            <a:off x="786384" y="4117360"/>
            <a:ext cx="4884268" cy="61264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At the call site it gathers the arguments into a new array and passes that. Inside the method, numbers is an ordinary int[] with a .length you can read.</a:t>
            </a:r>
            <a:endParaRPr lang="en-US" sz="1200" dirty="0"/>
          </a:p>
        </p:txBody>
      </p:sp>
      <p:sp>
        <p:nvSpPr>
          <p:cNvPr id="16" name="Shape 14"/>
          <p:cNvSpPr/>
          <p:nvPr/>
        </p:nvSpPr>
        <p:spPr>
          <a:xfrm>
            <a:off x="6301588" y="3623584"/>
            <a:ext cx="5323180" cy="1234440"/>
          </a:xfrm>
          <a:prstGeom prst="roundRect">
            <a:avLst>
              <a:gd name="adj" fmla="val 6667"/>
            </a:avLst>
          </a:prstGeom>
          <a:solidFill>
            <a:srgbClr val="FBEEE0"/>
          </a:solidFill>
          <a:ln w="12700">
            <a:solidFill>
              <a:srgbClr val="FBEEE0"/>
            </a:solidFill>
            <a:prstDash val="solid"/>
          </a:ln>
        </p:spPr>
      </p:sp>
      <p:sp>
        <p:nvSpPr>
          <p:cNvPr id="17" name="Text 15"/>
          <p:cNvSpPr txBox="1"/>
          <p:nvPr/>
        </p:nvSpPr>
        <p:spPr>
          <a:xfrm>
            <a:off x="6521044" y="3788176"/>
            <a:ext cx="4884268" cy="310896"/>
          </a:xfrm>
          <a:prstGeom prst="rect">
            <a:avLst/>
          </a:prstGeom>
          <a:noFill/>
          <a:ln/>
        </p:spPr>
        <p:txBody>
          <a:bodyPr wrap="square" lIns="0" tIns="0" rIns="0" bIns="0" rtlCol="0" anchor="t"/>
          <a:lstStyle/>
          <a:p>
            <a:pPr indent="0" marL="0">
              <a:buNone/>
            </a:pPr>
            <a:r>
              <a:rPr lang="en-US" sz="1450" b="1" dirty="0">
                <a:solidFill>
                  <a:srgbClr val="9A430A"/>
                </a:solidFill>
                <a:latin typeface="Calibri" pitchFamily="34" charset="0"/>
                <a:ea typeface="Calibri" pitchFamily="34" charset="-122"/>
                <a:cs typeface="Calibri" pitchFamily="34" charset="-120"/>
              </a:rPr>
              <a:t>Two rules</a:t>
            </a:r>
            <a:endParaRPr lang="en-US" sz="1450" dirty="0"/>
          </a:p>
        </p:txBody>
      </p:sp>
      <p:sp>
        <p:nvSpPr>
          <p:cNvPr id="18" name="Text 16"/>
          <p:cNvSpPr txBox="1"/>
          <p:nvPr/>
        </p:nvSpPr>
        <p:spPr>
          <a:xfrm>
            <a:off x="6557620" y="4117360"/>
            <a:ext cx="4865980" cy="612648"/>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3A536B"/>
                </a:solidFill>
                <a:latin typeface="Calibri" pitchFamily="34" charset="0"/>
                <a:ea typeface="Calibri" pitchFamily="34" charset="-122"/>
                <a:cs typeface="Calibri" pitchFamily="34" charset="-120"/>
              </a:rPr>
              <a:t>A method may have at most one varargs parameter.</a:t>
            </a:r>
            <a:endParaRPr lang="en-US" sz="1150" dirty="0"/>
          </a:p>
          <a:p>
            <a:pPr marL="177800" indent="-177800">
              <a:spcAft>
                <a:spcPts val="400"/>
              </a:spcAft>
              <a:buSzPct val="100000"/>
              <a:buChar char="•"/>
            </a:pPr>
            <a:r>
              <a:rPr lang="en-US" sz="1150" dirty="0">
                <a:solidFill>
                  <a:srgbClr val="3A536B"/>
                </a:solidFill>
                <a:latin typeface="Calibri" pitchFamily="34" charset="0"/>
                <a:ea typeface="Calibri" pitchFamily="34" charset="-122"/>
                <a:cs typeface="Calibri" pitchFamily="34" charset="-120"/>
              </a:rPr>
              <a:t>It must be the last one: f(String label, int... values) is fine; the reverse is not.</a:t>
            </a:r>
            <a:endParaRPr lang="en-US" sz="1150" dirty="0"/>
          </a:p>
        </p:txBody>
      </p:sp>
      <p:sp>
        <p:nvSpPr>
          <p:cNvPr id="19" name="Shape 17"/>
          <p:cNvSpPr/>
          <p:nvPr/>
        </p:nvSpPr>
        <p:spPr>
          <a:xfrm>
            <a:off x="566928" y="5013472"/>
            <a:ext cx="11057839" cy="882579"/>
          </a:xfrm>
          <a:prstGeom prst="roundRect">
            <a:avLst>
              <a:gd name="adj" fmla="val 7252"/>
            </a:avLst>
          </a:prstGeom>
          <a:solidFill>
            <a:srgbClr val="EDF2F7"/>
          </a:solidFill>
          <a:ln w="12700">
            <a:solidFill>
              <a:srgbClr val="CFDBE5"/>
            </a:solidFill>
            <a:prstDash val="solid"/>
          </a:ln>
        </p:spPr>
      </p:sp>
      <p:sp>
        <p:nvSpPr>
          <p:cNvPr id="20" name="Text 18"/>
          <p:cNvSpPr txBox="1"/>
          <p:nvPr/>
        </p:nvSpPr>
        <p:spPr>
          <a:xfrm>
            <a:off x="713232" y="5059192"/>
            <a:ext cx="1076523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YOU HAVE BEEN USING VARARGS ALL SEMESTER — printf IS ONE</a:t>
            </a:r>
            <a:endParaRPr lang="en-US" sz="950" dirty="0"/>
          </a:p>
        </p:txBody>
      </p:sp>
      <p:sp>
        <p:nvSpPr>
          <p:cNvPr id="21" name="Text 19"/>
          <p:cNvSpPr txBox="1"/>
          <p:nvPr/>
        </p:nvSpPr>
        <p:spPr>
          <a:xfrm>
            <a:off x="731520" y="5287792"/>
            <a:ext cx="10728655" cy="553395"/>
          </a:xfrm>
          <a:prstGeom prst="rect">
            <a:avLst/>
          </a:prstGeom>
          <a:noFill/>
          <a:ln/>
        </p:spPr>
        <p:txBody>
          <a:bodyPr wrap="square" lIns="0" tIns="0" rIns="0" bIns="0" rtlCol="0" anchor="t"/>
          <a:lstStyle/>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printf</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format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Object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args</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List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of</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elements</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22" name="Text 20"/>
          <p:cNvSpPr txBox="1"/>
          <p:nvPr/>
        </p:nvSpPr>
        <p:spPr>
          <a:xfrm>
            <a:off x="566928" y="5969203"/>
            <a:ext cx="11057839" cy="274320"/>
          </a:xfrm>
          <a:prstGeom prst="rect">
            <a:avLst/>
          </a:prstGeom>
          <a:noFill/>
          <a:ln/>
        </p:spPr>
        <p:txBody>
          <a:bodyPr wrap="square" lIns="0" tIns="0" rIns="0" bIns="0" rtlCol="0" anchor="ctr"/>
          <a:lstStyle/>
          <a:p>
            <a:pPr indent="0" marL="0">
              <a:buNone/>
            </a:pPr>
            <a:r>
              <a:rPr lang="en-US" sz="1200" i="1" dirty="0">
                <a:solidFill>
                  <a:srgbClr val="9A430A"/>
                </a:solidFill>
                <a:latin typeface="Calibri" pitchFamily="34" charset="0"/>
                <a:ea typeface="Calibri" pitchFamily="34" charset="-122"/>
                <a:cs typeface="Calibri" pitchFamily="34" charset="-120"/>
              </a:rPr>
              <a:t>That is why printf takes one argument or six without a separate overload for each: the format string first, then as many values as it needs.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METHODS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main Is an Ordinary Method — and args Is an Ordinary Array</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The String[] you have been ignoring since week one holds whatever was typed after the class name.</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24</a:t>
            </a:r>
            <a:endParaRPr lang="en-US" sz="900" dirty="0"/>
          </a:p>
        </p:txBody>
      </p:sp>
      <p:sp>
        <p:nvSpPr>
          <p:cNvPr id="7" name="Shape 5"/>
          <p:cNvSpPr/>
          <p:nvPr/>
        </p:nvSpPr>
        <p:spPr>
          <a:xfrm>
            <a:off x="566928" y="1536192"/>
            <a:ext cx="5852160" cy="4342851"/>
          </a:xfrm>
          <a:prstGeom prst="roundRect">
            <a:avLst>
              <a:gd name="adj" fmla="val 1474"/>
            </a:avLst>
          </a:prstGeom>
          <a:solidFill>
            <a:srgbClr val="EDF2F7"/>
          </a:solidFill>
          <a:ln w="12700">
            <a:solidFill>
              <a:srgbClr val="CFDBE5"/>
            </a:solidFill>
            <a:prstDash val="solid"/>
          </a:ln>
        </p:spPr>
      </p:sp>
      <p:sp>
        <p:nvSpPr>
          <p:cNvPr id="8" name="Text 6"/>
          <p:cNvSpPr txBox="1"/>
          <p:nvPr/>
        </p:nvSpPr>
        <p:spPr>
          <a:xfrm>
            <a:off x="713232" y="1581912"/>
            <a:ext cx="55595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Calculator.java</a:t>
            </a:r>
            <a:endParaRPr lang="en-US" sz="950" dirty="0"/>
          </a:p>
        </p:txBody>
      </p:sp>
      <p:sp>
        <p:nvSpPr>
          <p:cNvPr id="9" name="Text 7"/>
          <p:cNvSpPr txBox="1"/>
          <p:nvPr/>
        </p:nvSpPr>
        <p:spPr>
          <a:xfrm>
            <a:off x="731520" y="1810512"/>
            <a:ext cx="5522976" cy="4013667"/>
          </a:xfrm>
          <a:prstGeom prst="rect">
            <a:avLst/>
          </a:prstGeom>
          <a:noFill/>
          <a:ln/>
        </p:spPr>
        <p:txBody>
          <a:bodyPr wrap="square" lIns="0" tIns="0" rIns="0" bIns="0" rtlCol="0" anchor="t"/>
          <a:lstStyle/>
          <a:p>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class</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568A"/>
                </a:solidFill>
                <a:latin typeface="Courier New" pitchFamily="34" charset="0"/>
                <a:ea typeface="Courier New" pitchFamily="34" charset="-122"/>
                <a:cs typeface="Courier New" pitchFamily="34" charset="-120"/>
              </a:rPr>
              <a:t>Calculator</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main</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args</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args</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614A"/>
                </a:solidFill>
                <a:latin typeface="Courier New" pitchFamily="34" charset="0"/>
                <a:ea typeface="Courier New" pitchFamily="34" charset="-122"/>
                <a:cs typeface="Courier New" pitchFamily="34" charset="-120"/>
              </a:rPr>
              <a:t>"Usage: java Calculator a op b"</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exit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568A"/>
                </a:solidFill>
                <a:latin typeface="Courier New" pitchFamily="34" charset="0"/>
                <a:ea typeface="Courier New" pitchFamily="34" charset="-122"/>
                <a:cs typeface="Courier New" pitchFamily="34" charset="-120"/>
              </a:rPr>
              <a:t>Integer</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parseInt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args</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568A"/>
                </a:solidFill>
                <a:latin typeface="Courier New" pitchFamily="34" charset="0"/>
                <a:ea typeface="Courier New" pitchFamily="34" charset="-122"/>
                <a:cs typeface="Courier New" pitchFamily="34" charset="-120"/>
              </a:rPr>
              <a:t>Integer</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parseInt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args</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switch</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args</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614A"/>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614A"/>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614A"/>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614A"/>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default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throw</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568A"/>
                </a:solidFill>
                <a:latin typeface="Courier New" pitchFamily="34" charset="0"/>
                <a:ea typeface="Courier New" pitchFamily="34" charset="-122"/>
                <a:cs typeface="Courier New" pitchFamily="34" charset="-120"/>
              </a:rPr>
              <a:t>IllegalArgumentException</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args</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args</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b</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614A"/>
                </a:solidFill>
                <a:latin typeface="Courier New" pitchFamily="34" charset="0"/>
                <a:ea typeface="Courier New" pitchFamily="34" charset="-122"/>
                <a:cs typeface="Courier New" pitchFamily="34" charset="-120"/>
              </a:rPr>
              <a:t>" =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result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p:txBody>
      </p:sp>
      <p:sp>
        <p:nvSpPr>
          <p:cNvPr id="10" name="Shape 8"/>
          <p:cNvSpPr/>
          <p:nvPr/>
        </p:nvSpPr>
        <p:spPr>
          <a:xfrm>
            <a:off x="6876288" y="1536192"/>
            <a:ext cx="4748479" cy="1488186"/>
          </a:xfrm>
          <a:prstGeom prst="roundRect">
            <a:avLst>
              <a:gd name="adj" fmla="val 4301"/>
            </a:avLst>
          </a:prstGeom>
          <a:solidFill>
            <a:srgbClr val="FFFFFF"/>
          </a:solidFill>
          <a:ln w="12700">
            <a:solidFill>
              <a:srgbClr val="4B6377"/>
            </a:solidFill>
            <a:prstDash val="solid"/>
          </a:ln>
        </p:spPr>
      </p:sp>
      <p:sp>
        <p:nvSpPr>
          <p:cNvPr id="11" name="Text 9"/>
          <p:cNvSpPr txBox="1"/>
          <p:nvPr/>
        </p:nvSpPr>
        <p:spPr>
          <a:xfrm>
            <a:off x="7022592" y="1609344"/>
            <a:ext cx="445587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022592" y="1810512"/>
            <a:ext cx="4455871" cy="1122426"/>
          </a:xfrm>
          <a:prstGeom prst="rect">
            <a:avLst/>
          </a:prstGeom>
          <a:noFill/>
          <a:ln/>
        </p:spPr>
        <p:txBody>
          <a:bodyPr wrap="square" lIns="0" tIns="0" rIns="0" bIns="0" rtlCol="0" anchor="t"/>
          <a:lstStyle/>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java Calculator 2 + 3</a:t>
            </a:r>
            <a:endParaRPr lang="en-US" sz="1100" dirty="0"/>
          </a:p>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2 + 3 = 5</a:t>
            </a:r>
            <a:endParaRPr lang="en-US" sz="1100" dirty="0"/>
          </a:p>
          <a:p>
            <a:pPr indent="0" marL="0">
              <a:lnSpc>
                <a:spcPct val="110000"/>
              </a:lnSpc>
              <a:buNone/>
            </a:pPr>
            <a:endParaRPr lang="en-US" sz="1100" dirty="0"/>
          </a:p>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java Calculator 6 . 7</a:t>
            </a:r>
            <a:endParaRPr lang="en-US" sz="1100" dirty="0"/>
          </a:p>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6 . 7 = 42</a:t>
            </a:r>
            <a:endParaRPr lang="en-US" sz="1100" dirty="0"/>
          </a:p>
        </p:txBody>
      </p:sp>
      <p:sp>
        <p:nvSpPr>
          <p:cNvPr id="13" name="Shape 11"/>
          <p:cNvSpPr/>
          <p:nvPr/>
        </p:nvSpPr>
        <p:spPr>
          <a:xfrm>
            <a:off x="6876288" y="3227832"/>
            <a:ext cx="4748479" cy="1600200"/>
          </a:xfrm>
          <a:prstGeom prst="roundRect">
            <a:avLst>
              <a:gd name="adj" fmla="val 5143"/>
            </a:avLst>
          </a:prstGeom>
          <a:solidFill>
            <a:srgbClr val="F1F5F9"/>
          </a:solidFill>
          <a:ln w="12700">
            <a:solidFill>
              <a:srgbClr val="F1F5F9"/>
            </a:solidFill>
            <a:prstDash val="solid"/>
          </a:ln>
        </p:spPr>
      </p:sp>
      <p:sp>
        <p:nvSpPr>
          <p:cNvPr id="14" name="Text 12"/>
          <p:cNvSpPr txBox="1"/>
          <p:nvPr/>
        </p:nvSpPr>
        <p:spPr>
          <a:xfrm>
            <a:off x="7095744" y="3392424"/>
            <a:ext cx="430956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args[0] is the first argument, not the class name</a:t>
            </a:r>
            <a:endParaRPr lang="en-US" sz="1450" dirty="0"/>
          </a:p>
        </p:txBody>
      </p:sp>
      <p:sp>
        <p:nvSpPr>
          <p:cNvPr id="15" name="Text 13"/>
          <p:cNvSpPr txBox="1"/>
          <p:nvPr/>
        </p:nvSpPr>
        <p:spPr>
          <a:xfrm>
            <a:off x="7095744" y="3721608"/>
            <a:ext cx="4309567" cy="97840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Unlike C, the program name is not in the array. java Calculator 2 + 3 gives args.length of 3, with args[0] being "2". When nothing is typed, args is an empty array — length 0, never null.</a:t>
            </a:r>
            <a:endParaRPr lang="en-US" sz="1200" dirty="0"/>
          </a:p>
        </p:txBody>
      </p:sp>
      <p:sp>
        <p:nvSpPr>
          <p:cNvPr id="16" name="Shape 14"/>
          <p:cNvSpPr/>
          <p:nvPr/>
        </p:nvSpPr>
        <p:spPr>
          <a:xfrm>
            <a:off x="6876288" y="5056632"/>
            <a:ext cx="4748479" cy="1234440"/>
          </a:xfrm>
          <a:prstGeom prst="roundRect">
            <a:avLst>
              <a:gd name="adj" fmla="val 6667"/>
            </a:avLst>
          </a:prstGeom>
          <a:solidFill>
            <a:srgbClr val="FBEEE0"/>
          </a:solidFill>
          <a:ln w="12700">
            <a:solidFill>
              <a:srgbClr val="FBEEE0"/>
            </a:solidFill>
            <a:prstDash val="solid"/>
          </a:ln>
        </p:spPr>
      </p:sp>
      <p:sp>
        <p:nvSpPr>
          <p:cNvPr id="17" name="Text 15"/>
          <p:cNvSpPr txBox="1"/>
          <p:nvPr/>
        </p:nvSpPr>
        <p:spPr>
          <a:xfrm>
            <a:off x="7132320" y="5175504"/>
            <a:ext cx="4236415" cy="274320"/>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Everything arrives as a String</a:t>
            </a:r>
            <a:endParaRPr lang="en-US" sz="1350" dirty="0"/>
          </a:p>
        </p:txBody>
      </p:sp>
      <p:sp>
        <p:nvSpPr>
          <p:cNvPr id="18" name="Text 16"/>
          <p:cNvSpPr txBox="1"/>
          <p:nvPr/>
        </p:nvSpPr>
        <p:spPr>
          <a:xfrm>
            <a:off x="7132320" y="5468112"/>
            <a:ext cx="4236415" cy="749808"/>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args[0] is "2", not 2. Integer.parseInt converts it. And * has to be written as . here, because the shell would expand a bare asterisk into a list of filenames.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3</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20–24</a:t>
            </a:r>
            <a:endParaRPr lang="en-US" sz="1250" dirty="0"/>
          </a:p>
        </p:txBody>
      </p:sp>
      <p:sp>
        <p:nvSpPr>
          <p:cNvPr id="5" name="Shape 3"/>
          <p:cNvSpPr/>
          <p:nvPr/>
        </p:nvSpPr>
        <p:spPr>
          <a:xfrm>
            <a:off x="566928" y="1775582"/>
            <a:ext cx="11057839" cy="960120"/>
          </a:xfrm>
          <a:prstGeom prst="roundRect">
            <a:avLst>
              <a:gd name="adj" fmla="val 8571"/>
            </a:avLst>
          </a:prstGeom>
          <a:solidFill>
            <a:srgbClr val="FFFFFF"/>
          </a:solidFill>
          <a:ln w="12700">
            <a:solidFill>
              <a:srgbClr val="D3DEE7"/>
            </a:solidFill>
            <a:prstDash val="solid"/>
          </a:ln>
        </p:spPr>
      </p:sp>
      <p:sp>
        <p:nvSpPr>
          <p:cNvPr id="6" name="Shape 4"/>
          <p:cNvSpPr/>
          <p:nvPr/>
        </p:nvSpPr>
        <p:spPr>
          <a:xfrm>
            <a:off x="841248" y="2013326"/>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201332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940174"/>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A method sets numbers[0] = 5555 and number = 1001. Why does only one change survive?</a:t>
            </a:r>
            <a:endParaRPr lang="en-US" sz="1550" dirty="0"/>
          </a:p>
        </p:txBody>
      </p:sp>
      <p:sp>
        <p:nvSpPr>
          <p:cNvPr id="9" name="Shape 7"/>
          <p:cNvSpPr/>
          <p:nvPr/>
        </p:nvSpPr>
        <p:spPr>
          <a:xfrm>
            <a:off x="566928" y="2955158"/>
            <a:ext cx="11057839" cy="1916948"/>
          </a:xfrm>
          <a:prstGeom prst="roundRect">
            <a:avLst>
              <a:gd name="adj" fmla="val 4293"/>
            </a:avLst>
          </a:prstGeom>
          <a:solidFill>
            <a:srgbClr val="FFFFFF"/>
          </a:solidFill>
          <a:ln w="12700">
            <a:solidFill>
              <a:srgbClr val="D3DEE7"/>
            </a:solidFill>
            <a:prstDash val="solid"/>
          </a:ln>
        </p:spPr>
      </p:sp>
      <p:sp>
        <p:nvSpPr>
          <p:cNvPr id="10" name="Shape 8"/>
          <p:cNvSpPr/>
          <p:nvPr/>
        </p:nvSpPr>
        <p:spPr>
          <a:xfrm>
            <a:off x="841248" y="3192902"/>
            <a:ext cx="402336" cy="402336"/>
          </a:xfrm>
          <a:prstGeom prst="ellipse">
            <a:avLst/>
          </a:prstGeom>
          <a:solidFill>
            <a:srgbClr val="C4560C"/>
          </a:solidFill>
          <a:ln w="12700">
            <a:solidFill>
              <a:srgbClr val="C4560C"/>
            </a:solidFill>
            <a:prstDash val="solid"/>
          </a:ln>
        </p:spPr>
      </p:sp>
      <p:sp>
        <p:nvSpPr>
          <p:cNvPr id="11" name="Text 9"/>
          <p:cNvSpPr txBox="1"/>
          <p:nvPr/>
        </p:nvSpPr>
        <p:spPr>
          <a:xfrm>
            <a:off x="841248" y="319290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3119750"/>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What is printed, and what is args.length?</a:t>
            </a:r>
            <a:endParaRPr lang="en-US" sz="1550" dirty="0"/>
          </a:p>
        </p:txBody>
      </p:sp>
      <p:sp>
        <p:nvSpPr>
          <p:cNvPr id="13" name="Shape 11"/>
          <p:cNvSpPr/>
          <p:nvPr/>
        </p:nvSpPr>
        <p:spPr>
          <a:xfrm>
            <a:off x="1435608" y="3595238"/>
            <a:ext cx="6949440" cy="755660"/>
          </a:xfrm>
          <a:prstGeom prst="roundRect">
            <a:avLst>
              <a:gd name="adj" fmla="val 8470"/>
            </a:avLst>
          </a:prstGeom>
          <a:solidFill>
            <a:srgbClr val="EDF2F7"/>
          </a:solidFill>
          <a:ln w="12700">
            <a:solidFill>
              <a:srgbClr val="CFDBE5"/>
            </a:solidFill>
            <a:prstDash val="solid"/>
          </a:ln>
        </p:spPr>
      </p:sp>
      <p:sp>
        <p:nvSpPr>
          <p:cNvPr id="14" name="Text 12"/>
          <p:cNvSpPr txBox="1"/>
          <p:nvPr/>
        </p:nvSpPr>
        <p:spPr>
          <a:xfrm>
            <a:off x="1600200" y="3732398"/>
            <a:ext cx="6620256" cy="554492"/>
          </a:xfrm>
          <a:prstGeom prst="rect">
            <a:avLst/>
          </a:prstGeom>
          <a:noFill/>
          <a:ln/>
        </p:spPr>
        <p:txBody>
          <a:bodyPr wrap="square" lIns="0" tIns="0" rIns="0" bIns="0" rtlCol="0" anchor="t"/>
          <a:lstStyle/>
          <a:p>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run as:  java Demo alpha beta</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args</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args</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566928" y="5091562"/>
            <a:ext cx="11057839" cy="960120"/>
          </a:xfrm>
          <a:prstGeom prst="roundRect">
            <a:avLst>
              <a:gd name="adj" fmla="val 8571"/>
            </a:avLst>
          </a:prstGeom>
          <a:solidFill>
            <a:srgbClr val="FFFFFF"/>
          </a:solidFill>
          <a:ln w="12700">
            <a:solidFill>
              <a:srgbClr val="D3DEE7"/>
            </a:solidFill>
            <a:prstDash val="solid"/>
          </a:ln>
        </p:spPr>
      </p:sp>
      <p:sp>
        <p:nvSpPr>
          <p:cNvPr id="16" name="Shape 14"/>
          <p:cNvSpPr/>
          <p:nvPr/>
        </p:nvSpPr>
        <p:spPr>
          <a:xfrm>
            <a:off x="841248" y="5329306"/>
            <a:ext cx="402336" cy="402336"/>
          </a:xfrm>
          <a:prstGeom prst="ellipse">
            <a:avLst/>
          </a:prstGeom>
          <a:solidFill>
            <a:srgbClr val="C4560C"/>
          </a:solidFill>
          <a:ln w="12700">
            <a:solidFill>
              <a:srgbClr val="C4560C"/>
            </a:solidFill>
            <a:prstDash val="solid"/>
          </a:ln>
        </p:spPr>
      </p:sp>
      <p:sp>
        <p:nvSpPr>
          <p:cNvPr id="17" name="Text 15"/>
          <p:cNvSpPr txBox="1"/>
          <p:nvPr/>
        </p:nvSpPr>
        <p:spPr>
          <a:xfrm>
            <a:off x="841248" y="532930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8" name="Text 16"/>
          <p:cNvSpPr txBox="1"/>
          <p:nvPr/>
        </p:nvSpPr>
        <p:spPr>
          <a:xfrm>
            <a:off x="1435608" y="5256154"/>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Where must a varargs parameter appear in a parameter list, and how many may there be?</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286000"/>
            <a:ext cx="5486400" cy="310896"/>
          </a:xfrm>
          <a:prstGeom prst="rect">
            <a:avLst/>
          </a:prstGeom>
          <a:noFill/>
          <a:ln/>
        </p:spPr>
        <p:txBody>
          <a:bodyPr wrap="square" lIns="0" tIns="0" rIns="0" bIns="0" rtlCol="0" anchor="ctr"/>
          <a:lstStyle/>
          <a:p>
            <a:pPr indent="0" marL="0">
              <a:buNone/>
            </a:pPr>
            <a:r>
              <a:rPr lang="en-US" sz="1300" b="1" spc="240" kern="0" dirty="0">
                <a:solidFill>
                  <a:srgbClr val="9A430A"/>
                </a:solidFill>
                <a:latin typeface="Calibri" pitchFamily="34" charset="0"/>
                <a:ea typeface="Calibri" pitchFamily="34" charset="-122"/>
                <a:cs typeface="Calibri" pitchFamily="34" charset="-120"/>
              </a:rPr>
              <a:t>PART 03</a:t>
            </a:r>
            <a:endParaRPr lang="en-US" sz="1300" dirty="0"/>
          </a:p>
        </p:txBody>
      </p:sp>
      <p:sp>
        <p:nvSpPr>
          <p:cNvPr id="3" name="Text 1"/>
          <p:cNvSpPr txBox="1"/>
          <p:nvPr/>
        </p:nvSpPr>
        <p:spPr>
          <a:xfrm>
            <a:off x="566928" y="2697480"/>
            <a:ext cx="8046720" cy="1737360"/>
          </a:xfrm>
          <a:prstGeom prst="rect">
            <a:avLst/>
          </a:prstGeom>
          <a:noFill/>
          <a:ln/>
        </p:spPr>
        <p:txBody>
          <a:bodyPr wrap="square" lIns="0" tIns="0" rIns="0" bIns="0" rtlCol="0" anchor="ctr"/>
          <a:lstStyle/>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Two Dimensions</a:t>
            </a:r>
            <a:endParaRPr lang="en-US" sz="4400" dirty="0"/>
          </a:p>
        </p:txBody>
      </p:sp>
      <p:sp>
        <p:nvSpPr>
          <p:cNvPr id="4" name="Text 2"/>
          <p:cNvSpPr txBox="1"/>
          <p:nvPr/>
        </p:nvSpPr>
        <p:spPr>
          <a:xfrm>
            <a:off x="566928" y="4526280"/>
            <a:ext cx="8686800" cy="365760"/>
          </a:xfrm>
          <a:prstGeom prst="rect">
            <a:avLst/>
          </a:prstGeom>
          <a:noFill/>
          <a:ln/>
        </p:spPr>
        <p:txBody>
          <a:bodyPr wrap="square" lIns="0" tIns="0" rIns="0" bIns="0" rtlCol="0" anchor="ctr"/>
          <a:lstStyle/>
          <a:p>
            <a:pPr indent="0" marL="0">
              <a:buNone/>
            </a:pPr>
            <a:r>
              <a:rPr lang="en-US" sz="1500" dirty="0">
                <a:solidFill>
                  <a:srgbClr val="3A536B"/>
                </a:solidFill>
                <a:latin typeface="Calibri" pitchFamily="34" charset="0"/>
                <a:ea typeface="Calibri" pitchFamily="34" charset="-122"/>
                <a:cs typeface="Calibri" pitchFamily="34" charset="-120"/>
              </a:rPr>
              <a:t>Tables, matrices and grids — an array whose elements are themselves arrays.</a:t>
            </a:r>
            <a:endParaRPr lang="en-US" sz="1500" dirty="0"/>
          </a:p>
        </p:txBody>
      </p:sp>
      <p:sp>
        <p:nvSpPr>
          <p:cNvPr id="5" name="Text 3"/>
          <p:cNvSpPr txBox="1"/>
          <p:nvPr/>
        </p:nvSpPr>
        <p:spPr>
          <a:xfrm>
            <a:off x="9247327" y="2011680"/>
            <a:ext cx="2377440" cy="2194560"/>
          </a:xfrm>
          <a:prstGeom prst="rect">
            <a:avLst/>
          </a:prstGeom>
          <a:noFill/>
          <a:ln/>
        </p:spPr>
        <p:txBody>
          <a:bodyPr wrap="square" lIns="0" tIns="0" rIns="0" bIns="0" rtlCol="0" anchor="ctr"/>
          <a:lstStyle/>
          <a:p>
            <a:pPr algn="r" indent="0" marL="0">
              <a:buNone/>
            </a:pPr>
            <a:r>
              <a:rPr lang="en-US" sz="13000" b="1" dirty="0">
                <a:solidFill>
                  <a:srgbClr val="CFDCE8"/>
                </a:solidFill>
                <a:latin typeface="Cambria" pitchFamily="34" charset="0"/>
                <a:ea typeface="Cambria" pitchFamily="34" charset="-122"/>
                <a:cs typeface="Cambria" pitchFamily="34" charset="-120"/>
              </a:rPr>
              <a:t>03</a:t>
            </a:r>
            <a:endParaRPr lang="en-US" sz="13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2-D 01</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A Two-Dimensional Array Is an Array of Arrays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Use one when the data is naturally a table: a matrix, a grid, a set of rows.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27</a:t>
            </a:r>
            <a:endParaRPr lang="en-US" sz="900" dirty="0"/>
          </a:p>
        </p:txBody>
      </p:sp>
      <p:sp>
        <p:nvSpPr>
          <p:cNvPr id="7" name="Shape 5"/>
          <p:cNvSpPr/>
          <p:nvPr/>
        </p:nvSpPr>
        <p:spPr>
          <a:xfrm>
            <a:off x="566928" y="1536192"/>
            <a:ext cx="5760720" cy="1754916"/>
          </a:xfrm>
          <a:prstGeom prst="roundRect">
            <a:avLst>
              <a:gd name="adj" fmla="val 3647"/>
            </a:avLst>
          </a:prstGeom>
          <a:solidFill>
            <a:srgbClr val="EDF2F7"/>
          </a:solidFill>
          <a:ln w="12700">
            <a:solidFill>
              <a:srgbClr val="CFDBE5"/>
            </a:solidFill>
            <a:prstDash val="solid"/>
          </a:ln>
        </p:spPr>
      </p:sp>
      <p:sp>
        <p:nvSpPr>
          <p:cNvPr id="8" name="Text 6"/>
          <p:cNvSpPr txBox="1"/>
          <p:nvPr/>
        </p:nvSpPr>
        <p:spPr>
          <a:xfrm>
            <a:off x="713232" y="1581912"/>
            <a:ext cx="546811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TWO SETS OF BRACKETS</a:t>
            </a:r>
            <a:endParaRPr lang="en-US" sz="950" dirty="0"/>
          </a:p>
        </p:txBody>
      </p:sp>
      <p:sp>
        <p:nvSpPr>
          <p:cNvPr id="9" name="Text 7"/>
          <p:cNvSpPr txBox="1"/>
          <p:nvPr/>
        </p:nvSpPr>
        <p:spPr>
          <a:xfrm>
            <a:off x="731520" y="1810512"/>
            <a:ext cx="5431536" cy="1425732"/>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matrix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declare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matrix</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create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matrix</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both at once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matrix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7</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row 2, column 1</a:t>
            </a:r>
            <a:endParaRPr lang="en-US" sz="1100" dirty="0"/>
          </a:p>
        </p:txBody>
      </p:sp>
      <p:sp>
        <p:nvSpPr>
          <p:cNvPr id="10" name="Shape 8"/>
          <p:cNvSpPr/>
          <p:nvPr/>
        </p:nvSpPr>
        <p:spPr>
          <a:xfrm>
            <a:off x="566928" y="3565428"/>
            <a:ext cx="5760720" cy="1590142"/>
          </a:xfrm>
          <a:prstGeom prst="roundRect">
            <a:avLst>
              <a:gd name="adj" fmla="val 4025"/>
            </a:avLst>
          </a:prstGeom>
          <a:solidFill>
            <a:srgbClr val="EDF2F7"/>
          </a:solidFill>
          <a:ln w="12700">
            <a:solidFill>
              <a:srgbClr val="CFDBE5"/>
            </a:solidFill>
            <a:prstDash val="solid"/>
          </a:ln>
        </p:spPr>
      </p:sp>
      <p:sp>
        <p:nvSpPr>
          <p:cNvPr id="11" name="Text 9"/>
          <p:cNvSpPr txBox="1"/>
          <p:nvPr/>
        </p:nvSpPr>
        <p:spPr>
          <a:xfrm>
            <a:off x="713232" y="3611148"/>
            <a:ext cx="546811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SHORTHAND — ROWS INSIDE BRACES</a:t>
            </a:r>
            <a:endParaRPr lang="en-US" sz="950" dirty="0"/>
          </a:p>
        </p:txBody>
      </p:sp>
      <p:sp>
        <p:nvSpPr>
          <p:cNvPr id="12" name="Text 10"/>
          <p:cNvSpPr txBox="1"/>
          <p:nvPr/>
        </p:nvSpPr>
        <p:spPr>
          <a:xfrm>
            <a:off x="731520" y="3839748"/>
            <a:ext cx="5431536" cy="1260958"/>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array</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6</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7</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8</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9</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3" name="Shape 11"/>
          <p:cNvSpPr/>
          <p:nvPr/>
        </p:nvSpPr>
        <p:spPr>
          <a:xfrm>
            <a:off x="566928" y="5393314"/>
            <a:ext cx="5760720" cy="914400"/>
          </a:xfrm>
          <a:prstGeom prst="roundRect">
            <a:avLst>
              <a:gd name="adj" fmla="val 9000"/>
            </a:avLst>
          </a:prstGeom>
          <a:solidFill>
            <a:srgbClr val="E4ECF4"/>
          </a:solidFill>
          <a:ln w="12700">
            <a:solidFill>
              <a:srgbClr val="E4ECF4"/>
            </a:solidFill>
            <a:prstDash val="solid"/>
          </a:ln>
        </p:spPr>
      </p:sp>
      <p:sp>
        <p:nvSpPr>
          <p:cNvPr id="14" name="Text 12"/>
          <p:cNvSpPr txBox="1"/>
          <p:nvPr/>
        </p:nvSpPr>
        <p:spPr>
          <a:xfrm>
            <a:off x="841248" y="5393314"/>
            <a:ext cx="5212080" cy="914400"/>
          </a:xfrm>
          <a:prstGeom prst="rect">
            <a:avLst/>
          </a:prstGeom>
          <a:noFill/>
          <a:ln/>
        </p:spPr>
        <p:txBody>
          <a:bodyPr wrap="square" lIns="0" tIns="0" rIns="0" bIns="0" rtlCol="0" anchor="ctr"/>
          <a:lstStyle/>
          <a:p>
            <a:pPr indent="0" marL="0">
              <a:lnSpc>
                <a:spcPct val="112000"/>
              </a:lnSpc>
              <a:buNone/>
            </a:pPr>
            <a:r>
              <a:rPr lang="en-US" sz="1250" b="1" dirty="0">
                <a:solidFill>
                  <a:srgbClr val="0F2942"/>
                </a:solidFill>
                <a:latin typeface="Calibri" pitchFamily="34" charset="0"/>
                <a:ea typeface="Calibri" pitchFamily="34" charset="-122"/>
                <a:cs typeface="Calibri" pitchFamily="34" charset="-120"/>
              </a:rPr>
              <a:t>Row first, then column.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matrix[2][1] is row 2, column 1 — both count from zero.</a:t>
            </a:r>
            <a:endParaRPr lang="en-US" sz="1250" dirty="0"/>
          </a:p>
        </p:txBody>
      </p:sp>
      <p:sp>
        <p:nvSpPr>
          <p:cNvPr id="15" name="Text 13"/>
          <p:cNvSpPr txBox="1"/>
          <p:nvPr/>
        </p:nvSpPr>
        <p:spPr>
          <a:xfrm>
            <a:off x="6784848" y="1536192"/>
            <a:ext cx="4839919" cy="237744"/>
          </a:xfrm>
          <a:prstGeom prst="rect">
            <a:avLst/>
          </a:prstGeom>
          <a:noFill/>
          <a:ln/>
        </p:spPr>
        <p:txBody>
          <a:bodyPr wrap="square" lIns="0" tIns="0" rIns="0" bIns="0" rtlCol="0" anchor="ctr"/>
          <a:lstStyle/>
          <a:p>
            <a:pPr indent="0" marL="0">
              <a:buNone/>
            </a:pPr>
            <a:r>
              <a:rPr lang="en-US" sz="1050" b="1" dirty="0">
                <a:solidFill>
                  <a:srgbClr val="3A536B"/>
                </a:solidFill>
                <a:latin typeface="Courier New" pitchFamily="34" charset="0"/>
                <a:ea typeface="Courier New" pitchFamily="34" charset="-122"/>
                <a:cs typeface="Courier New" pitchFamily="34" charset="-120"/>
              </a:rPr>
              <a:t>int[][] array = {{1,2,3},{4,5,6},{7,8,9}}</a:t>
            </a:r>
            <a:endParaRPr lang="en-US" sz="1050" dirty="0"/>
          </a:p>
        </p:txBody>
      </p:sp>
      <p:sp>
        <p:nvSpPr>
          <p:cNvPr id="16" name="Text 14"/>
          <p:cNvSpPr txBox="1"/>
          <p:nvPr/>
        </p:nvSpPr>
        <p:spPr>
          <a:xfrm>
            <a:off x="7470648" y="1847088"/>
            <a:ext cx="1384706" cy="237744"/>
          </a:xfrm>
          <a:prstGeom prst="rect">
            <a:avLst/>
          </a:prstGeom>
          <a:noFill/>
          <a:ln/>
        </p:spPr>
        <p:txBody>
          <a:bodyPr wrap="square" lIns="0" tIns="0" rIns="0" bIns="0" rtlCol="0" anchor="ctr"/>
          <a:lstStyle/>
          <a:p>
            <a:pPr algn="ctr" indent="0" marL="0">
              <a:buNone/>
            </a:pPr>
            <a:r>
              <a:rPr lang="en-US" sz="1000" dirty="0">
                <a:solidFill>
                  <a:srgbClr val="4B6377"/>
                </a:solidFill>
                <a:latin typeface="Courier New" pitchFamily="34" charset="0"/>
                <a:ea typeface="Courier New" pitchFamily="34" charset="-122"/>
                <a:cs typeface="Courier New" pitchFamily="34" charset="-120"/>
              </a:rPr>
              <a:t>[0]</a:t>
            </a:r>
            <a:endParaRPr lang="en-US" sz="1000" dirty="0"/>
          </a:p>
        </p:txBody>
      </p:sp>
      <p:sp>
        <p:nvSpPr>
          <p:cNvPr id="17" name="Text 15"/>
          <p:cNvSpPr txBox="1"/>
          <p:nvPr/>
        </p:nvSpPr>
        <p:spPr>
          <a:xfrm>
            <a:off x="8855354" y="1847088"/>
            <a:ext cx="1384706" cy="237744"/>
          </a:xfrm>
          <a:prstGeom prst="rect">
            <a:avLst/>
          </a:prstGeom>
          <a:noFill/>
          <a:ln/>
        </p:spPr>
        <p:txBody>
          <a:bodyPr wrap="square" lIns="0" tIns="0" rIns="0" bIns="0" rtlCol="0" anchor="ctr"/>
          <a:lstStyle/>
          <a:p>
            <a:pPr algn="ctr" indent="0" marL="0">
              <a:buNone/>
            </a:pPr>
            <a:r>
              <a:rPr lang="en-US" sz="1000" dirty="0">
                <a:solidFill>
                  <a:srgbClr val="4B6377"/>
                </a:solidFill>
                <a:latin typeface="Courier New" pitchFamily="34" charset="0"/>
                <a:ea typeface="Courier New" pitchFamily="34" charset="-122"/>
                <a:cs typeface="Courier New" pitchFamily="34" charset="-120"/>
              </a:rPr>
              <a:t>[1]</a:t>
            </a:r>
            <a:endParaRPr lang="en-US" sz="1000" dirty="0"/>
          </a:p>
        </p:txBody>
      </p:sp>
      <p:sp>
        <p:nvSpPr>
          <p:cNvPr id="18" name="Text 16"/>
          <p:cNvSpPr txBox="1"/>
          <p:nvPr/>
        </p:nvSpPr>
        <p:spPr>
          <a:xfrm>
            <a:off x="10240061" y="1847088"/>
            <a:ext cx="1384706" cy="237744"/>
          </a:xfrm>
          <a:prstGeom prst="rect">
            <a:avLst/>
          </a:prstGeom>
          <a:noFill/>
          <a:ln/>
        </p:spPr>
        <p:txBody>
          <a:bodyPr wrap="square" lIns="0" tIns="0" rIns="0" bIns="0" rtlCol="0" anchor="ctr"/>
          <a:lstStyle/>
          <a:p>
            <a:pPr algn="ctr" indent="0" marL="0">
              <a:buNone/>
            </a:pPr>
            <a:r>
              <a:rPr lang="en-US" sz="1000" dirty="0">
                <a:solidFill>
                  <a:srgbClr val="4B6377"/>
                </a:solidFill>
                <a:latin typeface="Courier New" pitchFamily="34" charset="0"/>
                <a:ea typeface="Courier New" pitchFamily="34" charset="-122"/>
                <a:cs typeface="Courier New" pitchFamily="34" charset="-120"/>
              </a:rPr>
              <a:t>[2]</a:t>
            </a:r>
            <a:endParaRPr lang="en-US" sz="1000" dirty="0"/>
          </a:p>
        </p:txBody>
      </p:sp>
      <p:sp>
        <p:nvSpPr>
          <p:cNvPr id="19" name="Text 17"/>
          <p:cNvSpPr txBox="1"/>
          <p:nvPr/>
        </p:nvSpPr>
        <p:spPr>
          <a:xfrm>
            <a:off x="6784848" y="2121408"/>
            <a:ext cx="640080" cy="548640"/>
          </a:xfrm>
          <a:prstGeom prst="rect">
            <a:avLst/>
          </a:prstGeom>
          <a:noFill/>
          <a:ln/>
        </p:spPr>
        <p:txBody>
          <a:bodyPr wrap="square" lIns="0" tIns="0" rIns="0" bIns="0" rtlCol="0" anchor="ctr"/>
          <a:lstStyle/>
          <a:p>
            <a:pPr algn="r" indent="0" marL="0">
              <a:buNone/>
            </a:pPr>
            <a:r>
              <a:rPr lang="en-US" sz="1000" dirty="0">
                <a:solidFill>
                  <a:srgbClr val="4B6377"/>
                </a:solidFill>
                <a:latin typeface="Courier New" pitchFamily="34" charset="0"/>
                <a:ea typeface="Courier New" pitchFamily="34" charset="-122"/>
                <a:cs typeface="Courier New" pitchFamily="34" charset="-120"/>
              </a:rPr>
              <a:t>[0]</a:t>
            </a:r>
            <a:endParaRPr lang="en-US" sz="1000" dirty="0"/>
          </a:p>
        </p:txBody>
      </p:sp>
      <p:sp>
        <p:nvSpPr>
          <p:cNvPr id="20" name="Shape 18"/>
          <p:cNvSpPr/>
          <p:nvPr/>
        </p:nvSpPr>
        <p:spPr>
          <a:xfrm>
            <a:off x="7470648" y="2121408"/>
            <a:ext cx="1329842" cy="548640"/>
          </a:xfrm>
          <a:prstGeom prst="roundRect">
            <a:avLst>
              <a:gd name="adj" fmla="val 8333"/>
            </a:avLst>
          </a:prstGeom>
          <a:solidFill>
            <a:srgbClr val="FFFFFF"/>
          </a:solidFill>
          <a:ln w="16510">
            <a:solidFill>
              <a:srgbClr val="D3DEE7"/>
            </a:solidFill>
            <a:prstDash val="solid"/>
          </a:ln>
        </p:spPr>
      </p:sp>
      <p:sp>
        <p:nvSpPr>
          <p:cNvPr id="21" name="Text 19"/>
          <p:cNvSpPr txBox="1"/>
          <p:nvPr/>
        </p:nvSpPr>
        <p:spPr>
          <a:xfrm>
            <a:off x="7470648" y="2121408"/>
            <a:ext cx="1329842" cy="548640"/>
          </a:xfrm>
          <a:prstGeom prst="rect">
            <a:avLst/>
          </a:prstGeom>
          <a:noFill/>
          <a:ln/>
        </p:spPr>
        <p:txBody>
          <a:bodyPr wrap="square" lIns="0" tIns="0" rIns="0" bIns="0" rtlCol="0" anchor="ctr"/>
          <a:lstStyle/>
          <a:p>
            <a:pPr algn="ctr" indent="0" marL="0">
              <a:buNone/>
            </a:pPr>
            <a:r>
              <a:rPr lang="en-US" sz="1300" b="1" dirty="0">
                <a:solidFill>
                  <a:srgbClr val="0F2942"/>
                </a:solidFill>
                <a:latin typeface="Courier New" pitchFamily="34" charset="0"/>
                <a:ea typeface="Courier New" pitchFamily="34" charset="-122"/>
                <a:cs typeface="Courier New" pitchFamily="34" charset="-120"/>
              </a:rPr>
              <a:t>1</a:t>
            </a:r>
            <a:endParaRPr lang="en-US" sz="1300" dirty="0"/>
          </a:p>
        </p:txBody>
      </p:sp>
      <p:sp>
        <p:nvSpPr>
          <p:cNvPr id="22" name="Shape 20"/>
          <p:cNvSpPr/>
          <p:nvPr/>
        </p:nvSpPr>
        <p:spPr>
          <a:xfrm>
            <a:off x="8855354" y="2121408"/>
            <a:ext cx="1329842" cy="548640"/>
          </a:xfrm>
          <a:prstGeom prst="roundRect">
            <a:avLst>
              <a:gd name="adj" fmla="val 8333"/>
            </a:avLst>
          </a:prstGeom>
          <a:solidFill>
            <a:srgbClr val="FFFFFF"/>
          </a:solidFill>
          <a:ln w="16510">
            <a:solidFill>
              <a:srgbClr val="D3DEE7"/>
            </a:solidFill>
            <a:prstDash val="solid"/>
          </a:ln>
        </p:spPr>
      </p:sp>
      <p:sp>
        <p:nvSpPr>
          <p:cNvPr id="23" name="Text 21"/>
          <p:cNvSpPr txBox="1"/>
          <p:nvPr/>
        </p:nvSpPr>
        <p:spPr>
          <a:xfrm>
            <a:off x="8855354" y="2121408"/>
            <a:ext cx="1329842" cy="548640"/>
          </a:xfrm>
          <a:prstGeom prst="rect">
            <a:avLst/>
          </a:prstGeom>
          <a:noFill/>
          <a:ln/>
        </p:spPr>
        <p:txBody>
          <a:bodyPr wrap="square" lIns="0" tIns="0" rIns="0" bIns="0" rtlCol="0" anchor="ctr"/>
          <a:lstStyle/>
          <a:p>
            <a:pPr algn="ctr" indent="0" marL="0">
              <a:buNone/>
            </a:pPr>
            <a:r>
              <a:rPr lang="en-US" sz="1300" b="1" dirty="0">
                <a:solidFill>
                  <a:srgbClr val="0F2942"/>
                </a:solidFill>
                <a:latin typeface="Courier New" pitchFamily="34" charset="0"/>
                <a:ea typeface="Courier New" pitchFamily="34" charset="-122"/>
                <a:cs typeface="Courier New" pitchFamily="34" charset="-120"/>
              </a:rPr>
              <a:t>2</a:t>
            </a:r>
            <a:endParaRPr lang="en-US" sz="1300" dirty="0"/>
          </a:p>
        </p:txBody>
      </p:sp>
      <p:sp>
        <p:nvSpPr>
          <p:cNvPr id="24" name="Shape 22"/>
          <p:cNvSpPr/>
          <p:nvPr/>
        </p:nvSpPr>
        <p:spPr>
          <a:xfrm>
            <a:off x="10240061" y="2121408"/>
            <a:ext cx="1329842" cy="548640"/>
          </a:xfrm>
          <a:prstGeom prst="roundRect">
            <a:avLst>
              <a:gd name="adj" fmla="val 8333"/>
            </a:avLst>
          </a:prstGeom>
          <a:solidFill>
            <a:srgbClr val="FFFFFF"/>
          </a:solidFill>
          <a:ln w="16510">
            <a:solidFill>
              <a:srgbClr val="D3DEE7"/>
            </a:solidFill>
            <a:prstDash val="solid"/>
          </a:ln>
        </p:spPr>
      </p:sp>
      <p:sp>
        <p:nvSpPr>
          <p:cNvPr id="25" name="Text 23"/>
          <p:cNvSpPr txBox="1"/>
          <p:nvPr/>
        </p:nvSpPr>
        <p:spPr>
          <a:xfrm>
            <a:off x="10240061" y="2121408"/>
            <a:ext cx="1329842" cy="548640"/>
          </a:xfrm>
          <a:prstGeom prst="rect">
            <a:avLst/>
          </a:prstGeom>
          <a:noFill/>
          <a:ln/>
        </p:spPr>
        <p:txBody>
          <a:bodyPr wrap="square" lIns="0" tIns="0" rIns="0" bIns="0" rtlCol="0" anchor="ctr"/>
          <a:lstStyle/>
          <a:p>
            <a:pPr algn="ctr" indent="0" marL="0">
              <a:buNone/>
            </a:pPr>
            <a:r>
              <a:rPr lang="en-US" sz="1300" b="1" dirty="0">
                <a:solidFill>
                  <a:srgbClr val="0F2942"/>
                </a:solidFill>
                <a:latin typeface="Courier New" pitchFamily="34" charset="0"/>
                <a:ea typeface="Courier New" pitchFamily="34" charset="-122"/>
                <a:cs typeface="Courier New" pitchFamily="34" charset="-120"/>
              </a:rPr>
              <a:t>3</a:t>
            </a:r>
            <a:endParaRPr lang="en-US" sz="1300" dirty="0"/>
          </a:p>
        </p:txBody>
      </p:sp>
      <p:sp>
        <p:nvSpPr>
          <p:cNvPr id="26" name="Text 24"/>
          <p:cNvSpPr txBox="1"/>
          <p:nvPr/>
        </p:nvSpPr>
        <p:spPr>
          <a:xfrm>
            <a:off x="6784848" y="2743200"/>
            <a:ext cx="640080" cy="548640"/>
          </a:xfrm>
          <a:prstGeom prst="rect">
            <a:avLst/>
          </a:prstGeom>
          <a:noFill/>
          <a:ln/>
        </p:spPr>
        <p:txBody>
          <a:bodyPr wrap="square" lIns="0" tIns="0" rIns="0" bIns="0" rtlCol="0" anchor="ctr"/>
          <a:lstStyle/>
          <a:p>
            <a:pPr algn="r" indent="0" marL="0">
              <a:buNone/>
            </a:pPr>
            <a:r>
              <a:rPr lang="en-US" sz="1000" dirty="0">
                <a:solidFill>
                  <a:srgbClr val="4B6377"/>
                </a:solidFill>
                <a:latin typeface="Courier New" pitchFamily="34" charset="0"/>
                <a:ea typeface="Courier New" pitchFamily="34" charset="-122"/>
                <a:cs typeface="Courier New" pitchFamily="34" charset="-120"/>
              </a:rPr>
              <a:t>[1]</a:t>
            </a:r>
            <a:endParaRPr lang="en-US" sz="1000" dirty="0"/>
          </a:p>
        </p:txBody>
      </p:sp>
      <p:sp>
        <p:nvSpPr>
          <p:cNvPr id="27" name="Shape 25"/>
          <p:cNvSpPr/>
          <p:nvPr/>
        </p:nvSpPr>
        <p:spPr>
          <a:xfrm>
            <a:off x="7470648" y="2743200"/>
            <a:ext cx="1329842" cy="548640"/>
          </a:xfrm>
          <a:prstGeom prst="roundRect">
            <a:avLst>
              <a:gd name="adj" fmla="val 8333"/>
            </a:avLst>
          </a:prstGeom>
          <a:solidFill>
            <a:srgbClr val="FFFFFF"/>
          </a:solidFill>
          <a:ln w="16510">
            <a:solidFill>
              <a:srgbClr val="D3DEE7"/>
            </a:solidFill>
            <a:prstDash val="solid"/>
          </a:ln>
        </p:spPr>
      </p:sp>
      <p:sp>
        <p:nvSpPr>
          <p:cNvPr id="28" name="Text 26"/>
          <p:cNvSpPr txBox="1"/>
          <p:nvPr/>
        </p:nvSpPr>
        <p:spPr>
          <a:xfrm>
            <a:off x="7470648" y="2743200"/>
            <a:ext cx="1329842" cy="548640"/>
          </a:xfrm>
          <a:prstGeom prst="rect">
            <a:avLst/>
          </a:prstGeom>
          <a:noFill/>
          <a:ln/>
        </p:spPr>
        <p:txBody>
          <a:bodyPr wrap="square" lIns="0" tIns="0" rIns="0" bIns="0" rtlCol="0" anchor="ctr"/>
          <a:lstStyle/>
          <a:p>
            <a:pPr algn="ctr" indent="0" marL="0">
              <a:buNone/>
            </a:pPr>
            <a:r>
              <a:rPr lang="en-US" sz="1300" b="1" dirty="0">
                <a:solidFill>
                  <a:srgbClr val="0F2942"/>
                </a:solidFill>
                <a:latin typeface="Courier New" pitchFamily="34" charset="0"/>
                <a:ea typeface="Courier New" pitchFamily="34" charset="-122"/>
                <a:cs typeface="Courier New" pitchFamily="34" charset="-120"/>
              </a:rPr>
              <a:t>4</a:t>
            </a:r>
            <a:endParaRPr lang="en-US" sz="1300" dirty="0"/>
          </a:p>
        </p:txBody>
      </p:sp>
      <p:sp>
        <p:nvSpPr>
          <p:cNvPr id="29" name="Shape 27"/>
          <p:cNvSpPr/>
          <p:nvPr/>
        </p:nvSpPr>
        <p:spPr>
          <a:xfrm>
            <a:off x="8855354" y="2743200"/>
            <a:ext cx="1329842" cy="548640"/>
          </a:xfrm>
          <a:prstGeom prst="roundRect">
            <a:avLst>
              <a:gd name="adj" fmla="val 8333"/>
            </a:avLst>
          </a:prstGeom>
          <a:solidFill>
            <a:srgbClr val="FFFFFF"/>
          </a:solidFill>
          <a:ln w="16510">
            <a:solidFill>
              <a:srgbClr val="D3DEE7"/>
            </a:solidFill>
            <a:prstDash val="solid"/>
          </a:ln>
        </p:spPr>
      </p:sp>
      <p:sp>
        <p:nvSpPr>
          <p:cNvPr id="30" name="Text 28"/>
          <p:cNvSpPr txBox="1"/>
          <p:nvPr/>
        </p:nvSpPr>
        <p:spPr>
          <a:xfrm>
            <a:off x="8855354" y="2743200"/>
            <a:ext cx="1329842" cy="548640"/>
          </a:xfrm>
          <a:prstGeom prst="rect">
            <a:avLst/>
          </a:prstGeom>
          <a:noFill/>
          <a:ln/>
        </p:spPr>
        <p:txBody>
          <a:bodyPr wrap="square" lIns="0" tIns="0" rIns="0" bIns="0" rtlCol="0" anchor="ctr"/>
          <a:lstStyle/>
          <a:p>
            <a:pPr algn="ctr" indent="0" marL="0">
              <a:buNone/>
            </a:pPr>
            <a:r>
              <a:rPr lang="en-US" sz="1300" b="1" dirty="0">
                <a:solidFill>
                  <a:srgbClr val="0F2942"/>
                </a:solidFill>
                <a:latin typeface="Courier New" pitchFamily="34" charset="0"/>
                <a:ea typeface="Courier New" pitchFamily="34" charset="-122"/>
                <a:cs typeface="Courier New" pitchFamily="34" charset="-120"/>
              </a:rPr>
              <a:t>5</a:t>
            </a:r>
            <a:endParaRPr lang="en-US" sz="1300" dirty="0"/>
          </a:p>
        </p:txBody>
      </p:sp>
      <p:sp>
        <p:nvSpPr>
          <p:cNvPr id="31" name="Shape 29"/>
          <p:cNvSpPr/>
          <p:nvPr/>
        </p:nvSpPr>
        <p:spPr>
          <a:xfrm>
            <a:off x="10240061" y="2743200"/>
            <a:ext cx="1329842" cy="548640"/>
          </a:xfrm>
          <a:prstGeom prst="roundRect">
            <a:avLst>
              <a:gd name="adj" fmla="val 8333"/>
            </a:avLst>
          </a:prstGeom>
          <a:solidFill>
            <a:srgbClr val="FBEEE0"/>
          </a:solidFill>
          <a:ln w="16510">
            <a:solidFill>
              <a:srgbClr val="C4560C"/>
            </a:solidFill>
            <a:prstDash val="solid"/>
          </a:ln>
        </p:spPr>
      </p:sp>
      <p:sp>
        <p:nvSpPr>
          <p:cNvPr id="32" name="Text 30"/>
          <p:cNvSpPr txBox="1"/>
          <p:nvPr/>
        </p:nvSpPr>
        <p:spPr>
          <a:xfrm>
            <a:off x="10240061" y="2743200"/>
            <a:ext cx="1329842" cy="548640"/>
          </a:xfrm>
          <a:prstGeom prst="rect">
            <a:avLst/>
          </a:prstGeom>
          <a:noFill/>
          <a:ln/>
        </p:spPr>
        <p:txBody>
          <a:bodyPr wrap="square" lIns="0" tIns="0" rIns="0" bIns="0" rtlCol="0" anchor="ctr"/>
          <a:lstStyle/>
          <a:p>
            <a:pPr algn="ctr" indent="0" marL="0">
              <a:buNone/>
            </a:pPr>
            <a:r>
              <a:rPr lang="en-US" sz="1300" b="1" dirty="0">
                <a:solidFill>
                  <a:srgbClr val="9A430A"/>
                </a:solidFill>
                <a:latin typeface="Courier New" pitchFamily="34" charset="0"/>
                <a:ea typeface="Courier New" pitchFamily="34" charset="-122"/>
                <a:cs typeface="Courier New" pitchFamily="34" charset="-120"/>
              </a:rPr>
              <a:t>6</a:t>
            </a:r>
            <a:endParaRPr lang="en-US" sz="1300" dirty="0"/>
          </a:p>
        </p:txBody>
      </p:sp>
      <p:sp>
        <p:nvSpPr>
          <p:cNvPr id="33" name="Text 31"/>
          <p:cNvSpPr txBox="1"/>
          <p:nvPr/>
        </p:nvSpPr>
        <p:spPr>
          <a:xfrm>
            <a:off x="6784848" y="3364992"/>
            <a:ext cx="640080" cy="548640"/>
          </a:xfrm>
          <a:prstGeom prst="rect">
            <a:avLst/>
          </a:prstGeom>
          <a:noFill/>
          <a:ln/>
        </p:spPr>
        <p:txBody>
          <a:bodyPr wrap="square" lIns="0" tIns="0" rIns="0" bIns="0" rtlCol="0" anchor="ctr"/>
          <a:lstStyle/>
          <a:p>
            <a:pPr algn="r" indent="0" marL="0">
              <a:buNone/>
            </a:pPr>
            <a:r>
              <a:rPr lang="en-US" sz="1000" dirty="0">
                <a:solidFill>
                  <a:srgbClr val="4B6377"/>
                </a:solidFill>
                <a:latin typeface="Courier New" pitchFamily="34" charset="0"/>
                <a:ea typeface="Courier New" pitchFamily="34" charset="-122"/>
                <a:cs typeface="Courier New" pitchFamily="34" charset="-120"/>
              </a:rPr>
              <a:t>[2]</a:t>
            </a:r>
            <a:endParaRPr lang="en-US" sz="1000" dirty="0"/>
          </a:p>
        </p:txBody>
      </p:sp>
      <p:sp>
        <p:nvSpPr>
          <p:cNvPr id="34" name="Shape 32"/>
          <p:cNvSpPr/>
          <p:nvPr/>
        </p:nvSpPr>
        <p:spPr>
          <a:xfrm>
            <a:off x="7470648" y="3364992"/>
            <a:ext cx="1329842" cy="548640"/>
          </a:xfrm>
          <a:prstGeom prst="roundRect">
            <a:avLst>
              <a:gd name="adj" fmla="val 8333"/>
            </a:avLst>
          </a:prstGeom>
          <a:solidFill>
            <a:srgbClr val="FFFFFF"/>
          </a:solidFill>
          <a:ln w="16510">
            <a:solidFill>
              <a:srgbClr val="D3DEE7"/>
            </a:solidFill>
            <a:prstDash val="solid"/>
          </a:ln>
        </p:spPr>
      </p:sp>
      <p:sp>
        <p:nvSpPr>
          <p:cNvPr id="35" name="Text 33"/>
          <p:cNvSpPr txBox="1"/>
          <p:nvPr/>
        </p:nvSpPr>
        <p:spPr>
          <a:xfrm>
            <a:off x="7470648" y="3364992"/>
            <a:ext cx="1329842" cy="548640"/>
          </a:xfrm>
          <a:prstGeom prst="rect">
            <a:avLst/>
          </a:prstGeom>
          <a:noFill/>
          <a:ln/>
        </p:spPr>
        <p:txBody>
          <a:bodyPr wrap="square" lIns="0" tIns="0" rIns="0" bIns="0" rtlCol="0" anchor="ctr"/>
          <a:lstStyle/>
          <a:p>
            <a:pPr algn="ctr" indent="0" marL="0">
              <a:buNone/>
            </a:pPr>
            <a:r>
              <a:rPr lang="en-US" sz="1300" b="1" dirty="0">
                <a:solidFill>
                  <a:srgbClr val="0F2942"/>
                </a:solidFill>
                <a:latin typeface="Courier New" pitchFamily="34" charset="0"/>
                <a:ea typeface="Courier New" pitchFamily="34" charset="-122"/>
                <a:cs typeface="Courier New" pitchFamily="34" charset="-120"/>
              </a:rPr>
              <a:t>7</a:t>
            </a:r>
            <a:endParaRPr lang="en-US" sz="1300" dirty="0"/>
          </a:p>
        </p:txBody>
      </p:sp>
      <p:sp>
        <p:nvSpPr>
          <p:cNvPr id="36" name="Shape 34"/>
          <p:cNvSpPr/>
          <p:nvPr/>
        </p:nvSpPr>
        <p:spPr>
          <a:xfrm>
            <a:off x="8855354" y="3364992"/>
            <a:ext cx="1329842" cy="548640"/>
          </a:xfrm>
          <a:prstGeom prst="roundRect">
            <a:avLst>
              <a:gd name="adj" fmla="val 8333"/>
            </a:avLst>
          </a:prstGeom>
          <a:solidFill>
            <a:srgbClr val="FFFFFF"/>
          </a:solidFill>
          <a:ln w="16510">
            <a:solidFill>
              <a:srgbClr val="D3DEE7"/>
            </a:solidFill>
            <a:prstDash val="solid"/>
          </a:ln>
        </p:spPr>
      </p:sp>
      <p:sp>
        <p:nvSpPr>
          <p:cNvPr id="37" name="Text 35"/>
          <p:cNvSpPr txBox="1"/>
          <p:nvPr/>
        </p:nvSpPr>
        <p:spPr>
          <a:xfrm>
            <a:off x="8855354" y="3364992"/>
            <a:ext cx="1329842" cy="548640"/>
          </a:xfrm>
          <a:prstGeom prst="rect">
            <a:avLst/>
          </a:prstGeom>
          <a:noFill/>
          <a:ln/>
        </p:spPr>
        <p:txBody>
          <a:bodyPr wrap="square" lIns="0" tIns="0" rIns="0" bIns="0" rtlCol="0" anchor="ctr"/>
          <a:lstStyle/>
          <a:p>
            <a:pPr algn="ctr" indent="0" marL="0">
              <a:buNone/>
            </a:pPr>
            <a:r>
              <a:rPr lang="en-US" sz="1300" b="1" dirty="0">
                <a:solidFill>
                  <a:srgbClr val="0F2942"/>
                </a:solidFill>
                <a:latin typeface="Courier New" pitchFamily="34" charset="0"/>
                <a:ea typeface="Courier New" pitchFamily="34" charset="-122"/>
                <a:cs typeface="Courier New" pitchFamily="34" charset="-120"/>
              </a:rPr>
              <a:t>8</a:t>
            </a:r>
            <a:endParaRPr lang="en-US" sz="1300" dirty="0"/>
          </a:p>
        </p:txBody>
      </p:sp>
      <p:sp>
        <p:nvSpPr>
          <p:cNvPr id="38" name="Shape 36"/>
          <p:cNvSpPr/>
          <p:nvPr/>
        </p:nvSpPr>
        <p:spPr>
          <a:xfrm>
            <a:off x="10240061" y="3364992"/>
            <a:ext cx="1329842" cy="548640"/>
          </a:xfrm>
          <a:prstGeom prst="roundRect">
            <a:avLst>
              <a:gd name="adj" fmla="val 8333"/>
            </a:avLst>
          </a:prstGeom>
          <a:solidFill>
            <a:srgbClr val="FFFFFF"/>
          </a:solidFill>
          <a:ln w="16510">
            <a:solidFill>
              <a:srgbClr val="D3DEE7"/>
            </a:solidFill>
            <a:prstDash val="solid"/>
          </a:ln>
        </p:spPr>
      </p:sp>
      <p:sp>
        <p:nvSpPr>
          <p:cNvPr id="39" name="Text 37"/>
          <p:cNvSpPr txBox="1"/>
          <p:nvPr/>
        </p:nvSpPr>
        <p:spPr>
          <a:xfrm>
            <a:off x="10240061" y="3364992"/>
            <a:ext cx="1329842" cy="548640"/>
          </a:xfrm>
          <a:prstGeom prst="rect">
            <a:avLst/>
          </a:prstGeom>
          <a:noFill/>
          <a:ln/>
        </p:spPr>
        <p:txBody>
          <a:bodyPr wrap="square" lIns="0" tIns="0" rIns="0" bIns="0" rtlCol="0" anchor="ctr"/>
          <a:lstStyle/>
          <a:p>
            <a:pPr algn="ctr" indent="0" marL="0">
              <a:buNone/>
            </a:pPr>
            <a:r>
              <a:rPr lang="en-US" sz="1300" b="1" dirty="0">
                <a:solidFill>
                  <a:srgbClr val="0F2942"/>
                </a:solidFill>
                <a:latin typeface="Courier New" pitchFamily="34" charset="0"/>
                <a:ea typeface="Courier New" pitchFamily="34" charset="-122"/>
                <a:cs typeface="Courier New" pitchFamily="34" charset="-120"/>
              </a:rPr>
              <a:t>9</a:t>
            </a:r>
            <a:endParaRPr lang="en-US" sz="1300" dirty="0"/>
          </a:p>
        </p:txBody>
      </p:sp>
      <p:sp>
        <p:nvSpPr>
          <p:cNvPr id="40" name="Text 38"/>
          <p:cNvSpPr txBox="1"/>
          <p:nvPr/>
        </p:nvSpPr>
        <p:spPr>
          <a:xfrm>
            <a:off x="6784848" y="4023360"/>
            <a:ext cx="4839919" cy="274320"/>
          </a:xfrm>
          <a:prstGeom prst="rect">
            <a:avLst/>
          </a:prstGeom>
          <a:noFill/>
          <a:ln/>
        </p:spPr>
        <p:txBody>
          <a:bodyPr wrap="square" lIns="0" tIns="0" rIns="0" bIns="0" rtlCol="0" anchor="ctr"/>
          <a:lstStyle/>
          <a:p>
            <a:pPr indent="0" marL="0">
              <a:buNone/>
            </a:pPr>
            <a:r>
              <a:rPr lang="en-US" sz="1200" i="1" dirty="0">
                <a:solidFill>
                  <a:srgbClr val="9A430A"/>
                </a:solidFill>
                <a:latin typeface="Calibri" pitchFamily="34" charset="0"/>
                <a:ea typeface="Calibri" pitchFamily="34" charset="-122"/>
                <a:cs typeface="Calibri" pitchFamily="34" charset="-120"/>
              </a:rPr>
              <a:t>array[1][2] is 6 — second row, third column</a:t>
            </a:r>
            <a:endParaRPr lang="en-US" sz="1200" dirty="0"/>
          </a:p>
        </p:txBody>
      </p:sp>
      <p:sp>
        <p:nvSpPr>
          <p:cNvPr id="41" name="Shape 39"/>
          <p:cNvSpPr/>
          <p:nvPr/>
        </p:nvSpPr>
        <p:spPr>
          <a:xfrm>
            <a:off x="6784848" y="4325112"/>
            <a:ext cx="4839919" cy="1325880"/>
          </a:xfrm>
          <a:prstGeom prst="roundRect">
            <a:avLst>
              <a:gd name="adj" fmla="val 6207"/>
            </a:avLst>
          </a:prstGeom>
          <a:solidFill>
            <a:srgbClr val="F1F5F9"/>
          </a:solidFill>
          <a:ln w="12700">
            <a:solidFill>
              <a:srgbClr val="F1F5F9"/>
            </a:solidFill>
            <a:prstDash val="solid"/>
          </a:ln>
        </p:spPr>
      </p:sp>
      <p:sp>
        <p:nvSpPr>
          <p:cNvPr id="42" name="Text 40"/>
          <p:cNvSpPr txBox="1"/>
          <p:nvPr/>
        </p:nvSpPr>
        <p:spPr>
          <a:xfrm>
            <a:off x="7004304" y="4489704"/>
            <a:ext cx="440100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There is no such thing as a 2-D array in Java</a:t>
            </a:r>
            <a:endParaRPr lang="en-US" sz="1450" dirty="0"/>
          </a:p>
        </p:txBody>
      </p:sp>
      <p:sp>
        <p:nvSpPr>
          <p:cNvPr id="43" name="Text 41"/>
          <p:cNvSpPr txBox="1"/>
          <p:nvPr/>
        </p:nvSpPr>
        <p:spPr>
          <a:xfrm>
            <a:off x="7004304" y="4818888"/>
            <a:ext cx="4401007" cy="70408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There are only arrays of arrays. array is an int[][] — an array of three int[] values, each of which is a row. That is why the shorthand nests braces, and it is what makes the next slide possible.</a:t>
            </a:r>
            <a:endParaRPr lang="en-US" sz="1200" dirty="0"/>
          </a:p>
        </p:txBody>
      </p:sp>
      <p:sp>
        <p:nvSpPr>
          <p:cNvPr id="44" name="Shape 42"/>
          <p:cNvSpPr/>
          <p:nvPr/>
        </p:nvSpPr>
        <p:spPr>
          <a:xfrm>
            <a:off x="6784848" y="5788152"/>
            <a:ext cx="4839919" cy="621792"/>
          </a:xfrm>
          <a:prstGeom prst="roundRect">
            <a:avLst>
              <a:gd name="adj" fmla="val 13235"/>
            </a:avLst>
          </a:prstGeom>
          <a:solidFill>
            <a:srgbClr val="FBEEE0"/>
          </a:solidFill>
          <a:ln w="12700">
            <a:solidFill>
              <a:srgbClr val="FBEEE0"/>
            </a:solidFill>
            <a:prstDash val="solid"/>
          </a:ln>
        </p:spPr>
      </p:sp>
      <p:sp>
        <p:nvSpPr>
          <p:cNvPr id="45" name="Text 43"/>
          <p:cNvSpPr txBox="1"/>
          <p:nvPr/>
        </p:nvSpPr>
        <p:spPr>
          <a:xfrm>
            <a:off x="7059168" y="5788152"/>
            <a:ext cx="4291279" cy="621792"/>
          </a:xfrm>
          <a:prstGeom prst="rect">
            <a:avLst/>
          </a:prstGeom>
          <a:noFill/>
          <a:ln/>
        </p:spPr>
        <p:txBody>
          <a:bodyPr wrap="square" lIns="0" tIns="0" rIns="0" bIns="0" rtlCol="0" anchor="ctr"/>
          <a:lstStyle/>
          <a:p>
            <a:pPr indent="0" marL="0">
              <a:buNone/>
            </a:pPr>
            <a:r>
              <a:rPr lang="en-US" sz="1200" b="1" dirty="0">
                <a:solidFill>
                  <a:srgbClr val="9A430A"/>
                </a:solidFill>
                <a:latin typeface="Courier New" pitchFamily="34" charset="0"/>
                <a:ea typeface="Courier New" pitchFamily="34" charset="-122"/>
                <a:cs typeface="Courier New" pitchFamily="34" charset="-120"/>
              </a:rPr>
              <a:t>int matrix[][]</a:t>
            </a:r>
            <a:pPr indent="0" marL="0">
              <a:buNone/>
            </a:pPr>
            <a:r>
              <a:rPr lang="en-US" sz="1200" dirty="0">
                <a:solidFill>
                  <a:srgbClr val="3A536B"/>
                </a:solidFill>
                <a:latin typeface="Calibri" pitchFamily="34" charset="0"/>
                <a:ea typeface="Calibri" pitchFamily="34" charset="-122"/>
                <a:cs typeface="Calibri" pitchFamily="34" charset="-120"/>
              </a:rPr>
              <a:t>  is legal and discouraged, exactly as in one dimension.</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2-D 02</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Two Lengths, and Rows That Need Not Match</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The outer length counts the rows. Each row has its own length — and they can differ.</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28</a:t>
            </a:r>
            <a:endParaRPr lang="en-US" sz="900" dirty="0"/>
          </a:p>
        </p:txBody>
      </p:sp>
      <p:sp>
        <p:nvSpPr>
          <p:cNvPr id="7" name="Shape 5"/>
          <p:cNvSpPr/>
          <p:nvPr/>
        </p:nvSpPr>
        <p:spPr>
          <a:xfrm>
            <a:off x="566928" y="1536192"/>
            <a:ext cx="5323180" cy="1541678"/>
          </a:xfrm>
          <a:prstGeom prst="roundRect">
            <a:avLst>
              <a:gd name="adj" fmla="val 4152"/>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A RECTANGULAR ARRAY</a:t>
            </a:r>
            <a:endParaRPr lang="en-US" sz="950" dirty="0"/>
          </a:p>
        </p:txBody>
      </p:sp>
      <p:sp>
        <p:nvSpPr>
          <p:cNvPr id="9" name="Text 7"/>
          <p:cNvSpPr txBox="1"/>
          <p:nvPr/>
        </p:nvSpPr>
        <p:spPr>
          <a:xfrm>
            <a:off x="731520" y="1810512"/>
            <a:ext cx="4993996" cy="1212494"/>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3 — the number of rows</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4 — the length of row 0</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4 — every row is the same here</a:t>
            </a:r>
            <a:endParaRPr lang="en-US" sz="1100" dirty="0"/>
          </a:p>
        </p:txBody>
      </p:sp>
      <p:sp>
        <p:nvSpPr>
          <p:cNvPr id="10" name="Shape 8"/>
          <p:cNvSpPr/>
          <p:nvPr/>
        </p:nvSpPr>
        <p:spPr>
          <a:xfrm>
            <a:off x="566928" y="3315614"/>
            <a:ext cx="5323180" cy="1234440"/>
          </a:xfrm>
          <a:prstGeom prst="roundRect">
            <a:avLst>
              <a:gd name="adj" fmla="val 6667"/>
            </a:avLst>
          </a:prstGeom>
          <a:solidFill>
            <a:srgbClr val="FBEAE8"/>
          </a:solidFill>
          <a:ln w="12700">
            <a:solidFill>
              <a:srgbClr val="FBEAE8"/>
            </a:solidFill>
            <a:prstDash val="solid"/>
          </a:ln>
        </p:spPr>
      </p:sp>
      <p:sp>
        <p:nvSpPr>
          <p:cNvPr id="11" name="Text 9"/>
          <p:cNvSpPr txBox="1"/>
          <p:nvPr/>
        </p:nvSpPr>
        <p:spPr>
          <a:xfrm>
            <a:off x="822960" y="3425342"/>
            <a:ext cx="4811116" cy="274320"/>
          </a:xfrm>
          <a:prstGeom prst="rect">
            <a:avLst/>
          </a:prstGeom>
          <a:noFill/>
          <a:ln/>
        </p:spPr>
        <p:txBody>
          <a:bodyPr wrap="square" lIns="0" tIns="0" rIns="0" bIns="0" rtlCol="0" anchor="ctr"/>
          <a:lstStyle/>
          <a:p>
            <a:pPr indent="0" marL="0">
              <a:buNone/>
            </a:pPr>
            <a:r>
              <a:rPr lang="en-US" sz="1350" b="1" dirty="0">
                <a:solidFill>
                  <a:srgbClr val="9C241C"/>
                </a:solidFill>
                <a:latin typeface="Calibri" pitchFamily="34" charset="0"/>
                <a:ea typeface="Calibri" pitchFamily="34" charset="-122"/>
                <a:cs typeface="Calibri" pitchFamily="34" charset="-120"/>
              </a:rPr>
              <a:t>x[0].length is not "the number of columns"</a:t>
            </a:r>
            <a:endParaRPr lang="en-US" sz="1350" dirty="0"/>
          </a:p>
        </p:txBody>
      </p:sp>
      <p:sp>
        <p:nvSpPr>
          <p:cNvPr id="12" name="Text 10"/>
          <p:cNvSpPr txBox="1"/>
          <p:nvPr/>
        </p:nvSpPr>
        <p:spPr>
          <a:xfrm>
            <a:off x="822960" y="3717950"/>
            <a:ext cx="4811116" cy="82296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It is the length of row 0, which matches the other rows only in a rectangular array. In a ragged one, using it as the inner bound is a bug.</a:t>
            </a:r>
            <a:endParaRPr lang="en-US" sz="1200" dirty="0"/>
          </a:p>
        </p:txBody>
      </p:sp>
      <p:sp>
        <p:nvSpPr>
          <p:cNvPr id="13" name="Shape 11"/>
          <p:cNvSpPr/>
          <p:nvPr/>
        </p:nvSpPr>
        <p:spPr>
          <a:xfrm>
            <a:off x="6301588" y="1536192"/>
            <a:ext cx="5323180" cy="2307397"/>
          </a:xfrm>
          <a:prstGeom prst="roundRect">
            <a:avLst>
              <a:gd name="adj" fmla="val 2774"/>
            </a:avLst>
          </a:prstGeom>
          <a:solidFill>
            <a:srgbClr val="EDF2F7"/>
          </a:solidFill>
          <a:ln w="12700">
            <a:solidFill>
              <a:srgbClr val="CFDBE5"/>
            </a:solidFill>
            <a:prstDash val="solid"/>
          </a:ln>
        </p:spPr>
      </p:sp>
      <p:sp>
        <p:nvSpPr>
          <p:cNvPr id="14" name="Text 12"/>
          <p:cNvSpPr txBox="1"/>
          <p:nvPr/>
        </p:nvSpPr>
        <p:spPr>
          <a:xfrm>
            <a:off x="644789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A RAGGED ARRAY — ROWS OF DIFFERENT LENGTHS</a:t>
            </a:r>
            <a:endParaRPr lang="en-US" sz="950" dirty="0"/>
          </a:p>
        </p:txBody>
      </p:sp>
      <p:sp>
        <p:nvSpPr>
          <p:cNvPr id="15" name="Text 13"/>
          <p:cNvSpPr txBox="1"/>
          <p:nvPr/>
        </p:nvSpPr>
        <p:spPr>
          <a:xfrm>
            <a:off x="6466180" y="1810512"/>
            <a:ext cx="4993996" cy="1978213"/>
          </a:xfrm>
          <a:prstGeom prst="rect">
            <a:avLst/>
          </a:prstGeom>
          <a:noFill/>
          <a:ln/>
        </p:spPr>
        <p:txBody>
          <a:bodyPr wrap="square" lIns="0" tIns="0" rIns="0" bIns="0" rtlCol="0" anchor="t"/>
          <a:lstStyle/>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triangle</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triangle</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415C6E"/>
                </a:solidFill>
                <a:latin typeface="Courier New" pitchFamily="34" charset="0"/>
                <a:ea typeface="Courier New" pitchFamily="34" charset="-122"/>
                <a:cs typeface="Courier New" pitchFamily="34" charset="-120"/>
              </a:rPr>
              <a:t>// 5     triangle[0].length  // 5</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triangle</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415C6E"/>
                </a:solidFill>
                <a:latin typeface="Courier New" pitchFamily="34" charset="0"/>
                <a:ea typeface="Courier New" pitchFamily="34" charset="-122"/>
                <a:cs typeface="Courier New" pitchFamily="34" charset="-120"/>
              </a:rPr>
              <a:t>// 1</a:t>
            </a:r>
            <a:endParaRPr lang="en-US" sz="1050" dirty="0"/>
          </a:p>
        </p:txBody>
      </p:sp>
      <p:sp>
        <p:nvSpPr>
          <p:cNvPr id="16" name="Shape 14"/>
          <p:cNvSpPr/>
          <p:nvPr/>
        </p:nvSpPr>
        <p:spPr>
          <a:xfrm>
            <a:off x="566928" y="4522622"/>
            <a:ext cx="5323180" cy="1057046"/>
          </a:xfrm>
          <a:prstGeom prst="roundRect">
            <a:avLst>
              <a:gd name="adj" fmla="val 6055"/>
            </a:avLst>
          </a:prstGeom>
          <a:solidFill>
            <a:srgbClr val="EDF2F7"/>
          </a:solidFill>
          <a:ln w="12700">
            <a:solidFill>
              <a:srgbClr val="CFDBE5"/>
            </a:solidFill>
            <a:prstDash val="solid"/>
          </a:ln>
        </p:spPr>
      </p:sp>
      <p:sp>
        <p:nvSpPr>
          <p:cNvPr id="17" name="Text 15"/>
          <p:cNvSpPr txBox="1"/>
          <p:nvPr/>
        </p:nvSpPr>
        <p:spPr>
          <a:xfrm>
            <a:off x="713232" y="456834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BUILDING ONE ROW AT A TIME</a:t>
            </a:r>
            <a:endParaRPr lang="en-US" sz="950" dirty="0"/>
          </a:p>
        </p:txBody>
      </p:sp>
      <p:sp>
        <p:nvSpPr>
          <p:cNvPr id="18" name="Text 16"/>
          <p:cNvSpPr txBox="1"/>
          <p:nvPr/>
        </p:nvSpPr>
        <p:spPr>
          <a:xfrm>
            <a:off x="731520" y="4796942"/>
            <a:ext cx="4993996" cy="727862"/>
          </a:xfrm>
          <a:prstGeom prst="rect">
            <a:avLst/>
          </a:prstGeom>
          <a:noFill/>
          <a:ln/>
        </p:spPr>
        <p:txBody>
          <a:bodyPr wrap="square" lIns="0" tIns="0" rIns="0" bIns="0" rtlCol="0" anchor="t"/>
          <a:lstStyle/>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ragged</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415C6E"/>
                </a:solidFill>
                <a:latin typeface="Courier New" pitchFamily="34" charset="0"/>
                <a:ea typeface="Courier New" pitchFamily="34" charset="-122"/>
                <a:cs typeface="Courier New" pitchFamily="34" charset="-120"/>
              </a:rPr>
              <a:t>// rows not created yet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ragged</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ragged</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ragged</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p:txBody>
      </p:sp>
      <p:sp>
        <p:nvSpPr>
          <p:cNvPr id="19" name="Shape 17"/>
          <p:cNvSpPr/>
          <p:nvPr/>
        </p:nvSpPr>
        <p:spPr>
          <a:xfrm>
            <a:off x="566928" y="5744261"/>
            <a:ext cx="5323180" cy="603504"/>
          </a:xfrm>
          <a:prstGeom prst="roundRect">
            <a:avLst>
              <a:gd name="adj" fmla="val 13636"/>
            </a:avLst>
          </a:prstGeom>
          <a:solidFill>
            <a:srgbClr val="E4ECF4"/>
          </a:solidFill>
          <a:ln w="12700">
            <a:solidFill>
              <a:srgbClr val="E4ECF4"/>
            </a:solidFill>
            <a:prstDash val="solid"/>
          </a:ln>
        </p:spPr>
      </p:sp>
      <p:sp>
        <p:nvSpPr>
          <p:cNvPr id="20" name="Text 18"/>
          <p:cNvSpPr txBox="1"/>
          <p:nvPr/>
        </p:nvSpPr>
        <p:spPr>
          <a:xfrm>
            <a:off x="841248" y="5744261"/>
            <a:ext cx="4774540" cy="603504"/>
          </a:xfrm>
          <a:prstGeom prst="rect">
            <a:avLst/>
          </a:prstGeom>
          <a:noFill/>
          <a:ln/>
        </p:spPr>
        <p:txBody>
          <a:bodyPr wrap="square" lIns="0" tIns="0" rIns="0" bIns="0" rtlCol="0" anchor="ctr"/>
          <a:lstStyle/>
          <a:p>
            <a:pPr indent="0" marL="0">
              <a:buNone/>
            </a:pPr>
            <a:r>
              <a:rPr lang="en-US" sz="1200" b="1" dirty="0">
                <a:solidFill>
                  <a:srgbClr val="0F2942"/>
                </a:solidFill>
                <a:latin typeface="Calibri" pitchFamily="34" charset="0"/>
                <a:ea typeface="Calibri" pitchFamily="34" charset="-122"/>
                <a:cs typeface="Calibri" pitchFamily="34" charset="-120"/>
              </a:rPr>
              <a:t>The second size may be left out.  </a:t>
            </a:r>
            <a:pPr indent="0" marL="0">
              <a:buNone/>
            </a:pPr>
            <a:r>
              <a:rPr lang="en-US" sz="1200" dirty="0">
                <a:solidFill>
                  <a:srgbClr val="3A536B"/>
                </a:solidFill>
                <a:latin typeface="Calibri" pitchFamily="34" charset="0"/>
                <a:ea typeface="Calibri" pitchFamily="34" charset="-122"/>
                <a:cs typeface="Calibri" pitchFamily="34" charset="-120"/>
              </a:rPr>
              <a:t>new int[3][] makes three null row slots.</a:t>
            </a:r>
            <a:endParaRPr lang="en-US" sz="1200" dirty="0"/>
          </a:p>
        </p:txBody>
      </p:sp>
      <p:sp>
        <p:nvSpPr>
          <p:cNvPr id="21" name="Shape 19"/>
          <p:cNvSpPr/>
          <p:nvPr/>
        </p:nvSpPr>
        <p:spPr>
          <a:xfrm>
            <a:off x="6301588" y="4081333"/>
            <a:ext cx="5323180" cy="1417320"/>
          </a:xfrm>
          <a:prstGeom prst="roundRect">
            <a:avLst>
              <a:gd name="adj" fmla="val 5806"/>
            </a:avLst>
          </a:prstGeom>
          <a:solidFill>
            <a:srgbClr val="E6F2EC"/>
          </a:solidFill>
          <a:ln w="12700">
            <a:solidFill>
              <a:srgbClr val="E6F2EC"/>
            </a:solidFill>
            <a:prstDash val="solid"/>
          </a:ln>
        </p:spPr>
      </p:sp>
      <p:sp>
        <p:nvSpPr>
          <p:cNvPr id="22" name="Text 20"/>
          <p:cNvSpPr txBox="1"/>
          <p:nvPr/>
        </p:nvSpPr>
        <p:spPr>
          <a:xfrm>
            <a:off x="6557620" y="4191061"/>
            <a:ext cx="4811116" cy="274320"/>
          </a:xfrm>
          <a:prstGeom prst="rect">
            <a:avLst/>
          </a:prstGeom>
          <a:noFill/>
          <a:ln/>
        </p:spPr>
        <p:txBody>
          <a:bodyPr wrap="square" lIns="0" tIns="0" rIns="0" bIns="0" rtlCol="0" anchor="ctr"/>
          <a:lstStyle/>
          <a:p>
            <a:pPr indent="0" marL="0">
              <a:buNone/>
            </a:pPr>
            <a:r>
              <a:rPr lang="en-US" sz="1350" b="1" dirty="0">
                <a:solidFill>
                  <a:srgbClr val="176240"/>
                </a:solidFill>
                <a:latin typeface="Calibri" pitchFamily="34" charset="0"/>
                <a:ea typeface="Calibri" pitchFamily="34" charset="-122"/>
                <a:cs typeface="Calibri" pitchFamily="34" charset="-120"/>
              </a:rPr>
              <a:t>Always use matrix[row].length in the inner loop</a:t>
            </a:r>
            <a:endParaRPr lang="en-US" sz="1350" dirty="0"/>
          </a:p>
        </p:txBody>
      </p:sp>
      <p:sp>
        <p:nvSpPr>
          <p:cNvPr id="23" name="Text 21"/>
          <p:cNvSpPr txBox="1"/>
          <p:nvPr/>
        </p:nvSpPr>
        <p:spPr>
          <a:xfrm>
            <a:off x="6557620" y="4483669"/>
            <a:ext cx="4811116" cy="100584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Never matrix[0].length. It costs nothing, it is correct for rectangular arrays too, and it is the difference between code that works on a triangle and code that throws.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2-D 03</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Nested Loops, One Per Dimension</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The outer loop walks the rows; the inner loop walks that row. Every idiom from Part 01 gains a second loop.</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29</a:t>
            </a:r>
            <a:endParaRPr lang="en-US" sz="900" dirty="0"/>
          </a:p>
        </p:txBody>
      </p:sp>
      <p:sp>
        <p:nvSpPr>
          <p:cNvPr id="7" name="Text 5"/>
          <p:cNvSpPr txBox="1"/>
          <p:nvPr/>
        </p:nvSpPr>
        <p:spPr>
          <a:xfrm>
            <a:off x="566928" y="1536192"/>
            <a:ext cx="5323180" cy="256032"/>
          </a:xfrm>
          <a:prstGeom prst="rect">
            <a:avLst/>
          </a:prstGeom>
          <a:noFill/>
          <a:ln/>
        </p:spPr>
        <p:txBody>
          <a:bodyPr wrap="square" lIns="0" tIns="0" rIns="0" bIns="0" rtlCol="0" anchor="ctr"/>
          <a:lstStyle/>
          <a:p>
            <a:pPr indent="0" marL="0">
              <a:buNone/>
            </a:pPr>
            <a:r>
              <a:rPr lang="en-US" sz="1250" b="1" dirty="0">
                <a:solidFill>
                  <a:srgbClr val="0F2942"/>
                </a:solidFill>
                <a:latin typeface="Calibri" pitchFamily="34" charset="0"/>
                <a:ea typeface="Calibri" pitchFamily="34" charset="-122"/>
                <a:cs typeface="Calibri" pitchFamily="34" charset="-120"/>
              </a:rPr>
              <a:t>Print every element</a:t>
            </a:r>
            <a:endParaRPr lang="en-US" sz="1250" dirty="0"/>
          </a:p>
        </p:txBody>
      </p:sp>
      <p:sp>
        <p:nvSpPr>
          <p:cNvPr id="8" name="Shape 6"/>
          <p:cNvSpPr/>
          <p:nvPr/>
        </p:nvSpPr>
        <p:spPr>
          <a:xfrm>
            <a:off x="566928" y="1810512"/>
            <a:ext cx="5323180" cy="1346911"/>
          </a:xfrm>
          <a:prstGeom prst="roundRect">
            <a:avLst>
              <a:gd name="adj" fmla="val 4752"/>
            </a:avLst>
          </a:prstGeom>
          <a:solidFill>
            <a:srgbClr val="EDF2F7"/>
          </a:solidFill>
          <a:ln w="12700">
            <a:solidFill>
              <a:srgbClr val="CFDBE5"/>
            </a:solidFill>
            <a:prstDash val="solid"/>
          </a:ln>
        </p:spPr>
      </p:sp>
      <p:sp>
        <p:nvSpPr>
          <p:cNvPr id="9" name="Text 7"/>
          <p:cNvSpPr txBox="1"/>
          <p:nvPr/>
        </p:nvSpPr>
        <p:spPr>
          <a:xfrm>
            <a:off x="731520" y="1947672"/>
            <a:ext cx="4993996" cy="1145743"/>
          </a:xfrm>
          <a:prstGeom prst="rect">
            <a:avLst/>
          </a:prstGeom>
          <a:noFill/>
          <a:ln/>
        </p:spPr>
        <p:txBody>
          <a:bodyPr wrap="square" lIns="0" tIns="0" rIns="0" bIns="0" rtlCol="0" anchor="t"/>
          <a:lstStyle/>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10" name="Text 8"/>
          <p:cNvSpPr txBox="1"/>
          <p:nvPr/>
        </p:nvSpPr>
        <p:spPr>
          <a:xfrm>
            <a:off x="566928" y="3431743"/>
            <a:ext cx="5323180" cy="256032"/>
          </a:xfrm>
          <a:prstGeom prst="rect">
            <a:avLst/>
          </a:prstGeom>
          <a:noFill/>
          <a:ln/>
        </p:spPr>
        <p:txBody>
          <a:bodyPr wrap="square" lIns="0" tIns="0" rIns="0" bIns="0" rtlCol="0" anchor="ctr"/>
          <a:lstStyle/>
          <a:p>
            <a:pPr indent="0" marL="0">
              <a:buNone/>
            </a:pPr>
            <a:r>
              <a:rPr lang="en-US" sz="1250" b="1" dirty="0">
                <a:solidFill>
                  <a:srgbClr val="0F2942"/>
                </a:solidFill>
                <a:latin typeface="Calibri" pitchFamily="34" charset="0"/>
                <a:ea typeface="Calibri" pitchFamily="34" charset="-122"/>
                <a:cs typeface="Calibri" pitchFamily="34" charset="-120"/>
              </a:rPr>
              <a:t>Sum every element</a:t>
            </a:r>
            <a:endParaRPr lang="en-US" sz="1250" dirty="0"/>
          </a:p>
        </p:txBody>
      </p:sp>
      <p:sp>
        <p:nvSpPr>
          <p:cNvPr id="11" name="Shape 9"/>
          <p:cNvSpPr/>
          <p:nvPr/>
        </p:nvSpPr>
        <p:spPr>
          <a:xfrm>
            <a:off x="566928" y="3706063"/>
            <a:ext cx="5323180" cy="1143366"/>
          </a:xfrm>
          <a:prstGeom prst="roundRect">
            <a:avLst>
              <a:gd name="adj" fmla="val 5598"/>
            </a:avLst>
          </a:prstGeom>
          <a:solidFill>
            <a:srgbClr val="EDF2F7"/>
          </a:solidFill>
          <a:ln w="12700">
            <a:solidFill>
              <a:srgbClr val="CFDBE5"/>
            </a:solidFill>
            <a:prstDash val="solid"/>
          </a:ln>
        </p:spPr>
      </p:sp>
      <p:sp>
        <p:nvSpPr>
          <p:cNvPr id="12" name="Text 10"/>
          <p:cNvSpPr txBox="1"/>
          <p:nvPr/>
        </p:nvSpPr>
        <p:spPr>
          <a:xfrm>
            <a:off x="731520" y="3843223"/>
            <a:ext cx="4993996" cy="942198"/>
          </a:xfrm>
          <a:prstGeom prst="rect">
            <a:avLst/>
          </a:prstGeom>
          <a:noFill/>
          <a:ln/>
        </p:spPr>
        <p:txBody>
          <a:bodyPr wrap="square" lIns="0" tIns="0" rIns="0" bIns="0" rtlCol="0" anchor="t"/>
          <a:lstStyle/>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total</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total</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13" name="Text 11"/>
          <p:cNvSpPr txBox="1"/>
          <p:nvPr/>
        </p:nvSpPr>
        <p:spPr>
          <a:xfrm>
            <a:off x="6301588" y="1536192"/>
            <a:ext cx="5323180" cy="256032"/>
          </a:xfrm>
          <a:prstGeom prst="rect">
            <a:avLst/>
          </a:prstGeom>
          <a:noFill/>
          <a:ln/>
        </p:spPr>
        <p:txBody>
          <a:bodyPr wrap="square" lIns="0" tIns="0" rIns="0" bIns="0" rtlCol="0" anchor="ctr"/>
          <a:lstStyle/>
          <a:p>
            <a:pPr indent="0" marL="0">
              <a:buNone/>
            </a:pPr>
            <a:r>
              <a:rPr lang="en-US" sz="1250" b="1" dirty="0">
                <a:solidFill>
                  <a:srgbClr val="0F2942"/>
                </a:solidFill>
                <a:latin typeface="Calibri" pitchFamily="34" charset="0"/>
                <a:ea typeface="Calibri" pitchFamily="34" charset="-122"/>
                <a:cs typeface="Calibri" pitchFamily="34" charset="-120"/>
              </a:rPr>
              <a:t>Fill with random values</a:t>
            </a:r>
            <a:endParaRPr lang="en-US" sz="1250" dirty="0"/>
          </a:p>
        </p:txBody>
      </p:sp>
      <p:sp>
        <p:nvSpPr>
          <p:cNvPr id="14" name="Shape 12"/>
          <p:cNvSpPr/>
          <p:nvPr/>
        </p:nvSpPr>
        <p:spPr>
          <a:xfrm>
            <a:off x="6301588" y="1810512"/>
            <a:ext cx="5323180" cy="939820"/>
          </a:xfrm>
          <a:prstGeom prst="roundRect">
            <a:avLst>
              <a:gd name="adj" fmla="val 6811"/>
            </a:avLst>
          </a:prstGeom>
          <a:solidFill>
            <a:srgbClr val="EDF2F7"/>
          </a:solidFill>
          <a:ln w="12700">
            <a:solidFill>
              <a:srgbClr val="CFDBE5"/>
            </a:solidFill>
            <a:prstDash val="solid"/>
          </a:ln>
        </p:spPr>
      </p:sp>
      <p:sp>
        <p:nvSpPr>
          <p:cNvPr id="15" name="Text 13"/>
          <p:cNvSpPr txBox="1"/>
          <p:nvPr/>
        </p:nvSpPr>
        <p:spPr>
          <a:xfrm>
            <a:off x="6466180" y="1947672"/>
            <a:ext cx="4993996" cy="738652"/>
          </a:xfrm>
          <a:prstGeom prst="rect">
            <a:avLst/>
          </a:prstGeom>
          <a:noFill/>
          <a:ln/>
        </p:spPr>
        <p:txBody>
          <a:bodyPr wrap="square" lIns="0" tIns="0" rIns="0" bIns="0" rtlCol="0" anchor="t"/>
          <a:lstStyle/>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random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100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16" name="Text 14"/>
          <p:cNvSpPr txBox="1"/>
          <p:nvPr/>
        </p:nvSpPr>
        <p:spPr>
          <a:xfrm>
            <a:off x="6301588" y="3024652"/>
            <a:ext cx="5323180" cy="256032"/>
          </a:xfrm>
          <a:prstGeom prst="rect">
            <a:avLst/>
          </a:prstGeom>
          <a:noFill/>
          <a:ln/>
        </p:spPr>
        <p:txBody>
          <a:bodyPr wrap="square" lIns="0" tIns="0" rIns="0" bIns="0" rtlCol="0" anchor="ctr"/>
          <a:lstStyle/>
          <a:p>
            <a:pPr indent="0" marL="0">
              <a:buNone/>
            </a:pPr>
            <a:r>
              <a:rPr lang="en-US" sz="1250" b="1" dirty="0">
                <a:solidFill>
                  <a:srgbClr val="0F2942"/>
                </a:solidFill>
                <a:latin typeface="Calibri" pitchFamily="34" charset="0"/>
                <a:ea typeface="Calibri" pitchFamily="34" charset="-122"/>
                <a:cs typeface="Calibri" pitchFamily="34" charset="-120"/>
              </a:rPr>
              <a:t>Sum each column separately</a:t>
            </a:r>
            <a:endParaRPr lang="en-US" sz="1250" dirty="0"/>
          </a:p>
        </p:txBody>
      </p:sp>
      <p:sp>
        <p:nvSpPr>
          <p:cNvPr id="17" name="Shape 15"/>
          <p:cNvSpPr/>
          <p:nvPr/>
        </p:nvSpPr>
        <p:spPr>
          <a:xfrm>
            <a:off x="6301588" y="3298972"/>
            <a:ext cx="5323180" cy="1550457"/>
          </a:xfrm>
          <a:prstGeom prst="roundRect">
            <a:avLst>
              <a:gd name="adj" fmla="val 4128"/>
            </a:avLst>
          </a:prstGeom>
          <a:solidFill>
            <a:srgbClr val="EDF2F7"/>
          </a:solidFill>
          <a:ln w="12700">
            <a:solidFill>
              <a:srgbClr val="CFDBE5"/>
            </a:solidFill>
            <a:prstDash val="solid"/>
          </a:ln>
        </p:spPr>
      </p:sp>
      <p:sp>
        <p:nvSpPr>
          <p:cNvPr id="18" name="Text 16"/>
          <p:cNvSpPr txBox="1"/>
          <p:nvPr/>
        </p:nvSpPr>
        <p:spPr>
          <a:xfrm>
            <a:off x="6466180" y="3436132"/>
            <a:ext cx="4993996" cy="1349289"/>
          </a:xfrm>
          <a:prstGeom prst="rect">
            <a:avLst/>
          </a:prstGeom>
          <a:noFill/>
          <a:ln/>
        </p:spPr>
        <p:txBody>
          <a:bodyPr wrap="square" lIns="0" tIns="0" rIns="0" bIns="0" rtlCol="0" anchor="t"/>
          <a:lstStyle/>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total</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total</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614A"/>
                </a:solidFill>
                <a:latin typeface="Courier New" pitchFamily="34" charset="0"/>
                <a:ea typeface="Courier New" pitchFamily="34" charset="-122"/>
                <a:cs typeface="Courier New" pitchFamily="34" charset="-120"/>
              </a:rPr>
              <a:t>"Col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total</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19" name="Shape 17"/>
          <p:cNvSpPr/>
          <p:nvPr/>
        </p:nvSpPr>
        <p:spPr>
          <a:xfrm>
            <a:off x="566928" y="5142037"/>
            <a:ext cx="5323180" cy="868680"/>
          </a:xfrm>
          <a:prstGeom prst="roundRect">
            <a:avLst>
              <a:gd name="adj" fmla="val 9474"/>
            </a:avLst>
          </a:prstGeom>
          <a:solidFill>
            <a:srgbClr val="FBEEE0"/>
          </a:solidFill>
          <a:ln w="12700">
            <a:solidFill>
              <a:srgbClr val="FBEEE0"/>
            </a:solidFill>
            <a:prstDash val="solid"/>
          </a:ln>
        </p:spPr>
      </p:sp>
      <p:sp>
        <p:nvSpPr>
          <p:cNvPr id="20" name="Text 18"/>
          <p:cNvSpPr txBox="1"/>
          <p:nvPr/>
        </p:nvSpPr>
        <p:spPr>
          <a:xfrm>
            <a:off x="841248" y="5142037"/>
            <a:ext cx="4774540" cy="868680"/>
          </a:xfrm>
          <a:prstGeom prst="rect">
            <a:avLst/>
          </a:prstGeom>
          <a:noFill/>
          <a:ln/>
        </p:spPr>
        <p:txBody>
          <a:bodyPr wrap="square" lIns="0" tIns="0" rIns="0" bIns="0" rtlCol="0" anchor="ctr"/>
          <a:lstStyle/>
          <a:p>
            <a:pPr indent="0" marL="0">
              <a:lnSpc>
                <a:spcPct val="110000"/>
              </a:lnSpc>
              <a:buNone/>
            </a:pPr>
            <a:r>
              <a:rPr lang="en-US" sz="1200" b="1" dirty="0">
                <a:solidFill>
                  <a:srgbClr val="9A430A"/>
                </a:solidFill>
                <a:latin typeface="Calibri" pitchFamily="34" charset="0"/>
                <a:ea typeface="Calibri" pitchFamily="34" charset="-122"/>
                <a:cs typeface="Calibri" pitchFamily="34" charset="-120"/>
              </a:rPr>
              <a:t>Summing by column swaps the loops.  </a:t>
            </a:r>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Column outside, row inside — and m[0].length is right here only because the array is rectangular.</a:t>
            </a:r>
            <a:endParaRPr lang="en-US" sz="1200" dirty="0"/>
          </a:p>
        </p:txBody>
      </p:sp>
      <p:sp>
        <p:nvSpPr>
          <p:cNvPr id="21" name="Shape 19"/>
          <p:cNvSpPr/>
          <p:nvPr/>
        </p:nvSpPr>
        <p:spPr>
          <a:xfrm>
            <a:off x="6301588" y="5142037"/>
            <a:ext cx="5323180" cy="868680"/>
          </a:xfrm>
          <a:prstGeom prst="roundRect">
            <a:avLst>
              <a:gd name="adj" fmla="val 9474"/>
            </a:avLst>
          </a:prstGeom>
          <a:solidFill>
            <a:srgbClr val="E6F2EC"/>
          </a:solidFill>
          <a:ln w="12700">
            <a:solidFill>
              <a:srgbClr val="E6F2EC"/>
            </a:solidFill>
            <a:prstDash val="solid"/>
          </a:ln>
        </p:spPr>
      </p:sp>
      <p:sp>
        <p:nvSpPr>
          <p:cNvPr id="22" name="Text 20"/>
          <p:cNvSpPr txBox="1"/>
          <p:nvPr/>
        </p:nvSpPr>
        <p:spPr>
          <a:xfrm>
            <a:off x="6575908" y="5142037"/>
            <a:ext cx="4774540" cy="868680"/>
          </a:xfrm>
          <a:prstGeom prst="rect">
            <a:avLst/>
          </a:prstGeom>
          <a:noFill/>
          <a:ln/>
        </p:spPr>
        <p:txBody>
          <a:bodyPr wrap="square" lIns="0" tIns="0" rIns="0" bIns="0" rtlCol="0" anchor="ctr"/>
          <a:lstStyle/>
          <a:p>
            <a:pPr indent="0" marL="0">
              <a:lnSpc>
                <a:spcPct val="110000"/>
              </a:lnSpc>
              <a:buNone/>
            </a:pPr>
            <a:r>
              <a:rPr lang="en-US" sz="1200" b="1" dirty="0">
                <a:solidFill>
                  <a:srgbClr val="176240"/>
                </a:solidFill>
                <a:latin typeface="Courier New" pitchFamily="34" charset="0"/>
                <a:ea typeface="Courier New" pitchFamily="34" charset="-122"/>
                <a:cs typeface="Courier New" pitchFamily="34" charset="-120"/>
              </a:rPr>
              <a:t>Arrays.deepToString(m)</a:t>
            </a:r>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  prints the whole table. Arrays.toString would print the rows' addresses.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WORKED EXAMPLE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Grading a Multiple-Choice Test</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Eight students, ten questions. One 2-D array of answers, one 1-D array of keys.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30</a:t>
            </a:r>
            <a:endParaRPr lang="en-US" sz="900" dirty="0"/>
          </a:p>
        </p:txBody>
      </p:sp>
      <p:sp>
        <p:nvSpPr>
          <p:cNvPr id="7" name="Shape 5"/>
          <p:cNvSpPr/>
          <p:nvPr/>
        </p:nvSpPr>
        <p:spPr>
          <a:xfrm>
            <a:off x="566928" y="1536192"/>
            <a:ext cx="5943600" cy="3577133"/>
          </a:xfrm>
          <a:prstGeom prst="roundRect">
            <a:avLst>
              <a:gd name="adj" fmla="val 1789"/>
            </a:avLst>
          </a:prstGeom>
          <a:solidFill>
            <a:srgbClr val="EDF2F7"/>
          </a:solidFill>
          <a:ln w="12700">
            <a:solidFill>
              <a:srgbClr val="CFDBE5"/>
            </a:solidFill>
            <a:prstDash val="solid"/>
          </a:ln>
        </p:spPr>
      </p:sp>
      <p:sp>
        <p:nvSpPr>
          <p:cNvPr id="8" name="Text 6"/>
          <p:cNvSpPr txBox="1"/>
          <p:nvPr/>
        </p:nvSpPr>
        <p:spPr>
          <a:xfrm>
            <a:off x="713232" y="1581912"/>
            <a:ext cx="565099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GradeExam.java</a:t>
            </a:r>
            <a:endParaRPr lang="en-US" sz="950" dirty="0"/>
          </a:p>
        </p:txBody>
      </p:sp>
      <p:sp>
        <p:nvSpPr>
          <p:cNvPr id="9" name="Text 7"/>
          <p:cNvSpPr txBox="1"/>
          <p:nvPr/>
        </p:nvSpPr>
        <p:spPr>
          <a:xfrm>
            <a:off x="731520" y="1810512"/>
            <a:ext cx="5614416" cy="3247949"/>
          </a:xfrm>
          <a:prstGeom prst="rect">
            <a:avLst/>
          </a:prstGeom>
          <a:noFill/>
          <a:ln/>
        </p:spPr>
        <p:txBody>
          <a:bodyPr wrap="square" lIns="0" tIns="0" rIns="0" bIns="0" rtlCol="0" anchor="t"/>
          <a:lstStyle/>
          <a:p>
            <a:pPr indent="0" marL="0">
              <a:lnSpc>
                <a:spcPct val="112000"/>
              </a:lnSpc>
              <a:buNone/>
            </a:pPr>
            <a:r>
              <a:rPr lang="en-US" sz="1000" dirty="0">
                <a:solidFill>
                  <a:srgbClr val="415C6E"/>
                </a:solidFill>
                <a:latin typeface="Courier New" pitchFamily="34" charset="0"/>
                <a:ea typeface="Courier New" pitchFamily="34" charset="-122"/>
                <a:cs typeface="Courier New" pitchFamily="34" charset="-120"/>
              </a:rPr>
              <a:t>// each row is one student, each column one question</a:t>
            </a:r>
            <a:endParaRPr lang="en-US" sz="1000" dirty="0"/>
          </a:p>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char</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answers</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char</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keys</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answers</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correct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answers</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answers</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keys</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correct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614A"/>
                </a:solidFill>
                <a:latin typeface="Courier New" pitchFamily="34" charset="0"/>
                <a:ea typeface="Courier New" pitchFamily="34" charset="-122"/>
                <a:cs typeface="Courier New" pitchFamily="34" charset="-120"/>
              </a:rPr>
              <a:t>"Student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correct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6967728" y="1536192"/>
            <a:ext cx="4657039" cy="1103909"/>
          </a:xfrm>
          <a:prstGeom prst="roundRect">
            <a:avLst>
              <a:gd name="adj" fmla="val 5798"/>
            </a:avLst>
          </a:prstGeom>
          <a:solidFill>
            <a:srgbClr val="FFFFFF"/>
          </a:solidFill>
          <a:ln w="12700">
            <a:solidFill>
              <a:srgbClr val="4B6377"/>
            </a:solidFill>
            <a:prstDash val="solid"/>
          </a:ln>
        </p:spPr>
      </p:sp>
      <p:sp>
        <p:nvSpPr>
          <p:cNvPr id="11" name="Text 9"/>
          <p:cNvSpPr txBox="1"/>
          <p:nvPr/>
        </p:nvSpPr>
        <p:spPr>
          <a:xfrm>
            <a:off x="7114032" y="1609344"/>
            <a:ext cx="436443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114032" y="1810512"/>
            <a:ext cx="4364431" cy="738149"/>
          </a:xfrm>
          <a:prstGeom prst="rect">
            <a:avLst/>
          </a:prstGeom>
          <a:noFill/>
          <a:ln/>
        </p:spPr>
        <p:txBody>
          <a:bodyPr wrap="square" lIns="0" tIns="0" rIns="0" bIns="0" rtlCol="0" anchor="t"/>
          <a:lstStyle/>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Student 0: 7</a:t>
            </a:r>
            <a:endParaRPr lang="en-US" sz="1150" dirty="0"/>
          </a:p>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Student 1: 6</a:t>
            </a:r>
            <a:endParaRPr lang="en-US" sz="1150" dirty="0"/>
          </a:p>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Student 2: 5</a:t>
            </a:r>
            <a:endParaRPr lang="en-US" sz="1150" dirty="0"/>
          </a:p>
        </p:txBody>
      </p:sp>
      <p:sp>
        <p:nvSpPr>
          <p:cNvPr id="13" name="Shape 11"/>
          <p:cNvSpPr/>
          <p:nvPr/>
        </p:nvSpPr>
        <p:spPr>
          <a:xfrm>
            <a:off x="6967728" y="2816352"/>
            <a:ext cx="4657039" cy="1874520"/>
          </a:xfrm>
          <a:prstGeom prst="roundRect">
            <a:avLst>
              <a:gd name="adj" fmla="val 4390"/>
            </a:avLst>
          </a:prstGeom>
          <a:solidFill>
            <a:srgbClr val="F1F5F9"/>
          </a:solidFill>
          <a:ln w="12700">
            <a:solidFill>
              <a:srgbClr val="F1F5F9"/>
            </a:solidFill>
            <a:prstDash val="solid"/>
          </a:ln>
        </p:spPr>
      </p:sp>
      <p:sp>
        <p:nvSpPr>
          <p:cNvPr id="14" name="Text 12"/>
          <p:cNvSpPr txBox="1"/>
          <p:nvPr/>
        </p:nvSpPr>
        <p:spPr>
          <a:xfrm>
            <a:off x="7187184" y="2980944"/>
            <a:ext cx="421812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Two arrays of different shapes, working together</a:t>
            </a:r>
            <a:endParaRPr lang="en-US" sz="1450" dirty="0"/>
          </a:p>
        </p:txBody>
      </p:sp>
      <p:sp>
        <p:nvSpPr>
          <p:cNvPr id="15" name="Text 13"/>
          <p:cNvSpPr txBox="1"/>
          <p:nvPr/>
        </p:nvSpPr>
        <p:spPr>
          <a:xfrm>
            <a:off x="7187184" y="3310128"/>
            <a:ext cx="4218127" cy="125272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answers is 2-D and keys is 1-D, and the inner index j addresses both — column j of the answers and question j of the key. That only works because the columns and the keys mean the same thing.</a:t>
            </a:r>
            <a:endParaRPr lang="en-US" sz="1200" dirty="0"/>
          </a:p>
        </p:txBody>
      </p:sp>
      <p:sp>
        <p:nvSpPr>
          <p:cNvPr id="16" name="Shape 14"/>
          <p:cNvSpPr/>
          <p:nvPr/>
        </p:nvSpPr>
        <p:spPr>
          <a:xfrm>
            <a:off x="6967728" y="4873752"/>
            <a:ext cx="4657039" cy="1463040"/>
          </a:xfrm>
          <a:prstGeom prst="roundRect">
            <a:avLst>
              <a:gd name="adj" fmla="val 5625"/>
            </a:avLst>
          </a:prstGeom>
          <a:solidFill>
            <a:srgbClr val="E4ECF4"/>
          </a:solidFill>
          <a:ln w="12700">
            <a:solidFill>
              <a:srgbClr val="E4ECF4"/>
            </a:solidFill>
            <a:prstDash val="solid"/>
          </a:ln>
        </p:spPr>
      </p:sp>
      <p:sp>
        <p:nvSpPr>
          <p:cNvPr id="17" name="Text 15"/>
          <p:cNvSpPr txBox="1"/>
          <p:nvPr/>
        </p:nvSpPr>
        <p:spPr>
          <a:xfrm>
            <a:off x="7223760" y="5001768"/>
            <a:ext cx="4144975"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The counter is declared inside the outer loop</a:t>
            </a:r>
            <a:endParaRPr lang="en-US" sz="1350" dirty="0"/>
          </a:p>
        </p:txBody>
      </p:sp>
      <p:sp>
        <p:nvSpPr>
          <p:cNvPr id="18" name="Text 16"/>
          <p:cNvSpPr txBox="1"/>
          <p:nvPr/>
        </p:nvSpPr>
        <p:spPr>
          <a:xfrm>
            <a:off x="7223760" y="5294376"/>
            <a:ext cx="4144975" cy="9601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So it starts at 0 again for every student. Declaring it outside is the classic bug here — the scores then accumulate across the whole class.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WORKED EXAMPLE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Checking a Sudoku Solution</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Three conditions over one 9 × 9 grid. A problem that is genuinely about two dimensions.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31</a:t>
            </a:r>
            <a:endParaRPr lang="en-US" sz="900" dirty="0"/>
          </a:p>
        </p:txBody>
      </p:sp>
      <p:sp>
        <p:nvSpPr>
          <p:cNvPr id="7" name="Shape 5"/>
          <p:cNvSpPr/>
          <p:nvPr/>
        </p:nvSpPr>
        <p:spPr>
          <a:xfrm>
            <a:off x="566928" y="1536192"/>
            <a:ext cx="5394960" cy="804672"/>
          </a:xfrm>
          <a:prstGeom prst="roundRect">
            <a:avLst>
              <a:gd name="adj" fmla="val 10227"/>
            </a:avLst>
          </a:prstGeom>
          <a:solidFill>
            <a:srgbClr val="F1F5F9"/>
          </a:solidFill>
          <a:ln w="12700">
            <a:solidFill>
              <a:srgbClr val="F1F5F9"/>
            </a:solidFill>
            <a:prstDash val="solid"/>
          </a:ln>
        </p:spPr>
      </p:sp>
      <p:sp>
        <p:nvSpPr>
          <p:cNvPr id="8" name="Shape 6"/>
          <p:cNvSpPr/>
          <p:nvPr/>
        </p:nvSpPr>
        <p:spPr>
          <a:xfrm>
            <a:off x="768096" y="1746504"/>
            <a:ext cx="384048" cy="384048"/>
          </a:xfrm>
          <a:prstGeom prst="ellipse">
            <a:avLst/>
          </a:prstGeom>
          <a:solidFill>
            <a:srgbClr val="C4560C"/>
          </a:solidFill>
          <a:ln w="12700">
            <a:solidFill>
              <a:srgbClr val="C4560C"/>
            </a:solidFill>
            <a:prstDash val="solid"/>
          </a:ln>
        </p:spPr>
      </p:sp>
      <p:sp>
        <p:nvSpPr>
          <p:cNvPr id="9" name="Text 7"/>
          <p:cNvSpPr txBox="1"/>
          <p:nvPr/>
        </p:nvSpPr>
        <p:spPr>
          <a:xfrm>
            <a:off x="768096" y="17465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298448" y="1636776"/>
            <a:ext cx="4434840" cy="274320"/>
          </a:xfrm>
          <a:prstGeom prst="rect">
            <a:avLst/>
          </a:prstGeom>
          <a:noFill/>
          <a:ln/>
        </p:spPr>
        <p:txBody>
          <a:bodyPr wrap="square" lIns="0" tIns="0" rIns="0" bIns="0" rtlCol="0" anchor="ctr"/>
          <a:lstStyle/>
          <a:p>
            <a:pPr indent="0" marL="0">
              <a:buNone/>
            </a:pPr>
            <a:r>
              <a:rPr lang="en-US" sz="1300" b="1" dirty="0">
                <a:solidFill>
                  <a:srgbClr val="0F2942"/>
                </a:solidFill>
                <a:latin typeface="Calibri" pitchFamily="34" charset="0"/>
                <a:ea typeface="Calibri" pitchFamily="34" charset="-122"/>
                <a:cs typeface="Calibri" pitchFamily="34" charset="-120"/>
              </a:rPr>
              <a:t>Every row holds 1 to 9</a:t>
            </a:r>
            <a:endParaRPr lang="en-US" sz="1300" dirty="0"/>
          </a:p>
        </p:txBody>
      </p:sp>
      <p:sp>
        <p:nvSpPr>
          <p:cNvPr id="11" name="Text 9"/>
          <p:cNvSpPr txBox="1"/>
          <p:nvPr/>
        </p:nvSpPr>
        <p:spPr>
          <a:xfrm>
            <a:off x="1298448" y="1920240"/>
            <a:ext cx="4434840" cy="420624"/>
          </a:xfrm>
          <a:prstGeom prst="rect">
            <a:avLst/>
          </a:prstGeom>
          <a:noFill/>
          <a:ln/>
        </p:spPr>
        <p:txBody>
          <a:bodyPr wrap="square" lIns="0" tIns="0" rIns="0" bIns="0" rtlCol="0" anchor="t"/>
          <a:lstStyle/>
          <a:p>
            <a:pPr indent="0" marL="0">
              <a:lnSpc>
                <a:spcPct val="106000"/>
              </a:lnSpc>
              <a:buNone/>
            </a:pPr>
            <a:r>
              <a:rPr lang="en-US" sz="1150" dirty="0">
                <a:solidFill>
                  <a:srgbClr val="3A536B"/>
                </a:solidFill>
                <a:latin typeface="Calibri" pitchFamily="34" charset="0"/>
                <a:ea typeface="Calibri" pitchFamily="34" charset="-122"/>
                <a:cs typeface="Calibri" pitchFamily="34" charset="-120"/>
              </a:rPr>
              <a:t>walk one row, tick off what you find</a:t>
            </a:r>
            <a:endParaRPr lang="en-US" sz="1150" dirty="0"/>
          </a:p>
        </p:txBody>
      </p:sp>
      <p:sp>
        <p:nvSpPr>
          <p:cNvPr id="12" name="Shape 10"/>
          <p:cNvSpPr/>
          <p:nvPr/>
        </p:nvSpPr>
        <p:spPr>
          <a:xfrm>
            <a:off x="566928" y="2414016"/>
            <a:ext cx="5394960" cy="804672"/>
          </a:xfrm>
          <a:prstGeom prst="roundRect">
            <a:avLst>
              <a:gd name="adj" fmla="val 10227"/>
            </a:avLst>
          </a:prstGeom>
          <a:solidFill>
            <a:srgbClr val="FFFFFF"/>
          </a:solidFill>
          <a:ln w="12700">
            <a:solidFill>
              <a:srgbClr val="D3DEE7"/>
            </a:solidFill>
            <a:prstDash val="solid"/>
          </a:ln>
        </p:spPr>
      </p:sp>
      <p:sp>
        <p:nvSpPr>
          <p:cNvPr id="13" name="Shape 11"/>
          <p:cNvSpPr/>
          <p:nvPr/>
        </p:nvSpPr>
        <p:spPr>
          <a:xfrm>
            <a:off x="768096" y="2624328"/>
            <a:ext cx="384048" cy="384048"/>
          </a:xfrm>
          <a:prstGeom prst="ellipse">
            <a:avLst/>
          </a:prstGeom>
          <a:solidFill>
            <a:srgbClr val="C4560C"/>
          </a:solidFill>
          <a:ln w="12700">
            <a:solidFill>
              <a:srgbClr val="C4560C"/>
            </a:solidFill>
            <a:prstDash val="solid"/>
          </a:ln>
        </p:spPr>
      </p:sp>
      <p:sp>
        <p:nvSpPr>
          <p:cNvPr id="14" name="Text 12"/>
          <p:cNvSpPr txBox="1"/>
          <p:nvPr/>
        </p:nvSpPr>
        <p:spPr>
          <a:xfrm>
            <a:off x="768096" y="2624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1298448" y="2514600"/>
            <a:ext cx="4434840" cy="274320"/>
          </a:xfrm>
          <a:prstGeom prst="rect">
            <a:avLst/>
          </a:prstGeom>
          <a:noFill/>
          <a:ln/>
        </p:spPr>
        <p:txBody>
          <a:bodyPr wrap="square" lIns="0" tIns="0" rIns="0" bIns="0" rtlCol="0" anchor="ctr"/>
          <a:lstStyle/>
          <a:p>
            <a:pPr indent="0" marL="0">
              <a:buNone/>
            </a:pPr>
            <a:r>
              <a:rPr lang="en-US" sz="1300" b="1" dirty="0">
                <a:solidFill>
                  <a:srgbClr val="0F2942"/>
                </a:solidFill>
                <a:latin typeface="Calibri" pitchFamily="34" charset="0"/>
                <a:ea typeface="Calibri" pitchFamily="34" charset="-122"/>
                <a:cs typeface="Calibri" pitchFamily="34" charset="-120"/>
              </a:rPr>
              <a:t>Every column holds 1 to 9</a:t>
            </a:r>
            <a:endParaRPr lang="en-US" sz="1300" dirty="0"/>
          </a:p>
        </p:txBody>
      </p:sp>
      <p:sp>
        <p:nvSpPr>
          <p:cNvPr id="16" name="Text 14"/>
          <p:cNvSpPr txBox="1"/>
          <p:nvPr/>
        </p:nvSpPr>
        <p:spPr>
          <a:xfrm>
            <a:off x="1298448" y="2798064"/>
            <a:ext cx="4434840" cy="420624"/>
          </a:xfrm>
          <a:prstGeom prst="rect">
            <a:avLst/>
          </a:prstGeom>
          <a:noFill/>
          <a:ln/>
        </p:spPr>
        <p:txBody>
          <a:bodyPr wrap="square" lIns="0" tIns="0" rIns="0" bIns="0" rtlCol="0" anchor="t"/>
          <a:lstStyle/>
          <a:p>
            <a:pPr indent="0" marL="0">
              <a:lnSpc>
                <a:spcPct val="106000"/>
              </a:lnSpc>
              <a:buNone/>
            </a:pPr>
            <a:r>
              <a:rPr lang="en-US" sz="1150" dirty="0">
                <a:solidFill>
                  <a:srgbClr val="3A536B"/>
                </a:solidFill>
                <a:latin typeface="Calibri" pitchFamily="34" charset="0"/>
                <a:ea typeface="Calibri" pitchFamily="34" charset="-122"/>
                <a:cs typeface="Calibri" pitchFamily="34" charset="-120"/>
              </a:rPr>
              <a:t>the same loop with the indices swapped</a:t>
            </a:r>
            <a:endParaRPr lang="en-US" sz="1150" dirty="0"/>
          </a:p>
        </p:txBody>
      </p:sp>
      <p:sp>
        <p:nvSpPr>
          <p:cNvPr id="17" name="Shape 15"/>
          <p:cNvSpPr/>
          <p:nvPr/>
        </p:nvSpPr>
        <p:spPr>
          <a:xfrm>
            <a:off x="566928" y="3291840"/>
            <a:ext cx="5394960" cy="804672"/>
          </a:xfrm>
          <a:prstGeom prst="roundRect">
            <a:avLst>
              <a:gd name="adj" fmla="val 10227"/>
            </a:avLst>
          </a:prstGeom>
          <a:solidFill>
            <a:srgbClr val="F1F5F9"/>
          </a:solidFill>
          <a:ln w="12700">
            <a:solidFill>
              <a:srgbClr val="F1F5F9"/>
            </a:solidFill>
            <a:prstDash val="solid"/>
          </a:ln>
        </p:spPr>
      </p:sp>
      <p:sp>
        <p:nvSpPr>
          <p:cNvPr id="18" name="Shape 16"/>
          <p:cNvSpPr/>
          <p:nvPr/>
        </p:nvSpPr>
        <p:spPr>
          <a:xfrm>
            <a:off x="768096" y="3502152"/>
            <a:ext cx="384048" cy="384048"/>
          </a:xfrm>
          <a:prstGeom prst="ellipse">
            <a:avLst/>
          </a:prstGeom>
          <a:solidFill>
            <a:srgbClr val="C4560C"/>
          </a:solidFill>
          <a:ln w="12700">
            <a:solidFill>
              <a:srgbClr val="C4560C"/>
            </a:solidFill>
            <a:prstDash val="solid"/>
          </a:ln>
        </p:spPr>
      </p:sp>
      <p:sp>
        <p:nvSpPr>
          <p:cNvPr id="19" name="Text 17"/>
          <p:cNvSpPr txBox="1"/>
          <p:nvPr/>
        </p:nvSpPr>
        <p:spPr>
          <a:xfrm>
            <a:off x="768096" y="3502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298448" y="3392424"/>
            <a:ext cx="4434840" cy="274320"/>
          </a:xfrm>
          <a:prstGeom prst="rect">
            <a:avLst/>
          </a:prstGeom>
          <a:noFill/>
          <a:ln/>
        </p:spPr>
        <p:txBody>
          <a:bodyPr wrap="square" lIns="0" tIns="0" rIns="0" bIns="0" rtlCol="0" anchor="ctr"/>
          <a:lstStyle/>
          <a:p>
            <a:pPr indent="0" marL="0">
              <a:buNone/>
            </a:pPr>
            <a:r>
              <a:rPr lang="en-US" sz="1300" b="1" dirty="0">
                <a:solidFill>
                  <a:srgbClr val="0F2942"/>
                </a:solidFill>
                <a:latin typeface="Calibri" pitchFamily="34" charset="0"/>
                <a:ea typeface="Calibri" pitchFamily="34" charset="-122"/>
                <a:cs typeface="Calibri" pitchFamily="34" charset="-120"/>
              </a:rPr>
              <a:t>Every 3 × 3 box holds 1 to 9</a:t>
            </a:r>
            <a:endParaRPr lang="en-US" sz="1300" dirty="0"/>
          </a:p>
        </p:txBody>
      </p:sp>
      <p:sp>
        <p:nvSpPr>
          <p:cNvPr id="21" name="Text 19"/>
          <p:cNvSpPr txBox="1"/>
          <p:nvPr/>
        </p:nvSpPr>
        <p:spPr>
          <a:xfrm>
            <a:off x="1298448" y="3675888"/>
            <a:ext cx="4434840" cy="420624"/>
          </a:xfrm>
          <a:prstGeom prst="rect">
            <a:avLst/>
          </a:prstGeom>
          <a:noFill/>
          <a:ln/>
        </p:spPr>
        <p:txBody>
          <a:bodyPr wrap="square" lIns="0" tIns="0" rIns="0" bIns="0" rtlCol="0" anchor="t"/>
          <a:lstStyle/>
          <a:p>
            <a:pPr indent="0" marL="0">
              <a:lnSpc>
                <a:spcPct val="106000"/>
              </a:lnSpc>
              <a:buNone/>
            </a:pPr>
            <a:r>
              <a:rPr lang="en-US" sz="1150" dirty="0">
                <a:solidFill>
                  <a:srgbClr val="3A536B"/>
                </a:solidFill>
                <a:latin typeface="Calibri" pitchFamily="34" charset="0"/>
                <a:ea typeface="Calibri" pitchFamily="34" charset="-122"/>
                <a:cs typeface="Calibri" pitchFamily="34" charset="-120"/>
              </a:rPr>
              <a:t>the awkward one — the indices need arithmetic</a:t>
            </a:r>
            <a:endParaRPr lang="en-US" sz="1150" dirty="0"/>
          </a:p>
        </p:txBody>
      </p:sp>
      <p:sp>
        <p:nvSpPr>
          <p:cNvPr id="22" name="Shape 20"/>
          <p:cNvSpPr/>
          <p:nvPr/>
        </p:nvSpPr>
        <p:spPr>
          <a:xfrm>
            <a:off x="566928" y="4297680"/>
            <a:ext cx="5394960" cy="1086124"/>
          </a:xfrm>
          <a:prstGeom prst="roundRect">
            <a:avLst>
              <a:gd name="adj" fmla="val 5893"/>
            </a:avLst>
          </a:prstGeom>
          <a:solidFill>
            <a:srgbClr val="EDF2F7"/>
          </a:solidFill>
          <a:ln w="12700">
            <a:solidFill>
              <a:srgbClr val="CFDBE5"/>
            </a:solidFill>
            <a:prstDash val="solid"/>
          </a:ln>
        </p:spPr>
      </p:sp>
      <p:sp>
        <p:nvSpPr>
          <p:cNvPr id="23" name="Text 21"/>
          <p:cNvSpPr txBox="1"/>
          <p:nvPr/>
        </p:nvSpPr>
        <p:spPr>
          <a:xfrm>
            <a:off x="713232" y="4343400"/>
            <a:ext cx="51023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INTEGER DIVISION FINDS THE BOX</a:t>
            </a:r>
            <a:endParaRPr lang="en-US" sz="950" dirty="0"/>
          </a:p>
        </p:txBody>
      </p:sp>
      <p:sp>
        <p:nvSpPr>
          <p:cNvPr id="24" name="Text 22"/>
          <p:cNvSpPr txBox="1"/>
          <p:nvPr/>
        </p:nvSpPr>
        <p:spPr>
          <a:xfrm>
            <a:off x="731520" y="4572000"/>
            <a:ext cx="5065776" cy="756940"/>
          </a:xfrm>
          <a:prstGeom prst="rect">
            <a:avLst/>
          </a:prstGeom>
          <a:noFill/>
          <a:ln/>
        </p:spPr>
        <p:txBody>
          <a:bodyPr wrap="square" lIns="0" tIns="0" rIns="0" bIns="0" rtlCol="0" anchor="t"/>
          <a:lstStyle/>
          <a:p>
            <a:pPr indent="0" marL="0">
              <a:lnSpc>
                <a:spcPct val="112000"/>
              </a:lnSpc>
              <a:buNone/>
            </a:pPr>
            <a:r>
              <a:rPr lang="en-US" sz="1050" dirty="0">
                <a:solidFill>
                  <a:srgbClr val="415C6E"/>
                </a:solidFill>
                <a:latin typeface="Courier New" pitchFamily="34" charset="0"/>
                <a:ea typeface="Courier New" pitchFamily="34" charset="-122"/>
                <a:cs typeface="Courier New" pitchFamily="34" charset="-120"/>
              </a:rPr>
              <a:t>// the top-left corner of the box containing (r, c)</a:t>
            </a:r>
            <a:endParaRPr lang="en-US" sz="1050" dirty="0"/>
          </a:p>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boxRow</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boxCol</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25" name="Shape 23"/>
          <p:cNvSpPr/>
          <p:nvPr/>
        </p:nvSpPr>
        <p:spPr>
          <a:xfrm>
            <a:off x="566928" y="5584972"/>
            <a:ext cx="5394960" cy="713232"/>
          </a:xfrm>
          <a:prstGeom prst="roundRect">
            <a:avLst>
              <a:gd name="adj" fmla="val 11538"/>
            </a:avLst>
          </a:prstGeom>
          <a:solidFill>
            <a:srgbClr val="FBEEE0"/>
          </a:solidFill>
          <a:ln w="12700">
            <a:solidFill>
              <a:srgbClr val="FBEEE0"/>
            </a:solidFill>
            <a:prstDash val="solid"/>
          </a:ln>
        </p:spPr>
      </p:sp>
      <p:sp>
        <p:nvSpPr>
          <p:cNvPr id="26" name="Text 24"/>
          <p:cNvSpPr txBox="1"/>
          <p:nvPr/>
        </p:nvSpPr>
        <p:spPr>
          <a:xfrm>
            <a:off x="841248" y="5584972"/>
            <a:ext cx="4846320" cy="713232"/>
          </a:xfrm>
          <a:prstGeom prst="rect">
            <a:avLst/>
          </a:prstGeom>
          <a:noFill/>
          <a:ln/>
        </p:spPr>
        <p:txBody>
          <a:bodyPr wrap="square" lIns="0" tIns="0" rIns="0" bIns="0" rtlCol="0" anchor="ctr"/>
          <a:lstStyle/>
          <a:p>
            <a:pPr indent="0" marL="0">
              <a:lnSpc>
                <a:spcPct val="110000"/>
              </a:lnSpc>
              <a:buNone/>
            </a:pPr>
            <a:r>
              <a:rPr lang="en-US" sz="1200" b="1" dirty="0">
                <a:solidFill>
                  <a:srgbClr val="9A430A"/>
                </a:solidFill>
                <a:latin typeface="Calibri" pitchFamily="34" charset="0"/>
                <a:ea typeface="Calibri" pitchFamily="34" charset="-122"/>
                <a:cs typeface="Calibri" pitchFamily="34" charset="-120"/>
              </a:rPr>
              <a:t>r / 3 * 3 rounds down to 0, 3 or 6.  </a:t>
            </a:r>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Integer division from Lecture 2, used as a tool rather than a trap.</a:t>
            </a:r>
            <a:endParaRPr lang="en-US" sz="1200" dirty="0"/>
          </a:p>
        </p:txBody>
      </p:sp>
      <p:sp>
        <p:nvSpPr>
          <p:cNvPr id="27" name="Shape 25"/>
          <p:cNvSpPr/>
          <p:nvPr/>
        </p:nvSpPr>
        <p:spPr>
          <a:xfrm>
            <a:off x="6419088" y="1536192"/>
            <a:ext cx="5205679" cy="2995574"/>
          </a:xfrm>
          <a:prstGeom prst="roundRect">
            <a:avLst>
              <a:gd name="adj" fmla="val 2137"/>
            </a:avLst>
          </a:prstGeom>
          <a:solidFill>
            <a:srgbClr val="EDF2F7"/>
          </a:solidFill>
          <a:ln w="12700">
            <a:solidFill>
              <a:srgbClr val="CFDBE5"/>
            </a:solidFill>
            <a:prstDash val="solid"/>
          </a:ln>
        </p:spPr>
      </p:sp>
      <p:sp>
        <p:nvSpPr>
          <p:cNvPr id="28" name="Text 26"/>
          <p:cNvSpPr txBox="1"/>
          <p:nvPr/>
        </p:nvSpPr>
        <p:spPr>
          <a:xfrm>
            <a:off x="6565392" y="1581912"/>
            <a:ext cx="491307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CheckSudokuSolution.java — THE TOP LEVEL</a:t>
            </a:r>
            <a:endParaRPr lang="en-US" sz="950" dirty="0"/>
          </a:p>
        </p:txBody>
      </p:sp>
      <p:sp>
        <p:nvSpPr>
          <p:cNvPr id="29" name="Text 27"/>
          <p:cNvSpPr txBox="1"/>
          <p:nvPr/>
        </p:nvSpPr>
        <p:spPr>
          <a:xfrm>
            <a:off x="6583680" y="1810512"/>
            <a:ext cx="4876495" cy="2666390"/>
          </a:xfrm>
          <a:prstGeom prst="rect">
            <a:avLst/>
          </a:prstGeom>
          <a:noFill/>
          <a:ln/>
        </p:spPr>
        <p:txBody>
          <a:bodyPr wrap="square" lIns="0" tIns="0" rIns="0" bIns="0" rtlCol="0" anchor="t"/>
          <a:lstStyle/>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boolean</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isValid</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grid</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9</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hasAllNine</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row</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grid</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false</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9</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hasAllNine</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column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grid</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false</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9</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9</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hasAllNine</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box</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grid</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false</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true</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p:txBody>
      </p:sp>
      <p:sp>
        <p:nvSpPr>
          <p:cNvPr id="30" name="Shape 28"/>
          <p:cNvSpPr/>
          <p:nvPr/>
        </p:nvSpPr>
        <p:spPr>
          <a:xfrm>
            <a:off x="6419088" y="4787798"/>
            <a:ext cx="5205679" cy="1691640"/>
          </a:xfrm>
          <a:prstGeom prst="roundRect">
            <a:avLst>
              <a:gd name="adj" fmla="val 4865"/>
            </a:avLst>
          </a:prstGeom>
          <a:solidFill>
            <a:srgbClr val="E6F2EC"/>
          </a:solidFill>
          <a:ln w="12700">
            <a:solidFill>
              <a:srgbClr val="E6F2EC"/>
            </a:solidFill>
            <a:prstDash val="solid"/>
          </a:ln>
        </p:spPr>
      </p:sp>
      <p:sp>
        <p:nvSpPr>
          <p:cNvPr id="31" name="Text 29"/>
          <p:cNvSpPr txBox="1"/>
          <p:nvPr/>
        </p:nvSpPr>
        <p:spPr>
          <a:xfrm>
            <a:off x="6638544" y="4952390"/>
            <a:ext cx="476676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Lecture 5's structure chart, in practice</a:t>
            </a:r>
            <a:endParaRPr lang="en-US" sz="1450" dirty="0"/>
          </a:p>
        </p:txBody>
      </p:sp>
      <p:sp>
        <p:nvSpPr>
          <p:cNvPr id="32" name="Text 30"/>
          <p:cNvSpPr txBox="1"/>
          <p:nvPr/>
        </p:nvSpPr>
        <p:spPr>
          <a:xfrm>
            <a:off x="6638544" y="5281574"/>
            <a:ext cx="4766767" cy="106984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isValid says what has to be true and delegates the how. Each helper is small enough to test on its own, and hasAllNine is written once and used for rows, columns and boxes alike. And it returns early: one bad row answers the question.</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BEYOND</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Three Dimensions and More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The pattern continues. Each extra pair of brackets adds a dimension — and a nested loop.</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32</a:t>
            </a:r>
            <a:endParaRPr lang="en-US" sz="900" dirty="0"/>
          </a:p>
        </p:txBody>
      </p:sp>
      <p:sp>
        <p:nvSpPr>
          <p:cNvPr id="7" name="Shape 5"/>
          <p:cNvSpPr/>
          <p:nvPr/>
        </p:nvSpPr>
        <p:spPr>
          <a:xfrm>
            <a:off x="566928" y="1536192"/>
            <a:ext cx="6035040" cy="2510942"/>
          </a:xfrm>
          <a:prstGeom prst="roundRect">
            <a:avLst>
              <a:gd name="adj" fmla="val 2549"/>
            </a:avLst>
          </a:prstGeom>
          <a:solidFill>
            <a:srgbClr val="EDF2F7"/>
          </a:solidFill>
          <a:ln w="12700">
            <a:solidFill>
              <a:srgbClr val="CFDBE5"/>
            </a:solidFill>
            <a:prstDash val="solid"/>
          </a:ln>
        </p:spPr>
      </p:sp>
      <p:sp>
        <p:nvSpPr>
          <p:cNvPr id="8" name="Text 6"/>
          <p:cNvSpPr txBox="1"/>
          <p:nvPr/>
        </p:nvSpPr>
        <p:spPr>
          <a:xfrm>
            <a:off x="713232" y="1581912"/>
            <a:ext cx="5742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A THREE-DIMENSIONAL ARRAY</a:t>
            </a:r>
            <a:endParaRPr lang="en-US" sz="950" dirty="0"/>
          </a:p>
        </p:txBody>
      </p:sp>
      <p:sp>
        <p:nvSpPr>
          <p:cNvPr id="9" name="Text 7"/>
          <p:cNvSpPr txBox="1"/>
          <p:nvPr/>
        </p:nvSpPr>
        <p:spPr>
          <a:xfrm>
            <a:off x="731520" y="1810512"/>
            <a:ext cx="5705856" cy="2181758"/>
          </a:xfrm>
          <a:prstGeom prst="rect">
            <a:avLst/>
          </a:prstGeom>
          <a:noFill/>
          <a:ln/>
        </p:spPr>
        <p:txBody>
          <a:bodyPr wrap="square" lIns="0" tIns="0" rIns="0" bIns="0" rtlCol="0" anchor="t"/>
          <a:lstStyle/>
          <a:p>
            <a:pPr indent="0" marL="0">
              <a:lnSpc>
                <a:spcPct val="112000"/>
              </a:lnSpc>
              <a:buNone/>
            </a:pPr>
            <a:r>
              <a:rPr lang="en-US" sz="1050" dirty="0">
                <a:solidFill>
                  <a:srgbClr val="415C6E"/>
                </a:solidFill>
                <a:latin typeface="Courier New" pitchFamily="34" charset="0"/>
                <a:ea typeface="Courier New" pitchFamily="34" charset="-122"/>
                <a:cs typeface="Courier New" pitchFamily="34" charset="-120"/>
              </a:rPr>
              <a:t>// 10 students, 5 exams, 2 parts (multiple-choice and essay)</a:t>
            </a:r>
            <a:endParaRPr lang="en-US" sz="1050" dirty="0"/>
          </a:p>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scores</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scores</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11.5</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415C6E"/>
                </a:solidFill>
                <a:latin typeface="Courier New" pitchFamily="34" charset="0"/>
                <a:ea typeface="Courier New" pitchFamily="34" charset="-122"/>
                <a:cs typeface="Courier New" pitchFamily="34" charset="-120"/>
              </a:rPr>
              <a:t>// student 0, exam 1, part 0</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total</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scores</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scores</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scores</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total</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scores</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10" name="Shape 8"/>
          <p:cNvSpPr/>
          <p:nvPr/>
        </p:nvSpPr>
        <p:spPr>
          <a:xfrm>
            <a:off x="566928" y="4284878"/>
            <a:ext cx="6035040" cy="1051560"/>
          </a:xfrm>
          <a:prstGeom prst="roundRect">
            <a:avLst>
              <a:gd name="adj" fmla="val 7826"/>
            </a:avLst>
          </a:prstGeom>
          <a:solidFill>
            <a:srgbClr val="E4ECF4"/>
          </a:solidFill>
          <a:ln w="12700">
            <a:solidFill>
              <a:srgbClr val="E4ECF4"/>
            </a:solidFill>
            <a:prstDash val="solid"/>
          </a:ln>
        </p:spPr>
      </p:sp>
      <p:sp>
        <p:nvSpPr>
          <p:cNvPr id="11" name="Text 9"/>
          <p:cNvSpPr txBox="1"/>
          <p:nvPr/>
        </p:nvSpPr>
        <p:spPr>
          <a:xfrm>
            <a:off x="841248" y="4284878"/>
            <a:ext cx="5486400" cy="1051560"/>
          </a:xfrm>
          <a:prstGeom prst="rect">
            <a:avLst/>
          </a:prstGeom>
          <a:noFill/>
          <a:ln/>
        </p:spPr>
        <p:txBody>
          <a:bodyPr wrap="square" lIns="0" tIns="0" rIns="0" bIns="0" rtlCol="0" anchor="ctr"/>
          <a:lstStyle/>
          <a:p>
            <a:pPr indent="0" marL="0">
              <a:lnSpc>
                <a:spcPct val="112000"/>
              </a:lnSpc>
              <a:buNone/>
            </a:pPr>
            <a:r>
              <a:rPr lang="en-US" sz="1200" b="1" dirty="0">
                <a:solidFill>
                  <a:srgbClr val="0F2942"/>
                </a:solidFill>
                <a:latin typeface="Calibri" pitchFamily="34" charset="0"/>
                <a:ea typeface="Calibri" pitchFamily="34" charset="-122"/>
                <a:cs typeface="Calibri" pitchFamily="34" charset="-120"/>
              </a:rPr>
              <a:t>Three brackets, three loops.  </a:t>
            </a:r>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scores is an array of 10 elements, each of which is a 5 × 2 table. The same 'array of arrays' rule, one level deeper.</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059168" y="1536192"/>
          <a:ext cx="4565599" cy="914400"/>
        </p:xfrm>
        <a:graphic>
          <a:graphicData uri="http://schemas.openxmlformats.org/drawingml/2006/table">
            <a:tbl>
              <a:tblPr/>
              <a:tblGrid>
                <a:gridCol w="1552304"/>
                <a:gridCol w="2191488"/>
                <a:gridCol w="821808"/>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Type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is</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Loops</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384048">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int[]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 list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84048">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int[][]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 table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int[][][]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 stack of tables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84048">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int[][][][]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rarely a good idea</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tc>
                  <a:txBody>
                    <a:bodyPr/>
                    <a:lstStyle/>
                    <a:p>
                      <a:pPr algn="ctr" indent="0" marL="0">
                        <a:buNone/>
                      </a:pPr>
                      <a:r>
                        <a:rPr lang="en-US" sz="1100" dirty="0">
                          <a:solidFill>
                            <a:srgbClr val="3A536B"/>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tr>
            </a:tbl>
          </a:graphicData>
        </a:graphic>
      </p:graphicFrame>
      <p:sp>
        <p:nvSpPr>
          <p:cNvPr id="13" name="Shape 10"/>
          <p:cNvSpPr/>
          <p:nvPr/>
        </p:nvSpPr>
        <p:spPr>
          <a:xfrm>
            <a:off x="7059168" y="3776472"/>
            <a:ext cx="4565599" cy="1600200"/>
          </a:xfrm>
          <a:prstGeom prst="roundRect">
            <a:avLst>
              <a:gd name="adj" fmla="val 5143"/>
            </a:avLst>
          </a:prstGeom>
          <a:solidFill>
            <a:srgbClr val="FBEAE8"/>
          </a:solidFill>
          <a:ln w="12700">
            <a:solidFill>
              <a:srgbClr val="FBEAE8"/>
            </a:solidFill>
            <a:prstDash val="solid"/>
          </a:ln>
        </p:spPr>
      </p:sp>
      <p:sp>
        <p:nvSpPr>
          <p:cNvPr id="14" name="Text 11"/>
          <p:cNvSpPr txBox="1"/>
          <p:nvPr/>
        </p:nvSpPr>
        <p:spPr>
          <a:xfrm>
            <a:off x="7278624" y="3941064"/>
            <a:ext cx="4126687" cy="310896"/>
          </a:xfrm>
          <a:prstGeom prst="rect">
            <a:avLst/>
          </a:prstGeom>
          <a:noFill/>
          <a:ln/>
        </p:spPr>
        <p:txBody>
          <a:bodyPr wrap="square" lIns="0" tIns="0" rIns="0" bIns="0" rtlCol="0" anchor="t"/>
          <a:lstStyle/>
          <a:p>
            <a:pPr indent="0" marL="0">
              <a:buNone/>
            </a:pPr>
            <a:r>
              <a:rPr lang="en-US" sz="1450" b="1" dirty="0">
                <a:solidFill>
                  <a:srgbClr val="9C241C"/>
                </a:solidFill>
                <a:latin typeface="Calibri" pitchFamily="34" charset="0"/>
                <a:ea typeface="Calibri" pitchFamily="34" charset="-122"/>
                <a:cs typeface="Calibri" pitchFamily="34" charset="-120"/>
              </a:rPr>
              <a:t>Past two dimensions, stop and think</a:t>
            </a:r>
            <a:endParaRPr lang="en-US" sz="1450" dirty="0"/>
          </a:p>
        </p:txBody>
      </p:sp>
      <p:sp>
        <p:nvSpPr>
          <p:cNvPr id="15" name="Text 12"/>
          <p:cNvSpPr txBox="1"/>
          <p:nvPr/>
        </p:nvSpPr>
        <p:spPr>
          <a:xfrm>
            <a:off x="7278624" y="4270248"/>
            <a:ext cx="4126687" cy="97840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Three nested loops are already hard to read, and four are a sign the data wants a different shape. Once you have classes — in two weeks — an array of Student objects each holding an array of scores says the same thing far more clearly.</a:t>
            </a:r>
            <a:endParaRPr lang="en-US" sz="1200" dirty="0"/>
          </a:p>
        </p:txBody>
      </p:sp>
      <p:sp>
        <p:nvSpPr>
          <p:cNvPr id="16" name="Shape 13"/>
          <p:cNvSpPr/>
          <p:nvPr/>
        </p:nvSpPr>
        <p:spPr>
          <a:xfrm>
            <a:off x="7059168" y="5513832"/>
            <a:ext cx="4565599" cy="731520"/>
          </a:xfrm>
          <a:prstGeom prst="roundRect">
            <a:avLst>
              <a:gd name="adj" fmla="val 11250"/>
            </a:avLst>
          </a:prstGeom>
          <a:solidFill>
            <a:srgbClr val="F1F5F9"/>
          </a:solidFill>
          <a:ln w="12700">
            <a:solidFill>
              <a:srgbClr val="F1F5F9"/>
            </a:solidFill>
            <a:prstDash val="solid"/>
          </a:ln>
        </p:spPr>
      </p:sp>
      <p:sp>
        <p:nvSpPr>
          <p:cNvPr id="17" name="Text 14"/>
          <p:cNvSpPr txBox="1"/>
          <p:nvPr/>
        </p:nvSpPr>
        <p:spPr>
          <a:xfrm>
            <a:off x="7333488" y="5513832"/>
            <a:ext cx="4016959" cy="731520"/>
          </a:xfrm>
          <a:prstGeom prst="rect">
            <a:avLst/>
          </a:prstGeom>
          <a:noFill/>
          <a:ln/>
        </p:spPr>
        <p:txBody>
          <a:bodyPr wrap="square" lIns="0" tIns="0" rIns="0" bIns="0" rtlCol="0" anchor="ctr"/>
          <a:lstStyle/>
          <a:p>
            <a:pPr indent="0" marL="0">
              <a:lnSpc>
                <a:spcPct val="110000"/>
              </a:lnSpc>
              <a:buNone/>
            </a:pPr>
            <a:r>
              <a:rPr lang="en-US" sz="1200" b="1" dirty="0">
                <a:solidFill>
                  <a:srgbClr val="0F2942"/>
                </a:solidFill>
                <a:latin typeface="Courier New" pitchFamily="34" charset="0"/>
                <a:ea typeface="Courier New" pitchFamily="34" charset="-122"/>
                <a:cs typeface="Courier New" pitchFamily="34" charset="-120"/>
              </a:rPr>
              <a:t>Arrays.deepToString</a:t>
            </a:r>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  handles any depth. It is the only sane way to look at one of these.</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4</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27–32</a:t>
            </a:r>
            <a:endParaRPr lang="en-US" sz="1250" dirty="0"/>
          </a:p>
        </p:txBody>
      </p:sp>
      <p:sp>
        <p:nvSpPr>
          <p:cNvPr id="5" name="Shape 3"/>
          <p:cNvSpPr/>
          <p:nvPr/>
        </p:nvSpPr>
        <p:spPr>
          <a:xfrm>
            <a:off x="566928" y="1775582"/>
            <a:ext cx="11057839" cy="960120"/>
          </a:xfrm>
          <a:prstGeom prst="roundRect">
            <a:avLst>
              <a:gd name="adj" fmla="val 8571"/>
            </a:avLst>
          </a:prstGeom>
          <a:solidFill>
            <a:srgbClr val="FFFFFF"/>
          </a:solidFill>
          <a:ln w="12700">
            <a:solidFill>
              <a:srgbClr val="D3DEE7"/>
            </a:solidFill>
            <a:prstDash val="solid"/>
          </a:ln>
        </p:spPr>
      </p:sp>
      <p:sp>
        <p:nvSpPr>
          <p:cNvPr id="6" name="Shape 4"/>
          <p:cNvSpPr/>
          <p:nvPr/>
        </p:nvSpPr>
        <p:spPr>
          <a:xfrm>
            <a:off x="841248" y="2013326"/>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201332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940174"/>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What do m.length and m[0].length each give, and why is the second one risky?</a:t>
            </a:r>
            <a:endParaRPr lang="en-US" sz="1550" dirty="0"/>
          </a:p>
        </p:txBody>
      </p:sp>
      <p:sp>
        <p:nvSpPr>
          <p:cNvPr id="9" name="Shape 7"/>
          <p:cNvSpPr/>
          <p:nvPr/>
        </p:nvSpPr>
        <p:spPr>
          <a:xfrm>
            <a:off x="566928" y="2955158"/>
            <a:ext cx="11057839" cy="1916948"/>
          </a:xfrm>
          <a:prstGeom prst="roundRect">
            <a:avLst>
              <a:gd name="adj" fmla="val 4293"/>
            </a:avLst>
          </a:prstGeom>
          <a:solidFill>
            <a:srgbClr val="FFFFFF"/>
          </a:solidFill>
          <a:ln w="12700">
            <a:solidFill>
              <a:srgbClr val="D3DEE7"/>
            </a:solidFill>
            <a:prstDash val="solid"/>
          </a:ln>
        </p:spPr>
      </p:sp>
      <p:sp>
        <p:nvSpPr>
          <p:cNvPr id="10" name="Shape 8"/>
          <p:cNvSpPr/>
          <p:nvPr/>
        </p:nvSpPr>
        <p:spPr>
          <a:xfrm>
            <a:off x="841248" y="3192902"/>
            <a:ext cx="402336" cy="402336"/>
          </a:xfrm>
          <a:prstGeom prst="ellipse">
            <a:avLst/>
          </a:prstGeom>
          <a:solidFill>
            <a:srgbClr val="C4560C"/>
          </a:solidFill>
          <a:ln w="12700">
            <a:solidFill>
              <a:srgbClr val="C4560C"/>
            </a:solidFill>
            <a:prstDash val="solid"/>
          </a:ln>
        </p:spPr>
      </p:sp>
      <p:sp>
        <p:nvSpPr>
          <p:cNvPr id="11" name="Text 9"/>
          <p:cNvSpPr txBox="1"/>
          <p:nvPr/>
        </p:nvSpPr>
        <p:spPr>
          <a:xfrm>
            <a:off x="841248" y="319290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3119750"/>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What does this print?</a:t>
            </a:r>
            <a:endParaRPr lang="en-US" sz="1550" dirty="0"/>
          </a:p>
        </p:txBody>
      </p:sp>
      <p:sp>
        <p:nvSpPr>
          <p:cNvPr id="13" name="Shape 11"/>
          <p:cNvSpPr/>
          <p:nvPr/>
        </p:nvSpPr>
        <p:spPr>
          <a:xfrm>
            <a:off x="1435608" y="3595238"/>
            <a:ext cx="6949440" cy="755660"/>
          </a:xfrm>
          <a:prstGeom prst="roundRect">
            <a:avLst>
              <a:gd name="adj" fmla="val 8470"/>
            </a:avLst>
          </a:prstGeom>
          <a:solidFill>
            <a:srgbClr val="EDF2F7"/>
          </a:solidFill>
          <a:ln w="12700">
            <a:solidFill>
              <a:srgbClr val="CFDBE5"/>
            </a:solidFill>
            <a:prstDash val="solid"/>
          </a:ln>
        </p:spPr>
      </p:sp>
      <p:sp>
        <p:nvSpPr>
          <p:cNvPr id="14" name="Text 12"/>
          <p:cNvSpPr txBox="1"/>
          <p:nvPr/>
        </p:nvSpPr>
        <p:spPr>
          <a:xfrm>
            <a:off x="1600200" y="3732398"/>
            <a:ext cx="6620256" cy="554492"/>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6</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566928" y="5091562"/>
            <a:ext cx="11057839" cy="960120"/>
          </a:xfrm>
          <a:prstGeom prst="roundRect">
            <a:avLst>
              <a:gd name="adj" fmla="val 8571"/>
            </a:avLst>
          </a:prstGeom>
          <a:solidFill>
            <a:srgbClr val="FFFFFF"/>
          </a:solidFill>
          <a:ln w="12700">
            <a:solidFill>
              <a:srgbClr val="D3DEE7"/>
            </a:solidFill>
            <a:prstDash val="solid"/>
          </a:ln>
        </p:spPr>
      </p:sp>
      <p:sp>
        <p:nvSpPr>
          <p:cNvPr id="16" name="Shape 14"/>
          <p:cNvSpPr/>
          <p:nvPr/>
        </p:nvSpPr>
        <p:spPr>
          <a:xfrm>
            <a:off x="841248" y="5329306"/>
            <a:ext cx="402336" cy="402336"/>
          </a:xfrm>
          <a:prstGeom prst="ellipse">
            <a:avLst/>
          </a:prstGeom>
          <a:solidFill>
            <a:srgbClr val="C4560C"/>
          </a:solidFill>
          <a:ln w="12700">
            <a:solidFill>
              <a:srgbClr val="C4560C"/>
            </a:solidFill>
            <a:prstDash val="solid"/>
          </a:ln>
        </p:spPr>
      </p:sp>
      <p:sp>
        <p:nvSpPr>
          <p:cNvPr id="17" name="Text 15"/>
          <p:cNvSpPr txBox="1"/>
          <p:nvPr/>
        </p:nvSpPr>
        <p:spPr>
          <a:xfrm>
            <a:off x="841248" y="532930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8" name="Text 16"/>
          <p:cNvSpPr txBox="1"/>
          <p:nvPr/>
        </p:nvSpPr>
        <p:spPr>
          <a:xfrm>
            <a:off x="1435608" y="5256154"/>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Why does Arrays.toString give the wrong answer for a 2-D array, and what should you use?</a:t>
            </a:r>
            <a:endParaRPr lang="en-US" sz="15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PRACTICE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Five Programs to Write Before Thursday</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The first three are 1-D, the last two are 2-D. All five are array problems and nothing else.</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34</a:t>
            </a:r>
            <a:endParaRPr lang="en-US" sz="900" dirty="0"/>
          </a:p>
        </p:txBody>
      </p:sp>
      <p:sp>
        <p:nvSpPr>
          <p:cNvPr id="7" name="Shape 5"/>
          <p:cNvSpPr/>
          <p:nvPr/>
        </p:nvSpPr>
        <p:spPr>
          <a:xfrm>
            <a:off x="566928" y="1536192"/>
            <a:ext cx="3551834" cy="2103120"/>
          </a:xfrm>
          <a:prstGeom prst="roundRect">
            <a:avLst>
              <a:gd name="adj" fmla="val 3913"/>
            </a:avLst>
          </a:prstGeom>
          <a:solidFill>
            <a:srgbClr val="F1F5F9"/>
          </a:solidFill>
          <a:ln w="12700">
            <a:solidFill>
              <a:srgbClr val="F1F5F9"/>
            </a:solidFill>
            <a:prstDash val="solid"/>
          </a:ln>
        </p:spPr>
      </p:sp>
      <p:sp>
        <p:nvSpPr>
          <p:cNvPr id="8" name="Shape 6"/>
          <p:cNvSpPr/>
          <p:nvPr/>
        </p:nvSpPr>
        <p:spPr>
          <a:xfrm>
            <a:off x="804672" y="1755648"/>
            <a:ext cx="402336" cy="402336"/>
          </a:xfrm>
          <a:prstGeom prst="ellipse">
            <a:avLst/>
          </a:prstGeom>
          <a:solidFill>
            <a:srgbClr val="C4560C"/>
          </a:solidFill>
          <a:ln w="12700">
            <a:solidFill>
              <a:srgbClr val="C4560C"/>
            </a:solidFill>
            <a:prstDash val="solid"/>
          </a:ln>
        </p:spPr>
      </p:sp>
      <p:sp>
        <p:nvSpPr>
          <p:cNvPr id="9" name="Text 7"/>
          <p:cNvSpPr txBox="1"/>
          <p:nvPr/>
        </p:nvSpPr>
        <p:spPr>
          <a:xfrm>
            <a:off x="804672" y="1755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1353312" y="1755648"/>
            <a:ext cx="2545994" cy="402336"/>
          </a:xfrm>
          <a:prstGeom prst="rect">
            <a:avLst/>
          </a:prstGeom>
          <a:noFill/>
          <a:ln/>
        </p:spPr>
        <p:txBody>
          <a:bodyPr wrap="square" lIns="0" tIns="0" rIns="0" bIns="0" rtlCol="0" anchor="ctr"/>
          <a:lstStyle/>
          <a:p>
            <a:pPr indent="0" marL="0">
              <a:buNone/>
            </a:pPr>
            <a:r>
              <a:rPr lang="en-US" sz="1200" b="1" dirty="0">
                <a:solidFill>
                  <a:srgbClr val="0F2942"/>
                </a:solidFill>
                <a:latin typeface="Courier New" pitchFamily="34" charset="0"/>
                <a:ea typeface="Courier New" pitchFamily="34" charset="-122"/>
                <a:cs typeface="Courier New" pitchFamily="34" charset="-120"/>
              </a:rPr>
              <a:t>AnalyzeNumbers</a:t>
            </a:r>
            <a:endParaRPr lang="en-US" sz="1200" dirty="0"/>
          </a:p>
        </p:txBody>
      </p:sp>
      <p:sp>
        <p:nvSpPr>
          <p:cNvPr id="11" name="Text 9"/>
          <p:cNvSpPr txBox="1"/>
          <p:nvPr/>
        </p:nvSpPr>
        <p:spPr>
          <a:xfrm>
            <a:off x="822960" y="2304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Read n numbers, report the average, the largest, the smallest, and how many are above the average.</a:t>
            </a:r>
            <a:endParaRPr lang="en-US" sz="1200" dirty="0"/>
          </a:p>
        </p:txBody>
      </p:sp>
      <p:sp>
        <p:nvSpPr>
          <p:cNvPr id="12" name="Text 10"/>
          <p:cNvSpPr txBox="1"/>
          <p:nvPr/>
        </p:nvSpPr>
        <p:spPr>
          <a:xfrm>
            <a:off x="822960" y="3310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the six idioms</a:t>
            </a:r>
            <a:endParaRPr lang="en-US" sz="1100" dirty="0"/>
          </a:p>
        </p:txBody>
      </p:sp>
      <p:sp>
        <p:nvSpPr>
          <p:cNvPr id="13" name="Shape 11"/>
          <p:cNvSpPr/>
          <p:nvPr/>
        </p:nvSpPr>
        <p:spPr>
          <a:xfrm>
            <a:off x="4319930" y="1536192"/>
            <a:ext cx="3551834" cy="2103120"/>
          </a:xfrm>
          <a:prstGeom prst="roundRect">
            <a:avLst>
              <a:gd name="adj" fmla="val 3913"/>
            </a:avLst>
          </a:prstGeom>
          <a:solidFill>
            <a:srgbClr val="FFFFFF"/>
          </a:solidFill>
          <a:ln w="12700">
            <a:solidFill>
              <a:srgbClr val="D3DEE7"/>
            </a:solidFill>
            <a:prstDash val="solid"/>
          </a:ln>
        </p:spPr>
      </p:sp>
      <p:sp>
        <p:nvSpPr>
          <p:cNvPr id="14" name="Shape 12"/>
          <p:cNvSpPr/>
          <p:nvPr/>
        </p:nvSpPr>
        <p:spPr>
          <a:xfrm>
            <a:off x="4557674" y="1755648"/>
            <a:ext cx="402336" cy="402336"/>
          </a:xfrm>
          <a:prstGeom prst="ellipse">
            <a:avLst/>
          </a:prstGeom>
          <a:solidFill>
            <a:srgbClr val="C4560C"/>
          </a:solidFill>
          <a:ln w="12700">
            <a:solidFill>
              <a:srgbClr val="C4560C"/>
            </a:solidFill>
            <a:prstDash val="solid"/>
          </a:ln>
        </p:spPr>
      </p:sp>
      <p:sp>
        <p:nvSpPr>
          <p:cNvPr id="15" name="Text 13"/>
          <p:cNvSpPr txBox="1"/>
          <p:nvPr/>
        </p:nvSpPr>
        <p:spPr>
          <a:xfrm>
            <a:off x="4557674" y="1755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5106314" y="1755648"/>
            <a:ext cx="2545994" cy="402336"/>
          </a:xfrm>
          <a:prstGeom prst="rect">
            <a:avLst/>
          </a:prstGeom>
          <a:noFill/>
          <a:ln/>
        </p:spPr>
        <p:txBody>
          <a:bodyPr wrap="square" lIns="0" tIns="0" rIns="0" bIns="0" rtlCol="0" anchor="ctr"/>
          <a:lstStyle/>
          <a:p>
            <a:pPr indent="0" marL="0">
              <a:buNone/>
            </a:pPr>
            <a:r>
              <a:rPr lang="en-US" sz="1200" b="1" dirty="0">
                <a:solidFill>
                  <a:srgbClr val="0F2942"/>
                </a:solidFill>
                <a:latin typeface="Courier New" pitchFamily="34" charset="0"/>
                <a:ea typeface="Courier New" pitchFamily="34" charset="-122"/>
                <a:cs typeface="Courier New" pitchFamily="34" charset="-120"/>
              </a:rPr>
              <a:t>reverse + isPalindrome</a:t>
            </a:r>
            <a:endParaRPr lang="en-US" sz="1200" dirty="0"/>
          </a:p>
        </p:txBody>
      </p:sp>
      <p:sp>
        <p:nvSpPr>
          <p:cNvPr id="17" name="Text 15"/>
          <p:cNvSpPr txBox="1"/>
          <p:nvPr/>
        </p:nvSpPr>
        <p:spPr>
          <a:xfrm>
            <a:off x="4575962" y="2304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Write int[] reverse(int[]) that returns a new array, then use it to test whether an array reads the same both ways.</a:t>
            </a:r>
            <a:endParaRPr lang="en-US" sz="1200" dirty="0"/>
          </a:p>
        </p:txBody>
      </p:sp>
      <p:sp>
        <p:nvSpPr>
          <p:cNvPr id="18" name="Text 16"/>
          <p:cNvSpPr txBox="1"/>
          <p:nvPr/>
        </p:nvSpPr>
        <p:spPr>
          <a:xfrm>
            <a:off x="4575962" y="3310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return an array</a:t>
            </a:r>
            <a:endParaRPr lang="en-US" sz="1100" dirty="0"/>
          </a:p>
        </p:txBody>
      </p:sp>
      <p:sp>
        <p:nvSpPr>
          <p:cNvPr id="19" name="Shape 17"/>
          <p:cNvSpPr/>
          <p:nvPr/>
        </p:nvSpPr>
        <p:spPr>
          <a:xfrm>
            <a:off x="8072933" y="1536192"/>
            <a:ext cx="3551834" cy="2103120"/>
          </a:xfrm>
          <a:prstGeom prst="roundRect">
            <a:avLst>
              <a:gd name="adj" fmla="val 3913"/>
            </a:avLst>
          </a:prstGeom>
          <a:solidFill>
            <a:srgbClr val="F1F5F9"/>
          </a:solidFill>
          <a:ln w="12700">
            <a:solidFill>
              <a:srgbClr val="F1F5F9"/>
            </a:solidFill>
            <a:prstDash val="solid"/>
          </a:ln>
        </p:spPr>
      </p:sp>
      <p:sp>
        <p:nvSpPr>
          <p:cNvPr id="20" name="Shape 18"/>
          <p:cNvSpPr/>
          <p:nvPr/>
        </p:nvSpPr>
        <p:spPr>
          <a:xfrm>
            <a:off x="8310677" y="1755648"/>
            <a:ext cx="402336" cy="402336"/>
          </a:xfrm>
          <a:prstGeom prst="ellipse">
            <a:avLst/>
          </a:prstGeom>
          <a:solidFill>
            <a:srgbClr val="C4560C"/>
          </a:solidFill>
          <a:ln w="12700">
            <a:solidFill>
              <a:srgbClr val="C4560C"/>
            </a:solidFill>
            <a:prstDash val="solid"/>
          </a:ln>
        </p:spPr>
      </p:sp>
      <p:sp>
        <p:nvSpPr>
          <p:cNvPr id="21" name="Text 19"/>
          <p:cNvSpPr txBox="1"/>
          <p:nvPr/>
        </p:nvSpPr>
        <p:spPr>
          <a:xfrm>
            <a:off x="8310677" y="1755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txBox="1"/>
          <p:nvPr/>
        </p:nvSpPr>
        <p:spPr>
          <a:xfrm>
            <a:off x="8859317" y="1755648"/>
            <a:ext cx="2545994" cy="402336"/>
          </a:xfrm>
          <a:prstGeom prst="rect">
            <a:avLst/>
          </a:prstGeom>
          <a:noFill/>
          <a:ln/>
        </p:spPr>
        <p:txBody>
          <a:bodyPr wrap="square" lIns="0" tIns="0" rIns="0" bIns="0" rtlCol="0" anchor="ctr"/>
          <a:lstStyle/>
          <a:p>
            <a:pPr indent="0" marL="0">
              <a:buNone/>
            </a:pPr>
            <a:r>
              <a:rPr lang="en-US" sz="1200" b="1" dirty="0">
                <a:solidFill>
                  <a:srgbClr val="0F2942"/>
                </a:solidFill>
                <a:latin typeface="Courier New" pitchFamily="34" charset="0"/>
                <a:ea typeface="Courier New" pitchFamily="34" charset="-122"/>
                <a:cs typeface="Courier New" pitchFamily="34" charset="-120"/>
              </a:rPr>
              <a:t>countLetters</a:t>
            </a:r>
            <a:endParaRPr lang="en-US" sz="1200" dirty="0"/>
          </a:p>
        </p:txBody>
      </p:sp>
      <p:sp>
        <p:nvSpPr>
          <p:cNvPr id="23" name="Text 21"/>
          <p:cNvSpPr txBox="1"/>
          <p:nvPr/>
        </p:nvSpPr>
        <p:spPr>
          <a:xfrm>
            <a:off x="8328965" y="2304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Generate 100 random lowercase letters and count how often each one appears. Use an int[26] and 'ch' − 'a' as the index.</a:t>
            </a:r>
            <a:endParaRPr lang="en-US" sz="1200" dirty="0"/>
          </a:p>
        </p:txBody>
      </p:sp>
      <p:sp>
        <p:nvSpPr>
          <p:cNvPr id="24" name="Text 22"/>
          <p:cNvSpPr txBox="1"/>
          <p:nvPr/>
        </p:nvSpPr>
        <p:spPr>
          <a:xfrm>
            <a:off x="8328965" y="3310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an array as a tally</a:t>
            </a:r>
            <a:endParaRPr lang="en-US" sz="1100" dirty="0"/>
          </a:p>
        </p:txBody>
      </p:sp>
      <p:sp>
        <p:nvSpPr>
          <p:cNvPr id="25" name="Shape 23"/>
          <p:cNvSpPr/>
          <p:nvPr/>
        </p:nvSpPr>
        <p:spPr>
          <a:xfrm>
            <a:off x="566928" y="3822192"/>
            <a:ext cx="3551834" cy="2103120"/>
          </a:xfrm>
          <a:prstGeom prst="roundRect">
            <a:avLst>
              <a:gd name="adj" fmla="val 3913"/>
            </a:avLst>
          </a:prstGeom>
          <a:solidFill>
            <a:srgbClr val="FFFFFF"/>
          </a:solidFill>
          <a:ln w="12700">
            <a:solidFill>
              <a:srgbClr val="D3DEE7"/>
            </a:solidFill>
            <a:prstDash val="solid"/>
          </a:ln>
        </p:spPr>
      </p:sp>
      <p:sp>
        <p:nvSpPr>
          <p:cNvPr id="26" name="Shape 24"/>
          <p:cNvSpPr/>
          <p:nvPr/>
        </p:nvSpPr>
        <p:spPr>
          <a:xfrm>
            <a:off x="804672" y="4041648"/>
            <a:ext cx="402336" cy="402336"/>
          </a:xfrm>
          <a:prstGeom prst="ellipse">
            <a:avLst/>
          </a:prstGeom>
          <a:solidFill>
            <a:srgbClr val="C4560C"/>
          </a:solidFill>
          <a:ln w="12700">
            <a:solidFill>
              <a:srgbClr val="C4560C"/>
            </a:solidFill>
            <a:prstDash val="solid"/>
          </a:ln>
        </p:spPr>
      </p:sp>
      <p:sp>
        <p:nvSpPr>
          <p:cNvPr id="27" name="Text 25"/>
          <p:cNvSpPr txBox="1"/>
          <p:nvPr/>
        </p:nvSpPr>
        <p:spPr>
          <a:xfrm>
            <a:off x="804672" y="4041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6"/>
          <p:cNvSpPr txBox="1"/>
          <p:nvPr/>
        </p:nvSpPr>
        <p:spPr>
          <a:xfrm>
            <a:off x="1353312" y="4041648"/>
            <a:ext cx="2545994" cy="402336"/>
          </a:xfrm>
          <a:prstGeom prst="rect">
            <a:avLst/>
          </a:prstGeom>
          <a:noFill/>
          <a:ln/>
        </p:spPr>
        <p:txBody>
          <a:bodyPr wrap="square" lIns="0" tIns="0" rIns="0" bIns="0" rtlCol="0" anchor="ctr"/>
          <a:lstStyle/>
          <a:p>
            <a:pPr indent="0" marL="0">
              <a:buNone/>
            </a:pPr>
            <a:r>
              <a:rPr lang="en-US" sz="1200" b="1" dirty="0">
                <a:solidFill>
                  <a:srgbClr val="0F2942"/>
                </a:solidFill>
                <a:latin typeface="Courier New" pitchFamily="34" charset="0"/>
                <a:ea typeface="Courier New" pitchFamily="34" charset="-122"/>
                <a:cs typeface="Courier New" pitchFamily="34" charset="-120"/>
              </a:rPr>
              <a:t>GradeExam</a:t>
            </a:r>
            <a:endParaRPr lang="en-US" sz="1200" dirty="0"/>
          </a:p>
        </p:txBody>
      </p:sp>
      <p:sp>
        <p:nvSpPr>
          <p:cNvPr id="29" name="Text 27"/>
          <p:cNvSpPr txBox="1"/>
          <p:nvPr/>
        </p:nvSpPr>
        <p:spPr>
          <a:xfrm>
            <a:off x="822960" y="4590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Grade the multiple-choice test from slide 30, then also report the class average and the hardest question.</a:t>
            </a:r>
            <a:endParaRPr lang="en-US" sz="1200" dirty="0"/>
          </a:p>
        </p:txBody>
      </p:sp>
      <p:sp>
        <p:nvSpPr>
          <p:cNvPr id="30" name="Text 28"/>
          <p:cNvSpPr txBox="1"/>
          <p:nvPr/>
        </p:nvSpPr>
        <p:spPr>
          <a:xfrm>
            <a:off x="822960" y="5596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2-D plus 1-D</a:t>
            </a:r>
            <a:endParaRPr lang="en-US" sz="1100" dirty="0"/>
          </a:p>
        </p:txBody>
      </p:sp>
      <p:sp>
        <p:nvSpPr>
          <p:cNvPr id="31" name="Shape 29"/>
          <p:cNvSpPr/>
          <p:nvPr/>
        </p:nvSpPr>
        <p:spPr>
          <a:xfrm>
            <a:off x="4319930" y="3822192"/>
            <a:ext cx="3551834" cy="2103120"/>
          </a:xfrm>
          <a:prstGeom prst="roundRect">
            <a:avLst>
              <a:gd name="adj" fmla="val 3913"/>
            </a:avLst>
          </a:prstGeom>
          <a:solidFill>
            <a:srgbClr val="F1F5F9"/>
          </a:solidFill>
          <a:ln w="12700">
            <a:solidFill>
              <a:srgbClr val="F1F5F9"/>
            </a:solidFill>
            <a:prstDash val="solid"/>
          </a:ln>
        </p:spPr>
      </p:sp>
      <p:sp>
        <p:nvSpPr>
          <p:cNvPr id="32" name="Shape 30"/>
          <p:cNvSpPr/>
          <p:nvPr/>
        </p:nvSpPr>
        <p:spPr>
          <a:xfrm>
            <a:off x="4557674" y="4041648"/>
            <a:ext cx="402336" cy="402336"/>
          </a:xfrm>
          <a:prstGeom prst="ellipse">
            <a:avLst/>
          </a:prstGeom>
          <a:solidFill>
            <a:srgbClr val="C4560C"/>
          </a:solidFill>
          <a:ln w="12700">
            <a:solidFill>
              <a:srgbClr val="C4560C"/>
            </a:solidFill>
            <a:prstDash val="solid"/>
          </a:ln>
        </p:spPr>
      </p:sp>
      <p:sp>
        <p:nvSpPr>
          <p:cNvPr id="33" name="Text 31"/>
          <p:cNvSpPr txBox="1"/>
          <p:nvPr/>
        </p:nvSpPr>
        <p:spPr>
          <a:xfrm>
            <a:off x="4557674" y="4041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4" name="Text 32"/>
          <p:cNvSpPr txBox="1"/>
          <p:nvPr/>
        </p:nvSpPr>
        <p:spPr>
          <a:xfrm>
            <a:off x="5106314" y="4041648"/>
            <a:ext cx="2545994" cy="402336"/>
          </a:xfrm>
          <a:prstGeom prst="rect">
            <a:avLst/>
          </a:prstGeom>
          <a:noFill/>
          <a:ln/>
        </p:spPr>
        <p:txBody>
          <a:bodyPr wrap="square" lIns="0" tIns="0" rIns="0" bIns="0" rtlCol="0" anchor="ctr"/>
          <a:lstStyle/>
          <a:p>
            <a:pPr indent="0" marL="0">
              <a:buNone/>
            </a:pPr>
            <a:r>
              <a:rPr lang="en-US" sz="1200" b="1" dirty="0">
                <a:solidFill>
                  <a:srgbClr val="0F2942"/>
                </a:solidFill>
                <a:latin typeface="Courier New" pitchFamily="34" charset="0"/>
                <a:ea typeface="Courier New" pitchFamily="34" charset="-122"/>
                <a:cs typeface="Courier New" pitchFamily="34" charset="-120"/>
              </a:rPr>
              <a:t>Matrix operations</a:t>
            </a:r>
            <a:endParaRPr lang="en-US" sz="1200" dirty="0"/>
          </a:p>
        </p:txBody>
      </p:sp>
      <p:sp>
        <p:nvSpPr>
          <p:cNvPr id="35" name="Text 33"/>
          <p:cNvSpPr txBox="1"/>
          <p:nvPr/>
        </p:nvSpPr>
        <p:spPr>
          <a:xfrm>
            <a:off x="4575962" y="4590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Read two 3 × 3 matrices and print their sum, then their product. Compare your transpose with the original.</a:t>
            </a:r>
            <a:endParaRPr lang="en-US" sz="1200" dirty="0"/>
          </a:p>
        </p:txBody>
      </p:sp>
      <p:sp>
        <p:nvSpPr>
          <p:cNvPr id="36" name="Text 34"/>
          <p:cNvSpPr txBox="1"/>
          <p:nvPr/>
        </p:nvSpPr>
        <p:spPr>
          <a:xfrm>
            <a:off x="4575962" y="5596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nested loops</a:t>
            </a:r>
            <a:endParaRPr lang="en-US" sz="1100" dirty="0"/>
          </a:p>
        </p:txBody>
      </p:sp>
      <p:sp>
        <p:nvSpPr>
          <p:cNvPr id="37" name="Shape 35"/>
          <p:cNvSpPr/>
          <p:nvPr/>
        </p:nvSpPr>
        <p:spPr>
          <a:xfrm>
            <a:off x="8072933" y="3822192"/>
            <a:ext cx="3551834" cy="2103120"/>
          </a:xfrm>
          <a:prstGeom prst="roundRect">
            <a:avLst>
              <a:gd name="adj" fmla="val 3913"/>
            </a:avLst>
          </a:prstGeom>
          <a:solidFill>
            <a:srgbClr val="FBEEE0"/>
          </a:solidFill>
          <a:ln w="12700">
            <a:solidFill>
              <a:srgbClr val="FBEEE0"/>
            </a:solidFill>
            <a:prstDash val="solid"/>
          </a:ln>
        </p:spPr>
      </p:sp>
      <p:sp>
        <p:nvSpPr>
          <p:cNvPr id="38" name="Text 36"/>
          <p:cNvSpPr txBox="1"/>
          <p:nvPr/>
        </p:nvSpPr>
        <p:spPr>
          <a:xfrm>
            <a:off x="8328965" y="4005072"/>
            <a:ext cx="3039770" cy="292608"/>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Print with Arrays.toString</a:t>
            </a:r>
            <a:endParaRPr lang="en-US" sz="1350" dirty="0"/>
          </a:p>
        </p:txBody>
      </p:sp>
      <p:sp>
        <p:nvSpPr>
          <p:cNvPr id="39" name="Text 37"/>
          <p:cNvSpPr txBox="1"/>
          <p:nvPr/>
        </p:nvSpPr>
        <p:spPr>
          <a:xfrm>
            <a:off x="8328965" y="4370832"/>
            <a:ext cx="3039770" cy="137160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Add import java.util.Arrays; to the top of every one of these. Debugging an array you cannot see is needlessly hard — and deepToString for the 2-D ones.</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WRAP-UP</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Six Things to Take Away from Today</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566928" y="1261872"/>
            <a:ext cx="5391760" cy="1444752"/>
          </a:xfrm>
          <a:prstGeom prst="roundRect">
            <a:avLst>
              <a:gd name="adj" fmla="val 5696"/>
            </a:avLst>
          </a:prstGeom>
          <a:solidFill>
            <a:srgbClr val="F1F5F9"/>
          </a:solidFill>
          <a:ln w="12700">
            <a:solidFill>
              <a:srgbClr val="F1F5F9"/>
            </a:solidFill>
            <a:prstDash val="solid"/>
          </a:ln>
        </p:spPr>
      </p:sp>
      <p:sp>
        <p:nvSpPr>
          <p:cNvPr id="7" name="Shape 5"/>
          <p:cNvSpPr/>
          <p:nvPr/>
        </p:nvSpPr>
        <p:spPr>
          <a:xfrm>
            <a:off x="804672" y="1517904"/>
            <a:ext cx="402336" cy="402336"/>
          </a:xfrm>
          <a:prstGeom prst="ellipse">
            <a:avLst/>
          </a:prstGeom>
          <a:solidFill>
            <a:srgbClr val="C4560C"/>
          </a:solidFill>
          <a:ln w="12700">
            <a:solidFill>
              <a:srgbClr val="C4560C"/>
            </a:solidFill>
            <a:prstDash val="solid"/>
          </a:ln>
        </p:spPr>
      </p:sp>
      <p:sp>
        <p:nvSpPr>
          <p:cNvPr id="8" name="Text 6"/>
          <p:cNvSpPr txBox="1"/>
          <p:nvPr/>
        </p:nvSpPr>
        <p:spPr>
          <a:xfrm>
            <a:off x="804672" y="15179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371600" y="14264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An array is one variable holding many values</a:t>
            </a:r>
            <a:endParaRPr lang="en-US" sz="1400" dirty="0"/>
          </a:p>
        </p:txBody>
      </p:sp>
      <p:sp>
        <p:nvSpPr>
          <p:cNvPr id="10" name="Text 8"/>
          <p:cNvSpPr txBox="1"/>
          <p:nvPr/>
        </p:nvSpPr>
        <p:spPr>
          <a:xfrm>
            <a:off x="1371600" y="17739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All of the same type, numbered from 0 to length − 1, with the size fixed when it is created.</a:t>
            </a:r>
            <a:endParaRPr lang="en-US" sz="1200" dirty="0"/>
          </a:p>
        </p:txBody>
      </p:sp>
      <p:sp>
        <p:nvSpPr>
          <p:cNvPr id="11" name="Shape 9"/>
          <p:cNvSpPr/>
          <p:nvPr/>
        </p:nvSpPr>
        <p:spPr>
          <a:xfrm>
            <a:off x="6233008" y="1261872"/>
            <a:ext cx="5391760" cy="1444752"/>
          </a:xfrm>
          <a:prstGeom prst="roundRect">
            <a:avLst>
              <a:gd name="adj" fmla="val 5696"/>
            </a:avLst>
          </a:prstGeom>
          <a:solidFill>
            <a:srgbClr val="FFFFFF"/>
          </a:solidFill>
          <a:ln w="12700">
            <a:solidFill>
              <a:srgbClr val="D3DEE7"/>
            </a:solidFill>
            <a:prstDash val="solid"/>
          </a:ln>
        </p:spPr>
      </p:sp>
      <p:sp>
        <p:nvSpPr>
          <p:cNvPr id="12" name="Shape 10"/>
          <p:cNvSpPr/>
          <p:nvPr/>
        </p:nvSpPr>
        <p:spPr>
          <a:xfrm>
            <a:off x="6470752" y="1517904"/>
            <a:ext cx="402336" cy="402336"/>
          </a:xfrm>
          <a:prstGeom prst="ellipse">
            <a:avLst/>
          </a:prstGeom>
          <a:solidFill>
            <a:srgbClr val="C4560C"/>
          </a:solidFill>
          <a:ln w="12700">
            <a:solidFill>
              <a:srgbClr val="C4560C"/>
            </a:solidFill>
            <a:prstDash val="solid"/>
          </a:ln>
        </p:spPr>
      </p:sp>
      <p:sp>
        <p:nvSpPr>
          <p:cNvPr id="13" name="Text 11"/>
          <p:cNvSpPr txBox="1"/>
          <p:nvPr/>
        </p:nvSpPr>
        <p:spPr>
          <a:xfrm>
            <a:off x="6470752" y="15179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037680" y="14264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The variable holds a reference, not the array</a:t>
            </a:r>
            <a:endParaRPr lang="en-US" sz="1400" dirty="0"/>
          </a:p>
        </p:txBody>
      </p:sp>
      <p:sp>
        <p:nvSpPr>
          <p:cNvPr id="15" name="Text 13"/>
          <p:cNvSpPr txBox="1"/>
          <p:nvPr/>
        </p:nvSpPr>
        <p:spPr>
          <a:xfrm>
            <a:off x="7037680" y="17739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Which is why b = a does not copy, and why two variables can refer to one array.</a:t>
            </a:r>
            <a:endParaRPr lang="en-US" sz="1200" dirty="0"/>
          </a:p>
        </p:txBody>
      </p:sp>
      <p:sp>
        <p:nvSpPr>
          <p:cNvPr id="16" name="Shape 14"/>
          <p:cNvSpPr/>
          <p:nvPr/>
        </p:nvSpPr>
        <p:spPr>
          <a:xfrm>
            <a:off x="566928" y="2862072"/>
            <a:ext cx="5391760" cy="1444752"/>
          </a:xfrm>
          <a:prstGeom prst="roundRect">
            <a:avLst>
              <a:gd name="adj" fmla="val 5696"/>
            </a:avLst>
          </a:prstGeom>
          <a:solidFill>
            <a:srgbClr val="F1F5F9"/>
          </a:solidFill>
          <a:ln w="12700">
            <a:solidFill>
              <a:srgbClr val="F1F5F9"/>
            </a:solidFill>
            <a:prstDash val="solid"/>
          </a:ln>
        </p:spPr>
      </p:sp>
      <p:sp>
        <p:nvSpPr>
          <p:cNvPr id="17" name="Shape 15"/>
          <p:cNvSpPr/>
          <p:nvPr/>
        </p:nvSpPr>
        <p:spPr>
          <a:xfrm>
            <a:off x="804672" y="3118104"/>
            <a:ext cx="402336" cy="402336"/>
          </a:xfrm>
          <a:prstGeom prst="ellipse">
            <a:avLst/>
          </a:prstGeom>
          <a:solidFill>
            <a:srgbClr val="C4560C"/>
          </a:solidFill>
          <a:ln w="12700">
            <a:solidFill>
              <a:srgbClr val="C4560C"/>
            </a:solidFill>
            <a:prstDash val="solid"/>
          </a:ln>
        </p:spPr>
      </p:sp>
      <p:sp>
        <p:nvSpPr>
          <p:cNvPr id="18" name="Text 16"/>
          <p:cNvSpPr txBox="1"/>
          <p:nvPr/>
        </p:nvSpPr>
        <p:spPr>
          <a:xfrm>
            <a:off x="804672" y="31181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371600" y="30266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length is a field; length() is a method</a:t>
            </a:r>
            <a:endParaRPr lang="en-US" sz="1400" dirty="0"/>
          </a:p>
        </p:txBody>
      </p:sp>
      <p:sp>
        <p:nvSpPr>
          <p:cNvPr id="20" name="Text 18"/>
          <p:cNvSpPr txBox="1"/>
          <p:nvPr/>
        </p:nvSpPr>
        <p:spPr>
          <a:xfrm>
            <a:off x="1371600" y="33741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Arrays have the field. Strings have the method. The compiler will remind you.</a:t>
            </a:r>
            <a:endParaRPr lang="en-US" sz="1200" dirty="0"/>
          </a:p>
        </p:txBody>
      </p:sp>
      <p:sp>
        <p:nvSpPr>
          <p:cNvPr id="21" name="Shape 19"/>
          <p:cNvSpPr/>
          <p:nvPr/>
        </p:nvSpPr>
        <p:spPr>
          <a:xfrm>
            <a:off x="6233008" y="2862072"/>
            <a:ext cx="5391760" cy="1444752"/>
          </a:xfrm>
          <a:prstGeom prst="roundRect">
            <a:avLst>
              <a:gd name="adj" fmla="val 5696"/>
            </a:avLst>
          </a:prstGeom>
          <a:solidFill>
            <a:srgbClr val="FFFFFF"/>
          </a:solidFill>
          <a:ln w="12700">
            <a:solidFill>
              <a:srgbClr val="D3DEE7"/>
            </a:solidFill>
            <a:prstDash val="solid"/>
          </a:ln>
        </p:spPr>
      </p:sp>
      <p:sp>
        <p:nvSpPr>
          <p:cNvPr id="22" name="Shape 20"/>
          <p:cNvSpPr/>
          <p:nvPr/>
        </p:nvSpPr>
        <p:spPr>
          <a:xfrm>
            <a:off x="6470752" y="3118104"/>
            <a:ext cx="402336" cy="402336"/>
          </a:xfrm>
          <a:prstGeom prst="ellipse">
            <a:avLst/>
          </a:prstGeom>
          <a:solidFill>
            <a:srgbClr val="C4560C"/>
          </a:solidFill>
          <a:ln w="12700">
            <a:solidFill>
              <a:srgbClr val="C4560C"/>
            </a:solidFill>
            <a:prstDash val="solid"/>
          </a:ln>
        </p:spPr>
      </p:sp>
      <p:sp>
        <p:nvSpPr>
          <p:cNvPr id="23" name="Text 21"/>
          <p:cNvSpPr txBox="1"/>
          <p:nvPr/>
        </p:nvSpPr>
        <p:spPr>
          <a:xfrm>
            <a:off x="6470752" y="31181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7037680" y="30266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A method can change your array but not your int</a:t>
            </a:r>
            <a:endParaRPr lang="en-US" sz="1400" dirty="0"/>
          </a:p>
        </p:txBody>
      </p:sp>
      <p:sp>
        <p:nvSpPr>
          <p:cNvPr id="25" name="Text 23"/>
          <p:cNvSpPr txBox="1"/>
          <p:nvPr/>
        </p:nvSpPr>
        <p:spPr>
          <a:xfrm>
            <a:off x="7037680" y="33741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Java is pass by value throughout. With an array, the value copied is a reference.</a:t>
            </a:r>
            <a:endParaRPr lang="en-US" sz="1200" dirty="0"/>
          </a:p>
        </p:txBody>
      </p:sp>
      <p:sp>
        <p:nvSpPr>
          <p:cNvPr id="26" name="Shape 24"/>
          <p:cNvSpPr/>
          <p:nvPr/>
        </p:nvSpPr>
        <p:spPr>
          <a:xfrm>
            <a:off x="566928" y="4462272"/>
            <a:ext cx="5391760" cy="1444752"/>
          </a:xfrm>
          <a:prstGeom prst="roundRect">
            <a:avLst>
              <a:gd name="adj" fmla="val 5696"/>
            </a:avLst>
          </a:prstGeom>
          <a:solidFill>
            <a:srgbClr val="F1F5F9"/>
          </a:solidFill>
          <a:ln w="12700">
            <a:solidFill>
              <a:srgbClr val="F1F5F9"/>
            </a:solidFill>
            <a:prstDash val="solid"/>
          </a:ln>
        </p:spPr>
      </p:sp>
      <p:sp>
        <p:nvSpPr>
          <p:cNvPr id="27" name="Shape 25"/>
          <p:cNvSpPr/>
          <p:nvPr/>
        </p:nvSpPr>
        <p:spPr>
          <a:xfrm>
            <a:off x="804672" y="4718304"/>
            <a:ext cx="402336" cy="402336"/>
          </a:xfrm>
          <a:prstGeom prst="ellipse">
            <a:avLst/>
          </a:prstGeom>
          <a:solidFill>
            <a:srgbClr val="C4560C"/>
          </a:solidFill>
          <a:ln w="12700">
            <a:solidFill>
              <a:srgbClr val="C4560C"/>
            </a:solidFill>
            <a:prstDash val="solid"/>
          </a:ln>
        </p:spPr>
      </p:sp>
      <p:sp>
        <p:nvSpPr>
          <p:cNvPr id="28" name="Text 26"/>
          <p:cNvSpPr txBox="1"/>
          <p:nvPr/>
        </p:nvSpPr>
        <p:spPr>
          <a:xfrm>
            <a:off x="804672" y="47183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1371600" y="46268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A 2-D array is an array of arrays</a:t>
            </a:r>
            <a:endParaRPr lang="en-US" sz="1400" dirty="0"/>
          </a:p>
        </p:txBody>
      </p:sp>
      <p:sp>
        <p:nvSpPr>
          <p:cNvPr id="30" name="Text 28"/>
          <p:cNvSpPr txBox="1"/>
          <p:nvPr/>
        </p:nvSpPr>
        <p:spPr>
          <a:xfrm>
            <a:off x="1371600" y="49743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So each row has its own length. Use m[row].length in the inner loop, never m[0].length.</a:t>
            </a:r>
            <a:endParaRPr lang="en-US" sz="1200" dirty="0"/>
          </a:p>
        </p:txBody>
      </p:sp>
      <p:sp>
        <p:nvSpPr>
          <p:cNvPr id="31" name="Shape 29"/>
          <p:cNvSpPr/>
          <p:nvPr/>
        </p:nvSpPr>
        <p:spPr>
          <a:xfrm>
            <a:off x="6233008" y="4462272"/>
            <a:ext cx="5391760" cy="1444752"/>
          </a:xfrm>
          <a:prstGeom prst="roundRect">
            <a:avLst>
              <a:gd name="adj" fmla="val 5696"/>
            </a:avLst>
          </a:prstGeom>
          <a:solidFill>
            <a:srgbClr val="FFFFFF"/>
          </a:solidFill>
          <a:ln w="12700">
            <a:solidFill>
              <a:srgbClr val="D3DEE7"/>
            </a:solidFill>
            <a:prstDash val="solid"/>
          </a:ln>
        </p:spPr>
      </p:sp>
      <p:sp>
        <p:nvSpPr>
          <p:cNvPr id="32" name="Shape 30"/>
          <p:cNvSpPr/>
          <p:nvPr/>
        </p:nvSpPr>
        <p:spPr>
          <a:xfrm>
            <a:off x="6470752" y="4718304"/>
            <a:ext cx="402336" cy="402336"/>
          </a:xfrm>
          <a:prstGeom prst="ellipse">
            <a:avLst/>
          </a:prstGeom>
          <a:solidFill>
            <a:srgbClr val="C4560C"/>
          </a:solidFill>
          <a:ln w="12700">
            <a:solidFill>
              <a:srgbClr val="C4560C"/>
            </a:solidFill>
            <a:prstDash val="solid"/>
          </a:ln>
        </p:spPr>
      </p:sp>
      <p:sp>
        <p:nvSpPr>
          <p:cNvPr id="33" name="Text 31"/>
          <p:cNvSpPr txBox="1"/>
          <p:nvPr/>
        </p:nvSpPr>
        <p:spPr>
          <a:xfrm>
            <a:off x="6470752" y="47183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txBox="1"/>
          <p:nvPr/>
        </p:nvSpPr>
        <p:spPr>
          <a:xfrm>
            <a:off x="7037680" y="46268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Use java.util.Arrays</a:t>
            </a:r>
            <a:endParaRPr lang="en-US" sz="1400" dirty="0"/>
          </a:p>
        </p:txBody>
      </p:sp>
      <p:sp>
        <p:nvSpPr>
          <p:cNvPr id="35" name="Text 33"/>
          <p:cNvSpPr txBox="1"/>
          <p:nvPr/>
        </p:nvSpPr>
        <p:spPr>
          <a:xfrm>
            <a:off x="7037680" y="49743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toString, deepToString, sort, fill, equals, copyOf. Do not write these yourself.</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NEXT STEPS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Before Thursday, 1 October</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566928" y="1353312"/>
            <a:ext cx="5346040" cy="1051560"/>
          </a:xfrm>
          <a:prstGeom prst="roundRect">
            <a:avLst>
              <a:gd name="adj" fmla="val 7826"/>
            </a:avLst>
          </a:prstGeom>
          <a:solidFill>
            <a:srgbClr val="F1F5F9"/>
          </a:solidFill>
          <a:ln w="12700">
            <a:solidFill>
              <a:srgbClr val="F1F5F9"/>
            </a:solidFill>
            <a:prstDash val="solid"/>
          </a:ln>
        </p:spPr>
      </p:sp>
      <p:sp>
        <p:nvSpPr>
          <p:cNvPr id="7" name="Shape 5"/>
          <p:cNvSpPr/>
          <p:nvPr/>
        </p:nvSpPr>
        <p:spPr>
          <a:xfrm>
            <a:off x="804672" y="1682496"/>
            <a:ext cx="384048" cy="384048"/>
          </a:xfrm>
          <a:prstGeom prst="ellipse">
            <a:avLst/>
          </a:prstGeom>
          <a:solidFill>
            <a:srgbClr val="176240"/>
          </a:solidFill>
          <a:ln w="12700">
            <a:solidFill>
              <a:srgbClr val="176240"/>
            </a:solidFill>
            <a:prstDash val="solid"/>
          </a:ln>
        </p:spPr>
      </p:sp>
      <p:sp>
        <p:nvSpPr>
          <p:cNvPr id="8" name="Text 6"/>
          <p:cNvSpPr txBox="1"/>
          <p:nvPr/>
        </p:nvSpPr>
        <p:spPr>
          <a:xfrm>
            <a:off x="804672" y="1682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7"/>
          <p:cNvSpPr txBox="1"/>
          <p:nvPr/>
        </p:nvSpPr>
        <p:spPr>
          <a:xfrm>
            <a:off x="1353312" y="1517904"/>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Revise Weeks 1–3 for Quiz 1</a:t>
            </a:r>
            <a:endParaRPr lang="en-US" sz="1350" dirty="0"/>
          </a:p>
        </p:txBody>
      </p:sp>
      <p:sp>
        <p:nvSpPr>
          <p:cNvPr id="10" name="Text 8"/>
          <p:cNvSpPr txBox="1"/>
          <p:nvPr/>
        </p:nvSpPr>
        <p:spPr>
          <a:xfrm>
            <a:off x="1353312" y="1828800"/>
            <a:ext cx="4321912" cy="5029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Setup, data types, selection, loops and methods. Today's array material is NOT on it.</a:t>
            </a:r>
            <a:endParaRPr lang="en-US" sz="1200" dirty="0"/>
          </a:p>
        </p:txBody>
      </p:sp>
      <p:sp>
        <p:nvSpPr>
          <p:cNvPr id="11" name="Shape 9"/>
          <p:cNvSpPr/>
          <p:nvPr/>
        </p:nvSpPr>
        <p:spPr>
          <a:xfrm>
            <a:off x="566928" y="2487168"/>
            <a:ext cx="5346040" cy="1051560"/>
          </a:xfrm>
          <a:prstGeom prst="roundRect">
            <a:avLst>
              <a:gd name="adj" fmla="val 7826"/>
            </a:avLst>
          </a:prstGeom>
          <a:solidFill>
            <a:srgbClr val="FFFFFF"/>
          </a:solidFill>
          <a:ln w="12700">
            <a:solidFill>
              <a:srgbClr val="D3DEE7"/>
            </a:solidFill>
            <a:prstDash val="solid"/>
          </a:ln>
        </p:spPr>
      </p:sp>
      <p:sp>
        <p:nvSpPr>
          <p:cNvPr id="12" name="Shape 10"/>
          <p:cNvSpPr/>
          <p:nvPr/>
        </p:nvSpPr>
        <p:spPr>
          <a:xfrm>
            <a:off x="804672" y="2816352"/>
            <a:ext cx="384048" cy="384048"/>
          </a:xfrm>
          <a:prstGeom prst="ellipse">
            <a:avLst/>
          </a:prstGeom>
          <a:solidFill>
            <a:srgbClr val="176240"/>
          </a:solidFill>
          <a:ln w="12700">
            <a:solidFill>
              <a:srgbClr val="176240"/>
            </a:solidFill>
            <a:prstDash val="solid"/>
          </a:ln>
        </p:spPr>
      </p:sp>
      <p:sp>
        <p:nvSpPr>
          <p:cNvPr id="13" name="Text 11"/>
          <p:cNvSpPr txBox="1"/>
          <p:nvPr/>
        </p:nvSpPr>
        <p:spPr>
          <a:xfrm>
            <a:off x="804672"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4" name="Text 12"/>
          <p:cNvSpPr txBox="1"/>
          <p:nvPr/>
        </p:nvSpPr>
        <p:spPr>
          <a:xfrm>
            <a:off x="1353312" y="2651760"/>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Write the five practice programs</a:t>
            </a:r>
            <a:endParaRPr lang="en-US" sz="1350" dirty="0"/>
          </a:p>
        </p:txBody>
      </p:sp>
      <p:sp>
        <p:nvSpPr>
          <p:cNvPr id="15" name="Text 13"/>
          <p:cNvSpPr txBox="1"/>
          <p:nvPr/>
        </p:nvSpPr>
        <p:spPr>
          <a:xfrm>
            <a:off x="1353312" y="2962656"/>
            <a:ext cx="4321912" cy="5029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Import java.util.Arrays in every one and print as you go.</a:t>
            </a:r>
            <a:endParaRPr lang="en-US" sz="1200" dirty="0"/>
          </a:p>
        </p:txBody>
      </p:sp>
      <p:sp>
        <p:nvSpPr>
          <p:cNvPr id="16" name="Shape 14"/>
          <p:cNvSpPr/>
          <p:nvPr/>
        </p:nvSpPr>
        <p:spPr>
          <a:xfrm>
            <a:off x="566928" y="3621024"/>
            <a:ext cx="5346040" cy="1051560"/>
          </a:xfrm>
          <a:prstGeom prst="roundRect">
            <a:avLst>
              <a:gd name="adj" fmla="val 7826"/>
            </a:avLst>
          </a:prstGeom>
          <a:solidFill>
            <a:srgbClr val="F1F5F9"/>
          </a:solidFill>
          <a:ln w="12700">
            <a:solidFill>
              <a:srgbClr val="F1F5F9"/>
            </a:solidFill>
            <a:prstDash val="solid"/>
          </a:ln>
        </p:spPr>
      </p:sp>
      <p:sp>
        <p:nvSpPr>
          <p:cNvPr id="17" name="Shape 15"/>
          <p:cNvSpPr/>
          <p:nvPr/>
        </p:nvSpPr>
        <p:spPr>
          <a:xfrm>
            <a:off x="804672" y="3950208"/>
            <a:ext cx="384048" cy="384048"/>
          </a:xfrm>
          <a:prstGeom prst="ellipse">
            <a:avLst/>
          </a:prstGeom>
          <a:solidFill>
            <a:srgbClr val="176240"/>
          </a:solidFill>
          <a:ln w="12700">
            <a:solidFill>
              <a:srgbClr val="176240"/>
            </a:solidFill>
            <a:prstDash val="solid"/>
          </a:ln>
        </p:spPr>
      </p:sp>
      <p:sp>
        <p:nvSpPr>
          <p:cNvPr id="18" name="Text 16"/>
          <p:cNvSpPr txBox="1"/>
          <p:nvPr/>
        </p:nvSpPr>
        <p:spPr>
          <a:xfrm>
            <a:off x="804672" y="3950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9" name="Text 17"/>
          <p:cNvSpPr txBox="1"/>
          <p:nvPr/>
        </p:nvSpPr>
        <p:spPr>
          <a:xfrm>
            <a:off x="1353312" y="3785616"/>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Read Liang, Chapters 7 and 8</a:t>
            </a:r>
            <a:endParaRPr lang="en-US" sz="1350" dirty="0"/>
          </a:p>
        </p:txBody>
      </p:sp>
      <p:sp>
        <p:nvSpPr>
          <p:cNvPr id="20" name="Text 18"/>
          <p:cNvSpPr txBox="1"/>
          <p:nvPr/>
        </p:nvSpPr>
        <p:spPr>
          <a:xfrm>
            <a:off x="1353312" y="4096512"/>
            <a:ext cx="4321912" cy="5029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Chapter 7 for single-dimensional, 8.1 to 8.5 for two-dimensional.</a:t>
            </a:r>
            <a:endParaRPr lang="en-US" sz="1200" dirty="0"/>
          </a:p>
        </p:txBody>
      </p:sp>
      <p:sp>
        <p:nvSpPr>
          <p:cNvPr id="21" name="Shape 19"/>
          <p:cNvSpPr/>
          <p:nvPr/>
        </p:nvSpPr>
        <p:spPr>
          <a:xfrm>
            <a:off x="566928" y="4754880"/>
            <a:ext cx="5346040" cy="1051560"/>
          </a:xfrm>
          <a:prstGeom prst="roundRect">
            <a:avLst>
              <a:gd name="adj" fmla="val 7826"/>
            </a:avLst>
          </a:prstGeom>
          <a:solidFill>
            <a:srgbClr val="FFFFFF"/>
          </a:solidFill>
          <a:ln w="12700">
            <a:solidFill>
              <a:srgbClr val="D3DEE7"/>
            </a:solidFill>
            <a:prstDash val="solid"/>
          </a:ln>
        </p:spPr>
      </p:sp>
      <p:sp>
        <p:nvSpPr>
          <p:cNvPr id="22" name="Shape 20"/>
          <p:cNvSpPr/>
          <p:nvPr/>
        </p:nvSpPr>
        <p:spPr>
          <a:xfrm>
            <a:off x="804672" y="5084064"/>
            <a:ext cx="384048" cy="384048"/>
          </a:xfrm>
          <a:prstGeom prst="ellipse">
            <a:avLst/>
          </a:prstGeom>
          <a:solidFill>
            <a:srgbClr val="176240"/>
          </a:solidFill>
          <a:ln w="12700">
            <a:solidFill>
              <a:srgbClr val="176240"/>
            </a:solidFill>
            <a:prstDash val="solid"/>
          </a:ln>
        </p:spPr>
      </p:sp>
      <p:sp>
        <p:nvSpPr>
          <p:cNvPr id="23" name="Text 21"/>
          <p:cNvSpPr txBox="1"/>
          <p:nvPr/>
        </p:nvSpPr>
        <p:spPr>
          <a:xfrm>
            <a:off x="804672" y="50840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p:cNvSpPr txBox="1"/>
          <p:nvPr/>
        </p:nvSpPr>
        <p:spPr>
          <a:xfrm>
            <a:off x="1353312" y="4919472"/>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Redraw one trace on paper</a:t>
            </a:r>
            <a:endParaRPr lang="en-US" sz="1350" dirty="0"/>
          </a:p>
        </p:txBody>
      </p:sp>
      <p:sp>
        <p:nvSpPr>
          <p:cNvPr id="25" name="Text 23"/>
          <p:cNvSpPr txBox="1"/>
          <p:nvPr/>
        </p:nvSpPr>
        <p:spPr>
          <a:xfrm>
            <a:off x="1353312" y="5230368"/>
            <a:ext cx="4321912" cy="5029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Slide 8's table, from memory. If you can produce it, you understand indexing.</a:t>
            </a:r>
            <a:endParaRPr lang="en-US" sz="1200" dirty="0"/>
          </a:p>
        </p:txBody>
      </p:sp>
      <p:sp>
        <p:nvSpPr>
          <p:cNvPr id="26" name="Shape 24"/>
          <p:cNvSpPr/>
          <p:nvPr/>
        </p:nvSpPr>
        <p:spPr>
          <a:xfrm>
            <a:off x="6278728" y="1353312"/>
            <a:ext cx="5346040" cy="2103120"/>
          </a:xfrm>
          <a:prstGeom prst="roundRect">
            <a:avLst>
              <a:gd name="adj" fmla="val 3913"/>
            </a:avLst>
          </a:prstGeom>
          <a:solidFill>
            <a:srgbClr val="FBEAE8"/>
          </a:solidFill>
          <a:ln w="12700">
            <a:solidFill>
              <a:srgbClr val="FBEAE8"/>
            </a:solidFill>
            <a:prstDash val="solid"/>
          </a:ln>
        </p:spPr>
      </p:sp>
      <p:sp>
        <p:nvSpPr>
          <p:cNvPr id="27" name="Text 25"/>
          <p:cNvSpPr txBox="1"/>
          <p:nvPr/>
        </p:nvSpPr>
        <p:spPr>
          <a:xfrm>
            <a:off x="6553048" y="1591056"/>
            <a:ext cx="4797400" cy="274320"/>
          </a:xfrm>
          <a:prstGeom prst="rect">
            <a:avLst/>
          </a:prstGeom>
          <a:noFill/>
          <a:ln/>
        </p:spPr>
        <p:txBody>
          <a:bodyPr wrap="square" lIns="0" tIns="0" rIns="0" bIns="0" rtlCol="0" anchor="ctr"/>
          <a:lstStyle/>
          <a:p>
            <a:pPr indent="0" marL="0">
              <a:buNone/>
            </a:pPr>
            <a:r>
              <a:rPr lang="en-US" sz="1100" b="1" spc="140" kern="0" dirty="0">
                <a:solidFill>
                  <a:srgbClr val="9C241C"/>
                </a:solidFill>
                <a:latin typeface="Calibri" pitchFamily="34" charset="0"/>
                <a:ea typeface="Calibri" pitchFamily="34" charset="-122"/>
                <a:cs typeface="Calibri" pitchFamily="34" charset="-120"/>
              </a:rPr>
              <a:t>Quiz 1 — this Thursday</a:t>
            </a:r>
            <a:endParaRPr lang="en-US" sz="1100" dirty="0"/>
          </a:p>
        </p:txBody>
      </p:sp>
      <p:sp>
        <p:nvSpPr>
          <p:cNvPr id="28" name="Text 26"/>
          <p:cNvSpPr txBox="1"/>
          <p:nvPr/>
        </p:nvSpPr>
        <p:spPr>
          <a:xfrm>
            <a:off x="6553048" y="1901952"/>
            <a:ext cx="4797400" cy="621792"/>
          </a:xfrm>
          <a:prstGeom prst="rect">
            <a:avLst/>
          </a:prstGeom>
          <a:noFill/>
          <a:ln/>
        </p:spPr>
        <p:txBody>
          <a:bodyPr wrap="square" lIns="0" tIns="0" rIns="0" bIns="0" rtlCol="0" anchor="t"/>
          <a:lstStyle/>
          <a:p>
            <a:pPr indent="0" marL="0">
              <a:buNone/>
            </a:pPr>
            <a:r>
              <a:rPr lang="en-US" sz="2100" b="1" dirty="0">
                <a:solidFill>
                  <a:srgbClr val="0F2942"/>
                </a:solidFill>
                <a:latin typeface="Cambria" pitchFamily="34" charset="0"/>
                <a:ea typeface="Cambria" pitchFamily="34" charset="-122"/>
                <a:cs typeface="Cambria" pitchFamily="34" charset="-120"/>
              </a:rPr>
              <a:t>Thursday 01.10, in class</a:t>
            </a:r>
            <a:endParaRPr lang="en-US" sz="2100" dirty="0"/>
          </a:p>
        </p:txBody>
      </p:sp>
      <p:sp>
        <p:nvSpPr>
          <p:cNvPr id="29" name="Text 27"/>
          <p:cNvSpPr txBox="1"/>
          <p:nvPr/>
        </p:nvSpPr>
        <p:spPr>
          <a:xfrm>
            <a:off x="6553048" y="2615184"/>
            <a:ext cx="4797400" cy="685800"/>
          </a:xfrm>
          <a:prstGeom prst="rect">
            <a:avLst/>
          </a:prstGeom>
          <a:noFill/>
          <a:ln/>
        </p:spPr>
        <p:txBody>
          <a:bodyPr wrap="square" lIns="0" tIns="0" rIns="0" bIns="0" rtlCol="0" anchor="t"/>
          <a:lstStyle/>
          <a:p>
            <a:pPr indent="0" marL="0">
              <a:lnSpc>
                <a:spcPct val="110000"/>
              </a:lnSpc>
              <a:buNone/>
            </a:pPr>
            <a:r>
              <a:rPr lang="en-US" sz="1250" dirty="0">
                <a:solidFill>
                  <a:srgbClr val="3A536B"/>
                </a:solidFill>
                <a:latin typeface="Calibri" pitchFamily="34" charset="0"/>
                <a:ea typeface="Calibri" pitchFamily="34" charset="-122"/>
                <a:cs typeface="Calibri" pitchFamily="34" charset="-120"/>
              </a:rPr>
              <a:t>Covers Weeks 1, 2 and 3 — environment and basics, data types, selection, loops, and methods. 10% of the course mark. Arrays are not examined until Quiz 2.</a:t>
            </a:r>
            <a:endParaRPr lang="en-US" sz="1250" dirty="0"/>
          </a:p>
        </p:txBody>
      </p:sp>
      <p:sp>
        <p:nvSpPr>
          <p:cNvPr id="30" name="Shape 28"/>
          <p:cNvSpPr/>
          <p:nvPr/>
        </p:nvSpPr>
        <p:spPr>
          <a:xfrm>
            <a:off x="6278728" y="3602736"/>
            <a:ext cx="5346040" cy="1051560"/>
          </a:xfrm>
          <a:prstGeom prst="roundRect">
            <a:avLst>
              <a:gd name="adj" fmla="val 7826"/>
            </a:avLst>
          </a:prstGeom>
          <a:solidFill>
            <a:srgbClr val="E4ECF4"/>
          </a:solidFill>
          <a:ln w="12700">
            <a:solidFill>
              <a:srgbClr val="E4ECF4"/>
            </a:solidFill>
            <a:prstDash val="solid"/>
          </a:ln>
        </p:spPr>
      </p:sp>
      <p:sp>
        <p:nvSpPr>
          <p:cNvPr id="31" name="Text 29"/>
          <p:cNvSpPr txBox="1"/>
          <p:nvPr/>
        </p:nvSpPr>
        <p:spPr>
          <a:xfrm>
            <a:off x="6553048" y="3602736"/>
            <a:ext cx="4797400" cy="1051560"/>
          </a:xfrm>
          <a:prstGeom prst="rect">
            <a:avLst/>
          </a:prstGeom>
          <a:noFill/>
          <a:ln/>
        </p:spPr>
        <p:txBody>
          <a:bodyPr wrap="square" lIns="0" tIns="0" rIns="0" bIns="0" rtlCol="0" anchor="ctr"/>
          <a:lstStyle/>
          <a:p>
            <a:pPr indent="0" marL="0">
              <a:lnSpc>
                <a:spcPct val="112000"/>
              </a:lnSpc>
              <a:buNone/>
            </a:pPr>
            <a:r>
              <a:rPr lang="en-US" sz="1250" b="1" dirty="0">
                <a:solidFill>
                  <a:srgbClr val="0F2942"/>
                </a:solidFill>
                <a:latin typeface="Calibri" pitchFamily="34" charset="0"/>
                <a:ea typeface="Calibri" pitchFamily="34" charset="-122"/>
                <a:cs typeface="Calibri" pitchFamily="34" charset="-120"/>
              </a:rPr>
              <a:t>After the quiz: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Strings — immutability, StringBuilder, and the methods you have been wanting since week two.</a:t>
            </a:r>
            <a:endParaRPr lang="en-US" sz="1250" dirty="0"/>
          </a:p>
        </p:txBody>
      </p:sp>
      <p:sp>
        <p:nvSpPr>
          <p:cNvPr id="32" name="Shape 30"/>
          <p:cNvSpPr/>
          <p:nvPr/>
        </p:nvSpPr>
        <p:spPr>
          <a:xfrm>
            <a:off x="6278728" y="4800600"/>
            <a:ext cx="5346040" cy="1051560"/>
          </a:xfrm>
          <a:prstGeom prst="roundRect">
            <a:avLst>
              <a:gd name="adj" fmla="val 7826"/>
            </a:avLst>
          </a:prstGeom>
          <a:solidFill>
            <a:srgbClr val="FBEEE0"/>
          </a:solidFill>
          <a:ln w="12700">
            <a:solidFill>
              <a:srgbClr val="FBEEE0"/>
            </a:solidFill>
            <a:prstDash val="solid"/>
          </a:ln>
        </p:spPr>
      </p:sp>
      <p:sp>
        <p:nvSpPr>
          <p:cNvPr id="33" name="Text 31"/>
          <p:cNvSpPr txBox="1"/>
          <p:nvPr/>
        </p:nvSpPr>
        <p:spPr>
          <a:xfrm>
            <a:off x="6553048" y="4800600"/>
            <a:ext cx="4797400" cy="1051560"/>
          </a:xfrm>
          <a:prstGeom prst="rect">
            <a:avLst/>
          </a:prstGeom>
          <a:noFill/>
          <a:ln/>
        </p:spPr>
        <p:txBody>
          <a:bodyPr wrap="square" lIns="0" tIns="0" rIns="0" bIns="0" rtlCol="0" anchor="ctr"/>
          <a:lstStyle/>
          <a:p>
            <a:pPr indent="0" marL="0">
              <a:lnSpc>
                <a:spcPct val="110000"/>
              </a:lnSpc>
              <a:buNone/>
            </a:pPr>
            <a:r>
              <a:rPr lang="en-US" sz="1250" b="1" dirty="0">
                <a:solidFill>
                  <a:srgbClr val="9A430A"/>
                </a:solidFill>
                <a:latin typeface="Calibri" pitchFamily="34" charset="0"/>
                <a:ea typeface="Calibri" pitchFamily="34" charset="-122"/>
                <a:cs typeface="Calibri" pitchFamily="34" charset="-120"/>
              </a:rPr>
              <a:t>Office hours:  </a:t>
            </a:r>
            <a:pPr indent="0" marL="0">
              <a:lnSpc>
                <a:spcPct val="110000"/>
              </a:lnSpc>
              <a:buNone/>
            </a:pPr>
            <a:r>
              <a:rPr lang="en-US" sz="1250" dirty="0">
                <a:solidFill>
                  <a:srgbClr val="3A536B"/>
                </a:solidFill>
                <a:latin typeface="Calibri" pitchFamily="34" charset="0"/>
                <a:ea typeface="Calibri" pitchFamily="34" charset="-122"/>
                <a:cs typeface="Calibri" pitchFamily="34" charset="-120"/>
              </a:rPr>
              <a:t>Tuesday and Thursday 15:00–17:30 in MB 253. Come before the quiz, not after it.</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331720"/>
            <a:ext cx="7772400" cy="1005840"/>
          </a:xfrm>
          <a:prstGeom prst="rect">
            <a:avLst/>
          </a:prstGeom>
          <a:noFill/>
          <a:ln/>
        </p:spPr>
        <p:txBody>
          <a:bodyPr wrap="square" lIns="0" tIns="0" rIns="0" bIns="0" rtlCol="0" anchor="ctr"/>
          <a:lstStyle/>
          <a:p>
            <a:pPr indent="0" marL="0">
              <a:buNone/>
            </a:pPr>
            <a:r>
              <a:rPr lang="en-US" sz="5800" b="1" dirty="0">
                <a:solidFill>
                  <a:srgbClr val="0F2942"/>
                </a:solidFill>
                <a:latin typeface="Cambria" pitchFamily="34" charset="0"/>
                <a:ea typeface="Cambria" pitchFamily="34" charset="-122"/>
                <a:cs typeface="Cambria" pitchFamily="34" charset="-120"/>
              </a:rPr>
              <a:t>Questions?</a:t>
            </a:r>
            <a:endParaRPr lang="en-US" sz="5800" dirty="0"/>
          </a:p>
        </p:txBody>
      </p:sp>
      <p:sp>
        <p:nvSpPr>
          <p:cNvPr id="3" name="Text 1"/>
          <p:cNvSpPr txBox="1"/>
          <p:nvPr/>
        </p:nvSpPr>
        <p:spPr>
          <a:xfrm>
            <a:off x="566928" y="3383280"/>
            <a:ext cx="7772400" cy="402336"/>
          </a:xfrm>
          <a:prstGeom prst="rect">
            <a:avLst/>
          </a:prstGeom>
          <a:noFill/>
          <a:ln/>
        </p:spPr>
        <p:txBody>
          <a:bodyPr wrap="square" lIns="0" tIns="0" rIns="0" bIns="0" rtlCol="0" anchor="ctr"/>
          <a:lstStyle/>
          <a:p>
            <a:pPr indent="0" marL="0">
              <a:buNone/>
            </a:pPr>
            <a:r>
              <a:rPr lang="en-US" sz="1800" dirty="0">
                <a:solidFill>
                  <a:srgbClr val="9A430A"/>
                </a:solidFill>
                <a:latin typeface="Calibri" pitchFamily="34" charset="0"/>
                <a:ea typeface="Calibri" pitchFamily="34" charset="-122"/>
                <a:cs typeface="Calibri" pitchFamily="34" charset="-120"/>
              </a:rPr>
              <a:t>Thank you for your attention — good luck on Thursday.</a:t>
            </a:r>
            <a:endParaRPr lang="en-US" sz="1800" dirty="0"/>
          </a:p>
        </p:txBody>
      </p:sp>
      <p:sp>
        <p:nvSpPr>
          <p:cNvPr id="4" name="Text 2"/>
          <p:cNvSpPr txBox="1"/>
          <p:nvPr/>
        </p:nvSpPr>
        <p:spPr>
          <a:xfrm>
            <a:off x="566928" y="4206240"/>
            <a:ext cx="8229600" cy="1005840"/>
          </a:xfrm>
          <a:prstGeom prst="rect">
            <a:avLst/>
          </a:prstGeom>
          <a:noFill/>
          <a:ln/>
        </p:spPr>
        <p:txBody>
          <a:bodyPr wrap="square" lIns="0" tIns="0" rIns="0" bIns="0" rtlCol="0" anchor="ctr"/>
          <a:lstStyle/>
          <a:p>
            <a:pPr indent="0" marL="0">
              <a:lnSpc>
                <a:spcPct val="135000"/>
              </a:lnSpc>
              <a:buNone/>
            </a:pPr>
            <a:r>
              <a:rPr lang="en-US" sz="1350" b="1" dirty="0">
                <a:solidFill>
                  <a:srgbClr val="0F2942"/>
                </a:solidFill>
                <a:latin typeface="Calibri" pitchFamily="34" charset="0"/>
                <a:ea typeface="Calibri" pitchFamily="34" charset="-122"/>
                <a:cs typeface="Calibri" pitchFamily="34" charset="-120"/>
              </a:rPr>
              <a:t>Dr. Narasimha Rao Vajjhala</a:t>
            </a:r>
            <a:endParaRPr lang="en-US" sz="1350" dirty="0"/>
          </a:p>
          <a:p>
            <a:pPr indent="0" marL="0">
              <a:lnSpc>
                <a:spcPct val="135000"/>
              </a:lnSpc>
              <a:buNone/>
            </a:pPr>
            <a:r>
              <a:rPr lang="en-US" sz="1350" dirty="0">
                <a:solidFill>
                  <a:srgbClr val="3A536B"/>
                </a:solidFill>
                <a:latin typeface="Calibri" pitchFamily="34" charset="0"/>
                <a:ea typeface="Calibri" pitchFamily="34" charset="-122"/>
                <a:cs typeface="Calibri" pitchFamily="34" charset="-120"/>
              </a:rPr>
              <a:t>nrao@aubg.edu  ·  Office MB 253  ·  Office hours Tue &amp; Thu 15:00–17:30</a:t>
            </a:r>
            <a:endParaRPr lang="en-US" sz="1350" dirty="0"/>
          </a:p>
          <a:p>
            <a:pPr indent="0" marL="0">
              <a:lnSpc>
                <a:spcPct val="135000"/>
              </a:lnSpc>
              <a:buNone/>
            </a:pPr>
            <a:r>
              <a:rPr lang="en-US" sz="1350" dirty="0">
                <a:solidFill>
                  <a:srgbClr val="3A536B"/>
                </a:solidFill>
                <a:latin typeface="Calibri" pitchFamily="34" charset="0"/>
                <a:ea typeface="Calibri" pitchFamily="34" charset="-122"/>
                <a:cs typeface="Calibri" pitchFamily="34" charset="-120"/>
              </a:rPr>
              <a:t>Slides, recordings and the syllabus: aubg.instructure.com</a:t>
            </a:r>
            <a:endParaRPr lang="en-US" sz="1350" dirty="0"/>
          </a:p>
        </p:txBody>
      </p:sp>
      <p:sp>
        <p:nvSpPr>
          <p:cNvPr id="5" name="Text 3"/>
          <p:cNvSpPr txBox="1"/>
          <p:nvPr/>
        </p:nvSpPr>
        <p:spPr>
          <a:xfrm>
            <a:off x="7601407" y="2377440"/>
            <a:ext cx="4023360" cy="822960"/>
          </a:xfrm>
          <a:prstGeom prst="rect">
            <a:avLst/>
          </a:prstGeom>
          <a:noFill/>
          <a:ln/>
        </p:spPr>
        <p:txBody>
          <a:bodyPr wrap="square" lIns="0" tIns="0" rIns="0" bIns="0" rtlCol="0" anchor="ctr"/>
          <a:lstStyle/>
          <a:p>
            <a:pPr algn="r" indent="0" marL="0">
              <a:buNone/>
            </a:pPr>
            <a:r>
              <a:rPr lang="en-US" sz="4000" b="1" dirty="0">
                <a:solidFill>
                  <a:srgbClr val="5E778C"/>
                </a:solidFill>
                <a:latin typeface="Cambria" pitchFamily="34" charset="0"/>
                <a:ea typeface="Cambria" pitchFamily="34" charset="-122"/>
                <a:cs typeface="Cambria" pitchFamily="34" charset="-120"/>
              </a:rPr>
              <a:t>COS 2030</a:t>
            </a:r>
            <a:endParaRPr lang="en-US" sz="4000" dirty="0"/>
          </a:p>
        </p:txBody>
      </p:sp>
      <p:sp>
        <p:nvSpPr>
          <p:cNvPr id="6" name="Text 4"/>
          <p:cNvSpPr txBox="1"/>
          <p:nvPr/>
        </p:nvSpPr>
        <p:spPr>
          <a:xfrm>
            <a:off x="7601407" y="3200400"/>
            <a:ext cx="4023360" cy="731520"/>
          </a:xfrm>
          <a:prstGeom prst="rect">
            <a:avLst/>
          </a:prstGeom>
          <a:noFill/>
          <a:ln/>
        </p:spPr>
        <p:txBody>
          <a:bodyPr wrap="square" lIns="0" tIns="0" rIns="0" bIns="0" rtlCol="0" anchor="ctr"/>
          <a:lstStyle/>
          <a:p>
            <a:pPr algn="r" indent="0" marL="0">
              <a:lnSpc>
                <a:spcPct val="120000"/>
              </a:lnSpc>
              <a:buNone/>
            </a:pPr>
            <a:r>
              <a:rPr lang="en-US" sz="1300" dirty="0">
                <a:solidFill>
                  <a:srgbClr val="4B6377"/>
                </a:solidFill>
                <a:latin typeface="Calibri" pitchFamily="34" charset="0"/>
                <a:ea typeface="Calibri" pitchFamily="34" charset="-122"/>
                <a:cs typeface="Calibri" pitchFamily="34" charset="-120"/>
              </a:rPr>
              <a:t>Arrays</a:t>
            </a:r>
            <a:endParaRPr lang="en-US" sz="1300" dirty="0"/>
          </a:p>
          <a:p>
            <a:pPr algn="r" indent="0" marL="0">
              <a:lnSpc>
                <a:spcPct val="120000"/>
              </a:lnSpc>
              <a:buNone/>
            </a:pPr>
            <a:r>
              <a:rPr lang="en-US" sz="1300" dirty="0">
                <a:solidFill>
                  <a:srgbClr val="4B6377"/>
                </a:solidFill>
                <a:latin typeface="Calibri" pitchFamily="34" charset="0"/>
                <a:ea typeface="Calibri" pitchFamily="34" charset="-122"/>
                <a:cs typeface="Calibri" pitchFamily="34" charset="-120"/>
              </a:rPr>
              <a:t>Fall 2026 · Lecture 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American University in Bulgaria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 2030 - Basics in Java Programming - Lecture 6</dc:title>
  <dc:subject>PptxGenJS Presentation</dc:subject>
  <dc:creator>Dr. Narasimha Rao Vajjhala</dc:creator>
  <cp:lastModifiedBy>Dr. Narasimha Rao Vajjhala</cp:lastModifiedBy>
  <cp:revision>1</cp:revision>
  <dcterms:created xsi:type="dcterms:W3CDTF">2026-09-11T09:24:12Z</dcterms:created>
  <dcterms:modified xsi:type="dcterms:W3CDTF">2026-09-11T09:24:12Z</dcterms:modified>
</cp:coreProperties>
</file>