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45"/>
  </p:notesMasterIdLst>
  <p:sldIdLst>
    <p:sldId id="286" r:id="rId2"/>
    <p:sldId id="282" r:id="rId3"/>
    <p:sldId id="288" r:id="rId4"/>
    <p:sldId id="289" r:id="rId5"/>
    <p:sldId id="290" r:id="rId6"/>
    <p:sldId id="291" r:id="rId7"/>
    <p:sldId id="298" r:id="rId8"/>
    <p:sldId id="299" r:id="rId9"/>
    <p:sldId id="340" r:id="rId10"/>
    <p:sldId id="341" r:id="rId11"/>
    <p:sldId id="342" r:id="rId12"/>
    <p:sldId id="343" r:id="rId13"/>
    <p:sldId id="300" r:id="rId14"/>
    <p:sldId id="301" r:id="rId15"/>
    <p:sldId id="293" r:id="rId16"/>
    <p:sldId id="344" r:id="rId17"/>
    <p:sldId id="294" r:id="rId18"/>
    <p:sldId id="295" r:id="rId19"/>
    <p:sldId id="296" r:id="rId20"/>
    <p:sldId id="297" r:id="rId21"/>
    <p:sldId id="303" r:id="rId22"/>
    <p:sldId id="302" r:id="rId23"/>
    <p:sldId id="292" r:id="rId24"/>
    <p:sldId id="304" r:id="rId25"/>
    <p:sldId id="305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26" r:id="rId34"/>
    <p:sldId id="325" r:id="rId35"/>
    <p:sldId id="331" r:id="rId36"/>
    <p:sldId id="332" r:id="rId37"/>
    <p:sldId id="329" r:id="rId38"/>
    <p:sldId id="330" r:id="rId39"/>
    <p:sldId id="333" r:id="rId40"/>
    <p:sldId id="334" r:id="rId41"/>
    <p:sldId id="336" r:id="rId42"/>
    <p:sldId id="335" r:id="rId43"/>
    <p:sldId id="28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2"/>
            <p14:sldId id="288"/>
            <p14:sldId id="289"/>
            <p14:sldId id="290"/>
            <p14:sldId id="291"/>
            <p14:sldId id="298"/>
            <p14:sldId id="299"/>
            <p14:sldId id="340"/>
            <p14:sldId id="341"/>
            <p14:sldId id="342"/>
            <p14:sldId id="343"/>
            <p14:sldId id="300"/>
            <p14:sldId id="301"/>
            <p14:sldId id="293"/>
            <p14:sldId id="344"/>
            <p14:sldId id="294"/>
            <p14:sldId id="295"/>
            <p14:sldId id="296"/>
            <p14:sldId id="297"/>
            <p14:sldId id="303"/>
            <p14:sldId id="302"/>
            <p14:sldId id="292"/>
            <p14:sldId id="304"/>
            <p14:sldId id="305"/>
            <p14:sldId id="308"/>
            <p14:sldId id="309"/>
            <p14:sldId id="310"/>
            <p14:sldId id="311"/>
            <p14:sldId id="312"/>
            <p14:sldId id="313"/>
            <p14:sldId id="314"/>
            <p14:sldId id="326"/>
            <p14:sldId id="325"/>
            <p14:sldId id="331"/>
            <p14:sldId id="332"/>
            <p14:sldId id="329"/>
            <p14:sldId id="330"/>
            <p14:sldId id="333"/>
            <p14:sldId id="334"/>
            <p14:sldId id="336"/>
            <p14:sldId id="335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3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59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Object-Oriented Programming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10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2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10.1 Class Definition and Use</a:t>
            </a:r>
          </a:p>
          <a:p>
            <a:pPr marL="0" indent="0">
              <a:buNone/>
            </a:pPr>
            <a:r>
              <a:rPr lang="en-US" sz="3200" dirty="0"/>
              <a:t>10.2 Class Implementation</a:t>
            </a:r>
          </a:p>
          <a:p>
            <a:pPr marL="0" indent="0">
              <a:buNone/>
            </a:pPr>
            <a:r>
              <a:rPr lang="en-US" sz="3200" dirty="0"/>
              <a:t>10.3 Summary of Rules for Use of Classes and Objects</a:t>
            </a:r>
          </a:p>
          <a:p>
            <a:pPr marL="0" indent="0">
              <a:buNone/>
            </a:pPr>
            <a:r>
              <a:rPr lang="en-US" altLang="bg-BG" sz="3200" dirty="0"/>
              <a:t>10.4 Classes as Operands and Arguments</a:t>
            </a:r>
          </a:p>
          <a:p>
            <a:pPr marL="0" indent="0">
              <a:buNone/>
            </a:pPr>
            <a:r>
              <a:rPr lang="en-US" sz="3200" dirty="0"/>
              <a:t>10.5 A Fraction Class</a:t>
            </a:r>
          </a:p>
          <a:p>
            <a:pPr marL="0" indent="0">
              <a:buNone/>
            </a:pPr>
            <a:r>
              <a:rPr lang="en-US" sz="3200" dirty="0"/>
              <a:t>10.7 A Simple String Class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2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Data Types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200" dirty="0"/>
              <a:t>,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3200" dirty="0"/>
              <a:t> and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3200" dirty="0"/>
              <a:t> built-in types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Enumeration types, used for creating user-defined simple types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3200" dirty="0"/>
              <a:t>,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sz="3200" dirty="0"/>
              <a:t> and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sz="3200" dirty="0"/>
              <a:t> classes, part of the C++ standard library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OOP allows us to create user-defined types (classes) which extend the language capabilities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Can also derive new classes from existing ones - </a:t>
            </a:r>
            <a:r>
              <a:rPr lang="en-US" sz="3200" i="1" dirty="0"/>
              <a:t>inheritance</a:t>
            </a:r>
            <a:endParaRPr lang="bg-BG" sz="32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All of the data types consist of: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Data items and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Operations that can be performed on them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 C++ abstract data types are implemented as user-defined classes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11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lang="en-US" dirty="0"/>
              <a:t> Class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956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i="1" dirty="0"/>
              <a:t>Attributes</a:t>
            </a:r>
            <a:r>
              <a:rPr lang="en-US" sz="3200" dirty="0"/>
              <a:t>: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count</a:t>
            </a:r>
            <a:r>
              <a:rPr lang="en-US" sz="3000" dirty="0"/>
              <a:t>	     		the counter value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maxValue</a:t>
            </a:r>
            <a:r>
              <a:rPr lang="en-US" sz="3000" dirty="0"/>
              <a:t>	     	the maximum counter value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i="1" dirty="0"/>
              <a:t>Member Functions</a:t>
            </a:r>
            <a:r>
              <a:rPr lang="en-US" sz="3200" dirty="0"/>
              <a:t>: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increment</a:t>
            </a:r>
            <a:r>
              <a:rPr lang="en-US" sz="3000" dirty="0"/>
              <a:t>	     		increments the counter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decrement</a:t>
            </a:r>
            <a:r>
              <a:rPr lang="en-US" sz="3000" dirty="0"/>
              <a:t>	     		decrements the counter</a:t>
            </a:r>
          </a:p>
          <a:p>
            <a:pPr marL="201168" lvl="1" indent="0">
              <a:buNone/>
            </a:pP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setCount</a:t>
            </a:r>
            <a:r>
              <a:rPr lang="en-US" sz="3000" dirty="0"/>
              <a:t>		     	sets the counter value</a:t>
            </a:r>
          </a:p>
          <a:p>
            <a:pPr marL="201168" lvl="1" indent="0">
              <a:buNone/>
            </a:pP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setMaxValue</a:t>
            </a:r>
            <a:r>
              <a:rPr lang="en-US" sz="3000" dirty="0"/>
              <a:t>	     		sets the maximum value</a:t>
            </a:r>
          </a:p>
          <a:p>
            <a:pPr marL="201168" lvl="1" indent="0">
              <a:buNone/>
            </a:pP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getCount</a:t>
            </a:r>
            <a:r>
              <a:rPr lang="en-US" sz="3000" dirty="0"/>
              <a:t>	     		returns the count</a:t>
            </a:r>
          </a:p>
          <a:p>
            <a:pPr marL="201168" lvl="1" indent="0">
              <a:buNone/>
            </a:pP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getMaxValue</a:t>
            </a:r>
            <a:r>
              <a:rPr lang="en-US" sz="3000" dirty="0"/>
              <a:t>	     		returns the maximum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76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Diagram for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lang="en-US" dirty="0"/>
              <a:t> Class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444" y="1846263"/>
            <a:ext cx="9759437" cy="43846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911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Definition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3852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2B91AF"/>
                </a:solidFill>
                <a:latin typeface="Consolas" panose="020B0609020204030204" pitchFamily="49" charset="0"/>
              </a:rPr>
              <a:t>MyClass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8000"/>
                </a:solidFill>
                <a:latin typeface="Consolas" panose="020B0609020204030204" pitchFamily="49" charset="0"/>
              </a:rPr>
              <a:t>    // member functions and variables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8000"/>
                </a:solidFill>
                <a:latin typeface="Consolas" panose="020B0609020204030204" pitchFamily="49" charset="0"/>
              </a:rPr>
              <a:t>    // hidden members like attributes, etc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};  </a:t>
            </a:r>
            <a:r>
              <a:rPr lang="en-US" sz="3200" dirty="0">
                <a:solidFill>
                  <a:srgbClr val="008000"/>
                </a:solidFill>
                <a:latin typeface="Consolas" panose="020B0609020204030204" pitchFamily="49" charset="0"/>
              </a:rPr>
              <a:t>// Note - must end with a semicolon</a:t>
            </a:r>
            <a:endParaRPr lang="en-US" altLang="bg-BG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80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Definition Explained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Public</a:t>
            </a:r>
            <a:r>
              <a:rPr lang="en-US" sz="3200" dirty="0"/>
              <a:t> section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Specifications for variables, types, constants, and functions </a:t>
            </a:r>
            <a:r>
              <a:rPr lang="en-US" sz="3000" b="1" i="1" dirty="0"/>
              <a:t>accessible</a:t>
            </a:r>
            <a:r>
              <a:rPr lang="en-US" sz="3000" dirty="0"/>
              <a:t> by another program component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Private</a:t>
            </a:r>
            <a:r>
              <a:rPr lang="en-US" sz="3200" dirty="0"/>
              <a:t> section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Specifications for variables, types, constants, and functions to be </a:t>
            </a:r>
            <a:r>
              <a:rPr lang="en-US" sz="3000" b="1" i="1" dirty="0"/>
              <a:t>hidden</a:t>
            </a:r>
            <a:r>
              <a:rPr lang="en-US" sz="3000" dirty="0"/>
              <a:t> from other program components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Usually separated in a class header file (.h) – called class </a:t>
            </a:r>
            <a:r>
              <a:rPr lang="en-US" sz="3200" i="1" dirty="0"/>
              <a:t>interface</a:t>
            </a:r>
            <a:r>
              <a:rPr lang="en-US" sz="3200" dirty="0"/>
              <a:t>, and containing only member function prototypes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21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Header File (1)</a:t>
            </a:r>
          </a:p>
        </p:txBody>
      </p:sp>
      <p:pic>
        <p:nvPicPr>
          <p:cNvPr id="6" name="Content Placeholder 5" descr="headers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" r="-916" b="58016"/>
          <a:stretch/>
        </p:blipFill>
        <p:spPr>
          <a:xfrm>
            <a:off x="1201409" y="1822660"/>
            <a:ext cx="4091769" cy="291819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03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Header File (2)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10</a:t>
            </a:fld>
            <a:endParaRPr lang="en-US"/>
          </a:p>
        </p:txBody>
      </p:sp>
      <p:pic>
        <p:nvPicPr>
          <p:cNvPr id="5" name="Content Placeholder 4" descr="headers2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" r="-417" b="17198"/>
          <a:stretch/>
        </p:blipFill>
        <p:spPr>
          <a:xfrm>
            <a:off x="1119496" y="1816649"/>
            <a:ext cx="5879908" cy="427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3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Header File (3)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11</a:t>
            </a:fld>
            <a:endParaRPr lang="en-US"/>
          </a:p>
        </p:txBody>
      </p:sp>
      <p:pic>
        <p:nvPicPr>
          <p:cNvPr id="7" name="Content Placeholder 6" descr="headers3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630" r="-29216"/>
          <a:stretch/>
        </p:blipFill>
        <p:spPr>
          <a:xfrm>
            <a:off x="1096963" y="1846263"/>
            <a:ext cx="10058400" cy="4022725"/>
          </a:xfrm>
        </p:spPr>
      </p:pic>
    </p:spTree>
    <p:extLst>
      <p:ext uri="{BB962C8B-B14F-4D97-AF65-F5344CB8AC3E}">
        <p14:creationId xmlns:p14="http://schemas.microsoft.com/office/powerpoint/2010/main" val="2790009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Header File (4)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12</a:t>
            </a:fld>
            <a:endParaRPr lang="en-US"/>
          </a:p>
        </p:txBody>
      </p:sp>
      <p:pic>
        <p:nvPicPr>
          <p:cNvPr id="5" name="Content Placeholder 4" descr="headers4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566" b="-31556"/>
          <a:stretch/>
        </p:blipFill>
        <p:spPr>
          <a:xfrm>
            <a:off x="1096963" y="1846263"/>
            <a:ext cx="10058400" cy="4022725"/>
          </a:xfrm>
        </p:spPr>
      </p:pic>
    </p:spTree>
    <p:extLst>
      <p:ext uri="{BB962C8B-B14F-4D97-AF65-F5344CB8AC3E}">
        <p14:creationId xmlns:p14="http://schemas.microsoft.com/office/powerpoint/2010/main" val="95285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 </a:t>
            </a:r>
            <a:r>
              <a:rPr lang="en-US" dirty="0"/>
              <a:t>Class Interface</a:t>
            </a:r>
            <a:endParaRPr lang="bg-BG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44749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ifndef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F008A"/>
                </a:solidFill>
                <a:latin typeface="Consolas" panose="020B0609020204030204" pitchFamily="49" charset="0"/>
              </a:rPr>
              <a:t>COUNTER_H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#define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COUNTER_H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Counter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constructors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Counter();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Counter(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member functions</a:t>
            </a: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increment();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decrement();</a:t>
            </a:r>
            <a:endParaRPr lang="bg-BG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4937760" cy="444749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accessors/mutators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setCount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getCount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setMaxValue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getMaxValue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data members (attributes)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count;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maxValue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endif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72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Compiler Directives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386508" cy="44743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compiler directives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3200" dirty="0"/>
              <a:t>,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sz="3200" dirty="0"/>
              <a:t>and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dirty="0"/>
              <a:t>are used to prevent multiple definitions of the class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  <a:t>#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</a:rPr>
              <a:t>ifndef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COUNTER_H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  <a:t>#define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COUNTER_H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 // if COUNTER_H has not been defined, the next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 // line defines it and the remaining statements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 // through the #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endif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directive are executed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  <a:t>#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</a:rPr>
              <a:t>endif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66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Implementation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implementation file (counter.cpp) contains the code for the class member functions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By putting those in a separate file, we hide implementation details from its users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We use the </a:t>
            </a:r>
            <a:r>
              <a:rPr lang="en-US" sz="3200" b="1" dirty="0"/>
              <a:t>scope resolution operator </a:t>
            </a:r>
            <a:r>
              <a:rPr lang="en-US" sz="3200" b="1" dirty="0">
                <a:cs typeface="Courier New" panose="02070309020205020404" pitchFamily="49" charset="0"/>
              </a:rPr>
              <a:t>::</a:t>
            </a:r>
            <a:r>
              <a:rPr lang="en-US" sz="3200" dirty="0"/>
              <a:t> as a prefix to each member function of the class in the implementation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class member functions can access all data members – public and private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43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Implementation (continued)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16</a:t>
            </a:fld>
            <a:endParaRPr lang="en-US"/>
          </a:p>
        </p:txBody>
      </p:sp>
      <p:pic>
        <p:nvPicPr>
          <p:cNvPr id="6" name="Content Placeholder 5" descr="create_definition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140" t="16054" r="-31140"/>
          <a:stretch/>
        </p:blipFill>
        <p:spPr>
          <a:xfrm>
            <a:off x="1097280" y="1822660"/>
            <a:ext cx="10058400" cy="4046433"/>
          </a:xfrm>
        </p:spPr>
      </p:pic>
    </p:spTree>
    <p:extLst>
      <p:ext uri="{BB962C8B-B14F-4D97-AF65-F5344CB8AC3E}">
        <p14:creationId xmlns:p14="http://schemas.microsoft.com/office/powerpoint/2010/main" val="2421831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 </a:t>
            </a:r>
            <a:r>
              <a:rPr lang="en-US" dirty="0"/>
              <a:t>Class Implementation (counter.cpp)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385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climits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counter.h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Counter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::Counter()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count =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maxValue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6F008A"/>
                </a:solidFill>
                <a:latin typeface="Consolas" panose="020B0609020204030204" pitchFamily="49" charset="0"/>
              </a:rPr>
              <a:t>INT_MAX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Counter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::Counter(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mVal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count =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maxValue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mVal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24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 </a:t>
            </a:r>
            <a:r>
              <a:rPr lang="en-US" dirty="0"/>
              <a:t>Class Implementation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Counter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::increment()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(count 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maxValue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count++;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cerr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"Counter overflow"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Counter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::decrement()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(count &gt;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count--;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cerr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"Counter underflow"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64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 </a:t>
            </a:r>
            <a:r>
              <a:rPr lang="en-US" dirty="0"/>
              <a:t>Class Implementation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Counter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setCount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808080"/>
                </a:solidFill>
                <a:latin typeface="Consolas" panose="020B0609020204030204" pitchFamily="49" charset="0"/>
              </a:rPr>
              <a:t>val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&gt;= 0 &amp;&amp; </a:t>
            </a:r>
            <a:r>
              <a:rPr lang="nn-NO" dirty="0">
                <a:solidFill>
                  <a:srgbClr val="808080"/>
                </a:solidFill>
                <a:latin typeface="Consolas" panose="020B0609020204030204" pitchFamily="49" charset="0"/>
              </a:rPr>
              <a:t>val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&lt;= maxValue)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count 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cerr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"Out of range"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Counter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getCount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count;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83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43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Special member functions with the same name as the class and no return type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Automatically executed each time an object is created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Used for initializing the object’s data members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Default (zero-parameter) constructor:</a:t>
            </a:r>
          </a:p>
          <a:p>
            <a:pPr marL="201168" lvl="1" indent="0">
              <a:spcBef>
                <a:spcPts val="600"/>
              </a:spcBef>
              <a:buNone/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	Counter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c1;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One parameter constructor:</a:t>
            </a:r>
          </a:p>
          <a:p>
            <a:pPr marL="201168" lvl="1" indent="0">
              <a:spcBef>
                <a:spcPts val="600"/>
              </a:spcBef>
              <a:buNone/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	Counter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c2(10);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6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Accessor and Modifier Functions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33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Member functions which modify object data members are called </a:t>
            </a:r>
            <a:r>
              <a:rPr lang="en-US" sz="3200" i="1" dirty="0"/>
              <a:t>modifiers</a:t>
            </a:r>
            <a:r>
              <a:rPr lang="en-US" sz="3200" dirty="0"/>
              <a:t> (</a:t>
            </a:r>
            <a:r>
              <a:rPr lang="en-US" sz="3200" i="1" dirty="0"/>
              <a:t>mutators</a:t>
            </a:r>
            <a:r>
              <a:rPr lang="en-US" sz="3200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increment(), decrement()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setCount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(int)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Member functions that do not update the object’s state are called </a:t>
            </a:r>
            <a:r>
              <a:rPr lang="en-US" sz="3200" i="1" dirty="0"/>
              <a:t>accessors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getCount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getMaxValue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>
                <a:cs typeface="Courier New" panose="02070309020205020404" pitchFamily="49" charset="0"/>
              </a:rPr>
              <a:t>Can contain the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3000" dirty="0">
                <a:cs typeface="Courier New" panose="02070309020205020404" pitchFamily="49" charset="0"/>
              </a:rPr>
              <a:t> keyword at the end of the header to enforce that behavior</a:t>
            </a:r>
            <a:endParaRPr lang="bg-BG" sz="3000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96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Using the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lang="en-US" altLang="bg-BG" dirty="0"/>
              <a:t> Class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To use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lang="en-US" sz="3200" dirty="0"/>
              <a:t> class in a program, you must include the "</a:t>
            </a:r>
            <a:r>
              <a:rPr lang="en-US" sz="3200" dirty="0" err="1"/>
              <a:t>counter.h</a:t>
            </a:r>
            <a:r>
              <a:rPr lang="en-US" sz="3200" dirty="0"/>
              <a:t>" header file as the class definition is contained there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   #include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32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2400"/>
              </a:spcAft>
              <a:buNone/>
            </a:pP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   #include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3200" dirty="0" err="1">
                <a:solidFill>
                  <a:srgbClr val="A31515"/>
                </a:solidFill>
                <a:latin typeface="Consolas" panose="020B0609020204030204" pitchFamily="49" charset="0"/>
              </a:rPr>
              <a:t>counter.h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To include a </a:t>
            </a:r>
            <a:r>
              <a:rPr lang="en-US" sz="3200" b="1" dirty="0"/>
              <a:t>header file</a:t>
            </a:r>
            <a:r>
              <a:rPr lang="en-US" sz="3200" dirty="0"/>
              <a:t>, one must use double quotes around its name, instead of brackets (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&lt;&gt;</a:t>
            </a:r>
            <a:r>
              <a:rPr lang="en-US" sz="3200" dirty="0"/>
              <a:t>)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50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Counter Test Program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5645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counter.h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   Counter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c1;      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declare two objects of type counter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   Counter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c2(10);  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c2 has a maximum value of 10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c1.setCount(50); 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set the value of c1 to 50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c1.decrement();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"c1 is: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c1.getCount()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c2.increment();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"c2 is: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c2.getCount()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return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97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Compiler Directives in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counter.cpp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Both the implementation file (counter.cpp) and the main program file contained the line: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#include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800" dirty="0" err="1">
                <a:solidFill>
                  <a:srgbClr val="A31515"/>
                </a:solidFill>
                <a:latin typeface="Consolas" panose="020B0609020204030204" pitchFamily="49" charset="0"/>
              </a:rPr>
              <a:t>counter.h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This is required so the compiler can find the class definition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3200" dirty="0"/>
              <a:t>,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sz="3200" dirty="0"/>
              <a:t>and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  <a:r>
              <a:rPr lang="en-US" sz="3200" dirty="0">
                <a:cs typeface="Courier New" panose="02070309020205020404" pitchFamily="49" charset="0"/>
              </a:rPr>
              <a:t> in the header file </a:t>
            </a:r>
            <a:r>
              <a:rPr lang="en-US" sz="3200" dirty="0"/>
              <a:t>prevented multiple definitions of the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Note the inclusion of the </a:t>
            </a:r>
            <a:r>
              <a:rPr lang="en-US" altLang="bg-BG" sz="3200" b="1" dirty="0" err="1">
                <a:cs typeface="Courier New" panose="02070309020205020404" pitchFamily="49" charset="0"/>
              </a:rPr>
              <a:t>climits</a:t>
            </a:r>
            <a:r>
              <a:rPr lang="en-US" altLang="bg-BG" sz="3200" dirty="0"/>
              <a:t>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65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Summary of Rules for </a:t>
            </a:r>
            <a:br>
              <a:rPr lang="en-US" altLang="bg-BG" dirty="0"/>
            </a:br>
            <a:r>
              <a:rPr lang="en-US" altLang="bg-BG" dirty="0"/>
              <a:t>Use of Classes and Objects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012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Objects as class </a:t>
            </a:r>
            <a:r>
              <a:rPr lang="en-US" sz="3200" i="1" dirty="0"/>
              <a:t>instances</a:t>
            </a:r>
          </a:p>
          <a:p>
            <a:pPr marL="201168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	Counter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c1;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Creates an instance of the class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default (zero-parameter) constructor is invoked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Allocates space in memory for the object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Similar to other data type declarations: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value;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Allocates space in memory for a data type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bg-BG" sz="3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164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Private vs Public Access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Public</a:t>
            </a:r>
            <a:r>
              <a:rPr lang="en-US" sz="3200" dirty="0"/>
              <a:t> member functions are accessible from outside the class and allow users to perform operations on an object: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E.g.: </a:t>
            </a: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setCount</a:t>
            </a:r>
            <a:r>
              <a:rPr lang="en-US" sz="3000" dirty="0"/>
              <a:t>,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increment</a:t>
            </a:r>
            <a:r>
              <a:rPr lang="en-US" sz="3000" dirty="0"/>
              <a:t>,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decrement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Classes may have </a:t>
            </a:r>
            <a:r>
              <a:rPr lang="en-US" sz="3200" b="1" dirty="0"/>
              <a:t>private</a:t>
            </a:r>
            <a:r>
              <a:rPr lang="en-US" sz="3200" dirty="0"/>
              <a:t> member functions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If member functions do not need to be used from external code, they should be private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Class attributes are usually, but not always, private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Be cautious when defining public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65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Syntax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3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endParaRPr lang="en-US" sz="32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public:</a:t>
            </a:r>
          </a:p>
          <a:p>
            <a:pPr marL="0" indent="0">
              <a:buNone/>
            </a:pPr>
            <a:r>
              <a:rPr lang="en-US" sz="3200" dirty="0"/>
              <a:t>		</a:t>
            </a:r>
            <a:r>
              <a:rPr lang="en-US" sz="3200" i="1" dirty="0"/>
              <a:t>List all public data and functions</a:t>
            </a:r>
          </a:p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pPr marL="0" indent="0">
              <a:buNone/>
            </a:pPr>
            <a:r>
              <a:rPr lang="en-US" sz="3200" dirty="0"/>
              <a:t>		</a:t>
            </a:r>
            <a:r>
              <a:rPr lang="en-US" sz="3200" i="1" dirty="0"/>
              <a:t>List all private data and functions</a:t>
            </a:r>
          </a:p>
          <a:p>
            <a:pPr marL="0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r>
              <a:rPr lang="en-US" sz="3200" dirty="0"/>
              <a:t>		</a:t>
            </a:r>
            <a:r>
              <a:rPr lang="en-US" sz="3200" i="1" dirty="0"/>
              <a:t>Don’t forget the semicolon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96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Member Function Definition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0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0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formal parameter list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pPr marL="0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body</a:t>
            </a:r>
          </a:p>
          <a:p>
            <a:pPr marL="0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pPr marL="0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02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Arrays, Structs and Classes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Class data members can be of any type: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Simple built-in types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Arrays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Structs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Other class types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You can also declare an array of class objects:</a:t>
            </a:r>
          </a:p>
          <a:p>
            <a:pPr marL="201168" lvl="1" indent="0">
              <a:spcBef>
                <a:spcPts val="600"/>
              </a:spcBef>
              <a:buNone/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	Counter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counters[10];</a:t>
            </a:r>
          </a:p>
          <a:p>
            <a:pPr marL="201168" lvl="1" indent="0">
              <a:spcBef>
                <a:spcPts val="60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alibri (Body)"/>
                <a:cs typeface="Calibri (Body)"/>
              </a:rPr>
              <a:t>Note: counter should have a </a:t>
            </a:r>
            <a:r>
              <a:rPr lang="en-US" sz="2800" u="sng" dirty="0">
                <a:solidFill>
                  <a:srgbClr val="FF0000"/>
                </a:solidFill>
                <a:latin typeface="Calibri (Body)"/>
                <a:cs typeface="Calibri (Body)"/>
              </a:rPr>
              <a:t>default</a:t>
            </a:r>
            <a:r>
              <a:rPr lang="en-US" sz="2800" dirty="0">
                <a:solidFill>
                  <a:srgbClr val="FF0000"/>
                </a:solidFill>
                <a:latin typeface="Calibri (Body)"/>
                <a:cs typeface="Calibri (Body)"/>
              </a:rPr>
              <a:t> constructor in order for this to work!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977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Function Overloading &amp; Polymorphism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lang="en-US" sz="3200" dirty="0"/>
              <a:t> class has two functions with the same name – the constructors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Defining multiple functions with the same name is called </a:t>
            </a:r>
            <a:r>
              <a:rPr lang="en-US" sz="3200" b="1" dirty="0"/>
              <a:t>function overloading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ability of a function to change its operation based on the parameters or the object it is applied to, is called </a:t>
            </a:r>
            <a:r>
              <a:rPr lang="en-US" sz="3200" b="1" dirty="0"/>
              <a:t>polymorphism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79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Classes as Operands and Arguments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assignment operator can be used with two objects of same type, but not other operators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Others must be re-defined through a mechanism called </a:t>
            </a:r>
            <a:r>
              <a:rPr lang="en-US" sz="3000" b="1" dirty="0"/>
              <a:t>operator overloading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To pass an object of class type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bg-BG" sz="3200" dirty="0"/>
              <a:t> as parameter with name </a:t>
            </a:r>
            <a:r>
              <a:rPr lang="en-US" altLang="bg-BG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altLang="bg-BG" sz="3200" dirty="0"/>
              <a:t>, use: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C&amp; </a:t>
            </a: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000" dirty="0"/>
              <a:t>– as a formal reference parameter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 C&amp; </a:t>
            </a: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000" dirty="0"/>
              <a:t>– as a constant reference formal parameter to indicate that the object cannot be modified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75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compareCounter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Function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56455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2B91AF"/>
                </a:solidFill>
                <a:latin typeface="Consolas" panose="020B0609020204030204" pitchFamily="49" charset="0"/>
              </a:rPr>
              <a:t>Counter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compareCounter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2B91AF"/>
                </a:solidFill>
                <a:latin typeface="Consolas" panose="020B0609020204030204" pitchFamily="49" charset="0"/>
              </a:rPr>
              <a:t>Counter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3200" dirty="0" err="1">
                <a:solidFill>
                  <a:srgbClr val="808080"/>
                </a:solidFill>
                <a:latin typeface="Consolas" panose="020B0609020204030204" pitchFamily="49" charset="0"/>
              </a:rPr>
              <a:t>aCounter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result;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(count &lt; </a:t>
            </a:r>
            <a:r>
              <a:rPr lang="en-US" sz="3200" dirty="0" err="1">
                <a:solidFill>
                  <a:srgbClr val="808080"/>
                </a:solidFill>
                <a:latin typeface="Consolas" panose="020B0609020204030204" pitchFamily="49" charset="0"/>
              </a:rPr>
              <a:t>aCounter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.count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   result = -1;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(count == </a:t>
            </a:r>
            <a:r>
              <a:rPr lang="en-US" sz="3200" dirty="0" err="1">
                <a:solidFill>
                  <a:srgbClr val="808080"/>
                </a:solidFill>
                <a:latin typeface="Consolas" panose="020B0609020204030204" pitchFamily="49" charset="0"/>
              </a:rPr>
              <a:t>aCounter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.count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   result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   result = 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result;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538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Types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1024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Object-oriented programming relies on heavy usage and implementation of user-defined types – by using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3200" dirty="0"/>
              <a:t> construct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UDTs are designed and developed to provide specific functionality, not implemented by built-in types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They are implemented by using built-in types and other already defined user types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Once defined, they can be used in the program for many different purposes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14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String Class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If C++ Standard Library did not provide a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3200" dirty="0"/>
              <a:t> class, we would have to create one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minimum functionality we need is:</a:t>
            </a:r>
          </a:p>
          <a:p>
            <a:pPr marL="201168" lvl="1" indent="0">
              <a:buNone/>
            </a:pPr>
            <a:r>
              <a:rPr lang="en-US" sz="3000" dirty="0"/>
              <a:t>- create a string</a:t>
            </a:r>
          </a:p>
          <a:p>
            <a:pPr marL="201168" lvl="1" indent="0">
              <a:buNone/>
            </a:pPr>
            <a:r>
              <a:rPr lang="en-US" sz="3000" dirty="0"/>
              <a:t>- length</a:t>
            </a:r>
          </a:p>
          <a:p>
            <a:pPr marL="201168" lvl="1" indent="0">
              <a:buNone/>
            </a:pPr>
            <a:r>
              <a:rPr lang="en-US" sz="3000" dirty="0"/>
              <a:t>- capacity</a:t>
            </a:r>
          </a:p>
          <a:p>
            <a:pPr marL="201168" lvl="1" indent="0">
              <a:buNone/>
            </a:pPr>
            <a:r>
              <a:rPr lang="en-US" sz="3000" dirty="0"/>
              <a:t>- at</a:t>
            </a:r>
          </a:p>
          <a:p>
            <a:pPr marL="201168" lvl="1" indent="0">
              <a:buNone/>
            </a:pPr>
            <a:r>
              <a:rPr lang="en-US" sz="3000" dirty="0"/>
              <a:t>- read and write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897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Specification for Class </a:t>
            </a:r>
            <a:r>
              <a:rPr lang="en-US" altLang="bg-B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SimpleString</a:t>
            </a:r>
            <a:endParaRPr lang="bg-B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Attributes</a:t>
            </a:r>
          </a:p>
          <a:p>
            <a:pPr marL="201168" lvl="1" indent="0">
              <a:buNone/>
            </a:pPr>
            <a:r>
              <a:rPr lang="en-US" sz="3000" dirty="0"/>
              <a:t>- capacity</a:t>
            </a:r>
          </a:p>
          <a:p>
            <a:pPr marL="201168" lvl="1" indent="0">
              <a:buNone/>
            </a:pPr>
            <a:r>
              <a:rPr lang="en-US" sz="3000" dirty="0"/>
              <a:t>- contents</a:t>
            </a:r>
          </a:p>
          <a:p>
            <a:pPr marL="201168" lvl="1" indent="0">
              <a:buNone/>
            </a:pPr>
            <a:r>
              <a:rPr lang="en-US" sz="3000" dirty="0"/>
              <a:t>- length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Member functions</a:t>
            </a:r>
          </a:p>
          <a:p>
            <a:pPr marL="201168" lvl="1" indent="0">
              <a:buNone/>
            </a:pPr>
            <a:r>
              <a:rPr lang="en-US" sz="3000" dirty="0"/>
              <a:t>- </a:t>
            </a:r>
            <a:r>
              <a:rPr lang="en-US" sz="3000" dirty="0" err="1"/>
              <a:t>SimpleString</a:t>
            </a:r>
            <a:r>
              <a:rPr lang="en-US" sz="3000" dirty="0"/>
              <a:t>		 - </a:t>
            </a:r>
            <a:r>
              <a:rPr lang="en-US" sz="3000" dirty="0" err="1"/>
              <a:t>getLength</a:t>
            </a:r>
            <a:endParaRPr lang="en-US" sz="3000" dirty="0"/>
          </a:p>
          <a:p>
            <a:pPr marL="201168" lvl="1" indent="0">
              <a:buNone/>
            </a:pPr>
            <a:r>
              <a:rPr lang="en-US" sz="3000" dirty="0"/>
              <a:t>- </a:t>
            </a:r>
            <a:r>
              <a:rPr lang="en-US" sz="3000" dirty="0" err="1"/>
              <a:t>readString</a:t>
            </a:r>
            <a:r>
              <a:rPr lang="en-US" sz="3000" dirty="0"/>
              <a:t>		 - </a:t>
            </a:r>
            <a:r>
              <a:rPr lang="en-US" sz="3000" dirty="0" err="1"/>
              <a:t>getCapacity</a:t>
            </a:r>
            <a:endParaRPr lang="en-US" sz="3000" dirty="0"/>
          </a:p>
          <a:p>
            <a:pPr marL="201168" lvl="1" indent="0">
              <a:buNone/>
            </a:pPr>
            <a:r>
              <a:rPr lang="en-US" sz="3000" dirty="0"/>
              <a:t>- </a:t>
            </a:r>
            <a:r>
              <a:rPr lang="en-US" sz="3000" dirty="0" err="1"/>
              <a:t>writeString</a:t>
            </a:r>
            <a:r>
              <a:rPr lang="en-US" sz="3000" dirty="0"/>
              <a:t>		 - at 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648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SimpleString</a:t>
            </a:r>
            <a:r>
              <a:rPr lang="en-US" dirty="0"/>
              <a:t> Class Interface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3757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#pragma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once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SimpleString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SimpleString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readString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writeString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bg-BG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217920" y="2079812"/>
            <a:ext cx="4937760" cy="41416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getLength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getCapacity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getContents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2F4F4F"/>
                </a:solidFill>
                <a:latin typeface="Consolas" panose="020B0609020204030204" pitchFamily="49" charset="0"/>
              </a:rPr>
              <a:t>capacity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255 };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contents[</a:t>
            </a:r>
            <a:r>
              <a:rPr lang="en-US" dirty="0">
                <a:solidFill>
                  <a:srgbClr val="2F4F4F"/>
                </a:solidFill>
                <a:latin typeface="Consolas" panose="020B0609020204030204" pitchFamily="49" charset="0"/>
              </a:rPr>
              <a:t>capacity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length;</a:t>
            </a: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96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SimpleString</a:t>
            </a:r>
            <a:r>
              <a:rPr lang="en-US" dirty="0"/>
              <a:t> Class Implementation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9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9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900" dirty="0" err="1">
                <a:solidFill>
                  <a:srgbClr val="A31515"/>
                </a:solidFill>
                <a:latin typeface="Consolas" panose="020B0609020204030204" pitchFamily="49" charset="0"/>
              </a:rPr>
              <a:t>SimpleString.h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err="1">
                <a:solidFill>
                  <a:srgbClr val="2B91AF"/>
                </a:solidFill>
                <a:latin typeface="Consolas" panose="020B0609020204030204" pitchFamily="49" charset="0"/>
              </a:rPr>
              <a:t>SimpleString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SimpleString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length =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2B91AF"/>
                </a:solidFill>
                <a:latin typeface="Consolas" panose="020B0609020204030204" pitchFamily="49" charset="0"/>
              </a:rPr>
              <a:t>SimpleString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writeString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&lt; length;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   cout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contents[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bg-BG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53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SimpleString</a:t>
            </a:r>
            <a:r>
              <a:rPr lang="en-US" dirty="0"/>
              <a:t> Class Implementation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95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2B91AF"/>
                </a:solidFill>
                <a:latin typeface="Consolas" panose="020B0609020204030204" pitchFamily="49" charset="0"/>
              </a:rPr>
              <a:t>SimpleString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readString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next;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cin.get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(next);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while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((next != 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'\n'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 &amp;&amp; (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3200" dirty="0">
                <a:solidFill>
                  <a:srgbClr val="2F4F4F"/>
                </a:solidFill>
                <a:latin typeface="Consolas" panose="020B0609020204030204" pitchFamily="49" charset="0"/>
              </a:rPr>
              <a:t>capacity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   contents[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 = next;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cin.get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(next);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sz="3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length =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426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SimpleString</a:t>
            </a:r>
            <a:r>
              <a:rPr lang="en-US" dirty="0"/>
              <a:t> Class Implementation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SimpleString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::at(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 0) &amp;&amp; (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&gt;= length)) 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cerr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"Character not defined"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'\0'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contents[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38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SimpleString</a:t>
            </a:r>
            <a:r>
              <a:rPr lang="en-US" dirty="0"/>
              <a:t> Class Implementation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9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2B91AF"/>
                </a:solidFill>
                <a:latin typeface="Consolas" panose="020B0609020204030204" pitchFamily="49" charset="0"/>
              </a:rPr>
              <a:t>SimpleString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getLength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length;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2B91AF"/>
                </a:solidFill>
                <a:latin typeface="Consolas" panose="020B0609020204030204" pitchFamily="49" charset="0"/>
              </a:rPr>
              <a:t>SimpleString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getCapacity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2F4F4F"/>
                </a:solidFill>
                <a:latin typeface="Consolas" panose="020B0609020204030204" pitchFamily="49" charset="0"/>
              </a:rPr>
              <a:t>capacity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2B91AF"/>
                </a:solidFill>
                <a:latin typeface="Consolas" panose="020B0609020204030204" pitchFamily="49" charset="0"/>
              </a:rPr>
              <a:t>SimpleString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getContents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808080"/>
                </a:solidFill>
                <a:latin typeface="Consolas" panose="020B0609020204030204" pitchFamily="49" charset="0"/>
              </a:rPr>
              <a:t>str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[])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&lt; length;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      </a:t>
            </a:r>
            <a:r>
              <a:rPr lang="en-US" sz="1900" dirty="0" err="1">
                <a:solidFill>
                  <a:srgbClr val="808080"/>
                </a:solidFill>
                <a:latin typeface="Consolas" panose="020B0609020204030204" pitchFamily="49" charset="0"/>
              </a:rPr>
              <a:t>str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] = contents[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120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SimpleString</a:t>
            </a:r>
            <a:r>
              <a:rPr lang="en-US" dirty="0">
                <a:cs typeface="Courier New" panose="02070309020205020404" pitchFamily="49" charset="0"/>
              </a:rPr>
              <a:t> Class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34988"/>
            <a:ext cx="10058399" cy="423134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200" dirty="0" err="1">
                <a:solidFill>
                  <a:srgbClr val="2B91AF"/>
                </a:solidFill>
                <a:latin typeface="Consolas" panose="020B0609020204030204" pitchFamily="49" charset="0"/>
              </a:rPr>
              <a:t>SimpleString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"Enter a string: "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str.readString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"You entered: "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str.writeString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8000"/>
                </a:solidFill>
                <a:latin typeface="Consolas" panose="020B0609020204030204" pitchFamily="49" charset="0"/>
              </a:rPr>
              <a:t>// display each character on a separate line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str.getLength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str.at(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865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SimpleString</a:t>
            </a:r>
            <a:r>
              <a:rPr lang="en-US" dirty="0"/>
              <a:t> Testing Output</a:t>
            </a:r>
            <a:endParaRPr lang="bg-BG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950" y="2427288"/>
            <a:ext cx="6448425" cy="32575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566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24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3546</TotalTime>
  <Words>2125</Words>
  <Application>Microsoft Office PowerPoint</Application>
  <PresentationFormat>Widescreen</PresentationFormat>
  <Paragraphs>406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Calibri</vt:lpstr>
      <vt:lpstr>Calibri (Body)</vt:lpstr>
      <vt:lpstr>Calibri Light</vt:lpstr>
      <vt:lpstr>Consolas</vt:lpstr>
      <vt:lpstr>Courier New</vt:lpstr>
      <vt:lpstr>Wingdings</vt:lpstr>
      <vt:lpstr>Retrospect</vt:lpstr>
      <vt:lpstr>Object-Oriented Programming</vt:lpstr>
      <vt:lpstr>Lecture Contents</vt:lpstr>
      <vt:lpstr>C++ Data Types</vt:lpstr>
      <vt:lpstr>Abstract Data Types</vt:lpstr>
      <vt:lpstr>The counter Class</vt:lpstr>
      <vt:lpstr>A Diagram for the counter Class</vt:lpstr>
      <vt:lpstr>Class Definition</vt:lpstr>
      <vt:lpstr>Class Definition Explained</vt:lpstr>
      <vt:lpstr>Create Header File (1)</vt:lpstr>
      <vt:lpstr>Create Header File (2)</vt:lpstr>
      <vt:lpstr>Create Header File (3)</vt:lpstr>
      <vt:lpstr>Create Header File (4)</vt:lpstr>
      <vt:lpstr>counter Class Interface</vt:lpstr>
      <vt:lpstr>Compiler Directives</vt:lpstr>
      <vt:lpstr>Class Implementation</vt:lpstr>
      <vt:lpstr>Class Implementation (continued)</vt:lpstr>
      <vt:lpstr>counter Class Implementation (counter.cpp)</vt:lpstr>
      <vt:lpstr>counter Class Implementation (continued)</vt:lpstr>
      <vt:lpstr>counter Class Implementation (continued)</vt:lpstr>
      <vt:lpstr>Constructors</vt:lpstr>
      <vt:lpstr>Accessor and Modifier Functions</vt:lpstr>
      <vt:lpstr>Using the counter Class</vt:lpstr>
      <vt:lpstr>Example: Counter Test Program</vt:lpstr>
      <vt:lpstr>Compiler Directives in counter.cpp</vt:lpstr>
      <vt:lpstr>Summary of Rules for  Use of Classes and Objects</vt:lpstr>
      <vt:lpstr>Private vs Public Access</vt:lpstr>
      <vt:lpstr>Class Syntax</vt:lpstr>
      <vt:lpstr>Member Function Definition</vt:lpstr>
      <vt:lpstr>Combining Arrays, Structs and Classes</vt:lpstr>
      <vt:lpstr>Function Overloading &amp; Polymorphism</vt:lpstr>
      <vt:lpstr>Classes as Operands and Arguments</vt:lpstr>
      <vt:lpstr>compareCounter Function</vt:lpstr>
      <vt:lpstr>User-defined Types</vt:lpstr>
      <vt:lpstr>A Simple String Class</vt:lpstr>
      <vt:lpstr>Specification for Class SimpleString</vt:lpstr>
      <vt:lpstr>SimpleString Class Interface</vt:lpstr>
      <vt:lpstr>SimpleString Class Implementation</vt:lpstr>
      <vt:lpstr>SimpleString Class Implementation (continued)</vt:lpstr>
      <vt:lpstr>SimpleString Class Implementation (continued)</vt:lpstr>
      <vt:lpstr>SimpleString Class Implementation (continued)</vt:lpstr>
      <vt:lpstr>Testing the SimpleString Class</vt:lpstr>
      <vt:lpstr>SimpleString Testing Output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671</cp:revision>
  <dcterms:created xsi:type="dcterms:W3CDTF">2016-08-30T09:20:13Z</dcterms:created>
  <dcterms:modified xsi:type="dcterms:W3CDTF">2025-11-15T14:51:46Z</dcterms:modified>
</cp:coreProperties>
</file>