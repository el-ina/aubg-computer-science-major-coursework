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37" r:id="rId1"/>
  </p:sldMasterIdLst>
  <p:notesMasterIdLst>
    <p:notesMasterId r:id="rId8"/>
  </p:notesMasterIdLst>
  <p:sldIdLst>
    <p:sldId id="286" r:id="rId2"/>
    <p:sldId id="287" r:id="rId3"/>
    <p:sldId id="324" r:id="rId4"/>
    <p:sldId id="325" r:id="rId5"/>
    <p:sldId id="327" r:id="rId6"/>
    <p:sldId id="32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FB5EF83-756C-426D-AECA-1BE000ACBC00}">
          <p14:sldIdLst>
            <p14:sldId id="286"/>
            <p14:sldId id="287"/>
            <p14:sldId id="324"/>
            <p14:sldId id="325"/>
            <p14:sldId id="327"/>
            <p14:sldId id="32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740" autoAdjust="0"/>
  </p:normalViewPr>
  <p:slideViewPr>
    <p:cSldViewPr snapToGrid="0">
      <p:cViewPr varScale="1">
        <p:scale>
          <a:sx n="78" d="100"/>
          <a:sy n="78" d="100"/>
        </p:scale>
        <p:origin x="850"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6" d="100"/>
          <a:sy n="86" d="100"/>
        </p:scale>
        <p:origin x="3144"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62BCD8-DC8B-4E4A-9B40-F477CC878439}" type="datetimeFigureOut">
              <a:rPr lang="en-US" smtClean="0"/>
              <a:t>8/24/2025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AA3A9-E441-4BC6-80B0-357EE149B205}" type="slidenum">
              <a:rPr lang="en-US" smtClean="0"/>
              <a:t>‹#›</a:t>
            </a:fld>
            <a:endParaRPr lang="en-US"/>
          </a:p>
        </p:txBody>
      </p:sp>
    </p:spTree>
    <p:extLst>
      <p:ext uri="{BB962C8B-B14F-4D97-AF65-F5344CB8AC3E}">
        <p14:creationId xmlns:p14="http://schemas.microsoft.com/office/powerpoint/2010/main" val="2902663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EDF588-0E65-402C-A793-16E0D2ECAA48}"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78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3EE1C6-3CA3-41B1-A6D0-C44E4BC7ACC0}"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106980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04C14B-91C6-4886-AADB-CB635E47760F}"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0360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1507AF-1767-4BF4-A25A-D8AE47393577}" type="datetime1">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66308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75E320-A9F7-4C71-A5DC-9BB9B8110195}" type="datetime1">
              <a:rPr lang="en-US" smtClean="0"/>
              <a:t>8/24/2025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41712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66D098-881F-47B3-9FD2-4A7A0B87D037}" type="datetime1">
              <a:rPr lang="en-US" smtClean="0"/>
              <a:t>8/24/2025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42760774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A9EB7B2-5A60-4FFD-A166-CE1849FA023E}" type="datetime1">
              <a:rPr lang="en-US" smtClean="0"/>
              <a:t>8/24/2025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3159546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8BCFAB1-EAD0-44BA-92C4-C758F81FD67F}" type="datetime1">
              <a:rPr lang="en-US" smtClean="0"/>
              <a:t>8/24/2025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3C20813-E79E-4637-B0DD-0EBBF6872E51}" type="slidenum">
              <a:rPr lang="en-US" smtClean="0"/>
              <a:t>‹#›</a:t>
            </a:fld>
            <a:endParaRPr lang="en-US"/>
          </a:p>
        </p:txBody>
      </p:sp>
    </p:spTree>
    <p:extLst>
      <p:ext uri="{BB962C8B-B14F-4D97-AF65-F5344CB8AC3E}">
        <p14:creationId xmlns:p14="http://schemas.microsoft.com/office/powerpoint/2010/main" val="344696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F87054-7BF2-4CC3-8073-237AEDCFE19E}" type="datetime1">
              <a:rPr lang="en-US" smtClean="0"/>
              <a:t>8/24/2025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916363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A8DACC-C1E5-44C5-9CEA-A1C49DFCD750}"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2384408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5412D7-194C-44A6-8DE3-810611688ABF}" type="datetime1">
              <a:rPr lang="en-US" smtClean="0"/>
              <a:t>8/24/2025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3C20813-E79E-4637-B0DD-0EBBF6872E51}" type="slidenum">
              <a:rPr lang="en-US" smtClean="0"/>
              <a:t>‹#›</a:t>
            </a:fld>
            <a:endParaRPr lang="en-US"/>
          </a:p>
        </p:txBody>
      </p:sp>
    </p:spTree>
    <p:extLst>
      <p:ext uri="{BB962C8B-B14F-4D97-AF65-F5344CB8AC3E}">
        <p14:creationId xmlns:p14="http://schemas.microsoft.com/office/powerpoint/2010/main" val="141008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580B9AF-E85D-4F9C-8FC5-BD16A590FCDC}" type="datetime1">
              <a:rPr lang="en-US" smtClean="0"/>
              <a:t>8/24/2025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3C20813-E79E-4637-B0DD-0EBBF6872E5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2788339"/>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 id="2147484044" r:id="rId7"/>
    <p:sldLayoutId id="2147484045" r:id="rId8"/>
    <p:sldLayoutId id="2147484046" r:id="rId9"/>
    <p:sldLayoutId id="2147484047" r:id="rId10"/>
    <p:sldLayoutId id="2147484048"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Control Flow – Loops</a:t>
            </a:r>
            <a:endParaRPr lang="bg-BG" dirty="0"/>
          </a:p>
        </p:txBody>
      </p:sp>
      <p:sp>
        <p:nvSpPr>
          <p:cNvPr id="3" name="Subtitle 2"/>
          <p:cNvSpPr>
            <a:spLocks noGrp="1"/>
          </p:cNvSpPr>
          <p:nvPr>
            <p:ph type="subTitle" idx="1"/>
          </p:nvPr>
        </p:nvSpPr>
        <p:spPr>
          <a:xfrm>
            <a:off x="1100051" y="4455620"/>
            <a:ext cx="10058400" cy="1792780"/>
          </a:xfrm>
        </p:spPr>
        <p:txBody>
          <a:bodyPr>
            <a:normAutofit/>
          </a:bodyPr>
          <a:lstStyle/>
          <a:p>
            <a:r>
              <a:rPr lang="en-US" dirty="0"/>
              <a:t>COS 1020 C++ Programming</a:t>
            </a:r>
          </a:p>
          <a:p>
            <a:r>
              <a:rPr lang="en-US" dirty="0"/>
              <a:t>AUBG COS Department</a:t>
            </a:r>
          </a:p>
          <a:p>
            <a:r>
              <a:rPr lang="en-US" dirty="0"/>
              <a:t>Based on chapter 5 – problem solving, abstraction and design using C++, Friedman &amp; Koffman</a:t>
            </a:r>
            <a:endParaRPr lang="bg-BG" dirty="0"/>
          </a:p>
        </p:txBody>
      </p:sp>
      <p:sp>
        <p:nvSpPr>
          <p:cNvPr id="4" name="Slide Number Placeholder 3"/>
          <p:cNvSpPr>
            <a:spLocks noGrp="1"/>
          </p:cNvSpPr>
          <p:nvPr>
            <p:ph type="sldNum" sz="quarter" idx="12"/>
          </p:nvPr>
        </p:nvSpPr>
        <p:spPr/>
        <p:txBody>
          <a:bodyPr/>
          <a:lstStyle/>
          <a:p>
            <a:fld id="{43C20813-E79E-4637-B0DD-0EBBF6872E51}" type="slidenum">
              <a:rPr lang="en-US" smtClean="0"/>
              <a:t>1</a:t>
            </a:fld>
            <a:endParaRPr lang="en-US"/>
          </a:p>
        </p:txBody>
      </p:sp>
    </p:spTree>
    <p:extLst>
      <p:ext uri="{BB962C8B-B14F-4D97-AF65-F5344CB8AC3E}">
        <p14:creationId xmlns:p14="http://schemas.microsoft.com/office/powerpoint/2010/main" val="2545323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Problem:</a:t>
            </a:r>
          </a:p>
          <a:p>
            <a:pPr lvl="1">
              <a:buFont typeface="Wingdings" panose="05000000000000000000" pitchFamily="2" charset="2"/>
              <a:buChar char="§"/>
            </a:pPr>
            <a:r>
              <a:rPr lang="en-US" sz="3000" dirty="0"/>
              <a:t>Write a program to display a table of Celsius temperatures and their respective Fahrenheit values. The Celsius values should be in the range 10-35 in 5-degree intervals (e.g. 10, 15, 20, etc).</a:t>
            </a:r>
          </a:p>
          <a:p>
            <a:pPr lvl="1">
              <a:buFont typeface="Wingdings" panose="05000000000000000000" pitchFamily="2" charset="2"/>
              <a:buChar char="§"/>
            </a:pPr>
            <a:endParaRPr lang="en-US" sz="3000" dirty="0"/>
          </a:p>
          <a:p>
            <a:pPr lvl="1">
              <a:buFont typeface="Wingdings" panose="05000000000000000000" pitchFamily="2" charset="2"/>
              <a:buChar char="§"/>
            </a:pPr>
            <a:r>
              <a:rPr lang="en-US" sz="3000" dirty="0"/>
              <a:t>Formula:</a:t>
            </a:r>
          </a:p>
          <a:p>
            <a:pPr marL="384048" lvl="2" indent="0">
              <a:buNone/>
            </a:pPr>
            <a:r>
              <a:rPr lang="en-US" sz="2800" i="1" dirty="0"/>
              <a:t>	T</a:t>
            </a:r>
            <a:r>
              <a:rPr lang="en-US" sz="2800" baseline="-25000" dirty="0"/>
              <a:t>(°F)</a:t>
            </a:r>
            <a:r>
              <a:rPr lang="en-US" sz="2800" dirty="0"/>
              <a:t> = </a:t>
            </a:r>
            <a:r>
              <a:rPr lang="en-US" sz="2800" i="1" dirty="0"/>
              <a:t>T</a:t>
            </a:r>
            <a:r>
              <a:rPr lang="en-US" sz="2800" baseline="-25000" dirty="0"/>
              <a:t>(°C)</a:t>
            </a:r>
            <a:r>
              <a:rPr lang="en-US" sz="2800" dirty="0"/>
              <a:t> × 1.8 + 32 </a:t>
            </a:r>
            <a:endParaRPr lang="bg-BG" sz="2600" dirty="0"/>
          </a:p>
          <a:p>
            <a:pPr lvl="1">
              <a:buFont typeface="Wingdings" panose="05000000000000000000" pitchFamily="2" charset="2"/>
              <a:buChar char="§"/>
            </a:pPr>
            <a:endParaRPr lang="bg-BG"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2</a:t>
            </a:fld>
            <a:endParaRPr lang="en-US"/>
          </a:p>
        </p:txBody>
      </p:sp>
    </p:spTree>
    <p:extLst>
      <p:ext uri="{BB962C8B-B14F-4D97-AF65-F5344CB8AC3E}">
        <p14:creationId xmlns:p14="http://schemas.microsoft.com/office/powerpoint/2010/main" val="424984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endParaRPr lang="bg-BG" dirty="0"/>
          </a:p>
        </p:txBody>
      </p:sp>
      <p:sp>
        <p:nvSpPr>
          <p:cNvPr id="3" name="Content Placeholder 2"/>
          <p:cNvSpPr>
            <a:spLocks noGrp="1"/>
          </p:cNvSpPr>
          <p:nvPr>
            <p:ph idx="1"/>
          </p:nvPr>
        </p:nvSpPr>
        <p:spPr>
          <a:xfrm>
            <a:off x="1097280" y="1845733"/>
            <a:ext cx="10058400" cy="4411631"/>
          </a:xfrm>
        </p:spPr>
        <p:txBody>
          <a:bodyPr>
            <a:normAutofit/>
          </a:bodyPr>
          <a:lstStyle/>
          <a:p>
            <a:pPr>
              <a:buFont typeface="Wingdings" panose="05000000000000000000" pitchFamily="2" charset="2"/>
              <a:buChar char="§"/>
            </a:pPr>
            <a:r>
              <a:rPr lang="en-US" sz="3200" b="1" dirty="0"/>
              <a:t>Problem:</a:t>
            </a:r>
          </a:p>
          <a:p>
            <a:pPr lvl="1">
              <a:buFont typeface="Wingdings" panose="05000000000000000000" pitchFamily="2" charset="2"/>
              <a:buChar char="§"/>
            </a:pPr>
            <a:r>
              <a:rPr lang="en-US" sz="3000" dirty="0"/>
              <a:t>Write a program to read a list of numbers from the user and display their average.</a:t>
            </a:r>
          </a:p>
          <a:p>
            <a:pPr lvl="1">
              <a:buFont typeface="Wingdings" panose="05000000000000000000" pitchFamily="2" charset="2"/>
              <a:buChar char="§"/>
            </a:pPr>
            <a:endParaRPr lang="en-US" sz="3000" dirty="0"/>
          </a:p>
          <a:p>
            <a:pPr lvl="1">
              <a:buFont typeface="Wingdings" panose="05000000000000000000" pitchFamily="2" charset="2"/>
              <a:buChar char="§"/>
            </a:pPr>
            <a:r>
              <a:rPr lang="en-US" sz="3000" dirty="0"/>
              <a:t>Option 1:</a:t>
            </a:r>
          </a:p>
          <a:p>
            <a:pPr lvl="2">
              <a:buFont typeface="Wingdings" panose="05000000000000000000" pitchFamily="2" charset="2"/>
              <a:buChar char="§"/>
            </a:pPr>
            <a:r>
              <a:rPr lang="en-US" sz="2600" dirty="0"/>
              <a:t>Ask the user how many numbers they want to input, before reading them.</a:t>
            </a:r>
          </a:p>
          <a:p>
            <a:pPr lvl="1">
              <a:buFont typeface="Wingdings" panose="05000000000000000000" pitchFamily="2" charset="2"/>
              <a:buChar char="§"/>
            </a:pPr>
            <a:r>
              <a:rPr lang="en-US" sz="3000" dirty="0"/>
              <a:t>Option 2:</a:t>
            </a:r>
          </a:p>
          <a:p>
            <a:pPr lvl="2">
              <a:buFont typeface="Wingdings" panose="05000000000000000000" pitchFamily="2" charset="2"/>
              <a:buChar char="§"/>
            </a:pPr>
            <a:r>
              <a:rPr lang="en-US" sz="2600" dirty="0"/>
              <a:t>Use a sentinel-controlled loop</a:t>
            </a:r>
            <a:endParaRPr lang="bg-BG" sz="2600" dirty="0"/>
          </a:p>
        </p:txBody>
      </p:sp>
      <p:sp>
        <p:nvSpPr>
          <p:cNvPr id="4" name="Slide Number Placeholder 3"/>
          <p:cNvSpPr>
            <a:spLocks noGrp="1"/>
          </p:cNvSpPr>
          <p:nvPr>
            <p:ph type="sldNum" sz="quarter" idx="12"/>
          </p:nvPr>
        </p:nvSpPr>
        <p:spPr/>
        <p:txBody>
          <a:bodyPr/>
          <a:lstStyle/>
          <a:p>
            <a:fld id="{43C20813-E79E-4637-B0DD-0EBBF6872E51}" type="slidenum">
              <a:rPr lang="en-US" smtClean="0"/>
              <a:t>3</a:t>
            </a:fld>
            <a:endParaRPr lang="en-US"/>
          </a:p>
        </p:txBody>
      </p:sp>
    </p:spTree>
    <p:extLst>
      <p:ext uri="{BB962C8B-B14F-4D97-AF65-F5344CB8AC3E}">
        <p14:creationId xmlns:p14="http://schemas.microsoft.com/office/powerpoint/2010/main" val="2736717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Problem:</a:t>
            </a:r>
          </a:p>
          <a:p>
            <a:pPr lvl="1">
              <a:buFont typeface="Wingdings" panose="05000000000000000000" pitchFamily="2" charset="2"/>
              <a:buChar char="§"/>
            </a:pPr>
            <a:r>
              <a:rPr lang="en-US" sz="3000" dirty="0"/>
              <a:t>Write a program that requests a number from 1 to 10 (N), and then that displays an N by N array (i.e. N rows by N columns) of asterisks.</a:t>
            </a:r>
          </a:p>
          <a:p>
            <a:pPr lvl="1">
              <a:buFont typeface="Wingdings" panose="05000000000000000000" pitchFamily="2" charset="2"/>
              <a:buChar char="§"/>
            </a:pPr>
            <a:endParaRPr lang="bg-BG"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4</a:t>
            </a:fld>
            <a:endParaRPr lang="en-US"/>
          </a:p>
        </p:txBody>
      </p:sp>
    </p:spTree>
    <p:extLst>
      <p:ext uri="{BB962C8B-B14F-4D97-AF65-F5344CB8AC3E}">
        <p14:creationId xmlns:p14="http://schemas.microsoft.com/office/powerpoint/2010/main" val="34810900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Problem:</a:t>
            </a:r>
          </a:p>
          <a:p>
            <a:pPr lvl="1">
              <a:buFont typeface="Wingdings" panose="05000000000000000000" pitchFamily="2" charset="2"/>
              <a:buChar char="§"/>
            </a:pPr>
            <a:r>
              <a:rPr lang="en-US" sz="3000" dirty="0"/>
              <a:t>Write a program to display all the numbers between 0 and 100 that are part of the Fibonacci sequence.</a:t>
            </a:r>
          </a:p>
          <a:p>
            <a:pPr lvl="1">
              <a:buFont typeface="Wingdings" panose="05000000000000000000" pitchFamily="2" charset="2"/>
              <a:buChar char="§"/>
            </a:pPr>
            <a:r>
              <a:rPr lang="en-US" sz="3000" dirty="0"/>
              <a:t>The Fibonacci sequence begins with 0, 1, 1, 2, 3, 5, 8, 13, …, where each new number in the sequence is found by adding the previous two numbers in the sequence.</a:t>
            </a:r>
          </a:p>
          <a:p>
            <a:pPr lvl="1">
              <a:buFont typeface="Wingdings" panose="05000000000000000000" pitchFamily="2" charset="2"/>
              <a:buChar char="§"/>
            </a:pPr>
            <a:endParaRPr lang="en-US" sz="3000" dirty="0"/>
          </a:p>
        </p:txBody>
      </p:sp>
      <p:sp>
        <p:nvSpPr>
          <p:cNvPr id="4" name="Slide Number Placeholder 3"/>
          <p:cNvSpPr>
            <a:spLocks noGrp="1"/>
          </p:cNvSpPr>
          <p:nvPr>
            <p:ph type="sldNum" sz="quarter" idx="12"/>
          </p:nvPr>
        </p:nvSpPr>
        <p:spPr/>
        <p:txBody>
          <a:bodyPr/>
          <a:lstStyle/>
          <a:p>
            <a:fld id="{43C20813-E79E-4637-B0DD-0EBBF6872E51}" type="slidenum">
              <a:rPr lang="en-US" smtClean="0"/>
              <a:t>5</a:t>
            </a:fld>
            <a:endParaRPr lang="en-US"/>
          </a:p>
        </p:txBody>
      </p:sp>
    </p:spTree>
    <p:extLst>
      <p:ext uri="{BB962C8B-B14F-4D97-AF65-F5344CB8AC3E}">
        <p14:creationId xmlns:p14="http://schemas.microsoft.com/office/powerpoint/2010/main" val="318432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5</a:t>
            </a:r>
            <a:endParaRPr lang="bg-BG"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200" b="1" dirty="0"/>
              <a:t>Problem:</a:t>
            </a:r>
          </a:p>
          <a:p>
            <a:pPr lvl="1">
              <a:buFont typeface="Wingdings" panose="05000000000000000000" pitchFamily="2" charset="2"/>
              <a:buChar char="§"/>
            </a:pPr>
            <a:r>
              <a:rPr lang="en-US" sz="3000" dirty="0"/>
              <a:t>Write a program that reads a number between 11 and 20 and displays a triangle of asterisks on the screen. </a:t>
            </a:r>
          </a:p>
          <a:p>
            <a:pPr lvl="1">
              <a:buFont typeface="Wingdings" panose="05000000000000000000" pitchFamily="2" charset="2"/>
              <a:buChar char="§"/>
            </a:pPr>
            <a:r>
              <a:rPr lang="en-US" sz="3000" dirty="0"/>
              <a:t>If the input number is odd, then this is the number of asterisks in the top row – the triangle is inverted. </a:t>
            </a:r>
          </a:p>
          <a:p>
            <a:pPr lvl="1">
              <a:buFont typeface="Wingdings" panose="05000000000000000000" pitchFamily="2" charset="2"/>
              <a:buChar char="§"/>
            </a:pPr>
            <a:r>
              <a:rPr lang="en-US" sz="3000" dirty="0"/>
              <a:t>If the input number is even, then this is the number of asterisks in the bottom row.</a:t>
            </a:r>
          </a:p>
        </p:txBody>
      </p:sp>
      <p:sp>
        <p:nvSpPr>
          <p:cNvPr id="4" name="Slide Number Placeholder 3"/>
          <p:cNvSpPr>
            <a:spLocks noGrp="1"/>
          </p:cNvSpPr>
          <p:nvPr>
            <p:ph type="sldNum" sz="quarter" idx="12"/>
          </p:nvPr>
        </p:nvSpPr>
        <p:spPr/>
        <p:txBody>
          <a:bodyPr/>
          <a:lstStyle/>
          <a:p>
            <a:fld id="{43C20813-E79E-4637-B0DD-0EBBF6872E51}" type="slidenum">
              <a:rPr lang="en-US" smtClean="0"/>
              <a:t>6</a:t>
            </a:fld>
            <a:endParaRPr lang="en-US"/>
          </a:p>
        </p:txBody>
      </p:sp>
    </p:spTree>
    <p:extLst>
      <p:ext uri="{BB962C8B-B14F-4D97-AF65-F5344CB8AC3E}">
        <p14:creationId xmlns:p14="http://schemas.microsoft.com/office/powerpoint/2010/main" val="2303998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2170</TotalTime>
  <Words>316</Words>
  <Application>Microsoft Office PowerPoint</Application>
  <PresentationFormat>Widescreen</PresentationFormat>
  <Paragraphs>36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Calibri Light</vt:lpstr>
      <vt:lpstr>Wingdings</vt:lpstr>
      <vt:lpstr>Retrospect</vt:lpstr>
      <vt:lpstr>Control Flow – Loops</vt:lpstr>
      <vt:lpstr>Exercise 1</vt:lpstr>
      <vt:lpstr>Exercise 2</vt:lpstr>
      <vt:lpstr>Exercise 3</vt:lpstr>
      <vt:lpstr>Exercise 4</vt:lpstr>
      <vt:lpstr>Exercise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 110 Visual Basic Programming AUBG Fall Semester 2016</dc:title>
  <dc:creator>mugen</dc:creator>
  <cp:lastModifiedBy>Kalin Dimitrov</cp:lastModifiedBy>
  <cp:revision>684</cp:revision>
  <dcterms:created xsi:type="dcterms:W3CDTF">2016-08-30T09:20:13Z</dcterms:created>
  <dcterms:modified xsi:type="dcterms:W3CDTF">2025-08-24T11:17:23Z</dcterms:modified>
</cp:coreProperties>
</file>