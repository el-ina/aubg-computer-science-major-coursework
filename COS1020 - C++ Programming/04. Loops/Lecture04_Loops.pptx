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53"/>
  </p:notesMasterIdLst>
  <p:sldIdLst>
    <p:sldId id="286" r:id="rId2"/>
    <p:sldId id="282" r:id="rId3"/>
    <p:sldId id="280" r:id="rId4"/>
    <p:sldId id="292" r:id="rId5"/>
    <p:sldId id="288" r:id="rId6"/>
    <p:sldId id="290" r:id="rId7"/>
    <p:sldId id="304" r:id="rId8"/>
    <p:sldId id="293" r:id="rId9"/>
    <p:sldId id="294" r:id="rId10"/>
    <p:sldId id="295" r:id="rId11"/>
    <p:sldId id="291" r:id="rId12"/>
    <p:sldId id="296" r:id="rId13"/>
    <p:sldId id="298" r:id="rId14"/>
    <p:sldId id="301" r:id="rId15"/>
    <p:sldId id="303" r:id="rId16"/>
    <p:sldId id="302" r:id="rId17"/>
    <p:sldId id="305" r:id="rId18"/>
    <p:sldId id="306" r:id="rId19"/>
    <p:sldId id="307" r:id="rId20"/>
    <p:sldId id="308" r:id="rId21"/>
    <p:sldId id="309" r:id="rId22"/>
    <p:sldId id="340" r:id="rId23"/>
    <p:sldId id="342" r:id="rId24"/>
    <p:sldId id="343" r:id="rId25"/>
    <p:sldId id="341" r:id="rId26"/>
    <p:sldId id="299" r:id="rId27"/>
    <p:sldId id="316" r:id="rId28"/>
    <p:sldId id="310" r:id="rId29"/>
    <p:sldId id="314" r:id="rId30"/>
    <p:sldId id="315" r:id="rId31"/>
    <p:sldId id="311" r:id="rId32"/>
    <p:sldId id="312" r:id="rId33"/>
    <p:sldId id="317" r:id="rId34"/>
    <p:sldId id="319" r:id="rId35"/>
    <p:sldId id="331" r:id="rId36"/>
    <p:sldId id="332" r:id="rId37"/>
    <p:sldId id="320" r:id="rId38"/>
    <p:sldId id="321" r:id="rId39"/>
    <p:sldId id="313" r:id="rId40"/>
    <p:sldId id="329" r:id="rId41"/>
    <p:sldId id="330" r:id="rId42"/>
    <p:sldId id="300" r:id="rId43"/>
    <p:sldId id="322" r:id="rId44"/>
    <p:sldId id="323" r:id="rId45"/>
    <p:sldId id="333" r:id="rId46"/>
    <p:sldId id="344" r:id="rId47"/>
    <p:sldId id="335" r:id="rId48"/>
    <p:sldId id="336" r:id="rId49"/>
    <p:sldId id="339" r:id="rId50"/>
    <p:sldId id="337" r:id="rId51"/>
    <p:sldId id="28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2"/>
            <p14:sldId id="280"/>
            <p14:sldId id="292"/>
            <p14:sldId id="288"/>
            <p14:sldId id="290"/>
            <p14:sldId id="304"/>
            <p14:sldId id="293"/>
            <p14:sldId id="294"/>
            <p14:sldId id="295"/>
            <p14:sldId id="291"/>
            <p14:sldId id="296"/>
            <p14:sldId id="298"/>
            <p14:sldId id="301"/>
            <p14:sldId id="303"/>
            <p14:sldId id="302"/>
            <p14:sldId id="305"/>
            <p14:sldId id="306"/>
            <p14:sldId id="307"/>
            <p14:sldId id="308"/>
            <p14:sldId id="309"/>
            <p14:sldId id="340"/>
            <p14:sldId id="342"/>
            <p14:sldId id="343"/>
            <p14:sldId id="341"/>
            <p14:sldId id="299"/>
            <p14:sldId id="316"/>
            <p14:sldId id="310"/>
            <p14:sldId id="314"/>
            <p14:sldId id="315"/>
            <p14:sldId id="311"/>
            <p14:sldId id="312"/>
            <p14:sldId id="317"/>
            <p14:sldId id="319"/>
            <p14:sldId id="331"/>
            <p14:sldId id="332"/>
            <p14:sldId id="320"/>
            <p14:sldId id="321"/>
            <p14:sldId id="313"/>
            <p14:sldId id="329"/>
            <p14:sldId id="330"/>
            <p14:sldId id="300"/>
            <p14:sldId id="322"/>
            <p14:sldId id="323"/>
            <p14:sldId id="333"/>
            <p14:sldId id="344"/>
            <p14:sldId id="335"/>
            <p14:sldId id="336"/>
            <p14:sldId id="339"/>
            <p14:sldId id="337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740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Flow – Loops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5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95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/>
              <a:t>5.1 Counting Loops and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3200" dirty="0"/>
              <a:t> Statement</a:t>
            </a:r>
          </a:p>
          <a:p>
            <a:pPr marL="0" indent="0">
              <a:buNone/>
            </a:pPr>
            <a:r>
              <a:rPr lang="en-US" sz="3200" dirty="0"/>
              <a:t>5.2 Accumulating a Sum or Product in a Loop</a:t>
            </a:r>
          </a:p>
          <a:p>
            <a:pPr marL="0" indent="0">
              <a:buNone/>
            </a:pPr>
            <a:r>
              <a:rPr lang="en-US" sz="3200" dirty="0"/>
              <a:t>5.3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3200" dirty="0"/>
              <a:t> Statement</a:t>
            </a:r>
          </a:p>
          <a:p>
            <a:pPr marL="0" indent="0">
              <a:buNone/>
            </a:pPr>
            <a:r>
              <a:rPr lang="en-US" altLang="bg-BG" sz="3200" dirty="0"/>
              <a:t>5.5 Loop Design and Loop Patterns</a:t>
            </a:r>
          </a:p>
          <a:p>
            <a:pPr marL="0" indent="0">
              <a:buNone/>
            </a:pPr>
            <a:r>
              <a:rPr lang="en-US" altLang="bg-BG" sz="3200" dirty="0"/>
              <a:t>5.6 The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  <a:r>
              <a:rPr lang="en-US" altLang="bg-BG" sz="3200" dirty="0"/>
              <a:t> Statement</a:t>
            </a:r>
          </a:p>
          <a:p>
            <a:pPr marL="0" indent="0">
              <a:buNone/>
            </a:pPr>
            <a:r>
              <a:rPr lang="en-US" altLang="bg-BG" sz="3200" dirty="0"/>
              <a:t>5.7 Review of Loop Forms</a:t>
            </a:r>
          </a:p>
          <a:p>
            <a:pPr marL="0" indent="0">
              <a:buNone/>
            </a:pPr>
            <a:r>
              <a:rPr lang="en-US" altLang="bg-BG" sz="3200" dirty="0"/>
              <a:t>5.8 Nested Loops</a:t>
            </a:r>
          </a:p>
          <a:p>
            <a:pPr marL="0" indent="0">
              <a:buNone/>
            </a:pPr>
            <a:r>
              <a:rPr lang="en-US" altLang="bg-BG" sz="3200" dirty="0"/>
              <a:t>5.9 Debugging and Testing Programs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2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Structures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Sequence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Selection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Repetition</a:t>
            </a: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Loop – a control structure that repeats a set of statements in a program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Loop body – the statements that are repeated in the loop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8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are Loops Needed?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09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Basically any program that repeats steps to solve a problem needs a loop.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For example, imagine you have to write a program to read a set of numbers from the user.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If you know their count, you can write individual input statements. The program will grow if you have to read 100 or even 1000 numbers.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What if you do not know how many numbers you have to read in advance?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481482" y="2868706"/>
            <a:ext cx="5038165" cy="24025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Loops and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Statement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631168" cy="42233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A counter-controlled loop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/>
              <a:t>A loop whose repetition is managed by a loop control variable whose value represents a count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Loop control variable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/>
              <a:t>A variable that is used to regulate how many times a loop should be executed</a:t>
            </a:r>
            <a:endParaRPr lang="bg-BG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615954" y="1845735"/>
            <a:ext cx="4903694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Counting Loop Pseudocode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200" dirty="0"/>
              <a:t>Set </a:t>
            </a:r>
            <a:r>
              <a:rPr lang="en-US" sz="2200" i="1" dirty="0"/>
              <a:t>loop control variable </a:t>
            </a:r>
            <a:r>
              <a:rPr lang="en-US" sz="2200" dirty="0"/>
              <a:t>to 0</a:t>
            </a:r>
          </a:p>
          <a:p>
            <a:pPr marL="0" indent="0">
              <a:buNone/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200" dirty="0"/>
              <a:t> </a:t>
            </a:r>
            <a:r>
              <a:rPr lang="en-US" sz="2200" i="1" dirty="0"/>
              <a:t>loop control variable </a:t>
            </a:r>
            <a:r>
              <a:rPr lang="en-US" sz="2200" dirty="0"/>
              <a:t>&lt; </a:t>
            </a:r>
            <a:r>
              <a:rPr lang="en-US" sz="2200" i="1" dirty="0"/>
              <a:t>final value</a:t>
            </a:r>
          </a:p>
          <a:p>
            <a:pPr marL="0">
              <a:buNone/>
            </a:pPr>
            <a:r>
              <a:rPr lang="en-US" dirty="0"/>
              <a:t>	</a:t>
            </a:r>
            <a:r>
              <a:rPr lang="en-US" i="1" dirty="0"/>
              <a:t>statements;</a:t>
            </a:r>
          </a:p>
          <a:p>
            <a:pPr marL="0">
              <a:buNone/>
            </a:pPr>
            <a:r>
              <a:rPr lang="en-US" dirty="0"/>
              <a:t>	…</a:t>
            </a:r>
          </a:p>
          <a:p>
            <a:pPr marL="0">
              <a:buNone/>
            </a:pPr>
            <a:r>
              <a:rPr lang="en-US" dirty="0"/>
              <a:t>	Increase </a:t>
            </a:r>
            <a:r>
              <a:rPr lang="en-US" i="1" dirty="0"/>
              <a:t>loop control variable </a:t>
            </a:r>
            <a:r>
              <a:rPr lang="en-US" dirty="0"/>
              <a:t>by 1</a:t>
            </a:r>
          </a:p>
          <a:p>
            <a:pPr marL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4185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Compute the Gross Salary for Seven Employees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908" y="1846263"/>
            <a:ext cx="9090116" cy="437524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-Point Star 5"/>
          <p:cNvSpPr/>
          <p:nvPr/>
        </p:nvSpPr>
        <p:spPr>
          <a:xfrm>
            <a:off x="1426659" y="1936377"/>
            <a:ext cx="240774" cy="22411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5-Point Star 6"/>
          <p:cNvSpPr/>
          <p:nvPr/>
        </p:nvSpPr>
        <p:spPr>
          <a:xfrm>
            <a:off x="1426659" y="2269866"/>
            <a:ext cx="240774" cy="22411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5-Point Star 7"/>
          <p:cNvSpPr/>
          <p:nvPr/>
        </p:nvSpPr>
        <p:spPr>
          <a:xfrm>
            <a:off x="1426659" y="4939556"/>
            <a:ext cx="240774" cy="22411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8624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 for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/>
              <a:t>Loop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718" y="1828333"/>
            <a:ext cx="6887628" cy="444139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149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Explanation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488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cs typeface="Courier New" panose="02070309020205020404" pitchFamily="49" charset="0"/>
              </a:rPr>
              <a:t>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3200" dirty="0"/>
              <a:t> Loop Body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Compound Statement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Reads the employee pay data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Computes and displays the employee’s pay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After 7 employees are processed (input, calculated and displayed), repetition stops and the statement after the loop body executes: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Displays the message "All employees processed."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0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Explanation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144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three lines marked with a star control the repetition process: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countEmp = 0;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Sets the initial value of the counter variable to 0, representing the number of employees processed so far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(countEmp &lt; 7)</a:t>
            </a:r>
            <a:r>
              <a:rPr lang="en-US" sz="3000" b="1" dirty="0">
                <a:cs typeface="Courier New" panose="02070309020205020404" pitchFamily="49" charset="0"/>
              </a:rPr>
              <a:t> </a:t>
            </a:r>
            <a:r>
              <a:rPr lang="en-US" sz="3000" dirty="0"/>
              <a:t>– loop repetition condition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If true, statements in the loop body are executed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If false, loop body is skipped and control is passed to the line following the loop body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59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Explanation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57842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countEmp = countEmp + 1;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Increments the current value of the counter variable by 1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After executing the last statement of the loop body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Control returns to the beginning of the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condition is reevaluated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When true, the loop body is repeated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When false, the loop is exited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55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Statement Syntax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1405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General form:</a:t>
            </a:r>
            <a:endParaRPr lang="en-US" sz="3000" dirty="0"/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(loop repetition condition)</a:t>
            </a:r>
          </a:p>
          <a:p>
            <a:pPr marL="201168" lvl="1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statement;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print 10 stars on the screen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0,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numStars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10;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numStars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"*"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+ 1;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6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23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Control Notes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488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For a loop to execute properly, its control variable must be: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Initialized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Tested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Updated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If not properly updated, an </a:t>
            </a:r>
            <a:r>
              <a:rPr lang="en-US" sz="3200" b="1" dirty="0"/>
              <a:t>infinite loop </a:t>
            </a:r>
            <a:r>
              <a:rPr lang="en-US" sz="3200" dirty="0"/>
              <a:t>can result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If the loop repetition condition evaluates to false the first time it’s tested, the loop body statements are </a:t>
            </a:r>
            <a:r>
              <a:rPr lang="en-US" sz="3200" b="1" i="1" dirty="0"/>
              <a:t>never</a:t>
            </a:r>
            <a:r>
              <a:rPr lang="en-US" sz="3200" dirty="0"/>
              <a:t> executed.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26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Accumulating a Sum or Product in a Loop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Loops often accumulate a sum or product by repeating an addition or multiplication operation.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2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to Compute Company Payroll</a:t>
            </a:r>
            <a:endParaRPr lang="bg-BG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6306" y="1792473"/>
            <a:ext cx="6151919" cy="451256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14</a:t>
            </a:fld>
            <a:endParaRPr lang="en-US"/>
          </a:p>
        </p:txBody>
      </p:sp>
      <p:sp>
        <p:nvSpPr>
          <p:cNvPr id="9" name="5-Point Star 8"/>
          <p:cNvSpPr/>
          <p:nvPr/>
        </p:nvSpPr>
        <p:spPr>
          <a:xfrm>
            <a:off x="2537012" y="4939553"/>
            <a:ext cx="179294" cy="17032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5-Point Star 9"/>
          <p:cNvSpPr/>
          <p:nvPr/>
        </p:nvSpPr>
        <p:spPr>
          <a:xfrm>
            <a:off x="2537012" y="5765781"/>
            <a:ext cx="179294" cy="17032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5-Point Star 10"/>
          <p:cNvSpPr/>
          <p:nvPr/>
        </p:nvSpPr>
        <p:spPr>
          <a:xfrm>
            <a:off x="2537012" y="5963667"/>
            <a:ext cx="179294" cy="17032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5-Point Star 11"/>
          <p:cNvSpPr/>
          <p:nvPr/>
        </p:nvSpPr>
        <p:spPr>
          <a:xfrm>
            <a:off x="2537012" y="5567895"/>
            <a:ext cx="179294" cy="17032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2361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15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581835" y="526209"/>
            <a:ext cx="6311153" cy="5562969"/>
          </a:xfrm>
          <a:prstGeom prst="rect">
            <a:avLst/>
          </a:prstGeom>
        </p:spPr>
      </p:pic>
      <p:sp>
        <p:nvSpPr>
          <p:cNvPr id="9" name="5-Point Star 8"/>
          <p:cNvSpPr/>
          <p:nvPr/>
        </p:nvSpPr>
        <p:spPr>
          <a:xfrm>
            <a:off x="2402541" y="1685364"/>
            <a:ext cx="179294" cy="17032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5-Point Star 9"/>
          <p:cNvSpPr/>
          <p:nvPr/>
        </p:nvSpPr>
        <p:spPr>
          <a:xfrm>
            <a:off x="2402541" y="1873623"/>
            <a:ext cx="179294" cy="17032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8407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Example – Compute Payroll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Initialization statements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totalPay = 0.0;		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pay accumulator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countEmp = 0;		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loop control variable that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					// counts number of 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					// employees processed</a:t>
            </a:r>
            <a:endParaRPr lang="en-US" altLang="bg-BG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Accumulation</a:t>
            </a:r>
          </a:p>
          <a:p>
            <a:pPr marL="201168" lvl="1" indent="0">
              <a:buNone/>
            </a:pPr>
            <a:r>
              <a:rPr lang="en-US" altLang="bg-BG" sz="2400" dirty="0"/>
              <a:t>	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totalPay = totalPay + pay;	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add next pay</a:t>
            </a:r>
            <a:endParaRPr lang="en-US" altLang="bg-BG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 err="1"/>
              <a:t>Incrementation</a:t>
            </a:r>
            <a:endParaRPr lang="en-US" altLang="bg-BG" sz="3200" dirty="0"/>
          </a:p>
          <a:p>
            <a:pPr marL="201168" lvl="1" indent="0">
              <a:buNone/>
            </a:pPr>
            <a:r>
              <a:rPr lang="en-US" altLang="bg-BG" sz="3000" dirty="0"/>
              <a:t>	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countEmp = countEmp + 1;	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increment by 1</a:t>
            </a:r>
            <a:endParaRPr lang="en-US" altLang="bg-BG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96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General Loops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233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Loop condition to process exactly 7 employees</a:t>
            </a:r>
          </a:p>
          <a:p>
            <a:pPr marL="201168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(countEmp &lt; 7)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3200" dirty="0"/>
              <a:t>To implement a loop that processes an unknown number of employees, that number of employees must be read into a variable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numberEmp</a:t>
            </a:r>
            <a:r>
              <a:rPr lang="en-US" sz="3200" dirty="0"/>
              <a:t> before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3200" dirty="0"/>
              <a:t> statement executes</a:t>
            </a:r>
          </a:p>
          <a:p>
            <a:pPr marL="201168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dirty="0"/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(countEmp &lt;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numberEmp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20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Multiplying a List of Numbers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854698"/>
            <a:ext cx="10399058" cy="442059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item;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product = 1;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(product &lt; 10000)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product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 	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display product 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"Enter data item: 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cin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item;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product = product * item; 	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update product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"Product: 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product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51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Conditional Loop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654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Used when you cannot determine in advance how many loop repetitions are needed.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The number of repetitions is controlled by a condition that must remain true in order for the loop to continue.</a:t>
            </a:r>
            <a:endParaRPr lang="en-US" sz="3200" dirty="0"/>
          </a:p>
          <a:p>
            <a:pPr marL="0" indent="0">
              <a:spcBef>
                <a:spcPts val="3000"/>
              </a:spcBef>
              <a:buNone/>
            </a:pPr>
            <a:r>
              <a:rPr lang="en-US" sz="2800" dirty="0"/>
              <a:t>1. Initialize the loop control variable</a:t>
            </a:r>
          </a:p>
          <a:p>
            <a:pPr marL="0" indent="0">
              <a:buNone/>
            </a:pPr>
            <a:r>
              <a:rPr lang="en-US" sz="2800" dirty="0"/>
              <a:t>2. While a condition involving the loop control variable is true</a:t>
            </a:r>
          </a:p>
          <a:p>
            <a:pPr marL="201168" lvl="1" indent="0">
              <a:buNone/>
            </a:pPr>
            <a:r>
              <a:rPr lang="en-US" sz="2800" dirty="0"/>
              <a:t>3. Continue processing</a:t>
            </a:r>
          </a:p>
          <a:p>
            <a:pPr marL="201168" lvl="1" indent="0">
              <a:buNone/>
            </a:pPr>
            <a:r>
              <a:rPr lang="en-US" sz="2800" dirty="0"/>
              <a:t>4. Update the loop control 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70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Compound Assignment Operators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438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Assignments to modify a single variable: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3000" dirty="0"/>
              <a:t>	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op 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cs typeface="Courier New" panose="02070309020205020404" pitchFamily="49" charset="0"/>
              </a:rPr>
              <a:t>Those can also be rewritten as: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op = 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8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countEmp = countEmp + 1;	countEmp += 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product = product *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		product *=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time = time – x;			time -= x;</a:t>
            </a:r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59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Statement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207214" cy="442059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Especially useful for counting loops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General form: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 (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initialization expression; </a:t>
            </a:r>
          </a:p>
          <a:p>
            <a:pPr marL="201168" lvl="1" indent="0">
              <a:buNone/>
            </a:pP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	loop repetition condition; </a:t>
            </a:r>
          </a:p>
          <a:p>
            <a:pPr marL="201168" lvl="1" indent="0">
              <a:buNone/>
            </a:pP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	update expression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statement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8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+= 1)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"*"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63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Statement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207214" cy="442059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None of initialization expression, loop condition and update expression is mandatory: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 (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;;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statement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8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0, N = 10;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(;;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+= 1)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if 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 N) break;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"*"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97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Statement (continued)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198880" y="2592494"/>
            <a:ext cx="4805680" cy="3378200"/>
          </a:xfrm>
        </p:spPr>
        <p:txBody>
          <a:bodyPr>
            <a:normAutofit/>
          </a:bodyPr>
          <a:lstStyle/>
          <a:p>
            <a:pPr marL="0" lvl="3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bg-BG" sz="2000" dirty="0">
                <a:solidFill>
                  <a:srgbClr val="000000"/>
                </a:solidFill>
                <a:latin typeface="Consolas" panose="020B0609020204030204" pitchFamily="49" charset="0"/>
              </a:rPr>
              <a:t>int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0, N = 10;</a:t>
            </a:r>
          </a:p>
          <a:p>
            <a:pPr marL="0" lvl="3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 N) {</a:t>
            </a:r>
          </a:p>
          <a:p>
            <a:pPr marL="0" lvl="3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&lt;&lt; “*”;  </a:t>
            </a:r>
          </a:p>
          <a:p>
            <a:pPr marL="0" lvl="3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+= 1;</a:t>
            </a:r>
          </a:p>
          <a:p>
            <a:pPr marL="0" lvl="3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	</a:t>
            </a:r>
            <a:endParaRPr lang="bg-BG" sz="2800" dirty="0">
              <a:latin typeface="Courier New"/>
              <a:cs typeface="Courier New"/>
            </a:endParaRPr>
          </a:p>
          <a:p>
            <a:pPr marL="566928" lvl="3" indent="0">
              <a:buNone/>
            </a:pPr>
            <a:r>
              <a:rPr lang="bg-BG" sz="2600" dirty="0"/>
              <a:t>    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for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0, N=10;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 N;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countStar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+= 1) 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"*"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23</a:t>
            </a:fld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907280" y="2773680"/>
            <a:ext cx="11176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4460240" y="3210560"/>
            <a:ext cx="229616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881120" y="3698240"/>
            <a:ext cx="2915920" cy="4673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413760" y="3677920"/>
            <a:ext cx="4592320" cy="4673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31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Will This Print the Same Thing?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198880" y="2592494"/>
            <a:ext cx="4805680" cy="3378200"/>
          </a:xfrm>
        </p:spPr>
        <p:txBody>
          <a:bodyPr>
            <a:normAutofit/>
          </a:bodyPr>
          <a:lstStyle/>
          <a:p>
            <a:pPr marL="0" lvl="3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bg-BG" sz="2000" dirty="0">
                <a:solidFill>
                  <a:srgbClr val="000000"/>
                </a:solidFill>
                <a:latin typeface="Consolas" panose="020B0609020204030204" pitchFamily="49" charset="0"/>
              </a:rPr>
              <a:t>int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0, N = 10;</a:t>
            </a:r>
          </a:p>
          <a:p>
            <a:pPr marL="0" lvl="3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 N) {</a:t>
            </a:r>
          </a:p>
          <a:p>
            <a:pPr marL="0" lvl="3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+= 1;</a:t>
            </a:r>
          </a:p>
          <a:p>
            <a:pPr marL="0" lvl="3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</a:p>
          <a:p>
            <a:pPr marL="0" lvl="3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	</a:t>
            </a:r>
            <a:endParaRPr lang="bg-BG" sz="2800" dirty="0">
              <a:latin typeface="Courier New"/>
              <a:cs typeface="Courier New"/>
            </a:endParaRPr>
          </a:p>
          <a:p>
            <a:pPr marL="566928" lvl="3" indent="0">
              <a:buNone/>
            </a:pPr>
            <a:r>
              <a:rPr lang="bg-BG" sz="2600" dirty="0"/>
              <a:t>    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for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0, N=10;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 N;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+= 1) 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82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Statement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207214" cy="442059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What are the following examples doing? How many times they will be executed?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=0;;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+= 1)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"*"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if 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&gt;= 0) break;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(;;)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"*"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73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252038" cy="1450757"/>
          </a:xfrm>
        </p:spPr>
        <p:txBody>
          <a:bodyPr/>
          <a:lstStyle/>
          <a:p>
            <a:r>
              <a:rPr lang="en-US" dirty="0"/>
              <a:t>Using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statement in a counting loop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753" y="1774545"/>
            <a:ext cx="6797958" cy="452671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55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 Interpretation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654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i="1" dirty="0"/>
              <a:t>Initialization expression </a:t>
            </a:r>
            <a:r>
              <a:rPr lang="en-US" sz="3200" dirty="0"/>
              <a:t>is executed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</a:t>
            </a:r>
            <a:r>
              <a:rPr lang="en-US" sz="3200" i="1" dirty="0"/>
              <a:t>loop repetition condition </a:t>
            </a:r>
            <a:r>
              <a:rPr lang="en-US" sz="3200" dirty="0"/>
              <a:t>is tested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If true, the </a:t>
            </a:r>
            <a:r>
              <a:rPr lang="en-US" sz="3000" i="1" dirty="0"/>
              <a:t>loop body </a:t>
            </a:r>
            <a:r>
              <a:rPr lang="en-US" sz="3000" dirty="0"/>
              <a:t>is executed and the </a:t>
            </a:r>
            <a:r>
              <a:rPr lang="en-US" sz="3000" i="1" dirty="0"/>
              <a:t>update expression </a:t>
            </a:r>
            <a:r>
              <a:rPr lang="en-US" sz="3000" dirty="0"/>
              <a:t>is evaluated. Then the </a:t>
            </a:r>
            <a:r>
              <a:rPr lang="en-US" sz="3000" i="1" dirty="0"/>
              <a:t>loop repetition condition </a:t>
            </a:r>
            <a:r>
              <a:rPr lang="en-US" sz="3000" dirty="0"/>
              <a:t>is retested and the </a:t>
            </a:r>
            <a:r>
              <a:rPr lang="en-US" sz="3000" i="1" dirty="0"/>
              <a:t>body</a:t>
            </a:r>
            <a:r>
              <a:rPr lang="en-US" sz="3000" dirty="0"/>
              <a:t> repeated as long as the </a:t>
            </a:r>
            <a:r>
              <a:rPr lang="en-US" sz="3000" i="1" dirty="0"/>
              <a:t>loop repetition condition</a:t>
            </a:r>
            <a:r>
              <a:rPr lang="en-US" sz="3000" dirty="0"/>
              <a:t> is true.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When false, the for loop exits and the program continues with the first statement after its body.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NOTE: Use integer values for loop counting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86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Increment and Decrement Operators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statement that increments or decrements a single variable by one:</a:t>
            </a:r>
          </a:p>
          <a:p>
            <a:pPr marL="201168" lvl="1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counter = counter + 1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Can be rewritten as:</a:t>
            </a:r>
          </a:p>
          <a:p>
            <a:pPr marL="201168" lvl="1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counter++ </a:t>
            </a:r>
            <a:r>
              <a:rPr lang="en-US" sz="2800" dirty="0"/>
              <a:t>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++counter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increment operator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US" sz="3200" dirty="0"/>
              <a:t> takes a single variable as its operand and when applied on that variable, increments its value by one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decrement operator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sz="3200" dirty="0"/>
              <a:t> decrements a variable’s value by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55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Increment and Decrement Operators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012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Used to update a loop control variable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The value of the expression in which the</a:t>
            </a:r>
            <a:r>
              <a:rPr lang="en-US" altLang="bg-BG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 </a:t>
            </a:r>
            <a:r>
              <a:rPr lang="en-US" altLang="bg-BG" sz="3200" dirty="0">
                <a:cs typeface="Courier New" panose="02070309020205020404" pitchFamily="49" charset="0"/>
              </a:rPr>
              <a:t>or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 </a:t>
            </a:r>
            <a:r>
              <a:rPr lang="en-US" altLang="bg-BG" sz="3200" dirty="0"/>
              <a:t>operator is used depends on its position: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bg-BG" sz="3000" dirty="0"/>
              <a:t>Postfix operator: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m = 3;</a:t>
            </a:r>
          </a:p>
          <a:p>
            <a:pPr marL="0" indent="0">
              <a:buNone/>
            </a:pPr>
            <a:r>
              <a:rPr lang="nl-NL" sz="2600" dirty="0">
                <a:solidFill>
                  <a:srgbClr val="000000"/>
                </a:solidFill>
                <a:latin typeface="Consolas" panose="020B0609020204030204" pitchFamily="49" charset="0"/>
              </a:rPr>
              <a:t>	n = m++;	</a:t>
            </a:r>
            <a:r>
              <a:rPr lang="nl-NL" sz="2600" dirty="0">
                <a:solidFill>
                  <a:srgbClr val="008000"/>
                </a:solidFill>
                <a:latin typeface="Consolas" panose="020B0609020204030204" pitchFamily="49" charset="0"/>
              </a:rPr>
              <a:t>// n is 3, m is 4</a:t>
            </a:r>
            <a:endParaRPr lang="en-US" altLang="bg-BG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bg-BG" sz="3000"/>
              <a:t>Prefix </a:t>
            </a:r>
            <a:r>
              <a:rPr lang="en-US" altLang="bg-BG" sz="3000" dirty="0"/>
              <a:t>operator: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bg-BG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m = 3;</a:t>
            </a:r>
          </a:p>
          <a:p>
            <a:pPr marL="0" indent="0">
              <a:buNone/>
            </a:pPr>
            <a:r>
              <a:rPr lang="nl-NL" sz="2600" dirty="0">
                <a:solidFill>
                  <a:srgbClr val="000000"/>
                </a:solidFill>
                <a:latin typeface="Consolas" panose="020B0609020204030204" pitchFamily="49" charset="0"/>
              </a:rPr>
              <a:t>	n = ++m;	</a:t>
            </a:r>
            <a:r>
              <a:rPr lang="nl-NL" sz="2600" dirty="0">
                <a:solidFill>
                  <a:srgbClr val="008000"/>
                </a:solidFill>
                <a:latin typeface="Consolas" panose="020B0609020204030204" pitchFamily="49" charset="0"/>
              </a:rPr>
              <a:t>// n is 4, m is 4</a:t>
            </a:r>
            <a:endParaRPr lang="en-US" altLang="bg-BG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06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to Computer Factorial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82978"/>
            <a:ext cx="10058400" cy="454610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bg-BG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 </a:t>
            </a:r>
            <a:r>
              <a:rPr lang="bg-BG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product = 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cout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"Enter a number: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cin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i = n; i &gt; 1; i--)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product = product *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bg-BG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cout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"Factorial is: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product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82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Localized Declarations of Variables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loop control variable declared in the initialization step of a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3200" dirty="0"/>
              <a:t> loop is said to have local scope</a:t>
            </a:r>
          </a:p>
          <a:p>
            <a:pPr marL="201168" lvl="1" indent="0">
              <a:buNone/>
            </a:pPr>
            <a:r>
              <a:rPr lang="nn-NO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 for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 i = n; i &gt; 1; i--)</a:t>
            </a:r>
            <a:endParaRPr lang="en-US" sz="28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It is declared at the point of first reference (initialization step) and can only be referenced from the loop header (condition and update expressions) and the loop body.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After the loop exists, the variable is destroyed.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19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Loop Design and Loop Patterns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Many programs have loops that read data in their body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Often it is not know how many times the loop should run when it begins execution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Sentinel-controlled Loops:</a:t>
            </a:r>
          </a:p>
          <a:p>
            <a:pPr marL="201168" lvl="1" indent="0">
              <a:buNone/>
            </a:pPr>
            <a:r>
              <a:rPr lang="en-US" sz="2800" dirty="0"/>
              <a:t>1. Read the first data item</a:t>
            </a:r>
          </a:p>
          <a:p>
            <a:pPr marL="201168" lvl="1" indent="0">
              <a:buNone/>
            </a:pPr>
            <a:r>
              <a:rPr lang="en-US" sz="2800" dirty="0"/>
              <a:t>2.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2800" dirty="0"/>
              <a:t>the sentinel value has not been read</a:t>
            </a:r>
          </a:p>
          <a:p>
            <a:pPr marL="201168" lvl="1" indent="0">
              <a:buNone/>
            </a:pPr>
            <a:r>
              <a:rPr lang="en-US" sz="2800" dirty="0"/>
              <a:t>	3. Process the data item</a:t>
            </a:r>
          </a:p>
          <a:p>
            <a:pPr marL="201168" lvl="1" indent="0">
              <a:buNone/>
            </a:pPr>
            <a:r>
              <a:rPr lang="en-US" sz="2800" dirty="0"/>
              <a:t>	4. Read the next data item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79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Sentinel-controlled Loops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A </a:t>
            </a:r>
            <a:r>
              <a:rPr lang="en-US" altLang="bg-BG" sz="3200" b="1" dirty="0"/>
              <a:t>sentinel</a:t>
            </a:r>
            <a:r>
              <a:rPr lang="en-US" altLang="bg-BG" sz="3200" dirty="0"/>
              <a:t> is a specific predetermined value used to terminate one type of event-controlled loop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It is the same type as the other data being processed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It is outside the range of valid values for the data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59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Sum Exam Scores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9370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SENTINEL = </a:t>
            </a: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score, sum =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"Enter a number (</a:t>
            </a:r>
            <a:r>
              <a:rPr lang="bg-BG" sz="2200" dirty="0">
                <a:solidFill>
                  <a:srgbClr val="A31515"/>
                </a:solidFill>
                <a:latin typeface="Consolas" panose="020B0609020204030204" pitchFamily="49" charset="0"/>
              </a:rPr>
              <a:t>0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 to exit):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cin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score;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(score != SENTINEL)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sum += score;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"Enter a number (</a:t>
            </a:r>
            <a:r>
              <a:rPr lang="bg-BG" sz="2200">
                <a:solidFill>
                  <a:srgbClr val="A31515"/>
                </a:solidFill>
                <a:latin typeface="Consolas" panose="020B0609020204030204" pitchFamily="49" charset="0"/>
              </a:rPr>
              <a:t>0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to exit):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cin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score;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"The sum is: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sum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  <a:endParaRPr lang="bg-BG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057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Flag-controlled Loops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578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Type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3200" dirty="0"/>
              <a:t> variables are also called </a:t>
            </a:r>
            <a:r>
              <a:rPr lang="en-US" sz="3200" b="1" dirty="0"/>
              <a:t>flags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flag-controlled loop is a loop whose repetition condition is a boolean variable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Algorithm:</a:t>
            </a:r>
            <a:endParaRPr lang="en-US" sz="3000" dirty="0"/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dirty="0"/>
              <a:t>1. Set the flag to true</a:t>
            </a:r>
          </a:p>
          <a:p>
            <a:pPr marL="201168" lvl="1" indent="0">
              <a:buNone/>
            </a:pPr>
            <a:r>
              <a:rPr lang="en-US" sz="2800" dirty="0"/>
              <a:t>2. While the flag is true</a:t>
            </a:r>
          </a:p>
          <a:p>
            <a:pPr marL="201168" lvl="1" indent="0">
              <a:buNone/>
            </a:pPr>
            <a:r>
              <a:rPr lang="en-US" sz="2800" dirty="0"/>
              <a:t>	3. Perform some action</a:t>
            </a:r>
          </a:p>
          <a:p>
            <a:pPr marL="201168" lvl="1" indent="0">
              <a:buNone/>
            </a:pPr>
            <a:r>
              <a:rPr lang="en-US" sz="2800" dirty="0"/>
              <a:t>	4. Set the flag to false if the loop should stop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290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Flag-controlled Loop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6680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// NOTE: reads the input character by character and outputs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// the first digit character encountered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digitChar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digitRead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	  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// initial value of flag is false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digitRead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cin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digitChar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    // checks whether the character (type char) is a digit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digitRead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'0'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digitChar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 &amp;&amp; (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'9'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digitChar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"First digit: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digitChar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  <a:endParaRPr lang="bg-BG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8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  <a:r>
              <a:rPr lang="en-US" dirty="0"/>
              <a:t> Statement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8334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3200" dirty="0"/>
              <a:t> loop can be executed zero or more times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  <a:r>
              <a:rPr lang="en-US" sz="3200" dirty="0"/>
              <a:t> loop is executed at least once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General form:</a:t>
            </a:r>
            <a:endParaRPr lang="en-US" sz="3000" dirty="0"/>
          </a:p>
          <a:p>
            <a:pPr marL="201168" lvl="1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201168" lvl="1" indent="0">
              <a:buNone/>
            </a:pP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	statement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	} while (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Notice that the iterative part executes </a:t>
            </a:r>
            <a:r>
              <a:rPr lang="en-US" altLang="bg-BG" sz="3200" b="1" i="1" dirty="0"/>
              <a:t>before</a:t>
            </a:r>
            <a:r>
              <a:rPr lang="en-US" altLang="bg-BG" sz="3200" dirty="0"/>
              <a:t> the loop-test at the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743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Data-validation Loop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  <a:r>
              <a:rPr lang="en-US" sz="3200" dirty="0"/>
              <a:t> statement can be used to implement a data-validation loop – a loop that continues to prompt and read data from the user until a valid item is entered.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"Enter number of employees: 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cin &gt;&gt;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numEmp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}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numEmp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 0);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563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the Largest Value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365" y="1792473"/>
            <a:ext cx="6630315" cy="451834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16670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the Largest Value (continued)</a:t>
            </a:r>
            <a:endParaRPr lang="bg-BG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1803" y="2061419"/>
            <a:ext cx="6877492" cy="403458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03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Review of Loop Forms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560832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Most commonly used when repetition is not counter controlled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loop condition test is done before each loop repetition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loop body may not be executed at all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7109012" y="1845735"/>
            <a:ext cx="42672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cs typeface="Courier New" panose="02070309020205020404" pitchFamily="49" charset="0"/>
              </a:rPr>
              <a:t>Example: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count =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startValue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(count &lt;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maxValue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count++;</a:t>
            </a:r>
          </a:p>
          <a:p>
            <a:pPr marL="0" indent="0">
              <a:buNone/>
            </a:pP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772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Review of Loop Forms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3"/>
            <a:ext cx="5491780" cy="433991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Used to implement a counting loop – i.e. when the number of repetitions is known in advance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Also convenient for other loops with simple initialization and update steps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condition test precedes the execution of the loop body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loop body may not be executed at all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bg-BG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7207623" y="1845735"/>
            <a:ext cx="4168589" cy="40233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>
                <a:cs typeface="Courier New" panose="02070309020205020404" pitchFamily="49" charset="0"/>
              </a:rPr>
              <a:t>Example: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10; i++)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'*'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193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Review of Loop Forms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3"/>
            <a:ext cx="5491780" cy="42323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bg-BG" sz="3200" dirty="0"/>
              <a:t>Convenient when at least one repetition of the loop body is required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condition test is performed after the loop body is executed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loop body is executed at least once</a:t>
            </a:r>
            <a:endParaRPr lang="bg-BG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7261412" y="1845734"/>
            <a:ext cx="3894267" cy="4232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cs typeface="Courier New" panose="02070309020205020404" pitchFamily="49" charset="0"/>
              </a:rPr>
              <a:t>Example: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answ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'y'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cout &lt;&lt;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"Continue?"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cin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answ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answ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'y'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bg-BG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410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Nested Loops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Similar to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3200" dirty="0"/>
              <a:t> statements, loops can be nested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Nested loops consist of an outer loop with one or more inner loops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Each time the outer loop is repeated, the inner loops are reentered, loop control components reevaluated and required iterations performed.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139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Displaying the Multiplication Table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3852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iomanip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&gt;	 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needed for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setw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row = 1; row &lt; 10; row++)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setw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(3)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row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for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col = 1; col &lt;= 10; col++)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setw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(3)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row * col;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2950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5371-38A5-C644-8254-6D6931956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Displaying the Multiplication Table (continue)</a:t>
            </a:r>
            <a:endParaRPr lang="en-BG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91ADD7D-E139-B641-BEF2-DA756F356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7456181"/>
              </p:ext>
            </p:extLst>
          </p:nvPr>
        </p:nvGraphicFramePr>
        <p:xfrm>
          <a:off x="1096963" y="1846263"/>
          <a:ext cx="100584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66565788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528692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</a:t>
                      </a:r>
                      <a:r>
                        <a:rPr lang="en-BG" dirty="0"/>
                        <a:t>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</a:t>
                      </a:r>
                      <a:r>
                        <a:rPr lang="en-BG" dirty="0"/>
                        <a:t>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04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78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G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09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G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G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852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G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747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G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146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G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G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360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G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G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15948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A3E6F-5555-C247-B936-C54F278D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735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Output: Displaying the Multiplication Table</a:t>
            </a:r>
            <a:endParaRPr lang="bg-BG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950" y="2228850"/>
            <a:ext cx="6448425" cy="32575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34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Debugging and Testing Programs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2"/>
            <a:ext cx="10058400" cy="4501279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Debugging is the process of locating a logical error – i.e. an error that causes a program to produce wrong results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Often the error is not obvious and requires a considerable amount of time to locate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Modern Integrated Development Environments (IDEs) include features to help you debug a program while it is executing</a:t>
            </a:r>
            <a:endParaRPr lang="en-US" altLang="bg-BG" sz="3200" dirty="0">
              <a:latin typeface="New York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If a debugger cannot be used, you can insert extra diagnostic output statements to display intermediate results at critical points in your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7244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Debugging Without a Debugger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578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Insert diagnostic output statements: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At locations where you suspect things are going wrong or other critical points in the code: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Beginning and end of functions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After complex calculations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To display intermediate results, e.g. variables affected by each major algorithm step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After debugging is complete, remove or “comment out” the diagnostic statements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415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After all errors have been cleared, thorough testing should be performed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Check all paths through decision statements and the number of iterations for loops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Make enough test runs to verify that the program works properly for representative samples of all possible data combinations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753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24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2170</TotalTime>
  <Words>2720</Words>
  <Application>Microsoft Office PowerPoint</Application>
  <PresentationFormat>Widescreen</PresentationFormat>
  <Paragraphs>441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Calibri</vt:lpstr>
      <vt:lpstr>Calibri Light</vt:lpstr>
      <vt:lpstr>Consolas</vt:lpstr>
      <vt:lpstr>Courier New</vt:lpstr>
      <vt:lpstr>New York</vt:lpstr>
      <vt:lpstr>Wingdings</vt:lpstr>
      <vt:lpstr>Retrospect</vt:lpstr>
      <vt:lpstr>Control Flow – Loops</vt:lpstr>
      <vt:lpstr>Lecture Contents</vt:lpstr>
      <vt:lpstr>Control Structures</vt:lpstr>
      <vt:lpstr>When are Loops Needed?</vt:lpstr>
      <vt:lpstr>Counting Loops and the while Statement</vt:lpstr>
      <vt:lpstr>Example: Compute the Gross Salary for Seven Employees</vt:lpstr>
      <vt:lpstr>Flowchart for a while Loop</vt:lpstr>
      <vt:lpstr>Example Explanation</vt:lpstr>
      <vt:lpstr>Example Explanation (continued)</vt:lpstr>
      <vt:lpstr>Example Explanation (continued)</vt:lpstr>
      <vt:lpstr>while Statement Syntax</vt:lpstr>
      <vt:lpstr>Loop Control Notes</vt:lpstr>
      <vt:lpstr>Accumulating a Sum or Product in a Loop</vt:lpstr>
      <vt:lpstr>Program to Compute Company Payroll</vt:lpstr>
      <vt:lpstr>PowerPoint Presentation</vt:lpstr>
      <vt:lpstr>Example – Compute Payroll</vt:lpstr>
      <vt:lpstr>Writing General Loops</vt:lpstr>
      <vt:lpstr>Multiplying a List of Numbers</vt:lpstr>
      <vt:lpstr>Conditional Loop</vt:lpstr>
      <vt:lpstr>Compound Assignment Operators</vt:lpstr>
      <vt:lpstr>The for Statement</vt:lpstr>
      <vt:lpstr>The for Statement (continued)</vt:lpstr>
      <vt:lpstr>The for Statement (continued)</vt:lpstr>
      <vt:lpstr>Will This Print the Same Thing?</vt:lpstr>
      <vt:lpstr>The for Statement (continued)</vt:lpstr>
      <vt:lpstr>Using a for statement in a counting loop</vt:lpstr>
      <vt:lpstr>for Loop Interpretation</vt:lpstr>
      <vt:lpstr>Increment and Decrement Operators</vt:lpstr>
      <vt:lpstr>Increment and Decrement Operators (continued)</vt:lpstr>
      <vt:lpstr>Program to Computer Factorial</vt:lpstr>
      <vt:lpstr>Localized Declarations of Variables</vt:lpstr>
      <vt:lpstr>Loop Design and Loop Patterns</vt:lpstr>
      <vt:lpstr>Sentinel-controlled Loops</vt:lpstr>
      <vt:lpstr>Example: Sum Exam Scores</vt:lpstr>
      <vt:lpstr>Flag-controlled Loops</vt:lpstr>
      <vt:lpstr>Example: Flag-controlled Loop</vt:lpstr>
      <vt:lpstr>The do-while Statement</vt:lpstr>
      <vt:lpstr>Data-validation Loop</vt:lpstr>
      <vt:lpstr>Example: Finding the Largest Value</vt:lpstr>
      <vt:lpstr>Example: Finding the Largest Value (continued)</vt:lpstr>
      <vt:lpstr>Review of Loop Forms</vt:lpstr>
      <vt:lpstr>Review of Loop Forms (continued)</vt:lpstr>
      <vt:lpstr>Review of Loop Forms (continued)</vt:lpstr>
      <vt:lpstr>Nested Loops</vt:lpstr>
      <vt:lpstr>Example: Displaying the Multiplication Table</vt:lpstr>
      <vt:lpstr>Example: Displaying the Multiplication Table (continue)</vt:lpstr>
      <vt:lpstr>Example Output: Displaying the Multiplication Table</vt:lpstr>
      <vt:lpstr>Debugging and Testing Programs</vt:lpstr>
      <vt:lpstr>Debugging Without a Debugger</vt:lpstr>
      <vt:lpstr>Testing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684</cp:revision>
  <dcterms:created xsi:type="dcterms:W3CDTF">2016-08-30T09:20:13Z</dcterms:created>
  <dcterms:modified xsi:type="dcterms:W3CDTF">2025-08-24T11:18:22Z</dcterms:modified>
</cp:coreProperties>
</file>