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63"/>
  </p:notesMasterIdLst>
  <p:sldIdLst>
    <p:sldId id="286" r:id="rId2"/>
    <p:sldId id="282" r:id="rId3"/>
    <p:sldId id="280" r:id="rId4"/>
    <p:sldId id="289" r:id="rId5"/>
    <p:sldId id="290" r:id="rId6"/>
    <p:sldId id="291" r:id="rId7"/>
    <p:sldId id="299" r:id="rId8"/>
    <p:sldId id="300" r:id="rId9"/>
    <p:sldId id="301" r:id="rId10"/>
    <p:sldId id="302" r:id="rId11"/>
    <p:sldId id="292" r:id="rId12"/>
    <p:sldId id="293" r:id="rId13"/>
    <p:sldId id="294" r:id="rId14"/>
    <p:sldId id="295" r:id="rId15"/>
    <p:sldId id="304" r:id="rId16"/>
    <p:sldId id="305" r:id="rId17"/>
    <p:sldId id="306" r:id="rId18"/>
    <p:sldId id="307" r:id="rId19"/>
    <p:sldId id="313" r:id="rId20"/>
    <p:sldId id="346" r:id="rId21"/>
    <p:sldId id="296" r:id="rId22"/>
    <p:sldId id="297" r:id="rId23"/>
    <p:sldId id="298" r:id="rId24"/>
    <p:sldId id="308" r:id="rId25"/>
    <p:sldId id="309" r:id="rId26"/>
    <p:sldId id="310" r:id="rId27"/>
    <p:sldId id="311" r:id="rId28"/>
    <p:sldId id="312" r:id="rId29"/>
    <p:sldId id="288" r:id="rId30"/>
    <p:sldId id="314" r:id="rId31"/>
    <p:sldId id="317" r:id="rId32"/>
    <p:sldId id="318" r:id="rId33"/>
    <p:sldId id="320" r:id="rId34"/>
    <p:sldId id="321" r:id="rId35"/>
    <p:sldId id="319" r:id="rId36"/>
    <p:sldId id="315" r:id="rId37"/>
    <p:sldId id="316" r:id="rId38"/>
    <p:sldId id="326" r:id="rId39"/>
    <p:sldId id="327" r:id="rId40"/>
    <p:sldId id="328" r:id="rId41"/>
    <p:sldId id="322" r:id="rId42"/>
    <p:sldId id="323" r:id="rId43"/>
    <p:sldId id="324" r:id="rId44"/>
    <p:sldId id="348" r:id="rId45"/>
    <p:sldId id="362" r:id="rId46"/>
    <p:sldId id="363" r:id="rId47"/>
    <p:sldId id="325" r:id="rId48"/>
    <p:sldId id="364" r:id="rId49"/>
    <p:sldId id="329" r:id="rId50"/>
    <p:sldId id="361" r:id="rId51"/>
    <p:sldId id="330" r:id="rId52"/>
    <p:sldId id="332" r:id="rId53"/>
    <p:sldId id="333" r:id="rId54"/>
    <p:sldId id="334" r:id="rId55"/>
    <p:sldId id="335" r:id="rId56"/>
    <p:sldId id="336" r:id="rId57"/>
    <p:sldId id="337" r:id="rId58"/>
    <p:sldId id="338" r:id="rId59"/>
    <p:sldId id="339" r:id="rId60"/>
    <p:sldId id="340" r:id="rId61"/>
    <p:sldId id="331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0"/>
            <p14:sldId id="289"/>
            <p14:sldId id="290"/>
            <p14:sldId id="291"/>
            <p14:sldId id="299"/>
            <p14:sldId id="300"/>
            <p14:sldId id="301"/>
            <p14:sldId id="302"/>
            <p14:sldId id="292"/>
            <p14:sldId id="293"/>
            <p14:sldId id="294"/>
            <p14:sldId id="295"/>
            <p14:sldId id="304"/>
            <p14:sldId id="305"/>
            <p14:sldId id="306"/>
            <p14:sldId id="307"/>
            <p14:sldId id="313"/>
            <p14:sldId id="346"/>
            <p14:sldId id="296"/>
            <p14:sldId id="297"/>
            <p14:sldId id="298"/>
            <p14:sldId id="308"/>
            <p14:sldId id="309"/>
            <p14:sldId id="310"/>
            <p14:sldId id="311"/>
            <p14:sldId id="312"/>
            <p14:sldId id="288"/>
            <p14:sldId id="314"/>
            <p14:sldId id="317"/>
            <p14:sldId id="318"/>
            <p14:sldId id="320"/>
            <p14:sldId id="321"/>
            <p14:sldId id="319"/>
            <p14:sldId id="315"/>
            <p14:sldId id="316"/>
            <p14:sldId id="326"/>
            <p14:sldId id="327"/>
            <p14:sldId id="328"/>
            <p14:sldId id="322"/>
            <p14:sldId id="323"/>
            <p14:sldId id="324"/>
            <p14:sldId id="348"/>
            <p14:sldId id="362"/>
            <p14:sldId id="363"/>
            <p14:sldId id="325"/>
            <p14:sldId id="364"/>
            <p14:sldId id="329"/>
            <p14:sldId id="361"/>
            <p14:sldId id="330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989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Top-Down Design with Functions and Classes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3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3.2 Library Functions</a:t>
            </a:r>
          </a:p>
          <a:p>
            <a:pPr marL="0" indent="0">
              <a:buNone/>
            </a:pPr>
            <a:r>
              <a:rPr lang="en-US" sz="3200" dirty="0"/>
              <a:t>3.3 </a:t>
            </a:r>
            <a:r>
              <a:rPr lang="en-US" altLang="bg-BG" sz="3200" dirty="0"/>
              <a:t>Top-Down Design and Structure Charts</a:t>
            </a:r>
          </a:p>
          <a:p>
            <a:pPr marL="0" indent="0">
              <a:buNone/>
            </a:pPr>
            <a:r>
              <a:rPr lang="en-US" sz="3200" dirty="0"/>
              <a:t>3.4 Functions without Arguments</a:t>
            </a:r>
          </a:p>
          <a:p>
            <a:pPr marL="0" indent="0">
              <a:buNone/>
            </a:pPr>
            <a:r>
              <a:rPr lang="en-US" sz="3200" dirty="0"/>
              <a:t>3.5 Functions with Input Arguments</a:t>
            </a:r>
          </a:p>
          <a:p>
            <a:pPr marL="0" indent="0">
              <a:buNone/>
            </a:pPr>
            <a:r>
              <a:rPr lang="en-US" sz="3200" dirty="0"/>
              <a:t>3.6 Scope of Names</a:t>
            </a:r>
          </a:p>
          <a:p>
            <a:pPr marL="0" indent="0">
              <a:buNone/>
            </a:pPr>
            <a:r>
              <a:rPr lang="en-US" sz="3200" dirty="0"/>
              <a:t>3.7 Extending C++ through Classes: Using Class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16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One of the important goals of software engineering is writing reliable error-free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One way to achieve this is through code reuse – reusing program fragments that have already been written and tested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C++ promotes code reuse by providing predefined classes and functions in the standard library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cmath</a:t>
            </a:r>
            <a:r>
              <a:rPr lang="en-US" dirty="0"/>
              <a:t> Library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Contains many typical mathematical functions – e.g.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Function used in an assignment statement: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spcBef>
                <a:spcPts val="2400"/>
              </a:spcBef>
              <a:buNone/>
            </a:pP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 = </a:t>
            </a:r>
            <a:r>
              <a:rPr lang="en-US" altLang="bg-BG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219200" y="5562600"/>
            <a:ext cx="1371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Function name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657600" y="5562600"/>
            <a:ext cx="1676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ourier New" panose="02070309020205020404" pitchFamily="49" charset="0"/>
              </a:rPr>
              <a:t>Function argument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905000" y="3338639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Function call</a:t>
            </a: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1905000" y="4876800"/>
            <a:ext cx="533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 flipV="1">
            <a:off x="3657600" y="4876800"/>
            <a:ext cx="6096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286000" y="4191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286000" y="4191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>
            <a:off x="4267200" y="4191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2819400" y="3733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1956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Functions as Black Boxes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937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Function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sz="3200" dirty="0"/>
              <a:t> as a “black box” – receives data and returns data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y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sqrt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  <a:endParaRPr lang="bg-BG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414058" y="4594412"/>
            <a:ext cx="2057400" cy="8318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bg-BG">
                <a:latin typeface="Times New Roman" panose="02020603050405020304" pitchFamily="18" charset="0"/>
              </a:rPr>
              <a:t>Square root function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747058" y="4823012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X is 16.0</a:t>
            </a: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3194858" y="5051612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6623858" y="5051612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7995458" y="4823012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Result is 4.0</a:t>
            </a:r>
          </a:p>
        </p:txBody>
      </p:sp>
    </p:spTree>
    <p:extLst>
      <p:ext uri="{BB962C8B-B14F-4D97-AF65-F5344CB8AC3E}">
        <p14:creationId xmlns:p14="http://schemas.microsoft.com/office/powerpoint/2010/main" val="34163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Using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 Function</a:t>
            </a:r>
            <a:endParaRPr lang="bg-B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9519" y="1830267"/>
            <a:ext cx="7173922" cy="44648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65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Using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 Function (continued)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689" y="1821529"/>
            <a:ext cx="7009582" cy="4464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621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Mathematical Library Functions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788" y="1837298"/>
            <a:ext cx="8802506" cy="4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9557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Mathematical Library Functions (continued)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029" y="2043488"/>
            <a:ext cx="8805672" cy="3964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413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332720" cy="44385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C++ allows us to write our own functions like: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findArea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</a:t>
            </a:r>
            <a:r>
              <a:rPr lang="en-US" sz="3000" dirty="0"/>
              <a:t> – returns area of a circle with radius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findCircum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</a:t>
            </a:r>
            <a:r>
              <a:rPr lang="en-US" sz="3000" dirty="0">
                <a:cs typeface="Courier New" panose="02070309020205020404" pitchFamily="49" charset="0"/>
              </a:rPr>
              <a:t> – returns perimeter of a circle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>
                <a:cs typeface="Courier New" panose="02070309020205020404" pitchFamily="49" charset="0"/>
              </a:rPr>
              <a:t>We could use the above two functions in a program like: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area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(r);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perim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findCircum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(r);</a:t>
            </a: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rimArea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(outer) -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(inner);</a:t>
            </a:r>
            <a:endParaRPr lang="bg-BG" sz="2400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1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Top-Down Design and Structure Charts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Algorithms used to solve problems are usually complex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Programmers use a method called </a:t>
            </a:r>
            <a:r>
              <a:rPr lang="en-US" sz="3200" b="1" dirty="0"/>
              <a:t>Top-down Design </a:t>
            </a:r>
            <a:r>
              <a:rPr lang="en-US" sz="3200" dirty="0"/>
              <a:t>– repeatedly breaking a problem into subproblems and solving them to derive the solution of the original problem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</a:t>
            </a:r>
            <a:r>
              <a:rPr lang="en-US" sz="3200" b="1" dirty="0"/>
              <a:t>structure chart </a:t>
            </a:r>
            <a:r>
              <a:rPr lang="en-US" sz="3200" dirty="0"/>
              <a:t>can be used to show the relationships among and different levels of subproblems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04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Structure Chart</a:t>
            </a:r>
            <a:endParaRPr 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7280" y="1845735"/>
            <a:ext cx="2340067" cy="40227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53420491"/>
              </p:ext>
            </p:extLst>
          </p:nvPr>
        </p:nvGraphicFramePr>
        <p:xfrm>
          <a:off x="4218032" y="1909668"/>
          <a:ext cx="5036579" cy="3958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Organization Chart" r:id="rId3" imgW="3086100" imgH="2425700" progId="MSOrgChart.2">
                  <p:embed followColorScheme="full"/>
                </p:oleObj>
              </mc:Choice>
              <mc:Fallback>
                <p:oleObj name="Microsoft Organization Chart" r:id="rId3" imgW="3086100" imgH="2425700" progId="MSOrgChart.2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8032" y="1909668"/>
                        <a:ext cx="5036579" cy="3958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450975" y="2043953"/>
            <a:ext cx="176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Problem</a:t>
            </a:r>
            <a:endParaRPr lang="bg-BG" dirty="0"/>
          </a:p>
        </p:txBody>
      </p:sp>
      <p:sp>
        <p:nvSpPr>
          <p:cNvPr id="11" name="TextBox 10"/>
          <p:cNvSpPr txBox="1"/>
          <p:nvPr/>
        </p:nvSpPr>
        <p:spPr>
          <a:xfrm>
            <a:off x="9450975" y="3487765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Subproblems</a:t>
            </a:r>
            <a:endParaRPr lang="bg-BG" dirty="0"/>
          </a:p>
        </p:txBody>
      </p:sp>
      <p:sp>
        <p:nvSpPr>
          <p:cNvPr id="12" name="TextBox 11"/>
          <p:cNvSpPr txBox="1"/>
          <p:nvPr/>
        </p:nvSpPr>
        <p:spPr>
          <a:xfrm>
            <a:off x="9450975" y="4931577"/>
            <a:ext cx="1418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Detailed </a:t>
            </a:r>
          </a:p>
          <a:p>
            <a:r>
              <a:rPr lang="en-US" dirty="0"/>
              <a:t>Subproblems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6709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without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16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One way programmers use top-down design in their programs is by writing their own functions for each subproblem in the structure 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sz="3200" b="1" dirty="0">
                <a:cs typeface="Courier New" panose="02070309020205020404" pitchFamily="49" charset="0"/>
              </a:rPr>
              <a:t> </a:t>
            </a:r>
            <a:r>
              <a:rPr lang="en-US" sz="3200" dirty="0"/>
              <a:t>function in a program is called by the 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general form of a function call statement: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drawCircle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13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Some Notes on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do not need to know any details about how a function is implemented, in order to call it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For example: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y =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sqrt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(x);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don’t know how </a:t>
            </a:r>
            <a:r>
              <a:rPr lang="en-US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sqrt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 implemented</a:t>
            </a:r>
            <a:endParaRPr lang="en-US" sz="2600" b="1" dirty="0"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However, we do need to know how a function is used (called)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Empty parentheses indicate that no arguments are passed to the function (more on this later)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2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Prototype / Declaration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68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Just like other identifiers in C++, a function must be declared before it can be referenced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function prototype declares to the compiler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Usually appears before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sz="3200" b="1" dirty="0">
                <a:cs typeface="Courier New" panose="02070309020205020404" pitchFamily="49" charset="0"/>
              </a:rPr>
              <a:t> </a:t>
            </a:r>
            <a:r>
              <a:rPr lang="en-US" sz="3200" dirty="0"/>
              <a:t>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Contains the function type (of the return value), its name and information about its parameters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Prototype (No Arguments)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ftype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skipThree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Interpretation: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identifier </a:t>
            </a:r>
            <a:r>
              <a:rPr lang="en-US" sz="3000" i="1" dirty="0" err="1"/>
              <a:t>fname</a:t>
            </a:r>
            <a:r>
              <a:rPr lang="en-US" sz="3000" dirty="0"/>
              <a:t> is declared to be the name of the function.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identifier </a:t>
            </a:r>
            <a:r>
              <a:rPr lang="en-US" sz="3000" i="1" dirty="0" err="1"/>
              <a:t>ftype</a:t>
            </a:r>
            <a:r>
              <a:rPr lang="en-US" sz="3000" dirty="0"/>
              <a:t> specifies the data type of the function result.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function type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3000" dirty="0"/>
              <a:t> indicates that the function does not return a value.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4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Specifies the function’s operations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Function header </a:t>
            </a:r>
            <a:r>
              <a:rPr lang="en-US" sz="3200" dirty="0"/>
              <a:t>similar to function prototype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Function body </a:t>
            </a:r>
            <a:r>
              <a:rPr lang="en-US" sz="3200" dirty="0"/>
              <a:t>contains declarations for local variables and constants and executable statements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Prototypes usually precede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3200" dirty="0"/>
              <a:t> function (after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3200" dirty="0"/>
              <a:t> directives)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Function definitions follow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3200" dirty="0"/>
              <a:t>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90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 Definition (No Arguments)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4610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Syntax: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1168" lvl="1" indent="0">
              <a:buNone/>
            </a:pPr>
            <a:r>
              <a:rPr lang="en-US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ftype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201168" lvl="1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201168" lvl="1" indent="0">
              <a:buNone/>
            </a:pPr>
            <a:r>
              <a:rPr lang="en-US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local variable declarations;</a:t>
            </a:r>
          </a:p>
          <a:p>
            <a:pPr marL="201168" lvl="1" indent="0">
              <a:buNone/>
            </a:pPr>
            <a:r>
              <a:rPr lang="en-US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executable statements;</a:t>
            </a:r>
          </a:p>
          <a:p>
            <a:pPr marL="201168" lvl="1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printName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"John Smith"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78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52038" cy="1450757"/>
          </a:xfrm>
        </p:spPr>
        <p:txBody>
          <a:bodyPr/>
          <a:lstStyle/>
          <a:p>
            <a:r>
              <a:rPr lang="en-US" dirty="0"/>
              <a:t>Skipping Function Prototype / Declaration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showMsg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World!"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showMsg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74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52038" cy="1450757"/>
          </a:xfrm>
        </p:spPr>
        <p:txBody>
          <a:bodyPr/>
          <a:lstStyle/>
          <a:p>
            <a:r>
              <a:rPr lang="en-US" dirty="0"/>
              <a:t>Skipping Function Prototype / Declaration</a:t>
            </a:r>
            <a:r>
              <a:rPr lang="bg-BG" dirty="0"/>
              <a:t> (continue)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showMsg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showMsg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	return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showMsg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World!"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80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Execution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21</a:t>
            </a:fld>
            <a:endParaRPr lang="en-US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5976158" y="3298473"/>
            <a:ext cx="3886200" cy="2590800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endParaRPr lang="bg-BG" altLang="bg-BG" sz="280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37558" y="3298473"/>
            <a:ext cx="3124200" cy="2590800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endParaRPr lang="bg-BG" altLang="bg-BG" sz="280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937558" y="2307873"/>
            <a:ext cx="2648161" cy="3121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 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altLang="bg-BG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drawCircle</a:t>
            </a: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altLang="bg-BG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drawTriangle</a:t>
            </a: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altLang="bg-BG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drawIntersect</a:t>
            </a: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return 0;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052358" y="2384073"/>
            <a:ext cx="3848100" cy="2597150"/>
          </a:xfrm>
          <a:prstGeom prst="rect">
            <a:avLst/>
          </a:prstGeom>
          <a:noFill/>
          <a:ln w="9525">
            <a:solidFill>
              <a:srgbClr val="00ABDB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void </a:t>
            </a:r>
            <a:r>
              <a:rPr lang="en-US" altLang="bg-BG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drawCircle</a:t>
            </a: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cout &lt;&lt; “     *    “  &lt;&lt; endl;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cout &lt;&lt; “  *     * “ &lt;&lt; endl;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cout &lt;&lt; “    *  *  “ &lt;&lt; endl;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bg-BG" sz="20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//return to calling function</a:t>
            </a:r>
            <a:endParaRPr lang="en-US" altLang="bg-BG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 </a:t>
            </a:r>
            <a:r>
              <a:rPr lang="en-US" altLang="bg-BG" sz="20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// end </a:t>
            </a:r>
            <a:r>
              <a:rPr lang="en-US" altLang="bg-BG" sz="2000" b="1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drawCircle</a:t>
            </a:r>
            <a:endParaRPr lang="en-US" altLang="bg-BG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5137958" y="2993673"/>
            <a:ext cx="838200" cy="7620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lIns="92075" tIns="46038" rIns="92075" bIns="46038" anchor="ctr"/>
          <a:lstStyle/>
          <a:p>
            <a:endParaRPr lang="bg-BG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299758" y="3679473"/>
            <a:ext cx="1219200" cy="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 type="stealth" w="lg" len="lg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bg-BG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5518958" y="3679473"/>
            <a:ext cx="0" cy="114300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bg-BG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5518958" y="4822473"/>
            <a:ext cx="533400" cy="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bg-BG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4299758" y="3450873"/>
            <a:ext cx="1219200" cy="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bg-BG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5518958" y="2612673"/>
            <a:ext cx="0" cy="83820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bg-BG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H="1">
            <a:off x="5518958" y="2612673"/>
            <a:ext cx="457200" cy="0"/>
          </a:xfrm>
          <a:prstGeom prst="line">
            <a:avLst/>
          </a:prstGeom>
          <a:noFill/>
          <a:ln w="9525">
            <a:solidFill>
              <a:srgbClr val="8080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 anchor="ctr"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12451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Notes on Function Execution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Program execution always begins at the first statement of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3200" dirty="0"/>
              <a:t>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a function is called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Memory space is set aside for function variables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Statements of the function are executed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Control returns to the statement following the function call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Function ends with memory space released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70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 Advantages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4610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team of programmers can work on larger projects – each member will be responsible for a particular set of functions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Functions simplify tasks because existing ones can be </a:t>
            </a:r>
            <a:r>
              <a:rPr lang="en-US" sz="3200" b="1" dirty="0"/>
              <a:t>reused</a:t>
            </a:r>
            <a:r>
              <a:rPr lang="en-US" sz="3200" dirty="0"/>
              <a:t> in other programs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Functions allow </a:t>
            </a:r>
            <a:r>
              <a:rPr lang="en-US" sz="3200" b="1" dirty="0"/>
              <a:t>procedural abstraction </a:t>
            </a:r>
            <a:r>
              <a:rPr lang="en-US" sz="3200" dirty="0"/>
              <a:t>– a technique in which the more abstract functions (like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3200" dirty="0"/>
              <a:t>) consist of sequence of other function calls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be used to implement the different layers of subtasks in a top-down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15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Displaying User Instructions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88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Simple functions (no arguments, no return value) have limited capability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They are useful for displaying constant data, like instructions to the user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instruct();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prototype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instruct();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function call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3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instruct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440296" cy="446541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Displays instructions to the user of a program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instruct()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"This program computes the area and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"circumference of a circle.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"To use this program, enter the radius of the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"circle after the prompt"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"Enter the circle radius: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circumference will be computed in the same"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"units of measurement as the radius. The area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"will be computed in the same units squared."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5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Functions with Input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Programmers use functions like building blocks to construct large programs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arguments of a function are used to pass information from the main (or another) function to the current one (input arguments), or to return multiple results (output arguments)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Arguments make functions flexible: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rimArea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edgeRadius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) - 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holeRadius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bg-BG" sz="2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9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b="1" dirty="0">
                <a:latin typeface="Courier New" panose="02070309020205020404" pitchFamily="49" charset="0"/>
              </a:rPr>
              <a:t>void</a:t>
            </a:r>
            <a:r>
              <a:rPr lang="en-US" altLang="bg-BG" dirty="0"/>
              <a:t> Functions with Input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Pass data to function to use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Do not expect function to return any result(s)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Call format: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actual-argument-list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drawCircleChar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'*'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23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Input Argument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3980330" y="1984237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bg-BG" altLang="bg-BG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618130" y="1908037"/>
            <a:ext cx="403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drawCircleChar</a:t>
            </a:r>
            <a:r>
              <a:rPr lang="en-US" altLang="bg-BG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('*');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151530" y="3660637"/>
            <a:ext cx="7162800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void </a:t>
            </a:r>
            <a:r>
              <a:rPr lang="en-US" altLang="bg-BG" sz="1800" b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drawCircleChar(</a:t>
            </a:r>
            <a:r>
              <a:rPr lang="en-US" altLang="bg-BG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char symbol)</a:t>
            </a:r>
          </a:p>
          <a:p>
            <a:pPr>
              <a:spcBef>
                <a:spcPct val="50000"/>
              </a:spcBef>
            </a:pPr>
            <a:r>
              <a:rPr lang="en-US" altLang="bg-BG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en-US" altLang="bg-BG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cout &lt;&lt; "   " &lt;&lt; symbol &lt;&lt; endl;</a:t>
            </a:r>
          </a:p>
          <a:p>
            <a:pPr>
              <a:spcBef>
                <a:spcPct val="50000"/>
              </a:spcBef>
            </a:pPr>
            <a:r>
              <a:rPr lang="en-US" altLang="bg-BG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cout &lt;&lt; " " &lt;&lt; symbol &lt;&lt; "   " &lt;&lt; symbol &lt;&lt; endl;</a:t>
            </a:r>
          </a:p>
          <a:p>
            <a:pPr>
              <a:spcBef>
                <a:spcPct val="50000"/>
              </a:spcBef>
            </a:pPr>
            <a:r>
              <a:rPr lang="en-US" altLang="bg-BG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cout &lt;&lt; "  " &lt;&lt; symbol &lt;&lt; " " &lt;&lt; symbol &lt;&lt; endl;</a:t>
            </a:r>
          </a:p>
          <a:p>
            <a:pPr>
              <a:spcBef>
                <a:spcPct val="50000"/>
              </a:spcBef>
            </a:pPr>
            <a:r>
              <a:rPr lang="en-US" altLang="bg-BG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 </a:t>
            </a:r>
            <a:r>
              <a:rPr lang="en-US" altLang="bg-BG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// end </a:t>
            </a:r>
            <a:r>
              <a:rPr lang="en-US" altLang="bg-BG" sz="1800" b="1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drawCircle</a:t>
            </a:r>
            <a:endParaRPr lang="en-US" altLang="bg-BG" sz="18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4361330" y="2365237"/>
            <a:ext cx="106680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grpSp>
        <p:nvGrpSpPr>
          <p:cNvPr id="9" name="Group 14"/>
          <p:cNvGrpSpPr>
            <a:grpSpLocks/>
          </p:cNvGrpSpPr>
          <p:nvPr/>
        </p:nvGrpSpPr>
        <p:grpSpPr bwMode="auto">
          <a:xfrm>
            <a:off x="7028330" y="3355837"/>
            <a:ext cx="1219200" cy="1143000"/>
            <a:chOff x="4032" y="1776"/>
            <a:chExt cx="768" cy="720"/>
          </a:xfrm>
        </p:grpSpPr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4032" y="1776"/>
              <a:ext cx="768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bg-BG" altLang="bg-BG"/>
            </a:p>
          </p:txBody>
        </p:sp>
        <p:grpSp>
          <p:nvGrpSpPr>
            <p:cNvPr id="11" name="Group 12"/>
            <p:cNvGrpSpPr>
              <a:grpSpLocks/>
            </p:cNvGrpSpPr>
            <p:nvPr/>
          </p:nvGrpSpPr>
          <p:grpSpPr bwMode="auto">
            <a:xfrm>
              <a:off x="4080" y="1872"/>
              <a:ext cx="634" cy="448"/>
              <a:chOff x="4080" y="1872"/>
              <a:chExt cx="634" cy="448"/>
            </a:xfrm>
          </p:grpSpPr>
          <p:sp>
            <p:nvSpPr>
              <p:cNvPr id="12" name="Text Box 6"/>
              <p:cNvSpPr txBox="1">
                <a:spLocks noChangeArrowheads="1"/>
              </p:cNvSpPr>
              <p:nvPr/>
            </p:nvSpPr>
            <p:spPr bwMode="auto">
              <a:xfrm>
                <a:off x="4176" y="2064"/>
                <a:ext cx="432" cy="25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bg-BG" sz="2000" dirty="0">
                    <a:latin typeface="Courier New" panose="02070309020205020404" pitchFamily="49" charset="0"/>
                  </a:rPr>
                  <a:t>'*'</a:t>
                </a:r>
              </a:p>
            </p:txBody>
          </p:sp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4080" y="1872"/>
                <a:ext cx="6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r>
                  <a:rPr lang="en-US" altLang="bg-BG" sz="1800" b="1">
                    <a:latin typeface="Courier New" panose="02070309020205020404" pitchFamily="49" charset="0"/>
                  </a:rPr>
                  <a:t>symbol</a:t>
                </a:r>
                <a:endParaRPr lang="en-US" altLang="bg-BG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1465730" y="2898637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 flipH="1">
            <a:off x="5351930" y="4041637"/>
            <a:ext cx="19050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H="1">
            <a:off x="5123330" y="4194037"/>
            <a:ext cx="2133600" cy="762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H="1">
            <a:off x="5351930" y="4194037"/>
            <a:ext cx="2057400" cy="1143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 flipH="1">
            <a:off x="7256930" y="4194037"/>
            <a:ext cx="304800" cy="1143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flipH="1">
            <a:off x="7637930" y="4194037"/>
            <a:ext cx="152400" cy="762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8084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Functions with Arguments and a Single Result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Functions that return a result must have 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3200" dirty="0"/>
              <a:t> statement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x * y;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3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Circle Area and Circumference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cmath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PI = 3.14159;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bg-BG" sz="1800" b="1" dirty="0" err="1">
                <a:latin typeface="Courier New" panose="02070309020205020404" pitchFamily="49" charset="0"/>
              </a:rPr>
              <a:t>findCircum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radius = 10.0, perimeter, area;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perimeter = </a:t>
            </a:r>
            <a:r>
              <a:rPr lang="en-US" altLang="bg-BG" sz="1800" b="1" dirty="0" err="1">
                <a:latin typeface="Courier New" panose="02070309020205020404" pitchFamily="49" charset="0"/>
              </a:rPr>
              <a:t>findCircum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(radius);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area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(radius);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"Area is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area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”Perimeter is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perimeter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bg-BG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54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Circle Area and Circumference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Computes the circumference of a circle with radius r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Pre: r is defined and is &gt; 0.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PI is a constant.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Post: returns circumference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bg-BG" b="1" dirty="0" err="1">
                <a:latin typeface="Courier New" panose="02070309020205020404" pitchFamily="49" charset="0"/>
              </a:rPr>
              <a:t>findCircum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(2.0 * PI *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Computes the area of a circle with radius r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Pre: r is defined and is &gt; 0.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PI is a constant.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Post: returns area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(PI * pow(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, 2));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bg-BG" sz="1900" b="1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64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with Input Argument and Return Value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32</a:t>
            </a:fld>
            <a:endParaRPr 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81836" y="1997181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bg-BG" altLang="bg-BG">
              <a:latin typeface="Times New Roman" panose="02020603050405020304" pitchFamily="18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353236" y="2073381"/>
            <a:ext cx="426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1800" b="1" dirty="0" err="1">
                <a:latin typeface="Courier New" panose="02070309020205020404" pitchFamily="49" charset="0"/>
              </a:rPr>
              <a:t>circum</a:t>
            </a:r>
            <a:r>
              <a:rPr lang="en-US" altLang="bg-BG" sz="1800" b="1" dirty="0">
                <a:latin typeface="Courier New" panose="02070309020205020404" pitchFamily="49" charset="0"/>
              </a:rPr>
              <a:t> = </a:t>
            </a:r>
            <a:r>
              <a:rPr lang="en-US" altLang="bg-BG" sz="1800" b="1" dirty="0" err="1">
                <a:latin typeface="Courier New" panose="02070309020205020404" pitchFamily="49" charset="0"/>
              </a:rPr>
              <a:t>findCircum</a:t>
            </a:r>
            <a:r>
              <a:rPr lang="en-US" altLang="bg-BG" sz="1800" b="1" dirty="0">
                <a:latin typeface="Courier New" panose="02070309020205020404" pitchFamily="49" charset="0"/>
              </a:rPr>
              <a:t>(radius);</a:t>
            </a:r>
            <a:endParaRPr lang="en-US" altLang="bg-BG" sz="1400" b="1" dirty="0">
              <a:latin typeface="Courier New" panose="02070309020205020404" pitchFamily="49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944036" y="4283181"/>
            <a:ext cx="4724400" cy="1568450"/>
          </a:xfrm>
          <a:prstGeom prst="rect">
            <a:avLst/>
          </a:prstGeom>
          <a:solidFill>
            <a:srgbClr val="33CC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bg-BG" sz="1600" b="1" dirty="0">
              <a:latin typeface="Courier New" panose="02070309020205020404" pitchFamily="49" charset="0"/>
            </a:endParaRPr>
          </a:p>
          <a:p>
            <a:endParaRPr lang="en-US" altLang="bg-BG" sz="1600" b="1" dirty="0">
              <a:latin typeface="Courier New" panose="02070309020205020404" pitchFamily="49" charset="0"/>
            </a:endParaRPr>
          </a:p>
          <a:p>
            <a:r>
              <a:rPr lang="en-US" altLang="bg-BG" sz="1600" b="1" dirty="0">
                <a:latin typeface="Courier New" panose="02070309020205020404" pitchFamily="49" charset="0"/>
              </a:rPr>
              <a:t>float </a:t>
            </a:r>
            <a:r>
              <a:rPr lang="en-US" altLang="bg-BG" sz="1600" b="1" dirty="0" err="1">
                <a:latin typeface="Courier New" panose="02070309020205020404" pitchFamily="49" charset="0"/>
              </a:rPr>
              <a:t>findCircum</a:t>
            </a:r>
            <a:r>
              <a:rPr lang="en-US" altLang="bg-BG" sz="1600" b="1" dirty="0">
                <a:latin typeface="Courier New" panose="02070309020205020404" pitchFamily="49" charset="0"/>
              </a:rPr>
              <a:t>(float r)</a:t>
            </a:r>
          </a:p>
          <a:p>
            <a:r>
              <a:rPr lang="en-US" altLang="bg-BG" sz="1600" b="1" dirty="0">
                <a:latin typeface="Courier New" panose="02070309020205020404" pitchFamily="49" charset="0"/>
              </a:rPr>
              <a:t>{</a:t>
            </a:r>
          </a:p>
          <a:p>
            <a:r>
              <a:rPr lang="en-US" altLang="bg-BG" sz="1600" b="1" dirty="0">
                <a:latin typeface="Courier New" panose="02070309020205020404" pitchFamily="49" charset="0"/>
              </a:rPr>
              <a:t>  return (2.0 * PI * r);</a:t>
            </a:r>
          </a:p>
          <a:p>
            <a:r>
              <a:rPr lang="en-US" altLang="bg-BG" sz="1600" b="1" dirty="0">
                <a:latin typeface="Courier New" panose="02070309020205020404" pitchFamily="49" charset="0"/>
              </a:rPr>
              <a:t>}</a:t>
            </a:r>
            <a:endParaRPr lang="en-US" altLang="bg-BG" dirty="0">
              <a:latin typeface="Times New Roman" panose="02020603050405020304" pitchFamily="18" charset="0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00836" y="3368781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6315636" y="2378181"/>
            <a:ext cx="1066800" cy="838200"/>
            <a:chOff x="3120" y="336"/>
            <a:chExt cx="672" cy="528"/>
          </a:xfrm>
        </p:grpSpPr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120" y="336"/>
              <a:ext cx="48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bg-BG" altLang="bg-BG"/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3216" y="576"/>
              <a:ext cx="288" cy="237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bg-BG" sz="1800">
                  <a:latin typeface="Times New Roman" panose="02020603050405020304" pitchFamily="18" charset="0"/>
                </a:rPr>
                <a:t>10</a:t>
              </a:r>
              <a:endParaRPr lang="en-US" altLang="bg-BG"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3120" y="33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bg-BG" sz="1800" b="1">
                  <a:latin typeface="Times New Roman" panose="02020603050405020304" pitchFamily="18" charset="0"/>
                </a:rPr>
                <a:t>radius</a:t>
              </a:r>
              <a:endParaRPr lang="en-US" altLang="bg-BG"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629836" y="2378181"/>
            <a:ext cx="2057400" cy="2438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 flipH="1">
            <a:off x="3953436" y="5426181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V="1">
            <a:off x="3953436" y="2378181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grpSp>
        <p:nvGrpSpPr>
          <p:cNvPr id="16" name="Group 19"/>
          <p:cNvGrpSpPr>
            <a:grpSpLocks/>
          </p:cNvGrpSpPr>
          <p:nvPr/>
        </p:nvGrpSpPr>
        <p:grpSpPr bwMode="auto">
          <a:xfrm>
            <a:off x="8449236" y="4359381"/>
            <a:ext cx="762000" cy="838200"/>
            <a:chOff x="4272" y="2256"/>
            <a:chExt cx="480" cy="528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4272" y="2256"/>
              <a:ext cx="48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bg-BG" altLang="bg-BG"/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4368" y="2496"/>
              <a:ext cx="288" cy="237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bg-BG" sz="1800">
                  <a:latin typeface="Times New Roman" panose="02020603050405020304" pitchFamily="18" charset="0"/>
                </a:rPr>
                <a:t>10</a:t>
              </a:r>
              <a:endParaRPr lang="en-US" altLang="bg-BG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4416" y="22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bg-BG" sz="1800" b="1">
                  <a:latin typeface="Times New Roman" panose="02020603050405020304" pitchFamily="18" charset="0"/>
                </a:rPr>
                <a:t>r</a:t>
              </a:r>
              <a:endParaRPr lang="en-US" altLang="bg-BG"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3801036" y="550238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1800" b="1">
                <a:latin typeface="Times New Roman" panose="02020603050405020304" pitchFamily="18" charset="0"/>
              </a:rPr>
              <a:t>62.8318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4334436" y="2530581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1800">
                <a:latin typeface="Times New Roman" panose="02020603050405020304" pitchFamily="18" charset="0"/>
              </a:rPr>
              <a:t>call findCircum</a:t>
            </a: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>
            <a:off x="7763436" y="4968981"/>
            <a:ext cx="762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bg-BG"/>
          </a:p>
        </p:txBody>
      </p:sp>
      <p:grpSp>
        <p:nvGrpSpPr>
          <p:cNvPr id="23" name="Group 29"/>
          <p:cNvGrpSpPr>
            <a:grpSpLocks/>
          </p:cNvGrpSpPr>
          <p:nvPr/>
        </p:nvGrpSpPr>
        <p:grpSpPr bwMode="auto">
          <a:xfrm>
            <a:off x="2277036" y="2454381"/>
            <a:ext cx="1219200" cy="838200"/>
            <a:chOff x="384" y="912"/>
            <a:chExt cx="768" cy="528"/>
          </a:xfrm>
        </p:grpSpPr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384" y="912"/>
              <a:ext cx="7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bg-BG" altLang="bg-BG"/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432" y="1152"/>
              <a:ext cx="624" cy="237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bg-BG" sz="1800" dirty="0">
                  <a:latin typeface="Times New Roman" panose="02020603050405020304" pitchFamily="18" charset="0"/>
                </a:rPr>
                <a:t>62.8318</a:t>
              </a:r>
              <a:endParaRPr lang="en-US" altLang="bg-BG" dirty="0"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480" y="91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bg-BG" sz="1800" b="1">
                  <a:latin typeface="Times New Roman" panose="02020603050405020304" pitchFamily="18" charset="0"/>
                </a:rPr>
                <a:t>circum</a:t>
              </a:r>
              <a:endParaRPr lang="en-US" altLang="bg-BG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2105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 Definition (Input Arguments with One Result)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19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</a:p>
          <a:p>
            <a:pPr>
              <a:buNone/>
            </a:pPr>
            <a:endParaRPr lang="en-US" altLang="bg-BG" sz="28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bg-BG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// function interface comment</a:t>
            </a:r>
          </a:p>
          <a:p>
            <a:pPr>
              <a:buNone/>
            </a:pPr>
            <a:r>
              <a:rPr lang="en-US" altLang="bg-BG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bg-BG" sz="24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ftype</a:t>
            </a:r>
            <a:r>
              <a:rPr lang="en-US" altLang="bg-BG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bg-BG" sz="24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altLang="bg-BG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bg-BG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formal-parameter-declaration-list</a:t>
            </a:r>
            <a:r>
              <a:rPr lang="en-US" altLang="bg-BG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altLang="bg-BG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>
              <a:buNone/>
            </a:pPr>
            <a:r>
              <a:rPr lang="en-US" altLang="bg-BG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local variable declarations</a:t>
            </a:r>
          </a:p>
          <a:p>
            <a:pPr>
              <a:buNone/>
            </a:pPr>
            <a:r>
              <a:rPr lang="en-US" altLang="bg-BG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executable statements</a:t>
            </a:r>
          </a:p>
          <a:p>
            <a:pPr>
              <a:buNone/>
            </a:pPr>
            <a:r>
              <a:rPr lang="en-US" altLang="bg-BG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52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Example: Function Definition (Input Arguments with One Result)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bg-BG" sz="2800" dirty="0">
              <a:solidFill>
                <a:srgbClr val="00ABDB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Finds the cube of its argument.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Pre: n is defined.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cube(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38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Function Prototype (With Parameters)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937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Form: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ftype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formal-parameter-type-list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cube(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>
                <a:cs typeface="Courier New" panose="02070309020205020404" pitchFamily="49" charset="0"/>
              </a:rPr>
              <a:t>or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cube(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8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Problem Inputs vs. Input Parameters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131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Problem inputs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Variables that receive data from the user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Collected through execution of input statements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Input 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Receive data through execution of function call statement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Must be defined </a:t>
            </a:r>
            <a:r>
              <a:rPr lang="en-US" sz="3000" b="1" dirty="0"/>
              <a:t>before</a:t>
            </a:r>
            <a:r>
              <a:rPr lang="en-US" sz="3000" dirty="0"/>
              <a:t> function is called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3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altLang="en-US" dirty="0"/>
              <a:t>Testing function </a:t>
            </a:r>
            <a:r>
              <a:rPr lang="en-US" altLang="en-US" b="1" dirty="0">
                <a:latin typeface="Courier New" pitchFamily="49" charset="0"/>
              </a:rPr>
              <a:t>testScale.cpp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File testScale.cpp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Tests function scale.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cmath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Function prototype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scale(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en-US" b="1" dirty="0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323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altLang="en-US" dirty="0"/>
              <a:t>Testing function </a:t>
            </a:r>
            <a:r>
              <a:rPr lang="en-US" altLang="en-US" b="1" dirty="0">
                <a:latin typeface="Courier New" pitchFamily="49" charset="0"/>
              </a:rPr>
              <a:t>testScale.cpp </a:t>
            </a:r>
            <a:r>
              <a:rPr lang="en-US" altLang="en-US" dirty="0">
                <a:latin typeface="+mn-lt"/>
              </a:rPr>
              <a:t>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69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// Get values for num1 and num2 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a real number: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cin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an integer: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cin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// Call scale and display result. 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"Result of call to function scale is "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scale(num1, num2)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 b="1" dirty="0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76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altLang="en-US" dirty="0"/>
              <a:t>Testing function </a:t>
            </a:r>
            <a:r>
              <a:rPr lang="en-US" altLang="en-US" b="1" dirty="0">
                <a:latin typeface="Courier New" pitchFamily="49" charset="0"/>
              </a:rPr>
              <a:t>testScale.cpp </a:t>
            </a:r>
            <a:r>
              <a:rPr lang="en-US" altLang="en-US" dirty="0"/>
              <a:t>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6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Multiplies its first argument by the power of 10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specified by its second argument.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Pre: x and n are defined and library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cmath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is included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scale(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scaleFactor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local variable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scaleFactor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pow(10,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scaleFactor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b="1" dirty="0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7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altLang="en-US" dirty="0"/>
              <a:t>Testing function </a:t>
            </a:r>
            <a:r>
              <a:rPr lang="en-US" altLang="en-US" b="1" dirty="0">
                <a:latin typeface="Courier New" pitchFamily="49" charset="0"/>
              </a:rPr>
              <a:t>testScale.cpp </a:t>
            </a:r>
            <a:r>
              <a:rPr lang="en-US" altLang="en-US" dirty="0"/>
              <a:t>(continued)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40</a:t>
            </a:fld>
            <a:endParaRPr lang="en-US"/>
          </a:p>
        </p:txBody>
      </p: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536372" y="2000703"/>
            <a:ext cx="6781800" cy="3798017"/>
            <a:chOff x="528" y="672"/>
            <a:chExt cx="4272" cy="2677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528" y="2112"/>
              <a:ext cx="4272" cy="1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4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4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9pPr>
            </a:lstStyle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float scale(float </a:t>
              </a:r>
              <a:r>
                <a:rPr lang="en-US" altLang="en-US" sz="1800" b="1" dirty="0">
                  <a:solidFill>
                    <a:srgbClr val="0070C0"/>
                  </a:solidFill>
                  <a:latin typeface="Courier New" pitchFamily="49" charset="0"/>
                </a:rPr>
                <a:t>x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, int </a:t>
              </a:r>
              <a:r>
                <a:rPr lang="en-US" altLang="en-US" sz="1800" b="1" dirty="0">
                  <a:solidFill>
                    <a:srgbClr val="0070C0"/>
                  </a:solidFill>
                  <a:latin typeface="Courier New" pitchFamily="49" charset="0"/>
                </a:rPr>
                <a:t>n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)</a:t>
              </a:r>
            </a:p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{</a:t>
              </a:r>
            </a:p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     float </a:t>
              </a:r>
              <a:r>
                <a:rPr lang="en-US" altLang="en-US" sz="1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scaleFactor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;   	// local variable</a:t>
              </a:r>
            </a:p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     </a:t>
              </a:r>
              <a:r>
                <a:rPr lang="en-US" altLang="en-US" sz="1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scaleFactor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 = pow(10, n);</a:t>
              </a:r>
            </a:p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     return (x * </a:t>
              </a:r>
              <a:r>
                <a:rPr lang="en-US" altLang="en-US" sz="1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scaleFactor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);</a:t>
              </a:r>
            </a:p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}</a:t>
              </a:r>
            </a:p>
          </p:txBody>
        </p:sp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768" y="672"/>
              <a:ext cx="3552" cy="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4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4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9pPr>
            </a:lstStyle>
            <a:p>
              <a:r>
                <a:rPr lang="en-US" altLang="en-US" sz="1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cout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 &lt;&lt; "Result of call to function scale is " </a:t>
              </a:r>
            </a:p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        &lt;&lt; scale(</a:t>
              </a:r>
              <a:r>
                <a:rPr lang="en-US" altLang="en-US" sz="1800" b="1" dirty="0">
                  <a:solidFill>
                    <a:srgbClr val="0070C0"/>
                  </a:solidFill>
                  <a:latin typeface="Courier New" pitchFamily="49" charset="0"/>
                </a:rPr>
                <a:t>num1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, </a:t>
              </a:r>
              <a:r>
                <a:rPr lang="en-US" altLang="en-US" sz="1800" b="1" dirty="0">
                  <a:solidFill>
                    <a:srgbClr val="0070C0"/>
                  </a:solidFill>
                  <a:latin typeface="Courier New" pitchFamily="49" charset="0"/>
                </a:rPr>
                <a:t>num2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) </a:t>
              </a:r>
            </a:p>
            <a:p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        &lt;&lt; </a:t>
              </a:r>
              <a:r>
                <a:rPr lang="en-US" altLang="en-US" sz="1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endl</a:t>
              </a:r>
              <a:r>
                <a:rPr lang="en-US" alt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itchFamily="49" charset="0"/>
                </a:rPr>
                <a:t>;</a:t>
              </a:r>
            </a:p>
          </p:txBody>
        </p: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720" y="1152"/>
              <a:ext cx="480" cy="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4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4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itchFamily="18" charset="0"/>
                </a:rPr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itchFamily="18" charset="0"/>
                </a:rPr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itchFamily="18" charset="0"/>
                </a:rPr>
                <a:t>.</a:t>
              </a: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 flipH="1">
              <a:off x="2160" y="1224"/>
              <a:ext cx="240" cy="96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3120" y="2112"/>
              <a:ext cx="139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4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4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>
                  <a:solidFill>
                    <a:schemeClr val="accent2"/>
                  </a:solidFill>
                  <a:latin typeface="Times New Roman" pitchFamily="18" charset="0"/>
                </a:rPr>
                <a:t>Formal parameters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976" y="1536"/>
              <a:ext cx="172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4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4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>
                  <a:solidFill>
                    <a:schemeClr val="accent2"/>
                  </a:solidFill>
                  <a:latin typeface="Times New Roman" pitchFamily="18" charset="0"/>
                </a:rPr>
                <a:t>Information flow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360" y="1008"/>
              <a:ext cx="1392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4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4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4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4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b="1" dirty="0">
                  <a:solidFill>
                    <a:schemeClr val="accent2"/>
                  </a:solidFill>
                  <a:latin typeface="Times New Roman" pitchFamily="18" charset="0"/>
                </a:rPr>
                <a:t>Actual arguments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2784" y="1224"/>
              <a:ext cx="240" cy="96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39979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493038" cy="1450757"/>
          </a:xfrm>
        </p:spPr>
        <p:txBody>
          <a:bodyPr/>
          <a:lstStyle/>
          <a:p>
            <a:r>
              <a:rPr lang="en-US" altLang="en-US" dirty="0"/>
              <a:t>Argument/Parameter List Correspondence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341685" cy="434131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Functions must have the same number of formal </a:t>
            </a:r>
            <a:r>
              <a:rPr lang="en-US" sz="3200" b="1" dirty="0"/>
              <a:t>parameters</a:t>
            </a:r>
            <a:r>
              <a:rPr lang="en-US" sz="3200" dirty="0"/>
              <a:t> and actual </a:t>
            </a:r>
            <a:r>
              <a:rPr lang="en-US" sz="3200" b="1" dirty="0"/>
              <a:t>arguments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order of arguments in the lists determines correspondence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Each actual argument must be of a data type that is compatible to the corresponding formal parameter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names of the actual arguments do not need to correspond to the formal parameter names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24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 Data Area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Each time a function is executed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An area of memory is allocated for storage of the function’s data (formal parameters and local variables)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It is created empty with each call to the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the function terminates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data area is lost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22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Testing Functions Using Drivers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Any function can be tested independently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test </a:t>
            </a:r>
            <a:r>
              <a:rPr lang="en-US" sz="3200" b="1" dirty="0"/>
              <a:t>driver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Defines values for the function’s arguments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Calls the function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Displays the value returned for verification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38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bg-BG" sz="19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float radius = 20.0, area;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area =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(radius); </a:t>
            </a:r>
            <a:endParaRPr lang="en-US" sz="19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findArea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endParaRPr lang="bg-BG" sz="19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(PI * pow(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, 2)); </a:t>
            </a:r>
            <a:endParaRPr lang="en-US" sz="19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bg-BG" sz="1900" b="1" dirty="0">
              <a:latin typeface="Courier New" panose="02070309020205020404" pitchFamily="49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07424" y="1889328"/>
            <a:ext cx="4937760" cy="3978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-&gt; Prototype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-&gt; Invocation</a:t>
            </a:r>
          </a:p>
          <a:p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b="1" dirty="0">
                <a:solidFill>
                  <a:srgbClr val="FF0000"/>
                </a:solidFill>
                <a:latin typeface="Consolas" panose="020B0609020204030204" pitchFamily="49" charset="0"/>
              </a:rPr>
              <a:t>-</a:t>
            </a:r>
            <a:r>
              <a:rPr lang="bg-BG" b="1">
                <a:solidFill>
                  <a:srgbClr val="FF0000"/>
                </a:solidFill>
                <a:latin typeface="Consolas" panose="020B0609020204030204" pitchFamily="49" charset="0"/>
              </a:rPr>
              <a:t>&gt; Signature</a:t>
            </a:r>
            <a:r>
              <a:rPr lang="bg-BG" b="1" dirty="0">
                <a:solidFill>
                  <a:srgbClr val="FF0000"/>
                </a:solidFill>
                <a:latin typeface="Consolas" panose="020B0609020204030204" pitchFamily="49" charset="0"/>
              </a:rPr>
              <a:t>/Header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-&gt; Body of a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44</a:t>
            </a:fld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9257156" y="4460914"/>
            <a:ext cx="451314" cy="1060124"/>
          </a:xfrm>
          <a:prstGeom prst="rightBrace">
            <a:avLst>
              <a:gd name="adj1" fmla="val 8333"/>
              <a:gd name="adj2" fmla="val 50980"/>
            </a:avLst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813424" y="4796795"/>
            <a:ext cx="1563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85836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instruct();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bg-BG" sz="19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instruct();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instruct() </a:t>
            </a: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endParaRPr lang="bg-BG" sz="19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&lt;&lt; “instructions” &lt;&lt;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9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bg-BG" sz="1900" b="1" dirty="0">
              <a:latin typeface="Courier New" panose="02070309020205020404" pitchFamily="49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07424" y="1889328"/>
            <a:ext cx="4937760" cy="3978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-&gt; Prototype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-&gt; Invocation</a:t>
            </a:r>
          </a:p>
          <a:p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b="1" dirty="0">
                <a:solidFill>
                  <a:srgbClr val="FF0000"/>
                </a:solidFill>
                <a:latin typeface="Consolas" panose="020B0609020204030204" pitchFamily="49" charset="0"/>
              </a:rPr>
              <a:t>-&gt; </a:t>
            </a:r>
            <a:r>
              <a:rPr lang="bg-BG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Signature</a:t>
            </a:r>
            <a:r>
              <a:rPr lang="bg-BG" b="1" dirty="0">
                <a:solidFill>
                  <a:srgbClr val="FF0000"/>
                </a:solidFill>
                <a:latin typeface="Consolas" panose="020B0609020204030204" pitchFamily="49" charset="0"/>
              </a:rPr>
              <a:t>/Header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-&gt; Body of a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45</a:t>
            </a:fld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9189725" y="4178110"/>
            <a:ext cx="451314" cy="1060124"/>
          </a:xfrm>
          <a:prstGeom prst="rightBrace">
            <a:avLst>
              <a:gd name="adj1" fmla="val 8333"/>
              <a:gd name="adj2" fmla="val 50980"/>
            </a:avLst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774544" y="4598832"/>
            <a:ext cx="1563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42683748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799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Scope of Names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125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Scope</a:t>
            </a:r>
            <a:r>
              <a:rPr lang="en-US" sz="3200" dirty="0"/>
              <a:t> – the region of a program where a particular variable can be referenced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Local</a:t>
            </a:r>
            <a:r>
              <a:rPr lang="en-US" sz="3200" dirty="0"/>
              <a:t> – can be referred to only within the function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Formal parameter names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Constants and variables declared within the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Global</a:t>
            </a:r>
            <a:r>
              <a:rPr lang="en-US" sz="3200" dirty="0"/>
              <a:t> – can be referred to within all functions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Useful for constants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Must be used with 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16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4920-79FF-8344-B9A9-E57E836C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Scope of Names (continued)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71C9B-DE18-364C-8964-91A7A6B2E3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int myFunc(int x) {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int sum = 0;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for (int i = 0; i &lt; x; i++) {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sum += i;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} 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cout &lt;&lt;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endl;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sum;    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7B8B76-0E73-974C-98E2-976AD2FAAB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int t = 10;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cout &lt;&lt; myFunc(t) &lt;&lt; endl;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cout &lt;&lt; x &lt;&lt; endl;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     cout &lt;&lt; sum &lt;&lt; endl;</a:t>
            </a:r>
          </a:p>
          <a:p>
            <a:r>
              <a:rPr lang="en-BG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1AB63-9D61-494D-B6A2-AC4BB4F9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4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4080362" cy="1450757"/>
          </a:xfrm>
        </p:spPr>
        <p:txBody>
          <a:bodyPr/>
          <a:lstStyle/>
          <a:p>
            <a:r>
              <a:rPr lang="en-US" altLang="en-US" dirty="0"/>
              <a:t>Scope of Names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060" y="433100"/>
            <a:ext cx="6230334" cy="5730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3965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Will Be the Output?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urier"/>
                <a:cs typeface="Courier"/>
              </a:rPr>
              <a:t>#include &lt;</a:t>
            </a:r>
            <a:r>
              <a:rPr lang="en-US" dirty="0" err="1">
                <a:latin typeface="Courier"/>
                <a:cs typeface="Courier"/>
              </a:rPr>
              <a:t>iostream</a:t>
            </a:r>
            <a:r>
              <a:rPr lang="en-US" dirty="0">
                <a:latin typeface="Courier"/>
                <a:cs typeface="Courier"/>
              </a:rPr>
              <a:t>&gt;</a:t>
            </a:r>
          </a:p>
          <a:p>
            <a:r>
              <a:rPr lang="en-US" dirty="0">
                <a:latin typeface="Courier"/>
                <a:cs typeface="Courier"/>
              </a:rPr>
              <a:t>using namespace </a:t>
            </a:r>
            <a:r>
              <a:rPr lang="en-US" dirty="0" err="1">
                <a:latin typeface="Courier"/>
                <a:cs typeface="Courier"/>
              </a:rPr>
              <a:t>std</a:t>
            </a:r>
            <a:r>
              <a:rPr lang="en-US" dirty="0">
                <a:latin typeface="Courier"/>
                <a:cs typeface="Courier"/>
              </a:rPr>
              <a:t>;</a:t>
            </a:r>
          </a:p>
          <a:p>
            <a:r>
              <a:rPr lang="mr-IN" dirty="0">
                <a:latin typeface="Courier"/>
                <a:cs typeface="Courier"/>
              </a:rPr>
              <a:t>const int test = 1;</a:t>
            </a:r>
          </a:p>
          <a:p>
            <a:endParaRPr lang="mr-IN" dirty="0">
              <a:latin typeface="Courier"/>
              <a:cs typeface="Courier"/>
            </a:endParaRPr>
          </a:p>
          <a:p>
            <a:r>
              <a:rPr lang="mr-IN" dirty="0">
                <a:latin typeface="Courier"/>
                <a:cs typeface="Courier"/>
              </a:rPr>
              <a:t>void info(int test) {</a:t>
            </a:r>
          </a:p>
          <a:p>
            <a:r>
              <a:rPr lang="mr-IN" dirty="0">
                <a:latin typeface="Courier"/>
                <a:cs typeface="Courier"/>
              </a:rPr>
              <a:t>    cout &lt;&lt; test &lt;&lt; endl;</a:t>
            </a:r>
          </a:p>
          <a:p>
            <a:r>
              <a:rPr lang="mr-IN" dirty="0">
                <a:latin typeface="Courier"/>
                <a:cs typeface="Courier"/>
              </a:rPr>
              <a:t>}</a:t>
            </a:r>
          </a:p>
          <a:p>
            <a:endParaRPr lang="mr-IN" dirty="0">
              <a:latin typeface="Courier"/>
              <a:cs typeface="Courier"/>
            </a:endParaRPr>
          </a:p>
          <a:p>
            <a:r>
              <a:rPr lang="mr-IN" dirty="0">
                <a:latin typeface="Courier"/>
                <a:cs typeface="Courier"/>
              </a:rPr>
              <a:t>void info2() {</a:t>
            </a:r>
          </a:p>
          <a:p>
            <a:r>
              <a:rPr lang="mr-IN" dirty="0">
                <a:latin typeface="Courier"/>
                <a:cs typeface="Courier"/>
              </a:rPr>
              <a:t>    cout &lt;&lt; test &lt;&lt; endl;</a:t>
            </a:r>
          </a:p>
          <a:p>
            <a:r>
              <a:rPr lang="mr-IN" dirty="0">
                <a:latin typeface="Courier"/>
                <a:cs typeface="Courier"/>
              </a:rPr>
              <a:t>}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mr-IN" dirty="0">
                <a:latin typeface="Courier"/>
                <a:cs typeface="Courier"/>
              </a:rPr>
              <a:t>void info3() {</a:t>
            </a:r>
          </a:p>
          <a:p>
            <a:r>
              <a:rPr lang="mr-IN" dirty="0">
                <a:latin typeface="Courier"/>
                <a:cs typeface="Courier"/>
              </a:rPr>
              <a:t>    int test = 3;</a:t>
            </a:r>
          </a:p>
          <a:p>
            <a:r>
              <a:rPr lang="mr-IN" dirty="0">
                <a:latin typeface="Courier"/>
                <a:cs typeface="Courier"/>
              </a:rPr>
              <a:t>    cout &lt;&lt; test &lt;&lt; endl;</a:t>
            </a:r>
          </a:p>
          <a:p>
            <a:r>
              <a:rPr lang="mr-IN" dirty="0">
                <a:latin typeface="Courier"/>
                <a:cs typeface="Courier"/>
              </a:rPr>
              <a:t>}</a:t>
            </a:r>
          </a:p>
          <a:p>
            <a:r>
              <a:rPr lang="en-US" dirty="0" err="1">
                <a:latin typeface="Courier"/>
                <a:cs typeface="Courier"/>
              </a:rPr>
              <a:t>int</a:t>
            </a:r>
            <a:r>
              <a:rPr lang="en-US" dirty="0">
                <a:latin typeface="Courier"/>
                <a:cs typeface="Courier"/>
              </a:rPr>
              <a:t> main() {</a:t>
            </a:r>
          </a:p>
          <a:p>
            <a:r>
              <a:rPr lang="en-US" dirty="0">
                <a:latin typeface="Courier"/>
                <a:cs typeface="Courier"/>
              </a:rPr>
              <a:t>    info(test);</a:t>
            </a:r>
          </a:p>
          <a:p>
            <a:r>
              <a:rPr lang="en-US" dirty="0">
                <a:latin typeface="Courier"/>
                <a:cs typeface="Courier"/>
              </a:rPr>
              <a:t>    </a:t>
            </a:r>
            <a:r>
              <a:rPr lang="en-US" dirty="0" err="1">
                <a:latin typeface="Courier"/>
                <a:cs typeface="Courier"/>
              </a:rPr>
              <a:t>int</a:t>
            </a:r>
            <a:r>
              <a:rPr lang="en-US" dirty="0">
                <a:latin typeface="Courier"/>
                <a:cs typeface="Courier"/>
              </a:rPr>
              <a:t> test = 10;</a:t>
            </a:r>
          </a:p>
          <a:p>
            <a:r>
              <a:rPr lang="en-US" dirty="0">
                <a:latin typeface="Courier"/>
                <a:cs typeface="Courier"/>
              </a:rPr>
              <a:t>    info(test);</a:t>
            </a:r>
          </a:p>
          <a:p>
            <a:r>
              <a:rPr lang="en-US" dirty="0">
                <a:latin typeface="Courier"/>
                <a:cs typeface="Courier"/>
              </a:rPr>
              <a:t>    info2();</a:t>
            </a:r>
          </a:p>
          <a:p>
            <a:r>
              <a:rPr lang="en-US" dirty="0">
                <a:latin typeface="Courier"/>
                <a:cs typeface="Courier"/>
              </a:rPr>
              <a:t>    info3();</a:t>
            </a:r>
          </a:p>
          <a:p>
            <a:r>
              <a:rPr lang="en-US" dirty="0">
                <a:latin typeface="Courier"/>
                <a:cs typeface="Courier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797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Class </a:t>
            </a:r>
            <a:r>
              <a:rPr lang="en-US" altLang="en-US" b="1" dirty="0">
                <a:latin typeface="Courier New" pitchFamily="49" charset="0"/>
              </a:rPr>
              <a:t>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Data abstraction </a:t>
            </a:r>
            <a:r>
              <a:rPr lang="en-US" sz="3200" dirty="0"/>
              <a:t>is one of the main principles of OOP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Facilitated in C++ by using the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000" dirty="0"/>
              <a:t> construct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Enables programmers to define new data types and their associated operations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user-defined data types are treated like built-in data types and can be used to declare variables, parameters and return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dirty="0"/>
              <a:t> class is part of the C++ standard library: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#include &lt;string&gt;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096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Objects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68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Attributes of a string object are: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Character sequence it stores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string length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Common operators that can be used with strings: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&lt;&lt;, &gt;&gt;, =, +, &lt;, &gt;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Declaring string objects: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	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greeting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bg-BG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128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String Operations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153" y="1846262"/>
            <a:ext cx="5713751" cy="444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10913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String Operations (continued)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471" y="1846262"/>
            <a:ext cx="5773130" cy="446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50298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Reading and Displaying Strings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extraction operator is defined for strings: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cin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reads up to blank or return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insertion operator is defined for strings: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cout &lt;&lt; greetings &lt;&lt;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wholeName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'!'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read a string containing blanks you can use: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(cin,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	// reads all characters up to but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	// not including the newline '\n' character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642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String Assignment and Concatenation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884485" cy="437577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assignment statement below stores in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wholeName</a:t>
            </a:r>
            <a:r>
              <a:rPr lang="en-US" sz="3200" dirty="0"/>
              <a:t> the new string formed by joining the three strings that are operands of the </a:t>
            </a:r>
            <a:r>
              <a:rPr lang="en-US" sz="3200" b="1" dirty="0">
                <a:cs typeface="Courier New" panose="02070309020205020404" pitchFamily="49" charset="0"/>
              </a:rPr>
              <a:t>+</a:t>
            </a:r>
            <a:r>
              <a:rPr lang="en-US" sz="3200" dirty="0"/>
              <a:t> operator:</a:t>
            </a:r>
          </a:p>
          <a:p>
            <a:pPr marL="201168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wholeName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used with strings, the operator </a:t>
            </a:r>
            <a:r>
              <a:rPr lang="en-US" sz="3200" b="1" dirty="0"/>
              <a:t>+</a:t>
            </a:r>
            <a:r>
              <a:rPr lang="en-US" sz="3200" dirty="0"/>
              <a:t> is meant to join (</a:t>
            </a:r>
            <a:r>
              <a:rPr lang="en-US" sz="3200" i="1" dirty="0"/>
              <a:t>concatenate</a:t>
            </a:r>
            <a:r>
              <a:rPr lang="en-US" sz="3200" dirty="0"/>
              <a:t>) its string operands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put a space between the first and last names, we join them with the string value </a:t>
            </a:r>
            <a:r>
              <a:rPr lang="bg-BG" sz="3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3200" dirty="0"/>
              <a:t>, not by the character value </a:t>
            </a:r>
            <a:r>
              <a:rPr lang="bg-BG" sz="3200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5139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Operator Overloading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Usually the operator </a:t>
            </a:r>
            <a:r>
              <a:rPr lang="en-US" sz="3200" b="1" dirty="0"/>
              <a:t>+</a:t>
            </a:r>
            <a:r>
              <a:rPr lang="en-US" sz="3200" dirty="0"/>
              <a:t> will be used for addition of two numbers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That operator has been redefined (overloaded) to perform concatenation when applied on two strings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ability of an operator to perform different operations depending on the data type of its operands is called </a:t>
            </a:r>
            <a:r>
              <a:rPr lang="en-US" sz="3200" b="1" dirty="0"/>
              <a:t>operator overloading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Operator overloading is useful when defining new data types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505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Accessing String Operations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previous example also uses member functions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sz="3200" dirty="0"/>
              <a:t> and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sz="3200" dirty="0"/>
              <a:t> from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dirty="0"/>
              <a:t>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These functions are called using the </a:t>
            </a:r>
            <a:r>
              <a:rPr lang="en-US" sz="3200" b="1" dirty="0"/>
              <a:t>dot notation</a:t>
            </a:r>
            <a:r>
              <a:rPr lang="en-US" sz="3200" dirty="0"/>
              <a:t> – applies the identified operation on the named object</a:t>
            </a:r>
            <a:endParaRPr lang="en-US" sz="32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For example:</a:t>
            </a:r>
          </a:p>
          <a:p>
            <a:pPr marL="201168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wholeName.length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201168" lvl="1" indent="0">
              <a:buNone/>
            </a:pPr>
            <a:r>
              <a:rPr lang="en-US" sz="3200" dirty="0"/>
              <a:t>returns the length of the string currently stored in the variable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wholeName</a:t>
            </a: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850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Notation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Syntax: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object.function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-call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firstName.at(0)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above example returns the character in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200" dirty="0"/>
              <a:t> that is at position 0 (the first character in the string)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102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Additional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bg-BG" dirty="0"/>
              <a:t> Member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Searching for a string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wholeName.find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Inserting characters into a string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wholeName.insert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(0,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"Ms."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Deleting portion of a string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wholeName.erase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(10, 4);</a:t>
            </a:r>
            <a:endParaRPr lang="en-US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Assign a substring to a string object</a:t>
            </a:r>
          </a:p>
          <a:p>
            <a:pPr marL="0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title.assign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wholeName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0, 3);</a:t>
            </a:r>
            <a:endParaRPr lang="en-US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34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976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2413</TotalTime>
  <Words>3087</Words>
  <Application>Microsoft Office PowerPoint</Application>
  <PresentationFormat>Widescreen</PresentationFormat>
  <Paragraphs>565</Paragraphs>
  <Slides>61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Calibri</vt:lpstr>
      <vt:lpstr>Calibri Light</vt:lpstr>
      <vt:lpstr>Consolas</vt:lpstr>
      <vt:lpstr>Courier</vt:lpstr>
      <vt:lpstr>Courier New</vt:lpstr>
      <vt:lpstr>Monotype Sorts</vt:lpstr>
      <vt:lpstr>Times New Roman</vt:lpstr>
      <vt:lpstr>Wingdings</vt:lpstr>
      <vt:lpstr>Retrospect</vt:lpstr>
      <vt:lpstr>Microsoft Organization Chart</vt:lpstr>
      <vt:lpstr>Top-Down Design with Functions and Classes</vt:lpstr>
      <vt:lpstr>Lecture Contents</vt:lpstr>
      <vt:lpstr>Library Functions</vt:lpstr>
      <vt:lpstr>C++ cmath Library</vt:lpstr>
      <vt:lpstr>Functions as Black Boxes</vt:lpstr>
      <vt:lpstr>Example: Using the sqrt Function</vt:lpstr>
      <vt:lpstr>Example: Using the sqrt Function (continued)</vt:lpstr>
      <vt:lpstr>Some Mathematical Library Functions</vt:lpstr>
      <vt:lpstr>Some Mathematical Library Functions (continued)</vt:lpstr>
      <vt:lpstr>Looking Ahead</vt:lpstr>
      <vt:lpstr>Top-Down Design and Structure Charts</vt:lpstr>
      <vt:lpstr>Example: Structure Chart</vt:lpstr>
      <vt:lpstr>Functions without Arguments</vt:lpstr>
      <vt:lpstr>Some Notes on Functions</vt:lpstr>
      <vt:lpstr>Function Prototype / Declaration</vt:lpstr>
      <vt:lpstr>Function Prototype (No Arguments)</vt:lpstr>
      <vt:lpstr>Function Definition</vt:lpstr>
      <vt:lpstr>Function Definition (No Arguments)</vt:lpstr>
      <vt:lpstr>Skipping Function Prototype / Declaration</vt:lpstr>
      <vt:lpstr>Skipping Function Prototype / Declaration (continue)</vt:lpstr>
      <vt:lpstr>Order of Execution</vt:lpstr>
      <vt:lpstr>Notes on Function Execution</vt:lpstr>
      <vt:lpstr>Function Advantages</vt:lpstr>
      <vt:lpstr>Displaying User Instructions</vt:lpstr>
      <vt:lpstr>Example: Function instruct</vt:lpstr>
      <vt:lpstr>Functions with Input Arguments</vt:lpstr>
      <vt:lpstr>void Functions with Input Arguments</vt:lpstr>
      <vt:lpstr>Example: Function Input Argument</vt:lpstr>
      <vt:lpstr>Functions with Arguments and a Single Result</vt:lpstr>
      <vt:lpstr>Example: Circle Area and Circumference</vt:lpstr>
      <vt:lpstr>Example: Circle Area and Circumference (continued)</vt:lpstr>
      <vt:lpstr>Example: Function with Input Argument and Return Value</vt:lpstr>
      <vt:lpstr>Function Definition (Input Arguments with One Result)</vt:lpstr>
      <vt:lpstr>Example: Function Definition (Input Arguments with One Result)</vt:lpstr>
      <vt:lpstr>Function Prototype (With Parameters)</vt:lpstr>
      <vt:lpstr>Problem Inputs vs. Input Parameters</vt:lpstr>
      <vt:lpstr>Example: Testing function testScale.cpp</vt:lpstr>
      <vt:lpstr>Example: Testing function testScale.cpp (continued)</vt:lpstr>
      <vt:lpstr>Example: Testing function testScale.cpp (continued)</vt:lpstr>
      <vt:lpstr>Example: Testing function testScale.cpp (continued)</vt:lpstr>
      <vt:lpstr>Argument/Parameter List Correspondence</vt:lpstr>
      <vt:lpstr>Function Data Area</vt:lpstr>
      <vt:lpstr>Testing Functions Using Drivers</vt:lpstr>
      <vt:lpstr>Summary</vt:lpstr>
      <vt:lpstr>Summary (continued)</vt:lpstr>
      <vt:lpstr>Questions?</vt:lpstr>
      <vt:lpstr>Scope of Names</vt:lpstr>
      <vt:lpstr>Scope of Names (continued)</vt:lpstr>
      <vt:lpstr>Scope of Names</vt:lpstr>
      <vt:lpstr>What Will Be the Output?</vt:lpstr>
      <vt:lpstr>Using Class string</vt:lpstr>
      <vt:lpstr>String Objects</vt:lpstr>
      <vt:lpstr>Example: String Operations</vt:lpstr>
      <vt:lpstr>Example: String Operations (continued)</vt:lpstr>
      <vt:lpstr>Reading and Displaying Strings</vt:lpstr>
      <vt:lpstr>String Assignment and Concatenation</vt:lpstr>
      <vt:lpstr>Operator Overloading</vt:lpstr>
      <vt:lpstr>Accessing String Operations</vt:lpstr>
      <vt:lpstr>Dot Notation</vt:lpstr>
      <vt:lpstr>Additional string Member Functions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722</cp:revision>
  <dcterms:created xsi:type="dcterms:W3CDTF">2016-08-30T09:20:13Z</dcterms:created>
  <dcterms:modified xsi:type="dcterms:W3CDTF">2025-08-24T11:27:02Z</dcterms:modified>
</cp:coreProperties>
</file>