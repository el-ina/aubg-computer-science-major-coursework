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32"/>
  </p:notesMasterIdLst>
  <p:sldIdLst>
    <p:sldId id="286" r:id="rId2"/>
    <p:sldId id="282" r:id="rId3"/>
    <p:sldId id="288" r:id="rId4"/>
    <p:sldId id="290" r:id="rId5"/>
    <p:sldId id="291" r:id="rId6"/>
    <p:sldId id="292" r:id="rId7"/>
    <p:sldId id="315" r:id="rId8"/>
    <p:sldId id="294" r:id="rId9"/>
    <p:sldId id="295" r:id="rId10"/>
    <p:sldId id="296" r:id="rId11"/>
    <p:sldId id="297" r:id="rId12"/>
    <p:sldId id="298" r:id="rId13"/>
    <p:sldId id="300" r:id="rId14"/>
    <p:sldId id="301" r:id="rId15"/>
    <p:sldId id="303" r:id="rId16"/>
    <p:sldId id="304" r:id="rId17"/>
    <p:sldId id="305" r:id="rId18"/>
    <p:sldId id="306" r:id="rId19"/>
    <p:sldId id="307" r:id="rId20"/>
    <p:sldId id="308" r:id="rId21"/>
    <p:sldId id="310" r:id="rId22"/>
    <p:sldId id="317" r:id="rId23"/>
    <p:sldId id="311" r:id="rId24"/>
    <p:sldId id="316" r:id="rId25"/>
    <p:sldId id="309" r:id="rId26"/>
    <p:sldId id="289" r:id="rId27"/>
    <p:sldId id="312" r:id="rId28"/>
    <p:sldId id="313" r:id="rId29"/>
    <p:sldId id="314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2"/>
            <p14:sldId id="288"/>
            <p14:sldId id="290"/>
            <p14:sldId id="291"/>
            <p14:sldId id="292"/>
            <p14:sldId id="315"/>
            <p14:sldId id="294"/>
            <p14:sldId id="295"/>
            <p14:sldId id="296"/>
            <p14:sldId id="297"/>
            <p14:sldId id="298"/>
            <p14:sldId id="300"/>
            <p14:sldId id="301"/>
            <p14:sldId id="303"/>
            <p14:sldId id="304"/>
            <p14:sldId id="305"/>
            <p14:sldId id="306"/>
            <p14:sldId id="307"/>
            <p14:sldId id="308"/>
            <p14:sldId id="310"/>
            <p14:sldId id="317"/>
            <p14:sldId id="311"/>
            <p14:sldId id="316"/>
            <p14:sldId id="309"/>
            <p14:sldId id="289"/>
            <p14:sldId id="312"/>
            <p14:sldId id="313"/>
            <p14:sldId id="314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Recursion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12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12.1 The Nature of Recursion</a:t>
            </a:r>
          </a:p>
          <a:p>
            <a:pPr marL="0" indent="0">
              <a:buNone/>
            </a:pPr>
            <a:r>
              <a:rPr lang="en-US" sz="3200" dirty="0"/>
              <a:t>12.2 Tracing Recursive Functions</a:t>
            </a:r>
          </a:p>
          <a:p>
            <a:pPr marL="0" indent="0">
              <a:buNone/>
            </a:pPr>
            <a:r>
              <a:rPr lang="en-US" sz="3200" dirty="0"/>
              <a:t>12.3 Recursive Mathematical Functions</a:t>
            </a:r>
          </a:p>
          <a:p>
            <a:pPr marL="0" indent="0">
              <a:buNone/>
            </a:pPr>
            <a:r>
              <a:rPr lang="en-US" sz="3200" dirty="0"/>
              <a:t>12.4 Recursive Functions with Array Arguments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Nature of Recursion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749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powerful problem solving tool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Recursive function: </a:t>
            </a:r>
            <a:r>
              <a:rPr lang="en-US" sz="3200" dirty="0"/>
              <a:t>a function that calls itself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Problems that can be solved by recursion have: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bg-BG" sz="3000" dirty="0"/>
              <a:t>One or more simple case of the problem have a straightforward, non-recursive solution (</a:t>
            </a:r>
            <a:r>
              <a:rPr lang="en-US" altLang="bg-BG" sz="3000" b="1" dirty="0"/>
              <a:t>stopping case</a:t>
            </a:r>
            <a:r>
              <a:rPr lang="en-US" altLang="bg-BG" sz="3000" dirty="0"/>
              <a:t>)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bg-BG" sz="3000" dirty="0"/>
              <a:t>Other cases can be </a:t>
            </a:r>
            <a:r>
              <a:rPr lang="en-US" altLang="bg-BG" sz="3000" b="1" dirty="0"/>
              <a:t>reduced</a:t>
            </a:r>
            <a:r>
              <a:rPr lang="en-US" altLang="bg-BG" sz="3000" dirty="0"/>
              <a:t> to one or more problems that are closer to a stopping case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bg-BG" sz="3000" dirty="0"/>
              <a:t>Eventually the problem can be reduced to stopping cases only, which are easy to solve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Solving a Recursive Problem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74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steps for defining a recursive problem are:</a:t>
            </a:r>
          </a:p>
          <a:p>
            <a:pPr marL="292608" lvl="1" indent="0">
              <a:buNone/>
            </a:pPr>
            <a:r>
              <a:rPr lang="en-US" sz="3000" dirty="0"/>
              <a:t>	</a:t>
            </a:r>
          </a:p>
          <a:p>
            <a:pPr marL="292608" lvl="1" indent="0">
              <a:buNone/>
            </a:pPr>
            <a:r>
              <a:rPr lang="en-US" sz="3000" dirty="0"/>
              <a:t>	1. Try to express the problem as a simpler version of itself</a:t>
            </a:r>
          </a:p>
          <a:p>
            <a:pPr marL="292608" lvl="1" indent="0">
              <a:buNone/>
            </a:pPr>
            <a:r>
              <a:rPr lang="en-US" sz="3000" dirty="0"/>
              <a:t>	2. Determine the stopping cases</a:t>
            </a:r>
          </a:p>
          <a:p>
            <a:pPr marL="292608" lvl="1" indent="0">
              <a:buNone/>
            </a:pPr>
            <a:r>
              <a:rPr lang="en-US" sz="3000" dirty="0"/>
              <a:t>	3. Determine the recursive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9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Recursive Algorithm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3200" dirty="0"/>
              <a:t>An algorithm for a recursive function usually has this form: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stopping case reached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Solve the problem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Split the problem into simpler cases</a:t>
            </a:r>
          </a:p>
          <a:p>
            <a:pPr marL="0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and solve them recursively</a:t>
            </a:r>
            <a:endParaRPr lang="bg-BG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2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Splitting a Problem into Smaller Problems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770529" y="2765073"/>
            <a:ext cx="1143000" cy="838200"/>
          </a:xfrm>
          <a:prstGeom prst="flowChartPunchedTap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</a:t>
            </a:r>
            <a:r>
              <a:rPr lang="en-US" altLang="bg-BG" sz="2000" b="1" i="1"/>
              <a:t>n</a:t>
            </a:r>
            <a:endParaRPr lang="en-US" altLang="bg-BG" sz="2000"/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2303929" y="4670073"/>
            <a:ext cx="10668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1</a:t>
            </a:r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cxnSp>
        <p:nvCxnSpPr>
          <p:cNvPr id="7" name="AutoShape 10"/>
          <p:cNvCxnSpPr>
            <a:cxnSpLocks noChangeShapeType="1"/>
            <a:stCxn id="5" idx="2"/>
            <a:endCxn id="6" idx="0"/>
          </p:cNvCxnSpPr>
          <p:nvPr/>
        </p:nvCxnSpPr>
        <p:spPr bwMode="auto">
          <a:xfrm>
            <a:off x="2342029" y="3519136"/>
            <a:ext cx="495300" cy="1150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AutoShape 13"/>
          <p:cNvCxnSpPr>
            <a:cxnSpLocks noChangeShapeType="1"/>
            <a:stCxn id="5" idx="3"/>
          </p:cNvCxnSpPr>
          <p:nvPr/>
        </p:nvCxnSpPr>
        <p:spPr bwMode="auto">
          <a:xfrm>
            <a:off x="2913529" y="3184173"/>
            <a:ext cx="685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AutoShape 18"/>
          <p:cNvSpPr>
            <a:spLocks noChangeArrowheads="1"/>
          </p:cNvSpPr>
          <p:nvPr/>
        </p:nvSpPr>
        <p:spPr bwMode="auto">
          <a:xfrm>
            <a:off x="3599329" y="2765073"/>
            <a:ext cx="1143000" cy="838200"/>
          </a:xfrm>
          <a:prstGeom prst="flowChartPunchedTap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</a:t>
            </a:r>
            <a:r>
              <a:rPr lang="en-US" altLang="bg-BG" sz="2000" b="1" i="1"/>
              <a:t>n-1</a:t>
            </a:r>
            <a:endParaRPr lang="en-US" altLang="bg-BG" sz="2000"/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4132729" y="4670073"/>
            <a:ext cx="10668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1</a:t>
            </a:r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cxnSp>
        <p:nvCxnSpPr>
          <p:cNvPr id="11" name="AutoShape 20"/>
          <p:cNvCxnSpPr>
            <a:cxnSpLocks noChangeShapeType="1"/>
            <a:stCxn id="9" idx="2"/>
            <a:endCxn id="10" idx="0"/>
          </p:cNvCxnSpPr>
          <p:nvPr/>
        </p:nvCxnSpPr>
        <p:spPr bwMode="auto">
          <a:xfrm>
            <a:off x="4170829" y="3519136"/>
            <a:ext cx="495300" cy="1150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21"/>
          <p:cNvCxnSpPr>
            <a:cxnSpLocks noChangeShapeType="1"/>
            <a:stCxn id="9" idx="3"/>
          </p:cNvCxnSpPr>
          <p:nvPr/>
        </p:nvCxnSpPr>
        <p:spPr bwMode="auto">
          <a:xfrm>
            <a:off x="4742329" y="3184173"/>
            <a:ext cx="685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AutoShape 22"/>
          <p:cNvSpPr>
            <a:spLocks noChangeArrowheads="1"/>
          </p:cNvSpPr>
          <p:nvPr/>
        </p:nvSpPr>
        <p:spPr bwMode="auto">
          <a:xfrm>
            <a:off x="5428129" y="2765073"/>
            <a:ext cx="1143000" cy="838200"/>
          </a:xfrm>
          <a:prstGeom prst="flowChartPunchedTap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</a:t>
            </a:r>
            <a:r>
              <a:rPr lang="en-US" altLang="bg-BG" sz="2000" b="1" i="1"/>
              <a:t>n-2</a:t>
            </a:r>
            <a:endParaRPr lang="en-US" altLang="bg-BG" sz="2000"/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sp>
        <p:nvSpPr>
          <p:cNvPr id="14" name="Oval 23"/>
          <p:cNvSpPr>
            <a:spLocks noChangeArrowheads="1"/>
          </p:cNvSpPr>
          <p:nvPr/>
        </p:nvSpPr>
        <p:spPr bwMode="auto">
          <a:xfrm>
            <a:off x="5961529" y="4670073"/>
            <a:ext cx="10668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1</a:t>
            </a:r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cxnSp>
        <p:nvCxnSpPr>
          <p:cNvPr id="15" name="AutoShape 24"/>
          <p:cNvCxnSpPr>
            <a:cxnSpLocks noChangeShapeType="1"/>
            <a:stCxn id="13" idx="2"/>
            <a:endCxn id="14" idx="0"/>
          </p:cNvCxnSpPr>
          <p:nvPr/>
        </p:nvCxnSpPr>
        <p:spPr bwMode="auto">
          <a:xfrm>
            <a:off x="5999629" y="3519136"/>
            <a:ext cx="495300" cy="1150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AutoShape 26"/>
          <p:cNvSpPr>
            <a:spLocks noChangeArrowheads="1"/>
          </p:cNvSpPr>
          <p:nvPr/>
        </p:nvSpPr>
        <p:spPr bwMode="auto">
          <a:xfrm>
            <a:off x="7485529" y="2765073"/>
            <a:ext cx="1143000" cy="838200"/>
          </a:xfrm>
          <a:prstGeom prst="flowChartPunchedTap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</a:t>
            </a:r>
            <a:r>
              <a:rPr lang="en-US" altLang="bg-BG" sz="2000" b="1" i="1"/>
              <a:t>2</a:t>
            </a:r>
            <a:endParaRPr lang="en-US" altLang="bg-BG" sz="2000"/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sp>
        <p:nvSpPr>
          <p:cNvPr id="17" name="Oval 27"/>
          <p:cNvSpPr>
            <a:spLocks noChangeArrowheads="1"/>
          </p:cNvSpPr>
          <p:nvPr/>
        </p:nvSpPr>
        <p:spPr bwMode="auto">
          <a:xfrm>
            <a:off x="8018929" y="4670073"/>
            <a:ext cx="10668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1</a:t>
            </a:r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cxnSp>
        <p:nvCxnSpPr>
          <p:cNvPr id="18" name="AutoShape 28"/>
          <p:cNvCxnSpPr>
            <a:cxnSpLocks noChangeShapeType="1"/>
            <a:stCxn id="16" idx="2"/>
            <a:endCxn id="17" idx="0"/>
          </p:cNvCxnSpPr>
          <p:nvPr/>
        </p:nvCxnSpPr>
        <p:spPr bwMode="auto">
          <a:xfrm>
            <a:off x="8057029" y="3519136"/>
            <a:ext cx="495300" cy="1150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30"/>
          <p:cNvSpPr>
            <a:spLocks noChangeArrowheads="1"/>
          </p:cNvSpPr>
          <p:nvPr/>
        </p:nvSpPr>
        <p:spPr bwMode="auto">
          <a:xfrm>
            <a:off x="9161929" y="2765073"/>
            <a:ext cx="10668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bg-BG" sz="2000"/>
              <a:t>Size 1</a:t>
            </a:r>
          </a:p>
          <a:p>
            <a:pPr algn="ctr"/>
            <a:r>
              <a:rPr lang="en-US" altLang="bg-BG" sz="2000"/>
              <a:t>problem</a:t>
            </a:r>
            <a:endParaRPr lang="en-US" altLang="bg-BG"/>
          </a:p>
        </p:txBody>
      </p:sp>
      <p:sp>
        <p:nvSpPr>
          <p:cNvPr id="20" name="Line 31"/>
          <p:cNvSpPr>
            <a:spLocks noChangeShapeType="1"/>
          </p:cNvSpPr>
          <p:nvPr/>
        </p:nvSpPr>
        <p:spPr bwMode="auto">
          <a:xfrm>
            <a:off x="6571129" y="314607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7028329" y="2886098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. . .</a:t>
            </a:r>
          </a:p>
        </p:txBody>
      </p:sp>
      <p:sp>
        <p:nvSpPr>
          <p:cNvPr id="22" name="Line 33"/>
          <p:cNvSpPr>
            <a:spLocks noChangeShapeType="1"/>
          </p:cNvSpPr>
          <p:nvPr/>
        </p:nvSpPr>
        <p:spPr bwMode="auto">
          <a:xfrm>
            <a:off x="8628529" y="314607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2088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by Multiplication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 </a:t>
            </a:r>
            <a:r>
              <a:rPr lang="en-US" sz="3200" dirty="0"/>
              <a:t>“Raise 6 to the power of 3”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Raise 6 to the power of  3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Raise 6 to the power of 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Multiply the result by 6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Raise 6 to the power of  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Raise 6 to the power of  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Multiply the result by 6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End up multiplying 6 * 6 *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40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Recursive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power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power(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&lt;= 1)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stopping case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* power(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- 1); 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recursion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19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Tracing Recursive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Hand tracing the execution of an algorithm provides valuable information how it works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Also very useful in recursion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Activation frame </a:t>
            </a:r>
            <a:r>
              <a:rPr lang="en-US" sz="3200" dirty="0"/>
              <a:t>corresponds to a function call with argument values shown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69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 the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power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790134"/>
            <a:ext cx="10058400" cy="249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82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power</a:t>
            </a:r>
            <a:r>
              <a:rPr lang="en-US" dirty="0"/>
              <a:t> with tracing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654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power(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answer;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"Entering power with m =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 and n =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&lt;=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   answer =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stopping case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   answer =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* power(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- 1);  </a:t>
            </a: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// recursion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"power("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") returns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answer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answer;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24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Recursive Function with No Return Value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next example shows an unusual recursive function with no parameters and no return 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Contains an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dirty="0"/>
              <a:t> statement with some stopping condition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Keeps executing the recursive step until condition is reached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When the stopping case is reached: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recursive step is finished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Execution returns to the previous call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2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reverse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645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Displays keyboard input in reverse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reverse()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"Next character or * to stop: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cin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(next !=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'*'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reverse();     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recursive step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  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next;  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display next after return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9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reverse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764077"/>
            <a:ext cx="10058400" cy="2549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804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Recursive Mathematical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Many mathematical functions are defined recursively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bg-BG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Example: </a:t>
            </a:r>
            <a:r>
              <a:rPr lang="en-US" altLang="bg-BG" sz="3000" dirty="0"/>
              <a:t>The factorial of a number – </a:t>
            </a:r>
            <a:r>
              <a:rPr lang="en-US" altLang="bg-BG" sz="3000" b="1" dirty="0"/>
              <a:t>n!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000" dirty="0"/>
              <a:t> 0! is 1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000" dirty="0"/>
              <a:t> n! is n × (n-1)!, for n &gt; 0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000" dirty="0"/>
              <a:t>Therefore:  4!  =  4 × 3!  =  4 × 3 × 2!  =  4 × 3 × 2 × 1  or  24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52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altLang="bg-BG" dirty="0"/>
              <a:t>Recursive </a:t>
            </a:r>
            <a:r>
              <a:rPr lang="en-US" altLang="bg-BG" b="1" dirty="0">
                <a:latin typeface="Courier New" panose="02070309020205020404" pitchFamily="49" charset="0"/>
              </a:rPr>
              <a:t>factorial</a:t>
            </a:r>
            <a:r>
              <a:rPr lang="en-US" altLang="bg-BG" dirty="0"/>
              <a:t> Function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compute and return n!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factorial(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&lt;= 0) 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base case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factorial(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- 1);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16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factorial(3)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274" y="1846263"/>
            <a:ext cx="6431778" cy="438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438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altLang="bg-BG" dirty="0"/>
              <a:t>Iterative Factorial Function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factorialIter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  // Local data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factorial; 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accumulating product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factorial = 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 i = 2; i &lt;= </a:t>
            </a:r>
            <a:r>
              <a:rPr lang="nn-NO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nn-NO" sz="24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factorial *=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factorial;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3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Recursive </a:t>
            </a:r>
            <a:r>
              <a:rPr lang="en-US" altLang="bg-BG" b="1" dirty="0" err="1">
                <a:latin typeface="Courier New" panose="02070309020205020404" pitchFamily="49" charset="0"/>
              </a:rPr>
              <a:t>fibonacci</a:t>
            </a:r>
            <a:r>
              <a:rPr lang="en-US" altLang="bg-BG" dirty="0"/>
              <a:t> Function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Returns the nth Fibonacci number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fibonacci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&lt;= 2)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base case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fibonacci(</a:t>
            </a:r>
            <a:r>
              <a:rPr lang="it-IT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- 2) + fibonacci(</a:t>
            </a:r>
            <a:r>
              <a:rPr lang="it-IT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- 1);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86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Recursive Functions with Array Arguments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058401" cy="43847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Recursive functions can also process data structures or objects – e.g. arrays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recursive solution to an array processing problem involves splitting it into two or more problems with smaller size arrays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For example, a problem involving an </a:t>
            </a:r>
            <a:r>
              <a:rPr lang="en-US" sz="3200" b="1" dirty="0"/>
              <a:t>n-element</a:t>
            </a:r>
            <a:r>
              <a:rPr lang="en-US" sz="3200" dirty="0"/>
              <a:t> array can be split into a problem involving an </a:t>
            </a:r>
            <a:r>
              <a:rPr lang="en-US" sz="3200" b="1" dirty="0"/>
              <a:t>n-1 </a:t>
            </a:r>
            <a:r>
              <a:rPr lang="en-US" sz="3200" dirty="0"/>
              <a:t>element</a:t>
            </a:r>
            <a:r>
              <a:rPr lang="en-US" sz="3200" b="1" dirty="0"/>
              <a:t> </a:t>
            </a:r>
            <a:r>
              <a:rPr lang="en-US" sz="3200" dirty="0"/>
              <a:t>array and a </a:t>
            </a:r>
            <a:r>
              <a:rPr lang="en-US" sz="3200" b="1" dirty="0"/>
              <a:t>single</a:t>
            </a:r>
            <a:r>
              <a:rPr lang="en-US" sz="3200" dirty="0"/>
              <a:t> element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Normally an array with one element is a </a:t>
            </a:r>
            <a:r>
              <a:rPr lang="en-US" sz="3200" b="1" dirty="0"/>
              <a:t>stopping case</a:t>
            </a:r>
            <a:endParaRPr lang="bg-BG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93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the Sum of All Elements in an Array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619591" cy="4384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Finds the sum of elements in an n-element array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sz="2400" dirty="0">
                <a:solidFill>
                  <a:srgbClr val="000000"/>
                </a:solidFill>
                <a:latin typeface="Consolas" panose="020B0609020204030204" pitchFamily="49" charset="0"/>
              </a:rPr>
              <a:t> findSum(</a:t>
            </a:r>
            <a:r>
              <a:rPr lang="sv-SE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24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sv-SE" sz="2400" dirty="0">
                <a:solidFill>
                  <a:srgbClr val="000000"/>
                </a:solidFill>
                <a:latin typeface="Consolas" panose="020B0609020204030204" pitchFamily="49" charset="0"/>
              </a:rPr>
              <a:t>[], </a:t>
            </a:r>
            <a:r>
              <a:rPr lang="sv-SE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sv-S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1)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stopping case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[0];            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- 1] +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findSum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- 1);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recursive step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66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C3C2C7-090F-7C48-B6A3-860E74DC8D0B}"/>
              </a:ext>
            </a:extLst>
          </p:cNvPr>
          <p:cNvSpPr/>
          <p:nvPr/>
        </p:nvSpPr>
        <p:spPr>
          <a:xfrm>
            <a:off x="1397285" y="2691829"/>
            <a:ext cx="5178176" cy="9349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7C47EA-2780-CC46-81E5-3B1C841C7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103541"/>
              </p:ext>
            </p:extLst>
          </p:nvPr>
        </p:nvGraphicFramePr>
        <p:xfrm>
          <a:off x="1535258" y="2936698"/>
          <a:ext cx="6692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1342611947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959165181"/>
                    </a:ext>
                  </a:extLst>
                </a:gridCol>
              </a:tblGrid>
              <a:tr h="3651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1855D2B-DE51-D643-A51A-5FCD747D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the Sum of All Elements in an Array</a:t>
            </a:r>
            <a:endParaRPr lang="en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2E2A6-A7EB-1349-BACB-CD0CD7DD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231815-4477-AC41-AF90-4CBC59DDF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754408"/>
              </p:ext>
            </p:extLst>
          </p:nvPr>
        </p:nvGraphicFramePr>
        <p:xfrm>
          <a:off x="1535258" y="1993188"/>
          <a:ext cx="6692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1342611947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959165181"/>
                    </a:ext>
                  </a:extLst>
                </a:gridCol>
              </a:tblGrid>
              <a:tr h="3651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CC55D51-EC28-E340-8D7C-C498FA3783EB}"/>
              </a:ext>
            </a:extLst>
          </p:cNvPr>
          <p:cNvSpPr txBox="1"/>
          <p:nvPr/>
        </p:nvSpPr>
        <p:spPr>
          <a:xfrm>
            <a:off x="8928243" y="1993188"/>
            <a:ext cx="22274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 = 7, size = 4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sum = 7 + 5, size = 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sum = 12 + 3, size = 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sum = 15 + 2, size = 1</a:t>
            </a:r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6C4ED-8751-8F4E-A6D7-079AA8C468AA}"/>
              </a:ext>
            </a:extLst>
          </p:cNvPr>
          <p:cNvSpPr/>
          <p:nvPr/>
        </p:nvSpPr>
        <p:spPr>
          <a:xfrm>
            <a:off x="1397285" y="3871648"/>
            <a:ext cx="3503488" cy="982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ED98435-ECEF-6B49-992E-94C673825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69161"/>
              </p:ext>
            </p:extLst>
          </p:nvPr>
        </p:nvGraphicFramePr>
        <p:xfrm>
          <a:off x="1535258" y="4164463"/>
          <a:ext cx="6692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1342611947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959165181"/>
                    </a:ext>
                  </a:extLst>
                </a:gridCol>
              </a:tblGrid>
              <a:tr h="3651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7F8922B6-79BD-044E-BC10-6F7BB828ED8D}"/>
              </a:ext>
            </a:extLst>
          </p:cNvPr>
          <p:cNvSpPr/>
          <p:nvPr/>
        </p:nvSpPr>
        <p:spPr>
          <a:xfrm>
            <a:off x="1397285" y="4980611"/>
            <a:ext cx="1777430" cy="9828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G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89B81C4-9002-A24B-A2C4-49201FC18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732741"/>
              </p:ext>
            </p:extLst>
          </p:nvPr>
        </p:nvGraphicFramePr>
        <p:xfrm>
          <a:off x="1535258" y="5273426"/>
          <a:ext cx="66921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1342611947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959165181"/>
                    </a:ext>
                  </a:extLst>
                </a:gridCol>
              </a:tblGrid>
              <a:tr h="3651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79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Case Study: Binary Search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One algorithm for finding a target element in an array is </a:t>
            </a:r>
            <a:r>
              <a:rPr lang="en-US" sz="3200" b="1" dirty="0"/>
              <a:t>sequential search </a:t>
            </a:r>
            <a:r>
              <a:rPr lang="en-US" sz="3200" dirty="0"/>
              <a:t>– examining each element in the sequence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If the input array has been sorted, we can use an alternative, more efficient search method – </a:t>
            </a:r>
            <a:r>
              <a:rPr lang="en-US" sz="3200" b="1" dirty="0"/>
              <a:t>binary search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 binary search we reduce the problem of searching an n-element array to a search involving an n/2 element array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 </a:t>
            </a:r>
            <a:r>
              <a:rPr lang="en-US" sz="3200" dirty="0"/>
              <a:t>Write a function to implement binary search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69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Searching For 8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endParaRPr lang="bg-BG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19922"/>
              </p:ext>
            </p:extLst>
          </p:nvPr>
        </p:nvGraphicFramePr>
        <p:xfrm>
          <a:off x="1721384" y="2551723"/>
          <a:ext cx="8365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1342611947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95916518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2176605" y="1897741"/>
            <a:ext cx="363009" cy="60538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863749" y="1865902"/>
            <a:ext cx="363009" cy="605380"/>
          </a:xfrm>
          <a:prstGeom prst="line">
            <a:avLst/>
          </a:prstGeom>
          <a:ln w="38100">
            <a:solidFill>
              <a:srgbClr val="008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2C1852-7124-6549-A9D3-25A765D98593}"/>
              </a:ext>
            </a:extLst>
          </p:cNvPr>
          <p:cNvCxnSpPr/>
          <p:nvPr/>
        </p:nvCxnSpPr>
        <p:spPr>
          <a:xfrm>
            <a:off x="5338672" y="1913499"/>
            <a:ext cx="363009" cy="605380"/>
          </a:xfrm>
          <a:prstGeom prst="line">
            <a:avLst/>
          </a:prstGeom>
          <a:ln w="38100">
            <a:solidFill>
              <a:srgbClr val="0070C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F5882A6-0F48-694E-BAD1-593819A39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957763"/>
              </p:ext>
            </p:extLst>
          </p:nvPr>
        </p:nvGraphicFramePr>
        <p:xfrm>
          <a:off x="1721384" y="3869939"/>
          <a:ext cx="8365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1342611947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95916518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04067D-BAE6-EB40-8CDF-4419A46EE1C7}"/>
              </a:ext>
            </a:extLst>
          </p:cNvPr>
          <p:cNvCxnSpPr/>
          <p:nvPr/>
        </p:nvCxnSpPr>
        <p:spPr>
          <a:xfrm>
            <a:off x="6753322" y="3184118"/>
            <a:ext cx="363009" cy="60538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60FB02D-856C-A643-8D22-15F87E9CB315}"/>
              </a:ext>
            </a:extLst>
          </p:cNvPr>
          <p:cNvCxnSpPr/>
          <p:nvPr/>
        </p:nvCxnSpPr>
        <p:spPr>
          <a:xfrm>
            <a:off x="8863749" y="3184118"/>
            <a:ext cx="363009" cy="605380"/>
          </a:xfrm>
          <a:prstGeom prst="line">
            <a:avLst/>
          </a:prstGeom>
          <a:ln w="38100">
            <a:solidFill>
              <a:srgbClr val="008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81C56B-8A54-D747-A14E-D52CC07362E6}"/>
              </a:ext>
            </a:extLst>
          </p:cNvPr>
          <p:cNvCxnSpPr/>
          <p:nvPr/>
        </p:nvCxnSpPr>
        <p:spPr>
          <a:xfrm>
            <a:off x="7253969" y="3149166"/>
            <a:ext cx="363009" cy="605380"/>
          </a:xfrm>
          <a:prstGeom prst="line">
            <a:avLst/>
          </a:prstGeom>
          <a:ln w="38100">
            <a:solidFill>
              <a:srgbClr val="0070C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A34EE74-5695-BE45-8CD6-7842F229A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920555"/>
              </p:ext>
            </p:extLst>
          </p:nvPr>
        </p:nvGraphicFramePr>
        <p:xfrm>
          <a:off x="1721384" y="5190867"/>
          <a:ext cx="8365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1342611947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959165181"/>
                    </a:ext>
                  </a:extLst>
                </a:gridCol>
                <a:gridCol w="167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cell3D prstMaterial="dkEdge">
                      <a:bevel/>
                      <a:lightRig rig="flood" dir="t"/>
                    </a:cell3D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508690-DFDE-4B4F-A13F-73F618198F2C}"/>
              </a:ext>
            </a:extLst>
          </p:cNvPr>
          <p:cNvCxnSpPr/>
          <p:nvPr/>
        </p:nvCxnSpPr>
        <p:spPr>
          <a:xfrm>
            <a:off x="9229443" y="4505046"/>
            <a:ext cx="363009" cy="605380"/>
          </a:xfrm>
          <a:prstGeom prst="line">
            <a:avLst/>
          </a:prstGeom>
          <a:ln w="38100">
            <a:solidFill>
              <a:srgbClr val="FF0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30D2F2-3366-4047-9294-0F740AFEAAE0}"/>
              </a:ext>
            </a:extLst>
          </p:cNvPr>
          <p:cNvCxnSpPr/>
          <p:nvPr/>
        </p:nvCxnSpPr>
        <p:spPr>
          <a:xfrm>
            <a:off x="8863749" y="4505046"/>
            <a:ext cx="363009" cy="605380"/>
          </a:xfrm>
          <a:prstGeom prst="line">
            <a:avLst/>
          </a:prstGeom>
          <a:ln w="38100">
            <a:solidFill>
              <a:srgbClr val="00800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CBF3B3-A036-A742-B53A-2AF2C107B2D1}"/>
              </a:ext>
            </a:extLst>
          </p:cNvPr>
          <p:cNvCxnSpPr/>
          <p:nvPr/>
        </p:nvCxnSpPr>
        <p:spPr>
          <a:xfrm>
            <a:off x="8500740" y="4505046"/>
            <a:ext cx="363009" cy="605380"/>
          </a:xfrm>
          <a:prstGeom prst="line">
            <a:avLst/>
          </a:prstGeom>
          <a:ln w="38100">
            <a:solidFill>
              <a:srgbClr val="0070C0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94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Case Study: Analysis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binary search algorithm uses the ordering of array elements to eliminate half of them with each probe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compare the middle element of the array with the target value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If they are equal, we are done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If the middle element is larger than the target, we search in the lower subarray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Otherwise, we search the upper half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0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Case Study: Analysis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Function interface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Input parameters: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600" dirty="0"/>
              <a:t> – array to search in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en-US" sz="2600" dirty="0"/>
              <a:t> – target value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</a:t>
            </a:r>
            <a:r>
              <a:rPr lang="en-US" sz="2600" dirty="0"/>
              <a:t> – index of first element of the subarray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last</a:t>
            </a:r>
            <a:r>
              <a:rPr lang="en-US" sz="2600" dirty="0"/>
              <a:t> – index of the last element in subarray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Result: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If found, location of target in the array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If not found, -1</a:t>
            </a:r>
            <a:endParaRPr lang="bg-BG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11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Case Study: Design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64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implement the binary search algorithm by using recursion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There will be two stopping cases: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array bounds are improper (first &gt; last)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Returns -1 to indicate target not found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middle value is the target value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Returns the index of the found target 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recursive step is to search the appropriate subarray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85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Binary Search Algorithm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1. Compute the subscript of the </a:t>
            </a:r>
            <a:r>
              <a:rPr lang="en-US" sz="3000" b="1" dirty="0"/>
              <a:t>middle</a:t>
            </a:r>
            <a:r>
              <a:rPr lang="en-US" sz="3000" dirty="0"/>
              <a:t> element of the array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2. If the array bounds are </a:t>
            </a:r>
            <a:r>
              <a:rPr lang="en-US" sz="3000" b="1" dirty="0"/>
              <a:t>improper</a:t>
            </a:r>
            <a:r>
              <a:rPr lang="en-US" sz="3000" dirty="0"/>
              <a:t>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	Target not present, return -1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3. Else if </a:t>
            </a:r>
            <a:r>
              <a:rPr lang="en-US" sz="3000" b="1" dirty="0"/>
              <a:t>target</a:t>
            </a:r>
            <a:r>
              <a:rPr lang="en-US" sz="3000" dirty="0"/>
              <a:t> is the </a:t>
            </a:r>
            <a:r>
              <a:rPr lang="en-US" sz="3000" b="1" dirty="0"/>
              <a:t>middle</a:t>
            </a:r>
            <a:r>
              <a:rPr lang="en-US" sz="3000" dirty="0"/>
              <a:t> value: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	Return subscript of middle value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4. Else if target is less than the middle value: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	Search subarray with indices </a:t>
            </a:r>
            <a:r>
              <a:rPr lang="en-US" sz="3000" b="1" dirty="0"/>
              <a:t>first</a:t>
            </a:r>
            <a:r>
              <a:rPr lang="en-US" sz="3000" dirty="0"/>
              <a:t> through </a:t>
            </a:r>
            <a:r>
              <a:rPr lang="en-US" sz="3000" b="1" dirty="0"/>
              <a:t>middle-1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5. Else: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000" dirty="0"/>
              <a:t>	Search subarray with indices </a:t>
            </a:r>
            <a:r>
              <a:rPr lang="en-US" sz="3000" b="1" dirty="0"/>
              <a:t>middle+1</a:t>
            </a:r>
            <a:r>
              <a:rPr lang="en-US" sz="3000" dirty="0"/>
              <a:t> through </a:t>
            </a:r>
            <a:r>
              <a:rPr lang="en-US" sz="3000" b="1" dirty="0"/>
              <a:t>last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26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404438" cy="1450757"/>
          </a:xfrm>
        </p:spPr>
        <p:txBody>
          <a:bodyPr/>
          <a:lstStyle/>
          <a:p>
            <a:r>
              <a:rPr lang="en-US" dirty="0"/>
              <a:t>Example: Recursive Binary Search Function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binSearch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table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[],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target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first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last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middle = 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first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last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 / 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first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last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-1;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target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table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middle;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target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table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[middle])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binSearch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table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target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first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middle - 1);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binSearch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table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target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middle + 1, 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last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82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2213</TotalTime>
  <Words>1520</Words>
  <Application>Microsoft Office PowerPoint</Application>
  <PresentationFormat>Widescreen</PresentationFormat>
  <Paragraphs>292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Calibri</vt:lpstr>
      <vt:lpstr>Calibri Light</vt:lpstr>
      <vt:lpstr>Consolas</vt:lpstr>
      <vt:lpstr>Courier New</vt:lpstr>
      <vt:lpstr>Times New Roman</vt:lpstr>
      <vt:lpstr>Wingdings</vt:lpstr>
      <vt:lpstr>Retrospect</vt:lpstr>
      <vt:lpstr>Recursion</vt:lpstr>
      <vt:lpstr>Lecture Contents</vt:lpstr>
      <vt:lpstr>Nature of Recursion</vt:lpstr>
      <vt:lpstr>Solving a Recursive Problem</vt:lpstr>
      <vt:lpstr>A Recursive Algorithm</vt:lpstr>
      <vt:lpstr>Splitting a Problem into Smaller Problems</vt:lpstr>
      <vt:lpstr>Power by Multiplication</vt:lpstr>
      <vt:lpstr>Example: Recursive Function power</vt:lpstr>
      <vt:lpstr>Tracing Recursive Functions</vt:lpstr>
      <vt:lpstr>Tracing the Function power</vt:lpstr>
      <vt:lpstr>Example: Function power with tracing</vt:lpstr>
      <vt:lpstr>Recursive Function with No Return Value</vt:lpstr>
      <vt:lpstr>Example: Function reverse</vt:lpstr>
      <vt:lpstr>Trace of Function reverse</vt:lpstr>
      <vt:lpstr>Recursive Mathematical Functions</vt:lpstr>
      <vt:lpstr>Example: Recursive factorial Function</vt:lpstr>
      <vt:lpstr>Trace of factorial(3)</vt:lpstr>
      <vt:lpstr>Example: Iterative Factorial Function</vt:lpstr>
      <vt:lpstr>Recursive fibonacci Function</vt:lpstr>
      <vt:lpstr>Recursive Functions with Array Arguments</vt:lpstr>
      <vt:lpstr>Example: Finding the Sum of All Elements in an Array</vt:lpstr>
      <vt:lpstr>Example: Finding the Sum of All Elements in an Array</vt:lpstr>
      <vt:lpstr>Case Study: Binary Search</vt:lpstr>
      <vt:lpstr>Example - Searching For 8</vt:lpstr>
      <vt:lpstr>Case Study: Analysis</vt:lpstr>
      <vt:lpstr>Case Study: Analysis (continued)</vt:lpstr>
      <vt:lpstr>Case Study: Design</vt:lpstr>
      <vt:lpstr>Binary Search Algorithm</vt:lpstr>
      <vt:lpstr>Example: Recursive Binary Search Function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394</cp:revision>
  <dcterms:created xsi:type="dcterms:W3CDTF">2016-08-30T09:20:13Z</dcterms:created>
  <dcterms:modified xsi:type="dcterms:W3CDTF">2025-08-24T11:55:34Z</dcterms:modified>
</cp:coreProperties>
</file>