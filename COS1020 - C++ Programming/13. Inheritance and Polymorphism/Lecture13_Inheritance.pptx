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47"/>
  </p:notesMasterIdLst>
  <p:sldIdLst>
    <p:sldId id="286" r:id="rId2"/>
    <p:sldId id="348" r:id="rId3"/>
    <p:sldId id="288" r:id="rId4"/>
    <p:sldId id="302" r:id="rId5"/>
    <p:sldId id="299" r:id="rId6"/>
    <p:sldId id="300" r:id="rId7"/>
    <p:sldId id="311" r:id="rId8"/>
    <p:sldId id="312" r:id="rId9"/>
    <p:sldId id="292" r:id="rId10"/>
    <p:sldId id="322" r:id="rId11"/>
    <p:sldId id="313" r:id="rId12"/>
    <p:sldId id="293" r:id="rId13"/>
    <p:sldId id="321" r:id="rId14"/>
    <p:sldId id="359" r:id="rId15"/>
    <p:sldId id="307" r:id="rId16"/>
    <p:sldId id="306" r:id="rId17"/>
    <p:sldId id="319" r:id="rId18"/>
    <p:sldId id="320" r:id="rId19"/>
    <p:sldId id="334" r:id="rId20"/>
    <p:sldId id="349" r:id="rId21"/>
    <p:sldId id="350" r:id="rId22"/>
    <p:sldId id="351" r:id="rId23"/>
    <p:sldId id="352" r:id="rId24"/>
    <p:sldId id="301" r:id="rId25"/>
    <p:sldId id="315" r:id="rId26"/>
    <p:sldId id="316" r:id="rId27"/>
    <p:sldId id="294" r:id="rId28"/>
    <p:sldId id="323" r:id="rId29"/>
    <p:sldId id="335" r:id="rId30"/>
    <p:sldId id="324" r:id="rId31"/>
    <p:sldId id="330" r:id="rId32"/>
    <p:sldId id="331" r:id="rId33"/>
    <p:sldId id="325" r:id="rId34"/>
    <p:sldId id="327" r:id="rId35"/>
    <p:sldId id="314" r:id="rId36"/>
    <p:sldId id="328" r:id="rId37"/>
    <p:sldId id="365" r:id="rId38"/>
    <p:sldId id="366" r:id="rId39"/>
    <p:sldId id="329" r:id="rId40"/>
    <p:sldId id="360" r:id="rId41"/>
    <p:sldId id="361" r:id="rId42"/>
    <p:sldId id="362" r:id="rId43"/>
    <p:sldId id="363" r:id="rId44"/>
    <p:sldId id="364" r:id="rId45"/>
    <p:sldId id="28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348"/>
            <p14:sldId id="288"/>
            <p14:sldId id="302"/>
            <p14:sldId id="299"/>
            <p14:sldId id="300"/>
            <p14:sldId id="311"/>
            <p14:sldId id="312"/>
            <p14:sldId id="292"/>
            <p14:sldId id="322"/>
            <p14:sldId id="313"/>
            <p14:sldId id="293"/>
            <p14:sldId id="321"/>
            <p14:sldId id="359"/>
            <p14:sldId id="307"/>
            <p14:sldId id="306"/>
            <p14:sldId id="319"/>
            <p14:sldId id="320"/>
            <p14:sldId id="334"/>
            <p14:sldId id="349"/>
            <p14:sldId id="350"/>
            <p14:sldId id="351"/>
            <p14:sldId id="352"/>
            <p14:sldId id="301"/>
            <p14:sldId id="315"/>
            <p14:sldId id="316"/>
            <p14:sldId id="294"/>
            <p14:sldId id="323"/>
            <p14:sldId id="335"/>
            <p14:sldId id="324"/>
            <p14:sldId id="330"/>
            <p14:sldId id="331"/>
            <p14:sldId id="325"/>
            <p14:sldId id="327"/>
            <p14:sldId id="314"/>
            <p14:sldId id="328"/>
            <p14:sldId id="365"/>
            <p14:sldId id="366"/>
            <p14:sldId id="329"/>
            <p14:sldId id="360"/>
            <p14:sldId id="361"/>
            <p14:sldId id="362"/>
            <p14:sldId id="363"/>
            <p14:sldId id="364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Inheritance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10 – C++ for Everyone, Cay Horstmann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9.9 Pointers to Objects</a:t>
            </a:r>
          </a:p>
          <a:p>
            <a:pPr marL="0" indent="0">
              <a:buNone/>
            </a:pPr>
            <a:r>
              <a:rPr lang="en-US" sz="3200" dirty="0"/>
              <a:t>10.1 Inheritance Hierarchies</a:t>
            </a:r>
          </a:p>
          <a:p>
            <a:pPr marL="0" indent="0">
              <a:buNone/>
            </a:pPr>
            <a:r>
              <a:rPr lang="en-US" sz="3200" dirty="0"/>
              <a:t>10.2 Implementing Derived Classes</a:t>
            </a:r>
          </a:p>
          <a:p>
            <a:pPr marL="0" indent="0">
              <a:buNone/>
            </a:pPr>
            <a:r>
              <a:rPr lang="en-US" sz="3200" dirty="0"/>
              <a:t>10.3 Overriding Member Functions</a:t>
            </a:r>
          </a:p>
          <a:p>
            <a:pPr marL="0" indent="0">
              <a:buNone/>
            </a:pPr>
            <a:r>
              <a:rPr lang="en-US" sz="3200" dirty="0"/>
              <a:t>10.4 Virtual Functions and Polymorphism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6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Dynamically Allocating Objects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use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3200" dirty="0"/>
              <a:t> operator to dynamically create objects of </a:t>
            </a:r>
            <a:r>
              <a:rPr lang="en-US" sz="3200" b="1" dirty="0"/>
              <a:t>primitive</a:t>
            </a:r>
            <a:r>
              <a:rPr lang="en-US" sz="3200" dirty="0"/>
              <a:t> as well as </a:t>
            </a:r>
            <a:r>
              <a:rPr lang="en-US" sz="3200" b="1" dirty="0"/>
              <a:t>user-defined </a:t>
            </a:r>
            <a:r>
              <a:rPr lang="en-US" sz="3200" dirty="0"/>
              <a:t>types: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pNum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(5);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pArr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[10];</a:t>
            </a:r>
          </a:p>
          <a:p>
            <a:pPr marL="0" indent="0"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   Vehicle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v1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Vehicle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(1950, 12000,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NOTE: Always use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sz="3200" dirty="0"/>
              <a:t> for variables created with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bg-BG" sz="3200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dirty="0"/>
              <a:t> Operator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access a member on a pointer variable, we could dereference it and use the dot operator: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(*v1).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getPrice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Or alternatively,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3200" dirty="0"/>
              <a:t> operator: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v1-&gt;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getColor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v1-&gt;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getPrice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5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Principles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Main concepts: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Encapsulation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Abstraction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Inheritance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Polymorphism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Principles – Inheritance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18838"/>
            <a:ext cx="10058400" cy="4483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Inheritance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Classes can inherit attributes and behavior from pre-existing classes, called base / super / parent classes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Child classes can add new functionality and/or override an inherited method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C++ supports </a:t>
            </a:r>
            <a:r>
              <a:rPr lang="en-US" sz="3000" b="1" dirty="0"/>
              <a:t>multiple inheritance</a:t>
            </a: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/>
              <a:t>Public inheritance </a:t>
            </a:r>
            <a:r>
              <a:rPr lang="en-US" sz="3000" dirty="0"/>
              <a:t>is used to implement an </a:t>
            </a:r>
            <a:r>
              <a:rPr lang="en-US" sz="3000" b="1" dirty="0"/>
              <a:t>is-a</a:t>
            </a:r>
            <a:r>
              <a:rPr lang="en-US" sz="3000" dirty="0"/>
              <a:t> relationship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/>
              <a:t>Private inheritance </a:t>
            </a:r>
            <a:r>
              <a:rPr lang="en-US" sz="3000" dirty="0"/>
              <a:t>(even public members of the base class remain hidden) is used to implement a </a:t>
            </a:r>
            <a:r>
              <a:rPr lang="en-US" sz="3000" b="1" dirty="0"/>
              <a:t>has-a</a:t>
            </a:r>
            <a:r>
              <a:rPr lang="en-US" sz="3000" dirty="0"/>
              <a:t>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Hierarchies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847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Inheritance is the mechanism to conveniently derive a new user-defined type from an existing user-defined type, such that the derived class reuses the existing code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Used to model an </a:t>
            </a:r>
            <a:r>
              <a:rPr lang="en-US" sz="3200" b="1" dirty="0"/>
              <a:t>IS-A</a:t>
            </a:r>
            <a:r>
              <a:rPr lang="en-US" sz="3200" dirty="0"/>
              <a:t> relationship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derived class </a:t>
            </a:r>
            <a:r>
              <a:rPr lang="en-US" sz="3000" i="1" dirty="0"/>
              <a:t>is a variation </a:t>
            </a:r>
            <a:r>
              <a:rPr lang="en-US" sz="3000" dirty="0"/>
              <a:t>of the base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derived class is developed by adding to and/or altering code of the base class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5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Hierarchies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9231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By using inheritance, we can create a </a:t>
            </a:r>
            <a:r>
              <a:rPr lang="en-US" sz="3200" b="1" dirty="0"/>
              <a:t>hierarchy of related types</a:t>
            </a:r>
            <a:r>
              <a:rPr lang="en-US" sz="3200" dirty="0"/>
              <a:t> that </a:t>
            </a:r>
            <a:r>
              <a:rPr lang="en-US" sz="3200" b="1" dirty="0"/>
              <a:t>share</a:t>
            </a:r>
            <a:r>
              <a:rPr lang="en-US" sz="3200" dirty="0"/>
              <a:t> the same code and interface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Circle IS-A Shape, a Car IS-A Vehicle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An Ellipse IS-NOT-A Circle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We can extend Car to other classes like: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 err="1"/>
              <a:t>ForeignCar</a:t>
            </a:r>
            <a:r>
              <a:rPr lang="en-US" sz="2600" dirty="0"/>
              <a:t> IS-A Car, </a:t>
            </a:r>
            <a:r>
              <a:rPr lang="en-US" sz="2600" dirty="0" err="1"/>
              <a:t>DomesticCar</a:t>
            </a:r>
            <a:r>
              <a:rPr lang="en-US" sz="2600" dirty="0"/>
              <a:t> IS-A Car and so 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IS-A relationships are </a:t>
            </a:r>
            <a:r>
              <a:rPr lang="en-US" sz="3200" b="1" dirty="0"/>
              <a:t>transitive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If X IS-A Y and Y IS-A Z, then X IS-A Z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88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 Class Hierarchy</a:t>
            </a:r>
            <a:endParaRPr lang="bg-B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271" y="1955400"/>
            <a:ext cx="7402188" cy="402506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Another Class Hierarchy</a:t>
            </a:r>
            <a:endParaRPr lang="bg-B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296" y="2542962"/>
            <a:ext cx="6073129" cy="281793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61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HAS-A Relationships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0127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Another type of class relationship is the </a:t>
            </a:r>
            <a:r>
              <a:rPr lang="en-US" sz="3200" b="1" dirty="0"/>
              <a:t>HAS-A</a:t>
            </a:r>
            <a:r>
              <a:rPr lang="en-US" sz="3200" dirty="0"/>
              <a:t> relationship (or IS-COMPOSED-OF)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derived class </a:t>
            </a:r>
            <a:r>
              <a:rPr lang="en-US" sz="3000" i="1" dirty="0"/>
              <a:t>has an instance </a:t>
            </a:r>
            <a:r>
              <a:rPr lang="en-US" sz="3000" dirty="0"/>
              <a:t>of</a:t>
            </a:r>
            <a:r>
              <a:rPr lang="en-US" sz="3000" i="1" dirty="0"/>
              <a:t> </a:t>
            </a:r>
            <a:r>
              <a:rPr lang="en-US" sz="3000" dirty="0"/>
              <a:t>the base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Car HAS-A </a:t>
            </a:r>
            <a:r>
              <a:rPr lang="en-US" sz="3000" dirty="0" err="1"/>
              <a:t>SteeringWheel</a:t>
            </a:r>
            <a:endParaRPr lang="en-US" sz="3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Generally, HAS-A relationships should not be modelled by using inheritance (</a:t>
            </a:r>
            <a:r>
              <a:rPr lang="en-US" sz="3200" b="1" dirty="0"/>
              <a:t>private</a:t>
            </a:r>
            <a:r>
              <a:rPr lang="en-US" sz="3200" dirty="0"/>
              <a:t> inheritance)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Instead, they should be modeled with a technique called </a:t>
            </a:r>
            <a:r>
              <a:rPr lang="en-US" sz="3200" i="1" dirty="0"/>
              <a:t>composition</a:t>
            </a:r>
            <a:r>
              <a:rPr lang="en-US" sz="3200" dirty="0"/>
              <a:t>, where components are made private fields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14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Derived Classes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2"/>
            <a:ext cx="10807849" cy="4447491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Class inheritance syntax: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00FF"/>
                </a:solidFill>
                <a:latin typeface="Consolas" panose="020B0609020204030204" pitchFamily="49" charset="0"/>
              </a:rPr>
              <a:t>   class</a:t>
            </a:r>
            <a:r>
              <a:rPr lang="en-US" sz="3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300" dirty="0">
                <a:solidFill>
                  <a:srgbClr val="2B91AF"/>
                </a:solidFill>
                <a:latin typeface="Consolas" panose="020B0609020204030204" pitchFamily="49" charset="0"/>
              </a:rPr>
              <a:t>Derived</a:t>
            </a:r>
            <a:r>
              <a:rPr lang="en-US" sz="33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33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3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300" dirty="0" err="1">
                <a:solidFill>
                  <a:srgbClr val="2B91AF"/>
                </a:solidFill>
                <a:latin typeface="Consolas" panose="020B0609020204030204" pitchFamily="49" charset="0"/>
              </a:rPr>
              <a:t>BaseClass</a:t>
            </a:r>
            <a:endParaRPr lang="en-US" sz="3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00FF"/>
                </a:solidFill>
                <a:latin typeface="Consolas" panose="020B0609020204030204" pitchFamily="49" charset="0"/>
              </a:rPr>
              <a:t>   public</a:t>
            </a:r>
            <a:r>
              <a:rPr lang="en-US" sz="33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8000"/>
                </a:solidFill>
                <a:latin typeface="Consolas" panose="020B0609020204030204" pitchFamily="49" charset="0"/>
              </a:rPr>
              <a:t>      // New and changed member functions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8000"/>
                </a:solidFill>
                <a:latin typeface="Consolas" panose="020B0609020204030204" pitchFamily="49" charset="0"/>
              </a:rPr>
              <a:t>   </a:t>
            </a:r>
            <a:r>
              <a:rPr lang="en-US" sz="3300" dirty="0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  <a:r>
              <a:rPr lang="en-US" sz="33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8000"/>
                </a:solidFill>
                <a:latin typeface="Consolas" panose="020B0609020204030204" pitchFamily="49" charset="0"/>
              </a:rPr>
              <a:t>      // Available to child classes only</a:t>
            </a:r>
            <a:endParaRPr lang="en-US" sz="3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00FF"/>
                </a:solidFill>
                <a:latin typeface="Consolas" panose="020B0609020204030204" pitchFamily="49" charset="0"/>
              </a:rPr>
              <a:t>   private</a:t>
            </a:r>
            <a:r>
              <a:rPr lang="en-US" sz="33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8000"/>
                </a:solidFill>
                <a:latin typeface="Consolas" panose="020B0609020204030204" pitchFamily="49" charset="0"/>
              </a:rPr>
              <a:t>      // Additional data members</a:t>
            </a:r>
            <a:endParaRPr lang="en-US" sz="3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33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bg-BG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21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Inheritance Visibility Rules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62822"/>
              </p:ext>
            </p:extLst>
          </p:nvPr>
        </p:nvGraphicFramePr>
        <p:xfrm>
          <a:off x="2249185" y="2834536"/>
          <a:ext cx="6906690" cy="19868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5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3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7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Base Class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Derived Class</a:t>
                      </a:r>
                      <a:endParaRPr lang="bg-B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7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</a:t>
                      </a:r>
                      <a:endParaRPr lang="bg-B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7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protected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protected</a:t>
                      </a:r>
                      <a:endParaRPr lang="bg-B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7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private</a:t>
                      </a:r>
                      <a:endParaRPr lang="bg-B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(inaccessible)</a:t>
                      </a:r>
                      <a:endParaRPr lang="bg-B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010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2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Courier New"/>
                <a:cs typeface="Courier New"/>
              </a:rPr>
              <a:t>class Circle : public Shape, protected Rectangle, Test {</a:t>
            </a:r>
          </a:p>
          <a:p>
            <a:pPr marL="0" indent="0">
              <a:buNone/>
            </a:pPr>
            <a:r>
              <a:rPr lang="bg-BG" sz="2400" dirty="0"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endParaRPr lang="bg-BG" sz="3200" dirty="0"/>
          </a:p>
          <a:p>
            <a:pPr marL="0" indent="0">
              <a:buNone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673487"/>
              </p:ext>
            </p:extLst>
          </p:nvPr>
        </p:nvGraphicFramePr>
        <p:xfrm>
          <a:off x="1123343" y="3424665"/>
          <a:ext cx="1010062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5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5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5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 Class members access modifier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(Not Accessible)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(Not Accessible)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(Not Accessible)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8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Inheritance in Action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1154" y="1846263"/>
            <a:ext cx="6594964" cy="446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1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the Base Class Constructor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198249" cy="44385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Unless specified otherwise, base class data members are initialized by calling the </a:t>
            </a:r>
            <a:r>
              <a:rPr lang="en-US" sz="3200" i="1" dirty="0"/>
              <a:t>default constructor </a:t>
            </a:r>
            <a:r>
              <a:rPr lang="en-US" sz="3200" dirty="0"/>
              <a:t>of the base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call another base-class constructor from the derived class constructor, use the </a:t>
            </a:r>
            <a:r>
              <a:rPr lang="en-US" sz="3200" b="1" dirty="0"/>
              <a:t>initializer list</a:t>
            </a:r>
            <a:r>
              <a:rPr lang="en-US" sz="3200" dirty="0"/>
              <a:t>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</a:rPr>
              <a:t>ChoiceQuestion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Question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ChoiceQuestion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txt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Question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txt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 marL="0" indent="0">
              <a:buNone/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8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Overriding Member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override (provide different functionality of) a method from the base class in the derived class by providing a derived class method with the </a:t>
            </a:r>
            <a:r>
              <a:rPr lang="en-US" sz="3200" b="1" dirty="0"/>
              <a:t>same signature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Sometimes we want the derived class method to invoke the base class method to augment it, rather than doing something different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This is known as </a:t>
            </a:r>
            <a:r>
              <a:rPr lang="en-US" sz="3200" i="1" dirty="0"/>
              <a:t>partial overriding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b="1" dirty="0"/>
              <a:t>scope</a:t>
            </a:r>
            <a:r>
              <a:rPr lang="en-US" sz="3200" dirty="0"/>
              <a:t> </a:t>
            </a:r>
            <a:r>
              <a:rPr lang="en-US" sz="3200" b="1" dirty="0"/>
              <a:t>operator</a:t>
            </a:r>
            <a:r>
              <a:rPr lang="en-US" sz="3200" dirty="0"/>
              <a:t> is used to call a base class method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81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Partial Overriding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Worker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doWork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"Working…"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drinkCoffee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"Coffee…"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511383-677F-D442-A5A4-105E5F7118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HardWorker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Worker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doWork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note the Worker:: prefix</a:t>
            </a: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    Worker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doWork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drinkCoffee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    Worker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doWork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bg-B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79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47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 What Will be Printed?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5232339" cy="4023360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/>
                <a:cs typeface="Courier New"/>
              </a:rPr>
              <a:t>class Shape {</a:t>
            </a:r>
          </a:p>
          <a:p>
            <a:r>
              <a:rPr lang="en-US" dirty="0">
                <a:latin typeface="Courier New"/>
                <a:cs typeface="Courier New"/>
              </a:rPr>
              <a:t> private:</a:t>
            </a:r>
          </a:p>
          <a:p>
            <a:r>
              <a:rPr lang="en-US" dirty="0">
                <a:latin typeface="Courier New"/>
                <a:cs typeface="Courier New"/>
              </a:rPr>
              <a:t>   string color;</a:t>
            </a:r>
          </a:p>
          <a:p>
            <a:r>
              <a:rPr lang="en-US" dirty="0">
                <a:latin typeface="Courier New"/>
                <a:cs typeface="Courier New"/>
              </a:rPr>
              <a:t> public:</a:t>
            </a:r>
          </a:p>
          <a:p>
            <a:r>
              <a:rPr lang="en-US" dirty="0">
                <a:latin typeface="Courier New"/>
                <a:cs typeface="Courier New"/>
              </a:rPr>
              <a:t>   Shape() { color = “red”; }</a:t>
            </a:r>
            <a:endParaRPr lang="bg-BG" dirty="0">
              <a:latin typeface="Courier New"/>
              <a:cs typeface="Courier New"/>
            </a:endParaRPr>
          </a:p>
          <a:p>
            <a:r>
              <a:rPr lang="bg-BG" dirty="0">
                <a:latin typeface="Courier New"/>
                <a:cs typeface="Courier New"/>
              </a:rPr>
              <a:t>   void display() {</a:t>
            </a:r>
          </a:p>
          <a:p>
            <a:r>
              <a:rPr lang="bg-BG" dirty="0">
                <a:latin typeface="Courier New"/>
                <a:cs typeface="Courier New"/>
              </a:rPr>
              <a:t>      cout &lt;&lt; </a:t>
            </a:r>
            <a:r>
              <a:rPr lang="en-US" dirty="0">
                <a:latin typeface="Courier New"/>
                <a:cs typeface="Courier New"/>
              </a:rPr>
              <a:t>color;</a:t>
            </a:r>
          </a:p>
          <a:p>
            <a:r>
              <a:rPr lang="en-US" dirty="0">
                <a:latin typeface="Courier New"/>
                <a:cs typeface="Courier New"/>
              </a:rPr>
              <a:t>   </a:t>
            </a:r>
            <a:r>
              <a:rPr lang="bg-BG" dirty="0">
                <a:latin typeface="Courier New"/>
                <a:cs typeface="Courier New"/>
              </a:rPr>
              <a:t>}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742642" y="1845735"/>
            <a:ext cx="4413037" cy="4023360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/>
                <a:cs typeface="Courier New"/>
              </a:rPr>
              <a:t>class Circle : Shape {</a:t>
            </a: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  <a:p>
            <a:endParaRPr lang="en-US" dirty="0"/>
          </a:p>
          <a:p>
            <a:r>
              <a:rPr lang="en-US" dirty="0">
                <a:latin typeface="Courier New"/>
                <a:cs typeface="Courier New"/>
              </a:rPr>
              <a:t>Circle c;</a:t>
            </a:r>
          </a:p>
          <a:p>
            <a:r>
              <a:rPr lang="en-US" dirty="0" err="1">
                <a:latin typeface="Courier New"/>
                <a:cs typeface="Courier New"/>
              </a:rPr>
              <a:t>c.display</a:t>
            </a:r>
            <a:r>
              <a:rPr lang="en-US" dirty="0">
                <a:latin typeface="Courier New"/>
                <a:cs typeface="Courier New"/>
              </a:rPr>
              <a:t>();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display is private method, because we have used </a:t>
            </a:r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private</a:t>
            </a:r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 inheritance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5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 What Will be Printed?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5232339" cy="402336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Courier New"/>
                <a:cs typeface="Courier New"/>
              </a:rPr>
              <a:t>class Shape {</a:t>
            </a:r>
          </a:p>
          <a:p>
            <a:r>
              <a:rPr lang="en-US" dirty="0">
                <a:latin typeface="Courier New"/>
                <a:cs typeface="Courier New"/>
              </a:rPr>
              <a:t> private:</a:t>
            </a:r>
          </a:p>
          <a:p>
            <a:r>
              <a:rPr lang="en-US" dirty="0">
                <a:latin typeface="Courier New"/>
                <a:cs typeface="Courier New"/>
              </a:rPr>
              <a:t>   string color;</a:t>
            </a:r>
          </a:p>
          <a:p>
            <a:r>
              <a:rPr lang="en-US" dirty="0">
                <a:latin typeface="Courier New"/>
                <a:cs typeface="Courier New"/>
              </a:rPr>
              <a:t> public:</a:t>
            </a:r>
          </a:p>
          <a:p>
            <a:r>
              <a:rPr lang="en-US" dirty="0">
                <a:latin typeface="Courier New"/>
                <a:cs typeface="Courier New"/>
              </a:rPr>
              <a:t>   Shape() { color = “red”; }</a:t>
            </a:r>
            <a:endParaRPr lang="bg-BG" dirty="0">
              <a:latin typeface="Courier New"/>
              <a:cs typeface="Courier New"/>
            </a:endParaRPr>
          </a:p>
          <a:p>
            <a:r>
              <a:rPr lang="bg-BG" dirty="0">
                <a:latin typeface="Courier New"/>
                <a:cs typeface="Courier New"/>
              </a:rPr>
              <a:t>   void display() {</a:t>
            </a:r>
          </a:p>
          <a:p>
            <a:r>
              <a:rPr lang="bg-BG" dirty="0">
                <a:latin typeface="Courier New"/>
                <a:cs typeface="Courier New"/>
              </a:rPr>
              <a:t>      cout &lt;&lt; </a:t>
            </a:r>
            <a:r>
              <a:rPr lang="en-US" dirty="0">
                <a:latin typeface="Courier New"/>
                <a:cs typeface="Courier New"/>
              </a:rPr>
              <a:t>color;</a:t>
            </a:r>
          </a:p>
          <a:p>
            <a:r>
              <a:rPr lang="en-US" dirty="0">
                <a:latin typeface="Courier New"/>
                <a:cs typeface="Courier New"/>
              </a:rPr>
              <a:t>   </a:t>
            </a:r>
            <a:r>
              <a:rPr lang="bg-BG" dirty="0">
                <a:latin typeface="Courier New"/>
                <a:cs typeface="Courier New"/>
              </a:rPr>
              <a:t>}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742642" y="1845735"/>
            <a:ext cx="4413037" cy="402336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Courier New"/>
                <a:cs typeface="Courier New"/>
              </a:rPr>
              <a:t>class Circle : Shape {</a:t>
            </a:r>
          </a:p>
          <a:p>
            <a:r>
              <a:rPr lang="en-US" dirty="0">
                <a:latin typeface="Courier New"/>
                <a:cs typeface="Courier New"/>
              </a:rPr>
              <a:t>public:</a:t>
            </a:r>
          </a:p>
          <a:p>
            <a:r>
              <a:rPr lang="en-US" dirty="0">
                <a:latin typeface="Courier New"/>
                <a:cs typeface="Courier New"/>
              </a:rPr>
              <a:t>   void test() {</a:t>
            </a:r>
          </a:p>
          <a:p>
            <a:r>
              <a:rPr lang="en-US" dirty="0">
                <a:latin typeface="Courier New"/>
                <a:cs typeface="Courier New"/>
              </a:rPr>
              <a:t>      display();</a:t>
            </a:r>
          </a:p>
          <a:p>
            <a:r>
              <a:rPr lang="en-US" dirty="0">
                <a:latin typeface="Courier New"/>
                <a:cs typeface="Courier New"/>
              </a:rPr>
              <a:t>   }</a:t>
            </a: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latin typeface="Courier New"/>
                <a:cs typeface="Courier New"/>
              </a:rPr>
              <a:t>Circle c;</a:t>
            </a:r>
          </a:p>
          <a:p>
            <a:r>
              <a:rPr lang="en-US" dirty="0" err="1">
                <a:latin typeface="Courier New"/>
                <a:cs typeface="Courier New"/>
              </a:rPr>
              <a:t>c.test</a:t>
            </a:r>
            <a:r>
              <a:rPr lang="en-US" dirty="0">
                <a:latin typeface="Courier New"/>
                <a:cs typeface="Courier New"/>
              </a:rPr>
              <a:t>();</a:t>
            </a:r>
            <a:endParaRPr lang="en-US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8000"/>
                </a:solidFill>
                <a:latin typeface="Courier New"/>
                <a:cs typeface="Courier New"/>
              </a:rPr>
              <a:t>red</a:t>
            </a:r>
          </a:p>
          <a:p>
            <a:r>
              <a:rPr lang="en-US" dirty="0">
                <a:solidFill>
                  <a:srgbClr val="008000"/>
                </a:solidFill>
                <a:latin typeface="Courier New"/>
                <a:cs typeface="Courier New"/>
              </a:rPr>
              <a:t>test() is public function that invokes private one, so 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4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 What Will be Printed?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5232339" cy="4023360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/>
                <a:cs typeface="Courier New"/>
              </a:rPr>
              <a:t>class Shape {</a:t>
            </a:r>
          </a:p>
          <a:p>
            <a:r>
              <a:rPr lang="en-US" dirty="0">
                <a:latin typeface="Courier New"/>
                <a:cs typeface="Courier New"/>
              </a:rPr>
              <a:t> private:</a:t>
            </a:r>
          </a:p>
          <a:p>
            <a:r>
              <a:rPr lang="en-US" dirty="0">
                <a:latin typeface="Courier New"/>
                <a:cs typeface="Courier New"/>
              </a:rPr>
              <a:t>   string color;</a:t>
            </a:r>
          </a:p>
          <a:p>
            <a:r>
              <a:rPr lang="en-US" dirty="0">
                <a:latin typeface="Courier New"/>
                <a:cs typeface="Courier New"/>
              </a:rPr>
              <a:t> public:</a:t>
            </a:r>
          </a:p>
          <a:p>
            <a:r>
              <a:rPr lang="en-US" dirty="0">
                <a:latin typeface="Courier New"/>
                <a:cs typeface="Courier New"/>
              </a:rPr>
              <a:t>   Shape(string c) { color = c; }</a:t>
            </a:r>
            <a:endParaRPr lang="bg-BG" dirty="0">
              <a:latin typeface="Courier New"/>
              <a:cs typeface="Courier New"/>
            </a:endParaRPr>
          </a:p>
          <a:p>
            <a:r>
              <a:rPr lang="bg-BG" dirty="0">
                <a:latin typeface="Courier New"/>
                <a:cs typeface="Courier New"/>
              </a:rPr>
              <a:t>   void display() {</a:t>
            </a:r>
          </a:p>
          <a:p>
            <a:r>
              <a:rPr lang="bg-BG" dirty="0">
                <a:latin typeface="Courier New"/>
                <a:cs typeface="Courier New"/>
              </a:rPr>
              <a:t>      cout &lt;&lt; </a:t>
            </a:r>
            <a:r>
              <a:rPr lang="en-US" dirty="0">
                <a:latin typeface="Courier New"/>
                <a:cs typeface="Courier New"/>
              </a:rPr>
              <a:t>color;</a:t>
            </a:r>
          </a:p>
          <a:p>
            <a:r>
              <a:rPr lang="en-US" dirty="0">
                <a:latin typeface="Courier New"/>
                <a:cs typeface="Courier New"/>
              </a:rPr>
              <a:t>   </a:t>
            </a:r>
            <a:r>
              <a:rPr lang="bg-BG" dirty="0">
                <a:latin typeface="Courier New"/>
                <a:cs typeface="Courier New"/>
              </a:rPr>
              <a:t>}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742642" y="1845735"/>
            <a:ext cx="4553609" cy="4023360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/>
                <a:cs typeface="Courier New"/>
              </a:rPr>
              <a:t>class Circle : public Shape {</a:t>
            </a: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latin typeface="Courier New"/>
                <a:cs typeface="Courier New"/>
              </a:rPr>
              <a:t>Circle c;</a:t>
            </a:r>
          </a:p>
          <a:p>
            <a:r>
              <a:rPr lang="en-US" dirty="0" err="1">
                <a:latin typeface="Courier New"/>
                <a:cs typeface="Courier New"/>
              </a:rPr>
              <a:t>c.display</a:t>
            </a:r>
            <a:r>
              <a:rPr lang="en-US" dirty="0">
                <a:latin typeface="Courier New"/>
                <a:cs typeface="Courier New"/>
              </a:rPr>
              <a:t>();</a:t>
            </a:r>
          </a:p>
          <a:p>
            <a:endParaRPr lang="en-US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Error! No default constructor!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 What Will be Printed?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5232339" cy="4023360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/>
                <a:cs typeface="Courier New"/>
              </a:rPr>
              <a:t>class Shape {</a:t>
            </a:r>
          </a:p>
          <a:p>
            <a:r>
              <a:rPr lang="en-US" dirty="0">
                <a:latin typeface="Courier New"/>
                <a:cs typeface="Courier New"/>
              </a:rPr>
              <a:t> private:</a:t>
            </a:r>
          </a:p>
          <a:p>
            <a:r>
              <a:rPr lang="en-US" dirty="0">
                <a:latin typeface="Courier New"/>
                <a:cs typeface="Courier New"/>
              </a:rPr>
              <a:t>   string color;</a:t>
            </a:r>
          </a:p>
          <a:p>
            <a:r>
              <a:rPr lang="en-US" dirty="0">
                <a:latin typeface="Courier New"/>
                <a:cs typeface="Courier New"/>
              </a:rPr>
              <a:t> public:</a:t>
            </a:r>
          </a:p>
          <a:p>
            <a:r>
              <a:rPr lang="en-US" dirty="0">
                <a:latin typeface="Courier New"/>
                <a:cs typeface="Courier New"/>
              </a:rPr>
              <a:t>   Shape(string c) { color = c; }</a:t>
            </a:r>
            <a:endParaRPr lang="bg-BG" dirty="0">
              <a:latin typeface="Courier New"/>
              <a:cs typeface="Courier New"/>
            </a:endParaRPr>
          </a:p>
          <a:p>
            <a:r>
              <a:rPr lang="bg-BG" dirty="0">
                <a:latin typeface="Courier New"/>
                <a:cs typeface="Courier New"/>
              </a:rPr>
              <a:t>   void display() {</a:t>
            </a:r>
          </a:p>
          <a:p>
            <a:r>
              <a:rPr lang="bg-BG" dirty="0">
                <a:latin typeface="Courier New"/>
                <a:cs typeface="Courier New"/>
              </a:rPr>
              <a:t>      cout &lt;&lt; </a:t>
            </a:r>
            <a:r>
              <a:rPr lang="en-US" dirty="0">
                <a:latin typeface="Courier New"/>
                <a:cs typeface="Courier New"/>
              </a:rPr>
              <a:t>color;</a:t>
            </a:r>
          </a:p>
          <a:p>
            <a:r>
              <a:rPr lang="en-US" dirty="0">
                <a:latin typeface="Courier New"/>
                <a:cs typeface="Courier New"/>
              </a:rPr>
              <a:t>   </a:t>
            </a:r>
            <a:r>
              <a:rPr lang="bg-BG" dirty="0">
                <a:latin typeface="Courier New"/>
                <a:cs typeface="Courier New"/>
              </a:rPr>
              <a:t>}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742642" y="1845735"/>
            <a:ext cx="4574260" cy="4023360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/>
                <a:cs typeface="Courier New"/>
              </a:rPr>
              <a:t>class Circle : public Shape {</a:t>
            </a:r>
          </a:p>
          <a:p>
            <a:r>
              <a:rPr lang="en-US" dirty="0">
                <a:latin typeface="Courier New"/>
                <a:cs typeface="Courier New"/>
              </a:rPr>
              <a:t>public:</a:t>
            </a:r>
          </a:p>
          <a:p>
            <a:r>
              <a:rPr lang="en-US" dirty="0">
                <a:latin typeface="Courier New"/>
                <a:cs typeface="Courier New"/>
              </a:rPr>
              <a:t> Circle() : Shape(“green”) {}</a:t>
            </a: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latin typeface="Courier New"/>
                <a:cs typeface="Courier New"/>
              </a:rPr>
              <a:t>Circle c;</a:t>
            </a:r>
          </a:p>
          <a:p>
            <a:r>
              <a:rPr lang="en-US" dirty="0" err="1">
                <a:latin typeface="Courier New"/>
                <a:cs typeface="Courier New"/>
              </a:rPr>
              <a:t>c.display</a:t>
            </a:r>
            <a:r>
              <a:rPr lang="en-US" dirty="0">
                <a:latin typeface="Courier New"/>
                <a:cs typeface="Courier New"/>
              </a:rPr>
              <a:t>();</a:t>
            </a:r>
          </a:p>
          <a:p>
            <a:endParaRPr lang="en-US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r>
              <a:rPr lang="en-US" dirty="0">
                <a:solidFill>
                  <a:srgbClr val="008000"/>
                </a:solidFill>
                <a:latin typeface="Courier New"/>
                <a:cs typeface="Courier New"/>
              </a:rPr>
              <a:t>green</a:t>
            </a:r>
          </a:p>
          <a:p>
            <a:r>
              <a:rPr lang="en-US" dirty="0">
                <a:solidFill>
                  <a:srgbClr val="008000"/>
                </a:solidFill>
                <a:latin typeface="Courier New"/>
                <a:cs typeface="Courier New"/>
              </a:rPr>
              <a:t>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5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440296" cy="1450757"/>
          </a:xfrm>
        </p:spPr>
        <p:txBody>
          <a:bodyPr/>
          <a:lstStyle/>
          <a:p>
            <a:r>
              <a:rPr lang="en-US" dirty="0"/>
              <a:t>Object-oriented Principles – Polymorphism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Polymorphism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Having some code behave differently in various contexts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ability of a function to behave differently based on the object it is applied to, or its argument list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For example, a variable can reference objects of several different types (a base class type). When operations are applied on that variable, the operation appropriate to the referenced object is automatically selected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12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and Polymorphism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654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Inheritance allows the derivation of classes from a </a:t>
            </a:r>
            <a:r>
              <a:rPr lang="en-US" sz="3200" i="1" dirty="0"/>
              <a:t>base class</a:t>
            </a:r>
            <a:r>
              <a:rPr lang="en-US" sz="3200" dirty="0"/>
              <a:t> without disturbing the base class implementation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</a:t>
            </a:r>
            <a:r>
              <a:rPr lang="en-US" sz="3200" i="1" dirty="0"/>
              <a:t>derived class </a:t>
            </a:r>
            <a:r>
              <a:rPr lang="en-US" sz="3200" dirty="0"/>
              <a:t>is a completely new class that inherits the properties, public methods and implementations of the class from which it was derived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Therefore, a derived class is </a:t>
            </a:r>
            <a:r>
              <a:rPr lang="en-US" sz="3200" b="1" dirty="0"/>
              <a:t>type compatible </a:t>
            </a:r>
            <a:r>
              <a:rPr lang="en-US" sz="3200" dirty="0"/>
              <a:t>with its base class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14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and Polymorphism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654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have a variable reference objects of several different types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variable with a base class type can also store instances of classes that derive from that base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When operations are applied on that variable, the operation appropriate to the referenced object can be automatically selected at run time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This is known as </a:t>
            </a:r>
            <a:r>
              <a:rPr lang="en-US" sz="3200" b="1" dirty="0"/>
              <a:t>dynamic binding </a:t>
            </a:r>
            <a:r>
              <a:rPr lang="en-US" sz="3200" dirty="0"/>
              <a:t>and is not the default action in C++ - requires some additional code to enable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07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Class and Child Class Objects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520979" cy="443852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Consider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Vehicle</a:t>
            </a:r>
            <a:r>
              <a:rPr lang="en-US" sz="3200" dirty="0"/>
              <a:t>,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Car</a:t>
            </a:r>
            <a:r>
              <a:rPr lang="en-US" sz="3200" dirty="0"/>
              <a:t> and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Bus</a:t>
            </a:r>
            <a:r>
              <a:rPr lang="en-US" sz="3200" dirty="0"/>
              <a:t> classes from last time: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   Vehicle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veh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(1900, 5000,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   Car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car(2400, 6999,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"Mitsubishi"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veh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car;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OK – we can assign instance of a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             // child class to a base class object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car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veh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// ERROR: invalid assignment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90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Function Override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 panose="020B0609020204030204" pitchFamily="49" charset="0"/>
              </a:rPr>
              <a:t>Vehicle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::display()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"Volume: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volume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"Price: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price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"Color: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color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::display()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2B91AF"/>
                </a:solidFill>
                <a:latin typeface="Consolas" panose="020B0609020204030204" pitchFamily="49" charset="0"/>
              </a:rPr>
              <a:t>   Vehicle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"Model: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model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B91AF"/>
                </a:solidFill>
                <a:latin typeface="Consolas" panose="020B0609020204030204" pitchFamily="49" charset="0"/>
              </a:rPr>
              <a:t>Bus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::display()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2B91AF"/>
                </a:solidFill>
                <a:latin typeface="Consolas" panose="020B0609020204030204" pitchFamily="49" charset="0"/>
              </a:rPr>
              <a:t>   Vehicle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::display();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A31515"/>
                </a:solidFill>
                <a:latin typeface="Consolas" panose="020B0609020204030204" pitchFamily="49" charset="0"/>
              </a:rPr>
              <a:t>"Seats: "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seats </a:t>
            </a:r>
            <a:r>
              <a:rPr lang="en-US" sz="19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93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the result from the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Vehicle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veh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(1900, 5000,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car(2400, 6999,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"Mitsubishi"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veh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car;</a:t>
            </a: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veh.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car.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64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– Simple Scenario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520979" cy="443852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Vehicle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shop[3];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shop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Vehicle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(1900, 1000,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shop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Car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(2400, 6999,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”Mitsubishi"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shop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Bus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(6000, 9000,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"Orange"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49);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shop.size(); i++)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shop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]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-&gt;display();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2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763027" cy="1450757"/>
          </a:xfrm>
        </p:spPr>
        <p:txBody>
          <a:bodyPr/>
          <a:lstStyle/>
          <a:p>
            <a:r>
              <a:rPr lang="en-US" dirty="0"/>
              <a:t>Problem: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display()</a:t>
            </a:r>
            <a:r>
              <a:rPr lang="en-US" dirty="0"/>
              <a:t> on Base Class Called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79" y="1845733"/>
            <a:ext cx="10115203" cy="43937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Because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display()</a:t>
            </a:r>
            <a:r>
              <a:rPr lang="en-US" sz="3200" dirty="0"/>
              <a:t> method is called on an object of type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Vehicle</a:t>
            </a:r>
            <a:r>
              <a:rPr lang="en-US" sz="3200" dirty="0"/>
              <a:t>, the overridden methods of the real objects are not called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835" y="2981884"/>
            <a:ext cx="64484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86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Using Virtual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Vehicle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...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  virtual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display()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...</a:t>
            </a:r>
          </a:p>
          <a:p>
            <a:pPr marL="0" indent="0">
              <a:buNone/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2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Instance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display()</a:t>
            </a:r>
            <a:r>
              <a:rPr lang="en-US" dirty="0"/>
              <a:t> Called</a:t>
            </a:r>
            <a:endParaRPr lang="bg-B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950" y="2436813"/>
            <a:ext cx="6448425" cy="32575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85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7491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If a member function is declared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3200" dirty="0"/>
              <a:t>, dynamic binding is used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decision which function to use to resolve an overload is made at runtime (if it cannot be determined at compile time)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As a general rule, if a function is overridden in a derived class, it should be declared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sz="3200" dirty="0"/>
              <a:t> in the base class to ensure that the correct function is selected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However, a run-time decision is needed only when an object is accessed through a pointer or reference to a base class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97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Polymorphism Example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097279" y="1845733"/>
            <a:ext cx="4937760" cy="446541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the virtual keyword is needed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// for dynamic binding 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// polymorphism for that method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virtual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print()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"Person"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Employee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print()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cout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"Employee"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7073152" y="1845735"/>
            <a:ext cx="4082527" cy="44654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output(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   Person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per;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   Employee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output(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output(per);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6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Methods and Classes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309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 </a:t>
            </a:r>
            <a:r>
              <a:rPr lang="en-US" sz="3200" b="1" dirty="0"/>
              <a:t>abstract method </a:t>
            </a:r>
            <a:r>
              <a:rPr lang="en-US" sz="3200" dirty="0"/>
              <a:t>has no definition in the base class and has to be defined in a derived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 abstract method is also known as a pure virtual function in C++ and declared as: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area()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class that has at least one abstract method is called an </a:t>
            </a:r>
            <a:r>
              <a:rPr lang="en-US" sz="3200" b="1" dirty="0"/>
              <a:t>abstract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Abstract classes cannot be instantiated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62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E1EE2-1EE2-4E61-89F4-F46FDBC5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7EC2B-7CD4-4011-8E5A-00D1239001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 Shape 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string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bool filled;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Shape(string c, bool f);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0576B5-8C83-4F37-917B-0D48157A0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845735"/>
            <a:ext cx="5820201" cy="4023360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 Circle : public Shape 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double radius;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double PI = 3.14;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Circle(string c, bool f, double r);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F96D2-5E2B-4269-8737-A66C8F347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82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E13A-17B3-400D-A0B1-B33CFD68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12665-7C4B-4A9D-BA8E-74C4A84CD9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 Rectangle :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public Shape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double width, height;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Rectangle(string c, bool f, double w, double h);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4256F-0E0C-4B7C-A3F2-F2A2803F7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35039" y="1845735"/>
            <a:ext cx="5419542" cy="4023360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Shape* shapes[2]; </a:t>
            </a:r>
            <a:b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shapes[0] = new Circle("green", true, 10);</a:t>
            </a:r>
            <a:b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shapes[1] = new Rectangle("green", true, 10, 5);    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2; ++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shapes[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]-&gt;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getArea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   }</a:t>
            </a:r>
            <a:b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2; ++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{        delete shapes[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    }    </a:t>
            </a:r>
          </a:p>
          <a:p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0;}}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18F44-33DE-47B4-868B-85A78AF6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10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Member Function Types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207214" cy="44474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Nonvirtual functions </a:t>
            </a:r>
            <a:r>
              <a:rPr lang="en-US" sz="3200" dirty="0"/>
              <a:t>– overloading is resolved at compile time. Used when a method is never redefined in a derived 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Virtual functions </a:t>
            </a:r>
            <a:r>
              <a:rPr lang="en-US" sz="3200" dirty="0"/>
              <a:t>– overloading is resolved at run time. The base class provides a default implementation that can be overridden by subclasses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Pure virtual functions </a:t>
            </a:r>
            <a:r>
              <a:rPr lang="en-US" sz="3200" dirty="0"/>
              <a:t>– overloading is resolved at run time. The base class provides no implementation and requires that subclasses to either provide one, or be abstract themselves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198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of Those Are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class </a:t>
            </a:r>
            <a:r>
              <a:rPr lang="en-US" sz="2400" b="1" dirty="0"/>
              <a:t>Derived</a:t>
            </a:r>
            <a:r>
              <a:rPr lang="en-US" sz="2400" dirty="0"/>
              <a:t> inherits publicly the abstract class </a:t>
            </a:r>
            <a:r>
              <a:rPr lang="en-US" sz="2400" b="1" dirty="0"/>
              <a:t>Base</a:t>
            </a:r>
            <a:r>
              <a:rPr lang="en-US" sz="2400" dirty="0"/>
              <a:t>. Which of the following are valid:</a:t>
            </a:r>
            <a:endParaRPr lang="mr-IN" sz="2400" dirty="0"/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Base* b = new Derived(); </a:t>
            </a:r>
            <a:r>
              <a:rPr lang="en-US" sz="2400" dirty="0">
                <a:latin typeface="Courier New"/>
                <a:cs typeface="Courier New"/>
              </a:rPr>
              <a:t> // classic polymorphism</a:t>
            </a:r>
            <a:endParaRPr lang="mr-IN" sz="24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 Derived *d = new Base(); // cannot instantiate Base</a:t>
            </a: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 Derived *d = new Derived(); // normal behavior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Base* b = new Base();</a:t>
            </a:r>
            <a:r>
              <a:rPr lang="en-US" sz="2400" dirty="0">
                <a:latin typeface="Courier New"/>
                <a:cs typeface="Courier New"/>
              </a:rPr>
              <a:t>	// cannot instantiate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5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5D52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3001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5D52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30014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Displayed?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Courier New"/>
                <a:cs typeface="Courier New"/>
              </a:rPr>
              <a:t>class Character {</a:t>
            </a:r>
          </a:p>
          <a:p>
            <a:r>
              <a:rPr lang="en-US" dirty="0">
                <a:latin typeface="Courier New"/>
                <a:cs typeface="Courier New"/>
              </a:rPr>
              <a:t>public:</a:t>
            </a:r>
          </a:p>
          <a:p>
            <a:r>
              <a:rPr lang="en-US" dirty="0">
                <a:latin typeface="Courier New"/>
                <a:cs typeface="Courier New"/>
              </a:rPr>
              <a:t>void display() const {</a:t>
            </a:r>
          </a:p>
          <a:p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cout</a:t>
            </a:r>
            <a:r>
              <a:rPr lang="en-US" dirty="0">
                <a:latin typeface="Courier New"/>
                <a:cs typeface="Courier New"/>
              </a:rPr>
              <a:t> &lt;&lt; “Character" &lt;&lt; </a:t>
            </a:r>
            <a:r>
              <a:rPr lang="en-US" dirty="0" err="1">
                <a:latin typeface="Courier New"/>
                <a:cs typeface="Courier New"/>
              </a:rPr>
              <a:t>endl</a:t>
            </a:r>
            <a:r>
              <a:rPr lang="en-US" dirty="0">
                <a:latin typeface="Courier New"/>
                <a:cs typeface="Courier New"/>
              </a:rPr>
              <a:t>;</a:t>
            </a:r>
          </a:p>
          <a:p>
            <a:r>
              <a:rPr lang="en-US" dirty="0">
                <a:latin typeface="Courier New"/>
                <a:cs typeface="Courier New"/>
              </a:rPr>
              <a:t>}</a:t>
            </a:r>
          </a:p>
          <a:p>
            <a:r>
              <a:rPr lang="en-US" dirty="0"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sz="2300" b="1" dirty="0">
                <a:solidFill>
                  <a:srgbClr val="00B050"/>
                </a:solidFill>
                <a:latin typeface="Courier New"/>
                <a:cs typeface="Courier New"/>
              </a:rPr>
              <a:t>Character // static binding occurs</a:t>
            </a:r>
            <a:endParaRPr lang="en-US" b="1" dirty="0">
              <a:solidFill>
                <a:srgbClr val="00B050"/>
              </a:solidFill>
              <a:latin typeface="Courier New"/>
              <a:cs typeface="Courier New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Thor : public Character 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display() const 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"Thor"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Character* c = new Thor();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c-&gt;display();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4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Displayed?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 Book 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void display() 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"I am a book" &lt;&lt;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am book // not virtual in base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class Textbook : public Book 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virtual void display() 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"I am a textbook" &lt;&lt;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Book* book = new Textbook();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book-&gt;display();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7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Displayed?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Character 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virtual void display() const 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“Character"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 // different signatures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Thor : public Character 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void display(){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"Thor"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Character* c = new Thor();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c-&gt;display();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9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Displayed?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Character 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virtual void display() const 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“Character"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Thor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Thor : public Character 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void display() const{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"Thor"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Character* c = new Thor();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c-&gt;display();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4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2065</TotalTime>
  <Words>2654</Words>
  <Application>Microsoft Office PowerPoint</Application>
  <PresentationFormat>Widescreen</PresentationFormat>
  <Paragraphs>491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Calibri</vt:lpstr>
      <vt:lpstr>Calibri Light</vt:lpstr>
      <vt:lpstr>Consolas</vt:lpstr>
      <vt:lpstr>Courier New</vt:lpstr>
      <vt:lpstr>Wingdings</vt:lpstr>
      <vt:lpstr>Retrospect</vt:lpstr>
      <vt:lpstr>Inheritance</vt:lpstr>
      <vt:lpstr>Lecture Contents</vt:lpstr>
      <vt:lpstr>Dynamically Allocating Objects</vt:lpstr>
      <vt:lpstr>Using the -&gt; Operator</vt:lpstr>
      <vt:lpstr>Object-oriented Principles</vt:lpstr>
      <vt:lpstr>Object-oriented Principles – Inheritance</vt:lpstr>
      <vt:lpstr>Inheritance Hierarchies</vt:lpstr>
      <vt:lpstr>Inheritance Hierarchies (continued)</vt:lpstr>
      <vt:lpstr>Example: A Class Hierarchy</vt:lpstr>
      <vt:lpstr>Example: Another Class Hierarchy</vt:lpstr>
      <vt:lpstr>HAS-A Relationships</vt:lpstr>
      <vt:lpstr>Implementing Derived Classes</vt:lpstr>
      <vt:lpstr>Public Inheritance Visibility Rules</vt:lpstr>
      <vt:lpstr>Types of Inheritance</vt:lpstr>
      <vt:lpstr>Example: Inheritance in Action</vt:lpstr>
      <vt:lpstr>Calling the Base Class Constructor</vt:lpstr>
      <vt:lpstr>Overriding Member Functions</vt:lpstr>
      <vt:lpstr>Example: Partial Overriding</vt:lpstr>
      <vt:lpstr>Questions?</vt:lpstr>
      <vt:lpstr>Is This Correct? What Will be Printed?</vt:lpstr>
      <vt:lpstr>Is This Correct? What Will be Printed?</vt:lpstr>
      <vt:lpstr>Is This Correct? What Will be Printed?</vt:lpstr>
      <vt:lpstr>Is This Correct? What Will be Printed?</vt:lpstr>
      <vt:lpstr>Object-oriented Principles – Polymorphism</vt:lpstr>
      <vt:lpstr>Inheritance and Polymorphism</vt:lpstr>
      <vt:lpstr>Inheritance and Polymorphism (continued)</vt:lpstr>
      <vt:lpstr>Base Class and Child Class Objects</vt:lpstr>
      <vt:lpstr>Example: Function Override</vt:lpstr>
      <vt:lpstr>What will the result from the code?</vt:lpstr>
      <vt:lpstr>Polymorphism – Simple Scenario</vt:lpstr>
      <vt:lpstr>Problem: display() on Base Class Called</vt:lpstr>
      <vt:lpstr>Solution: Using Virtual Functions</vt:lpstr>
      <vt:lpstr>Correct Instance of display() Called</vt:lpstr>
      <vt:lpstr>Virtual Functions</vt:lpstr>
      <vt:lpstr>Another Polymorphism Example</vt:lpstr>
      <vt:lpstr>Abstract Methods and Classes</vt:lpstr>
      <vt:lpstr>Example</vt:lpstr>
      <vt:lpstr>Example (continued)</vt:lpstr>
      <vt:lpstr>Summary of Member Function Types</vt:lpstr>
      <vt:lpstr>Which of Those Are Correct?</vt:lpstr>
      <vt:lpstr>What Will be Displayed?</vt:lpstr>
      <vt:lpstr>What Will be Displayed?</vt:lpstr>
      <vt:lpstr>What Will be Displayed?</vt:lpstr>
      <vt:lpstr>What Will be Displayed?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692</cp:revision>
  <dcterms:created xsi:type="dcterms:W3CDTF">2016-08-30T09:20:13Z</dcterms:created>
  <dcterms:modified xsi:type="dcterms:W3CDTF">2025-11-22T11:49:23Z</dcterms:modified>
</cp:coreProperties>
</file>