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7" r:id="rId1"/>
  </p:sldMasterIdLst>
  <p:notesMasterIdLst>
    <p:notesMasterId r:id="rId52"/>
  </p:notesMasterIdLst>
  <p:sldIdLst>
    <p:sldId id="287" r:id="rId2"/>
    <p:sldId id="283" r:id="rId3"/>
    <p:sldId id="282" r:id="rId4"/>
    <p:sldId id="337" r:id="rId5"/>
    <p:sldId id="338" r:id="rId6"/>
    <p:sldId id="288" r:id="rId7"/>
    <p:sldId id="286" r:id="rId8"/>
    <p:sldId id="289" r:id="rId9"/>
    <p:sldId id="292" r:id="rId10"/>
    <p:sldId id="291" r:id="rId11"/>
    <p:sldId id="290" r:id="rId12"/>
    <p:sldId id="293" r:id="rId13"/>
    <p:sldId id="296" r:id="rId14"/>
    <p:sldId id="295" r:id="rId15"/>
    <p:sldId id="294" r:id="rId16"/>
    <p:sldId id="297" r:id="rId17"/>
    <p:sldId id="298" r:id="rId18"/>
    <p:sldId id="300" r:id="rId19"/>
    <p:sldId id="339" r:id="rId20"/>
    <p:sldId id="299" r:id="rId21"/>
    <p:sldId id="301" r:id="rId22"/>
    <p:sldId id="302" r:id="rId23"/>
    <p:sldId id="305" r:id="rId24"/>
    <p:sldId id="303" r:id="rId25"/>
    <p:sldId id="307" r:id="rId26"/>
    <p:sldId id="306" r:id="rId27"/>
    <p:sldId id="310" r:id="rId28"/>
    <p:sldId id="309" r:id="rId29"/>
    <p:sldId id="304" r:id="rId30"/>
    <p:sldId id="313" r:id="rId31"/>
    <p:sldId id="308" r:id="rId32"/>
    <p:sldId id="312" r:id="rId33"/>
    <p:sldId id="311" r:id="rId34"/>
    <p:sldId id="314" r:id="rId35"/>
    <p:sldId id="319" r:id="rId36"/>
    <p:sldId id="315" r:id="rId37"/>
    <p:sldId id="318" r:id="rId38"/>
    <p:sldId id="316" r:id="rId39"/>
    <p:sldId id="317" r:id="rId40"/>
    <p:sldId id="320" r:id="rId41"/>
    <p:sldId id="324" r:id="rId42"/>
    <p:sldId id="326" r:id="rId43"/>
    <p:sldId id="327" r:id="rId44"/>
    <p:sldId id="328" r:id="rId45"/>
    <p:sldId id="329" r:id="rId46"/>
    <p:sldId id="330" r:id="rId47"/>
    <p:sldId id="331" r:id="rId48"/>
    <p:sldId id="340" r:id="rId49"/>
    <p:sldId id="341" r:id="rId50"/>
    <p:sldId id="28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E4E9CB-4F15-4A8C-95E0-9DCB6BE3C17D}">
          <p14:sldIdLst>
            <p14:sldId id="287"/>
            <p14:sldId id="283"/>
            <p14:sldId id="282"/>
            <p14:sldId id="337"/>
            <p14:sldId id="338"/>
            <p14:sldId id="288"/>
            <p14:sldId id="286"/>
            <p14:sldId id="289"/>
            <p14:sldId id="292"/>
            <p14:sldId id="291"/>
            <p14:sldId id="290"/>
            <p14:sldId id="293"/>
            <p14:sldId id="296"/>
            <p14:sldId id="295"/>
            <p14:sldId id="294"/>
            <p14:sldId id="297"/>
            <p14:sldId id="298"/>
            <p14:sldId id="300"/>
            <p14:sldId id="339"/>
            <p14:sldId id="299"/>
            <p14:sldId id="301"/>
            <p14:sldId id="302"/>
            <p14:sldId id="305"/>
            <p14:sldId id="303"/>
            <p14:sldId id="307"/>
            <p14:sldId id="306"/>
            <p14:sldId id="310"/>
            <p14:sldId id="309"/>
            <p14:sldId id="304"/>
            <p14:sldId id="313"/>
            <p14:sldId id="308"/>
            <p14:sldId id="312"/>
            <p14:sldId id="311"/>
            <p14:sldId id="314"/>
            <p14:sldId id="319"/>
            <p14:sldId id="315"/>
            <p14:sldId id="318"/>
            <p14:sldId id="316"/>
            <p14:sldId id="317"/>
            <p14:sldId id="320"/>
            <p14:sldId id="324"/>
            <p14:sldId id="326"/>
            <p14:sldId id="327"/>
            <p14:sldId id="328"/>
            <p14:sldId id="329"/>
            <p14:sldId id="330"/>
            <p14:sldId id="331"/>
            <p14:sldId id="340"/>
            <p14:sldId id="341"/>
            <p14:sldId id="2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0" autoAdjust="0"/>
    <p:restoredTop sz="94694" autoAdjust="0"/>
  </p:normalViewPr>
  <p:slideViewPr>
    <p:cSldViewPr snapToGrid="0">
      <p:cViewPr varScale="1">
        <p:scale>
          <a:sx n="78" d="100"/>
          <a:sy n="78" d="100"/>
        </p:scale>
        <p:origin x="854" y="6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6" d="100"/>
          <a:sy n="86" d="100"/>
        </p:scale>
        <p:origin x="314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62BCD8-DC8B-4E4A-9B40-F477CC878439}" type="datetimeFigureOut">
              <a:rPr lang="en-US" smtClean="0"/>
              <a:t>8/24/2025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CAA3A9-E441-4BC6-80B0-357EE149B205}" type="slidenum">
              <a:rPr lang="en-US" smtClean="0"/>
              <a:t>‹#›</a:t>
            </a:fld>
            <a:endParaRPr lang="en-US"/>
          </a:p>
        </p:txBody>
      </p:sp>
    </p:spTree>
    <p:extLst>
      <p:ext uri="{BB962C8B-B14F-4D97-AF65-F5344CB8AC3E}">
        <p14:creationId xmlns:p14="http://schemas.microsoft.com/office/powerpoint/2010/main" val="2902663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G" dirty="0"/>
          </a:p>
        </p:txBody>
      </p:sp>
      <p:sp>
        <p:nvSpPr>
          <p:cNvPr id="4" name="Slide Number Placeholder 3"/>
          <p:cNvSpPr>
            <a:spLocks noGrp="1"/>
          </p:cNvSpPr>
          <p:nvPr>
            <p:ph type="sldNum" sz="quarter" idx="5"/>
          </p:nvPr>
        </p:nvSpPr>
        <p:spPr/>
        <p:txBody>
          <a:bodyPr/>
          <a:lstStyle/>
          <a:p>
            <a:fld id="{45CAA3A9-E441-4BC6-80B0-357EE149B205}" type="slidenum">
              <a:rPr lang="en-US" smtClean="0"/>
              <a:t>50</a:t>
            </a:fld>
            <a:endParaRPr lang="en-US"/>
          </a:p>
        </p:txBody>
      </p:sp>
    </p:spTree>
    <p:extLst>
      <p:ext uri="{BB962C8B-B14F-4D97-AF65-F5344CB8AC3E}">
        <p14:creationId xmlns:p14="http://schemas.microsoft.com/office/powerpoint/2010/main" val="3183055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EDF588-0E65-402C-A793-16E0D2ECAA48}"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78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3EE1C6-3CA3-41B1-A6D0-C44E4BC7ACC0}"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2106980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04C14B-91C6-4886-AADB-CB635E47760F}"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360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1507AF-1767-4BF4-A25A-D8AE47393577}" type="datetime1">
              <a:rPr lang="en-US" smtClean="0"/>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66308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75E320-A9F7-4C71-A5DC-9BB9B8110195}" type="datetime1">
              <a:rPr lang="en-US" smtClean="0"/>
              <a:t>8/24/2025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417127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66D098-881F-47B3-9FD2-4A7A0B87D037}" type="datetime1">
              <a:rPr lang="en-US" smtClean="0"/>
              <a:t>8/24/2025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427607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A9EB7B2-5A60-4FFD-A166-CE1849FA023E}" type="datetime1">
              <a:rPr lang="en-US" smtClean="0"/>
              <a:t>8/24/2025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3159546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8BCFAB1-EAD0-44BA-92C4-C758F81FD67F}" type="datetime1">
              <a:rPr lang="en-US" smtClean="0"/>
              <a:t>8/24/2025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3C20813-E79E-4637-B0DD-0EBBF6872E51}" type="slidenum">
              <a:rPr lang="en-US" smtClean="0"/>
              <a:t>‹#›</a:t>
            </a:fld>
            <a:endParaRPr lang="en-US"/>
          </a:p>
        </p:txBody>
      </p:sp>
    </p:spTree>
    <p:extLst>
      <p:ext uri="{BB962C8B-B14F-4D97-AF65-F5344CB8AC3E}">
        <p14:creationId xmlns:p14="http://schemas.microsoft.com/office/powerpoint/2010/main" val="344696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F87054-7BF2-4CC3-8073-237AEDCFE19E}" type="datetime1">
              <a:rPr lang="en-US" smtClean="0"/>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1916363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A8DACC-C1E5-44C5-9CEA-A1C49DFCD750}"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2384408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5412D7-194C-44A6-8DE3-810611688ABF}"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141008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580B9AF-E85D-4F9C-8FC5-BD16A590FCDC}" type="datetime1">
              <a:rPr lang="en-US" smtClean="0"/>
              <a:t>8/24/2025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3C20813-E79E-4637-B0DD-0EBBF6872E5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2788339"/>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Fundamental</a:t>
            </a:r>
            <a:br>
              <a:rPr lang="en-US" dirty="0"/>
            </a:br>
            <a:r>
              <a:rPr lang="en-US" dirty="0"/>
              <a:t>Data Types</a:t>
            </a:r>
            <a:endParaRPr lang="bg-BG" dirty="0"/>
          </a:p>
        </p:txBody>
      </p:sp>
      <p:sp>
        <p:nvSpPr>
          <p:cNvPr id="3" name="Subtitle 2"/>
          <p:cNvSpPr>
            <a:spLocks noGrp="1"/>
          </p:cNvSpPr>
          <p:nvPr>
            <p:ph type="subTitle" idx="1"/>
          </p:nvPr>
        </p:nvSpPr>
        <p:spPr>
          <a:xfrm>
            <a:off x="1100051" y="4455620"/>
            <a:ext cx="10058400" cy="1792780"/>
          </a:xfrm>
        </p:spPr>
        <p:txBody>
          <a:bodyPr>
            <a:normAutofit/>
          </a:bodyPr>
          <a:lstStyle/>
          <a:p>
            <a:r>
              <a:rPr lang="en-US" dirty="0"/>
              <a:t>COS 1020 C++ Programming</a:t>
            </a:r>
          </a:p>
          <a:p>
            <a:r>
              <a:rPr lang="en-US" dirty="0"/>
              <a:t>AUBG COS Department</a:t>
            </a:r>
          </a:p>
          <a:p>
            <a:r>
              <a:rPr lang="en-US" dirty="0"/>
              <a:t>Based on chapter 2 – problem solving, abstraction and design using C++, Friedman &amp; Koffman</a:t>
            </a:r>
            <a:endParaRPr lang="bg-BG" dirty="0"/>
          </a:p>
        </p:txBody>
      </p:sp>
      <p:sp>
        <p:nvSpPr>
          <p:cNvPr id="4" name="Slide Number Placeholder 3"/>
          <p:cNvSpPr>
            <a:spLocks noGrp="1"/>
          </p:cNvSpPr>
          <p:nvPr>
            <p:ph type="sldNum" sz="quarter" idx="12"/>
          </p:nvPr>
        </p:nvSpPr>
        <p:spPr/>
        <p:txBody>
          <a:bodyPr/>
          <a:lstStyle/>
          <a:p>
            <a:fld id="{43C20813-E79E-4637-B0DD-0EBBF6872E51}" type="slidenum">
              <a:rPr lang="en-US" smtClean="0"/>
              <a:t>1</a:t>
            </a:fld>
            <a:endParaRPr lang="en-US"/>
          </a:p>
        </p:txBody>
      </p:sp>
    </p:spTree>
    <p:extLst>
      <p:ext uri="{BB962C8B-B14F-4D97-AF65-F5344CB8AC3E}">
        <p14:creationId xmlns:p14="http://schemas.microsoft.com/office/powerpoint/2010/main" val="3777945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Contents</a:t>
            </a:r>
            <a:endParaRPr lang="bg-BG" dirty="0"/>
          </a:p>
        </p:txBody>
      </p:sp>
      <p:sp>
        <p:nvSpPr>
          <p:cNvPr id="3" name="Content Placeholder 2"/>
          <p:cNvSpPr>
            <a:spLocks noGrp="1"/>
          </p:cNvSpPr>
          <p:nvPr>
            <p:ph idx="1"/>
          </p:nvPr>
        </p:nvSpPr>
        <p:spPr>
          <a:xfrm>
            <a:off x="1097280" y="1845734"/>
            <a:ext cx="10058400" cy="4375772"/>
          </a:xfrm>
        </p:spPr>
        <p:txBody>
          <a:bodyPr>
            <a:normAutofit/>
          </a:bodyPr>
          <a:lstStyle/>
          <a:p>
            <a:r>
              <a:rPr lang="en-US" sz="3200" dirty="0"/>
              <a:t>2.1 C++ Language Elements</a:t>
            </a:r>
          </a:p>
          <a:p>
            <a:r>
              <a:rPr lang="en-US" sz="3200" dirty="0"/>
              <a:t>2.2 Reserved Words and Identifiers</a:t>
            </a:r>
          </a:p>
          <a:p>
            <a:r>
              <a:rPr lang="en-US" sz="3200" dirty="0"/>
              <a:t>2.3 Data Types</a:t>
            </a:r>
          </a:p>
          <a:p>
            <a:r>
              <a:rPr lang="en-US" sz="3200" dirty="0"/>
              <a:t>2.4 Executable Statements</a:t>
            </a:r>
          </a:p>
          <a:p>
            <a:r>
              <a:rPr lang="en-US" sz="3200" dirty="0"/>
              <a:t>2.5 Program Style</a:t>
            </a:r>
          </a:p>
          <a:p>
            <a:r>
              <a:rPr lang="en-US" sz="3200" dirty="0"/>
              <a:t>2.6 Arithmetic Expressions</a:t>
            </a:r>
          </a:p>
          <a:p>
            <a:r>
              <a:rPr lang="en-US" altLang="bg-BG" sz="3200" dirty="0"/>
              <a:t>2.7 Common Programming Errors</a:t>
            </a:r>
          </a:p>
        </p:txBody>
      </p:sp>
      <p:sp>
        <p:nvSpPr>
          <p:cNvPr id="4" name="Slide Number Placeholder 3"/>
          <p:cNvSpPr>
            <a:spLocks noGrp="1"/>
          </p:cNvSpPr>
          <p:nvPr>
            <p:ph type="sldNum" sz="quarter" idx="12"/>
          </p:nvPr>
        </p:nvSpPr>
        <p:spPr/>
        <p:txBody>
          <a:bodyPr/>
          <a:lstStyle/>
          <a:p>
            <a:fld id="{43C20813-E79E-4637-B0DD-0EBBF6872E51}" type="slidenum">
              <a:rPr lang="en-US" smtClean="0"/>
              <a:t>2</a:t>
            </a:fld>
            <a:endParaRPr lang="en-US"/>
          </a:p>
        </p:txBody>
      </p:sp>
    </p:spTree>
    <p:extLst>
      <p:ext uri="{BB962C8B-B14F-4D97-AF65-F5344CB8AC3E}">
        <p14:creationId xmlns:p14="http://schemas.microsoft.com/office/powerpoint/2010/main" val="1785594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Comments</a:t>
            </a:r>
            <a:endParaRPr lang="bg-BG" dirty="0"/>
          </a:p>
        </p:txBody>
      </p:sp>
      <p:sp>
        <p:nvSpPr>
          <p:cNvPr id="3" name="Content Placeholder 2"/>
          <p:cNvSpPr>
            <a:spLocks noGrp="1"/>
          </p:cNvSpPr>
          <p:nvPr>
            <p:ph idx="1"/>
          </p:nvPr>
        </p:nvSpPr>
        <p:spPr>
          <a:xfrm>
            <a:off x="1097280" y="1845733"/>
            <a:ext cx="10058400" cy="4393702"/>
          </a:xfrm>
        </p:spPr>
        <p:txBody>
          <a:bodyPr>
            <a:normAutofit/>
          </a:bodyPr>
          <a:lstStyle/>
          <a:p>
            <a:pPr>
              <a:buFont typeface="Wingdings" panose="05000000000000000000" pitchFamily="2" charset="2"/>
              <a:buChar char="§"/>
            </a:pPr>
            <a:r>
              <a:rPr lang="en-US" sz="3200" dirty="0"/>
              <a:t>Parts of the program that make it more understandable to the human reader, but are ignored by the compiler:</a:t>
            </a:r>
          </a:p>
          <a:p>
            <a:pPr lvl="1">
              <a:buFont typeface="Wingdings" panose="05000000000000000000" pitchFamily="2" charset="2"/>
              <a:buChar char="§"/>
            </a:pPr>
            <a:r>
              <a:rPr lang="en-US" sz="3000" dirty="0"/>
              <a:t>Describe the purpose of the program</a:t>
            </a:r>
          </a:p>
          <a:p>
            <a:pPr lvl="1">
              <a:buFont typeface="Wingdings" panose="05000000000000000000" pitchFamily="2" charset="2"/>
              <a:buChar char="§"/>
            </a:pPr>
            <a:r>
              <a:rPr lang="en-US" sz="3000" dirty="0"/>
              <a:t>Show the name of the author</a:t>
            </a:r>
          </a:p>
          <a:p>
            <a:pPr>
              <a:buFont typeface="Wingdings" panose="05000000000000000000" pitchFamily="2" charset="2"/>
              <a:buChar char="§"/>
            </a:pPr>
            <a:r>
              <a:rPr lang="bg-BG" sz="3200" b="1" dirty="0">
                <a:solidFill>
                  <a:srgbClr val="008000"/>
                </a:solidFill>
                <a:latin typeface="Consolas" panose="020B0609020204030204" pitchFamily="49" charset="0"/>
              </a:rPr>
              <a:t>//</a:t>
            </a:r>
            <a:r>
              <a:rPr lang="en-US" sz="3200" dirty="0"/>
              <a:t> symbols indicate a line comment – apply to just the rest of the line</a:t>
            </a:r>
          </a:p>
          <a:p>
            <a:pPr>
              <a:buFont typeface="Wingdings" panose="05000000000000000000" pitchFamily="2" charset="2"/>
              <a:buChar char="§"/>
            </a:pPr>
            <a:r>
              <a:rPr lang="en-US" sz="3200" dirty="0"/>
              <a:t>Block comments start with </a:t>
            </a:r>
            <a:r>
              <a:rPr lang="bg-BG" sz="3200" b="1" dirty="0">
                <a:solidFill>
                  <a:srgbClr val="008000"/>
                </a:solidFill>
                <a:latin typeface="Consolas" panose="020B0609020204030204" pitchFamily="49" charset="0"/>
              </a:rPr>
              <a:t>/*</a:t>
            </a:r>
            <a:r>
              <a:rPr lang="en-US" sz="3200" dirty="0"/>
              <a:t> and end with </a:t>
            </a:r>
            <a:r>
              <a:rPr lang="bg-BG" sz="3200" b="1" dirty="0">
                <a:solidFill>
                  <a:srgbClr val="008000"/>
                </a:solidFill>
                <a:latin typeface="Consolas" panose="020B0609020204030204" pitchFamily="49" charset="0"/>
              </a:rPr>
              <a:t>*/</a:t>
            </a:r>
            <a:r>
              <a:rPr lang="en-US" sz="3200" dirty="0"/>
              <a:t> – can span on multiple lines</a:t>
            </a:r>
            <a:endParaRPr lang="bg-BG" sz="3200" dirty="0"/>
          </a:p>
        </p:txBody>
      </p:sp>
      <p:sp>
        <p:nvSpPr>
          <p:cNvPr id="4" name="Slide Number Placeholder 3"/>
          <p:cNvSpPr>
            <a:spLocks noGrp="1"/>
          </p:cNvSpPr>
          <p:nvPr>
            <p:ph type="sldNum" sz="quarter" idx="12"/>
          </p:nvPr>
        </p:nvSpPr>
        <p:spPr/>
        <p:txBody>
          <a:bodyPr/>
          <a:lstStyle/>
          <a:p>
            <a:fld id="{43C20813-E79E-4637-B0DD-0EBBF6872E51}" type="slidenum">
              <a:rPr lang="en-US" smtClean="0"/>
              <a:t>3</a:t>
            </a:fld>
            <a:endParaRPr lang="en-US"/>
          </a:p>
        </p:txBody>
      </p:sp>
    </p:spTree>
    <p:extLst>
      <p:ext uri="{BB962C8B-B14F-4D97-AF65-F5344CB8AC3E}">
        <p14:creationId xmlns:p14="http://schemas.microsoft.com/office/powerpoint/2010/main" val="884647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 Examples</a:t>
            </a:r>
            <a:endParaRPr lang="bg-BG" dirty="0"/>
          </a:p>
        </p:txBody>
      </p:sp>
      <p:sp>
        <p:nvSpPr>
          <p:cNvPr id="3" name="Content Placeholder 2"/>
          <p:cNvSpPr>
            <a:spLocks noGrp="1"/>
          </p:cNvSpPr>
          <p:nvPr>
            <p:ph idx="1"/>
          </p:nvPr>
        </p:nvSpPr>
        <p:spPr>
          <a:xfrm>
            <a:off x="1097280" y="1845733"/>
            <a:ext cx="10058400" cy="4456455"/>
          </a:xfrm>
        </p:spPr>
        <p:txBody>
          <a:bodyPr>
            <a:noAutofit/>
          </a:bodyPr>
          <a:lstStyle/>
          <a:p>
            <a:pPr marL="0" indent="0">
              <a:lnSpc>
                <a:spcPct val="100000"/>
              </a:lnSpc>
              <a:spcBef>
                <a:spcPts val="0"/>
              </a:spcBef>
              <a:spcAft>
                <a:spcPts val="0"/>
              </a:spcAft>
              <a:buNone/>
            </a:pPr>
            <a:r>
              <a:rPr lang="en-US" sz="2400" dirty="0">
                <a:solidFill>
                  <a:srgbClr val="008000"/>
                </a:solidFill>
                <a:latin typeface="Consolas" panose="020B0609020204030204" pitchFamily="49" charset="0"/>
              </a:rPr>
              <a:t>// declaring a variable and initializing it to 5</a:t>
            </a:r>
            <a:endParaRPr lang="en-US" sz="2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a = 5;</a:t>
            </a:r>
          </a:p>
          <a:p>
            <a:pPr marL="0" indent="0">
              <a:lnSpc>
                <a:spcPct val="100000"/>
              </a:lnSpc>
              <a:spcBef>
                <a:spcPts val="0"/>
              </a:spcBef>
              <a:spcAft>
                <a:spcPts val="0"/>
              </a:spcAft>
              <a:buNone/>
            </a:pPr>
            <a:endParaRPr lang="bg-BG" sz="2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2400" dirty="0">
                <a:solidFill>
                  <a:srgbClr val="000000"/>
                </a:solidFill>
                <a:latin typeface="Consolas" panose="020B0609020204030204" pitchFamily="49" charset="0"/>
              </a:rPr>
              <a:t>a = 15;   </a:t>
            </a:r>
            <a:r>
              <a:rPr lang="en-US" sz="2400" dirty="0">
                <a:solidFill>
                  <a:srgbClr val="008000"/>
                </a:solidFill>
                <a:latin typeface="Consolas" panose="020B0609020204030204" pitchFamily="49" charset="0"/>
              </a:rPr>
              <a:t>// updating the value of a</a:t>
            </a:r>
            <a:endParaRPr lang="en-US" sz="2400" dirty="0">
              <a:solidFill>
                <a:srgbClr val="000000"/>
              </a:solidFill>
              <a:latin typeface="Consolas" panose="020B0609020204030204" pitchFamily="49" charset="0"/>
            </a:endParaRPr>
          </a:p>
          <a:p>
            <a:pPr marL="0" indent="0">
              <a:lnSpc>
                <a:spcPct val="100000"/>
              </a:lnSpc>
              <a:spcBef>
                <a:spcPts val="0"/>
              </a:spcBef>
              <a:spcAft>
                <a:spcPts val="0"/>
              </a:spcAft>
              <a:buNone/>
            </a:pPr>
            <a:endParaRPr lang="bg-BG" sz="2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2400" dirty="0">
                <a:solidFill>
                  <a:srgbClr val="008000"/>
                </a:solidFill>
                <a:latin typeface="Consolas" panose="020B0609020204030204" pitchFamily="49" charset="0"/>
              </a:rPr>
              <a:t>/* the next statement outputs</a:t>
            </a:r>
            <a:endParaRPr lang="en-US" sz="2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2400" dirty="0">
                <a:solidFill>
                  <a:srgbClr val="008000"/>
                </a:solidFill>
                <a:latin typeface="Consolas" panose="020B0609020204030204" pitchFamily="49" charset="0"/>
              </a:rPr>
              <a:t>the value of a to the standard</a:t>
            </a:r>
            <a:endParaRPr lang="en-US" sz="2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2400" dirty="0">
                <a:solidFill>
                  <a:srgbClr val="008000"/>
                </a:solidFill>
                <a:latin typeface="Consolas" panose="020B0609020204030204" pitchFamily="49" charset="0"/>
              </a:rPr>
              <a:t>output device – i.e. the monitor */</a:t>
            </a:r>
            <a:endParaRPr lang="en-US" sz="2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2400" dirty="0">
                <a:solidFill>
                  <a:srgbClr val="000000"/>
                </a:solidFill>
                <a:latin typeface="Consolas" panose="020B0609020204030204" pitchFamily="49" charset="0"/>
              </a:rPr>
              <a:t>cout </a:t>
            </a:r>
            <a:r>
              <a:rPr lang="en-US" sz="2400" dirty="0">
                <a:solidFill>
                  <a:srgbClr val="008080"/>
                </a:solidFill>
                <a:latin typeface="Consolas" panose="020B0609020204030204" pitchFamily="49" charset="0"/>
              </a:rPr>
              <a:t>&lt;&lt;</a:t>
            </a:r>
            <a:r>
              <a:rPr lang="en-US" sz="2400" dirty="0">
                <a:solidFill>
                  <a:srgbClr val="000000"/>
                </a:solidFill>
                <a:latin typeface="Consolas" panose="020B0609020204030204" pitchFamily="49" charset="0"/>
              </a:rPr>
              <a:t> a </a:t>
            </a:r>
            <a:r>
              <a:rPr lang="en-US" sz="2400" dirty="0">
                <a:solidFill>
                  <a:srgbClr val="008080"/>
                </a:solidFill>
                <a:latin typeface="Consolas" panose="020B0609020204030204" pitchFamily="49" charset="0"/>
              </a:rPr>
              <a:t>&lt;&lt;</a:t>
            </a:r>
            <a:r>
              <a:rPr lang="en-US" sz="2400" dirty="0">
                <a:solidFill>
                  <a:srgbClr val="000000"/>
                </a:solidFill>
                <a:latin typeface="Consolas" panose="020B0609020204030204" pitchFamily="49" charset="0"/>
              </a:rPr>
              <a:t> endl;</a:t>
            </a:r>
          </a:p>
          <a:p>
            <a:pPr marL="0" indent="0">
              <a:lnSpc>
                <a:spcPct val="100000"/>
              </a:lnSpc>
              <a:spcBef>
                <a:spcPts val="0"/>
              </a:spcBef>
              <a:spcAft>
                <a:spcPts val="0"/>
              </a:spcAft>
              <a:buNone/>
            </a:pPr>
            <a:endParaRPr lang="bg-BG" sz="2400" dirty="0">
              <a:solidFill>
                <a:srgbClr val="000000"/>
              </a:solidFill>
              <a:latin typeface="Consolas" panose="020B0609020204030204" pitchFamily="49" charset="0"/>
            </a:endParaRPr>
          </a:p>
          <a:p>
            <a:pPr marL="0" indent="0">
              <a:lnSpc>
                <a:spcPct val="100000"/>
              </a:lnSpc>
              <a:spcBef>
                <a:spcPts val="0"/>
              </a:spcBef>
              <a:spcAft>
                <a:spcPts val="0"/>
              </a:spcAft>
              <a:buNone/>
            </a:pPr>
            <a:r>
              <a:rPr lang="bg-BG" sz="2400" dirty="0">
                <a:solidFill>
                  <a:srgbClr val="008000"/>
                </a:solidFill>
                <a:latin typeface="Consolas" panose="020B0609020204030204" pitchFamily="49" charset="0"/>
              </a:rPr>
              <a:t>/**********************/</a:t>
            </a:r>
            <a:endParaRPr lang="bg-BG" sz="2400" dirty="0">
              <a:solidFill>
                <a:srgbClr val="000000"/>
              </a:solidFill>
              <a:latin typeface="Consolas" panose="020B0609020204030204" pitchFamily="49" charset="0"/>
            </a:endParaRPr>
          </a:p>
          <a:p>
            <a:pPr marL="0" indent="0">
              <a:lnSpc>
                <a:spcPct val="100000"/>
              </a:lnSpc>
              <a:spcBef>
                <a:spcPts val="0"/>
              </a:spcBef>
              <a:spcAft>
                <a:spcPts val="0"/>
              </a:spcAft>
              <a:buNone/>
            </a:pPr>
            <a:r>
              <a:rPr lang="bg-BG" sz="2400" dirty="0">
                <a:solidFill>
                  <a:srgbClr val="008000"/>
                </a:solidFill>
                <a:latin typeface="Consolas" panose="020B0609020204030204" pitchFamily="49" charset="0"/>
              </a:rPr>
              <a:t>//**********************</a:t>
            </a:r>
            <a:endParaRPr lang="bg-BG" sz="24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4</a:t>
            </a:fld>
            <a:endParaRPr lang="en-US"/>
          </a:p>
        </p:txBody>
      </p:sp>
    </p:spTree>
    <p:extLst>
      <p:ext uri="{BB962C8B-B14F-4D97-AF65-F5344CB8AC3E}">
        <p14:creationId xmlns:p14="http://schemas.microsoft.com/office/powerpoint/2010/main" val="1582116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476155" cy="1450757"/>
          </a:xfrm>
        </p:spPr>
        <p:txBody>
          <a:bodyPr/>
          <a:lstStyle/>
          <a:p>
            <a:r>
              <a:rPr lang="en-US" dirty="0"/>
              <a:t>Listing 2.1: Converting Miles to Kilometers</a:t>
            </a:r>
            <a:endParaRPr lang="bg-BG" dirty="0"/>
          </a:p>
        </p:txBody>
      </p:sp>
      <p:sp>
        <p:nvSpPr>
          <p:cNvPr id="3" name="Content Placeholder 2"/>
          <p:cNvSpPr>
            <a:spLocks noGrp="1"/>
          </p:cNvSpPr>
          <p:nvPr>
            <p:ph idx="1"/>
          </p:nvPr>
        </p:nvSpPr>
        <p:spPr>
          <a:xfrm>
            <a:off x="1097280" y="1818838"/>
            <a:ext cx="10058400" cy="4465419"/>
          </a:xfrm>
        </p:spPr>
        <p:txBody>
          <a:bodyPr>
            <a:noAutofit/>
          </a:bodyPr>
          <a:lstStyle/>
          <a:p>
            <a:pPr marL="0" indent="0">
              <a:lnSpc>
                <a:spcPct val="100000"/>
              </a:lnSpc>
              <a:spcBef>
                <a:spcPts val="0"/>
              </a:spcBef>
              <a:spcAft>
                <a:spcPts val="0"/>
              </a:spcAft>
              <a:buNone/>
            </a:pPr>
            <a:r>
              <a:rPr lang="en-US" sz="1400" dirty="0">
                <a:solidFill>
                  <a:srgbClr val="808080"/>
                </a:solidFill>
                <a:latin typeface="Consolas" panose="020B0609020204030204" pitchFamily="49" charset="0"/>
              </a:rPr>
              <a:t>#include</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&lt;</a:t>
            </a:r>
            <a:r>
              <a:rPr lang="en-US" sz="1400" dirty="0" err="1">
                <a:solidFill>
                  <a:srgbClr val="A31515"/>
                </a:solidFill>
                <a:latin typeface="Consolas" panose="020B0609020204030204" pitchFamily="49" charset="0"/>
              </a:rPr>
              <a:t>iostream</a:t>
            </a:r>
            <a:r>
              <a:rPr lang="en-US" sz="1400" dirty="0">
                <a:solidFill>
                  <a:srgbClr val="A31515"/>
                </a:solidFill>
                <a:latin typeface="Consolas" panose="020B0609020204030204" pitchFamily="49" charset="0"/>
              </a:rPr>
              <a:t>&gt;</a:t>
            </a:r>
            <a:endParaRPr lang="en-US"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00FF"/>
                </a:solidFill>
                <a:latin typeface="Consolas" panose="020B0609020204030204" pitchFamily="49" charset="0"/>
              </a:rPr>
              <a:t>using</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namespace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std</a:t>
            </a:r>
            <a:r>
              <a:rPr lang="en-US" sz="1400" dirty="0">
                <a:solidFill>
                  <a:srgbClr val="000000"/>
                </a:solidFill>
                <a:latin typeface="Consolas" panose="020B0609020204030204" pitchFamily="49" charset="0"/>
              </a:rPr>
              <a:t>;</a:t>
            </a:r>
          </a:p>
          <a:p>
            <a:pPr marL="0" indent="0">
              <a:lnSpc>
                <a:spcPct val="100000"/>
              </a:lnSpc>
              <a:spcBef>
                <a:spcPts val="0"/>
              </a:spcBef>
              <a:spcAft>
                <a:spcPts val="0"/>
              </a:spcAft>
              <a:buNone/>
            </a:pPr>
            <a:endParaRPr lang="bg-BG"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main()        </a:t>
            </a:r>
            <a:r>
              <a:rPr lang="en-US" sz="1400" dirty="0">
                <a:solidFill>
                  <a:srgbClr val="008000"/>
                </a:solidFill>
                <a:latin typeface="Consolas" panose="020B0609020204030204" pitchFamily="49" charset="0"/>
              </a:rPr>
              <a:t>// Start of main function</a:t>
            </a:r>
            <a:endParaRPr lang="en-US"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bg-BG" sz="14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400" dirty="0">
                <a:solidFill>
                  <a:srgbClr val="0000FF"/>
                </a:solidFill>
                <a:latin typeface="Consolas" panose="020B0609020204030204" pitchFamily="49" charset="0"/>
              </a:rPr>
              <a:t>    const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float</a:t>
            </a:r>
            <a:r>
              <a:rPr lang="en-US" sz="1400" dirty="0">
                <a:solidFill>
                  <a:srgbClr val="000000"/>
                </a:solidFill>
                <a:latin typeface="Consolas" panose="020B0609020204030204" pitchFamily="49" charset="0"/>
              </a:rPr>
              <a:t> KM_PER_MILE = 1.609;    </a:t>
            </a:r>
            <a:r>
              <a:rPr lang="en-US" sz="1400" dirty="0">
                <a:solidFill>
                  <a:srgbClr val="008000"/>
                </a:solidFill>
                <a:latin typeface="Consolas" panose="020B0609020204030204" pitchFamily="49" charset="0"/>
              </a:rPr>
              <a:t>// 1.609 kilometers in a mile</a:t>
            </a:r>
            <a:endParaRPr lang="en-US"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00FF"/>
                </a:solidFill>
                <a:latin typeface="Consolas" panose="020B0609020204030204" pitchFamily="49" charset="0"/>
              </a:rPr>
              <a:t>    float</a:t>
            </a:r>
            <a:r>
              <a:rPr lang="en-US" sz="1400" dirty="0">
                <a:solidFill>
                  <a:srgbClr val="000000"/>
                </a:solidFill>
                <a:latin typeface="Consolas" panose="020B0609020204030204" pitchFamily="49" charset="0"/>
              </a:rPr>
              <a:t> miles, </a:t>
            </a:r>
            <a:r>
              <a:rPr lang="en-US" sz="1400" dirty="0" err="1">
                <a:solidFill>
                  <a:srgbClr val="000000"/>
                </a:solidFill>
                <a:latin typeface="Consolas" panose="020B0609020204030204" pitchFamily="49" charset="0"/>
              </a:rPr>
              <a:t>kms</a:t>
            </a:r>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input: miles, output: </a:t>
            </a:r>
            <a:r>
              <a:rPr lang="en-US" sz="1400" dirty="0" err="1">
                <a:solidFill>
                  <a:srgbClr val="008000"/>
                </a:solidFill>
                <a:latin typeface="Consolas" panose="020B0609020204030204" pitchFamily="49" charset="0"/>
              </a:rPr>
              <a:t>kms</a:t>
            </a:r>
            <a:endParaRPr lang="en-US" sz="1400" dirty="0">
              <a:solidFill>
                <a:srgbClr val="000000"/>
              </a:solidFill>
              <a:latin typeface="Consolas" panose="020B0609020204030204" pitchFamily="49" charset="0"/>
            </a:endParaRPr>
          </a:p>
          <a:p>
            <a:pPr marL="0" indent="0">
              <a:lnSpc>
                <a:spcPct val="100000"/>
              </a:lnSpc>
              <a:spcBef>
                <a:spcPts val="0"/>
              </a:spcBef>
              <a:spcAft>
                <a:spcPts val="0"/>
              </a:spcAft>
              <a:buNone/>
            </a:pPr>
            <a:endParaRPr lang="bg-BG"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8000"/>
                </a:solidFill>
                <a:latin typeface="Consolas" panose="020B0609020204030204" pitchFamily="49" charset="0"/>
              </a:rPr>
              <a:t>    // Get the distance in miles</a:t>
            </a:r>
            <a:endParaRPr lang="en-US"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0000"/>
                </a:solidFill>
                <a:latin typeface="Consolas" panose="020B0609020204030204" pitchFamily="49" charset="0"/>
              </a:rPr>
              <a:t>    cout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"Enter the distance in miles: "</a:t>
            </a:r>
            <a:r>
              <a:rPr lang="en-US" sz="14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1400" dirty="0">
                <a:solidFill>
                  <a:srgbClr val="000000"/>
                </a:solidFill>
                <a:latin typeface="Consolas" panose="020B0609020204030204" pitchFamily="49" charset="0"/>
              </a:rPr>
              <a:t>    cin </a:t>
            </a:r>
            <a:r>
              <a:rPr lang="en-US" sz="1400" dirty="0">
                <a:solidFill>
                  <a:srgbClr val="008080"/>
                </a:solidFill>
                <a:latin typeface="Consolas" panose="020B0609020204030204" pitchFamily="49" charset="0"/>
              </a:rPr>
              <a:t>&gt;&gt;</a:t>
            </a:r>
            <a:r>
              <a:rPr lang="en-US" sz="1400" dirty="0">
                <a:solidFill>
                  <a:srgbClr val="000000"/>
                </a:solidFill>
                <a:latin typeface="Consolas" panose="020B0609020204030204" pitchFamily="49" charset="0"/>
              </a:rPr>
              <a:t> miles;</a:t>
            </a:r>
          </a:p>
          <a:p>
            <a:pPr marL="0" indent="0">
              <a:lnSpc>
                <a:spcPct val="100000"/>
              </a:lnSpc>
              <a:spcBef>
                <a:spcPts val="0"/>
              </a:spcBef>
              <a:spcAft>
                <a:spcPts val="0"/>
              </a:spcAft>
              <a:buNone/>
            </a:pPr>
            <a:endParaRPr lang="bg-BG"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8000"/>
                </a:solidFill>
                <a:latin typeface="Consolas" panose="020B0609020204030204" pitchFamily="49" charset="0"/>
              </a:rPr>
              <a:t>    // Convert the distance to kilometers</a:t>
            </a:r>
            <a:endParaRPr lang="en-US"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kms</a:t>
            </a:r>
            <a:r>
              <a:rPr lang="en-US" sz="1400" dirty="0">
                <a:solidFill>
                  <a:srgbClr val="000000"/>
                </a:solidFill>
                <a:latin typeface="Consolas" panose="020B0609020204030204" pitchFamily="49" charset="0"/>
              </a:rPr>
              <a:t> = KM_PER_MILE * miles;</a:t>
            </a:r>
          </a:p>
          <a:p>
            <a:pPr marL="0" indent="0">
              <a:lnSpc>
                <a:spcPct val="100000"/>
              </a:lnSpc>
              <a:spcBef>
                <a:spcPts val="0"/>
              </a:spcBef>
              <a:spcAft>
                <a:spcPts val="0"/>
              </a:spcAft>
              <a:buNone/>
            </a:pPr>
            <a:endParaRPr lang="bg-BG"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8000"/>
                </a:solidFill>
                <a:latin typeface="Consolas" panose="020B0609020204030204" pitchFamily="49" charset="0"/>
              </a:rPr>
              <a:t>    // Display the distance in kilometers</a:t>
            </a:r>
            <a:endParaRPr lang="en-US"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0000"/>
                </a:solidFill>
                <a:latin typeface="Consolas" panose="020B0609020204030204" pitchFamily="49" charset="0"/>
              </a:rPr>
              <a:t>    cout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"The distance in kilometers is "</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kms</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endl;</a:t>
            </a:r>
          </a:p>
          <a:p>
            <a:pPr marL="0" indent="0">
              <a:lnSpc>
                <a:spcPct val="100000"/>
              </a:lnSpc>
              <a:spcBef>
                <a:spcPts val="0"/>
              </a:spcBef>
              <a:spcAft>
                <a:spcPts val="0"/>
              </a:spcAft>
              <a:buNone/>
            </a:pPr>
            <a:endParaRPr lang="bg-BG"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00FF"/>
                </a:solidFill>
                <a:latin typeface="Consolas" panose="020B0609020204030204" pitchFamily="49" charset="0"/>
              </a:rPr>
              <a:t>    return</a:t>
            </a:r>
            <a:r>
              <a:rPr lang="en-US" sz="1400" dirty="0">
                <a:solidFill>
                  <a:srgbClr val="000000"/>
                </a:solidFill>
                <a:latin typeface="Consolas" panose="020B0609020204030204" pitchFamily="49" charset="0"/>
              </a:rPr>
              <a:t> 0;    </a:t>
            </a:r>
            <a:r>
              <a:rPr lang="en-US" sz="1400" dirty="0">
                <a:solidFill>
                  <a:srgbClr val="008000"/>
                </a:solidFill>
                <a:latin typeface="Consolas" panose="020B0609020204030204" pitchFamily="49" charset="0"/>
              </a:rPr>
              <a:t>// Exit the main function</a:t>
            </a:r>
            <a:endParaRPr lang="en-US"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0000"/>
                </a:solidFill>
                <a:latin typeface="Consolas" panose="020B0609020204030204" pitchFamily="49" charset="0"/>
              </a:rPr>
              <a:t>}</a:t>
            </a:r>
          </a:p>
        </p:txBody>
      </p:sp>
      <p:sp>
        <p:nvSpPr>
          <p:cNvPr id="4" name="Slide Number Placeholder 3"/>
          <p:cNvSpPr>
            <a:spLocks noGrp="1"/>
          </p:cNvSpPr>
          <p:nvPr>
            <p:ph type="sldNum" sz="quarter" idx="12"/>
          </p:nvPr>
        </p:nvSpPr>
        <p:spPr/>
        <p:txBody>
          <a:bodyPr/>
          <a:lstStyle/>
          <a:p>
            <a:fld id="{43C20813-E79E-4637-B0DD-0EBBF6872E51}" type="slidenum">
              <a:rPr lang="en-US" smtClean="0"/>
              <a:t>5</a:t>
            </a:fld>
            <a:endParaRPr lang="en-US"/>
          </a:p>
        </p:txBody>
      </p:sp>
    </p:spTree>
    <p:extLst>
      <p:ext uri="{BB962C8B-B14F-4D97-AF65-F5344CB8AC3E}">
        <p14:creationId xmlns:p14="http://schemas.microsoft.com/office/powerpoint/2010/main" val="2580404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#include </a:t>
            </a:r>
            <a:r>
              <a:rPr lang="en-US" i="1" dirty="0">
                <a:latin typeface="Courier New" panose="02070309020205020404" pitchFamily="49" charset="0"/>
                <a:cs typeface="Courier New" panose="02070309020205020404" pitchFamily="49" charset="0"/>
              </a:rPr>
              <a:t>&lt;filename&gt;</a:t>
            </a:r>
            <a:endParaRPr lang="bg-BG" i="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1097280" y="1845734"/>
            <a:ext cx="10058400" cy="4357842"/>
          </a:xfrm>
        </p:spPr>
        <p:txBody>
          <a:bodyPr>
            <a:normAutofit/>
          </a:bodyPr>
          <a:lstStyle/>
          <a:p>
            <a:pPr>
              <a:buFont typeface="Wingdings" panose="05000000000000000000" pitchFamily="2" charset="2"/>
              <a:buChar char="§"/>
            </a:pPr>
            <a:r>
              <a:rPr lang="en-US" sz="3200" dirty="0"/>
              <a:t>Compiler directive – a statement that is processed before the program is translated</a:t>
            </a:r>
          </a:p>
          <a:p>
            <a:pPr>
              <a:buFont typeface="Wingdings" panose="05000000000000000000" pitchFamily="2" charset="2"/>
              <a:buChar char="§"/>
            </a:pPr>
            <a:r>
              <a:rPr lang="en-US" sz="3200" dirty="0"/>
              <a:t>Includes previously written code from a </a:t>
            </a:r>
            <a:r>
              <a:rPr lang="en-US" sz="3200" b="1" dirty="0"/>
              <a:t>library</a:t>
            </a:r>
            <a:r>
              <a:rPr lang="en-US" sz="3200" dirty="0"/>
              <a:t> into your program</a:t>
            </a:r>
          </a:p>
          <a:p>
            <a:pPr>
              <a:buFont typeface="Wingdings" panose="05000000000000000000" pitchFamily="2" charset="2"/>
              <a:buChar char="§"/>
            </a:pPr>
            <a:r>
              <a:rPr lang="en-US" sz="3200" dirty="0"/>
              <a:t>For example:</a:t>
            </a:r>
          </a:p>
          <a:p>
            <a:pPr marL="201168" lvl="1" indent="0">
              <a:spcBef>
                <a:spcPts val="1200"/>
              </a:spcBef>
              <a:spcAft>
                <a:spcPts val="1200"/>
              </a:spcAft>
              <a:buNone/>
            </a:pPr>
            <a:r>
              <a:rPr lang="en-US" sz="3000" dirty="0">
                <a:latin typeface="Courier New" panose="02070309020205020404" pitchFamily="49" charset="0"/>
                <a:cs typeface="Courier New" panose="02070309020205020404" pitchFamily="49" charset="0"/>
              </a:rPr>
              <a:t>	</a:t>
            </a:r>
            <a:r>
              <a:rPr lang="en-US" sz="2800" b="1" dirty="0">
                <a:latin typeface="Courier New" panose="02070309020205020404" pitchFamily="49" charset="0"/>
                <a:cs typeface="Courier New" panose="02070309020205020404" pitchFamily="49" charset="0"/>
              </a:rPr>
              <a:t>#include &lt;</a:t>
            </a:r>
            <a:r>
              <a:rPr lang="en-US" sz="2800" b="1" dirty="0" err="1">
                <a:latin typeface="Courier New" panose="02070309020205020404" pitchFamily="49" charset="0"/>
                <a:cs typeface="Courier New" panose="02070309020205020404" pitchFamily="49" charset="0"/>
              </a:rPr>
              <a:t>iostream</a:t>
            </a:r>
            <a:r>
              <a:rPr lang="en-US" sz="2800" b="1" dirty="0">
                <a:latin typeface="Courier New" panose="02070309020205020404" pitchFamily="49" charset="0"/>
                <a:cs typeface="Courier New" panose="02070309020205020404" pitchFamily="49" charset="0"/>
              </a:rPr>
              <a:t>&gt;</a:t>
            </a:r>
          </a:p>
          <a:p>
            <a:pPr lvl="1">
              <a:buFont typeface="Wingdings" panose="05000000000000000000" pitchFamily="2" charset="2"/>
              <a:buChar char="§"/>
            </a:pPr>
            <a:r>
              <a:rPr lang="en-US" sz="3000" dirty="0">
                <a:cs typeface="Courier New" panose="02070309020205020404" pitchFamily="49" charset="0"/>
              </a:rPr>
              <a:t>Includes the </a:t>
            </a:r>
            <a:r>
              <a:rPr lang="en-US" sz="3000" b="1" dirty="0" err="1">
                <a:latin typeface="Courier New" panose="02070309020205020404" pitchFamily="49" charset="0"/>
                <a:cs typeface="Courier New" panose="02070309020205020404" pitchFamily="49" charset="0"/>
              </a:rPr>
              <a:t>iostream</a:t>
            </a:r>
            <a:r>
              <a:rPr lang="en-US" sz="3000" dirty="0">
                <a:latin typeface="Courier New" panose="02070309020205020404" pitchFamily="49" charset="0"/>
                <a:cs typeface="Courier New" panose="02070309020205020404" pitchFamily="49" charset="0"/>
              </a:rPr>
              <a:t> </a:t>
            </a:r>
            <a:r>
              <a:rPr lang="en-US" sz="3000" dirty="0">
                <a:cs typeface="Courier New" panose="02070309020205020404" pitchFamily="49" charset="0"/>
              </a:rPr>
              <a:t>header from the C++ </a:t>
            </a:r>
            <a:r>
              <a:rPr lang="en-US" sz="3000" b="1" dirty="0">
                <a:cs typeface="Courier New" panose="02070309020205020404" pitchFamily="49" charset="0"/>
              </a:rPr>
              <a:t>standard library </a:t>
            </a:r>
            <a:r>
              <a:rPr lang="en-US" sz="3000" dirty="0">
                <a:cs typeface="Courier New" panose="02070309020205020404" pitchFamily="49" charset="0"/>
              </a:rPr>
              <a:t>that has operators for performing input and output</a:t>
            </a:r>
            <a:endParaRPr lang="en-US" sz="3000"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6</a:t>
            </a:fld>
            <a:endParaRPr lang="en-US"/>
          </a:p>
        </p:txBody>
      </p:sp>
    </p:spTree>
    <p:extLst>
      <p:ext uri="{BB962C8B-B14F-4D97-AF65-F5344CB8AC3E}">
        <p14:creationId xmlns:p14="http://schemas.microsoft.com/office/powerpoint/2010/main" val="3519006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using namespace </a:t>
            </a:r>
            <a:r>
              <a:rPr lang="en-US" dirty="0" err="1">
                <a:latin typeface="Courier New" panose="02070309020205020404" pitchFamily="49" charset="0"/>
                <a:cs typeface="Courier New" panose="02070309020205020404" pitchFamily="49" charset="0"/>
              </a:rPr>
              <a:t>std</a:t>
            </a:r>
            <a:r>
              <a:rPr lang="en-US" dirty="0">
                <a:latin typeface="Courier New" panose="02070309020205020404" pitchFamily="49" charset="0"/>
                <a:cs typeface="Courier New" panose="02070309020205020404" pitchFamily="49" charset="0"/>
              </a:rPr>
              <a:t>;</a:t>
            </a:r>
            <a:endParaRPr lang="bg-BG"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Indicates to the compiler that this program uses objects defined in a standard namespace called </a:t>
            </a:r>
            <a:r>
              <a:rPr lang="en-US" sz="3200" b="1" dirty="0" err="1">
                <a:latin typeface="Courier New" panose="02070309020205020404" pitchFamily="49" charset="0"/>
                <a:cs typeface="Courier New" panose="02070309020205020404" pitchFamily="49" charset="0"/>
              </a:rPr>
              <a:t>std</a:t>
            </a:r>
            <a:endParaRPr lang="en-US" sz="3200" dirty="0"/>
          </a:p>
          <a:p>
            <a:pPr>
              <a:buFont typeface="Wingdings" panose="05000000000000000000" pitchFamily="2" charset="2"/>
              <a:buChar char="§"/>
            </a:pPr>
            <a:r>
              <a:rPr lang="en-US" sz="3200" dirty="0"/>
              <a:t>The </a:t>
            </a:r>
            <a:r>
              <a:rPr lang="en-US" sz="3200" b="1" dirty="0">
                <a:latin typeface="Courier New" panose="02070309020205020404" pitchFamily="49" charset="0"/>
                <a:cs typeface="Courier New" panose="02070309020205020404" pitchFamily="49" charset="0"/>
              </a:rPr>
              <a:t>using</a:t>
            </a:r>
            <a:r>
              <a:rPr lang="en-US" sz="3200" dirty="0"/>
              <a:t> statement must end with a semicolon</a:t>
            </a:r>
          </a:p>
          <a:p>
            <a:pPr>
              <a:buFont typeface="Wingdings" panose="05000000000000000000" pitchFamily="2" charset="2"/>
              <a:buChar char="§"/>
            </a:pPr>
            <a:r>
              <a:rPr lang="en-US" sz="3200" dirty="0"/>
              <a:t>Follows </a:t>
            </a:r>
            <a:r>
              <a:rPr lang="en-US" sz="3200" b="1" dirty="0">
                <a:latin typeface="Courier New" panose="02070309020205020404" pitchFamily="49" charset="0"/>
                <a:cs typeface="Courier New" panose="02070309020205020404" pitchFamily="49" charset="0"/>
              </a:rPr>
              <a:t>#include </a:t>
            </a:r>
            <a:r>
              <a:rPr lang="en-US" sz="3200" dirty="0"/>
              <a:t>directives in the code</a:t>
            </a:r>
          </a:p>
          <a:p>
            <a:pPr>
              <a:buFont typeface="Wingdings" panose="05000000000000000000" pitchFamily="2" charset="2"/>
              <a:buChar char="§"/>
            </a:pPr>
            <a:r>
              <a:rPr lang="en-US" sz="3200" dirty="0"/>
              <a:t>Because the C++ standard library is defined in the </a:t>
            </a:r>
            <a:r>
              <a:rPr lang="en-US" sz="3200" b="1" dirty="0" err="1">
                <a:latin typeface="Courier New" panose="02070309020205020404" pitchFamily="49" charset="0"/>
                <a:cs typeface="Courier New" panose="02070309020205020404" pitchFamily="49" charset="0"/>
              </a:rPr>
              <a:t>std</a:t>
            </a:r>
            <a:r>
              <a:rPr lang="en-US" sz="3200" dirty="0"/>
              <a:t> namespace, this line must appear in all programs that use it</a:t>
            </a:r>
          </a:p>
        </p:txBody>
      </p:sp>
      <p:sp>
        <p:nvSpPr>
          <p:cNvPr id="4" name="Slide Number Placeholder 3"/>
          <p:cNvSpPr>
            <a:spLocks noGrp="1"/>
          </p:cNvSpPr>
          <p:nvPr>
            <p:ph type="sldNum" sz="quarter" idx="12"/>
          </p:nvPr>
        </p:nvSpPr>
        <p:spPr/>
        <p:txBody>
          <a:bodyPr/>
          <a:lstStyle/>
          <a:p>
            <a:fld id="{43C20813-E79E-4637-B0DD-0EBBF6872E51}" type="slidenum">
              <a:rPr lang="en-US" smtClean="0"/>
              <a:t>7</a:t>
            </a:fld>
            <a:endParaRPr lang="en-US"/>
          </a:p>
        </p:txBody>
      </p:sp>
    </p:spTree>
    <p:extLst>
      <p:ext uri="{BB962C8B-B14F-4D97-AF65-F5344CB8AC3E}">
        <p14:creationId xmlns:p14="http://schemas.microsoft.com/office/powerpoint/2010/main" val="4206402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a:t>
            </a:r>
            <a:r>
              <a:rPr lang="en-US" b="1" dirty="0">
                <a:latin typeface="Courier New" panose="02070309020205020404" pitchFamily="49" charset="0"/>
                <a:cs typeface="Courier New" panose="02070309020205020404" pitchFamily="49" charset="0"/>
              </a:rPr>
              <a:t>main</a:t>
            </a:r>
            <a:endParaRPr lang="bg-BG" b="1"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half" idx="1"/>
          </p:nvPr>
        </p:nvSpPr>
        <p:spPr>
          <a:xfrm>
            <a:off x="1097278" y="1845733"/>
            <a:ext cx="7401262" cy="4456455"/>
          </a:xfrm>
        </p:spPr>
        <p:txBody>
          <a:bodyPr>
            <a:noAutofit/>
          </a:bodyPr>
          <a:lstStyle/>
          <a:p>
            <a:pPr>
              <a:buFont typeface="Wingdings" panose="05000000000000000000" pitchFamily="2" charset="2"/>
              <a:buChar char="§"/>
            </a:pPr>
            <a:r>
              <a:rPr lang="en-US" sz="3200" dirty="0"/>
              <a:t>Exactly one </a:t>
            </a:r>
            <a:r>
              <a:rPr lang="en-US" sz="3200" b="1" dirty="0">
                <a:latin typeface="Courier New" panose="02070309020205020404" pitchFamily="49" charset="0"/>
                <a:cs typeface="Courier New" panose="02070309020205020404" pitchFamily="49" charset="0"/>
              </a:rPr>
              <a:t>main</a:t>
            </a:r>
            <a:r>
              <a:rPr lang="en-US" sz="3200" dirty="0"/>
              <a:t> function per program</a:t>
            </a:r>
          </a:p>
          <a:p>
            <a:pPr>
              <a:buFont typeface="Wingdings" panose="05000000000000000000" pitchFamily="2" charset="2"/>
              <a:buChar char="§"/>
            </a:pPr>
            <a:r>
              <a:rPr lang="en-US" sz="3200" dirty="0"/>
              <a:t>A function is a collection of related statements that perform a specific operation</a:t>
            </a:r>
          </a:p>
          <a:p>
            <a:pPr>
              <a:buFont typeface="Wingdings" panose="05000000000000000000" pitchFamily="2" charset="2"/>
              <a:buChar char="§"/>
            </a:pPr>
            <a:r>
              <a:rPr lang="en-US" sz="3200" b="1" dirty="0">
                <a:latin typeface="Courier New" panose="02070309020205020404" pitchFamily="49" charset="0"/>
                <a:cs typeface="Courier New" panose="02070309020205020404" pitchFamily="49" charset="0"/>
              </a:rPr>
              <a:t>int</a:t>
            </a:r>
            <a:r>
              <a:rPr lang="en-US" sz="3200" dirty="0"/>
              <a:t> indicates the return type of the function</a:t>
            </a:r>
          </a:p>
          <a:p>
            <a:pPr>
              <a:buFont typeface="Wingdings" panose="05000000000000000000" pitchFamily="2" charset="2"/>
              <a:buChar char="§"/>
            </a:pPr>
            <a:r>
              <a:rPr lang="en-US" sz="3200" b="1" dirty="0">
                <a:latin typeface="Courier New" panose="02070309020205020404" pitchFamily="49" charset="0"/>
                <a:cs typeface="Courier New" panose="02070309020205020404" pitchFamily="49" charset="0"/>
              </a:rPr>
              <a:t>()</a:t>
            </a:r>
            <a:r>
              <a:rPr lang="en-US" sz="3200" b="1" dirty="0">
                <a:cs typeface="Courier New" panose="02070309020205020404" pitchFamily="49" charset="0"/>
              </a:rPr>
              <a:t> </a:t>
            </a:r>
            <a:r>
              <a:rPr lang="en-US" sz="3200" dirty="0"/>
              <a:t>indicates no special information passed to the function by the operating system</a:t>
            </a:r>
          </a:p>
        </p:txBody>
      </p:sp>
      <p:sp>
        <p:nvSpPr>
          <p:cNvPr id="6" name="Content Placeholder 5"/>
          <p:cNvSpPr>
            <a:spLocks noGrp="1"/>
          </p:cNvSpPr>
          <p:nvPr>
            <p:ph sz="half" idx="2"/>
          </p:nvPr>
        </p:nvSpPr>
        <p:spPr>
          <a:xfrm>
            <a:off x="8821271" y="2159500"/>
            <a:ext cx="2334409" cy="3685489"/>
          </a:xfrm>
        </p:spPr>
        <p:txBody>
          <a:bodyPr/>
          <a:lstStyle/>
          <a:p>
            <a:pPr marL="0" indent="0">
              <a:buNone/>
            </a:pP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main()</a:t>
            </a:r>
          </a:p>
          <a:p>
            <a:pPr marL="0" indent="0">
              <a:buNone/>
            </a:pPr>
            <a:r>
              <a:rPr lang="bg-BG" dirty="0">
                <a:solidFill>
                  <a:srgbClr val="000000"/>
                </a:solidFill>
                <a:latin typeface="Consolas" panose="020B0609020204030204" pitchFamily="49" charset="0"/>
              </a:rPr>
              <a:t>{</a:t>
            </a:r>
          </a:p>
          <a:p>
            <a:pPr marL="0" indent="0">
              <a:buNone/>
            </a:pPr>
            <a:r>
              <a:rPr lang="en-US" dirty="0">
                <a:solidFill>
                  <a:srgbClr val="008000"/>
                </a:solidFill>
                <a:latin typeface="Consolas" panose="020B0609020204030204" pitchFamily="49" charset="0"/>
              </a:rPr>
              <a:t>   // function</a:t>
            </a:r>
            <a:endParaRPr lang="en-US" dirty="0">
              <a:solidFill>
                <a:srgbClr val="000000"/>
              </a:solidFill>
              <a:latin typeface="Consolas" panose="020B0609020204030204" pitchFamily="49" charset="0"/>
            </a:endParaRPr>
          </a:p>
          <a:p>
            <a:pPr marL="0" indent="0">
              <a:buNone/>
            </a:pPr>
            <a:r>
              <a:rPr lang="en-US" dirty="0">
                <a:solidFill>
                  <a:srgbClr val="008000"/>
                </a:solidFill>
                <a:latin typeface="Consolas" panose="020B0609020204030204" pitchFamily="49" charset="0"/>
              </a:rPr>
              <a:t>   // body</a:t>
            </a:r>
            <a:endParaRPr lang="en-US" dirty="0">
              <a:solidFill>
                <a:srgbClr val="000000"/>
              </a:solidFill>
              <a:latin typeface="Consolas" panose="020B0609020204030204" pitchFamily="49" charset="0"/>
            </a:endParaRPr>
          </a:p>
          <a:p>
            <a:pPr marL="0" indent="0">
              <a:buNone/>
            </a:pPr>
            <a:endParaRPr lang="bg-BG" dirty="0">
              <a:solidFill>
                <a:srgbClr val="000000"/>
              </a:solidFill>
              <a:latin typeface="Consolas" panose="020B0609020204030204" pitchFamily="49" charset="0"/>
            </a:endParaRPr>
          </a:p>
          <a:p>
            <a:pPr marL="0" indent="0">
              <a:buNone/>
            </a:pPr>
            <a:r>
              <a:rPr lang="en-US" dirty="0">
                <a:solidFill>
                  <a:srgbClr val="0000FF"/>
                </a:solidFill>
                <a:latin typeface="Consolas" panose="020B0609020204030204" pitchFamily="49" charset="0"/>
              </a:rPr>
              <a:t>   return</a:t>
            </a:r>
            <a:r>
              <a:rPr lang="en-US" dirty="0">
                <a:solidFill>
                  <a:srgbClr val="000000"/>
                </a:solidFill>
                <a:latin typeface="Consolas" panose="020B0609020204030204" pitchFamily="49" charset="0"/>
              </a:rPr>
              <a:t> 0;</a:t>
            </a:r>
          </a:p>
          <a:p>
            <a:pPr marL="0" indent="0">
              <a:buNone/>
            </a:pPr>
            <a:r>
              <a:rPr lang="bg-BG" dirty="0">
                <a:solidFill>
                  <a:srgbClr val="000000"/>
                </a:solidFill>
                <a:latin typeface="Consolas" panose="020B0609020204030204" pitchFamily="49" charset="0"/>
              </a:rPr>
              <a:t>}</a:t>
            </a:r>
            <a:endParaRPr lang="en-US"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8</a:t>
            </a:fld>
            <a:endParaRPr lang="en-US"/>
          </a:p>
        </p:txBody>
      </p:sp>
    </p:spTree>
    <p:extLst>
      <p:ext uri="{BB962C8B-B14F-4D97-AF65-F5344CB8AC3E}">
        <p14:creationId xmlns:p14="http://schemas.microsoft.com/office/powerpoint/2010/main" val="2957852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Statements</a:t>
            </a:r>
            <a:endParaRPr lang="bg-BG" dirty="0"/>
          </a:p>
        </p:txBody>
      </p:sp>
      <p:sp>
        <p:nvSpPr>
          <p:cNvPr id="3" name="Content Placeholder 2"/>
          <p:cNvSpPr>
            <a:spLocks noGrp="1"/>
          </p:cNvSpPr>
          <p:nvPr>
            <p:ph idx="1"/>
          </p:nvPr>
        </p:nvSpPr>
        <p:spPr>
          <a:xfrm>
            <a:off x="1097279" y="1845732"/>
            <a:ext cx="10115204" cy="4402668"/>
          </a:xfrm>
        </p:spPr>
        <p:txBody>
          <a:bodyPr>
            <a:normAutofit/>
          </a:bodyPr>
          <a:lstStyle/>
          <a:p>
            <a:pPr>
              <a:buFont typeface="Wingdings" panose="05000000000000000000" pitchFamily="2" charset="2"/>
              <a:buChar char="§"/>
            </a:pPr>
            <a:r>
              <a:rPr lang="en-US" sz="3200" dirty="0"/>
              <a:t>Declaration statements – describe the data the function needs:</a:t>
            </a:r>
          </a:p>
          <a:p>
            <a:pPr marL="0" indent="0">
              <a:buNone/>
            </a:pPr>
            <a:r>
              <a:rPr lang="en-US" sz="3000" dirty="0">
                <a:solidFill>
                  <a:srgbClr val="0000FF"/>
                </a:solidFill>
                <a:latin typeface="Consolas" panose="020B0609020204030204" pitchFamily="49" charset="0"/>
              </a:rPr>
              <a:t>	const</a:t>
            </a:r>
            <a:r>
              <a:rPr lang="en-US" sz="3000" dirty="0">
                <a:solidFill>
                  <a:srgbClr val="000000"/>
                </a:solidFill>
                <a:latin typeface="Consolas" panose="020B0609020204030204" pitchFamily="49" charset="0"/>
              </a:rPr>
              <a:t> </a:t>
            </a:r>
            <a:r>
              <a:rPr lang="en-US" sz="3000" dirty="0">
                <a:solidFill>
                  <a:srgbClr val="0000FF"/>
                </a:solidFill>
                <a:latin typeface="Consolas" panose="020B0609020204030204" pitchFamily="49" charset="0"/>
              </a:rPr>
              <a:t>float</a:t>
            </a:r>
            <a:r>
              <a:rPr lang="en-US" sz="3000" dirty="0">
                <a:solidFill>
                  <a:srgbClr val="000000"/>
                </a:solidFill>
                <a:latin typeface="Consolas" panose="020B0609020204030204" pitchFamily="49" charset="0"/>
              </a:rPr>
              <a:t> KM_PER_MILE = 1.609;</a:t>
            </a:r>
          </a:p>
          <a:p>
            <a:pPr marL="0" indent="0">
              <a:buNone/>
            </a:pPr>
            <a:r>
              <a:rPr lang="en-US" sz="3000" dirty="0">
                <a:solidFill>
                  <a:srgbClr val="0000FF"/>
                </a:solidFill>
                <a:latin typeface="Consolas" panose="020B0609020204030204" pitchFamily="49" charset="0"/>
              </a:rPr>
              <a:t>	float</a:t>
            </a:r>
            <a:r>
              <a:rPr lang="en-US" sz="3000" dirty="0">
                <a:solidFill>
                  <a:srgbClr val="000000"/>
                </a:solidFill>
                <a:latin typeface="Consolas" panose="020B0609020204030204" pitchFamily="49" charset="0"/>
              </a:rPr>
              <a:t> miles, </a:t>
            </a:r>
            <a:r>
              <a:rPr lang="en-US" sz="3000" dirty="0" err="1">
                <a:solidFill>
                  <a:srgbClr val="000000"/>
                </a:solidFill>
                <a:latin typeface="Consolas" panose="020B0609020204030204" pitchFamily="49" charset="0"/>
              </a:rPr>
              <a:t>kms</a:t>
            </a:r>
            <a:r>
              <a:rPr lang="en-US" sz="3000" dirty="0">
                <a:solidFill>
                  <a:srgbClr val="000000"/>
                </a:solidFill>
                <a:latin typeface="Consolas" panose="020B0609020204030204" pitchFamily="49" charset="0"/>
              </a:rPr>
              <a:t>;</a:t>
            </a:r>
            <a:endParaRPr lang="en-US" sz="3000" dirty="0"/>
          </a:p>
          <a:p>
            <a:pPr>
              <a:spcBef>
                <a:spcPts val="1800"/>
              </a:spcBef>
              <a:buFont typeface="Wingdings" panose="05000000000000000000" pitchFamily="2" charset="2"/>
              <a:buChar char="§"/>
            </a:pPr>
            <a:r>
              <a:rPr lang="en-US" sz="3200" dirty="0"/>
              <a:t>Executable statements – actions the program will carry out:</a:t>
            </a:r>
          </a:p>
          <a:p>
            <a:pPr marL="0" indent="0">
              <a:buNone/>
            </a:pPr>
            <a:r>
              <a:rPr lang="en-US" sz="3000" dirty="0">
                <a:solidFill>
                  <a:srgbClr val="000000"/>
                </a:solidFill>
                <a:latin typeface="Consolas" panose="020B0609020204030204" pitchFamily="49" charset="0"/>
              </a:rPr>
              <a:t>	cout </a:t>
            </a:r>
            <a:r>
              <a:rPr lang="en-US" sz="3000" dirty="0">
                <a:solidFill>
                  <a:srgbClr val="008080"/>
                </a:solidFill>
                <a:latin typeface="Consolas" panose="020B0609020204030204" pitchFamily="49" charset="0"/>
              </a:rPr>
              <a:t>&lt;&lt;</a:t>
            </a:r>
            <a:r>
              <a:rPr lang="en-US" sz="3000" dirty="0">
                <a:solidFill>
                  <a:srgbClr val="000000"/>
                </a:solidFill>
                <a:latin typeface="Consolas" panose="020B0609020204030204" pitchFamily="49" charset="0"/>
              </a:rPr>
              <a:t> </a:t>
            </a:r>
            <a:r>
              <a:rPr lang="en-US" sz="3000" dirty="0">
                <a:solidFill>
                  <a:srgbClr val="A31515"/>
                </a:solidFill>
                <a:latin typeface="Consolas" panose="020B0609020204030204" pitchFamily="49" charset="0"/>
              </a:rPr>
              <a:t>"Enter the distance in miles: "</a:t>
            </a:r>
            <a:r>
              <a:rPr lang="en-US" sz="3000" dirty="0">
                <a:solidFill>
                  <a:srgbClr val="000000"/>
                </a:solidFill>
                <a:latin typeface="Consolas" panose="020B0609020204030204" pitchFamily="49" charset="0"/>
              </a:rPr>
              <a:t>;</a:t>
            </a:r>
          </a:p>
          <a:p>
            <a:pPr marL="0" indent="0">
              <a:buNone/>
            </a:pPr>
            <a:r>
              <a:rPr lang="en-US" sz="3000" dirty="0">
                <a:solidFill>
                  <a:srgbClr val="000000"/>
                </a:solidFill>
                <a:latin typeface="Consolas" panose="020B0609020204030204" pitchFamily="49" charset="0"/>
              </a:rPr>
              <a:t>	cin </a:t>
            </a:r>
            <a:r>
              <a:rPr lang="en-US" sz="3000" dirty="0">
                <a:solidFill>
                  <a:srgbClr val="008080"/>
                </a:solidFill>
                <a:latin typeface="Consolas" panose="020B0609020204030204" pitchFamily="49" charset="0"/>
              </a:rPr>
              <a:t>&gt;&gt;</a:t>
            </a:r>
            <a:r>
              <a:rPr lang="en-US" sz="3000" dirty="0">
                <a:solidFill>
                  <a:srgbClr val="000000"/>
                </a:solidFill>
                <a:latin typeface="Consolas" panose="020B0609020204030204" pitchFamily="49" charset="0"/>
              </a:rPr>
              <a:t> miles;</a:t>
            </a:r>
            <a:endParaRPr lang="en-US" sz="3000" dirty="0"/>
          </a:p>
        </p:txBody>
      </p:sp>
      <p:sp>
        <p:nvSpPr>
          <p:cNvPr id="4" name="Slide Number Placeholder 3"/>
          <p:cNvSpPr>
            <a:spLocks noGrp="1"/>
          </p:cNvSpPr>
          <p:nvPr>
            <p:ph type="sldNum" sz="quarter" idx="12"/>
          </p:nvPr>
        </p:nvSpPr>
        <p:spPr/>
        <p:txBody>
          <a:bodyPr/>
          <a:lstStyle/>
          <a:p>
            <a:fld id="{43C20813-E79E-4637-B0DD-0EBBF6872E51}" type="slidenum">
              <a:rPr lang="en-US" smtClean="0"/>
              <a:t>9</a:t>
            </a:fld>
            <a:endParaRPr lang="en-US"/>
          </a:p>
        </p:txBody>
      </p:sp>
    </p:spTree>
    <p:extLst>
      <p:ext uri="{BB962C8B-B14F-4D97-AF65-F5344CB8AC3E}">
        <p14:creationId xmlns:p14="http://schemas.microsoft.com/office/powerpoint/2010/main" val="2103732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Reserved Words (Keywords)</a:t>
            </a:r>
            <a:endParaRPr lang="bg-BG" dirty="0"/>
          </a:p>
        </p:txBody>
      </p:sp>
      <p:sp>
        <p:nvSpPr>
          <p:cNvPr id="3" name="Content Placeholder 2"/>
          <p:cNvSpPr>
            <a:spLocks noGrp="1"/>
          </p:cNvSpPr>
          <p:nvPr>
            <p:ph idx="1"/>
          </p:nvPr>
        </p:nvSpPr>
        <p:spPr>
          <a:xfrm>
            <a:off x="1097280" y="1845734"/>
            <a:ext cx="10058400" cy="4494088"/>
          </a:xfrm>
        </p:spPr>
        <p:txBody>
          <a:bodyPr>
            <a:normAutofit/>
          </a:bodyPr>
          <a:lstStyle/>
          <a:p>
            <a:pPr>
              <a:buFont typeface="Wingdings" panose="05000000000000000000" pitchFamily="2" charset="2"/>
              <a:buChar char="§"/>
            </a:pPr>
            <a:r>
              <a:rPr lang="en-US" altLang="bg-BG" sz="3200" dirty="0"/>
              <a:t>Have special meaning in C++ and cannot be used for other purposes</a:t>
            </a:r>
          </a:p>
        </p:txBody>
      </p:sp>
      <p:sp>
        <p:nvSpPr>
          <p:cNvPr id="4" name="Slide Number Placeholder 3"/>
          <p:cNvSpPr>
            <a:spLocks noGrp="1"/>
          </p:cNvSpPr>
          <p:nvPr>
            <p:ph type="sldNum" sz="quarter" idx="12"/>
          </p:nvPr>
        </p:nvSpPr>
        <p:spPr/>
        <p:txBody>
          <a:bodyPr/>
          <a:lstStyle/>
          <a:p>
            <a:fld id="{43C20813-E79E-4637-B0DD-0EBBF6872E51}" type="slidenum">
              <a:rPr lang="en-US" smtClean="0"/>
              <a:t>10</a:t>
            </a:fld>
            <a:endParaRPr lang="en-US"/>
          </a:p>
        </p:txBody>
      </p:sp>
      <p:pic>
        <p:nvPicPr>
          <p:cNvPr id="5" name="Picture 3"/>
          <p:cNvPicPr>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1670858" y="2944906"/>
            <a:ext cx="8229600" cy="333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1334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Identifiers</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Names for data and objects to be manipulated by the program</a:t>
            </a:r>
          </a:p>
          <a:p>
            <a:pPr>
              <a:buFont typeface="Wingdings" panose="05000000000000000000" pitchFamily="2" charset="2"/>
              <a:buChar char="§"/>
            </a:pPr>
            <a:r>
              <a:rPr lang="en-US" sz="3200" dirty="0"/>
              <a:t>Must begin with a letter or underscore (not recommended)</a:t>
            </a:r>
          </a:p>
          <a:p>
            <a:pPr>
              <a:buFont typeface="Wingdings" panose="05000000000000000000" pitchFamily="2" charset="2"/>
              <a:buChar char="§"/>
            </a:pPr>
            <a:r>
              <a:rPr lang="en-US" sz="3200" dirty="0"/>
              <a:t>Consists only of letters, digits, and underscores</a:t>
            </a:r>
          </a:p>
          <a:p>
            <a:pPr>
              <a:buFont typeface="Wingdings" panose="05000000000000000000" pitchFamily="2" charset="2"/>
              <a:buChar char="§"/>
            </a:pPr>
            <a:r>
              <a:rPr lang="en-US" sz="3200" dirty="0"/>
              <a:t>Cannot be a reserved word</a:t>
            </a:r>
          </a:p>
          <a:p>
            <a:pPr>
              <a:buFont typeface="Wingdings" panose="05000000000000000000" pitchFamily="2" charset="2"/>
              <a:buChar char="§"/>
            </a:pPr>
            <a:r>
              <a:rPr lang="en-US" sz="3200" dirty="0"/>
              <a:t>Case-sensitive (difference between upper and lower case letters)</a:t>
            </a:r>
          </a:p>
        </p:txBody>
      </p:sp>
      <p:sp>
        <p:nvSpPr>
          <p:cNvPr id="4" name="Slide Number Placeholder 3"/>
          <p:cNvSpPr>
            <a:spLocks noGrp="1"/>
          </p:cNvSpPr>
          <p:nvPr>
            <p:ph type="sldNum" sz="quarter" idx="12"/>
          </p:nvPr>
        </p:nvSpPr>
        <p:spPr/>
        <p:txBody>
          <a:bodyPr/>
          <a:lstStyle/>
          <a:p>
            <a:fld id="{43C20813-E79E-4637-B0DD-0EBBF6872E51}" type="slidenum">
              <a:rPr lang="en-US" smtClean="0"/>
              <a:t>11</a:t>
            </a:fld>
            <a:endParaRPr lang="en-US"/>
          </a:p>
        </p:txBody>
      </p:sp>
    </p:spTree>
    <p:extLst>
      <p:ext uri="{BB962C8B-B14F-4D97-AF65-F5344CB8AC3E}">
        <p14:creationId xmlns:p14="http://schemas.microsoft.com/office/powerpoint/2010/main" val="2099943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Identifiers in Listing 2.1</a:t>
            </a:r>
            <a:endParaRPr lang="bg-BG" dirty="0"/>
          </a:p>
        </p:txBody>
      </p:sp>
      <p:sp>
        <p:nvSpPr>
          <p:cNvPr id="3" name="Content Placeholder 2"/>
          <p:cNvSpPr>
            <a:spLocks noGrp="1"/>
          </p:cNvSpPr>
          <p:nvPr>
            <p:ph idx="1"/>
          </p:nvPr>
        </p:nvSpPr>
        <p:spPr>
          <a:xfrm>
            <a:off x="1097280" y="1845733"/>
            <a:ext cx="10058400" cy="4339913"/>
          </a:xfrm>
        </p:spPr>
        <p:txBody>
          <a:bodyPr>
            <a:normAutofit/>
          </a:bodyPr>
          <a:lstStyle/>
          <a:p>
            <a:r>
              <a:rPr lang="en-US" sz="2800" b="1" dirty="0"/>
              <a:t>Identifier	  	Use</a:t>
            </a:r>
          </a:p>
          <a:p>
            <a:pPr>
              <a:spcBef>
                <a:spcPts val="1800"/>
              </a:spcBef>
            </a:pPr>
            <a:r>
              <a:rPr lang="en-US" sz="2800" b="1" dirty="0" err="1">
                <a:latin typeface="Courier New" panose="02070309020205020404" pitchFamily="49" charset="0"/>
                <a:cs typeface="Courier New" panose="02070309020205020404" pitchFamily="49" charset="0"/>
              </a:rPr>
              <a:t>cin</a:t>
            </a:r>
            <a:r>
              <a:rPr lang="en-US" sz="2800" dirty="0"/>
              <a:t>		   	 C++ name for standard input stream</a:t>
            </a:r>
          </a:p>
          <a:p>
            <a:r>
              <a:rPr lang="en-US" sz="2800" b="1" dirty="0">
                <a:latin typeface="Courier New" panose="02070309020205020404" pitchFamily="49" charset="0"/>
                <a:cs typeface="Courier New" panose="02070309020205020404" pitchFamily="49" charset="0"/>
              </a:rPr>
              <a:t>cout</a:t>
            </a:r>
            <a:r>
              <a:rPr lang="en-US" sz="2800" dirty="0"/>
              <a:t>		 C++ name for standard output stream</a:t>
            </a:r>
          </a:p>
          <a:p>
            <a:r>
              <a:rPr lang="en-US" sz="2800" b="1" dirty="0">
                <a:latin typeface="Courier New" panose="02070309020205020404" pitchFamily="49" charset="0"/>
                <a:cs typeface="Courier New" panose="02070309020205020404" pitchFamily="49" charset="0"/>
              </a:rPr>
              <a:t>km</a:t>
            </a:r>
            <a:r>
              <a:rPr lang="en-US" sz="2800" dirty="0"/>
              <a:t>		   	 Data element for storing distance in kilometers</a:t>
            </a:r>
          </a:p>
          <a:p>
            <a:r>
              <a:rPr lang="en-US" sz="2800" b="1" dirty="0">
                <a:latin typeface="Courier New" panose="02070309020205020404" pitchFamily="49" charset="0"/>
                <a:cs typeface="Courier New" panose="02070309020205020404" pitchFamily="49" charset="0"/>
              </a:rPr>
              <a:t>KM_PER_MILE</a:t>
            </a:r>
            <a:r>
              <a:rPr lang="en-US" sz="2800" dirty="0">
                <a:cs typeface="Courier New" panose="02070309020205020404" pitchFamily="49" charset="0"/>
              </a:rPr>
              <a:t>   </a:t>
            </a:r>
            <a:r>
              <a:rPr lang="en-US" sz="2800" dirty="0"/>
              <a:t>Conversion constant</a:t>
            </a:r>
          </a:p>
          <a:p>
            <a:r>
              <a:rPr lang="en-US" sz="2800" b="1" dirty="0">
                <a:latin typeface="Courier New" panose="02070309020205020404" pitchFamily="49" charset="0"/>
                <a:cs typeface="Courier New" panose="02070309020205020404" pitchFamily="49" charset="0"/>
              </a:rPr>
              <a:t>miles</a:t>
            </a:r>
            <a:r>
              <a:rPr lang="en-US" sz="2800" dirty="0"/>
              <a:t>		 Data element for storing distance in miles</a:t>
            </a:r>
          </a:p>
          <a:p>
            <a:r>
              <a:rPr lang="en-US" sz="2800" b="1" dirty="0" err="1">
                <a:latin typeface="Courier New" panose="02070309020205020404" pitchFamily="49" charset="0"/>
                <a:cs typeface="Courier New" panose="02070309020205020404" pitchFamily="49" charset="0"/>
              </a:rPr>
              <a:t>std</a:t>
            </a:r>
            <a:r>
              <a:rPr lang="en-US" sz="2800" dirty="0"/>
              <a:t>		   	 C++ name for the standard namespace</a:t>
            </a:r>
          </a:p>
        </p:txBody>
      </p:sp>
      <p:sp>
        <p:nvSpPr>
          <p:cNvPr id="4" name="Slide Number Placeholder 3"/>
          <p:cNvSpPr>
            <a:spLocks noGrp="1"/>
          </p:cNvSpPr>
          <p:nvPr>
            <p:ph type="sldNum" sz="quarter" idx="12"/>
          </p:nvPr>
        </p:nvSpPr>
        <p:spPr/>
        <p:txBody>
          <a:bodyPr/>
          <a:lstStyle/>
          <a:p>
            <a:fld id="{43C20813-E79E-4637-B0DD-0EBBF6872E51}" type="slidenum">
              <a:rPr lang="en-US" smtClean="0"/>
              <a:t>12</a:t>
            </a:fld>
            <a:endParaRPr lang="en-US"/>
          </a:p>
        </p:txBody>
      </p:sp>
    </p:spTree>
    <p:extLst>
      <p:ext uri="{BB962C8B-B14F-4D97-AF65-F5344CB8AC3E}">
        <p14:creationId xmlns:p14="http://schemas.microsoft.com/office/powerpoint/2010/main" val="1698516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a:t>
            </a:r>
            <a:endParaRPr lang="bg-BG" dirty="0"/>
          </a:p>
        </p:txBody>
      </p:sp>
      <p:sp>
        <p:nvSpPr>
          <p:cNvPr id="3" name="Content Placeholder 2"/>
          <p:cNvSpPr>
            <a:spLocks noGrp="1"/>
          </p:cNvSpPr>
          <p:nvPr>
            <p:ph idx="1"/>
          </p:nvPr>
        </p:nvSpPr>
        <p:spPr>
          <a:xfrm>
            <a:off x="1097280" y="1845734"/>
            <a:ext cx="10058400" cy="4196478"/>
          </a:xfrm>
        </p:spPr>
        <p:txBody>
          <a:bodyPr>
            <a:normAutofit/>
          </a:bodyPr>
          <a:lstStyle/>
          <a:p>
            <a:pPr>
              <a:buFont typeface="Wingdings" panose="05000000000000000000" pitchFamily="2" charset="2"/>
              <a:buChar char="§"/>
            </a:pPr>
            <a:r>
              <a:rPr lang="en-US" sz="3200" dirty="0"/>
              <a:t>Defines a set of values and operations that can be performed on those values</a:t>
            </a:r>
          </a:p>
          <a:p>
            <a:pPr>
              <a:buFont typeface="Wingdings" panose="05000000000000000000" pitchFamily="2" charset="2"/>
              <a:buChar char="§"/>
            </a:pPr>
            <a:r>
              <a:rPr lang="en-US" sz="3200" dirty="0">
                <a:cs typeface="Courier New" panose="02070309020205020404" pitchFamily="49" charset="0"/>
              </a:rPr>
              <a:t>Integers</a:t>
            </a:r>
          </a:p>
          <a:p>
            <a:pPr lvl="1">
              <a:buFont typeface="Wingdings" panose="05000000000000000000" pitchFamily="2" charset="2"/>
              <a:buChar char="§"/>
            </a:pPr>
            <a:r>
              <a:rPr lang="en-US" sz="3000" dirty="0"/>
              <a:t>Positive and negative whole numbers – e.g.: 5, -52, 343222</a:t>
            </a:r>
          </a:p>
          <a:p>
            <a:pPr lvl="1">
              <a:buFont typeface="Wingdings" panose="05000000000000000000" pitchFamily="2" charset="2"/>
              <a:buChar char="§"/>
            </a:pPr>
            <a:r>
              <a:rPr lang="en-US" sz="3200" dirty="0">
                <a:solidFill>
                  <a:srgbClr val="0000FF"/>
                </a:solidFill>
                <a:latin typeface="Consolas" panose="020B0609020204030204" pitchFamily="49" charset="0"/>
              </a:rPr>
              <a:t>short</a:t>
            </a:r>
            <a:r>
              <a:rPr lang="en-US" sz="3000" b="1" dirty="0">
                <a:latin typeface="Courier New" panose="02070309020205020404" pitchFamily="49" charset="0"/>
                <a:cs typeface="Courier New" panose="02070309020205020404" pitchFamily="49" charset="0"/>
              </a:rPr>
              <a:t>, </a:t>
            </a:r>
            <a:r>
              <a:rPr lang="en-US" sz="3200" dirty="0">
                <a:solidFill>
                  <a:srgbClr val="0000FF"/>
                </a:solidFill>
                <a:latin typeface="Consolas" panose="020B0609020204030204" pitchFamily="49" charset="0"/>
              </a:rPr>
              <a:t>int</a:t>
            </a:r>
            <a:r>
              <a:rPr lang="en-US" sz="3000" b="1" dirty="0">
                <a:latin typeface="Courier New" panose="02070309020205020404" pitchFamily="49" charset="0"/>
                <a:cs typeface="Courier New" panose="02070309020205020404" pitchFamily="49" charset="0"/>
              </a:rPr>
              <a:t>, </a:t>
            </a:r>
            <a:r>
              <a:rPr lang="en-US" sz="3200" dirty="0">
                <a:solidFill>
                  <a:srgbClr val="0000FF"/>
                </a:solidFill>
                <a:latin typeface="Consolas" panose="020B0609020204030204" pitchFamily="49" charset="0"/>
              </a:rPr>
              <a:t>long</a:t>
            </a:r>
            <a:endParaRPr lang="en-US" sz="3000" b="1" dirty="0">
              <a:latin typeface="Courier New" panose="02070309020205020404" pitchFamily="49" charset="0"/>
              <a:cs typeface="Courier New" panose="02070309020205020404" pitchFamily="49" charset="0"/>
            </a:endParaRPr>
          </a:p>
          <a:p>
            <a:pPr lvl="1">
              <a:buFont typeface="Wingdings" panose="05000000000000000000" pitchFamily="2" charset="2"/>
              <a:buChar char="§"/>
            </a:pPr>
            <a:r>
              <a:rPr lang="en-US" sz="3000" dirty="0"/>
              <a:t>Represented internally in binary format</a:t>
            </a:r>
          </a:p>
          <a:p>
            <a:pPr lvl="1">
              <a:buFont typeface="Wingdings" panose="05000000000000000000" pitchFamily="2" charset="2"/>
              <a:buChar char="§"/>
            </a:pPr>
            <a:r>
              <a:rPr lang="en-US" sz="3000" dirty="0"/>
              <a:t>Predefined constants line </a:t>
            </a:r>
            <a:r>
              <a:rPr lang="en-US" sz="3000" b="1" dirty="0">
                <a:latin typeface="Courier New" panose="02070309020205020404" pitchFamily="49" charset="0"/>
                <a:cs typeface="Courier New" panose="02070309020205020404" pitchFamily="49" charset="0"/>
              </a:rPr>
              <a:t>INT_MIN</a:t>
            </a:r>
            <a:r>
              <a:rPr lang="en-US" sz="3000" dirty="0"/>
              <a:t> and </a:t>
            </a:r>
            <a:r>
              <a:rPr lang="en-US" sz="3000" b="1" dirty="0">
                <a:latin typeface="Courier New" panose="02070309020205020404" pitchFamily="49" charset="0"/>
                <a:cs typeface="Courier New" panose="02070309020205020404" pitchFamily="49" charset="0"/>
              </a:rPr>
              <a:t>INT_MAX</a:t>
            </a:r>
          </a:p>
        </p:txBody>
      </p:sp>
      <p:sp>
        <p:nvSpPr>
          <p:cNvPr id="4" name="Slide Number Placeholder 3"/>
          <p:cNvSpPr>
            <a:spLocks noGrp="1"/>
          </p:cNvSpPr>
          <p:nvPr>
            <p:ph type="sldNum" sz="quarter" idx="12"/>
          </p:nvPr>
        </p:nvSpPr>
        <p:spPr/>
        <p:txBody>
          <a:bodyPr/>
          <a:lstStyle/>
          <a:p>
            <a:fld id="{43C20813-E79E-4637-B0DD-0EBBF6872E51}" type="slidenum">
              <a:rPr lang="en-US" smtClean="0"/>
              <a:t>13</a:t>
            </a:fld>
            <a:endParaRPr lang="en-US"/>
          </a:p>
        </p:txBody>
      </p:sp>
    </p:spTree>
    <p:extLst>
      <p:ext uri="{BB962C8B-B14F-4D97-AF65-F5344CB8AC3E}">
        <p14:creationId xmlns:p14="http://schemas.microsoft.com/office/powerpoint/2010/main" val="1195731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(continued)</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cs typeface="Courier New" panose="02070309020205020404" pitchFamily="49" charset="0"/>
              </a:rPr>
              <a:t>Floating Point</a:t>
            </a:r>
          </a:p>
          <a:p>
            <a:pPr lvl="1">
              <a:buFont typeface="Wingdings" panose="05000000000000000000" pitchFamily="2" charset="2"/>
              <a:buChar char="§"/>
            </a:pPr>
            <a:r>
              <a:rPr lang="en-US" sz="2800" dirty="0">
                <a:cs typeface="Courier New" panose="02070309020205020404" pitchFamily="49" charset="0"/>
              </a:rPr>
              <a:t>Real numbers has two parts – integral and fractional</a:t>
            </a:r>
          </a:p>
          <a:p>
            <a:pPr lvl="1">
              <a:buFont typeface="Wingdings" panose="05000000000000000000" pitchFamily="2" charset="2"/>
              <a:buChar char="§"/>
            </a:pPr>
            <a:r>
              <a:rPr lang="en-US" sz="3000" dirty="0">
                <a:cs typeface="Courier New" panose="02070309020205020404" pitchFamily="49" charset="0"/>
              </a:rPr>
              <a:t>Examples: 2.5, 3.666666666, -.000034, 5.0</a:t>
            </a:r>
          </a:p>
          <a:p>
            <a:pPr lvl="1">
              <a:buFont typeface="Wingdings" panose="05000000000000000000" pitchFamily="2" charset="2"/>
              <a:buChar char="§"/>
            </a:pPr>
            <a:r>
              <a:rPr lang="en-US" sz="3200" dirty="0">
                <a:solidFill>
                  <a:srgbClr val="0000FF"/>
                </a:solidFill>
                <a:latin typeface="Consolas" panose="020B0609020204030204" pitchFamily="49" charset="0"/>
              </a:rPr>
              <a:t>float</a:t>
            </a:r>
            <a:r>
              <a:rPr lang="en-US" sz="3000" b="1" dirty="0">
                <a:latin typeface="Courier New" panose="02070309020205020404" pitchFamily="49" charset="0"/>
                <a:cs typeface="Courier New" panose="02070309020205020404" pitchFamily="49" charset="0"/>
              </a:rPr>
              <a:t>, </a:t>
            </a:r>
            <a:r>
              <a:rPr lang="en-US" sz="3200" dirty="0">
                <a:solidFill>
                  <a:srgbClr val="0000FF"/>
                </a:solidFill>
                <a:latin typeface="Consolas" panose="020B0609020204030204" pitchFamily="49" charset="0"/>
              </a:rPr>
              <a:t>double</a:t>
            </a:r>
            <a:r>
              <a:rPr lang="en-US" sz="3000" b="1" dirty="0">
                <a:latin typeface="Courier New" panose="02070309020205020404" pitchFamily="49" charset="0"/>
                <a:cs typeface="Courier New" panose="02070309020205020404" pitchFamily="49" charset="0"/>
              </a:rPr>
              <a:t>, </a:t>
            </a:r>
            <a:r>
              <a:rPr lang="en-US" sz="3200" dirty="0">
                <a:solidFill>
                  <a:srgbClr val="0000FF"/>
                </a:solidFill>
                <a:latin typeface="Consolas" panose="020B0609020204030204" pitchFamily="49" charset="0"/>
              </a:rPr>
              <a:t>long</a:t>
            </a:r>
            <a:r>
              <a:rPr lang="en-US" sz="3200" dirty="0">
                <a:solidFill>
                  <a:srgbClr val="000000"/>
                </a:solidFill>
                <a:latin typeface="Consolas" panose="020B0609020204030204" pitchFamily="49" charset="0"/>
              </a:rPr>
              <a:t> </a:t>
            </a:r>
            <a:r>
              <a:rPr lang="en-US" sz="3200" dirty="0">
                <a:solidFill>
                  <a:srgbClr val="0000FF"/>
                </a:solidFill>
                <a:latin typeface="Consolas" panose="020B0609020204030204" pitchFamily="49" charset="0"/>
              </a:rPr>
              <a:t>double</a:t>
            </a:r>
            <a:endParaRPr lang="en-US" sz="3000" b="1" dirty="0">
              <a:latin typeface="Courier New" panose="02070309020205020404" pitchFamily="49" charset="0"/>
              <a:cs typeface="Courier New" panose="02070309020205020404" pitchFamily="49" charset="0"/>
            </a:endParaRPr>
          </a:p>
          <a:p>
            <a:pPr lvl="1">
              <a:buFont typeface="Wingdings" panose="05000000000000000000" pitchFamily="2" charset="2"/>
              <a:buChar char="§"/>
            </a:pPr>
            <a:r>
              <a:rPr lang="en-US" sz="3000" b="1" dirty="0">
                <a:latin typeface="Courier New" panose="02070309020205020404" pitchFamily="49" charset="0"/>
                <a:cs typeface="Courier New" panose="02070309020205020404" pitchFamily="49" charset="0"/>
              </a:rPr>
              <a:t>10.0</a:t>
            </a:r>
            <a:r>
              <a:rPr lang="en-US" sz="3000" dirty="0">
                <a:cs typeface="Courier New" panose="02070309020205020404" pitchFamily="49" charset="0"/>
              </a:rPr>
              <a:t> and </a:t>
            </a:r>
            <a:r>
              <a:rPr lang="en-US" sz="3000" b="1" dirty="0">
                <a:latin typeface="Courier New" panose="02070309020205020404" pitchFamily="49" charset="0"/>
                <a:cs typeface="Courier New" panose="02070309020205020404" pitchFamily="49" charset="0"/>
              </a:rPr>
              <a:t>10</a:t>
            </a:r>
            <a:r>
              <a:rPr lang="en-US" sz="3000" dirty="0">
                <a:cs typeface="Courier New" panose="02070309020205020404" pitchFamily="49" charset="0"/>
              </a:rPr>
              <a:t> are stored differently in memory</a:t>
            </a:r>
            <a:endParaRPr lang="bg-BG" sz="3000" dirty="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14</a:t>
            </a:fld>
            <a:endParaRPr lang="en-US"/>
          </a:p>
        </p:txBody>
      </p:sp>
    </p:spTree>
    <p:extLst>
      <p:ext uri="{BB962C8B-B14F-4D97-AF65-F5344CB8AC3E}">
        <p14:creationId xmlns:p14="http://schemas.microsoft.com/office/powerpoint/2010/main" val="3586469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(continued)</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Boolean</a:t>
            </a:r>
          </a:p>
          <a:p>
            <a:pPr lvl="1">
              <a:buFont typeface="Wingdings" panose="05000000000000000000" pitchFamily="2" charset="2"/>
              <a:buChar char="§"/>
            </a:pPr>
            <a:r>
              <a:rPr lang="en-US" sz="3000" dirty="0"/>
              <a:t>Two possible values: </a:t>
            </a:r>
            <a:r>
              <a:rPr lang="en-US" sz="3000" b="1" dirty="0">
                <a:latin typeface="Courier New" panose="02070309020205020404" pitchFamily="49" charset="0"/>
                <a:cs typeface="Courier New" panose="02070309020205020404" pitchFamily="49" charset="0"/>
              </a:rPr>
              <a:t>true</a:t>
            </a:r>
            <a:r>
              <a:rPr lang="en-US" sz="3000" dirty="0"/>
              <a:t> and </a:t>
            </a:r>
            <a:r>
              <a:rPr lang="en-US" sz="3000" b="1" dirty="0">
                <a:latin typeface="Courier New" panose="02070309020205020404" pitchFamily="49" charset="0"/>
                <a:cs typeface="Courier New" panose="02070309020205020404" pitchFamily="49" charset="0"/>
              </a:rPr>
              <a:t>false</a:t>
            </a:r>
            <a:endParaRPr lang="en-US" sz="3000" dirty="0"/>
          </a:p>
          <a:p>
            <a:pPr lvl="1">
              <a:buFont typeface="Wingdings" panose="05000000000000000000" pitchFamily="2" charset="2"/>
              <a:buChar char="§"/>
            </a:pPr>
            <a:r>
              <a:rPr lang="en-US" sz="3200" dirty="0">
                <a:solidFill>
                  <a:srgbClr val="0000FF"/>
                </a:solidFill>
                <a:latin typeface="Consolas" panose="020B0609020204030204" pitchFamily="49" charset="0"/>
              </a:rPr>
              <a:t>bool</a:t>
            </a:r>
            <a:endParaRPr lang="en-US" sz="3000" b="1" dirty="0">
              <a:latin typeface="Courier New" panose="02070309020205020404" pitchFamily="49" charset="0"/>
              <a:cs typeface="Courier New" panose="02070309020205020404" pitchFamily="49" charset="0"/>
            </a:endParaRPr>
          </a:p>
          <a:p>
            <a:pPr lvl="1">
              <a:buFont typeface="Wingdings" panose="05000000000000000000" pitchFamily="2" charset="2"/>
              <a:buChar char="§"/>
            </a:pPr>
            <a:r>
              <a:rPr lang="en-US" sz="3000" dirty="0"/>
              <a:t>Can be used to represent conditional values needed by a program to make decisions</a:t>
            </a:r>
          </a:p>
        </p:txBody>
      </p:sp>
      <p:sp>
        <p:nvSpPr>
          <p:cNvPr id="4" name="Slide Number Placeholder 3"/>
          <p:cNvSpPr>
            <a:spLocks noGrp="1"/>
          </p:cNvSpPr>
          <p:nvPr>
            <p:ph type="sldNum" sz="quarter" idx="12"/>
          </p:nvPr>
        </p:nvSpPr>
        <p:spPr/>
        <p:txBody>
          <a:bodyPr/>
          <a:lstStyle/>
          <a:p>
            <a:fld id="{43C20813-E79E-4637-B0DD-0EBBF6872E51}" type="slidenum">
              <a:rPr lang="en-US" smtClean="0"/>
              <a:t>15</a:t>
            </a:fld>
            <a:endParaRPr lang="en-US"/>
          </a:p>
        </p:txBody>
      </p:sp>
    </p:spTree>
    <p:extLst>
      <p:ext uri="{BB962C8B-B14F-4D97-AF65-F5344CB8AC3E}">
        <p14:creationId xmlns:p14="http://schemas.microsoft.com/office/powerpoint/2010/main" val="963351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(continued)</a:t>
            </a:r>
            <a:endParaRPr lang="bg-BG" dirty="0"/>
          </a:p>
        </p:txBody>
      </p:sp>
      <p:sp>
        <p:nvSpPr>
          <p:cNvPr id="3" name="Content Placeholder 2"/>
          <p:cNvSpPr>
            <a:spLocks noGrp="1"/>
          </p:cNvSpPr>
          <p:nvPr>
            <p:ph idx="1"/>
          </p:nvPr>
        </p:nvSpPr>
        <p:spPr>
          <a:xfrm>
            <a:off x="1097280" y="1845733"/>
            <a:ext cx="10058400" cy="4402667"/>
          </a:xfrm>
        </p:spPr>
        <p:txBody>
          <a:bodyPr>
            <a:normAutofit/>
          </a:bodyPr>
          <a:lstStyle/>
          <a:p>
            <a:pPr>
              <a:buFont typeface="Wingdings" panose="05000000000000000000" pitchFamily="2" charset="2"/>
              <a:buChar char="§"/>
            </a:pPr>
            <a:r>
              <a:rPr lang="en-US" sz="3200" dirty="0"/>
              <a:t>Characters</a:t>
            </a:r>
          </a:p>
          <a:p>
            <a:pPr lvl="1">
              <a:buFont typeface="Wingdings" panose="05000000000000000000" pitchFamily="2" charset="2"/>
              <a:buChar char="§"/>
            </a:pPr>
            <a:r>
              <a:rPr lang="en-US" sz="3000" dirty="0"/>
              <a:t>Represent individual character values – a letter, a digit or a special symbol that can be typed with the keyboard</a:t>
            </a:r>
          </a:p>
          <a:p>
            <a:pPr lvl="1">
              <a:buFont typeface="Wingdings" panose="05000000000000000000" pitchFamily="2" charset="2"/>
              <a:buChar char="§"/>
            </a:pPr>
            <a:r>
              <a:rPr lang="en-US" sz="3000" dirty="0"/>
              <a:t>Examples: </a:t>
            </a:r>
            <a:r>
              <a:rPr lang="bg-BG" sz="3200" dirty="0">
                <a:solidFill>
                  <a:srgbClr val="A31515"/>
                </a:solidFill>
                <a:latin typeface="Consolas" panose="020B0609020204030204" pitchFamily="49" charset="0"/>
              </a:rPr>
              <a:t>'А'</a:t>
            </a:r>
            <a:r>
              <a:rPr lang="bg-BG" sz="3200" dirty="0">
                <a:solidFill>
                  <a:srgbClr val="000000"/>
                </a:solidFill>
                <a:latin typeface="Consolas" panose="020B0609020204030204" pitchFamily="49" charset="0"/>
              </a:rPr>
              <a:t> </a:t>
            </a:r>
            <a:r>
              <a:rPr lang="bg-BG" sz="3200" dirty="0">
                <a:solidFill>
                  <a:srgbClr val="A31515"/>
                </a:solidFill>
                <a:latin typeface="Consolas" panose="020B0609020204030204" pitchFamily="49" charset="0"/>
              </a:rPr>
              <a:t>'а'</a:t>
            </a:r>
            <a:r>
              <a:rPr lang="bg-BG" sz="3200" dirty="0">
                <a:solidFill>
                  <a:srgbClr val="000000"/>
                </a:solidFill>
                <a:latin typeface="Consolas" panose="020B0609020204030204" pitchFamily="49" charset="0"/>
              </a:rPr>
              <a:t> </a:t>
            </a:r>
            <a:r>
              <a:rPr lang="bg-BG" sz="3200" dirty="0">
                <a:solidFill>
                  <a:srgbClr val="A31515"/>
                </a:solidFill>
                <a:latin typeface="Consolas" panose="020B0609020204030204" pitchFamily="49" charset="0"/>
              </a:rPr>
              <a:t>'2'</a:t>
            </a:r>
            <a:r>
              <a:rPr lang="bg-BG" sz="3200" dirty="0">
                <a:solidFill>
                  <a:srgbClr val="000000"/>
                </a:solidFill>
                <a:latin typeface="Consolas" panose="020B0609020204030204" pitchFamily="49" charset="0"/>
              </a:rPr>
              <a:t> </a:t>
            </a:r>
            <a:r>
              <a:rPr lang="bg-BG" sz="3200" dirty="0">
                <a:solidFill>
                  <a:srgbClr val="A31515"/>
                </a:solidFill>
                <a:latin typeface="Consolas" panose="020B0609020204030204" pitchFamily="49" charset="0"/>
              </a:rPr>
              <a:t>'*'</a:t>
            </a:r>
            <a:r>
              <a:rPr lang="bg-BG" sz="3200" dirty="0">
                <a:solidFill>
                  <a:srgbClr val="000000"/>
                </a:solidFill>
                <a:latin typeface="Consolas" panose="020B0609020204030204" pitchFamily="49" charset="0"/>
              </a:rPr>
              <a:t> </a:t>
            </a:r>
            <a:r>
              <a:rPr lang="bg-BG" sz="3200" dirty="0">
                <a:solidFill>
                  <a:srgbClr val="A31515"/>
                </a:solidFill>
                <a:latin typeface="Consolas" panose="020B0609020204030204" pitchFamily="49" charset="0"/>
              </a:rPr>
              <a:t>'"'</a:t>
            </a:r>
            <a:r>
              <a:rPr lang="bg-BG" sz="3200" dirty="0">
                <a:solidFill>
                  <a:srgbClr val="000000"/>
                </a:solidFill>
                <a:latin typeface="Consolas" panose="020B0609020204030204" pitchFamily="49" charset="0"/>
              </a:rPr>
              <a:t> </a:t>
            </a:r>
            <a:r>
              <a:rPr lang="bg-BG" sz="3200" dirty="0">
                <a:solidFill>
                  <a:srgbClr val="A31515"/>
                </a:solidFill>
                <a:latin typeface="Consolas" panose="020B0609020204030204" pitchFamily="49" charset="0"/>
              </a:rPr>
              <a:t>' '</a:t>
            </a:r>
            <a:endParaRPr lang="en-US" sz="3200" dirty="0">
              <a:solidFill>
                <a:srgbClr val="A31515"/>
              </a:solidFill>
              <a:latin typeface="Consolas" panose="020B0609020204030204" pitchFamily="49" charset="0"/>
            </a:endParaRPr>
          </a:p>
          <a:p>
            <a:pPr lvl="1">
              <a:buFont typeface="Wingdings" panose="05000000000000000000" pitchFamily="2" charset="2"/>
              <a:buChar char="§"/>
            </a:pPr>
            <a:r>
              <a:rPr lang="en-US" sz="3200" dirty="0">
                <a:solidFill>
                  <a:srgbClr val="0000FF"/>
                </a:solidFill>
                <a:latin typeface="Consolas" panose="020B0609020204030204" pitchFamily="49" charset="0"/>
              </a:rPr>
              <a:t>char</a:t>
            </a:r>
            <a:endParaRPr lang="en-US" sz="3000" b="1" dirty="0">
              <a:latin typeface="Courier New" panose="02070309020205020404" pitchFamily="49" charset="0"/>
              <a:cs typeface="Courier New" panose="02070309020205020404" pitchFamily="49" charset="0"/>
            </a:endParaRPr>
          </a:p>
          <a:p>
            <a:pPr lvl="1">
              <a:buFont typeface="Wingdings" panose="05000000000000000000" pitchFamily="2" charset="2"/>
              <a:buChar char="§"/>
            </a:pPr>
            <a:r>
              <a:rPr lang="en-US" sz="3000" dirty="0"/>
              <a:t>Stored in 1 byte in memory</a:t>
            </a:r>
          </a:p>
          <a:p>
            <a:pPr lvl="1">
              <a:buFont typeface="Wingdings" panose="05000000000000000000" pitchFamily="2" charset="2"/>
              <a:buChar char="§"/>
            </a:pPr>
            <a:r>
              <a:rPr lang="en-US" sz="3000" dirty="0"/>
              <a:t>Special characters – escape sequences – allow simple textual control: </a:t>
            </a:r>
            <a:r>
              <a:rPr lang="en-US" sz="3200" dirty="0">
                <a:solidFill>
                  <a:srgbClr val="A31515"/>
                </a:solidFill>
                <a:latin typeface="Consolas" panose="020B0609020204030204" pitchFamily="49" charset="0"/>
              </a:rPr>
              <a:t>'\n'</a:t>
            </a:r>
            <a:r>
              <a:rPr lang="en-US" sz="3200" dirty="0">
                <a:solidFill>
                  <a:srgbClr val="000000"/>
                </a:solidFill>
                <a:latin typeface="Consolas" panose="020B0609020204030204" pitchFamily="49" charset="0"/>
              </a:rPr>
              <a:t> </a:t>
            </a:r>
            <a:r>
              <a:rPr lang="en-US" sz="3200" dirty="0">
                <a:solidFill>
                  <a:srgbClr val="A31515"/>
                </a:solidFill>
                <a:latin typeface="Consolas" panose="020B0609020204030204" pitchFamily="49" charset="0"/>
              </a:rPr>
              <a:t>'\b'</a:t>
            </a:r>
            <a:r>
              <a:rPr lang="en-US" sz="3200" dirty="0">
                <a:solidFill>
                  <a:srgbClr val="000000"/>
                </a:solidFill>
                <a:latin typeface="Consolas" panose="020B0609020204030204" pitchFamily="49" charset="0"/>
              </a:rPr>
              <a:t> </a:t>
            </a:r>
            <a:r>
              <a:rPr lang="en-US" sz="3200" dirty="0">
                <a:solidFill>
                  <a:srgbClr val="A31515"/>
                </a:solidFill>
                <a:latin typeface="Consolas" panose="020B0609020204030204" pitchFamily="49" charset="0"/>
              </a:rPr>
              <a:t>'\r'</a:t>
            </a:r>
            <a:r>
              <a:rPr lang="en-US" sz="3200" dirty="0">
                <a:solidFill>
                  <a:srgbClr val="000000"/>
                </a:solidFill>
                <a:latin typeface="Consolas" panose="020B0609020204030204" pitchFamily="49" charset="0"/>
              </a:rPr>
              <a:t> </a:t>
            </a:r>
            <a:r>
              <a:rPr lang="en-US" sz="3200" dirty="0">
                <a:solidFill>
                  <a:srgbClr val="A31515"/>
                </a:solidFill>
                <a:latin typeface="Consolas" panose="020B0609020204030204" pitchFamily="49" charset="0"/>
              </a:rPr>
              <a:t>'\t'</a:t>
            </a:r>
            <a:r>
              <a:rPr lang="en-US" sz="3200" dirty="0">
                <a:solidFill>
                  <a:srgbClr val="000000"/>
                </a:solidFill>
                <a:latin typeface="Consolas" panose="020B0609020204030204" pitchFamily="49" charset="0"/>
              </a:rPr>
              <a:t> </a:t>
            </a:r>
            <a:r>
              <a:rPr lang="en-US" sz="3200" dirty="0">
                <a:solidFill>
                  <a:srgbClr val="A31515"/>
                </a:solidFill>
                <a:latin typeface="Consolas" panose="020B0609020204030204" pitchFamily="49" charset="0"/>
              </a:rPr>
              <a:t>'\''</a:t>
            </a:r>
            <a:endParaRPr lang="bg-BG" sz="30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16</a:t>
            </a:fld>
            <a:endParaRPr lang="en-US"/>
          </a:p>
        </p:txBody>
      </p:sp>
    </p:spTree>
    <p:extLst>
      <p:ext uri="{BB962C8B-B14F-4D97-AF65-F5344CB8AC3E}">
        <p14:creationId xmlns:p14="http://schemas.microsoft.com/office/powerpoint/2010/main" val="1732092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ourier New" panose="02070309020205020404" pitchFamily="49" charset="0"/>
                <a:cs typeface="Courier New" panose="02070309020205020404" pitchFamily="49" charset="0"/>
              </a:rPr>
              <a:t>string</a:t>
            </a:r>
            <a:r>
              <a:rPr lang="en-US" dirty="0">
                <a:latin typeface="Courier New" panose="02070309020205020404" pitchFamily="49" charset="0"/>
                <a:cs typeface="Courier New" panose="02070309020205020404" pitchFamily="49" charset="0"/>
              </a:rPr>
              <a:t> </a:t>
            </a:r>
            <a:r>
              <a:rPr lang="en-US" dirty="0"/>
              <a:t>Class</a:t>
            </a:r>
            <a:endParaRPr lang="bg-BG" dirty="0"/>
          </a:p>
        </p:txBody>
      </p:sp>
      <p:sp>
        <p:nvSpPr>
          <p:cNvPr id="3" name="Content Placeholder 2"/>
          <p:cNvSpPr>
            <a:spLocks noGrp="1"/>
          </p:cNvSpPr>
          <p:nvPr>
            <p:ph idx="1"/>
          </p:nvPr>
        </p:nvSpPr>
        <p:spPr>
          <a:xfrm>
            <a:off x="1097280" y="1845734"/>
            <a:ext cx="10058400" cy="4268196"/>
          </a:xfrm>
        </p:spPr>
        <p:txBody>
          <a:bodyPr>
            <a:normAutofit/>
          </a:bodyPr>
          <a:lstStyle/>
          <a:p>
            <a:pPr>
              <a:buFont typeface="Wingdings" panose="05000000000000000000" pitchFamily="2" charset="2"/>
              <a:buChar char="§"/>
            </a:pPr>
            <a:r>
              <a:rPr lang="en-US" sz="3200" dirty="0"/>
              <a:t>Besides the built-in data types, C++ provides definitions for a number of other data types in its standard library</a:t>
            </a:r>
          </a:p>
          <a:p>
            <a:pPr>
              <a:buFont typeface="Wingdings" panose="05000000000000000000" pitchFamily="2" charset="2"/>
              <a:buChar char="§"/>
            </a:pPr>
            <a:r>
              <a:rPr lang="en-US" sz="3200" dirty="0"/>
              <a:t>The </a:t>
            </a:r>
            <a:r>
              <a:rPr lang="en-US" sz="3200" dirty="0">
                <a:solidFill>
                  <a:srgbClr val="2B91AF"/>
                </a:solidFill>
                <a:latin typeface="Consolas" panose="020B0609020204030204" pitchFamily="49" charset="0"/>
              </a:rPr>
              <a:t>string </a:t>
            </a:r>
            <a:r>
              <a:rPr lang="en-US" sz="3200" dirty="0"/>
              <a:t>class provides a type for performing operations on string data – compare, join, split, etc.</a:t>
            </a:r>
          </a:p>
          <a:p>
            <a:pPr>
              <a:buFont typeface="Wingdings" panose="05000000000000000000" pitchFamily="2" charset="2"/>
              <a:buChar char="§"/>
            </a:pPr>
            <a:r>
              <a:rPr lang="en-US" sz="3200" dirty="0"/>
              <a:t>Examples: </a:t>
            </a:r>
            <a:r>
              <a:rPr lang="en-US" sz="3200" dirty="0">
                <a:solidFill>
                  <a:srgbClr val="A31515"/>
                </a:solidFill>
                <a:latin typeface="Consolas" panose="020B0609020204030204" pitchFamily="49" charset="0"/>
              </a:rPr>
              <a:t>"Enter speed:"</a:t>
            </a:r>
            <a:r>
              <a:rPr lang="en-US" sz="3200" dirty="0">
                <a:solidFill>
                  <a:srgbClr val="000000"/>
                </a:solidFill>
                <a:latin typeface="Consolas" panose="020B0609020204030204" pitchFamily="49" charset="0"/>
              </a:rPr>
              <a:t> </a:t>
            </a:r>
            <a:r>
              <a:rPr lang="en-US" sz="3200" dirty="0">
                <a:solidFill>
                  <a:srgbClr val="A31515"/>
                </a:solidFill>
                <a:latin typeface="Consolas" panose="020B0609020204030204" pitchFamily="49" charset="0"/>
              </a:rPr>
              <a:t>"ABC"</a:t>
            </a:r>
            <a:r>
              <a:rPr lang="en-US" sz="3200" dirty="0">
                <a:solidFill>
                  <a:srgbClr val="000000"/>
                </a:solidFill>
                <a:latin typeface="Consolas" panose="020B0609020204030204" pitchFamily="49" charset="0"/>
              </a:rPr>
              <a:t> </a:t>
            </a:r>
            <a:r>
              <a:rPr lang="en-US" sz="3200" dirty="0">
                <a:solidFill>
                  <a:srgbClr val="A31515"/>
                </a:solidFill>
                <a:latin typeface="Consolas" panose="020B0609020204030204" pitchFamily="49" charset="0"/>
              </a:rPr>
              <a:t>"B"</a:t>
            </a:r>
            <a:r>
              <a:rPr lang="en-US" sz="3200" dirty="0">
                <a:solidFill>
                  <a:srgbClr val="000000"/>
                </a:solidFill>
                <a:latin typeface="Consolas" panose="020B0609020204030204" pitchFamily="49" charset="0"/>
              </a:rPr>
              <a:t> </a:t>
            </a:r>
            <a:r>
              <a:rPr lang="en-US" sz="3200" dirty="0">
                <a:solidFill>
                  <a:srgbClr val="A31515"/>
                </a:solidFill>
                <a:latin typeface="Consolas" panose="020B0609020204030204" pitchFamily="49" charset="0"/>
              </a:rPr>
              <a:t>"1234"</a:t>
            </a:r>
          </a:p>
          <a:p>
            <a:pPr>
              <a:buFont typeface="Wingdings" panose="05000000000000000000" pitchFamily="2" charset="2"/>
              <a:buChar char="§"/>
            </a:pPr>
            <a:r>
              <a:rPr lang="en-US" sz="3200" dirty="0"/>
              <a:t>For using string identifiers, but not required for literals:</a:t>
            </a:r>
          </a:p>
          <a:p>
            <a:pPr marL="201168" lvl="1" indent="0">
              <a:buNone/>
            </a:pPr>
            <a:r>
              <a:rPr lang="en-US" sz="3000" b="1" dirty="0">
                <a:latin typeface="Courier New" panose="02070309020205020404" pitchFamily="49" charset="0"/>
                <a:cs typeface="Courier New" panose="02070309020205020404" pitchFamily="49" charset="0"/>
              </a:rPr>
              <a:t>	#include &lt;string&gt;</a:t>
            </a:r>
            <a:endParaRPr lang="bg-BG" sz="30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17</a:t>
            </a:fld>
            <a:endParaRPr lang="en-US"/>
          </a:p>
        </p:txBody>
      </p:sp>
    </p:spTree>
    <p:extLst>
      <p:ext uri="{BB962C8B-B14F-4D97-AF65-F5344CB8AC3E}">
        <p14:creationId xmlns:p14="http://schemas.microsoft.com/office/powerpoint/2010/main" val="146166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 Declarations</a:t>
            </a:r>
            <a:endParaRPr lang="bg-BG" dirty="0"/>
          </a:p>
        </p:txBody>
      </p:sp>
      <p:sp>
        <p:nvSpPr>
          <p:cNvPr id="3" name="Content Placeholder 2"/>
          <p:cNvSpPr>
            <a:spLocks noGrp="1"/>
          </p:cNvSpPr>
          <p:nvPr>
            <p:ph idx="1"/>
          </p:nvPr>
        </p:nvSpPr>
        <p:spPr>
          <a:xfrm>
            <a:off x="1097280" y="1845735"/>
            <a:ext cx="10058400" cy="4429560"/>
          </a:xfrm>
        </p:spPr>
        <p:txBody>
          <a:bodyPr>
            <a:normAutofit/>
          </a:bodyPr>
          <a:lstStyle/>
          <a:p>
            <a:pPr>
              <a:buFont typeface="Wingdings" panose="05000000000000000000" pitchFamily="2" charset="2"/>
              <a:buChar char="§"/>
            </a:pPr>
            <a:r>
              <a:rPr lang="en-US" sz="3200" dirty="0"/>
              <a:t>Portions of memory used for storing program data, such as its input or computed results, are called </a:t>
            </a:r>
            <a:r>
              <a:rPr lang="en-US" sz="3200" b="1" dirty="0"/>
              <a:t>variables</a:t>
            </a:r>
            <a:endParaRPr lang="en-US" sz="3200" dirty="0"/>
          </a:p>
          <a:p>
            <a:pPr>
              <a:buFont typeface="Wingdings" panose="05000000000000000000" pitchFamily="2" charset="2"/>
              <a:buChar char="§"/>
            </a:pPr>
            <a:r>
              <a:rPr lang="en-US" sz="3200" dirty="0"/>
              <a:t>A variable declaration statement tells the compiler the names (identifiers) of variables and the kind of information to be stored in each one</a:t>
            </a:r>
          </a:p>
          <a:p>
            <a:pPr marL="201168" lvl="1" indent="0">
              <a:spcBef>
                <a:spcPts val="1200"/>
              </a:spcBef>
              <a:buNone/>
            </a:pPr>
            <a:r>
              <a:rPr lang="en-US" sz="3200" b="1" i="1" dirty="0">
                <a:latin typeface="Courier New" panose="02070309020205020404" pitchFamily="49" charset="0"/>
                <a:cs typeface="Courier New" panose="02070309020205020404" pitchFamily="49" charset="0"/>
              </a:rPr>
              <a:t>	type identifier-list;</a:t>
            </a:r>
          </a:p>
          <a:p>
            <a:pPr>
              <a:buFont typeface="Wingdings" panose="05000000000000000000" pitchFamily="2" charset="2"/>
              <a:buChar char="§"/>
            </a:pPr>
            <a:r>
              <a:rPr lang="en-US" sz="3200" dirty="0">
                <a:cs typeface="Courier New" panose="02070309020205020404" pitchFamily="49" charset="0"/>
              </a:rPr>
              <a:t>Example:</a:t>
            </a:r>
          </a:p>
          <a:p>
            <a:pPr marL="201168" lvl="1" indent="0">
              <a:spcBef>
                <a:spcPts val="600"/>
              </a:spcBef>
              <a:buNone/>
            </a:pPr>
            <a:r>
              <a:rPr lang="en-US" sz="3000" dirty="0">
                <a:cs typeface="Courier New" panose="02070309020205020404" pitchFamily="49" charset="0"/>
              </a:rPr>
              <a:t>	</a:t>
            </a:r>
            <a:r>
              <a:rPr lang="en-US" sz="3200" dirty="0">
                <a:solidFill>
                  <a:srgbClr val="0000FF"/>
                </a:solidFill>
                <a:latin typeface="Consolas" panose="020B0609020204030204" pitchFamily="49" charset="0"/>
              </a:rPr>
              <a:t>int</a:t>
            </a:r>
            <a:r>
              <a:rPr lang="en-US" sz="3200" dirty="0">
                <a:solidFill>
                  <a:srgbClr val="000000"/>
                </a:solidFill>
                <a:latin typeface="Consolas" panose="020B0609020204030204" pitchFamily="49" charset="0"/>
              </a:rPr>
              <a:t> age;</a:t>
            </a:r>
            <a:endParaRPr lang="en-US" sz="3000" dirty="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18</a:t>
            </a:fld>
            <a:endParaRPr lang="en-US"/>
          </a:p>
        </p:txBody>
      </p:sp>
    </p:spTree>
    <p:extLst>
      <p:ext uri="{BB962C8B-B14F-4D97-AF65-F5344CB8AC3E}">
        <p14:creationId xmlns:p14="http://schemas.microsoft.com/office/powerpoint/2010/main" val="3274414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 Declaration Examples</a:t>
            </a:r>
            <a:endParaRPr lang="bg-BG" dirty="0"/>
          </a:p>
        </p:txBody>
      </p:sp>
      <p:sp>
        <p:nvSpPr>
          <p:cNvPr id="3" name="Content Placeholder 2"/>
          <p:cNvSpPr>
            <a:spLocks noGrp="1"/>
          </p:cNvSpPr>
          <p:nvPr>
            <p:ph idx="1"/>
          </p:nvPr>
        </p:nvSpPr>
        <p:spPr>
          <a:xfrm>
            <a:off x="1097280" y="1845735"/>
            <a:ext cx="10058400" cy="4429560"/>
          </a:xfrm>
        </p:spPr>
        <p:txBody>
          <a:bodyPr>
            <a:normAutofit/>
          </a:bodyPr>
          <a:lstStyle/>
          <a:p>
            <a:pPr marL="0" indent="0">
              <a:buNone/>
            </a:pPr>
            <a:endParaRPr lang="en-US" sz="2800" dirty="0">
              <a:solidFill>
                <a:srgbClr val="0000FF"/>
              </a:solidFill>
              <a:latin typeface="Consolas" panose="020B0609020204030204" pitchFamily="49" charset="0"/>
            </a:endParaRPr>
          </a:p>
          <a:p>
            <a:pPr marL="0" indent="0">
              <a:buNone/>
            </a:pPr>
            <a:r>
              <a:rPr lang="en-US" sz="2800" dirty="0">
                <a:solidFill>
                  <a:srgbClr val="0000FF"/>
                </a:solidFill>
                <a:latin typeface="Consolas" panose="020B0609020204030204" pitchFamily="49" charset="0"/>
              </a:rPr>
              <a:t>float</a:t>
            </a:r>
            <a:r>
              <a:rPr lang="en-US" sz="2800" dirty="0">
                <a:solidFill>
                  <a:srgbClr val="000000"/>
                </a:solidFill>
                <a:latin typeface="Consolas" panose="020B0609020204030204" pitchFamily="49" charset="0"/>
              </a:rPr>
              <a:t> x;</a:t>
            </a:r>
          </a:p>
          <a:p>
            <a:pPr marL="0" indent="0">
              <a:buNone/>
            </a:pPr>
            <a:r>
              <a:rPr lang="en-US" sz="2800" dirty="0">
                <a:solidFill>
                  <a:srgbClr val="0000FF"/>
                </a:solidFill>
                <a:latin typeface="Consolas" panose="020B0609020204030204" pitchFamily="49" charset="0"/>
              </a:rPr>
              <a:t>int</a:t>
            </a:r>
            <a:r>
              <a:rPr lang="en-US" sz="2800" dirty="0">
                <a:solidFill>
                  <a:srgbClr val="000000"/>
                </a:solidFill>
                <a:latin typeface="Consolas" panose="020B0609020204030204" pitchFamily="49" charset="0"/>
              </a:rPr>
              <a:t> me, you;</a:t>
            </a:r>
          </a:p>
          <a:p>
            <a:pPr marL="0" indent="0">
              <a:buNone/>
            </a:pPr>
            <a:r>
              <a:rPr lang="en-US" sz="2800" dirty="0">
                <a:solidFill>
                  <a:srgbClr val="0000FF"/>
                </a:solidFill>
                <a:latin typeface="Consolas" panose="020B0609020204030204" pitchFamily="49" charset="0"/>
              </a:rPr>
              <a:t>float</a:t>
            </a:r>
            <a:r>
              <a:rPr lang="en-US" sz="2800" dirty="0">
                <a:solidFill>
                  <a:srgbClr val="000000"/>
                </a:solidFill>
                <a:latin typeface="Consolas" panose="020B0609020204030204" pitchFamily="49" charset="0"/>
              </a:rPr>
              <a:t> week = 40.0;</a:t>
            </a:r>
          </a:p>
          <a:p>
            <a:pPr marL="0" indent="0">
              <a:buNone/>
            </a:pPr>
            <a:r>
              <a:rPr lang="en-US" sz="2800" dirty="0">
                <a:solidFill>
                  <a:srgbClr val="0000FF"/>
                </a:solidFill>
                <a:latin typeface="Consolas" panose="020B0609020204030204" pitchFamily="49" charset="0"/>
              </a:rPr>
              <a:t>char</a:t>
            </a:r>
            <a:r>
              <a:rPr lang="en-US" sz="2800" dirty="0">
                <a:solidFill>
                  <a:srgbClr val="000000"/>
                </a:solidFill>
                <a:latin typeface="Consolas" panose="020B0609020204030204" pitchFamily="49" charset="0"/>
              </a:rPr>
              <a:t> letter = </a:t>
            </a:r>
            <a:r>
              <a:rPr lang="en-US" sz="2800" dirty="0">
                <a:solidFill>
                  <a:srgbClr val="A31515"/>
                </a:solidFill>
                <a:latin typeface="Consolas" panose="020B0609020204030204" pitchFamily="49" charset="0"/>
              </a:rPr>
              <a:t>'Y'</a:t>
            </a:r>
            <a:r>
              <a:rPr lang="en-US" sz="2800" dirty="0">
                <a:solidFill>
                  <a:srgbClr val="000000"/>
                </a:solidFill>
                <a:latin typeface="Consolas" panose="020B0609020204030204" pitchFamily="49" charset="0"/>
              </a:rPr>
              <a:t>;</a:t>
            </a:r>
          </a:p>
          <a:p>
            <a:pPr marL="0" indent="0">
              <a:buNone/>
            </a:pPr>
            <a:r>
              <a:rPr lang="en-US" sz="2800" dirty="0">
                <a:solidFill>
                  <a:srgbClr val="2B91AF"/>
                </a:solidFill>
                <a:latin typeface="Consolas" panose="020B0609020204030204" pitchFamily="49" charset="0"/>
              </a:rPr>
              <a:t>string</a:t>
            </a:r>
            <a:r>
              <a:rPr lang="en-US" sz="2800" dirty="0">
                <a:solidFill>
                  <a:srgbClr val="000000"/>
                </a:solidFill>
                <a:latin typeface="Consolas" panose="020B0609020204030204" pitchFamily="49" charset="0"/>
              </a:rPr>
              <a:t> flower = </a:t>
            </a:r>
            <a:r>
              <a:rPr lang="en-US" sz="2800" dirty="0">
                <a:solidFill>
                  <a:srgbClr val="A31515"/>
                </a:solidFill>
                <a:latin typeface="Consolas" panose="020B0609020204030204" pitchFamily="49" charset="0"/>
              </a:rPr>
              <a:t>"rose"</a:t>
            </a:r>
            <a:r>
              <a:rPr lang="en-US" sz="2800" dirty="0">
                <a:solidFill>
                  <a:srgbClr val="000000"/>
                </a:solidFill>
                <a:latin typeface="Consolas" panose="020B0609020204030204" pitchFamily="49" charset="0"/>
              </a:rPr>
              <a:t>;</a:t>
            </a:r>
            <a:endParaRPr lang="bg-BG" sz="2800" dirty="0">
              <a:solidFill>
                <a:srgbClr val="000000"/>
              </a:solidFill>
              <a:latin typeface="Consolas" panose="020B0609020204030204" pitchFamily="49" charset="0"/>
            </a:endParaRPr>
          </a:p>
          <a:p>
            <a:pPr marL="0" indent="0">
              <a:buNone/>
            </a:pPr>
            <a:r>
              <a:rPr lang="en-US" sz="2800" dirty="0">
                <a:solidFill>
                  <a:srgbClr val="2B91AF"/>
                </a:solidFill>
                <a:latin typeface="Consolas" panose="020B0609020204030204" pitchFamily="49" charset="0"/>
              </a:rPr>
              <a:t>std::string</a:t>
            </a:r>
            <a:r>
              <a:rPr lang="en-US" sz="2800" dirty="0">
                <a:solidFill>
                  <a:srgbClr val="000000"/>
                </a:solidFill>
                <a:latin typeface="Consolas" panose="020B0609020204030204" pitchFamily="49" charset="0"/>
              </a:rPr>
              <a:t> flower = </a:t>
            </a:r>
            <a:r>
              <a:rPr lang="en-US" sz="2800" dirty="0">
                <a:solidFill>
                  <a:srgbClr val="A31515"/>
                </a:solidFill>
                <a:latin typeface="Consolas" panose="020B0609020204030204" pitchFamily="49" charset="0"/>
              </a:rPr>
              <a:t>"rose"</a:t>
            </a:r>
            <a:r>
              <a:rPr lang="en-US" sz="2800" dirty="0">
                <a:solidFill>
                  <a:srgbClr val="000000"/>
                </a:solidFill>
                <a:latin typeface="Consolas" panose="020B0609020204030204" pitchFamily="49" charset="0"/>
              </a:rPr>
              <a:t>;</a:t>
            </a:r>
            <a:endParaRPr lang="bg-BG" sz="2800" dirty="0">
              <a:solidFill>
                <a:srgbClr val="000000"/>
              </a:solidFill>
              <a:latin typeface="Consolas" panose="020B0609020204030204" pitchFamily="49" charset="0"/>
            </a:endParaRPr>
          </a:p>
          <a:p>
            <a:pPr marL="0" indent="0">
              <a:buNone/>
            </a:pPr>
            <a:endParaRPr lang="en-US" sz="2800" b="1" i="1" dirty="0">
              <a:latin typeface="Calibri" panose="020F0502020204030204" pitchFamily="34"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19</a:t>
            </a:fld>
            <a:endParaRPr lang="en-US"/>
          </a:p>
        </p:txBody>
      </p:sp>
    </p:spTree>
    <p:extLst>
      <p:ext uri="{BB962C8B-B14F-4D97-AF65-F5344CB8AC3E}">
        <p14:creationId xmlns:p14="http://schemas.microsoft.com/office/powerpoint/2010/main" val="2234693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Constant Declarations</a:t>
            </a:r>
            <a:endParaRPr lang="bg-BG" dirty="0"/>
          </a:p>
        </p:txBody>
      </p:sp>
      <p:sp>
        <p:nvSpPr>
          <p:cNvPr id="3" name="Content Placeholder 2"/>
          <p:cNvSpPr>
            <a:spLocks noGrp="1"/>
          </p:cNvSpPr>
          <p:nvPr>
            <p:ph idx="1"/>
          </p:nvPr>
        </p:nvSpPr>
        <p:spPr>
          <a:xfrm>
            <a:off x="1097280" y="1845734"/>
            <a:ext cx="10058400" cy="4375772"/>
          </a:xfrm>
        </p:spPr>
        <p:txBody>
          <a:bodyPr>
            <a:normAutofit/>
          </a:bodyPr>
          <a:lstStyle/>
          <a:p>
            <a:pPr>
              <a:buFont typeface="Wingdings" panose="05000000000000000000" pitchFamily="2" charset="2"/>
              <a:buChar char="§"/>
            </a:pPr>
            <a:r>
              <a:rPr lang="en-US" sz="3200" dirty="0"/>
              <a:t>Constants are portions of memory whose contents cannot change</a:t>
            </a:r>
          </a:p>
          <a:p>
            <a:pPr marL="0" indent="0">
              <a:buNone/>
            </a:pPr>
            <a:r>
              <a:rPr lang="en-US" sz="3200" b="1" dirty="0">
                <a:latin typeface="Courier New" panose="02070309020205020404" pitchFamily="49" charset="0"/>
                <a:cs typeface="Courier New" panose="02070309020205020404" pitchFamily="49" charset="0"/>
              </a:rPr>
              <a:t> const</a:t>
            </a:r>
            <a:r>
              <a:rPr lang="en-US" sz="3200" b="1" i="1" dirty="0">
                <a:latin typeface="Courier New" panose="02070309020205020404" pitchFamily="49" charset="0"/>
                <a:cs typeface="Courier New" panose="02070309020205020404" pitchFamily="49" charset="0"/>
              </a:rPr>
              <a:t> type constant-identifier = value;</a:t>
            </a:r>
          </a:p>
          <a:p>
            <a:pPr>
              <a:buFont typeface="Wingdings" panose="05000000000000000000" pitchFamily="2" charset="2"/>
              <a:buChar char="§"/>
            </a:pPr>
            <a:r>
              <a:rPr lang="en-US" sz="3200" dirty="0"/>
              <a:t>Example:</a:t>
            </a:r>
          </a:p>
          <a:p>
            <a:pPr marL="201168" lvl="1" indent="0">
              <a:buNone/>
            </a:pPr>
            <a:r>
              <a:rPr lang="en-US" sz="3000" b="1" dirty="0">
                <a:latin typeface="Courier New" panose="02070309020205020404" pitchFamily="49" charset="0"/>
                <a:cs typeface="Courier New" panose="02070309020205020404" pitchFamily="49" charset="0"/>
              </a:rPr>
              <a:t>	</a:t>
            </a:r>
            <a:r>
              <a:rPr lang="en-US" sz="3200" dirty="0">
                <a:solidFill>
                  <a:srgbClr val="0000FF"/>
                </a:solidFill>
                <a:latin typeface="Consolas" panose="020B0609020204030204" pitchFamily="49" charset="0"/>
              </a:rPr>
              <a:t>const</a:t>
            </a:r>
            <a:r>
              <a:rPr lang="en-US" sz="3200" dirty="0">
                <a:solidFill>
                  <a:srgbClr val="000000"/>
                </a:solidFill>
                <a:latin typeface="Consolas" panose="020B0609020204030204" pitchFamily="49" charset="0"/>
              </a:rPr>
              <a:t> </a:t>
            </a:r>
            <a:r>
              <a:rPr lang="en-US" sz="3200" dirty="0">
                <a:solidFill>
                  <a:srgbClr val="0000FF"/>
                </a:solidFill>
                <a:latin typeface="Consolas" panose="020B0609020204030204" pitchFamily="49" charset="0"/>
              </a:rPr>
              <a:t>float</a:t>
            </a:r>
            <a:r>
              <a:rPr lang="en-US" sz="3200" dirty="0">
                <a:solidFill>
                  <a:srgbClr val="000000"/>
                </a:solidFill>
                <a:latin typeface="Consolas" panose="020B0609020204030204" pitchFamily="49" charset="0"/>
              </a:rPr>
              <a:t> KM_PER_MILE = 1.609;</a:t>
            </a:r>
            <a:endParaRPr lang="en-US" sz="3200" dirty="0"/>
          </a:p>
          <a:p>
            <a:pPr>
              <a:buFont typeface="Wingdings" panose="05000000000000000000" pitchFamily="2" charset="2"/>
              <a:buChar char="§"/>
            </a:pPr>
            <a:r>
              <a:rPr lang="en-US" sz="3400" dirty="0"/>
              <a:t>Constant identifiers often contain only upper-case letters</a:t>
            </a:r>
            <a:endParaRPr lang="bg-BG" sz="3400" dirty="0"/>
          </a:p>
        </p:txBody>
      </p:sp>
      <p:sp>
        <p:nvSpPr>
          <p:cNvPr id="4" name="Slide Number Placeholder 3"/>
          <p:cNvSpPr>
            <a:spLocks noGrp="1"/>
          </p:cNvSpPr>
          <p:nvPr>
            <p:ph type="sldNum" sz="quarter" idx="12"/>
          </p:nvPr>
        </p:nvSpPr>
        <p:spPr/>
        <p:txBody>
          <a:bodyPr/>
          <a:lstStyle/>
          <a:p>
            <a:fld id="{43C20813-E79E-4637-B0DD-0EBBF6872E51}" type="slidenum">
              <a:rPr lang="en-US" smtClean="0"/>
              <a:t>20</a:t>
            </a:fld>
            <a:endParaRPr lang="en-US"/>
          </a:p>
        </p:txBody>
      </p:sp>
    </p:spTree>
    <p:extLst>
      <p:ext uri="{BB962C8B-B14F-4D97-AF65-F5344CB8AC3E}">
        <p14:creationId xmlns:p14="http://schemas.microsoft.com/office/powerpoint/2010/main" val="2182434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Listing 2.2: Printing a Welcome Message</a:t>
            </a:r>
            <a:endParaRPr lang="bg-BG" dirty="0"/>
          </a:p>
        </p:txBody>
      </p:sp>
      <p:pic>
        <p:nvPicPr>
          <p:cNvPr id="8" name="Content Placeholder 7"/>
          <p:cNvPicPr>
            <a:picLocks noGrp="1" noChangeAspect="1"/>
          </p:cNvPicPr>
          <p:nvPr>
            <p:ph idx="1"/>
          </p:nvPr>
        </p:nvPicPr>
        <p:blipFill>
          <a:blip r:embed="rId2"/>
          <a:stretch>
            <a:fillRect/>
          </a:stretch>
        </p:blipFill>
        <p:spPr>
          <a:xfrm>
            <a:off x="2427894" y="1819368"/>
            <a:ext cx="6708056" cy="4482819"/>
          </a:xfrm>
          <a:prstGeom prst="rect">
            <a:avLst/>
          </a:prstGeom>
        </p:spPr>
      </p:pic>
      <p:sp>
        <p:nvSpPr>
          <p:cNvPr id="4" name="Slide Number Placeholder 3"/>
          <p:cNvSpPr>
            <a:spLocks noGrp="1"/>
          </p:cNvSpPr>
          <p:nvPr>
            <p:ph type="sldNum" sz="quarter" idx="12"/>
          </p:nvPr>
        </p:nvSpPr>
        <p:spPr/>
        <p:txBody>
          <a:bodyPr/>
          <a:lstStyle/>
          <a:p>
            <a:fld id="{43C20813-E79E-4637-B0DD-0EBBF6872E51}" type="slidenum">
              <a:rPr lang="en-US" smtClean="0"/>
              <a:t>21</a:t>
            </a:fld>
            <a:endParaRPr lang="en-US"/>
          </a:p>
        </p:txBody>
      </p:sp>
    </p:spTree>
    <p:extLst>
      <p:ext uri="{BB962C8B-B14F-4D97-AF65-F5344CB8AC3E}">
        <p14:creationId xmlns:p14="http://schemas.microsoft.com/office/powerpoint/2010/main" val="3459039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Executable Statements</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Statements that are translated into machine language instructions that are executed</a:t>
            </a:r>
          </a:p>
          <a:p>
            <a:pPr>
              <a:buFont typeface="Wingdings" panose="05000000000000000000" pitchFamily="2" charset="2"/>
              <a:buChar char="§"/>
            </a:pPr>
            <a:r>
              <a:rPr lang="en-US" sz="3200" dirty="0"/>
              <a:t>Examples:</a:t>
            </a:r>
          </a:p>
          <a:p>
            <a:pPr lvl="1">
              <a:buFont typeface="Wingdings" panose="05000000000000000000" pitchFamily="2" charset="2"/>
              <a:buChar char="§"/>
            </a:pPr>
            <a:r>
              <a:rPr lang="en-US" sz="3000" dirty="0"/>
              <a:t>Assignment statements</a:t>
            </a:r>
          </a:p>
          <a:p>
            <a:pPr lvl="1">
              <a:buFont typeface="Wingdings" panose="05000000000000000000" pitchFamily="2" charset="2"/>
              <a:buChar char="§"/>
            </a:pPr>
            <a:r>
              <a:rPr lang="en-US" sz="3000" dirty="0"/>
              <a:t>Input statements</a:t>
            </a:r>
          </a:p>
          <a:p>
            <a:pPr lvl="1">
              <a:buFont typeface="Wingdings" panose="05000000000000000000" pitchFamily="2" charset="2"/>
              <a:buChar char="§"/>
            </a:pPr>
            <a:r>
              <a:rPr lang="en-US" sz="3000" dirty="0"/>
              <a:t>Program output</a:t>
            </a:r>
          </a:p>
          <a:p>
            <a:pPr lvl="1">
              <a:buFont typeface="Wingdings" panose="05000000000000000000" pitchFamily="2" charset="2"/>
              <a:buChar char="§"/>
            </a:pPr>
            <a:r>
              <a:rPr lang="en-US" sz="3000" dirty="0"/>
              <a:t>The return statement</a:t>
            </a:r>
          </a:p>
        </p:txBody>
      </p:sp>
      <p:sp>
        <p:nvSpPr>
          <p:cNvPr id="4" name="Slide Number Placeholder 3"/>
          <p:cNvSpPr>
            <a:spLocks noGrp="1"/>
          </p:cNvSpPr>
          <p:nvPr>
            <p:ph type="sldNum" sz="quarter" idx="12"/>
          </p:nvPr>
        </p:nvSpPr>
        <p:spPr/>
        <p:txBody>
          <a:bodyPr/>
          <a:lstStyle/>
          <a:p>
            <a:fld id="{43C20813-E79E-4637-B0DD-0EBBF6872E51}" type="slidenum">
              <a:rPr lang="en-US" smtClean="0"/>
              <a:t>22</a:t>
            </a:fld>
            <a:endParaRPr lang="en-US"/>
          </a:p>
        </p:txBody>
      </p:sp>
    </p:spTree>
    <p:extLst>
      <p:ext uri="{BB962C8B-B14F-4D97-AF65-F5344CB8AC3E}">
        <p14:creationId xmlns:p14="http://schemas.microsoft.com/office/powerpoint/2010/main" val="3571583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Statements</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A statement used to store a value or a computed result in a variable</a:t>
            </a:r>
          </a:p>
          <a:p>
            <a:pPr marL="0" indent="0">
              <a:buNone/>
            </a:pPr>
            <a:r>
              <a:rPr lang="en-US" sz="3200" b="1" i="1" dirty="0">
                <a:latin typeface="Courier New" panose="02070309020205020404" pitchFamily="49" charset="0"/>
                <a:cs typeface="Courier New" panose="02070309020205020404" pitchFamily="49" charset="0"/>
              </a:rPr>
              <a:t>	variable = expression;</a:t>
            </a:r>
            <a:endParaRPr lang="en-US" sz="3200" b="1" dirty="0">
              <a:latin typeface="Courier New" panose="02070309020205020404" pitchFamily="49" charset="0"/>
              <a:cs typeface="Courier New" panose="02070309020205020404" pitchFamily="49" charset="0"/>
            </a:endParaRPr>
          </a:p>
          <a:p>
            <a:pPr>
              <a:buFont typeface="Wingdings" panose="05000000000000000000" pitchFamily="2" charset="2"/>
              <a:buChar char="§"/>
            </a:pPr>
            <a:r>
              <a:rPr lang="en-US" sz="3200" dirty="0">
                <a:cs typeface="Courier New" panose="02070309020205020404" pitchFamily="49" charset="0"/>
              </a:rPr>
              <a:t>Examples:</a:t>
            </a:r>
          </a:p>
          <a:p>
            <a:pPr marL="0" indent="0">
              <a:buNone/>
            </a:pPr>
            <a:r>
              <a:rPr lang="en-US" sz="2800" b="1" dirty="0">
                <a:latin typeface="Courier New" panose="02070309020205020404" pitchFamily="49" charset="0"/>
                <a:cs typeface="Courier New" panose="02070309020205020404" pitchFamily="49" charset="0"/>
              </a:rPr>
              <a:t>	</a:t>
            </a:r>
            <a:r>
              <a:rPr lang="en-US" sz="2800" dirty="0" err="1">
                <a:solidFill>
                  <a:srgbClr val="000000"/>
                </a:solidFill>
                <a:latin typeface="Consolas" panose="020B0609020204030204" pitchFamily="49" charset="0"/>
              </a:rPr>
              <a:t>kms</a:t>
            </a:r>
            <a:r>
              <a:rPr lang="en-US" sz="2800" dirty="0">
                <a:solidFill>
                  <a:srgbClr val="000000"/>
                </a:solidFill>
                <a:latin typeface="Consolas" panose="020B0609020204030204" pitchFamily="49" charset="0"/>
              </a:rPr>
              <a:t> = KM_PER_MILE * miles;</a:t>
            </a:r>
          </a:p>
          <a:p>
            <a:pPr marL="0" indent="0">
              <a:buNone/>
            </a:pPr>
            <a:r>
              <a:rPr lang="en-US" sz="2800" dirty="0">
                <a:solidFill>
                  <a:srgbClr val="000000"/>
                </a:solidFill>
                <a:latin typeface="Consolas" panose="020B0609020204030204" pitchFamily="49" charset="0"/>
              </a:rPr>
              <a:t>	sum = sum + item;</a:t>
            </a:r>
            <a:endParaRPr lang="bg-BG" sz="28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23</a:t>
            </a:fld>
            <a:endParaRPr lang="en-US"/>
          </a:p>
        </p:txBody>
      </p:sp>
    </p:spTree>
    <p:extLst>
      <p:ext uri="{BB962C8B-B14F-4D97-AF65-F5344CB8AC3E}">
        <p14:creationId xmlns:p14="http://schemas.microsoft.com/office/powerpoint/2010/main" val="2271045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Statements</a:t>
            </a:r>
            <a:endParaRPr lang="bg-BG" dirty="0"/>
          </a:p>
        </p:txBody>
      </p:sp>
      <p:sp>
        <p:nvSpPr>
          <p:cNvPr id="3" name="Content Placeholder 2"/>
          <p:cNvSpPr>
            <a:spLocks noGrp="1"/>
          </p:cNvSpPr>
          <p:nvPr>
            <p:ph idx="1"/>
          </p:nvPr>
        </p:nvSpPr>
        <p:spPr>
          <a:xfrm>
            <a:off x="1097280" y="1845735"/>
            <a:ext cx="10058400" cy="4438524"/>
          </a:xfrm>
        </p:spPr>
        <p:txBody>
          <a:bodyPr>
            <a:normAutofit fontScale="92500" lnSpcReduction="10000"/>
          </a:bodyPr>
          <a:lstStyle/>
          <a:p>
            <a:pPr>
              <a:buFont typeface="Wingdings" panose="05000000000000000000" pitchFamily="2" charset="2"/>
              <a:buChar char="§"/>
            </a:pPr>
            <a:r>
              <a:rPr lang="en-US" sz="3200" dirty="0"/>
              <a:t>Statements that read data from an input device into memory. Data is different each time the program is executed</a:t>
            </a:r>
          </a:p>
          <a:p>
            <a:pPr>
              <a:buFont typeface="Wingdings" panose="05000000000000000000" pitchFamily="2" charset="2"/>
              <a:buChar char="§"/>
            </a:pPr>
            <a:r>
              <a:rPr lang="en-US" sz="3200" dirty="0">
                <a:cs typeface="Courier New" panose="02070309020205020404" pitchFamily="49" charset="0"/>
              </a:rPr>
              <a:t>Input (Extraction) operator</a:t>
            </a:r>
            <a:r>
              <a:rPr lang="en-US" sz="3200" dirty="0">
                <a:latin typeface="Courier New" panose="02070309020205020404" pitchFamily="49" charset="0"/>
                <a:cs typeface="Courier New" panose="02070309020205020404" pitchFamily="49" charset="0"/>
              </a:rPr>
              <a:t> </a:t>
            </a:r>
            <a:r>
              <a:rPr lang="en-US" sz="3200" b="1" dirty="0">
                <a:latin typeface="Courier New" panose="02070309020205020404" pitchFamily="49" charset="0"/>
                <a:cs typeface="Courier New" panose="02070309020205020404" pitchFamily="49" charset="0"/>
              </a:rPr>
              <a:t>&gt;&gt;</a:t>
            </a:r>
            <a:endParaRPr lang="en-US" sz="3200" dirty="0">
              <a:latin typeface="Courier New" panose="02070309020205020404" pitchFamily="49" charset="0"/>
              <a:cs typeface="Courier New" panose="02070309020205020404" pitchFamily="49" charset="0"/>
            </a:endParaRPr>
          </a:p>
          <a:p>
            <a:pPr marL="201168" lvl="1" indent="0">
              <a:spcBef>
                <a:spcPts val="1200"/>
              </a:spcBef>
              <a:buNone/>
            </a:pPr>
            <a:r>
              <a:rPr lang="en-US" sz="2800" b="1" dirty="0">
                <a:latin typeface="Courier New" panose="02070309020205020404" pitchFamily="49" charset="0"/>
                <a:cs typeface="Courier New" panose="02070309020205020404" pitchFamily="49" charset="0"/>
              </a:rPr>
              <a:t>	cin &gt;&gt; </a:t>
            </a:r>
            <a:r>
              <a:rPr lang="en-US" sz="2800" b="1" i="1" dirty="0">
                <a:latin typeface="Courier New" panose="02070309020205020404" pitchFamily="49" charset="0"/>
                <a:cs typeface="Courier New" panose="02070309020205020404" pitchFamily="49" charset="0"/>
              </a:rPr>
              <a:t>data-store</a:t>
            </a:r>
            <a:r>
              <a:rPr lang="en-US" sz="2800" b="1" dirty="0">
                <a:latin typeface="Courier New" panose="02070309020205020404" pitchFamily="49" charset="0"/>
                <a:cs typeface="Courier New" panose="02070309020205020404" pitchFamily="49" charset="0"/>
              </a:rPr>
              <a:t>;</a:t>
            </a:r>
          </a:p>
          <a:p>
            <a:pPr>
              <a:buFont typeface="Wingdings" panose="05000000000000000000" pitchFamily="2" charset="2"/>
              <a:buChar char="§"/>
            </a:pPr>
            <a:r>
              <a:rPr lang="en-US" sz="3200" dirty="0"/>
              <a:t>Examples:</a:t>
            </a:r>
          </a:p>
          <a:p>
            <a:pPr marL="0" indent="0">
              <a:spcBef>
                <a:spcPts val="600"/>
              </a:spcBef>
              <a:buNone/>
            </a:pPr>
            <a:r>
              <a:rPr lang="en-US" sz="2800" dirty="0">
                <a:solidFill>
                  <a:srgbClr val="000000"/>
                </a:solidFill>
                <a:latin typeface="Consolas" panose="020B0609020204030204" pitchFamily="49" charset="0"/>
              </a:rPr>
              <a:t>	cin </a:t>
            </a:r>
            <a:r>
              <a:rPr lang="en-US" sz="2800" dirty="0">
                <a:solidFill>
                  <a:srgbClr val="008080"/>
                </a:solidFill>
                <a:latin typeface="Consolas" panose="020B0609020204030204" pitchFamily="49" charset="0"/>
              </a:rPr>
              <a:t>&gt;&gt;</a:t>
            </a:r>
            <a:r>
              <a:rPr lang="en-US" sz="2800" dirty="0">
                <a:solidFill>
                  <a:srgbClr val="000000"/>
                </a:solidFill>
                <a:latin typeface="Consolas" panose="020B0609020204030204" pitchFamily="49" charset="0"/>
              </a:rPr>
              <a:t> miles;</a:t>
            </a:r>
          </a:p>
          <a:p>
            <a:pPr marL="0" indent="0">
              <a:buNone/>
            </a:pPr>
            <a:r>
              <a:rPr lang="en-US" sz="2800" dirty="0">
                <a:solidFill>
                  <a:srgbClr val="000000"/>
                </a:solidFill>
                <a:latin typeface="Consolas" panose="020B0609020204030204" pitchFamily="49" charset="0"/>
              </a:rPr>
              <a:t>	cin </a:t>
            </a:r>
            <a:r>
              <a:rPr lang="en-US" sz="2800" dirty="0">
                <a:solidFill>
                  <a:srgbClr val="008080"/>
                </a:solidFill>
                <a:latin typeface="Consolas" panose="020B0609020204030204" pitchFamily="49" charset="0"/>
              </a:rPr>
              <a:t>&gt;&gt;</a:t>
            </a:r>
            <a:r>
              <a:rPr lang="en-US" sz="2800" dirty="0">
                <a:solidFill>
                  <a:srgbClr val="000000"/>
                </a:solidFill>
                <a:latin typeface="Consolas" panose="020B0609020204030204" pitchFamily="49" charset="0"/>
              </a:rPr>
              <a:t> age </a:t>
            </a:r>
            <a:r>
              <a:rPr lang="en-US" sz="2800" dirty="0">
                <a:solidFill>
                  <a:srgbClr val="008080"/>
                </a:solidFill>
                <a:latin typeface="Consolas" panose="020B0609020204030204" pitchFamily="49" charset="0"/>
              </a:rPr>
              <a:t>&gt;&gt;</a:t>
            </a:r>
            <a:r>
              <a:rPr lang="en-US" sz="2800" dirty="0">
                <a:solidFill>
                  <a:srgbClr val="000000"/>
                </a:solidFill>
                <a:latin typeface="Consolas" panose="020B0609020204030204" pitchFamily="49" charset="0"/>
              </a:rPr>
              <a:t> </a:t>
            </a:r>
            <a:r>
              <a:rPr lang="en-US" sz="2800" dirty="0" err="1">
                <a:solidFill>
                  <a:srgbClr val="000000"/>
                </a:solidFill>
                <a:latin typeface="Consolas" panose="020B0609020204030204" pitchFamily="49" charset="0"/>
              </a:rPr>
              <a:t>firstInitial</a:t>
            </a:r>
            <a:r>
              <a:rPr lang="en-US" sz="2800" dirty="0">
                <a:solidFill>
                  <a:srgbClr val="000000"/>
                </a:solidFill>
                <a:latin typeface="Consolas" panose="020B0609020204030204" pitchFamily="49" charset="0"/>
              </a:rPr>
              <a:t>;</a:t>
            </a:r>
            <a:endParaRPr lang="en-US" sz="2800" dirty="0"/>
          </a:p>
          <a:p>
            <a:pPr>
              <a:buFont typeface="Wingdings" panose="05000000000000000000" pitchFamily="2" charset="2"/>
              <a:buChar char="§"/>
            </a:pPr>
            <a:r>
              <a:rPr lang="en-US" sz="3200" dirty="0"/>
              <a:t>Requires:</a:t>
            </a:r>
          </a:p>
          <a:p>
            <a:pPr marL="201168" lvl="1" indent="0">
              <a:spcBef>
                <a:spcPts val="600"/>
              </a:spcBef>
              <a:buNone/>
            </a:pPr>
            <a:r>
              <a:rPr lang="en-US" sz="3000" dirty="0"/>
              <a:t>	</a:t>
            </a:r>
            <a:r>
              <a:rPr lang="en-US" sz="2800" b="1" dirty="0">
                <a:latin typeface="Courier New" panose="02070309020205020404" pitchFamily="49" charset="0"/>
                <a:cs typeface="Courier New" panose="02070309020205020404" pitchFamily="49" charset="0"/>
              </a:rPr>
              <a:t>#include &lt;</a:t>
            </a:r>
            <a:r>
              <a:rPr lang="en-US" sz="2800" b="1" dirty="0" err="1">
                <a:latin typeface="Courier New" panose="02070309020205020404" pitchFamily="49" charset="0"/>
                <a:cs typeface="Courier New" panose="02070309020205020404" pitchFamily="49" charset="0"/>
              </a:rPr>
              <a:t>iostream</a:t>
            </a:r>
            <a:r>
              <a:rPr lang="en-US" sz="2800" b="1" dirty="0">
                <a:latin typeface="Courier New" panose="02070309020205020404" pitchFamily="49" charset="0"/>
                <a:cs typeface="Courier New" panose="02070309020205020404" pitchFamily="49" charset="0"/>
              </a:rPr>
              <a:t>&gt;</a:t>
            </a:r>
            <a:endParaRPr lang="bg-BG" sz="28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24</a:t>
            </a:fld>
            <a:endParaRPr lang="en-US"/>
          </a:p>
        </p:txBody>
      </p:sp>
    </p:spTree>
    <p:extLst>
      <p:ext uri="{BB962C8B-B14F-4D97-AF65-F5344CB8AC3E}">
        <p14:creationId xmlns:p14="http://schemas.microsoft.com/office/powerpoint/2010/main" val="1287178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Statements (continued)</a:t>
            </a:r>
            <a:endParaRPr lang="bg-BG" dirty="0"/>
          </a:p>
        </p:txBody>
      </p:sp>
      <p:sp>
        <p:nvSpPr>
          <p:cNvPr id="3" name="Content Placeholder 2"/>
          <p:cNvSpPr>
            <a:spLocks noGrp="1"/>
          </p:cNvSpPr>
          <p:nvPr>
            <p:ph idx="1"/>
          </p:nvPr>
        </p:nvSpPr>
        <p:spPr>
          <a:xfrm>
            <a:off x="1097280" y="1845733"/>
            <a:ext cx="10058400" cy="4465419"/>
          </a:xfrm>
        </p:spPr>
        <p:txBody>
          <a:bodyPr>
            <a:normAutofit/>
          </a:bodyPr>
          <a:lstStyle/>
          <a:p>
            <a:pPr marL="0" indent="0">
              <a:buNone/>
            </a:pPr>
            <a:r>
              <a:rPr lang="en-US" sz="2800" dirty="0">
                <a:solidFill>
                  <a:srgbClr val="000000"/>
                </a:solidFill>
                <a:latin typeface="Consolas" panose="020B0609020204030204" pitchFamily="49" charset="0"/>
              </a:rPr>
              <a:t>cin </a:t>
            </a:r>
            <a:r>
              <a:rPr lang="en-US" sz="2800" dirty="0">
                <a:solidFill>
                  <a:srgbClr val="008080"/>
                </a:solidFill>
                <a:latin typeface="Consolas" panose="020B0609020204030204" pitchFamily="49" charset="0"/>
              </a:rPr>
              <a:t>&gt;&gt;</a:t>
            </a:r>
            <a:r>
              <a:rPr lang="en-US" sz="2800" dirty="0">
                <a:solidFill>
                  <a:srgbClr val="000000"/>
                </a:solidFill>
                <a:latin typeface="Consolas" panose="020B0609020204030204" pitchFamily="49" charset="0"/>
              </a:rPr>
              <a:t> letter1 </a:t>
            </a:r>
            <a:r>
              <a:rPr lang="en-US" sz="2800" dirty="0">
                <a:solidFill>
                  <a:srgbClr val="008080"/>
                </a:solidFill>
                <a:latin typeface="Consolas" panose="020B0609020204030204" pitchFamily="49" charset="0"/>
              </a:rPr>
              <a:t>&gt;&gt;</a:t>
            </a:r>
            <a:r>
              <a:rPr lang="en-US" sz="2800" dirty="0">
                <a:solidFill>
                  <a:srgbClr val="000000"/>
                </a:solidFill>
                <a:latin typeface="Consolas" panose="020B0609020204030204" pitchFamily="49" charset="0"/>
              </a:rPr>
              <a:t> letter2 </a:t>
            </a:r>
            <a:r>
              <a:rPr lang="en-US" sz="2800" dirty="0">
                <a:solidFill>
                  <a:srgbClr val="008080"/>
                </a:solidFill>
                <a:latin typeface="Consolas" panose="020B0609020204030204" pitchFamily="49" charset="0"/>
              </a:rPr>
              <a:t>&gt;&gt;</a:t>
            </a:r>
            <a:r>
              <a:rPr lang="en-US" sz="2800" dirty="0">
                <a:solidFill>
                  <a:srgbClr val="000000"/>
                </a:solidFill>
                <a:latin typeface="Consolas" panose="020B0609020204030204" pitchFamily="49" charset="0"/>
              </a:rPr>
              <a:t> lastname;</a:t>
            </a:r>
            <a:endParaRPr lang="bg-BG" sz="32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25</a:t>
            </a:fld>
            <a:endParaRPr lang="en-US"/>
          </a:p>
        </p:txBody>
      </p:sp>
      <p:pic>
        <p:nvPicPr>
          <p:cNvPr id="6" name="Picture 5"/>
          <p:cNvPicPr>
            <a:picLocks noChangeAspect="1"/>
          </p:cNvPicPr>
          <p:nvPr/>
        </p:nvPicPr>
        <p:blipFill>
          <a:blip r:embed="rId2"/>
          <a:stretch>
            <a:fillRect/>
          </a:stretch>
        </p:blipFill>
        <p:spPr>
          <a:xfrm>
            <a:off x="2421166" y="2534675"/>
            <a:ext cx="7410627" cy="3785443"/>
          </a:xfrm>
          <a:prstGeom prst="rect">
            <a:avLst/>
          </a:prstGeom>
        </p:spPr>
      </p:pic>
    </p:spTree>
    <p:extLst>
      <p:ext uri="{BB962C8B-B14F-4D97-AF65-F5344CB8AC3E}">
        <p14:creationId xmlns:p14="http://schemas.microsoft.com/office/powerpoint/2010/main" val="3126449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Output</a:t>
            </a:r>
            <a:endParaRPr lang="bg-BG" dirty="0"/>
          </a:p>
        </p:txBody>
      </p:sp>
      <p:sp>
        <p:nvSpPr>
          <p:cNvPr id="3" name="Content Placeholder 2"/>
          <p:cNvSpPr>
            <a:spLocks noGrp="1"/>
          </p:cNvSpPr>
          <p:nvPr>
            <p:ph idx="1"/>
          </p:nvPr>
        </p:nvSpPr>
        <p:spPr>
          <a:xfrm>
            <a:off x="1097280" y="1845734"/>
            <a:ext cx="10058400" cy="4411631"/>
          </a:xfrm>
        </p:spPr>
        <p:txBody>
          <a:bodyPr>
            <a:normAutofit lnSpcReduction="10000"/>
          </a:bodyPr>
          <a:lstStyle/>
          <a:p>
            <a:pPr>
              <a:buFont typeface="Wingdings" panose="05000000000000000000" pitchFamily="2" charset="2"/>
              <a:buChar char="§"/>
            </a:pPr>
            <a:r>
              <a:rPr lang="en-US" sz="3200" dirty="0"/>
              <a:t>Displaying program data – prompts, results, etc</a:t>
            </a:r>
          </a:p>
          <a:p>
            <a:pPr>
              <a:buFont typeface="Wingdings" panose="05000000000000000000" pitchFamily="2" charset="2"/>
              <a:buChar char="§"/>
            </a:pPr>
            <a:r>
              <a:rPr lang="en-US" sz="3200" dirty="0"/>
              <a:t>Output (Insertion) Operator  </a:t>
            </a:r>
            <a:r>
              <a:rPr lang="en-US" sz="3200" b="1" dirty="0">
                <a:latin typeface="Courier New" panose="02070309020205020404" pitchFamily="49" charset="0"/>
                <a:cs typeface="Courier New" panose="02070309020205020404" pitchFamily="49" charset="0"/>
              </a:rPr>
              <a:t>&lt;&lt;</a:t>
            </a:r>
          </a:p>
          <a:p>
            <a:pPr marL="201168" lvl="1" indent="0">
              <a:spcBef>
                <a:spcPts val="600"/>
              </a:spcBef>
              <a:buNone/>
            </a:pPr>
            <a:r>
              <a:rPr lang="en-US" sz="3000" dirty="0"/>
              <a:t>	</a:t>
            </a:r>
            <a:r>
              <a:rPr lang="en-US" sz="3000" b="1" dirty="0">
                <a:latin typeface="Courier New" panose="02070309020205020404" pitchFamily="49" charset="0"/>
                <a:cs typeface="Courier New" panose="02070309020205020404" pitchFamily="49" charset="0"/>
              </a:rPr>
              <a:t>cout &lt;&lt; </a:t>
            </a:r>
            <a:r>
              <a:rPr lang="en-US" sz="3000" b="1" i="1" dirty="0">
                <a:latin typeface="Courier New" panose="02070309020205020404" pitchFamily="49" charset="0"/>
                <a:cs typeface="Courier New" panose="02070309020205020404" pitchFamily="49" charset="0"/>
              </a:rPr>
              <a:t>data-element</a:t>
            </a:r>
            <a:r>
              <a:rPr lang="en-US" sz="3000" b="1" dirty="0">
                <a:latin typeface="Courier New" panose="02070309020205020404" pitchFamily="49" charset="0"/>
                <a:cs typeface="Courier New" panose="02070309020205020404" pitchFamily="49" charset="0"/>
              </a:rPr>
              <a:t>;</a:t>
            </a:r>
          </a:p>
          <a:p>
            <a:pPr>
              <a:buFont typeface="Wingdings" panose="05000000000000000000" pitchFamily="2" charset="2"/>
              <a:buChar char="§"/>
            </a:pPr>
            <a:r>
              <a:rPr lang="en-US" sz="3200" dirty="0"/>
              <a:t>Example:</a:t>
            </a:r>
          </a:p>
          <a:p>
            <a:pPr marL="201168" lvl="1" indent="0">
              <a:spcBef>
                <a:spcPts val="600"/>
              </a:spcBef>
              <a:buNone/>
            </a:pPr>
            <a:r>
              <a:rPr lang="en-US" sz="3000" dirty="0"/>
              <a:t>	</a:t>
            </a:r>
            <a:r>
              <a:rPr lang="en-US" sz="2800" dirty="0">
                <a:solidFill>
                  <a:srgbClr val="000000"/>
                </a:solidFill>
                <a:latin typeface="Consolas" panose="020B0609020204030204" pitchFamily="49" charset="0"/>
              </a:rPr>
              <a:t>cout </a:t>
            </a:r>
            <a:r>
              <a:rPr lang="en-US" sz="2800" dirty="0">
                <a:solidFill>
                  <a:srgbClr val="008080"/>
                </a:solidFill>
                <a:latin typeface="Consolas" panose="020B0609020204030204" pitchFamily="49" charset="0"/>
              </a:rPr>
              <a:t>&lt;&lt;</a:t>
            </a:r>
            <a:r>
              <a:rPr lang="en-US" sz="2800" dirty="0">
                <a:solidFill>
                  <a:srgbClr val="000000"/>
                </a:solidFill>
                <a:latin typeface="Consolas" panose="020B0609020204030204" pitchFamily="49" charset="0"/>
              </a:rPr>
              <a:t> </a:t>
            </a:r>
            <a:r>
              <a:rPr lang="en-US" sz="2800" dirty="0">
                <a:solidFill>
                  <a:srgbClr val="A31515"/>
                </a:solidFill>
                <a:latin typeface="Consolas" panose="020B0609020204030204" pitchFamily="49" charset="0"/>
              </a:rPr>
              <a:t>"Height: "</a:t>
            </a:r>
            <a:r>
              <a:rPr lang="en-US" sz="2800" dirty="0">
                <a:solidFill>
                  <a:srgbClr val="000000"/>
                </a:solidFill>
                <a:latin typeface="Consolas" panose="020B0609020204030204" pitchFamily="49" charset="0"/>
              </a:rPr>
              <a:t> </a:t>
            </a:r>
            <a:r>
              <a:rPr lang="en-US" sz="2800" dirty="0">
                <a:solidFill>
                  <a:srgbClr val="008080"/>
                </a:solidFill>
                <a:latin typeface="Consolas" panose="020B0609020204030204" pitchFamily="49" charset="0"/>
              </a:rPr>
              <a:t>&lt;&lt;</a:t>
            </a:r>
            <a:r>
              <a:rPr lang="en-US" sz="2800" dirty="0">
                <a:solidFill>
                  <a:srgbClr val="000000"/>
                </a:solidFill>
                <a:latin typeface="Consolas" panose="020B0609020204030204" pitchFamily="49" charset="0"/>
              </a:rPr>
              <a:t> height </a:t>
            </a:r>
            <a:r>
              <a:rPr lang="en-US" sz="2800" dirty="0">
                <a:solidFill>
                  <a:srgbClr val="008080"/>
                </a:solidFill>
                <a:latin typeface="Consolas" panose="020B0609020204030204" pitchFamily="49" charset="0"/>
              </a:rPr>
              <a:t>&lt;&lt;</a:t>
            </a:r>
            <a:r>
              <a:rPr lang="en-US" sz="2800" dirty="0">
                <a:solidFill>
                  <a:srgbClr val="000000"/>
                </a:solidFill>
                <a:latin typeface="Consolas" panose="020B0609020204030204" pitchFamily="49" charset="0"/>
              </a:rPr>
              <a:t> endl;</a:t>
            </a:r>
          </a:p>
          <a:p>
            <a:pPr>
              <a:buFont typeface="Wingdings" panose="05000000000000000000" pitchFamily="2" charset="2"/>
              <a:buChar char="§"/>
            </a:pPr>
            <a:r>
              <a:rPr lang="en-US" altLang="bg-BG" sz="3200" dirty="0"/>
              <a:t>If the value of </a:t>
            </a:r>
            <a:r>
              <a:rPr lang="en-US" altLang="bg-BG" sz="3200" b="1" dirty="0">
                <a:latin typeface="Courier New" panose="02070309020205020404" pitchFamily="49" charset="0"/>
                <a:cs typeface="Courier New" panose="02070309020205020404" pitchFamily="49" charset="0"/>
              </a:rPr>
              <a:t>height</a:t>
            </a:r>
            <a:r>
              <a:rPr lang="en-US" altLang="bg-BG" sz="3200" dirty="0"/>
              <a:t> is </a:t>
            </a:r>
            <a:r>
              <a:rPr lang="en-US" altLang="bg-BG" sz="3200" b="1" dirty="0">
                <a:latin typeface="Courier New" panose="02070309020205020404" pitchFamily="49" charset="0"/>
                <a:cs typeface="Courier New" panose="02070309020205020404" pitchFamily="49" charset="0"/>
              </a:rPr>
              <a:t>1.80</a:t>
            </a:r>
            <a:r>
              <a:rPr lang="en-US" altLang="bg-BG" sz="3200" dirty="0"/>
              <a:t>, the output will be:</a:t>
            </a:r>
          </a:p>
          <a:p>
            <a:pPr marL="201168" lvl="1" indent="0">
              <a:spcBef>
                <a:spcPts val="600"/>
              </a:spcBef>
              <a:buNone/>
            </a:pPr>
            <a:r>
              <a:rPr lang="en-US" altLang="bg-BG" sz="3000" dirty="0"/>
              <a:t>	</a:t>
            </a:r>
            <a:r>
              <a:rPr lang="en-US" altLang="bg-BG" sz="3000" b="1" dirty="0">
                <a:latin typeface="Courier New" panose="02070309020205020404" pitchFamily="49" charset="0"/>
                <a:cs typeface="Courier New" panose="02070309020205020404" pitchFamily="49" charset="0"/>
              </a:rPr>
              <a:t>Height: 1.80</a:t>
            </a:r>
          </a:p>
          <a:p>
            <a:pPr>
              <a:buFont typeface="Wingdings" panose="05000000000000000000" pitchFamily="2" charset="2"/>
              <a:buChar char="§"/>
            </a:pPr>
            <a:r>
              <a:rPr lang="en-US" altLang="bg-BG" sz="3200" b="1" dirty="0">
                <a:latin typeface="Courier New" panose="02070309020205020404" pitchFamily="49" charset="0"/>
                <a:cs typeface="Courier New" panose="02070309020205020404" pitchFamily="49" charset="0"/>
              </a:rPr>
              <a:t>endl</a:t>
            </a:r>
            <a:r>
              <a:rPr lang="en-US" altLang="bg-BG" sz="3200" dirty="0"/>
              <a:t> (or </a:t>
            </a:r>
            <a:r>
              <a:rPr lang="en-US" altLang="bg-BG" sz="3200" b="1" dirty="0">
                <a:latin typeface="Courier New" panose="02070309020205020404" pitchFamily="49" charset="0"/>
                <a:cs typeface="Courier New" panose="02070309020205020404" pitchFamily="49" charset="0"/>
              </a:rPr>
              <a:t>'\n'</a:t>
            </a:r>
            <a:r>
              <a:rPr lang="en-US" altLang="bg-BG" sz="3200" dirty="0"/>
              <a:t>) causes a new line in output</a:t>
            </a:r>
          </a:p>
        </p:txBody>
      </p:sp>
      <p:sp>
        <p:nvSpPr>
          <p:cNvPr id="4" name="Slide Number Placeholder 3"/>
          <p:cNvSpPr>
            <a:spLocks noGrp="1"/>
          </p:cNvSpPr>
          <p:nvPr>
            <p:ph type="sldNum" sz="quarter" idx="12"/>
          </p:nvPr>
        </p:nvSpPr>
        <p:spPr/>
        <p:txBody>
          <a:bodyPr/>
          <a:lstStyle/>
          <a:p>
            <a:fld id="{43C20813-E79E-4637-B0DD-0EBBF6872E51}" type="slidenum">
              <a:rPr lang="en-US" smtClean="0"/>
              <a:t>26</a:t>
            </a:fld>
            <a:endParaRPr lang="en-US"/>
          </a:p>
        </p:txBody>
      </p:sp>
    </p:spTree>
    <p:extLst>
      <p:ext uri="{BB962C8B-B14F-4D97-AF65-F5344CB8AC3E}">
        <p14:creationId xmlns:p14="http://schemas.microsoft.com/office/powerpoint/2010/main" val="1588089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b="1" dirty="0">
                <a:latin typeface="Courier New" panose="02070309020205020404" pitchFamily="49" charset="0"/>
                <a:cs typeface="Courier New" panose="02070309020205020404" pitchFamily="49" charset="0"/>
              </a:rPr>
              <a:t>return</a:t>
            </a:r>
            <a:r>
              <a:rPr lang="en-US" dirty="0"/>
              <a:t> Statement</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Last line of the </a:t>
            </a:r>
            <a:r>
              <a:rPr lang="en-US" sz="3200" b="1" dirty="0">
                <a:latin typeface="Courier New" panose="02070309020205020404" pitchFamily="49" charset="0"/>
                <a:cs typeface="Courier New" panose="02070309020205020404" pitchFamily="49" charset="0"/>
              </a:rPr>
              <a:t>main</a:t>
            </a:r>
            <a:r>
              <a:rPr lang="en-US" sz="3200" dirty="0"/>
              <a:t> function is typically:</a:t>
            </a:r>
          </a:p>
          <a:p>
            <a:pPr marL="201168" lvl="1" indent="0">
              <a:spcBef>
                <a:spcPts val="1200"/>
              </a:spcBef>
              <a:buNone/>
            </a:pPr>
            <a:r>
              <a:rPr lang="en-US" sz="2800" dirty="0"/>
              <a:t>	</a:t>
            </a:r>
            <a:r>
              <a:rPr lang="en-US" sz="2800" dirty="0">
                <a:solidFill>
                  <a:srgbClr val="0000FF"/>
                </a:solidFill>
                <a:latin typeface="Consolas" panose="020B0609020204030204" pitchFamily="49" charset="0"/>
              </a:rPr>
              <a:t>return</a:t>
            </a:r>
            <a:r>
              <a:rPr lang="en-US" sz="2800" dirty="0">
                <a:solidFill>
                  <a:srgbClr val="000000"/>
                </a:solidFill>
                <a:latin typeface="Consolas" panose="020B0609020204030204" pitchFamily="49" charset="0"/>
              </a:rPr>
              <a:t> 0;</a:t>
            </a:r>
            <a:endParaRPr lang="en-US" sz="2800" dirty="0"/>
          </a:p>
          <a:p>
            <a:pPr>
              <a:buFont typeface="Wingdings" panose="05000000000000000000" pitchFamily="2" charset="2"/>
              <a:buChar char="§"/>
            </a:pPr>
            <a:r>
              <a:rPr lang="en-US" sz="3200" dirty="0"/>
              <a:t>That transfers control from the program to the operating system, indicating that no error has occurred</a:t>
            </a:r>
          </a:p>
          <a:p>
            <a:pPr>
              <a:buFont typeface="Wingdings" panose="05000000000000000000" pitchFamily="2" charset="2"/>
              <a:buChar char="§"/>
            </a:pPr>
            <a:endParaRPr lang="bg-BG" sz="3200" dirty="0"/>
          </a:p>
        </p:txBody>
      </p:sp>
      <p:sp>
        <p:nvSpPr>
          <p:cNvPr id="4" name="Slide Number Placeholder 3"/>
          <p:cNvSpPr>
            <a:spLocks noGrp="1"/>
          </p:cNvSpPr>
          <p:nvPr>
            <p:ph type="sldNum" sz="quarter" idx="12"/>
          </p:nvPr>
        </p:nvSpPr>
        <p:spPr/>
        <p:txBody>
          <a:bodyPr/>
          <a:lstStyle/>
          <a:p>
            <a:fld id="{43C20813-E79E-4637-B0DD-0EBBF6872E51}" type="slidenum">
              <a:rPr lang="en-US" smtClean="0"/>
              <a:t>27</a:t>
            </a:fld>
            <a:endParaRPr lang="en-US"/>
          </a:p>
        </p:txBody>
      </p:sp>
    </p:spTree>
    <p:extLst>
      <p:ext uri="{BB962C8B-B14F-4D97-AF65-F5344CB8AC3E}">
        <p14:creationId xmlns:p14="http://schemas.microsoft.com/office/powerpoint/2010/main" val="1691056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Form of a C++ Program</a:t>
            </a:r>
            <a:endParaRPr lang="bg-BG" dirty="0"/>
          </a:p>
        </p:txBody>
      </p:sp>
      <p:sp>
        <p:nvSpPr>
          <p:cNvPr id="4" name="Slide Number Placeholder 3"/>
          <p:cNvSpPr>
            <a:spLocks noGrp="1"/>
          </p:cNvSpPr>
          <p:nvPr>
            <p:ph type="sldNum" sz="quarter" idx="12"/>
          </p:nvPr>
        </p:nvSpPr>
        <p:spPr/>
        <p:txBody>
          <a:bodyPr/>
          <a:lstStyle/>
          <a:p>
            <a:fld id="{43C20813-E79E-4637-B0DD-0EBBF6872E51}" type="slidenum">
              <a:rPr lang="en-US" smtClean="0"/>
              <a:t>28</a:t>
            </a:fld>
            <a:endParaRPr lang="en-US"/>
          </a:p>
        </p:txBody>
      </p:sp>
      <p:pic>
        <p:nvPicPr>
          <p:cNvPr id="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7280" y="2142099"/>
            <a:ext cx="4979840" cy="402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3423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Program Style</a:t>
            </a:r>
            <a:endParaRPr lang="bg-BG" dirty="0"/>
          </a:p>
        </p:txBody>
      </p:sp>
      <p:sp>
        <p:nvSpPr>
          <p:cNvPr id="3" name="Content Placeholder 2"/>
          <p:cNvSpPr>
            <a:spLocks noGrp="1"/>
          </p:cNvSpPr>
          <p:nvPr>
            <p:ph idx="1"/>
          </p:nvPr>
        </p:nvSpPr>
        <p:spPr>
          <a:xfrm>
            <a:off x="1097280" y="1845733"/>
            <a:ext cx="10180320" cy="4501279"/>
          </a:xfrm>
        </p:spPr>
        <p:txBody>
          <a:bodyPr>
            <a:normAutofit fontScale="92500" lnSpcReduction="10000"/>
          </a:bodyPr>
          <a:lstStyle/>
          <a:p>
            <a:pPr>
              <a:buFont typeface="Wingdings" panose="05000000000000000000" pitchFamily="2" charset="2"/>
              <a:buChar char="§"/>
            </a:pPr>
            <a:r>
              <a:rPr lang="en-US" sz="3200" dirty="0"/>
              <a:t>Use of spacing</a:t>
            </a:r>
          </a:p>
          <a:p>
            <a:pPr lvl="1">
              <a:buFont typeface="Wingdings" panose="05000000000000000000" pitchFamily="2" charset="2"/>
              <a:buChar char="§"/>
            </a:pPr>
            <a:r>
              <a:rPr lang="en-US" sz="3000" dirty="0"/>
              <a:t>One statement per line</a:t>
            </a:r>
          </a:p>
          <a:p>
            <a:pPr lvl="1">
              <a:buFont typeface="Wingdings" panose="05000000000000000000" pitchFamily="2" charset="2"/>
              <a:buChar char="§"/>
            </a:pPr>
            <a:r>
              <a:rPr lang="en-US" sz="3000" dirty="0"/>
              <a:t>Blanks after comma, around operators and between some lines</a:t>
            </a:r>
          </a:p>
          <a:p>
            <a:pPr>
              <a:buFont typeface="Wingdings" panose="05000000000000000000" pitchFamily="2" charset="2"/>
              <a:buChar char="§"/>
            </a:pPr>
            <a:r>
              <a:rPr lang="en-US" sz="3200" dirty="0"/>
              <a:t>Use of comments</a:t>
            </a:r>
          </a:p>
          <a:p>
            <a:pPr lvl="1">
              <a:buFont typeface="Wingdings" panose="05000000000000000000" pitchFamily="2" charset="2"/>
              <a:buChar char="§"/>
            </a:pPr>
            <a:r>
              <a:rPr lang="en-US" sz="3000" dirty="0"/>
              <a:t>header section</a:t>
            </a:r>
          </a:p>
          <a:p>
            <a:pPr lvl="1">
              <a:buFont typeface="Wingdings" panose="05000000000000000000" pitchFamily="2" charset="2"/>
              <a:buChar char="§"/>
            </a:pPr>
            <a:r>
              <a:rPr lang="en-US" sz="3000" dirty="0"/>
              <a:t>document algorithm steps and describe difficult code</a:t>
            </a:r>
          </a:p>
          <a:p>
            <a:pPr>
              <a:buFont typeface="Wingdings" panose="05000000000000000000" pitchFamily="2" charset="2"/>
              <a:buChar char="§"/>
            </a:pPr>
            <a:r>
              <a:rPr lang="en-US" sz="3200" dirty="0"/>
              <a:t>Identifier naming conventions</a:t>
            </a:r>
          </a:p>
          <a:p>
            <a:pPr lvl="1">
              <a:buFont typeface="Wingdings" panose="05000000000000000000" pitchFamily="2" charset="2"/>
              <a:buChar char="§"/>
            </a:pPr>
            <a:r>
              <a:rPr lang="en-US" altLang="bg-BG" sz="3000" dirty="0"/>
              <a:t>Variables in all lower case, with initial capital letter for additional words.  No underscore </a:t>
            </a:r>
            <a:r>
              <a:rPr lang="en-US" altLang="bg-BG" sz="3000"/>
              <a:t>(camelCase</a:t>
            </a:r>
            <a:r>
              <a:rPr lang="en-US" altLang="bg-BG" sz="3000" dirty="0"/>
              <a:t>)</a:t>
            </a:r>
          </a:p>
          <a:p>
            <a:pPr lvl="1">
              <a:buFont typeface="Wingdings" panose="05000000000000000000" pitchFamily="2" charset="2"/>
              <a:buChar char="§"/>
            </a:pPr>
            <a:r>
              <a:rPr lang="en-US" altLang="bg-BG" sz="3000" dirty="0"/>
              <a:t>Constants in all upper case, with underscores between words</a:t>
            </a:r>
          </a:p>
        </p:txBody>
      </p:sp>
      <p:sp>
        <p:nvSpPr>
          <p:cNvPr id="4" name="Slide Number Placeholder 3"/>
          <p:cNvSpPr>
            <a:spLocks noGrp="1"/>
          </p:cNvSpPr>
          <p:nvPr>
            <p:ph type="sldNum" sz="quarter" idx="12"/>
          </p:nvPr>
        </p:nvSpPr>
        <p:spPr/>
        <p:txBody>
          <a:bodyPr/>
          <a:lstStyle/>
          <a:p>
            <a:fld id="{43C20813-E79E-4637-B0DD-0EBBF6872E51}" type="slidenum">
              <a:rPr lang="en-US" smtClean="0"/>
              <a:t>29</a:t>
            </a:fld>
            <a:endParaRPr lang="en-US"/>
          </a:p>
        </p:txBody>
      </p:sp>
    </p:spTree>
    <p:extLst>
      <p:ext uri="{BB962C8B-B14F-4D97-AF65-F5344CB8AC3E}">
        <p14:creationId xmlns:p14="http://schemas.microsoft.com/office/powerpoint/2010/main" val="332782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Arithmetic Expressions</a:t>
            </a:r>
            <a:endParaRPr lang="bg-BG" dirty="0"/>
          </a:p>
        </p:txBody>
      </p:sp>
      <p:sp>
        <p:nvSpPr>
          <p:cNvPr id="3" name="Content Placeholder 2"/>
          <p:cNvSpPr>
            <a:spLocks noGrp="1"/>
          </p:cNvSpPr>
          <p:nvPr>
            <p:ph idx="1"/>
          </p:nvPr>
        </p:nvSpPr>
        <p:spPr>
          <a:xfrm>
            <a:off x="1097280" y="1845734"/>
            <a:ext cx="10058400" cy="4295090"/>
          </a:xfrm>
        </p:spPr>
        <p:txBody>
          <a:bodyPr>
            <a:normAutofit/>
          </a:bodyPr>
          <a:lstStyle/>
          <a:p>
            <a:pPr>
              <a:buFont typeface="Wingdings" panose="05000000000000000000" pitchFamily="2" charset="2"/>
              <a:buChar char="§"/>
            </a:pPr>
            <a:r>
              <a:rPr lang="en-US" sz="3200" dirty="0"/>
              <a:t>Arithmetic operators:</a:t>
            </a:r>
          </a:p>
          <a:p>
            <a:pPr marL="201168" lvl="1" indent="0">
              <a:buNone/>
            </a:pPr>
            <a:r>
              <a:rPr lang="en-US" sz="3000" b="1" dirty="0">
                <a:latin typeface="Courier New" panose="02070309020205020404" pitchFamily="49" charset="0"/>
                <a:cs typeface="Courier New" panose="02070309020205020404" pitchFamily="49" charset="0"/>
              </a:rPr>
              <a:t>	+</a:t>
            </a:r>
            <a:r>
              <a:rPr lang="en-US" sz="3000" dirty="0">
                <a:latin typeface="Courier New" panose="02070309020205020404" pitchFamily="49" charset="0"/>
                <a:cs typeface="Courier New" panose="02070309020205020404" pitchFamily="49" charset="0"/>
              </a:rPr>
              <a:t>, </a:t>
            </a:r>
            <a:r>
              <a:rPr lang="en-US" sz="3000" b="1" dirty="0">
                <a:latin typeface="Courier New" panose="02070309020205020404" pitchFamily="49" charset="0"/>
                <a:cs typeface="Courier New" panose="02070309020205020404" pitchFamily="49" charset="0"/>
              </a:rPr>
              <a:t>-</a:t>
            </a:r>
            <a:r>
              <a:rPr lang="en-US" sz="3000" dirty="0">
                <a:latin typeface="Courier New" panose="02070309020205020404" pitchFamily="49" charset="0"/>
                <a:cs typeface="Courier New" panose="02070309020205020404" pitchFamily="49" charset="0"/>
              </a:rPr>
              <a:t>, </a:t>
            </a:r>
            <a:r>
              <a:rPr lang="en-US" sz="3000" b="1" dirty="0">
                <a:latin typeface="Courier New" panose="02070309020205020404" pitchFamily="49" charset="0"/>
                <a:cs typeface="Courier New" panose="02070309020205020404" pitchFamily="49" charset="0"/>
              </a:rPr>
              <a:t>*</a:t>
            </a:r>
            <a:r>
              <a:rPr lang="en-US" sz="3000" dirty="0">
                <a:latin typeface="Courier New" panose="02070309020205020404" pitchFamily="49" charset="0"/>
                <a:cs typeface="Courier New" panose="02070309020205020404" pitchFamily="49" charset="0"/>
              </a:rPr>
              <a:t>, </a:t>
            </a:r>
            <a:r>
              <a:rPr lang="en-US" sz="3000" b="1" dirty="0">
                <a:latin typeface="Courier New" panose="02070309020205020404" pitchFamily="49" charset="0"/>
                <a:cs typeface="Courier New" panose="02070309020205020404" pitchFamily="49" charset="0"/>
              </a:rPr>
              <a:t>/</a:t>
            </a:r>
            <a:r>
              <a:rPr lang="en-US" sz="3000" dirty="0">
                <a:latin typeface="Courier New" panose="02070309020205020404" pitchFamily="49" charset="0"/>
                <a:cs typeface="Courier New" panose="02070309020205020404" pitchFamily="49" charset="0"/>
              </a:rPr>
              <a:t>, </a:t>
            </a:r>
            <a:r>
              <a:rPr lang="en-US" sz="3000" b="1" dirty="0">
                <a:latin typeface="Courier New" panose="02070309020205020404" pitchFamily="49" charset="0"/>
                <a:cs typeface="Courier New" panose="02070309020205020404" pitchFamily="49" charset="0"/>
              </a:rPr>
              <a:t>%</a:t>
            </a:r>
            <a:endParaRPr lang="en-US" sz="3200" dirty="0">
              <a:latin typeface="Courier New" panose="02070309020205020404" pitchFamily="49" charset="0"/>
              <a:cs typeface="Courier New" panose="02070309020205020404" pitchFamily="49" charset="0"/>
            </a:endParaRPr>
          </a:p>
          <a:p>
            <a:pPr>
              <a:buFont typeface="Wingdings" panose="05000000000000000000" pitchFamily="2" charset="2"/>
              <a:buChar char="§"/>
            </a:pPr>
            <a:r>
              <a:rPr lang="en-US" sz="3200" dirty="0"/>
              <a:t>Integer division examples – result is integer</a:t>
            </a:r>
          </a:p>
          <a:p>
            <a:pPr>
              <a:buFont typeface="Wingdings" panose="05000000000000000000" pitchFamily="2" charset="2"/>
              <a:buChar char="§"/>
            </a:pPr>
            <a:r>
              <a:rPr lang="en-US" sz="3200" dirty="0"/>
              <a:t>Examples:</a:t>
            </a:r>
          </a:p>
          <a:p>
            <a:pPr marL="201168" lvl="1" indent="0">
              <a:buNone/>
            </a:pPr>
            <a:r>
              <a:rPr lang="en-US" sz="3000" dirty="0"/>
              <a:t>	</a:t>
            </a:r>
            <a:r>
              <a:rPr lang="en-US" sz="2800" b="1" dirty="0">
                <a:latin typeface="Courier New" panose="02070309020205020404" pitchFamily="49" charset="0"/>
                <a:cs typeface="Courier New" panose="02070309020205020404" pitchFamily="49" charset="0"/>
              </a:rPr>
              <a:t>15 / 3 = 5</a:t>
            </a:r>
          </a:p>
          <a:p>
            <a:pPr marL="201168" lvl="1" indent="0">
              <a:buNone/>
            </a:pPr>
            <a:r>
              <a:rPr lang="en-US" sz="2800" b="1" dirty="0">
                <a:latin typeface="Courier New" panose="02070309020205020404" pitchFamily="49" charset="0"/>
                <a:cs typeface="Courier New" panose="02070309020205020404" pitchFamily="49" charset="0"/>
              </a:rPr>
              <a:t>	15 / 2 = 7</a:t>
            </a:r>
          </a:p>
          <a:p>
            <a:pPr marL="201168" lvl="1" indent="0">
              <a:buNone/>
            </a:pPr>
            <a:r>
              <a:rPr lang="en-US" sz="2800" b="1" dirty="0">
                <a:latin typeface="Courier New" panose="02070309020205020404" pitchFamily="49" charset="0"/>
                <a:cs typeface="Courier New" panose="02070309020205020404" pitchFamily="49" charset="0"/>
              </a:rPr>
              <a:t>	0 / 15 = 0</a:t>
            </a:r>
          </a:p>
          <a:p>
            <a:pPr marL="201168" lvl="1" indent="0">
              <a:buNone/>
            </a:pPr>
            <a:r>
              <a:rPr lang="en-US" sz="2800" b="1" dirty="0">
                <a:latin typeface="Courier New" panose="02070309020205020404" pitchFamily="49" charset="0"/>
                <a:cs typeface="Courier New" panose="02070309020205020404" pitchFamily="49" charset="0"/>
              </a:rPr>
              <a:t>	15 / 0 	undefined</a:t>
            </a:r>
          </a:p>
          <a:p>
            <a:pPr>
              <a:buFont typeface="Wingdings" panose="05000000000000000000" pitchFamily="2" charset="2"/>
              <a:buChar char="§"/>
            </a:pPr>
            <a:endParaRPr lang="bg-BG" sz="3200" dirty="0"/>
          </a:p>
        </p:txBody>
      </p:sp>
      <p:sp>
        <p:nvSpPr>
          <p:cNvPr id="4" name="Slide Number Placeholder 3"/>
          <p:cNvSpPr>
            <a:spLocks noGrp="1"/>
          </p:cNvSpPr>
          <p:nvPr>
            <p:ph type="sldNum" sz="quarter" idx="12"/>
          </p:nvPr>
        </p:nvSpPr>
        <p:spPr/>
        <p:txBody>
          <a:bodyPr/>
          <a:lstStyle/>
          <a:p>
            <a:fld id="{43C20813-E79E-4637-B0DD-0EBBF6872E51}" type="slidenum">
              <a:rPr lang="en-US" smtClean="0"/>
              <a:t>30</a:t>
            </a:fld>
            <a:endParaRPr lang="en-US"/>
          </a:p>
        </p:txBody>
      </p:sp>
    </p:spTree>
    <p:extLst>
      <p:ext uri="{BB962C8B-B14F-4D97-AF65-F5344CB8AC3E}">
        <p14:creationId xmlns:p14="http://schemas.microsoft.com/office/powerpoint/2010/main" val="3823210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bg-BG" dirty="0"/>
              <a:t>Modulus for Integers</a:t>
            </a:r>
            <a:endParaRPr lang="bg-BG" dirty="0"/>
          </a:p>
        </p:txBody>
      </p:sp>
      <p:sp>
        <p:nvSpPr>
          <p:cNvPr id="3" name="Content Placeholder 2"/>
          <p:cNvSpPr>
            <a:spLocks noGrp="1"/>
          </p:cNvSpPr>
          <p:nvPr>
            <p:ph idx="1"/>
          </p:nvPr>
        </p:nvSpPr>
        <p:spPr>
          <a:xfrm>
            <a:off x="1097280" y="1845734"/>
            <a:ext cx="10058400" cy="4250266"/>
          </a:xfrm>
        </p:spPr>
        <p:txBody>
          <a:bodyPr>
            <a:noAutofit/>
          </a:bodyPr>
          <a:lstStyle/>
          <a:p>
            <a:pPr>
              <a:buFont typeface="Wingdings" panose="05000000000000000000" pitchFamily="2" charset="2"/>
              <a:buChar char="§"/>
            </a:pPr>
            <a:r>
              <a:rPr lang="en-US" sz="3200" dirty="0"/>
              <a:t>Used only with integers</a:t>
            </a:r>
          </a:p>
          <a:p>
            <a:pPr>
              <a:buFont typeface="Wingdings" panose="05000000000000000000" pitchFamily="2" charset="2"/>
              <a:buChar char="§"/>
            </a:pPr>
            <a:r>
              <a:rPr lang="en-US" sz="3200" dirty="0"/>
              <a:t>Returns the integer remainder of the division</a:t>
            </a:r>
          </a:p>
          <a:p>
            <a:pPr>
              <a:buFont typeface="Wingdings" panose="05000000000000000000" pitchFamily="2" charset="2"/>
              <a:buChar char="§"/>
            </a:pPr>
            <a:r>
              <a:rPr lang="en-US" sz="3200" dirty="0"/>
              <a:t>Examples:</a:t>
            </a:r>
          </a:p>
          <a:p>
            <a:pPr marL="201168" lvl="1" indent="0">
              <a:buNone/>
            </a:pPr>
            <a:r>
              <a:rPr lang="en-US" sz="2800" b="1" dirty="0">
                <a:latin typeface="Courier New" panose="02070309020205020404" pitchFamily="49" charset="0"/>
                <a:cs typeface="Courier New" panose="02070309020205020404" pitchFamily="49" charset="0"/>
              </a:rPr>
              <a:t>	7 % 2 = 1</a:t>
            </a:r>
          </a:p>
          <a:p>
            <a:pPr marL="201168" lvl="1" indent="0">
              <a:buNone/>
            </a:pPr>
            <a:r>
              <a:rPr lang="en-US" sz="2800" b="1" dirty="0">
                <a:latin typeface="Courier New" panose="02070309020205020404" pitchFamily="49" charset="0"/>
                <a:cs typeface="Courier New" panose="02070309020205020404" pitchFamily="49" charset="0"/>
              </a:rPr>
              <a:t>	299 % 100 = 99</a:t>
            </a:r>
          </a:p>
          <a:p>
            <a:pPr marL="201168" lvl="1" indent="0">
              <a:buNone/>
            </a:pPr>
            <a:r>
              <a:rPr lang="en-US" sz="2800" b="1" dirty="0">
                <a:latin typeface="Courier New" panose="02070309020205020404" pitchFamily="49" charset="0"/>
                <a:cs typeface="Courier New" panose="02070309020205020404" pitchFamily="49" charset="0"/>
              </a:rPr>
              <a:t>	49 % 5 = 4</a:t>
            </a:r>
          </a:p>
          <a:p>
            <a:pPr marL="201168" lvl="1" indent="0">
              <a:buNone/>
            </a:pPr>
            <a:r>
              <a:rPr lang="en-US" sz="2800" b="1" dirty="0">
                <a:latin typeface="Courier New" panose="02070309020205020404" pitchFamily="49" charset="0"/>
                <a:cs typeface="Courier New" panose="02070309020205020404" pitchFamily="49" charset="0"/>
              </a:rPr>
              <a:t>	15 % 0 	undefined</a:t>
            </a:r>
          </a:p>
        </p:txBody>
      </p:sp>
      <p:sp>
        <p:nvSpPr>
          <p:cNvPr id="4" name="Slide Number Placeholder 3"/>
          <p:cNvSpPr>
            <a:spLocks noGrp="1"/>
          </p:cNvSpPr>
          <p:nvPr>
            <p:ph type="sldNum" sz="quarter" idx="12"/>
          </p:nvPr>
        </p:nvSpPr>
        <p:spPr/>
        <p:txBody>
          <a:bodyPr/>
          <a:lstStyle/>
          <a:p>
            <a:fld id="{43C20813-E79E-4637-B0DD-0EBBF6872E51}" type="slidenum">
              <a:rPr lang="en-US" smtClean="0"/>
              <a:t>31</a:t>
            </a:fld>
            <a:endParaRPr lang="en-US"/>
          </a:p>
        </p:txBody>
      </p:sp>
    </p:spTree>
    <p:extLst>
      <p:ext uri="{BB962C8B-B14F-4D97-AF65-F5344CB8AC3E}">
        <p14:creationId xmlns:p14="http://schemas.microsoft.com/office/powerpoint/2010/main" val="2083557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bg-BG" dirty="0"/>
              <a:t>Mixed-type Expressions</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Contain operands of different types – e.g. </a:t>
            </a:r>
            <a:r>
              <a:rPr lang="en-US" sz="3200" b="1" dirty="0">
                <a:latin typeface="Courier New" panose="02070309020205020404" pitchFamily="49" charset="0"/>
                <a:cs typeface="Courier New" panose="02070309020205020404" pitchFamily="49" charset="0"/>
              </a:rPr>
              <a:t>int</a:t>
            </a:r>
            <a:r>
              <a:rPr lang="en-US" sz="3200" dirty="0"/>
              <a:t> and </a:t>
            </a:r>
            <a:r>
              <a:rPr lang="en-US" sz="3200" b="1" dirty="0">
                <a:latin typeface="Courier New" panose="02070309020205020404" pitchFamily="49" charset="0"/>
                <a:cs typeface="Courier New" panose="02070309020205020404" pitchFamily="49" charset="0"/>
              </a:rPr>
              <a:t>float</a:t>
            </a:r>
          </a:p>
          <a:p>
            <a:pPr>
              <a:buFont typeface="Wingdings" panose="05000000000000000000" pitchFamily="2" charset="2"/>
              <a:buChar char="§"/>
            </a:pPr>
            <a:r>
              <a:rPr lang="en-US" sz="3200" dirty="0"/>
              <a:t>Example:</a:t>
            </a:r>
          </a:p>
          <a:p>
            <a:pPr marL="201168" lvl="1" indent="0">
              <a:buNone/>
            </a:pPr>
            <a:r>
              <a:rPr lang="en-US" sz="3000" dirty="0"/>
              <a:t>	</a:t>
            </a:r>
            <a:r>
              <a:rPr lang="en-US" sz="3000" b="1" dirty="0">
                <a:latin typeface="Courier New" panose="02070309020205020404" pitchFamily="49" charset="0"/>
                <a:cs typeface="Courier New" panose="02070309020205020404" pitchFamily="49" charset="0"/>
              </a:rPr>
              <a:t>4.6 / 2 </a:t>
            </a:r>
            <a:r>
              <a:rPr lang="en-US" sz="3000" dirty="0">
                <a:cs typeface="Courier New" panose="02070309020205020404" pitchFamily="49" charset="0"/>
              </a:rPr>
              <a:t>evaluates </a:t>
            </a:r>
            <a:r>
              <a:rPr lang="en-US" sz="3000">
                <a:cs typeface="Courier New" panose="02070309020205020404" pitchFamily="49" charset="0"/>
              </a:rPr>
              <a:t>to</a:t>
            </a:r>
            <a:r>
              <a:rPr lang="en-US" sz="3000" b="1">
                <a:latin typeface="Courier New" panose="02070309020205020404" pitchFamily="49" charset="0"/>
                <a:cs typeface="Courier New" panose="02070309020205020404" pitchFamily="49" charset="0"/>
              </a:rPr>
              <a:t> 2.3</a:t>
            </a:r>
            <a:endParaRPr lang="en-US" sz="3000" b="1" dirty="0">
              <a:latin typeface="Courier New" panose="02070309020205020404" pitchFamily="49" charset="0"/>
              <a:cs typeface="Courier New" panose="02070309020205020404" pitchFamily="49" charset="0"/>
            </a:endParaRPr>
          </a:p>
          <a:p>
            <a:pPr>
              <a:buFont typeface="Wingdings" panose="05000000000000000000" pitchFamily="2" charset="2"/>
              <a:buChar char="§"/>
            </a:pPr>
            <a:r>
              <a:rPr lang="en-US" altLang="bg-BG" sz="3200" b="1" dirty="0"/>
              <a:t>Rule:</a:t>
            </a:r>
            <a:r>
              <a:rPr lang="en-US" altLang="bg-BG" sz="3200" dirty="0"/>
              <a:t> When an integer and a floating point operand are combined by an operator, the integer gets converted to the floating point type</a:t>
            </a:r>
          </a:p>
        </p:txBody>
      </p:sp>
      <p:sp>
        <p:nvSpPr>
          <p:cNvPr id="4" name="Slide Number Placeholder 3"/>
          <p:cNvSpPr>
            <a:spLocks noGrp="1"/>
          </p:cNvSpPr>
          <p:nvPr>
            <p:ph type="sldNum" sz="quarter" idx="12"/>
          </p:nvPr>
        </p:nvSpPr>
        <p:spPr/>
        <p:txBody>
          <a:bodyPr/>
          <a:lstStyle/>
          <a:p>
            <a:fld id="{43C20813-E79E-4637-B0DD-0EBBF6872E51}" type="slidenum">
              <a:rPr lang="en-US" smtClean="0"/>
              <a:t>32</a:t>
            </a:fld>
            <a:endParaRPr lang="en-US"/>
          </a:p>
        </p:txBody>
      </p:sp>
    </p:spTree>
    <p:extLst>
      <p:ext uri="{BB962C8B-B14F-4D97-AF65-F5344CB8AC3E}">
        <p14:creationId xmlns:p14="http://schemas.microsoft.com/office/powerpoint/2010/main" val="1158804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Mixed-type Assignments</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When an assignment statement is executed, the value on the right side is first evaluated and then assigned to the variable on the left side.</a:t>
            </a:r>
          </a:p>
          <a:p>
            <a:pPr>
              <a:buFont typeface="Wingdings" panose="05000000000000000000" pitchFamily="2" charset="2"/>
              <a:buChar char="§"/>
            </a:pPr>
            <a:r>
              <a:rPr lang="en-US" sz="3200" dirty="0"/>
              <a:t>If the variable on left side of assignment is of different type than the type of the evaluated expression on the right side, the result of the expression must be converted to the appropriate type.</a:t>
            </a:r>
          </a:p>
        </p:txBody>
      </p:sp>
      <p:sp>
        <p:nvSpPr>
          <p:cNvPr id="4" name="Slide Number Placeholder 3"/>
          <p:cNvSpPr>
            <a:spLocks noGrp="1"/>
          </p:cNvSpPr>
          <p:nvPr>
            <p:ph type="sldNum" sz="quarter" idx="12"/>
          </p:nvPr>
        </p:nvSpPr>
        <p:spPr/>
        <p:txBody>
          <a:bodyPr/>
          <a:lstStyle/>
          <a:p>
            <a:fld id="{43C20813-E79E-4637-B0DD-0EBBF6872E51}" type="slidenum">
              <a:rPr lang="en-US" smtClean="0"/>
              <a:t>33</a:t>
            </a:fld>
            <a:endParaRPr lang="en-US"/>
          </a:p>
        </p:txBody>
      </p:sp>
    </p:spTree>
    <p:extLst>
      <p:ext uri="{BB962C8B-B14F-4D97-AF65-F5344CB8AC3E}">
        <p14:creationId xmlns:p14="http://schemas.microsoft.com/office/powerpoint/2010/main" val="3703475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bg-BG" dirty="0"/>
              <a:t>Mixed-type Assignment Examples</a:t>
            </a:r>
            <a:endParaRPr lang="bg-BG" dirty="0"/>
          </a:p>
        </p:txBody>
      </p:sp>
      <p:sp>
        <p:nvSpPr>
          <p:cNvPr id="3" name="Content Placeholder 2"/>
          <p:cNvSpPr>
            <a:spLocks noGrp="1"/>
          </p:cNvSpPr>
          <p:nvPr>
            <p:ph idx="1"/>
          </p:nvPr>
        </p:nvSpPr>
        <p:spPr>
          <a:xfrm>
            <a:off x="1097280" y="1845733"/>
            <a:ext cx="10058400" cy="4393701"/>
          </a:xfrm>
        </p:spPr>
        <p:txBody>
          <a:bodyPr>
            <a:normAutofit/>
          </a:bodyPr>
          <a:lstStyle/>
          <a:p>
            <a:r>
              <a:rPr lang="en-US" sz="2400" dirty="0">
                <a:solidFill>
                  <a:srgbClr val="0000FF"/>
                </a:solidFill>
                <a:latin typeface="Consolas" panose="020B0609020204030204" pitchFamily="49" charset="0"/>
              </a:rPr>
              <a:t>float</a:t>
            </a:r>
            <a:r>
              <a:rPr lang="en-US" sz="2400" dirty="0">
                <a:solidFill>
                  <a:srgbClr val="000000"/>
                </a:solidFill>
                <a:latin typeface="Consolas" panose="020B0609020204030204" pitchFamily="49" charset="0"/>
              </a:rPr>
              <a:t> a, b, x;</a:t>
            </a:r>
          </a:p>
          <a:p>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m, n;</a:t>
            </a:r>
          </a:p>
          <a:p>
            <a:r>
              <a:rPr lang="en-US" sz="2400" dirty="0">
                <a:solidFill>
                  <a:srgbClr val="000000"/>
                </a:solidFill>
                <a:latin typeface="Consolas" panose="020B0609020204030204" pitchFamily="49" charset="0"/>
              </a:rPr>
              <a:t>a = 10;</a:t>
            </a:r>
          </a:p>
          <a:p>
            <a:r>
              <a:rPr lang="en-US" sz="2400" dirty="0">
                <a:solidFill>
                  <a:srgbClr val="000000"/>
                </a:solidFill>
                <a:latin typeface="Consolas" panose="020B0609020204030204" pitchFamily="49" charset="0"/>
              </a:rPr>
              <a:t>b = 3.5;</a:t>
            </a:r>
          </a:p>
          <a:p>
            <a:r>
              <a:rPr lang="en-US" sz="2400" dirty="0">
                <a:solidFill>
                  <a:srgbClr val="000000"/>
                </a:solidFill>
                <a:latin typeface="Consolas" panose="020B0609020204030204" pitchFamily="49" charset="0"/>
              </a:rPr>
              <a:t>m = 5;</a:t>
            </a:r>
          </a:p>
          <a:p>
            <a:r>
              <a:rPr lang="en-US" sz="2400" dirty="0">
                <a:solidFill>
                  <a:srgbClr val="000000"/>
                </a:solidFill>
                <a:latin typeface="Consolas" panose="020B0609020204030204" pitchFamily="49" charset="0"/>
              </a:rPr>
              <a:t>n = 10;</a:t>
            </a:r>
          </a:p>
          <a:p>
            <a:r>
              <a:rPr lang="en-US" sz="2400" dirty="0">
                <a:solidFill>
                  <a:srgbClr val="000000"/>
                </a:solidFill>
                <a:latin typeface="Consolas" panose="020B0609020204030204" pitchFamily="49" charset="0"/>
              </a:rPr>
              <a:t>x = m / n;</a:t>
            </a:r>
          </a:p>
          <a:p>
            <a:r>
              <a:rPr lang="en-US" sz="2400" dirty="0">
                <a:solidFill>
                  <a:srgbClr val="000000"/>
                </a:solidFill>
                <a:latin typeface="Consolas" panose="020B0609020204030204" pitchFamily="49" charset="0"/>
              </a:rPr>
              <a:t>m = b * 3;</a:t>
            </a:r>
            <a:endParaRPr lang="en-US" sz="24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34</a:t>
            </a:fld>
            <a:endParaRPr lang="en-US"/>
          </a:p>
        </p:txBody>
      </p:sp>
      <p:sp>
        <p:nvSpPr>
          <p:cNvPr id="5" name="TextBox 4"/>
          <p:cNvSpPr txBox="1"/>
          <p:nvPr/>
        </p:nvSpPr>
        <p:spPr>
          <a:xfrm>
            <a:off x="4276165" y="2859741"/>
            <a:ext cx="2900409" cy="400110"/>
          </a:xfrm>
          <a:prstGeom prst="rect">
            <a:avLst/>
          </a:prstGeom>
          <a:noFill/>
        </p:spPr>
        <p:txBody>
          <a:bodyPr wrap="none" rtlCol="0">
            <a:spAutoFit/>
          </a:bodyPr>
          <a:lstStyle/>
          <a:p>
            <a:r>
              <a:rPr lang="en-US" sz="2000" dirty="0">
                <a:solidFill>
                  <a:srgbClr val="C00000"/>
                </a:solidFill>
              </a:rPr>
              <a:t>10.0 is stored in variable </a:t>
            </a:r>
            <a:r>
              <a:rPr lang="en-US" sz="2000" b="1" dirty="0">
                <a:solidFill>
                  <a:srgbClr val="C00000"/>
                </a:solidFill>
              </a:rPr>
              <a:t>a</a:t>
            </a:r>
            <a:endParaRPr lang="bg-BG" sz="2000" b="1" dirty="0">
              <a:solidFill>
                <a:srgbClr val="C00000"/>
              </a:solidFill>
            </a:endParaRPr>
          </a:p>
        </p:txBody>
      </p:sp>
      <p:sp>
        <p:nvSpPr>
          <p:cNvPr id="6" name="TextBox 5"/>
          <p:cNvSpPr txBox="1"/>
          <p:nvPr/>
        </p:nvSpPr>
        <p:spPr>
          <a:xfrm>
            <a:off x="4276165" y="4885765"/>
            <a:ext cx="1945469" cy="400110"/>
          </a:xfrm>
          <a:prstGeom prst="rect">
            <a:avLst/>
          </a:prstGeom>
          <a:noFill/>
        </p:spPr>
        <p:txBody>
          <a:bodyPr wrap="none" rtlCol="0">
            <a:spAutoFit/>
          </a:bodyPr>
          <a:lstStyle/>
          <a:p>
            <a:r>
              <a:rPr lang="en-US" sz="2000" dirty="0">
                <a:solidFill>
                  <a:srgbClr val="C00000"/>
                </a:solidFill>
              </a:rPr>
              <a:t>0 is assigned to </a:t>
            </a:r>
            <a:r>
              <a:rPr lang="en-US" sz="2000" b="1" dirty="0">
                <a:solidFill>
                  <a:srgbClr val="C00000"/>
                </a:solidFill>
              </a:rPr>
              <a:t>x</a:t>
            </a:r>
            <a:endParaRPr lang="bg-BG" sz="2000" b="1" dirty="0">
              <a:solidFill>
                <a:srgbClr val="C00000"/>
              </a:solidFill>
            </a:endParaRPr>
          </a:p>
        </p:txBody>
      </p:sp>
      <p:sp>
        <p:nvSpPr>
          <p:cNvPr id="7" name="TextBox 6"/>
          <p:cNvSpPr txBox="1"/>
          <p:nvPr/>
        </p:nvSpPr>
        <p:spPr>
          <a:xfrm>
            <a:off x="4276164" y="5394248"/>
            <a:ext cx="2165080" cy="400110"/>
          </a:xfrm>
          <a:prstGeom prst="rect">
            <a:avLst/>
          </a:prstGeom>
          <a:noFill/>
        </p:spPr>
        <p:txBody>
          <a:bodyPr wrap="none" rtlCol="0">
            <a:spAutoFit/>
          </a:bodyPr>
          <a:lstStyle/>
          <a:p>
            <a:r>
              <a:rPr lang="en-US" sz="2000" dirty="0">
                <a:solidFill>
                  <a:srgbClr val="C00000"/>
                </a:solidFill>
              </a:rPr>
              <a:t>10 is assigned to </a:t>
            </a:r>
            <a:r>
              <a:rPr lang="en-US" sz="2000" b="1" dirty="0">
                <a:solidFill>
                  <a:srgbClr val="C00000"/>
                </a:solidFill>
              </a:rPr>
              <a:t>m</a:t>
            </a:r>
            <a:endParaRPr lang="bg-BG" sz="2000" b="1" dirty="0">
              <a:solidFill>
                <a:srgbClr val="C00000"/>
              </a:solidFill>
            </a:endParaRPr>
          </a:p>
        </p:txBody>
      </p:sp>
      <p:cxnSp>
        <p:nvCxnSpPr>
          <p:cNvPr id="9" name="Straight Arrow Connector 8"/>
          <p:cNvCxnSpPr/>
          <p:nvPr/>
        </p:nvCxnSpPr>
        <p:spPr>
          <a:xfrm>
            <a:off x="3083859" y="3077726"/>
            <a:ext cx="1075765"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3200398" y="5097616"/>
            <a:ext cx="1075765"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3200399" y="5603268"/>
            <a:ext cx="1075765"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546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Expressions with Multiple Operators</a:t>
            </a:r>
            <a:endParaRPr lang="bg-BG" dirty="0"/>
          </a:p>
        </p:txBody>
      </p:sp>
      <p:sp>
        <p:nvSpPr>
          <p:cNvPr id="3" name="Content Placeholder 2"/>
          <p:cNvSpPr>
            <a:spLocks noGrp="1"/>
          </p:cNvSpPr>
          <p:nvPr>
            <p:ph idx="1"/>
          </p:nvPr>
        </p:nvSpPr>
        <p:spPr>
          <a:xfrm>
            <a:off x="1097280" y="1845733"/>
            <a:ext cx="10058400" cy="4339913"/>
          </a:xfrm>
        </p:spPr>
        <p:txBody>
          <a:bodyPr>
            <a:normAutofit/>
          </a:bodyPr>
          <a:lstStyle/>
          <a:p>
            <a:pPr>
              <a:buFont typeface="Wingdings" panose="05000000000000000000" pitchFamily="2" charset="2"/>
              <a:buChar char="§"/>
            </a:pPr>
            <a:r>
              <a:rPr lang="en-US" sz="3200" dirty="0"/>
              <a:t>Unary operators – only one operand – e.g. negation</a:t>
            </a:r>
          </a:p>
          <a:p>
            <a:pPr marL="201168" lvl="1" indent="0">
              <a:buNone/>
            </a:pPr>
            <a:r>
              <a:rPr lang="en-US" sz="2800" dirty="0"/>
              <a:t>	</a:t>
            </a:r>
            <a:r>
              <a:rPr lang="en-US" sz="2800" b="1" dirty="0">
                <a:latin typeface="Courier New" panose="02070309020205020404" pitchFamily="49" charset="0"/>
                <a:cs typeface="Courier New" panose="02070309020205020404" pitchFamily="49" charset="0"/>
              </a:rPr>
              <a:t>-y</a:t>
            </a:r>
          </a:p>
          <a:p>
            <a:pPr>
              <a:buFont typeface="Wingdings" panose="05000000000000000000" pitchFamily="2" charset="2"/>
              <a:buChar char="§"/>
            </a:pPr>
            <a:r>
              <a:rPr lang="en-US" sz="3200" dirty="0"/>
              <a:t>Binary operators – involving two operands</a:t>
            </a:r>
          </a:p>
          <a:p>
            <a:pPr marL="201168" lvl="1" indent="0">
              <a:buNone/>
            </a:pPr>
            <a:r>
              <a:rPr lang="en-US" sz="3000" dirty="0"/>
              <a:t>	</a:t>
            </a:r>
            <a:r>
              <a:rPr lang="en-US" sz="2800" b="1" dirty="0">
                <a:latin typeface="Courier New" panose="02070309020205020404" pitchFamily="49" charset="0"/>
                <a:cs typeface="Courier New" panose="02070309020205020404" pitchFamily="49" charset="0"/>
              </a:rPr>
              <a:t>x + z</a:t>
            </a:r>
            <a:endParaRPr lang="en-US" sz="3000" b="1" dirty="0">
              <a:latin typeface="Courier New" panose="02070309020205020404" pitchFamily="49" charset="0"/>
              <a:cs typeface="Courier New" panose="02070309020205020404" pitchFamily="49" charset="0"/>
            </a:endParaRPr>
          </a:p>
          <a:p>
            <a:pPr>
              <a:buFont typeface="Wingdings" panose="05000000000000000000" pitchFamily="2" charset="2"/>
              <a:buChar char="§"/>
            </a:pPr>
            <a:r>
              <a:rPr lang="en-US" sz="3200" dirty="0"/>
              <a:t>Parentheses can be used to group expressions to be evaluated first</a:t>
            </a:r>
            <a:endParaRPr lang="en-US" sz="3000" dirty="0"/>
          </a:p>
          <a:p>
            <a:pPr>
              <a:buFont typeface="Wingdings" panose="05000000000000000000" pitchFamily="2" charset="2"/>
              <a:buChar char="§"/>
            </a:pPr>
            <a:r>
              <a:rPr lang="en-US" sz="3200" dirty="0"/>
              <a:t>Example:</a:t>
            </a:r>
          </a:p>
          <a:p>
            <a:pPr marL="201168" lvl="1" indent="0">
              <a:buNone/>
            </a:pPr>
            <a:r>
              <a:rPr lang="en-US" sz="2800" b="1" dirty="0">
                <a:latin typeface="Courier New" panose="02070309020205020404" pitchFamily="49" charset="0"/>
                <a:cs typeface="Courier New" panose="02070309020205020404" pitchFamily="49" charset="0"/>
              </a:rPr>
              <a:t>	</a:t>
            </a:r>
            <a:r>
              <a:rPr lang="pl-PL" sz="2800" b="1" dirty="0">
                <a:latin typeface="Courier New" panose="02070309020205020404" pitchFamily="49" charset="0"/>
                <a:cs typeface="Courier New" panose="02070309020205020404" pitchFamily="49" charset="0"/>
              </a:rPr>
              <a:t>z - (a +</a:t>
            </a:r>
            <a:r>
              <a:rPr lang="en-US" sz="2800" b="1" dirty="0">
                <a:latin typeface="Courier New" panose="02070309020205020404" pitchFamily="49" charset="0"/>
                <a:cs typeface="Courier New" panose="02070309020205020404" pitchFamily="49" charset="0"/>
              </a:rPr>
              <a:t> </a:t>
            </a:r>
            <a:r>
              <a:rPr lang="pl-PL" sz="2800" b="1" dirty="0">
                <a:latin typeface="Courier New" panose="02070309020205020404" pitchFamily="49" charset="0"/>
                <a:cs typeface="Courier New" panose="02070309020205020404" pitchFamily="49" charset="0"/>
              </a:rPr>
              <a:t>b / 2) + w * -y;</a:t>
            </a:r>
            <a:endParaRPr lang="bg-BG" sz="28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35</a:t>
            </a:fld>
            <a:endParaRPr lang="en-US"/>
          </a:p>
        </p:txBody>
      </p:sp>
    </p:spTree>
    <p:extLst>
      <p:ext uri="{BB962C8B-B14F-4D97-AF65-F5344CB8AC3E}">
        <p14:creationId xmlns:p14="http://schemas.microsoft.com/office/powerpoint/2010/main" val="30644354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bg-BG" dirty="0"/>
              <a:t>Order of Operator Precedence</a:t>
            </a:r>
            <a:br>
              <a:rPr lang="en-US" altLang="bg-BG" dirty="0"/>
            </a:br>
            <a:r>
              <a:rPr lang="en-US" altLang="bg-BG" dirty="0"/>
              <a:t>(Highest to Lowest)</a:t>
            </a:r>
            <a:endParaRPr lang="bg-BG" dirty="0"/>
          </a:p>
        </p:txBody>
      </p:sp>
      <p:sp>
        <p:nvSpPr>
          <p:cNvPr id="3" name="Content Placeholder 2"/>
          <p:cNvSpPr>
            <a:spLocks noGrp="1"/>
          </p:cNvSpPr>
          <p:nvPr>
            <p:ph idx="1"/>
          </p:nvPr>
        </p:nvSpPr>
        <p:spPr>
          <a:xfrm>
            <a:off x="1097280" y="1845734"/>
            <a:ext cx="10058400" cy="4250266"/>
          </a:xfrm>
        </p:spPr>
        <p:txBody>
          <a:bodyPr>
            <a:normAutofit/>
          </a:bodyPr>
          <a:lstStyle/>
          <a:p>
            <a:pPr>
              <a:buFont typeface="Wingdings" panose="05000000000000000000" pitchFamily="2" charset="2"/>
              <a:buChar char="§"/>
            </a:pPr>
            <a:r>
              <a:rPr lang="en-US" sz="3200" dirty="0"/>
              <a:t>Parentheses – nested expressions are evaluated first</a:t>
            </a:r>
          </a:p>
          <a:p>
            <a:pPr>
              <a:buFont typeface="Wingdings" panose="05000000000000000000" pitchFamily="2" charset="2"/>
              <a:buChar char="§"/>
            </a:pPr>
            <a:r>
              <a:rPr lang="en-US" sz="3200" dirty="0"/>
              <a:t>Unary </a:t>
            </a:r>
            <a:r>
              <a:rPr lang="en-US" sz="3200" b="1" dirty="0">
                <a:latin typeface="Courier New" panose="02070309020205020404" pitchFamily="49" charset="0"/>
                <a:cs typeface="Courier New" panose="02070309020205020404" pitchFamily="49" charset="0"/>
              </a:rPr>
              <a:t>–</a:t>
            </a:r>
          </a:p>
          <a:p>
            <a:pPr>
              <a:buFont typeface="Wingdings" panose="05000000000000000000" pitchFamily="2" charset="2"/>
              <a:buChar char="§"/>
            </a:pPr>
            <a:r>
              <a:rPr lang="en-US" sz="3200" b="1" dirty="0">
                <a:latin typeface="Courier New" panose="02070309020205020404" pitchFamily="49" charset="0"/>
                <a:cs typeface="Courier New" panose="02070309020205020404" pitchFamily="49" charset="0"/>
              </a:rPr>
              <a:t>*</a:t>
            </a:r>
            <a:r>
              <a:rPr lang="en-US" sz="3200" dirty="0"/>
              <a:t>, </a:t>
            </a:r>
            <a:r>
              <a:rPr lang="en-US" sz="3200" b="1" dirty="0">
                <a:latin typeface="Courier New" panose="02070309020205020404" pitchFamily="49" charset="0"/>
                <a:cs typeface="Courier New" panose="02070309020205020404" pitchFamily="49" charset="0"/>
              </a:rPr>
              <a:t>/</a:t>
            </a:r>
            <a:r>
              <a:rPr lang="en-US" sz="3200" dirty="0"/>
              <a:t>, </a:t>
            </a:r>
            <a:r>
              <a:rPr lang="en-US" sz="3200" b="1" dirty="0">
                <a:latin typeface="Courier New" panose="02070309020205020404" pitchFamily="49" charset="0"/>
                <a:cs typeface="Courier New" panose="02070309020205020404" pitchFamily="49" charset="0"/>
              </a:rPr>
              <a:t>%</a:t>
            </a:r>
          </a:p>
          <a:p>
            <a:pPr>
              <a:buFont typeface="Wingdings" panose="05000000000000000000" pitchFamily="2" charset="2"/>
              <a:buChar char="§"/>
            </a:pPr>
            <a:r>
              <a:rPr lang="en-US" sz="3200" dirty="0"/>
              <a:t>Binary </a:t>
            </a:r>
            <a:r>
              <a:rPr lang="en-US" sz="3200" b="1" dirty="0">
                <a:latin typeface="Courier New" panose="02070309020205020404" pitchFamily="49" charset="0"/>
                <a:cs typeface="Courier New" panose="02070309020205020404" pitchFamily="49" charset="0"/>
              </a:rPr>
              <a:t>+</a:t>
            </a:r>
            <a:r>
              <a:rPr lang="en-US" sz="3200" dirty="0"/>
              <a:t> and </a:t>
            </a:r>
            <a:r>
              <a:rPr lang="en-US" sz="3200" b="1" dirty="0">
                <a:latin typeface="Courier New" panose="02070309020205020404" pitchFamily="49" charset="0"/>
                <a:cs typeface="Courier New" panose="02070309020205020404" pitchFamily="49" charset="0"/>
              </a:rPr>
              <a:t>–</a:t>
            </a:r>
          </a:p>
          <a:p>
            <a:pPr>
              <a:buFont typeface="Wingdings" panose="05000000000000000000" pitchFamily="2" charset="2"/>
              <a:buChar char="§"/>
            </a:pPr>
            <a:endParaRPr lang="en-US" sz="3200" dirty="0"/>
          </a:p>
          <a:p>
            <a:pPr>
              <a:buFont typeface="Wingdings" panose="05000000000000000000" pitchFamily="2" charset="2"/>
              <a:buChar char="§"/>
            </a:pPr>
            <a:r>
              <a:rPr lang="en-US" sz="3200" b="1" dirty="0"/>
              <a:t>NOTE: </a:t>
            </a:r>
            <a:r>
              <a:rPr lang="en-US" sz="3200" dirty="0"/>
              <a:t>Have to watch out for the types of operands and the type of the result from evaluating each operand!</a:t>
            </a:r>
          </a:p>
        </p:txBody>
      </p:sp>
      <p:sp>
        <p:nvSpPr>
          <p:cNvPr id="4" name="Slide Number Placeholder 3"/>
          <p:cNvSpPr>
            <a:spLocks noGrp="1"/>
          </p:cNvSpPr>
          <p:nvPr>
            <p:ph type="sldNum" sz="quarter" idx="12"/>
          </p:nvPr>
        </p:nvSpPr>
        <p:spPr/>
        <p:txBody>
          <a:bodyPr/>
          <a:lstStyle/>
          <a:p>
            <a:fld id="{43C20813-E79E-4637-B0DD-0EBBF6872E51}" type="slidenum">
              <a:rPr lang="en-US" smtClean="0"/>
              <a:t>36</a:t>
            </a:fld>
            <a:endParaRPr lang="en-US"/>
          </a:p>
        </p:txBody>
      </p:sp>
    </p:spTree>
    <p:extLst>
      <p:ext uri="{BB962C8B-B14F-4D97-AF65-F5344CB8AC3E}">
        <p14:creationId xmlns:p14="http://schemas.microsoft.com/office/powerpoint/2010/main" val="32645015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bg-BG" dirty="0"/>
              <a:t>Step-by-Step Expression Evaluation</a:t>
            </a:r>
            <a:endParaRPr lang="bg-BG" dirty="0"/>
          </a:p>
        </p:txBody>
      </p:sp>
      <p:pic>
        <p:nvPicPr>
          <p:cNvPr id="6" name="Content Placeholder 5"/>
          <p:cNvPicPr>
            <a:picLocks noGrp="1" noChangeAspect="1"/>
          </p:cNvPicPr>
          <p:nvPr>
            <p:ph idx="1"/>
          </p:nvPr>
        </p:nvPicPr>
        <p:blipFill>
          <a:blip r:embed="rId2"/>
          <a:stretch>
            <a:fillRect/>
          </a:stretch>
        </p:blipFill>
        <p:spPr>
          <a:xfrm>
            <a:off x="1598670" y="2422027"/>
            <a:ext cx="7315834" cy="1676545"/>
          </a:xfrm>
          <a:prstGeom prst="rect">
            <a:avLst/>
          </a:prstGeom>
        </p:spPr>
      </p:pic>
      <p:sp>
        <p:nvSpPr>
          <p:cNvPr id="4" name="Slide Number Placeholder 3"/>
          <p:cNvSpPr>
            <a:spLocks noGrp="1"/>
          </p:cNvSpPr>
          <p:nvPr>
            <p:ph type="sldNum" sz="quarter" idx="12"/>
          </p:nvPr>
        </p:nvSpPr>
        <p:spPr/>
        <p:txBody>
          <a:bodyPr/>
          <a:lstStyle/>
          <a:p>
            <a:fld id="{43C20813-E79E-4637-B0DD-0EBBF6872E51}" type="slidenum">
              <a:rPr lang="en-US" smtClean="0"/>
              <a:t>37</a:t>
            </a:fld>
            <a:endParaRPr lang="en-US"/>
          </a:p>
        </p:txBody>
      </p:sp>
    </p:spTree>
    <p:extLst>
      <p:ext uri="{BB962C8B-B14F-4D97-AF65-F5344CB8AC3E}">
        <p14:creationId xmlns:p14="http://schemas.microsoft.com/office/powerpoint/2010/main" val="11923564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269967" cy="1450757"/>
          </a:xfrm>
        </p:spPr>
        <p:txBody>
          <a:bodyPr/>
          <a:lstStyle/>
          <a:p>
            <a:r>
              <a:rPr lang="en-US" dirty="0"/>
              <a:t>Evaluation of:  </a:t>
            </a:r>
            <a:r>
              <a:rPr lang="pl-PL" sz="3600" b="1" dirty="0">
                <a:latin typeface="Courier New" panose="02070309020205020404" pitchFamily="49" charset="0"/>
                <a:cs typeface="Courier New" panose="02070309020205020404" pitchFamily="49" charset="0"/>
              </a:rPr>
              <a:t>z - (a +</a:t>
            </a:r>
            <a:r>
              <a:rPr lang="en-US" sz="3600" b="1" dirty="0">
                <a:latin typeface="Courier New" panose="02070309020205020404" pitchFamily="49" charset="0"/>
                <a:cs typeface="Courier New" panose="02070309020205020404" pitchFamily="49" charset="0"/>
              </a:rPr>
              <a:t> </a:t>
            </a:r>
            <a:r>
              <a:rPr lang="pl-PL" sz="3600" b="1" dirty="0">
                <a:latin typeface="Courier New" panose="02070309020205020404" pitchFamily="49" charset="0"/>
                <a:cs typeface="Courier New" panose="02070309020205020404" pitchFamily="49" charset="0"/>
              </a:rPr>
              <a:t>b / 2) + w * -y</a:t>
            </a:r>
            <a:endParaRPr lang="bg-BG" sz="3600" b="1" dirty="0">
              <a:latin typeface="Courier New" panose="02070309020205020404" pitchFamily="49" charset="0"/>
              <a:cs typeface="Courier New" panose="02070309020205020404" pitchFamily="49" charset="0"/>
            </a:endParaRPr>
          </a:p>
        </p:txBody>
      </p:sp>
      <p:pic>
        <p:nvPicPr>
          <p:cNvPr id="6" name="Content Placeholder 5"/>
          <p:cNvPicPr>
            <a:picLocks noGrp="1" noChangeAspect="1"/>
          </p:cNvPicPr>
          <p:nvPr>
            <p:ph idx="1"/>
          </p:nvPr>
        </p:nvPicPr>
        <p:blipFill>
          <a:blip r:embed="rId2"/>
          <a:stretch>
            <a:fillRect/>
          </a:stretch>
        </p:blipFill>
        <p:spPr>
          <a:xfrm>
            <a:off x="1837766" y="1846263"/>
            <a:ext cx="7811952" cy="4459323"/>
          </a:xfrm>
          <a:prstGeom prst="rect">
            <a:avLst/>
          </a:prstGeom>
        </p:spPr>
      </p:pic>
      <p:sp>
        <p:nvSpPr>
          <p:cNvPr id="4" name="Slide Number Placeholder 3"/>
          <p:cNvSpPr>
            <a:spLocks noGrp="1"/>
          </p:cNvSpPr>
          <p:nvPr>
            <p:ph type="sldNum" sz="quarter" idx="12"/>
          </p:nvPr>
        </p:nvSpPr>
        <p:spPr/>
        <p:txBody>
          <a:bodyPr/>
          <a:lstStyle/>
          <a:p>
            <a:fld id="{43C20813-E79E-4637-B0DD-0EBBF6872E51}" type="slidenum">
              <a:rPr lang="en-US" smtClean="0"/>
              <a:t>38</a:t>
            </a:fld>
            <a:endParaRPr lang="en-US"/>
          </a:p>
        </p:txBody>
      </p:sp>
    </p:spTree>
    <p:extLst>
      <p:ext uri="{BB962C8B-B14F-4D97-AF65-F5344CB8AC3E}">
        <p14:creationId xmlns:p14="http://schemas.microsoft.com/office/powerpoint/2010/main" val="42014318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Tree for:  </a:t>
            </a:r>
            <a:r>
              <a:rPr lang="en-US" sz="3600" b="1" dirty="0">
                <a:latin typeface="Courier New" panose="02070309020205020404" pitchFamily="49" charset="0"/>
                <a:cs typeface="Courier New" panose="02070309020205020404" pitchFamily="49" charset="0"/>
              </a:rPr>
              <a:t>m = x + k / 2</a:t>
            </a:r>
            <a:endParaRPr lang="bg-BG" sz="36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39</a:t>
            </a:fld>
            <a:endParaRPr lang="en-US"/>
          </a:p>
        </p:txBody>
      </p:sp>
      <p:pic>
        <p:nvPicPr>
          <p:cNvPr id="5" name="Picture 3"/>
          <p:cNvPicPr>
            <a:picLocks noGrp="1" noChangeAspect="1" noChangeArrowheads="1"/>
          </p:cNvPicPr>
          <p:nvPr>
            <p:ph idx="1"/>
          </p:nvPr>
        </p:nvPicPr>
        <p:blipFill>
          <a:blip r:embed="rId2" cstate="print">
            <a:lum contrast="2000"/>
            <a:grayscl/>
            <a:extLst>
              <a:ext uri="{28A0092B-C50C-407E-A947-70E740481C1C}">
                <a14:useLocalDpi xmlns:a14="http://schemas.microsoft.com/office/drawing/2010/main" val="0"/>
              </a:ext>
            </a:extLst>
          </a:blip>
          <a:srcRect/>
          <a:stretch>
            <a:fillRect/>
          </a:stretch>
        </p:blipFill>
        <p:spPr bwMode="auto">
          <a:xfrm>
            <a:off x="4222376" y="1846263"/>
            <a:ext cx="3455807" cy="4478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85102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bg-BG" dirty="0"/>
              <a:t>Mathematical Formulas in C++</a:t>
            </a:r>
            <a:endParaRPr lang="bg-BG"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97280" y="1845732"/>
                <a:ext cx="10058400" cy="4366809"/>
              </a:xfrm>
            </p:spPr>
            <p:txBody>
              <a:bodyPr>
                <a:normAutofit/>
              </a:bodyPr>
              <a:lstStyle/>
              <a:p>
                <a:pPr>
                  <a:spcAft>
                    <a:spcPts val="1200"/>
                  </a:spcAft>
                  <a:buFont typeface="Wingdings" panose="05000000000000000000" pitchFamily="2" charset="2"/>
                  <a:buChar char="§"/>
                </a:pPr>
                <a14:m>
                  <m:oMath xmlns:m="http://schemas.openxmlformats.org/officeDocument/2006/math">
                    <m:r>
                      <a:rPr lang="en-US" sz="3200" i="1" dirty="0" smtClean="0">
                        <a:latin typeface="Cambria Math" panose="02040503050406030204" pitchFamily="18" charset="0"/>
                      </a:rPr>
                      <m:t>𝑎</m:t>
                    </m:r>
                    <m:r>
                      <a:rPr lang="en-US" sz="3200" i="1" dirty="0" smtClean="0">
                        <a:latin typeface="Cambria Math" panose="02040503050406030204" pitchFamily="18" charset="0"/>
                      </a:rPr>
                      <m:t> = </m:t>
                    </m:r>
                    <m:r>
                      <a:rPr lang="en-US" sz="3200" i="1" dirty="0" err="1" smtClean="0">
                        <a:latin typeface="Cambria Math" panose="02040503050406030204" pitchFamily="18" charset="0"/>
                      </a:rPr>
                      <m:t>𝑏𝑐</m:t>
                    </m:r>
                  </m:oMath>
                </a14:m>
                <a:r>
                  <a:rPr lang="en-US" sz="3200" dirty="0"/>
                  <a:t>		 – not valid C++ syntax</a:t>
                </a:r>
              </a:p>
              <a:p>
                <a:pPr lvl="1">
                  <a:buFont typeface="Wingdings" panose="05000000000000000000" pitchFamily="2" charset="2"/>
                  <a:buChar char="§"/>
                </a:pPr>
                <a:r>
                  <a:rPr lang="en-US" sz="3000" dirty="0"/>
                  <a:t>Must use the </a:t>
                </a:r>
                <a:r>
                  <a:rPr lang="en-US" sz="3000" b="1" dirty="0"/>
                  <a:t>*</a:t>
                </a:r>
                <a:r>
                  <a:rPr lang="en-US" sz="3000" dirty="0"/>
                  <a:t> operator:</a:t>
                </a:r>
              </a:p>
              <a:p>
                <a:pPr marL="201168" lvl="1" indent="0">
                  <a:buNone/>
                </a:pPr>
                <a:r>
                  <a:rPr lang="en-US" sz="3200" dirty="0"/>
                  <a:t>	</a:t>
                </a:r>
                <a:r>
                  <a:rPr lang="en-US" sz="2800" b="1" dirty="0">
                    <a:latin typeface="Courier New" panose="02070309020205020404" pitchFamily="49" charset="0"/>
                    <a:cs typeface="Courier New" panose="02070309020205020404" pitchFamily="49" charset="0"/>
                  </a:rPr>
                  <a:t>a = b * c;</a:t>
                </a:r>
                <a:endParaRPr lang="en-US" sz="3000" b="0" i="1" dirty="0">
                  <a:latin typeface="Cambria Math" panose="02040503050406030204" pitchFamily="18" charset="0"/>
                </a:endParaRPr>
              </a:p>
              <a:p>
                <a:pPr>
                  <a:spcBef>
                    <a:spcPts val="2400"/>
                  </a:spcBef>
                  <a:spcAft>
                    <a:spcPts val="1200"/>
                  </a:spcAft>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𝑚</m:t>
                    </m:r>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𝑦</m:t>
                        </m:r>
                        <m:r>
                          <a:rPr lang="en-US" sz="3000" b="0" i="1" smtClean="0">
                            <a:latin typeface="Cambria Math" panose="02040503050406030204" pitchFamily="18" charset="0"/>
                          </a:rPr>
                          <m:t> −</m:t>
                        </m:r>
                        <m:r>
                          <a:rPr lang="en-US" sz="3000" b="0" i="1" smtClean="0">
                            <a:latin typeface="Cambria Math" panose="02040503050406030204" pitchFamily="18" charset="0"/>
                          </a:rPr>
                          <m:t>𝑏</m:t>
                        </m:r>
                      </m:num>
                      <m:den>
                        <m:r>
                          <a:rPr lang="en-US" sz="3000" b="0" i="1" smtClean="0">
                            <a:latin typeface="Cambria Math" panose="02040503050406030204" pitchFamily="18" charset="0"/>
                          </a:rPr>
                          <m:t>𝑥</m:t>
                        </m:r>
                        <m:r>
                          <a:rPr lang="en-US" sz="3000" b="0" i="1" smtClean="0">
                            <a:latin typeface="Cambria Math" panose="02040503050406030204" pitchFamily="18" charset="0"/>
                          </a:rPr>
                          <m:t> −</m:t>
                        </m:r>
                        <m:r>
                          <a:rPr lang="en-US" sz="3000" b="0" i="1" smtClean="0">
                            <a:latin typeface="Cambria Math" panose="02040503050406030204" pitchFamily="18" charset="0"/>
                          </a:rPr>
                          <m:t>𝑎</m:t>
                        </m:r>
                      </m:den>
                    </m:f>
                  </m:oMath>
                </a14:m>
                <a:endParaRPr lang="en-US" sz="3000" dirty="0"/>
              </a:p>
              <a:p>
                <a:pPr lvl="1">
                  <a:buFont typeface="Wingdings" panose="05000000000000000000" pitchFamily="2" charset="2"/>
                  <a:buChar char="§"/>
                </a:pPr>
                <a:r>
                  <a:rPr lang="en-US" sz="2800" dirty="0"/>
                  <a:t>Must use </a:t>
                </a:r>
                <a:r>
                  <a:rPr lang="en-US" sz="2800" b="1" dirty="0">
                    <a:latin typeface="Courier New" panose="02070309020205020404" pitchFamily="49" charset="0"/>
                    <a:cs typeface="Courier New" panose="02070309020205020404" pitchFamily="49" charset="0"/>
                  </a:rPr>
                  <a:t>( )</a:t>
                </a:r>
                <a:r>
                  <a:rPr lang="en-US" sz="2800" dirty="0"/>
                  <a:t> and </a:t>
                </a:r>
                <a:r>
                  <a:rPr lang="en-US" sz="2800" b="1" dirty="0">
                    <a:latin typeface="Courier New" panose="02070309020205020404" pitchFamily="49" charset="0"/>
                    <a:cs typeface="Courier New" panose="02070309020205020404" pitchFamily="49" charset="0"/>
                  </a:rPr>
                  <a:t>/</a:t>
                </a:r>
                <a:r>
                  <a:rPr lang="en-US" sz="2800" dirty="0"/>
                  <a:t>:</a:t>
                </a:r>
                <a:r>
                  <a:rPr lang="en-US" sz="3000" dirty="0"/>
                  <a:t>	</a:t>
                </a:r>
              </a:p>
              <a:p>
                <a:pPr marL="0" indent="0">
                  <a:buNone/>
                </a:pPr>
                <a:r>
                  <a:rPr lang="en-US" sz="2800" dirty="0"/>
                  <a:t>   	</a:t>
                </a:r>
                <a:r>
                  <a:rPr lang="en-US" sz="2800" b="1" dirty="0">
                    <a:latin typeface="Courier New" panose="02070309020205020404" pitchFamily="49" charset="0"/>
                    <a:cs typeface="Courier New" panose="02070309020205020404" pitchFamily="49" charset="0"/>
                  </a:rPr>
                  <a:t>m = (y - b) / (x - 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97280" y="1845732"/>
                <a:ext cx="10058400" cy="4366809"/>
              </a:xfrm>
              <a:blipFill rotWithShape="0">
                <a:blip r:embed="rId2"/>
                <a:stretch>
                  <a:fillRect l="-121" t="-2793"/>
                </a:stretch>
              </a:blipFill>
            </p:spPr>
            <p:txBody>
              <a:bodyPr/>
              <a:lstStyle/>
              <a:p>
                <a:r>
                  <a:rPr lang="bg-BG">
                    <a:noFill/>
                  </a:rPr>
                  <a:t> </a:t>
                </a:r>
              </a:p>
            </p:txBody>
          </p:sp>
        </mc:Fallback>
      </mc:AlternateContent>
      <p:sp>
        <p:nvSpPr>
          <p:cNvPr id="4" name="Slide Number Placeholder 3"/>
          <p:cNvSpPr>
            <a:spLocks noGrp="1"/>
          </p:cNvSpPr>
          <p:nvPr>
            <p:ph type="sldNum" sz="quarter" idx="12"/>
          </p:nvPr>
        </p:nvSpPr>
        <p:spPr/>
        <p:txBody>
          <a:bodyPr/>
          <a:lstStyle/>
          <a:p>
            <a:fld id="{43C20813-E79E-4637-B0DD-0EBBF6872E51}" type="slidenum">
              <a:rPr lang="en-US" smtClean="0"/>
              <a:t>40</a:t>
            </a:fld>
            <a:endParaRPr lang="en-US"/>
          </a:p>
        </p:txBody>
      </p:sp>
    </p:spTree>
    <p:extLst>
      <p:ext uri="{BB962C8B-B14F-4D97-AF65-F5344CB8AC3E}">
        <p14:creationId xmlns:p14="http://schemas.microsoft.com/office/powerpoint/2010/main" val="4171410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Programming Errors</a:t>
            </a:r>
            <a:endParaRPr lang="bg-BG" dirty="0"/>
          </a:p>
        </p:txBody>
      </p:sp>
      <p:sp>
        <p:nvSpPr>
          <p:cNvPr id="3" name="Content Placeholder 2"/>
          <p:cNvSpPr>
            <a:spLocks noGrp="1"/>
          </p:cNvSpPr>
          <p:nvPr>
            <p:ph idx="1"/>
          </p:nvPr>
        </p:nvSpPr>
        <p:spPr>
          <a:xfrm>
            <a:off x="1097280" y="1845733"/>
            <a:ext cx="10058400" cy="4384737"/>
          </a:xfrm>
        </p:spPr>
        <p:txBody>
          <a:bodyPr>
            <a:normAutofit/>
          </a:bodyPr>
          <a:lstStyle/>
          <a:p>
            <a:pPr>
              <a:spcAft>
                <a:spcPts val="1200"/>
              </a:spcAft>
              <a:buFont typeface="Wingdings" panose="05000000000000000000" pitchFamily="2" charset="2"/>
              <a:buChar char="§"/>
            </a:pPr>
            <a:r>
              <a:rPr lang="en-US" sz="3200" dirty="0"/>
              <a:t>Syntax Errors</a:t>
            </a:r>
          </a:p>
          <a:p>
            <a:pPr lvl="1">
              <a:spcAft>
                <a:spcPts val="1200"/>
              </a:spcAft>
              <a:buFont typeface="Wingdings" panose="05000000000000000000" pitchFamily="2" charset="2"/>
              <a:buChar char="§"/>
            </a:pPr>
            <a:r>
              <a:rPr lang="en-US" sz="3000" dirty="0"/>
              <a:t>Violate the rules of the C++ grammar</a:t>
            </a:r>
          </a:p>
          <a:p>
            <a:pPr lvl="1">
              <a:spcAft>
                <a:spcPts val="1200"/>
              </a:spcAft>
              <a:buFont typeface="Wingdings" panose="05000000000000000000" pitchFamily="2" charset="2"/>
              <a:buChar char="§"/>
            </a:pPr>
            <a:r>
              <a:rPr lang="en-US" sz="3000" dirty="0"/>
              <a:t>Detected by the compiler</a:t>
            </a:r>
          </a:p>
          <a:p>
            <a:pPr lvl="1">
              <a:spcAft>
                <a:spcPts val="1200"/>
              </a:spcAft>
              <a:buFont typeface="Wingdings" panose="05000000000000000000" pitchFamily="2" charset="2"/>
              <a:buChar char="§"/>
            </a:pPr>
            <a:r>
              <a:rPr lang="en-US" sz="3000" dirty="0"/>
              <a:t>Prevent translation of the program into object code, so no execution is possible</a:t>
            </a:r>
          </a:p>
          <a:p>
            <a:pPr lvl="1">
              <a:spcAft>
                <a:spcPts val="1200"/>
              </a:spcAft>
              <a:buFont typeface="Wingdings" panose="05000000000000000000" pitchFamily="2" charset="2"/>
              <a:buChar char="§"/>
            </a:pPr>
            <a:r>
              <a:rPr lang="en-US" sz="3000" dirty="0"/>
              <a:t>Contents and format of error messages are different across compilers</a:t>
            </a:r>
            <a:endParaRPr lang="bg-BG" sz="3000" dirty="0"/>
          </a:p>
        </p:txBody>
      </p:sp>
      <p:sp>
        <p:nvSpPr>
          <p:cNvPr id="4" name="Slide Number Placeholder 3"/>
          <p:cNvSpPr>
            <a:spLocks noGrp="1"/>
          </p:cNvSpPr>
          <p:nvPr>
            <p:ph type="sldNum" sz="quarter" idx="12"/>
          </p:nvPr>
        </p:nvSpPr>
        <p:spPr/>
        <p:txBody>
          <a:bodyPr/>
          <a:lstStyle/>
          <a:p>
            <a:fld id="{43C20813-E79E-4637-B0DD-0EBBF6872E51}" type="slidenum">
              <a:rPr lang="en-US" smtClean="0"/>
              <a:t>41</a:t>
            </a:fld>
            <a:endParaRPr lang="en-US"/>
          </a:p>
        </p:txBody>
      </p:sp>
    </p:spTree>
    <p:extLst>
      <p:ext uri="{BB962C8B-B14F-4D97-AF65-F5344CB8AC3E}">
        <p14:creationId xmlns:p14="http://schemas.microsoft.com/office/powerpoint/2010/main" val="37137616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Program with Syntax Errors</a:t>
            </a:r>
            <a:endParaRPr lang="bg-BG" dirty="0"/>
          </a:p>
        </p:txBody>
      </p:sp>
      <p:sp>
        <p:nvSpPr>
          <p:cNvPr id="3" name="Content Placeholder 2"/>
          <p:cNvSpPr>
            <a:spLocks noGrp="1"/>
          </p:cNvSpPr>
          <p:nvPr>
            <p:ph idx="1"/>
          </p:nvPr>
        </p:nvSpPr>
        <p:spPr>
          <a:xfrm>
            <a:off x="1097280" y="1845733"/>
            <a:ext cx="10058400" cy="4438526"/>
          </a:xfrm>
        </p:spPr>
        <p:txBody>
          <a:bodyPr>
            <a:noAutofit/>
          </a:bodyPr>
          <a:lstStyle/>
          <a:p>
            <a:pPr marL="0" indent="0">
              <a:lnSpc>
                <a:spcPct val="100000"/>
              </a:lnSpc>
              <a:spcBef>
                <a:spcPts val="0"/>
              </a:spcBef>
              <a:spcAft>
                <a:spcPts val="0"/>
              </a:spcAft>
              <a:buNone/>
            </a:pPr>
            <a:r>
              <a:rPr lang="en-US" dirty="0">
                <a:solidFill>
                  <a:srgbClr val="808080"/>
                </a:solidFill>
                <a:latin typeface="Consolas" panose="020B0609020204030204" pitchFamily="49" charset="0"/>
              </a:rPr>
              <a:t>#include</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&lt;</a:t>
            </a:r>
            <a:r>
              <a:rPr lang="en-US" dirty="0" err="1">
                <a:solidFill>
                  <a:srgbClr val="A31515"/>
                </a:solidFill>
                <a:latin typeface="Consolas" panose="020B0609020204030204" pitchFamily="49" charset="0"/>
              </a:rPr>
              <a:t>iostream</a:t>
            </a:r>
            <a:r>
              <a:rPr lang="en-US" dirty="0">
                <a:solidFill>
                  <a:srgbClr val="A31515"/>
                </a:solidFill>
                <a:latin typeface="Consolas" panose="020B0609020204030204" pitchFamily="49" charset="0"/>
              </a:rPr>
              <a:t>&gt;</a:t>
            </a:r>
            <a:endParaRPr lang="en-US"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dirty="0">
                <a:solidFill>
                  <a:srgbClr val="808080"/>
                </a:solidFill>
                <a:latin typeface="Consolas" panose="020B0609020204030204" pitchFamily="49" charset="0"/>
              </a:rPr>
              <a:t>#include</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&lt;string&gt;</a:t>
            </a:r>
            <a:endParaRPr lang="bg-BG"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dirty="0">
                <a:solidFill>
                  <a:srgbClr val="0000FF"/>
                </a:solidFill>
                <a:latin typeface="Consolas" panose="020B0609020204030204" pitchFamily="49" charset="0"/>
              </a:rPr>
              <a:t>using</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namespace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std</a:t>
            </a:r>
            <a:r>
              <a:rPr lang="en-US" dirty="0">
                <a:solidFill>
                  <a:srgbClr val="000000"/>
                </a:solidFill>
                <a:latin typeface="Consolas" panose="020B0609020204030204" pitchFamily="49" charset="0"/>
              </a:rPr>
              <a:t>;</a:t>
            </a:r>
          </a:p>
          <a:p>
            <a:pPr marL="0" indent="0">
              <a:lnSpc>
                <a:spcPct val="100000"/>
              </a:lnSpc>
              <a:spcBef>
                <a:spcPts val="0"/>
              </a:spcBef>
              <a:spcAft>
                <a:spcPts val="0"/>
              </a:spcAft>
              <a:buNone/>
            </a:pPr>
            <a:endParaRPr lang="bg-BG"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main()</a:t>
            </a:r>
          </a:p>
          <a:p>
            <a:pPr marL="0" indent="0">
              <a:lnSpc>
                <a:spcPct val="100000"/>
              </a:lnSpc>
              <a:spcBef>
                <a:spcPts val="0"/>
              </a:spcBef>
              <a:spcAft>
                <a:spcPts val="0"/>
              </a:spcAft>
              <a:buNone/>
            </a:pPr>
            <a:r>
              <a:rPr lang="bg-BG"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dirty="0">
                <a:solidFill>
                  <a:srgbClr val="2B91AF"/>
                </a:solidFill>
                <a:latin typeface="Consolas" panose="020B0609020204030204" pitchFamily="49" charset="0"/>
              </a:rPr>
              <a:t>    string</a:t>
            </a:r>
            <a:r>
              <a:rPr lang="en-US" dirty="0">
                <a:solidFill>
                  <a:srgbClr val="000000"/>
                </a:solidFill>
                <a:latin typeface="Consolas" panose="020B0609020204030204" pitchFamily="49" charset="0"/>
              </a:rPr>
              <a:t> name;</a:t>
            </a:r>
          </a:p>
          <a:p>
            <a:pPr marL="0" indent="0">
              <a:lnSpc>
                <a:spcPct val="100000"/>
              </a:lnSpc>
              <a:spcBef>
                <a:spcPts val="0"/>
              </a:spcBef>
              <a:spcAft>
                <a:spcPts val="0"/>
              </a:spcAft>
              <a:buNone/>
            </a:pPr>
            <a:endParaRPr lang="bg-BG"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cout &lt;&lt; "What is your name: ;    	// missing quote</a:t>
            </a:r>
          </a:p>
          <a:p>
            <a:pPr marL="0" indent="0">
              <a:lnSpc>
                <a:spcPct val="100000"/>
              </a:lnSpc>
              <a:spcBef>
                <a:spcPts val="0"/>
              </a:spcBef>
              <a:spcAft>
                <a:spcPts val="0"/>
              </a:spcAft>
              <a:buNone/>
            </a:pPr>
            <a:r>
              <a:rPr lang="en-US" dirty="0">
                <a:solidFill>
                  <a:srgbClr val="000000"/>
                </a:solidFill>
                <a:latin typeface="Consolas" panose="020B0609020204030204" pitchFamily="49" charset="0"/>
              </a:rPr>
              <a:t>    cin &gt;&gt; name;</a:t>
            </a:r>
          </a:p>
          <a:p>
            <a:pPr marL="0" indent="0">
              <a:lnSpc>
                <a:spcPct val="100000"/>
              </a:lnSpc>
              <a:spcBef>
                <a:spcPts val="0"/>
              </a:spcBef>
              <a:spcAft>
                <a:spcPts val="0"/>
              </a:spcAft>
              <a:buNone/>
            </a:pP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cout &lt;&lt; "Hello " &lt;&lt; name &lt;&lt; endl	// missing semi-colon</a:t>
            </a:r>
          </a:p>
          <a:p>
            <a:pPr marL="0" indent="0">
              <a:lnSpc>
                <a:spcPct val="100000"/>
              </a:lnSpc>
              <a:spcBef>
                <a:spcPts val="0"/>
              </a:spcBef>
              <a:spcAft>
                <a:spcPts val="0"/>
              </a:spcAft>
              <a:buNone/>
            </a:pPr>
            <a:endParaRPr lang="bg-BG"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dirty="0">
                <a:solidFill>
                  <a:srgbClr val="0000FF"/>
                </a:solidFill>
                <a:latin typeface="Consolas" panose="020B0609020204030204" pitchFamily="49" charset="0"/>
              </a:rPr>
              <a:t>    return</a:t>
            </a:r>
            <a:r>
              <a:rPr lang="en-US" dirty="0">
                <a:solidFill>
                  <a:srgbClr val="000000"/>
                </a:solidFill>
                <a:latin typeface="Consolas" panose="020B0609020204030204" pitchFamily="49" charset="0"/>
              </a:rPr>
              <a:t> 0;</a:t>
            </a:r>
          </a:p>
          <a:p>
            <a:pPr marL="0" indent="0">
              <a:lnSpc>
                <a:spcPct val="100000"/>
              </a:lnSpc>
              <a:spcBef>
                <a:spcPts val="0"/>
              </a:spcBef>
              <a:spcAft>
                <a:spcPts val="0"/>
              </a:spcAft>
              <a:buNone/>
            </a:pPr>
            <a:r>
              <a:rPr lang="bg-BG" dirty="0">
                <a:solidFill>
                  <a:srgbClr val="000000"/>
                </a:solidFill>
                <a:latin typeface="Consolas" panose="020B0609020204030204" pitchFamily="49" charset="0"/>
              </a:rPr>
              <a:t>}</a:t>
            </a:r>
            <a:endParaRPr lang="en-US"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42</a:t>
            </a:fld>
            <a:endParaRPr lang="en-US"/>
          </a:p>
        </p:txBody>
      </p:sp>
    </p:spTree>
    <p:extLst>
      <p:ext uri="{BB962C8B-B14F-4D97-AF65-F5344CB8AC3E}">
        <p14:creationId xmlns:p14="http://schemas.microsoft.com/office/powerpoint/2010/main" val="22162548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Compiler Output</a:t>
            </a:r>
            <a:endParaRPr lang="bg-BG" dirty="0"/>
          </a:p>
        </p:txBody>
      </p:sp>
      <p:sp>
        <p:nvSpPr>
          <p:cNvPr id="3" name="Content Placeholder 2"/>
          <p:cNvSpPr>
            <a:spLocks noGrp="1"/>
          </p:cNvSpPr>
          <p:nvPr>
            <p:ph idx="1"/>
          </p:nvPr>
        </p:nvSpPr>
        <p:spPr/>
        <p:txBody>
          <a:bodyPr>
            <a:normAutofit/>
          </a:bodyPr>
          <a:lstStyle/>
          <a:p>
            <a:endParaRPr lang="en-US" dirty="0"/>
          </a:p>
          <a:p>
            <a:pPr marL="0" indent="0">
              <a:buNone/>
            </a:pPr>
            <a:r>
              <a:rPr lang="en-US" sz="2400" dirty="0"/>
              <a:t>source.cpp(10): error C2001: newline in constant</a:t>
            </a:r>
          </a:p>
          <a:p>
            <a:pPr marL="0" indent="0">
              <a:buNone/>
            </a:pPr>
            <a:r>
              <a:rPr lang="en-US" sz="2400" dirty="0"/>
              <a:t>source.cpp(11): error C2146: syntax error: missing ';' before identifier '</a:t>
            </a:r>
            <a:r>
              <a:rPr lang="en-US" sz="2400" dirty="0" err="1"/>
              <a:t>cin</a:t>
            </a:r>
            <a:r>
              <a:rPr lang="en-US" sz="2400" dirty="0"/>
              <a:t>'</a:t>
            </a:r>
          </a:p>
          <a:p>
            <a:pPr marL="0" indent="0">
              <a:buNone/>
            </a:pPr>
            <a:r>
              <a:rPr lang="en-US" sz="2400" dirty="0"/>
              <a:t>source.cpp(14): error C2143: syntax error: missing ';' before 'return‘</a:t>
            </a:r>
          </a:p>
          <a:p>
            <a:pPr marL="0" indent="0">
              <a:buNone/>
            </a:pPr>
            <a:endParaRPr lang="bg-BG" sz="2400" dirty="0"/>
          </a:p>
        </p:txBody>
      </p:sp>
      <p:sp>
        <p:nvSpPr>
          <p:cNvPr id="4" name="Slide Number Placeholder 3"/>
          <p:cNvSpPr>
            <a:spLocks noGrp="1"/>
          </p:cNvSpPr>
          <p:nvPr>
            <p:ph type="sldNum" sz="quarter" idx="12"/>
          </p:nvPr>
        </p:nvSpPr>
        <p:spPr/>
        <p:txBody>
          <a:bodyPr/>
          <a:lstStyle/>
          <a:p>
            <a:fld id="{43C20813-E79E-4637-B0DD-0EBBF6872E51}" type="slidenum">
              <a:rPr lang="en-US" smtClean="0"/>
              <a:t>43</a:t>
            </a:fld>
            <a:endParaRPr lang="en-US"/>
          </a:p>
        </p:txBody>
      </p:sp>
    </p:spTree>
    <p:extLst>
      <p:ext uri="{BB962C8B-B14F-4D97-AF65-F5344CB8AC3E}">
        <p14:creationId xmlns:p14="http://schemas.microsoft.com/office/powerpoint/2010/main" val="19223222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 Studio Error List</a:t>
            </a:r>
            <a:endParaRPr lang="bg-BG" dirty="0"/>
          </a:p>
        </p:txBody>
      </p:sp>
      <p:pic>
        <p:nvPicPr>
          <p:cNvPr id="5" name="Content Placeholder 4"/>
          <p:cNvPicPr>
            <a:picLocks noGrp="1" noChangeAspect="1"/>
          </p:cNvPicPr>
          <p:nvPr>
            <p:ph idx="1"/>
          </p:nvPr>
        </p:nvPicPr>
        <p:blipFill>
          <a:blip r:embed="rId2"/>
          <a:stretch>
            <a:fillRect/>
          </a:stretch>
        </p:blipFill>
        <p:spPr>
          <a:xfrm>
            <a:off x="2303929" y="1846263"/>
            <a:ext cx="6946511" cy="4472058"/>
          </a:xfrm>
          <a:prstGeom prst="rect">
            <a:avLst/>
          </a:prstGeom>
        </p:spPr>
      </p:pic>
      <p:sp>
        <p:nvSpPr>
          <p:cNvPr id="4" name="Slide Number Placeholder 3"/>
          <p:cNvSpPr>
            <a:spLocks noGrp="1"/>
          </p:cNvSpPr>
          <p:nvPr>
            <p:ph type="sldNum" sz="quarter" idx="12"/>
          </p:nvPr>
        </p:nvSpPr>
        <p:spPr/>
        <p:txBody>
          <a:bodyPr/>
          <a:lstStyle/>
          <a:p>
            <a:fld id="{43C20813-E79E-4637-B0DD-0EBBF6872E51}" type="slidenum">
              <a:rPr lang="en-US" smtClean="0"/>
              <a:t>44</a:t>
            </a:fld>
            <a:endParaRPr lang="en-US"/>
          </a:p>
        </p:txBody>
      </p:sp>
    </p:spTree>
    <p:extLst>
      <p:ext uri="{BB962C8B-B14F-4D97-AF65-F5344CB8AC3E}">
        <p14:creationId xmlns:p14="http://schemas.microsoft.com/office/powerpoint/2010/main" val="29639290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278932" cy="1450757"/>
          </a:xfrm>
        </p:spPr>
        <p:txBody>
          <a:bodyPr/>
          <a:lstStyle/>
          <a:p>
            <a:r>
              <a:rPr lang="en-US" altLang="bg-BG" dirty="0"/>
              <a:t>Common Programming Errors (continued)</a:t>
            </a:r>
            <a:endParaRPr lang="bg-BG" dirty="0"/>
          </a:p>
        </p:txBody>
      </p:sp>
      <p:sp>
        <p:nvSpPr>
          <p:cNvPr id="3" name="Content Placeholder 2"/>
          <p:cNvSpPr>
            <a:spLocks noGrp="1"/>
          </p:cNvSpPr>
          <p:nvPr>
            <p:ph idx="1"/>
          </p:nvPr>
        </p:nvSpPr>
        <p:spPr>
          <a:xfrm>
            <a:off x="1097280" y="1845734"/>
            <a:ext cx="10058400" cy="4277160"/>
          </a:xfrm>
        </p:spPr>
        <p:txBody>
          <a:bodyPr>
            <a:normAutofit/>
          </a:bodyPr>
          <a:lstStyle/>
          <a:p>
            <a:pPr>
              <a:spcAft>
                <a:spcPts val="1200"/>
              </a:spcAft>
              <a:buFont typeface="Wingdings" panose="05000000000000000000" pitchFamily="2" charset="2"/>
              <a:buChar char="§"/>
            </a:pPr>
            <a:r>
              <a:rPr lang="en-US" sz="3200" dirty="0"/>
              <a:t>Run-time Errors</a:t>
            </a:r>
          </a:p>
          <a:p>
            <a:pPr lvl="1">
              <a:spcAft>
                <a:spcPts val="1200"/>
              </a:spcAft>
              <a:buFont typeface="Wingdings" panose="05000000000000000000" pitchFamily="2" charset="2"/>
              <a:buChar char="§"/>
            </a:pPr>
            <a:r>
              <a:rPr lang="en-US" sz="3000" dirty="0"/>
              <a:t>Errors detected by the computer during program execution</a:t>
            </a:r>
          </a:p>
          <a:p>
            <a:pPr lvl="1">
              <a:spcAft>
                <a:spcPts val="1200"/>
              </a:spcAft>
              <a:buFont typeface="Wingdings" panose="05000000000000000000" pitchFamily="2" charset="2"/>
              <a:buChar char="§"/>
            </a:pPr>
            <a:r>
              <a:rPr lang="en-US" sz="3000" dirty="0"/>
              <a:t>When encountered, program execution stops and a diagnostic message is displayed</a:t>
            </a:r>
          </a:p>
        </p:txBody>
      </p:sp>
      <p:sp>
        <p:nvSpPr>
          <p:cNvPr id="4" name="Slide Number Placeholder 3"/>
          <p:cNvSpPr>
            <a:spLocks noGrp="1"/>
          </p:cNvSpPr>
          <p:nvPr>
            <p:ph type="sldNum" sz="quarter" idx="12"/>
          </p:nvPr>
        </p:nvSpPr>
        <p:spPr/>
        <p:txBody>
          <a:bodyPr/>
          <a:lstStyle/>
          <a:p>
            <a:fld id="{43C20813-E79E-4637-B0DD-0EBBF6872E51}" type="slidenum">
              <a:rPr lang="en-US" smtClean="0"/>
              <a:t>45</a:t>
            </a:fld>
            <a:endParaRPr lang="en-US"/>
          </a:p>
        </p:txBody>
      </p:sp>
    </p:spTree>
    <p:extLst>
      <p:ext uri="{BB962C8B-B14F-4D97-AF65-F5344CB8AC3E}">
        <p14:creationId xmlns:p14="http://schemas.microsoft.com/office/powerpoint/2010/main" val="35911203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243073" cy="1450757"/>
          </a:xfrm>
        </p:spPr>
        <p:txBody>
          <a:bodyPr/>
          <a:lstStyle/>
          <a:p>
            <a:r>
              <a:rPr lang="en-US" altLang="bg-BG" dirty="0"/>
              <a:t>Common Programming Errors (continued)</a:t>
            </a:r>
            <a:endParaRPr lang="bg-BG" dirty="0"/>
          </a:p>
        </p:txBody>
      </p:sp>
      <p:sp>
        <p:nvSpPr>
          <p:cNvPr id="3" name="Content Placeholder 2"/>
          <p:cNvSpPr>
            <a:spLocks noGrp="1"/>
          </p:cNvSpPr>
          <p:nvPr>
            <p:ph idx="1"/>
          </p:nvPr>
        </p:nvSpPr>
        <p:spPr/>
        <p:txBody>
          <a:bodyPr/>
          <a:lstStyle/>
          <a:p>
            <a:pPr>
              <a:spcAft>
                <a:spcPts val="1200"/>
              </a:spcAft>
              <a:buFont typeface="Wingdings" panose="05000000000000000000" pitchFamily="2" charset="2"/>
              <a:buChar char="§"/>
            </a:pPr>
            <a:r>
              <a:rPr lang="en-US" altLang="bg-BG" sz="3200" dirty="0"/>
              <a:t>Undetected Errors</a:t>
            </a:r>
          </a:p>
          <a:p>
            <a:pPr lvl="1">
              <a:spcAft>
                <a:spcPts val="1200"/>
              </a:spcAft>
              <a:buFont typeface="Wingdings" panose="05000000000000000000" pitchFamily="2" charset="2"/>
              <a:buChar char="§"/>
            </a:pPr>
            <a:r>
              <a:rPr lang="en-US" altLang="bg-BG" sz="3000" dirty="0"/>
              <a:t>Program runs to completion, but results are incorrect</a:t>
            </a:r>
          </a:p>
          <a:p>
            <a:pPr lvl="1">
              <a:spcAft>
                <a:spcPts val="1200"/>
              </a:spcAft>
              <a:buFont typeface="Wingdings" panose="05000000000000000000" pitchFamily="2" charset="2"/>
              <a:buChar char="§"/>
            </a:pPr>
            <a:r>
              <a:rPr lang="en-US" altLang="bg-BG" sz="3000" dirty="0"/>
              <a:t>Often the result of input of the wrong type being entered – e.g. a program expecting an integer input receives a string</a:t>
            </a:r>
          </a:p>
          <a:p>
            <a:pPr>
              <a:spcAft>
                <a:spcPts val="1200"/>
              </a:spcAft>
            </a:pPr>
            <a:endParaRPr lang="bg-BG" dirty="0"/>
          </a:p>
        </p:txBody>
      </p:sp>
      <p:sp>
        <p:nvSpPr>
          <p:cNvPr id="4" name="Slide Number Placeholder 3"/>
          <p:cNvSpPr>
            <a:spLocks noGrp="1"/>
          </p:cNvSpPr>
          <p:nvPr>
            <p:ph type="sldNum" sz="quarter" idx="12"/>
          </p:nvPr>
        </p:nvSpPr>
        <p:spPr/>
        <p:txBody>
          <a:bodyPr/>
          <a:lstStyle/>
          <a:p>
            <a:fld id="{43C20813-E79E-4637-B0DD-0EBBF6872E51}" type="slidenum">
              <a:rPr lang="en-US" smtClean="0"/>
              <a:t>46</a:t>
            </a:fld>
            <a:endParaRPr lang="en-US"/>
          </a:p>
        </p:txBody>
      </p:sp>
    </p:spTree>
    <p:extLst>
      <p:ext uri="{BB962C8B-B14F-4D97-AF65-F5344CB8AC3E}">
        <p14:creationId xmlns:p14="http://schemas.microsoft.com/office/powerpoint/2010/main" val="18248827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243073" cy="1450757"/>
          </a:xfrm>
        </p:spPr>
        <p:txBody>
          <a:bodyPr/>
          <a:lstStyle/>
          <a:p>
            <a:r>
              <a:rPr lang="en-US" altLang="bg-BG" dirty="0"/>
              <a:t>Common Programming Errors (continued)</a:t>
            </a:r>
            <a:endParaRPr lang="bg-BG" dirty="0"/>
          </a:p>
        </p:txBody>
      </p:sp>
      <p:sp>
        <p:nvSpPr>
          <p:cNvPr id="3" name="Content Placeholder 2"/>
          <p:cNvSpPr>
            <a:spLocks noGrp="1"/>
          </p:cNvSpPr>
          <p:nvPr>
            <p:ph idx="1"/>
          </p:nvPr>
        </p:nvSpPr>
        <p:spPr>
          <a:xfrm>
            <a:off x="1097280" y="1845733"/>
            <a:ext cx="10058400" cy="4241301"/>
          </a:xfrm>
        </p:spPr>
        <p:txBody>
          <a:bodyPr>
            <a:normAutofit/>
          </a:bodyPr>
          <a:lstStyle/>
          <a:p>
            <a:pPr>
              <a:spcAft>
                <a:spcPts val="1200"/>
              </a:spcAft>
              <a:buFont typeface="Wingdings" panose="05000000000000000000" pitchFamily="2" charset="2"/>
              <a:buChar char="§"/>
            </a:pPr>
            <a:r>
              <a:rPr lang="en-US" sz="3200" dirty="0"/>
              <a:t>Logic Errors</a:t>
            </a:r>
          </a:p>
          <a:p>
            <a:pPr lvl="1">
              <a:spcAft>
                <a:spcPts val="1200"/>
              </a:spcAft>
              <a:buFont typeface="Wingdings" panose="05000000000000000000" pitchFamily="2" charset="2"/>
              <a:buChar char="§"/>
            </a:pPr>
            <a:r>
              <a:rPr lang="en-US" sz="3000" dirty="0"/>
              <a:t>Caused by a faulty algorithm</a:t>
            </a:r>
          </a:p>
          <a:p>
            <a:pPr lvl="1">
              <a:spcAft>
                <a:spcPts val="1200"/>
              </a:spcAft>
              <a:buFont typeface="Wingdings" panose="05000000000000000000" pitchFamily="2" charset="2"/>
              <a:buChar char="§"/>
            </a:pPr>
            <a:r>
              <a:rPr lang="en-US" sz="3000" dirty="0"/>
              <a:t>Often difficult to locate</a:t>
            </a:r>
          </a:p>
          <a:p>
            <a:pPr lvl="1">
              <a:spcAft>
                <a:spcPts val="1200"/>
              </a:spcAft>
              <a:buFont typeface="Wingdings" panose="05000000000000000000" pitchFamily="2" charset="2"/>
              <a:buChar char="§"/>
            </a:pPr>
            <a:r>
              <a:rPr lang="en-US" sz="3000" dirty="0"/>
              <a:t>Can result in either a run-time or undetected error</a:t>
            </a:r>
          </a:p>
          <a:p>
            <a:pPr lvl="1">
              <a:spcAft>
                <a:spcPts val="1200"/>
              </a:spcAft>
              <a:buFont typeface="Wingdings" panose="05000000000000000000" pitchFamily="2" charset="2"/>
              <a:buChar char="§"/>
            </a:pPr>
            <a:r>
              <a:rPr lang="en-US" sz="3000" dirty="0"/>
              <a:t>System cannot identify - up to programmer to locate</a:t>
            </a:r>
          </a:p>
          <a:p>
            <a:pPr lvl="1">
              <a:spcAft>
                <a:spcPts val="1200"/>
              </a:spcAft>
              <a:buFont typeface="Wingdings" panose="05000000000000000000" pitchFamily="2" charset="2"/>
              <a:buChar char="§"/>
            </a:pPr>
            <a:r>
              <a:rPr lang="en-US" sz="3000" dirty="0"/>
              <a:t>To prevent such errors, plan your solutions carefully and test them to eliminate bugs early</a:t>
            </a:r>
          </a:p>
        </p:txBody>
      </p:sp>
      <p:sp>
        <p:nvSpPr>
          <p:cNvPr id="4" name="Slide Number Placeholder 3"/>
          <p:cNvSpPr>
            <a:spLocks noGrp="1"/>
          </p:cNvSpPr>
          <p:nvPr>
            <p:ph type="sldNum" sz="quarter" idx="12"/>
          </p:nvPr>
        </p:nvSpPr>
        <p:spPr/>
        <p:txBody>
          <a:bodyPr/>
          <a:lstStyle/>
          <a:p>
            <a:fld id="{43C20813-E79E-4637-B0DD-0EBBF6872E51}" type="slidenum">
              <a:rPr lang="en-US" smtClean="0"/>
              <a:t>47</a:t>
            </a:fld>
            <a:endParaRPr lang="en-US"/>
          </a:p>
        </p:txBody>
      </p:sp>
    </p:spTree>
    <p:extLst>
      <p:ext uri="{BB962C8B-B14F-4D97-AF65-F5344CB8AC3E}">
        <p14:creationId xmlns:p14="http://schemas.microsoft.com/office/powerpoint/2010/main" val="14138577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243073" cy="1450757"/>
          </a:xfrm>
        </p:spPr>
        <p:txBody>
          <a:bodyPr/>
          <a:lstStyle/>
          <a:p>
            <a:r>
              <a:rPr lang="en-US" altLang="bg-BG" dirty="0"/>
              <a:t>Summary</a:t>
            </a:r>
            <a:endParaRPr lang="bg-BG" dirty="0"/>
          </a:p>
        </p:txBody>
      </p:sp>
      <p:sp>
        <p:nvSpPr>
          <p:cNvPr id="3" name="Content Placeholder 2"/>
          <p:cNvSpPr>
            <a:spLocks noGrp="1"/>
          </p:cNvSpPr>
          <p:nvPr>
            <p:ph idx="1"/>
          </p:nvPr>
        </p:nvSpPr>
        <p:spPr>
          <a:xfrm>
            <a:off x="1097280" y="1845733"/>
            <a:ext cx="10058400" cy="4429561"/>
          </a:xfrm>
        </p:spPr>
        <p:txBody>
          <a:bodyPr>
            <a:normAutofit lnSpcReduction="10000"/>
          </a:bodyPr>
          <a:lstStyle/>
          <a:p>
            <a:pPr>
              <a:spcAft>
                <a:spcPts val="1200"/>
              </a:spcAft>
              <a:buFont typeface="Wingdings" panose="05000000000000000000" pitchFamily="2" charset="2"/>
              <a:buChar char="§"/>
            </a:pPr>
            <a:r>
              <a:rPr lang="en-US" sz="3000" dirty="0"/>
              <a:t>Built-in data types (</a:t>
            </a:r>
            <a:r>
              <a:rPr lang="en-US" sz="3000" b="1" dirty="0">
                <a:latin typeface="Courier New" panose="02070309020205020404" pitchFamily="49" charset="0"/>
                <a:cs typeface="Courier New" panose="02070309020205020404" pitchFamily="49" charset="0"/>
              </a:rPr>
              <a:t>int</a:t>
            </a:r>
            <a:r>
              <a:rPr lang="en-US" sz="3000" dirty="0"/>
              <a:t>, </a:t>
            </a:r>
            <a:r>
              <a:rPr lang="en-US" sz="3000" b="1" dirty="0">
                <a:latin typeface="Courier New" panose="02070309020205020404" pitchFamily="49" charset="0"/>
                <a:cs typeface="Courier New" panose="02070309020205020404" pitchFamily="49" charset="0"/>
              </a:rPr>
              <a:t>float</a:t>
            </a:r>
            <a:r>
              <a:rPr lang="en-US" sz="3000" dirty="0"/>
              <a:t>, </a:t>
            </a:r>
            <a:r>
              <a:rPr lang="en-US" sz="3000" b="1" dirty="0">
                <a:latin typeface="Courier New" panose="02070309020205020404" pitchFamily="49" charset="0"/>
                <a:cs typeface="Courier New" panose="02070309020205020404" pitchFamily="49" charset="0"/>
              </a:rPr>
              <a:t>bool</a:t>
            </a:r>
            <a:r>
              <a:rPr lang="en-US" sz="3000" dirty="0"/>
              <a:t>, etc):</a:t>
            </a:r>
          </a:p>
          <a:p>
            <a:pPr marL="0" indent="0">
              <a:spcBef>
                <a:spcPts val="0"/>
              </a:spcBef>
              <a:buNone/>
            </a:pPr>
            <a:r>
              <a:rPr lang="en-US" sz="2600" dirty="0">
                <a:solidFill>
                  <a:srgbClr val="0000FF"/>
                </a:solidFill>
                <a:latin typeface="Consolas" panose="020B0609020204030204" pitchFamily="49" charset="0"/>
              </a:rPr>
              <a:t>	float</a:t>
            </a:r>
            <a:r>
              <a:rPr lang="en-US" sz="2600" dirty="0">
                <a:solidFill>
                  <a:srgbClr val="000000"/>
                </a:solidFill>
                <a:latin typeface="Consolas" panose="020B0609020204030204" pitchFamily="49" charset="0"/>
              </a:rPr>
              <a:t> price;</a:t>
            </a:r>
          </a:p>
          <a:p>
            <a:pPr marL="0" indent="0">
              <a:buNone/>
            </a:pPr>
            <a:r>
              <a:rPr lang="en-US" sz="2600" dirty="0">
                <a:solidFill>
                  <a:srgbClr val="000000"/>
                </a:solidFill>
                <a:latin typeface="Consolas" panose="020B0609020204030204" pitchFamily="49" charset="0"/>
              </a:rPr>
              <a:t>	price = base * 1.2;</a:t>
            </a:r>
            <a:endParaRPr lang="en-US" sz="2600" dirty="0"/>
          </a:p>
          <a:p>
            <a:pPr>
              <a:spcAft>
                <a:spcPts val="1200"/>
              </a:spcAft>
              <a:buFont typeface="Wingdings" panose="05000000000000000000" pitchFamily="2" charset="2"/>
              <a:buChar char="§"/>
            </a:pPr>
            <a:r>
              <a:rPr lang="en-US" sz="3000" dirty="0"/>
              <a:t>User-defined data types (</a:t>
            </a:r>
            <a:r>
              <a:rPr lang="en-US" sz="3000" b="1" dirty="0">
                <a:latin typeface="Courier New" panose="02070309020205020404" pitchFamily="49" charset="0"/>
                <a:cs typeface="Courier New" panose="02070309020205020404" pitchFamily="49" charset="0"/>
              </a:rPr>
              <a:t>string</a:t>
            </a:r>
            <a:r>
              <a:rPr lang="en-US" sz="3000" dirty="0"/>
              <a:t>):</a:t>
            </a:r>
          </a:p>
          <a:p>
            <a:pPr marL="201168" lvl="1" indent="0">
              <a:spcAft>
                <a:spcPts val="1200"/>
              </a:spcAft>
              <a:buNone/>
            </a:pPr>
            <a:r>
              <a:rPr lang="en-US" sz="2600" dirty="0">
                <a:solidFill>
                  <a:srgbClr val="2B91AF"/>
                </a:solidFill>
                <a:latin typeface="Consolas" panose="020B0609020204030204" pitchFamily="49" charset="0"/>
              </a:rPr>
              <a:t>	string</a:t>
            </a:r>
            <a:r>
              <a:rPr lang="en-US" sz="2600" dirty="0">
                <a:solidFill>
                  <a:srgbClr val="000000"/>
                </a:solidFill>
                <a:latin typeface="Consolas" panose="020B0609020204030204" pitchFamily="49" charset="0"/>
              </a:rPr>
              <a:t> name = </a:t>
            </a:r>
            <a:r>
              <a:rPr lang="en-US" sz="2600" dirty="0">
                <a:solidFill>
                  <a:srgbClr val="A31515"/>
                </a:solidFill>
                <a:latin typeface="Consolas" panose="020B0609020204030204" pitchFamily="49" charset="0"/>
              </a:rPr>
              <a:t>"John Smith"</a:t>
            </a:r>
            <a:r>
              <a:rPr lang="en-US" sz="2600" dirty="0">
                <a:solidFill>
                  <a:srgbClr val="000000"/>
                </a:solidFill>
                <a:latin typeface="Consolas" panose="020B0609020204030204" pitchFamily="49" charset="0"/>
              </a:rPr>
              <a:t>;</a:t>
            </a:r>
            <a:endParaRPr lang="en-US" sz="2600" dirty="0"/>
          </a:p>
          <a:p>
            <a:pPr>
              <a:spcAft>
                <a:spcPts val="1200"/>
              </a:spcAft>
              <a:buFont typeface="Wingdings" panose="05000000000000000000" pitchFamily="2" charset="2"/>
              <a:buChar char="§"/>
            </a:pPr>
            <a:r>
              <a:rPr lang="en-US" sz="3000" dirty="0"/>
              <a:t>Input and output using </a:t>
            </a:r>
            <a:r>
              <a:rPr lang="en-US" sz="3000" b="1" dirty="0">
                <a:latin typeface="Courier New" panose="02070309020205020404" pitchFamily="49" charset="0"/>
                <a:cs typeface="Courier New" panose="02070309020205020404" pitchFamily="49" charset="0"/>
              </a:rPr>
              <a:t>cin</a:t>
            </a:r>
            <a:r>
              <a:rPr lang="en-US" sz="3000" dirty="0"/>
              <a:t> and </a:t>
            </a:r>
            <a:r>
              <a:rPr lang="en-US" sz="3000" b="1" dirty="0">
                <a:latin typeface="Courier New" panose="02070309020205020404" pitchFamily="49" charset="0"/>
                <a:cs typeface="Courier New" panose="02070309020205020404" pitchFamily="49" charset="0"/>
              </a:rPr>
              <a:t>cout</a:t>
            </a:r>
            <a:r>
              <a:rPr lang="en-US" sz="3000" dirty="0"/>
              <a:t>:</a:t>
            </a:r>
          </a:p>
          <a:p>
            <a:pPr marL="0" indent="0">
              <a:buNone/>
            </a:pPr>
            <a:r>
              <a:rPr lang="en-US" sz="2600" dirty="0"/>
              <a:t>	</a:t>
            </a:r>
            <a:r>
              <a:rPr lang="en-US" sz="2600" dirty="0">
                <a:solidFill>
                  <a:srgbClr val="000000"/>
                </a:solidFill>
                <a:latin typeface="Consolas" panose="020B0609020204030204" pitchFamily="49" charset="0"/>
              </a:rPr>
              <a:t>cout </a:t>
            </a:r>
            <a:r>
              <a:rPr lang="en-US" sz="2600" dirty="0">
                <a:solidFill>
                  <a:srgbClr val="008080"/>
                </a:solidFill>
                <a:latin typeface="Consolas" panose="020B0609020204030204" pitchFamily="49" charset="0"/>
              </a:rPr>
              <a:t>&lt;&lt;</a:t>
            </a:r>
            <a:r>
              <a:rPr lang="en-US" sz="2600" dirty="0">
                <a:solidFill>
                  <a:srgbClr val="000000"/>
                </a:solidFill>
                <a:latin typeface="Consolas" panose="020B0609020204030204" pitchFamily="49" charset="0"/>
              </a:rPr>
              <a:t> </a:t>
            </a:r>
            <a:r>
              <a:rPr lang="en-US" sz="2600" dirty="0">
                <a:solidFill>
                  <a:srgbClr val="A31515"/>
                </a:solidFill>
                <a:latin typeface="Consolas" panose="020B0609020204030204" pitchFamily="49" charset="0"/>
              </a:rPr>
              <a:t>"Enter your name: "</a:t>
            </a:r>
            <a:r>
              <a:rPr lang="en-US" sz="2600" dirty="0">
                <a:solidFill>
                  <a:srgbClr val="000000"/>
                </a:solidFill>
                <a:latin typeface="Consolas" panose="020B0609020204030204" pitchFamily="49" charset="0"/>
              </a:rPr>
              <a:t>;</a:t>
            </a:r>
          </a:p>
          <a:p>
            <a:pPr marL="0" indent="0">
              <a:buNone/>
            </a:pPr>
            <a:r>
              <a:rPr lang="en-US" sz="2600" dirty="0">
                <a:solidFill>
                  <a:srgbClr val="000000"/>
                </a:solidFill>
                <a:latin typeface="Consolas" panose="020B0609020204030204" pitchFamily="49" charset="0"/>
              </a:rPr>
              <a:t>	cin </a:t>
            </a:r>
            <a:r>
              <a:rPr lang="en-US" sz="2600" dirty="0">
                <a:solidFill>
                  <a:srgbClr val="008080"/>
                </a:solidFill>
                <a:latin typeface="Consolas" panose="020B0609020204030204" pitchFamily="49" charset="0"/>
              </a:rPr>
              <a:t>&gt;&gt;</a:t>
            </a:r>
            <a:r>
              <a:rPr lang="en-US" sz="2600" dirty="0">
                <a:solidFill>
                  <a:srgbClr val="000000"/>
                </a:solidFill>
                <a:latin typeface="Consolas" panose="020B0609020204030204" pitchFamily="49" charset="0"/>
              </a:rPr>
              <a:t> name;</a:t>
            </a:r>
            <a:endParaRPr lang="en-US" sz="2600" dirty="0"/>
          </a:p>
        </p:txBody>
      </p:sp>
      <p:sp>
        <p:nvSpPr>
          <p:cNvPr id="4" name="Slide Number Placeholder 3"/>
          <p:cNvSpPr>
            <a:spLocks noGrp="1"/>
          </p:cNvSpPr>
          <p:nvPr>
            <p:ph type="sldNum" sz="quarter" idx="12"/>
          </p:nvPr>
        </p:nvSpPr>
        <p:spPr/>
        <p:txBody>
          <a:bodyPr/>
          <a:lstStyle/>
          <a:p>
            <a:fld id="{43C20813-E79E-4637-B0DD-0EBBF6872E51}" type="slidenum">
              <a:rPr lang="en-US" smtClean="0"/>
              <a:t>48</a:t>
            </a:fld>
            <a:endParaRPr lang="en-US"/>
          </a:p>
        </p:txBody>
      </p:sp>
    </p:spTree>
    <p:extLst>
      <p:ext uri="{BB962C8B-B14F-4D97-AF65-F5344CB8AC3E}">
        <p14:creationId xmlns:p14="http://schemas.microsoft.com/office/powerpoint/2010/main" val="35557774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243073" cy="1450757"/>
          </a:xfrm>
        </p:spPr>
        <p:txBody>
          <a:bodyPr/>
          <a:lstStyle/>
          <a:p>
            <a:r>
              <a:rPr lang="en-US" altLang="bg-BG" dirty="0"/>
              <a:t>Summary (continued)</a:t>
            </a:r>
            <a:endParaRPr lang="bg-BG" dirty="0"/>
          </a:p>
        </p:txBody>
      </p:sp>
      <p:sp>
        <p:nvSpPr>
          <p:cNvPr id="3" name="Content Placeholder 2"/>
          <p:cNvSpPr>
            <a:spLocks noGrp="1"/>
          </p:cNvSpPr>
          <p:nvPr>
            <p:ph idx="1"/>
          </p:nvPr>
        </p:nvSpPr>
        <p:spPr>
          <a:xfrm>
            <a:off x="1097280" y="1845733"/>
            <a:ext cx="10058400" cy="4456455"/>
          </a:xfrm>
        </p:spPr>
        <p:txBody>
          <a:bodyPr>
            <a:normAutofit fontScale="92500" lnSpcReduction="10000"/>
          </a:bodyPr>
          <a:lstStyle/>
          <a:p>
            <a:pPr>
              <a:spcAft>
                <a:spcPts val="1200"/>
              </a:spcAft>
              <a:buFont typeface="Wingdings" panose="05000000000000000000" pitchFamily="2" charset="2"/>
              <a:buChar char="§"/>
            </a:pPr>
            <a:r>
              <a:rPr lang="en-US" sz="3200" dirty="0"/>
              <a:t>Arithmetic operators (</a:t>
            </a:r>
            <a:r>
              <a:rPr lang="en-US" sz="3000" b="1" dirty="0">
                <a:latin typeface="Courier New" panose="02070309020205020404" pitchFamily="49" charset="0"/>
                <a:cs typeface="Courier New" panose="02070309020205020404" pitchFamily="49" charset="0"/>
              </a:rPr>
              <a:t>+</a:t>
            </a:r>
            <a:r>
              <a:rPr lang="en-US" sz="3000" dirty="0">
                <a:latin typeface="Courier New" panose="02070309020205020404" pitchFamily="49" charset="0"/>
                <a:cs typeface="Courier New" panose="02070309020205020404" pitchFamily="49" charset="0"/>
              </a:rPr>
              <a:t>, </a:t>
            </a:r>
            <a:r>
              <a:rPr lang="en-US" sz="3000" b="1" dirty="0">
                <a:latin typeface="Courier New" panose="02070309020205020404" pitchFamily="49" charset="0"/>
                <a:cs typeface="Courier New" panose="02070309020205020404" pitchFamily="49" charset="0"/>
              </a:rPr>
              <a:t>-</a:t>
            </a:r>
            <a:r>
              <a:rPr lang="en-US" sz="3000" dirty="0">
                <a:latin typeface="Courier New" panose="02070309020205020404" pitchFamily="49" charset="0"/>
                <a:cs typeface="Courier New" panose="02070309020205020404" pitchFamily="49" charset="0"/>
              </a:rPr>
              <a:t>, </a:t>
            </a:r>
            <a:r>
              <a:rPr lang="en-US" sz="3000" b="1" dirty="0">
                <a:latin typeface="Courier New" panose="02070309020205020404" pitchFamily="49" charset="0"/>
                <a:cs typeface="Courier New" panose="02070309020205020404" pitchFamily="49" charset="0"/>
              </a:rPr>
              <a:t>*</a:t>
            </a:r>
            <a:r>
              <a:rPr lang="en-US" sz="3000" dirty="0">
                <a:latin typeface="Courier New" panose="02070309020205020404" pitchFamily="49" charset="0"/>
                <a:cs typeface="Courier New" panose="02070309020205020404" pitchFamily="49" charset="0"/>
              </a:rPr>
              <a:t>, </a:t>
            </a:r>
            <a:r>
              <a:rPr lang="en-US" sz="3000" b="1" dirty="0">
                <a:latin typeface="Courier New" panose="02070309020205020404" pitchFamily="49" charset="0"/>
                <a:cs typeface="Courier New" panose="02070309020205020404" pitchFamily="49" charset="0"/>
              </a:rPr>
              <a:t>/</a:t>
            </a:r>
            <a:r>
              <a:rPr lang="en-US" sz="3000" dirty="0">
                <a:latin typeface="Courier New" panose="02070309020205020404" pitchFamily="49" charset="0"/>
                <a:cs typeface="Courier New" panose="02070309020205020404" pitchFamily="49" charset="0"/>
              </a:rPr>
              <a:t>, </a:t>
            </a:r>
            <a:r>
              <a:rPr lang="en-US" sz="3000" b="1" dirty="0">
                <a:latin typeface="Courier New" panose="02070309020205020404" pitchFamily="49" charset="0"/>
                <a:cs typeface="Courier New" panose="02070309020205020404" pitchFamily="49" charset="0"/>
              </a:rPr>
              <a:t>%</a:t>
            </a:r>
            <a:r>
              <a:rPr lang="en-US" sz="3000" dirty="0">
                <a:cs typeface="Courier New" panose="02070309020205020404" pitchFamily="49" charset="0"/>
              </a:rPr>
              <a:t>)</a:t>
            </a:r>
            <a:endParaRPr lang="en-US" sz="3200" dirty="0">
              <a:cs typeface="Courier New" panose="02070309020205020404" pitchFamily="49" charset="0"/>
            </a:endParaRPr>
          </a:p>
          <a:p>
            <a:pPr>
              <a:spcAft>
                <a:spcPts val="1200"/>
              </a:spcAft>
              <a:buFont typeface="Wingdings" panose="05000000000000000000" pitchFamily="2" charset="2"/>
              <a:buChar char="§"/>
            </a:pPr>
            <a:r>
              <a:rPr lang="en-US" sz="3000" dirty="0"/>
              <a:t>Integer division: </a:t>
            </a:r>
            <a:r>
              <a:rPr lang="en-US" sz="2600" dirty="0">
                <a:solidFill>
                  <a:srgbClr val="0000FF"/>
                </a:solidFill>
                <a:latin typeface="Consolas" panose="020B0609020204030204" pitchFamily="49" charset="0"/>
              </a:rPr>
              <a:t>		float</a:t>
            </a:r>
            <a:r>
              <a:rPr lang="en-US" sz="2600" dirty="0">
                <a:solidFill>
                  <a:srgbClr val="000000"/>
                </a:solidFill>
                <a:latin typeface="Consolas" panose="020B0609020204030204" pitchFamily="49" charset="0"/>
              </a:rPr>
              <a:t> x = 5 / 10; </a:t>
            </a:r>
            <a:r>
              <a:rPr lang="en-US" sz="2600" dirty="0">
                <a:solidFill>
                  <a:srgbClr val="008000"/>
                </a:solidFill>
                <a:latin typeface="Consolas" panose="020B0609020204030204" pitchFamily="49" charset="0"/>
              </a:rPr>
              <a:t>// x is 0, not 0.5</a:t>
            </a:r>
            <a:endParaRPr lang="en-US" sz="2600" dirty="0"/>
          </a:p>
          <a:p>
            <a:pPr>
              <a:spcAft>
                <a:spcPts val="1200"/>
              </a:spcAft>
              <a:buFont typeface="Wingdings" panose="05000000000000000000" pitchFamily="2" charset="2"/>
              <a:buChar char="§"/>
            </a:pPr>
            <a:r>
              <a:rPr lang="en-US" sz="3000" dirty="0"/>
              <a:t>Can have expressions with multiple operators:</a:t>
            </a:r>
          </a:p>
          <a:p>
            <a:pPr marL="201168" lvl="1" indent="0">
              <a:spcAft>
                <a:spcPts val="600"/>
              </a:spcAft>
              <a:buNone/>
            </a:pPr>
            <a:r>
              <a:rPr lang="en-US" sz="2800" dirty="0">
                <a:solidFill>
                  <a:srgbClr val="000000"/>
                </a:solidFill>
                <a:latin typeface="Consolas" panose="020B0609020204030204" pitchFamily="49" charset="0"/>
              </a:rPr>
              <a:t>	</a:t>
            </a:r>
            <a:r>
              <a:rPr lang="pl-PL" sz="2800" dirty="0">
                <a:solidFill>
                  <a:srgbClr val="000000"/>
                </a:solidFill>
                <a:latin typeface="Consolas" panose="020B0609020204030204" pitchFamily="49" charset="0"/>
              </a:rPr>
              <a:t>z - (a + b / 2) + w * -y;</a:t>
            </a:r>
            <a:endParaRPr lang="en-US" sz="2800" dirty="0"/>
          </a:p>
          <a:p>
            <a:pPr>
              <a:spcAft>
                <a:spcPts val="1200"/>
              </a:spcAft>
              <a:buFont typeface="Wingdings" panose="05000000000000000000" pitchFamily="2" charset="2"/>
              <a:buChar char="§"/>
            </a:pPr>
            <a:r>
              <a:rPr lang="en-US" sz="3000" dirty="0"/>
              <a:t>Operator precedence:</a:t>
            </a:r>
          </a:p>
          <a:p>
            <a:pPr lvl="1">
              <a:spcBef>
                <a:spcPts val="100"/>
              </a:spcBef>
              <a:spcAft>
                <a:spcPts val="0"/>
              </a:spcAft>
              <a:buFont typeface="Wingdings" panose="05000000000000000000" pitchFamily="2" charset="2"/>
              <a:buChar char="§"/>
            </a:pPr>
            <a:r>
              <a:rPr lang="en-US" sz="3000" dirty="0"/>
              <a:t>Parentheses – nested expressions are evaluated first</a:t>
            </a:r>
          </a:p>
          <a:p>
            <a:pPr lvl="1">
              <a:spcBef>
                <a:spcPts val="100"/>
              </a:spcBef>
              <a:spcAft>
                <a:spcPts val="0"/>
              </a:spcAft>
              <a:buFont typeface="Wingdings" panose="05000000000000000000" pitchFamily="2" charset="2"/>
              <a:buChar char="§"/>
            </a:pPr>
            <a:r>
              <a:rPr lang="en-US" sz="3000" dirty="0"/>
              <a:t>Unary </a:t>
            </a:r>
            <a:r>
              <a:rPr lang="en-US" sz="3000" b="1" dirty="0">
                <a:latin typeface="Courier New" panose="02070309020205020404" pitchFamily="49" charset="0"/>
                <a:cs typeface="Courier New" panose="02070309020205020404" pitchFamily="49" charset="0"/>
              </a:rPr>
              <a:t>–</a:t>
            </a:r>
          </a:p>
          <a:p>
            <a:pPr lvl="1">
              <a:spcBef>
                <a:spcPts val="100"/>
              </a:spcBef>
              <a:spcAft>
                <a:spcPts val="0"/>
              </a:spcAft>
              <a:buFont typeface="Wingdings" panose="05000000000000000000" pitchFamily="2" charset="2"/>
              <a:buChar char="§"/>
            </a:pPr>
            <a:r>
              <a:rPr lang="en-US" sz="3000" b="1" dirty="0">
                <a:latin typeface="Courier New" panose="02070309020205020404" pitchFamily="49" charset="0"/>
                <a:cs typeface="Courier New" panose="02070309020205020404" pitchFamily="49" charset="0"/>
              </a:rPr>
              <a:t>*</a:t>
            </a:r>
            <a:r>
              <a:rPr lang="en-US" sz="3000" dirty="0"/>
              <a:t>, </a:t>
            </a:r>
            <a:r>
              <a:rPr lang="en-US" sz="3000" b="1" dirty="0">
                <a:latin typeface="Courier New" panose="02070309020205020404" pitchFamily="49" charset="0"/>
                <a:cs typeface="Courier New" panose="02070309020205020404" pitchFamily="49" charset="0"/>
              </a:rPr>
              <a:t>/</a:t>
            </a:r>
            <a:r>
              <a:rPr lang="en-US" sz="3000" dirty="0"/>
              <a:t>, </a:t>
            </a:r>
            <a:r>
              <a:rPr lang="en-US" sz="3000" b="1" dirty="0">
                <a:latin typeface="Courier New" panose="02070309020205020404" pitchFamily="49" charset="0"/>
                <a:cs typeface="Courier New" panose="02070309020205020404" pitchFamily="49" charset="0"/>
              </a:rPr>
              <a:t>%</a:t>
            </a:r>
          </a:p>
          <a:p>
            <a:pPr lvl="1">
              <a:spcBef>
                <a:spcPts val="100"/>
              </a:spcBef>
              <a:spcAft>
                <a:spcPts val="0"/>
              </a:spcAft>
              <a:buFont typeface="Wingdings" panose="05000000000000000000" pitchFamily="2" charset="2"/>
              <a:buChar char="§"/>
            </a:pPr>
            <a:r>
              <a:rPr lang="en-US" sz="3000" dirty="0"/>
              <a:t>Binary </a:t>
            </a:r>
            <a:r>
              <a:rPr lang="en-US" sz="3000" b="1" dirty="0">
                <a:latin typeface="Courier New" panose="02070309020205020404" pitchFamily="49" charset="0"/>
                <a:cs typeface="Courier New" panose="02070309020205020404" pitchFamily="49" charset="0"/>
              </a:rPr>
              <a:t>+</a:t>
            </a:r>
            <a:r>
              <a:rPr lang="en-US" sz="3000" dirty="0"/>
              <a:t> and </a:t>
            </a:r>
            <a:r>
              <a:rPr lang="en-US" sz="3000" b="1" dirty="0">
                <a:latin typeface="Courier New" panose="02070309020205020404" pitchFamily="49" charset="0"/>
                <a:cs typeface="Courier New" panose="02070309020205020404" pitchFamily="49" charset="0"/>
              </a:rPr>
              <a:t>–</a:t>
            </a:r>
          </a:p>
        </p:txBody>
      </p:sp>
      <p:sp>
        <p:nvSpPr>
          <p:cNvPr id="4" name="Slide Number Placeholder 3"/>
          <p:cNvSpPr>
            <a:spLocks noGrp="1"/>
          </p:cNvSpPr>
          <p:nvPr>
            <p:ph type="sldNum" sz="quarter" idx="12"/>
          </p:nvPr>
        </p:nvSpPr>
        <p:spPr/>
        <p:txBody>
          <a:bodyPr/>
          <a:lstStyle/>
          <a:p>
            <a:fld id="{43C20813-E79E-4637-B0DD-0EBBF6872E51}" type="slidenum">
              <a:rPr lang="en-US" smtClean="0"/>
              <a:t>49</a:t>
            </a:fld>
            <a:endParaRPr lang="en-US"/>
          </a:p>
        </p:txBody>
      </p:sp>
    </p:spTree>
    <p:extLst>
      <p:ext uri="{BB962C8B-B14F-4D97-AF65-F5344CB8AC3E}">
        <p14:creationId xmlns:p14="http://schemas.microsoft.com/office/powerpoint/2010/main" val="15453254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Questions?</a:t>
            </a:r>
            <a:endParaRPr lang="bg-BG" dirty="0"/>
          </a:p>
        </p:txBody>
      </p:sp>
      <p:sp>
        <p:nvSpPr>
          <p:cNvPr id="9" name="Content Placeholder 8"/>
          <p:cNvSpPr>
            <a:spLocks noGrp="1"/>
          </p:cNvSpPr>
          <p:nvPr>
            <p:ph idx="1"/>
          </p:nvPr>
        </p:nvSpPr>
        <p:spPr>
          <a:xfrm>
            <a:off x="1097280" y="1845734"/>
            <a:ext cx="8952155" cy="4023360"/>
          </a:xfrm>
        </p:spPr>
        <p:txBody>
          <a:bodyPr>
            <a:normAutofit/>
          </a:bodyPr>
          <a:lstStyle/>
          <a:p>
            <a:endParaRPr lang="en-US" sz="9600" dirty="0"/>
          </a:p>
          <a:p>
            <a:pPr algn="ctr"/>
            <a:r>
              <a:rPr lang="en-US" sz="9600" dirty="0"/>
              <a:t>Q </a:t>
            </a:r>
            <a:r>
              <a:rPr lang="en-US" sz="6000" dirty="0"/>
              <a:t>&amp;</a:t>
            </a:r>
            <a:r>
              <a:rPr lang="en-US" sz="9600" dirty="0"/>
              <a:t> A</a:t>
            </a:r>
            <a:endParaRPr lang="bg-BG" sz="9600" dirty="0"/>
          </a:p>
        </p:txBody>
      </p:sp>
      <p:sp>
        <p:nvSpPr>
          <p:cNvPr id="4" name="Slide Number Placeholder 3"/>
          <p:cNvSpPr>
            <a:spLocks noGrp="1"/>
          </p:cNvSpPr>
          <p:nvPr>
            <p:ph type="sldNum" sz="quarter" idx="12"/>
          </p:nvPr>
        </p:nvSpPr>
        <p:spPr/>
        <p:txBody>
          <a:bodyPr/>
          <a:lstStyle/>
          <a:p>
            <a:fld id="{43C20813-E79E-4637-B0DD-0EBBF6872E51}" type="slidenum">
              <a:rPr lang="en-US" smtClean="0"/>
              <a:t>50</a:t>
            </a:fld>
            <a:endParaRPr lang="en-US"/>
          </a:p>
        </p:txBody>
      </p:sp>
    </p:spTree>
    <p:extLst>
      <p:ext uri="{BB962C8B-B14F-4D97-AF65-F5344CB8AC3E}">
        <p14:creationId xmlns:p14="http://schemas.microsoft.com/office/powerpoint/2010/main" val="177762141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2872</TotalTime>
  <Words>2302</Words>
  <Application>Microsoft Office PowerPoint</Application>
  <PresentationFormat>Widescreen</PresentationFormat>
  <Paragraphs>375</Paragraphs>
  <Slides>50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Calibri</vt:lpstr>
      <vt:lpstr>Calibri Light</vt:lpstr>
      <vt:lpstr>Cambria Math</vt:lpstr>
      <vt:lpstr>Consolas</vt:lpstr>
      <vt:lpstr>Courier New</vt:lpstr>
      <vt:lpstr>Wingdings</vt:lpstr>
      <vt:lpstr>Retrospect</vt:lpstr>
      <vt:lpstr>Fundamental Data Types</vt:lpstr>
      <vt:lpstr>Lecture Contents</vt:lpstr>
      <vt:lpstr>Comments</vt:lpstr>
      <vt:lpstr>Comment Examples</vt:lpstr>
      <vt:lpstr>Listing 2.1: Converting Miles to Kilometers</vt:lpstr>
      <vt:lpstr>#include &lt;filename&gt;</vt:lpstr>
      <vt:lpstr>using namespace std;</vt:lpstr>
      <vt:lpstr>Function  main</vt:lpstr>
      <vt:lpstr>Types of Statements</vt:lpstr>
      <vt:lpstr>Reserved Words (Keywords)</vt:lpstr>
      <vt:lpstr>Identifiers</vt:lpstr>
      <vt:lpstr>Identifiers in Listing 2.1</vt:lpstr>
      <vt:lpstr>Data Types</vt:lpstr>
      <vt:lpstr>Data Types (continued)</vt:lpstr>
      <vt:lpstr>Data Types (continued)</vt:lpstr>
      <vt:lpstr>Data Types (continued)</vt:lpstr>
      <vt:lpstr>string Class</vt:lpstr>
      <vt:lpstr>Variable Declarations</vt:lpstr>
      <vt:lpstr>Variable Declaration Examples</vt:lpstr>
      <vt:lpstr>Constant Declarations</vt:lpstr>
      <vt:lpstr>Listing 2.2: Printing a Welcome Message</vt:lpstr>
      <vt:lpstr>Executable Statements</vt:lpstr>
      <vt:lpstr>Assignment Statements</vt:lpstr>
      <vt:lpstr>Input Statements</vt:lpstr>
      <vt:lpstr>Input Statements (continued)</vt:lpstr>
      <vt:lpstr>Program Output</vt:lpstr>
      <vt:lpstr>The return Statement</vt:lpstr>
      <vt:lpstr>General Form of a C++ Program</vt:lpstr>
      <vt:lpstr>Good Program Style</vt:lpstr>
      <vt:lpstr>Arithmetic Expressions</vt:lpstr>
      <vt:lpstr>Modulus for Integers</vt:lpstr>
      <vt:lpstr>Mixed-type Expressions</vt:lpstr>
      <vt:lpstr>Mixed-type Assignments</vt:lpstr>
      <vt:lpstr>Mixed-type Assignment Examples</vt:lpstr>
      <vt:lpstr>Expressions with Multiple Operators</vt:lpstr>
      <vt:lpstr>Order of Operator Precedence (Highest to Lowest)</vt:lpstr>
      <vt:lpstr>Step-by-Step Expression Evaluation</vt:lpstr>
      <vt:lpstr>Evaluation of:  z - (a + b / 2) + w * -y</vt:lpstr>
      <vt:lpstr>Evaluation Tree for:  m = x + k / 2</vt:lpstr>
      <vt:lpstr>Mathematical Formulas in C++</vt:lpstr>
      <vt:lpstr>Common Programming Errors</vt:lpstr>
      <vt:lpstr>A Program with Syntax Errors</vt:lpstr>
      <vt:lpstr>Compiler Output</vt:lpstr>
      <vt:lpstr>Visual Studio Error List</vt:lpstr>
      <vt:lpstr>Common Programming Errors (continued)</vt:lpstr>
      <vt:lpstr>Common Programming Errors (continued)</vt:lpstr>
      <vt:lpstr>Common Programming Errors (continued)</vt:lpstr>
      <vt:lpstr>Summary</vt:lpstr>
      <vt:lpstr>Summary (continued)</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 110 Visual Basic Programming AUBG Fall Semester 2016</dc:title>
  <dc:creator>mugen</dc:creator>
  <cp:lastModifiedBy>Kalin Dimitrov</cp:lastModifiedBy>
  <cp:revision>723</cp:revision>
  <dcterms:created xsi:type="dcterms:W3CDTF">2016-08-30T09:20:13Z</dcterms:created>
  <dcterms:modified xsi:type="dcterms:W3CDTF">2025-08-24T11:12:24Z</dcterms:modified>
</cp:coreProperties>
</file>