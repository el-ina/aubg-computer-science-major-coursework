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7"/>
  </p:notesMasterIdLst>
  <p:sldIdLst>
    <p:sldId id="286" r:id="rId2"/>
    <p:sldId id="287" r:id="rId3"/>
    <p:sldId id="323" r:id="rId4"/>
    <p:sldId id="314" r:id="rId5"/>
    <p:sldId id="32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23"/>
            <p14:sldId id="314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762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Flow – Decision Statements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4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that calculates the weekly salary of an employee, given the number of hours worked and hourly rate.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Weekly hours exceeding 40 are paid at a rate of one time and a half.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Analysis: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Input: hours worked and hourly rate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Output: weekly salary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– Algorithm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2667"/>
          </a:xfrm>
        </p:spPr>
        <p:txBody>
          <a:bodyPr>
            <a:normAutofit fontScale="92500" lnSpcReduction="10000"/>
          </a:bodyPr>
          <a:lstStyle/>
          <a:p>
            <a:pPr marL="292608" lvl="1" indent="0">
              <a:buNone/>
            </a:pPr>
            <a:endParaRPr lang="en-US" sz="3000" dirty="0"/>
          </a:p>
          <a:p>
            <a:pPr marL="292608" lvl="1" indent="0">
              <a:buNone/>
            </a:pPr>
            <a:r>
              <a:rPr lang="en-US" sz="3000" dirty="0"/>
              <a:t>Read number of hours worked in variable </a:t>
            </a:r>
            <a:r>
              <a:rPr lang="en-US" sz="3000" b="1" dirty="0"/>
              <a:t>hours</a:t>
            </a:r>
          </a:p>
          <a:p>
            <a:pPr marL="292608" lvl="1" indent="0">
              <a:buNone/>
            </a:pPr>
            <a:r>
              <a:rPr lang="en-US" sz="3000" dirty="0"/>
              <a:t>Read hourly rate in variable </a:t>
            </a:r>
            <a:r>
              <a:rPr lang="en-US" sz="3000" b="1" dirty="0"/>
              <a:t>rate</a:t>
            </a:r>
          </a:p>
          <a:p>
            <a:pPr marL="292608" lvl="1" indent="0">
              <a:buNone/>
            </a:pPr>
            <a:endParaRPr lang="en-US" sz="3000" dirty="0"/>
          </a:p>
          <a:p>
            <a:pPr marL="292608" lvl="1" indent="0">
              <a:buNone/>
            </a:pPr>
            <a:r>
              <a:rPr lang="en-US" sz="3000" dirty="0"/>
              <a:t>If hours &gt; 40</a:t>
            </a:r>
          </a:p>
          <a:p>
            <a:pPr marL="292608" lvl="1" indent="0">
              <a:buNone/>
            </a:pPr>
            <a:r>
              <a:rPr lang="en-US" sz="3000" dirty="0"/>
              <a:t>	salary = (40 * rate) + (hours – 40) * rate * 1.5</a:t>
            </a:r>
          </a:p>
          <a:p>
            <a:pPr marL="292608" lvl="1" indent="0">
              <a:buNone/>
            </a:pPr>
            <a:r>
              <a:rPr lang="en-US" sz="3000" dirty="0"/>
              <a:t>Else</a:t>
            </a:r>
          </a:p>
          <a:p>
            <a:pPr marL="292608" lvl="1" indent="0">
              <a:buNone/>
            </a:pPr>
            <a:r>
              <a:rPr lang="en-US" sz="3000" dirty="0"/>
              <a:t>	salary = hours * rate</a:t>
            </a:r>
          </a:p>
          <a:p>
            <a:pPr marL="292608" lvl="1" indent="0">
              <a:buNone/>
            </a:pPr>
            <a:endParaRPr lang="en-US" sz="3000" dirty="0"/>
          </a:p>
          <a:p>
            <a:pPr marL="292608" lvl="1" indent="0">
              <a:buNone/>
            </a:pPr>
            <a:r>
              <a:rPr lang="en-US" sz="3000" dirty="0"/>
              <a:t>Display salary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1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calculate the total price for a product, including a sales tax.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program should read the product price from the user and print the total price, including any applicable tax.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tax percentage can be taken from the following table: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808389"/>
              </p:ext>
            </p:extLst>
          </p:nvPr>
        </p:nvGraphicFramePr>
        <p:xfrm>
          <a:off x="2062480" y="4675392"/>
          <a:ext cx="812800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 Range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Tax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–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19.99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baseline="0" dirty="0"/>
                        <a:t> Tax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20.00 – 99.99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100.00 and</a:t>
                      </a:r>
                      <a:r>
                        <a:rPr lang="en-US" baseline="0" dirty="0"/>
                        <a:t> above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27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040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determine if a given year (read through the input) is a leap year.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leap year is one that is divisible by 4 but not by 100, or if it is divisible by 400.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 example, the years 1600 and 2000 are leap years, but 1700, 1800, and 1900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35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1428</TotalTime>
  <Words>279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Retrospect</vt:lpstr>
      <vt:lpstr>Control Flow – Decision Statements</vt:lpstr>
      <vt:lpstr>Exercise 1</vt:lpstr>
      <vt:lpstr>Exercise 1 – Algorithm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608</cp:revision>
  <dcterms:created xsi:type="dcterms:W3CDTF">2016-08-30T09:20:13Z</dcterms:created>
  <dcterms:modified xsi:type="dcterms:W3CDTF">2025-08-24T11:17:44Z</dcterms:modified>
</cp:coreProperties>
</file>