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notesMasterIdLst>
    <p:notesMasterId r:id="rId45"/>
  </p:notesMasterIdLst>
  <p:sldIdLst>
    <p:sldId id="286" r:id="rId2"/>
    <p:sldId id="282" r:id="rId3"/>
    <p:sldId id="280" r:id="rId4"/>
    <p:sldId id="283" r:id="rId5"/>
    <p:sldId id="289" r:id="rId6"/>
    <p:sldId id="290" r:id="rId7"/>
    <p:sldId id="288" r:id="rId8"/>
    <p:sldId id="291" r:id="rId9"/>
    <p:sldId id="292" r:id="rId10"/>
    <p:sldId id="294" r:id="rId11"/>
    <p:sldId id="295" r:id="rId12"/>
    <p:sldId id="296" r:id="rId13"/>
    <p:sldId id="301" r:id="rId14"/>
    <p:sldId id="297" r:id="rId15"/>
    <p:sldId id="305" r:id="rId16"/>
    <p:sldId id="299" r:id="rId17"/>
    <p:sldId id="304" r:id="rId18"/>
    <p:sldId id="300" r:id="rId19"/>
    <p:sldId id="308" r:id="rId20"/>
    <p:sldId id="309" r:id="rId21"/>
    <p:sldId id="306" r:id="rId22"/>
    <p:sldId id="325" r:id="rId23"/>
    <p:sldId id="310" r:id="rId24"/>
    <p:sldId id="326" r:id="rId25"/>
    <p:sldId id="307" r:id="rId26"/>
    <p:sldId id="311" r:id="rId27"/>
    <p:sldId id="312" r:id="rId28"/>
    <p:sldId id="315" r:id="rId29"/>
    <p:sldId id="316" r:id="rId30"/>
    <p:sldId id="319" r:id="rId31"/>
    <p:sldId id="317" r:id="rId32"/>
    <p:sldId id="318" r:id="rId33"/>
    <p:sldId id="320" r:id="rId34"/>
    <p:sldId id="321" r:id="rId35"/>
    <p:sldId id="328" r:id="rId36"/>
    <p:sldId id="298" r:id="rId37"/>
    <p:sldId id="329" r:id="rId38"/>
    <p:sldId id="330" r:id="rId39"/>
    <p:sldId id="302" r:id="rId40"/>
    <p:sldId id="303" r:id="rId41"/>
    <p:sldId id="313" r:id="rId42"/>
    <p:sldId id="322" r:id="rId43"/>
    <p:sldId id="28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FB5EF83-756C-426D-AECA-1BE000ACBC00}">
          <p14:sldIdLst>
            <p14:sldId id="286"/>
            <p14:sldId id="282"/>
            <p14:sldId id="280"/>
            <p14:sldId id="283"/>
            <p14:sldId id="289"/>
            <p14:sldId id="290"/>
            <p14:sldId id="288"/>
            <p14:sldId id="291"/>
            <p14:sldId id="292"/>
            <p14:sldId id="294"/>
            <p14:sldId id="295"/>
            <p14:sldId id="296"/>
            <p14:sldId id="301"/>
            <p14:sldId id="297"/>
            <p14:sldId id="305"/>
            <p14:sldId id="299"/>
            <p14:sldId id="304"/>
            <p14:sldId id="300"/>
            <p14:sldId id="308"/>
            <p14:sldId id="309"/>
            <p14:sldId id="306"/>
            <p14:sldId id="325"/>
            <p14:sldId id="310"/>
            <p14:sldId id="326"/>
            <p14:sldId id="307"/>
            <p14:sldId id="311"/>
            <p14:sldId id="312"/>
            <p14:sldId id="315"/>
            <p14:sldId id="316"/>
            <p14:sldId id="319"/>
            <p14:sldId id="317"/>
            <p14:sldId id="318"/>
            <p14:sldId id="320"/>
            <p14:sldId id="321"/>
            <p14:sldId id="328"/>
            <p14:sldId id="298"/>
            <p14:sldId id="329"/>
            <p14:sldId id="330"/>
            <p14:sldId id="302"/>
            <p14:sldId id="303"/>
            <p14:sldId id="313"/>
            <p14:sldId id="322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762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8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6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4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0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78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Flow – Decision Statements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4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2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225144" cy="4375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4.1 Control Structures</a:t>
            </a:r>
          </a:p>
          <a:p>
            <a:pPr marL="0" indent="0">
              <a:buNone/>
            </a:pPr>
            <a:r>
              <a:rPr lang="en-US" sz="3200" dirty="0"/>
              <a:t>4.2 Logical Expressions</a:t>
            </a:r>
          </a:p>
          <a:p>
            <a:pPr marL="0" indent="0">
              <a:buNone/>
            </a:pPr>
            <a:r>
              <a:rPr lang="en-US" sz="3200" dirty="0"/>
              <a:t>4.3 Introduction to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dirty="0"/>
              <a:t> Control Statement</a:t>
            </a:r>
          </a:p>
          <a:p>
            <a:pPr marL="0" indent="0">
              <a:buNone/>
            </a:pPr>
            <a:r>
              <a:rPr lang="en-US" sz="3200" dirty="0"/>
              <a:t>4.4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b="1" dirty="0">
                <a:cs typeface="Courier New" panose="02070309020205020404" pitchFamily="49" charset="0"/>
              </a:rPr>
              <a:t> </a:t>
            </a:r>
            <a:r>
              <a:rPr lang="en-US" sz="3200" dirty="0"/>
              <a:t>Statements with Compound Alternatives</a:t>
            </a:r>
          </a:p>
          <a:p>
            <a:pPr marL="0" indent="0">
              <a:buNone/>
            </a:pPr>
            <a:r>
              <a:rPr lang="en-US" sz="3200" dirty="0"/>
              <a:t>4.7 Nested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dirty="0"/>
              <a:t> Statements and Multiple-Alternative Decisions</a:t>
            </a:r>
          </a:p>
          <a:p>
            <a:pPr marL="0" indent="0">
              <a:buNone/>
            </a:pPr>
            <a:r>
              <a:rPr lang="en-US" sz="3200" dirty="0"/>
              <a:t>4.8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3200" dirty="0"/>
              <a:t> Control Statement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2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Structures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9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Regulate the flow of execution in a program: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Sequence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Selection (decisions)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Repetition (loops)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Compound Statement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group of statements enclosed by </a:t>
            </a:r>
            <a:r>
              <a:rPr lang="en-US" sz="3000" b="1" dirty="0"/>
              <a:t>{</a:t>
            </a:r>
            <a:r>
              <a:rPr lang="en-US" sz="3000" dirty="0"/>
              <a:t> and </a:t>
            </a:r>
            <a:r>
              <a:rPr lang="en-US" sz="3000" b="1" dirty="0"/>
              <a:t>}</a:t>
            </a:r>
            <a:r>
              <a:rPr lang="en-US" sz="3000" dirty="0"/>
              <a:t> braces and executed sequentially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Sequential control means that each statement is executed in sequence, one after another without skipping any lines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Structures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438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Compound Statement</a:t>
            </a:r>
          </a:p>
          <a:p>
            <a:pPr marL="384048" lvl="2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84048" lvl="2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statement1;</a:t>
            </a:r>
          </a:p>
          <a:p>
            <a:pPr marL="384048" lvl="2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statement2;</a:t>
            </a:r>
          </a:p>
          <a:p>
            <a:pPr marL="384048" lvl="2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384048" lvl="2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statementN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84048" lvl="2" indent="0">
              <a:buNone/>
            </a:pP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Selection Control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Enables the program to execute one of several alternative statements or group of statements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3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Expressions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 C++ the primary selection control structure is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dirty="0"/>
              <a:t> statement: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(weight &gt; 100)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shipCost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10.00;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shipCost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5.00;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9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Expressions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3852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Logical expressions (conditions) are used to perform tests for selecting among alternative statements to execute.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Evaluate to either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3200" dirty="0"/>
              <a:t> 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Typical forms:</a:t>
            </a:r>
          </a:p>
          <a:p>
            <a:pPr marL="201168" lvl="1" indent="0">
              <a:buNone/>
            </a:pPr>
            <a:r>
              <a:rPr lang="en-US" sz="3000" dirty="0"/>
              <a:t>	</a:t>
            </a:r>
            <a:r>
              <a:rPr lang="en-US" sz="2800" i="1" dirty="0"/>
              <a:t>variable  relational-operator  variable</a:t>
            </a:r>
          </a:p>
          <a:p>
            <a:pPr marL="201168" lvl="1" indent="0">
              <a:buNone/>
            </a:pPr>
            <a:r>
              <a:rPr lang="en-US" sz="2800" i="1" dirty="0"/>
              <a:t>	variable  relational-operator  constant</a:t>
            </a:r>
          </a:p>
          <a:p>
            <a:pPr marL="201168" lvl="1" indent="0">
              <a:buNone/>
            </a:pPr>
            <a:r>
              <a:rPr lang="en-US" sz="2800" i="1" dirty="0"/>
              <a:t>	variable  equality-operator  variable</a:t>
            </a:r>
          </a:p>
          <a:p>
            <a:pPr marL="201168" lvl="1" indent="0">
              <a:buNone/>
            </a:pPr>
            <a:r>
              <a:rPr lang="en-US" sz="2800" i="1" dirty="0"/>
              <a:t>	variable  equality-operator constant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42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and Equality Operators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121" y="1826484"/>
            <a:ext cx="8324337" cy="328716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097280" y="5371219"/>
            <a:ext cx="96729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NOTE: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 careful not to confuse the assignment operator (single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Courier New" panose="02070309020205020404" pitchFamily="49" charset="0"/>
              </a:rPr>
              <a:t>=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with the 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equality operator (double 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cs typeface="Courier New" panose="02070309020205020404" pitchFamily="49" charset="0"/>
              </a:rPr>
              <a:t>==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)!</a:t>
            </a:r>
            <a:endParaRPr lang="bg-BG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080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04704" cy="1450757"/>
          </a:xfrm>
        </p:spPr>
        <p:txBody>
          <a:bodyPr/>
          <a:lstStyle/>
          <a:p>
            <a:r>
              <a:rPr lang="en-US" dirty="0"/>
              <a:t>Relational and Logical Operators Example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361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Assume: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sz="2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s-ES" sz="2800" dirty="0">
                <a:solidFill>
                  <a:srgbClr val="000000"/>
                </a:solidFill>
                <a:latin typeface="Consolas" panose="020B0609020204030204" pitchFamily="49" charset="0"/>
              </a:rPr>
              <a:t> x = -5, y = 7,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	power = 1024,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maxPower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= 1024;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	char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gender 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x &lt;= 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power &lt;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maxPower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x &gt;= 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	gender ==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3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359614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Logical expressions can also contain logical operators: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sz="3000" dirty="0"/>
              <a:t> (and)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-US" sz="3000" dirty="0"/>
              <a:t> (or)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3000" dirty="0"/>
              <a:t> (not)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Used to form more complex conditions, for example:</a:t>
            </a:r>
          </a:p>
          <a:p>
            <a:pPr marL="384048" lvl="2" indent="0">
              <a:spcBef>
                <a:spcPts val="1200"/>
              </a:spcBef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(salary &lt; </a:t>
            </a:r>
            <a:r>
              <a:rPr lang="en-US" altLang="bg-BG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minSalary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|| (dependents &gt; 5)</a:t>
            </a:r>
          </a:p>
          <a:p>
            <a:pPr marL="384048" lvl="2" indent="0"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(temp &gt; 90.0) &amp;&amp; (humidity &gt; 0.90)</a:t>
            </a:r>
          </a:p>
          <a:p>
            <a:pPr marL="384048" lvl="2" indent="0">
              <a:buNone/>
            </a:pPr>
            <a:r>
              <a:rPr lang="en-US" altLang="bg-BG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winningRecord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&amp;&amp; (!probation)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9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&amp;&amp;</a:t>
            </a:r>
            <a:r>
              <a:rPr lang="en-US" dirty="0"/>
              <a:t> Operator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Yields 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3200" dirty="0"/>
              <a:t> result only if both operands are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3200" dirty="0">
                <a:cs typeface="Courier New" panose="02070309020205020404" pitchFamily="49" charset="0"/>
              </a:rPr>
              <a:t>. Otherwise it is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12" y="3299012"/>
            <a:ext cx="8284335" cy="245633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166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||</a:t>
            </a:r>
            <a:r>
              <a:rPr lang="en-US" dirty="0"/>
              <a:t> Operator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Yields 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3200" dirty="0"/>
              <a:t> result if either or both of its operands are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3200" dirty="0">
                <a:cs typeface="Courier New" panose="02070309020205020404" pitchFamily="49" charset="0"/>
              </a:rPr>
              <a:t>. Otherwise it is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US" sz="3200" dirty="0"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080" y="3343835"/>
            <a:ext cx="8686800" cy="22479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648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!</a:t>
            </a:r>
            <a:r>
              <a:rPr lang="en-US" dirty="0"/>
              <a:t> Operator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Yields the logical complement (negation) of its operand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840" y="3313523"/>
            <a:ext cx="4340737" cy="167981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539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1929945"/>
            <a:ext cx="10058400" cy="38553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98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Precedence Example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14</a:t>
            </a:fld>
            <a:endParaRPr lang="en-US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93894" y="2049471"/>
            <a:ext cx="900953" cy="36933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x = 3.0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975847" y="2049471"/>
            <a:ext cx="838200" cy="36933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y = 4.0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195047" y="2049471"/>
            <a:ext cx="914400" cy="36933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z = 2.0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6490446" y="2049471"/>
            <a:ext cx="1255059" cy="369332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flag = false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3818965" y="2856953"/>
            <a:ext cx="3810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! flag  ||  (y  +  z  &gt;=  x  -  z)</a:t>
            </a:r>
          </a:p>
        </p:txBody>
      </p:sp>
      <p:grpSp>
        <p:nvGrpSpPr>
          <p:cNvPr id="10" name="Group 26"/>
          <p:cNvGrpSpPr>
            <a:grpSpLocks/>
          </p:cNvGrpSpPr>
          <p:nvPr/>
        </p:nvGrpSpPr>
        <p:grpSpPr bwMode="auto">
          <a:xfrm>
            <a:off x="4809565" y="3314153"/>
            <a:ext cx="533400" cy="457200"/>
            <a:chOff x="2640" y="2160"/>
            <a:chExt cx="336" cy="288"/>
          </a:xfrm>
        </p:grpSpPr>
        <p:sp>
          <p:nvSpPr>
            <p:cNvPr id="11" name="Line 24"/>
            <p:cNvSpPr>
              <a:spLocks noChangeShapeType="1"/>
            </p:cNvSpPr>
            <p:nvPr/>
          </p:nvSpPr>
          <p:spPr bwMode="auto">
            <a:xfrm>
              <a:off x="2640" y="216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2" name="Line 25"/>
            <p:cNvSpPr>
              <a:spLocks noChangeShapeType="1"/>
            </p:cNvSpPr>
            <p:nvPr/>
          </p:nvSpPr>
          <p:spPr bwMode="auto">
            <a:xfrm flipV="1">
              <a:off x="2832" y="2160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</p:grpSp>
      <p:grpSp>
        <p:nvGrpSpPr>
          <p:cNvPr id="13" name="Group 27"/>
          <p:cNvGrpSpPr>
            <a:grpSpLocks/>
          </p:cNvGrpSpPr>
          <p:nvPr/>
        </p:nvGrpSpPr>
        <p:grpSpPr bwMode="auto">
          <a:xfrm>
            <a:off x="5859780" y="3266626"/>
            <a:ext cx="533400" cy="457200"/>
            <a:chOff x="2640" y="2160"/>
            <a:chExt cx="336" cy="288"/>
          </a:xfrm>
        </p:grpSpPr>
        <p:sp>
          <p:nvSpPr>
            <p:cNvPr id="14" name="Line 28"/>
            <p:cNvSpPr>
              <a:spLocks noChangeShapeType="1"/>
            </p:cNvSpPr>
            <p:nvPr/>
          </p:nvSpPr>
          <p:spPr bwMode="auto">
            <a:xfrm>
              <a:off x="2640" y="216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5" name="Line 29"/>
            <p:cNvSpPr>
              <a:spLocks noChangeShapeType="1"/>
            </p:cNvSpPr>
            <p:nvPr/>
          </p:nvSpPr>
          <p:spPr bwMode="auto">
            <a:xfrm flipV="1">
              <a:off x="2832" y="2160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</p:grp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4888006" y="3800026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6.0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5935980" y="377135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1.0</a:t>
            </a:r>
          </a:p>
        </p:txBody>
      </p:sp>
      <p:grpSp>
        <p:nvGrpSpPr>
          <p:cNvPr id="18" name="Group 34"/>
          <p:cNvGrpSpPr>
            <a:grpSpLocks/>
          </p:cNvGrpSpPr>
          <p:nvPr/>
        </p:nvGrpSpPr>
        <p:grpSpPr bwMode="auto">
          <a:xfrm>
            <a:off x="5021580" y="4190453"/>
            <a:ext cx="1295400" cy="457200"/>
            <a:chOff x="2832" y="2736"/>
            <a:chExt cx="816" cy="288"/>
          </a:xfrm>
        </p:grpSpPr>
        <p:sp>
          <p:nvSpPr>
            <p:cNvPr id="19" name="Line 32"/>
            <p:cNvSpPr>
              <a:spLocks noChangeShapeType="1"/>
            </p:cNvSpPr>
            <p:nvPr/>
          </p:nvSpPr>
          <p:spPr bwMode="auto">
            <a:xfrm>
              <a:off x="2832" y="2736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0" name="Line 33"/>
            <p:cNvSpPr>
              <a:spLocks noChangeShapeType="1"/>
            </p:cNvSpPr>
            <p:nvPr/>
          </p:nvSpPr>
          <p:spPr bwMode="auto">
            <a:xfrm flipV="1">
              <a:off x="3264" y="2736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</p:grpSp>
      <p:sp>
        <p:nvSpPr>
          <p:cNvPr id="21" name="Text Box 35"/>
          <p:cNvSpPr txBox="1">
            <a:spLocks noChangeArrowheads="1"/>
          </p:cNvSpPr>
          <p:nvPr/>
        </p:nvSpPr>
        <p:spPr bwMode="auto">
          <a:xfrm>
            <a:off x="5473401" y="461898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true</a:t>
            </a:r>
          </a:p>
        </p:txBody>
      </p:sp>
      <p:grpSp>
        <p:nvGrpSpPr>
          <p:cNvPr id="22" name="Group 38"/>
          <p:cNvGrpSpPr>
            <a:grpSpLocks/>
          </p:cNvGrpSpPr>
          <p:nvPr/>
        </p:nvGrpSpPr>
        <p:grpSpPr bwMode="auto">
          <a:xfrm>
            <a:off x="3895165" y="3314153"/>
            <a:ext cx="609600" cy="457200"/>
            <a:chOff x="1824" y="2160"/>
            <a:chExt cx="384" cy="288"/>
          </a:xfrm>
        </p:grpSpPr>
        <p:sp>
          <p:nvSpPr>
            <p:cNvPr id="23" name="Line 36"/>
            <p:cNvSpPr>
              <a:spLocks noChangeShapeType="1"/>
            </p:cNvSpPr>
            <p:nvPr/>
          </p:nvSpPr>
          <p:spPr bwMode="auto">
            <a:xfrm>
              <a:off x="1824" y="216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4" name="Line 37"/>
            <p:cNvSpPr>
              <a:spLocks noChangeShapeType="1"/>
            </p:cNvSpPr>
            <p:nvPr/>
          </p:nvSpPr>
          <p:spPr bwMode="auto">
            <a:xfrm flipV="1">
              <a:off x="2016" y="216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</p:grpSp>
      <p:sp>
        <p:nvSpPr>
          <p:cNvPr id="25" name="Text Box 39"/>
          <p:cNvSpPr txBox="1">
            <a:spLocks noChangeArrowheads="1"/>
          </p:cNvSpPr>
          <p:nvPr/>
        </p:nvSpPr>
        <p:spPr bwMode="auto">
          <a:xfrm>
            <a:off x="3971365" y="3771353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true</a:t>
            </a:r>
          </a:p>
        </p:txBody>
      </p:sp>
      <p:grpSp>
        <p:nvGrpSpPr>
          <p:cNvPr id="26" name="Group 42"/>
          <p:cNvGrpSpPr>
            <a:grpSpLocks/>
          </p:cNvGrpSpPr>
          <p:nvPr/>
        </p:nvGrpSpPr>
        <p:grpSpPr bwMode="auto">
          <a:xfrm>
            <a:off x="4124662" y="4304753"/>
            <a:ext cx="1676400" cy="1219200"/>
            <a:chOff x="2064" y="2784"/>
            <a:chExt cx="1056" cy="768"/>
          </a:xfrm>
        </p:grpSpPr>
        <p:sp>
          <p:nvSpPr>
            <p:cNvPr id="27" name="Line 40"/>
            <p:cNvSpPr>
              <a:spLocks noChangeShapeType="1"/>
            </p:cNvSpPr>
            <p:nvPr/>
          </p:nvSpPr>
          <p:spPr bwMode="auto">
            <a:xfrm>
              <a:off x="2064" y="2784"/>
              <a:ext cx="576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28" name="Line 41"/>
            <p:cNvSpPr>
              <a:spLocks noChangeShapeType="1"/>
            </p:cNvSpPr>
            <p:nvPr/>
          </p:nvSpPr>
          <p:spPr bwMode="auto">
            <a:xfrm flipV="1">
              <a:off x="2640" y="3216"/>
              <a:ext cx="48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bg-BG"/>
            </a:p>
          </p:txBody>
        </p:sp>
      </p:grpSp>
      <p:sp>
        <p:nvSpPr>
          <p:cNvPr id="29" name="Text Box 43"/>
          <p:cNvSpPr txBox="1">
            <a:spLocks noChangeArrowheads="1"/>
          </p:cNvSpPr>
          <p:nvPr/>
        </p:nvSpPr>
        <p:spPr bwMode="auto">
          <a:xfrm>
            <a:off x="4738521" y="551924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bg-BG" dirty="0">
                <a:latin typeface="Times New Roman" panose="02020603050405020304" pitchFamily="18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421363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English Conditions as C++ Expressions</a:t>
            </a:r>
            <a:endParaRPr lang="bg-B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63" y="2841794"/>
            <a:ext cx="10058400" cy="20316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878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Comparing Characters and Strings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2"/>
            <a:ext cx="10058400" cy="4375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In addition to numbers, you can also compare characters and strings using the relational and equality operators.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Letters are in alphabetical order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Upper and lower case letters are different (upper are first)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Digit characters are also ordered as expected ('0', '1', etc)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Comparing string objects requires the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altLang="bg-BG" sz="3200" dirty="0"/>
              <a:t> library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bg-BG" sz="3000" dirty="0"/>
              <a:t>Compares corresponding pairs of characters in each string, starting with the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37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Comparisons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816" y="1846263"/>
            <a:ext cx="9200694" cy="40227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099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Assignment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74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Recall that the assignment statements have the general form:</a:t>
            </a:r>
          </a:p>
          <a:p>
            <a:pPr marL="201168" lvl="1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2800" dirty="0"/>
              <a:t>	</a:t>
            </a:r>
            <a:r>
              <a:rPr lang="en-US" sz="2800" i="1" dirty="0">
                <a:latin typeface="Courier New" panose="02070309020205020404" pitchFamily="49" charset="0"/>
                <a:cs typeface="Courier New" panose="02070309020205020404" pitchFamily="49" charset="0"/>
              </a:rPr>
              <a:t>variable = expression;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We can assign bool values to variables of type bool: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valid = </a:t>
            </a: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valid = (x &gt;= 0) &amp;&amp; (x &lt;= 10);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isUpper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= ((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'A'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) &amp;&amp; (</a:t>
            </a:r>
            <a:r>
              <a:rPr lang="en-US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'Z'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even = (n % 2) == 0;</a:t>
            </a:r>
            <a:endParaRPr lang="pl-PL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Writing 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altLang="bg-BG" dirty="0"/>
              <a:t> Values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198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Boolean values are represented by integer values in C++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3000" dirty="0"/>
              <a:t> for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Any non-zero (typically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3000" dirty="0"/>
              <a:t>) for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When outputting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3200" dirty="0"/>
              <a:t> variables we will get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3200" dirty="0"/>
              <a:t> for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3200" dirty="0"/>
              <a:t> and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3200" dirty="0"/>
              <a:t> for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3200" dirty="0"/>
              <a:t>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read data into 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3200" dirty="0"/>
              <a:t> variable, we can use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3200" dirty="0"/>
              <a:t> for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3200" dirty="0"/>
              <a:t> and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3200" dirty="0"/>
              <a:t> for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4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The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bg-BG" dirty="0"/>
              <a:t> Control Statement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749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Allows a condition to be specified in the program, e.g. "is b an even number"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That condition is evaluated and based on the result, different course of action is selected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Two basic forms: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choice between two alternatives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dependent (conditional) statement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42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bg-BG" dirty="0"/>
              <a:t> Statement with Two Alternatives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2817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</a:p>
          <a:p>
            <a:pPr marL="201168" lvl="1" indent="0">
              <a:spcBef>
                <a:spcPts val="1200"/>
              </a:spcBef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statementF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  <a:endParaRPr lang="en-US" sz="2600" dirty="0"/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(gross &gt; 100)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net = gross - tax;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US" sz="2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net = gross;</a:t>
            </a:r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71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 with Two Alternatives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178" y="1846263"/>
            <a:ext cx="7875437" cy="4375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2276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3"/>
            <a:ext cx="10574768" cy="1450757"/>
          </a:xfrm>
        </p:spPr>
        <p:txBody>
          <a:bodyPr/>
          <a:lstStyle/>
          <a:p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bg-BG" dirty="0"/>
              <a:t> Statement with Dependent Statement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68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bg-BG" sz="3200" dirty="0"/>
              <a:t>When the condition evaluates to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bg-BG" sz="3200" dirty="0"/>
              <a:t>, the statement is executed. If </a:t>
            </a:r>
            <a:r>
              <a:rPr lang="en-US" altLang="bg-BG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bg-BG" sz="3200" dirty="0"/>
              <a:t>, it is skipped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General form: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2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201168" lvl="1" indent="0">
              <a:buNone/>
            </a:pP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statementT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Example: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(x !=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product = product * x;</a:t>
            </a:r>
            <a:endParaRPr lang="bg-BG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28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Flowchart of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bg-BG" dirty="0"/>
              <a:t> Statement with Dependent Statement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75" y="2051350"/>
            <a:ext cx="988441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378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115204" cy="1450757"/>
          </a:xfrm>
        </p:spPr>
        <p:txBody>
          <a:bodyPr/>
          <a:lstStyle/>
          <a:p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bg-BG" dirty="0"/>
              <a:t> Statements with Compound Alternatives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115203" cy="452817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execute more than one statement in a certain case, you can specify a group of statements enclosed in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Any statement type (assignment, executable, function call) can be placed within the braces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Example: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popToday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popYesterday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growth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popToday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popYesterday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growthPct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100.0 * growth /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popYesterday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"The growth percentage is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growthPct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08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>
                <a:latin typeface="Calibri" panose="020F0502020204030204" pitchFamily="34" charset="0"/>
                <a:cs typeface="Courier New" panose="02070309020205020404" pitchFamily="49" charset="0"/>
              </a:rPr>
              <a:t>Example: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bg-BG" dirty="0"/>
              <a:t> Statements with Compound Alternatives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438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transactionType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'c’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   // process check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"Check for $"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transactionAmount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balance = balance -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transactionAmount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   // process deposit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"Deposit of $"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transactionAmount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balance = balance +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transactionAmount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28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Program Style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15165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placement of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US" sz="3200" b="1" dirty="0">
                <a:cs typeface="Courier New" panose="02070309020205020404" pitchFamily="49" charset="0"/>
              </a:rPr>
              <a:t> </a:t>
            </a:r>
            <a:r>
              <a:rPr lang="en-US" sz="3200" dirty="0">
                <a:cs typeface="Courier New" panose="02070309020205020404" pitchFamily="49" charset="0"/>
              </a:rPr>
              <a:t>braces is a stylistic preference – you might want to put them on separate lines or have the opening brace on the same line as the condition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cs typeface="Courier New" panose="02070309020205020404" pitchFamily="49" charset="0"/>
              </a:rPr>
              <a:t>Simple rules to follow: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>
                <a:cs typeface="Courier New" panose="02070309020205020404" pitchFamily="49" charset="0"/>
              </a:rPr>
              <a:t>Use consistent placement in all your code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A good idea to use braces always, to make sure all </a:t>
            </a: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000" dirty="0"/>
              <a:t> statements look similar and there is no danger of forgetting braces where needed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95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37765" y="3227294"/>
            <a:ext cx="6490447" cy="2967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>
            <a:off x="2886635" y="4455459"/>
            <a:ext cx="5065059" cy="16584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Nested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bg-BG" dirty="0"/>
              <a:t> Statements and Multiple-Alternative Decisions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96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It is possible to use one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dirty="0"/>
              <a:t> statement inside another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That way we can implement code decisions with more than two alternatives:</a:t>
            </a:r>
          </a:p>
          <a:p>
            <a:pPr marL="201168" lvl="1" indent="0">
              <a:spcBef>
                <a:spcPts val="3000"/>
              </a:spcBef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(x &gt; 0) 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cout &lt;&lt; "Positive";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 (x &lt; 0)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cout &lt;&lt; "Negative";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pPr marL="201168" lvl="1" indent="0">
              <a:buNone/>
            </a:pPr>
            <a:r>
              <a:rPr lang="en-US" sz="3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cout &lt;&lt; "Zero";</a:t>
            </a:r>
            <a:endParaRPr lang="bg-BG" sz="3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76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Sequence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309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Not always possible and definitely not efficient</a:t>
            </a:r>
          </a:p>
          <a:p>
            <a:pPr marL="201168" lvl="1" indent="0">
              <a:buNone/>
            </a:pP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(x &gt; 0)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"Positive"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(x &lt; 0)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"Negative"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(x == 0)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A31515"/>
                </a:solidFill>
                <a:latin typeface="Consolas" panose="020B0609020204030204" pitchFamily="49" charset="0"/>
              </a:rPr>
              <a:t>"Zero"</a:t>
            </a:r>
            <a:r>
              <a:rPr lang="en-US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bg-BG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50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Multiple-Alternative Decision Example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10871"/>
            <a:ext cx="10058400" cy="444649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(x &gt; 0)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"Positive"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(x &lt; 0)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"Negative"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4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"Zero"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bg-BG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bg-BG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10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Nested if as a Multiple-Alternative Decision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Nested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dirty="0"/>
              <a:t> statements can become quite complex.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If there are more than two alternatives and indentation is not consistent, it may be difficult to determine the logical structure of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200" dirty="0"/>
              <a:t> statement.</a:t>
            </a:r>
          </a:p>
          <a:p>
            <a:pPr>
              <a:buFont typeface="Wingdings" panose="05000000000000000000" pitchFamily="2" charset="2"/>
              <a:buChar char="§"/>
            </a:pP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31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Multiple-Alternative Decision Form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1882"/>
            <a:ext cx="10058400" cy="4267200"/>
          </a:xfrm>
        </p:spPr>
        <p:txBody>
          <a:bodyPr>
            <a:normAutofit lnSpcReduction="10000"/>
          </a:bodyPr>
          <a:lstStyle/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bg-BG" sz="2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altLang="bg-BG" sz="2600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 statement</a:t>
            </a:r>
            <a:r>
              <a:rPr lang="en-US" altLang="bg-BG" sz="2600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US" altLang="bg-BG" sz="2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altLang="bg-BG" sz="2600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bg-BG" sz="2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statement</a:t>
            </a:r>
            <a:r>
              <a:rPr lang="en-US" altLang="bg-BG" sz="2600" b="1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 (</a:t>
            </a:r>
            <a:r>
              <a:rPr lang="en-US" altLang="bg-BG" sz="26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altLang="bg-BG" sz="2600" b="1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bg-BG" sz="26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</a:t>
            </a:r>
            <a:r>
              <a:rPr lang="en-US" altLang="bg-BG" sz="2600" b="1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altLang="bg-BG" sz="2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spcBef>
                <a:spcPts val="600"/>
              </a:spcBef>
              <a:buFontTx/>
              <a:buNone/>
            </a:pP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bg-BG" sz="26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</a:t>
            </a:r>
            <a:r>
              <a:rPr lang="en-US" altLang="bg-BG" sz="2600" b="1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bg-BG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97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Multiple-Alternative Decision Example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43952"/>
            <a:ext cx="10058400" cy="418651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&gt;= 90)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A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&gt;= 80)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B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&gt;= 70)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C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&gt;= 60)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D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F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872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Warning: </a:t>
            </a:r>
            <a:r>
              <a:rPr lang="en-US" altLang="bg-BG" dirty="0"/>
              <a:t>Order of Conditions Matters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2026024"/>
            <a:ext cx="11005074" cy="414169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&gt;= 60)    </a:t>
            </a:r>
            <a:r>
              <a:rPr lang="en-US" sz="2200" dirty="0">
                <a:solidFill>
                  <a:srgbClr val="008000"/>
                </a:solidFill>
                <a:latin typeface="Consolas" panose="020B0609020204030204" pitchFamily="49" charset="0"/>
              </a:rPr>
              <a:t>// NOTE: true for all good grades – A, B, etc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D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&gt;= 70)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C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&gt;= 80)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B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(score &gt;= 90)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A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	else</a:t>
            </a:r>
            <a:endParaRPr lang="en-US" sz="2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		cout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"Grade is F "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2200" dirty="0">
                <a:solidFill>
                  <a:srgbClr val="000000"/>
                </a:solidFill>
                <a:latin typeface="Consolas" panose="020B0609020204030204" pitchFamily="49" charset="0"/>
              </a:rPr>
              <a:t> endl;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48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Short Circuit Evaluation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130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Evaluation of a logical expression stops as soon as its value can be determined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201168" lvl="1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(single ==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'y'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gender ==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age &gt;= 18)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If single != 'y', gender and age are not evaluated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marL="201168" lvl="1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(single ==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'y'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|| gender ==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|| age &gt;= 18)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If single is 'y', gender and age are not evaluated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66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Short Circuit Evaluation (continued)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130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Evaluation of a logical expression stops as soon as its value can be determined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201168" lvl="1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(x !=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y / x &gt; 2)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If x == 0, then y / x will not be evaluated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marL="201168" lvl="1" indent="0">
              <a:buNone/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(y / x &gt;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x != 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600" dirty="0"/>
              <a:t>If x == 0, you will see run-time error division by zero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1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the result from the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Courier New" charset="0"/>
                <a:ea typeface="Courier New" charset="0"/>
                <a:cs typeface="Courier New" charset="0"/>
              </a:rPr>
              <a:t>bool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test = false;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if (test </a:t>
            </a:r>
            <a:r>
              <a:rPr lang="en-US" b="1" dirty="0">
                <a:solidFill>
                  <a:schemeClr val="tx1"/>
                </a:solidFill>
                <a:latin typeface="Courier New" charset="0"/>
                <a:ea typeface="Courier New" charset="0"/>
                <a:cs typeface="Courier New" charset="0"/>
              </a:rPr>
              <a:t>=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true){</a:t>
            </a:r>
          </a:p>
          <a:p>
            <a:pPr marL="201168" lvl="1" indent="0">
              <a:buNone/>
            </a:pP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bg-BG" b="1" dirty="0">
                <a:latin typeface="Courier New" charset="0"/>
                <a:ea typeface="Courier New" charset="0"/>
                <a:cs typeface="Courier New" charset="0"/>
              </a:rPr>
              <a:t>cout &lt;&lt;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“Test is true”;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}</a:t>
            </a:r>
          </a:p>
          <a:p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Test is true</a:t>
            </a:r>
          </a:p>
          <a:p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54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the result from the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Courier New" charset="0"/>
                <a:ea typeface="Courier New" charset="0"/>
                <a:cs typeface="Courier New" charset="0"/>
              </a:rPr>
              <a:t>bool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test = false;</a:t>
            </a:r>
          </a:p>
          <a:p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if (test == true)</a:t>
            </a:r>
          </a:p>
          <a:p>
            <a:pPr marL="201168" lvl="1" indent="0">
              <a:buNone/>
            </a:pP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b="1" dirty="0" err="1">
                <a:latin typeface="Courier New" charset="0"/>
                <a:ea typeface="Courier New" charset="0"/>
                <a:cs typeface="Courier New" charset="0"/>
              </a:rPr>
              <a:t>cout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&lt;&lt; “Test is true”;</a:t>
            </a:r>
          </a:p>
          <a:p>
            <a:pPr marL="201168" lvl="1" indent="0">
              <a:buNone/>
            </a:pP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	</a:t>
            </a:r>
            <a:r>
              <a:rPr lang="en-US" b="1" dirty="0" err="1">
                <a:latin typeface="Courier New" charset="0"/>
                <a:ea typeface="Courier New" charset="0"/>
                <a:cs typeface="Courier New" charset="0"/>
              </a:rPr>
              <a:t>cout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&lt;&lt; “Some message”;</a:t>
            </a:r>
          </a:p>
          <a:p>
            <a:pPr marL="201168" lvl="1" indent="0">
              <a:buNone/>
            </a:pPr>
            <a:r>
              <a:rPr lang="en-US" b="1" dirty="0" err="1">
                <a:latin typeface="Courier New" charset="0"/>
                <a:ea typeface="Courier New" charset="0"/>
                <a:cs typeface="Courier New" charset="0"/>
              </a:rPr>
              <a:t>cout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 &lt;&lt; “After the if”;</a:t>
            </a:r>
          </a:p>
          <a:p>
            <a:pPr marL="201168" lvl="1" indent="0">
              <a:buNone/>
            </a:pPr>
            <a:endParaRPr lang="en-US" b="1" dirty="0">
              <a:latin typeface="Courier New" charset="0"/>
              <a:ea typeface="Courier New" charset="0"/>
              <a:cs typeface="Courier New" charset="0"/>
            </a:endParaRPr>
          </a:p>
          <a:p>
            <a:pPr marL="201168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Some message</a:t>
            </a:r>
          </a:p>
          <a:p>
            <a:pPr marL="201168" lvl="1" indent="0">
              <a:buNone/>
            </a:pPr>
            <a:r>
              <a:rPr lang="en-US" b="1" dirty="0">
                <a:solidFill>
                  <a:srgbClr val="FF0000"/>
                </a:solidFill>
                <a:latin typeface="Courier New" charset="0"/>
                <a:ea typeface="Courier New" charset="0"/>
                <a:cs typeface="Courier New" charset="0"/>
              </a:rPr>
              <a:t>After the if</a:t>
            </a:r>
          </a:p>
        </p:txBody>
      </p:sp>
    </p:spTree>
    <p:extLst>
      <p:ext uri="{BB962C8B-B14F-4D97-AF65-F5344CB8AC3E}">
        <p14:creationId xmlns:p14="http://schemas.microsoft.com/office/powerpoint/2010/main" val="371195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bg-BG" dirty="0"/>
              <a:t>The </a:t>
            </a:r>
            <a:r>
              <a:rPr lang="en-US" altLang="bg-BG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altLang="bg-BG" dirty="0"/>
              <a:t> Control Statement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1606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select one of several alternatives, C++ also provides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3200" dirty="0"/>
              <a:t> statement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Most useful when the selection is based on the value of a single variable, called the 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sz="3200" b="1" dirty="0">
                <a:cs typeface="Courier New" panose="02070309020205020404" pitchFamily="49" charset="0"/>
              </a:rPr>
              <a:t>  </a:t>
            </a:r>
            <a:r>
              <a:rPr lang="en-US" sz="3200" b="1" i="1" dirty="0"/>
              <a:t>selector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value of the switch selector expression must be of type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200" dirty="0"/>
              <a:t>,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3200" dirty="0"/>
              <a:t> 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3200" b="1" dirty="0">
                <a:cs typeface="Courier New" panose="02070309020205020404" pitchFamily="49" charset="0"/>
              </a:rPr>
              <a:t>, </a:t>
            </a:r>
            <a:r>
              <a:rPr lang="en-US" sz="3200" dirty="0">
                <a:cs typeface="Courier New" panose="02070309020205020404" pitchFamily="49" charset="0"/>
              </a:rPr>
              <a:t>but not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3200" dirty="0">
                <a:cs typeface="Courier New" panose="02070309020205020404" pitchFamily="49" charset="0"/>
              </a:rPr>
              <a:t> or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3200" dirty="0">
                <a:cs typeface="Courier New" panose="02070309020205020404" pitchFamily="49" charset="0"/>
              </a:rPr>
              <a:t>.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18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 of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dirty="0"/>
              <a:t> Statement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2"/>
          </a:xfrm>
        </p:spPr>
        <p:txBody>
          <a:bodyPr>
            <a:normAutofit fontScale="62500" lnSpcReduction="20000"/>
          </a:bodyPr>
          <a:lstStyle/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switch (</a:t>
            </a:r>
            <a:r>
              <a:rPr lang="en-US" sz="3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selector-expression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	case label1:   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3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statements1;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		break;	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case label2:  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3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statements2;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break;</a:t>
            </a:r>
          </a:p>
          <a:p>
            <a:pPr marL="201168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...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case 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labelN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32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statementsN</a:t>
            </a:r>
            <a:r>
              <a:rPr lang="en-US" sz="3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     	break;</a:t>
            </a: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	default:	</a:t>
            </a:r>
            <a:r>
              <a:rPr lang="en-US" sz="3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// optional</a:t>
            </a:r>
          </a:p>
          <a:p>
            <a:pPr marL="201168" lvl="1" indent="0">
              <a:buNone/>
            </a:pPr>
            <a:r>
              <a:rPr lang="en-US" sz="32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3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statementsD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32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1168" lvl="1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201168" lvl="1" indent="0">
              <a:buNone/>
            </a:pP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255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dirty="0"/>
              <a:t> Statement Interpretation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57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The </a:t>
            </a:r>
            <a:r>
              <a:rPr lang="en-US" sz="3200" b="1" i="1" dirty="0"/>
              <a:t>selector</a:t>
            </a:r>
            <a:r>
              <a:rPr lang="en-US" sz="3200" dirty="0"/>
              <a:t> expression is evaluated and compared to each of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3200" dirty="0"/>
              <a:t> labels, until a match is found.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Each label is a single, constant expression, different from the other labels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When a match is found, the statements following the case label are executed until a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US" sz="3200" dirty="0"/>
              <a:t> statement is encountered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If none of the case labels match the selector, statements in the </a:t>
            </a: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sz="3200" dirty="0"/>
              <a:t> label (if present) are executed</a:t>
            </a:r>
            <a:endParaRPr lang="bg-BG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127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</a:t>
            </a:r>
            <a:r>
              <a:rPr lang="en-US" dirty="0"/>
              <a:t> Statement Example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42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519" y="1806456"/>
            <a:ext cx="7919614" cy="4494582"/>
          </a:xfrm>
        </p:spPr>
      </p:pic>
    </p:spTree>
    <p:extLst>
      <p:ext uri="{BB962C8B-B14F-4D97-AF65-F5344CB8AC3E}">
        <p14:creationId xmlns:p14="http://schemas.microsoft.com/office/powerpoint/2010/main" val="1769103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bg-BG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97280" y="1845734"/>
            <a:ext cx="8952155" cy="4023360"/>
          </a:xfrm>
        </p:spPr>
        <p:txBody>
          <a:bodyPr>
            <a:normAutofit/>
          </a:bodyPr>
          <a:lstStyle/>
          <a:p>
            <a:endParaRPr lang="en-US" sz="9600" dirty="0"/>
          </a:p>
          <a:p>
            <a:pPr algn="ctr"/>
            <a:r>
              <a:rPr lang="en-US" sz="9600" dirty="0"/>
              <a:t>Q </a:t>
            </a:r>
            <a:r>
              <a:rPr lang="en-US" sz="6000" dirty="0"/>
              <a:t>&amp;</a:t>
            </a:r>
            <a:r>
              <a:rPr lang="en-US" sz="9600" dirty="0"/>
              <a:t> A</a:t>
            </a:r>
            <a:endParaRPr lang="bg-BG" sz="9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4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1428</TotalTime>
  <Words>2016</Words>
  <Application>Microsoft Office PowerPoint</Application>
  <PresentationFormat>Widescreen</PresentationFormat>
  <Paragraphs>334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Calibri</vt:lpstr>
      <vt:lpstr>Calibri Light</vt:lpstr>
      <vt:lpstr>Consolas</vt:lpstr>
      <vt:lpstr>Courier New</vt:lpstr>
      <vt:lpstr>Times New Roman</vt:lpstr>
      <vt:lpstr>Wingdings</vt:lpstr>
      <vt:lpstr>Retrospect</vt:lpstr>
      <vt:lpstr>Control Flow – Decision Statements</vt:lpstr>
      <vt:lpstr>Lecture Contents</vt:lpstr>
      <vt:lpstr>Control Structures</vt:lpstr>
      <vt:lpstr>Control Structures (continued)</vt:lpstr>
      <vt:lpstr>Logical Expressions</vt:lpstr>
      <vt:lpstr>Logical Expressions (continued)</vt:lpstr>
      <vt:lpstr>Relational and Equality Operators</vt:lpstr>
      <vt:lpstr>Relational and Logical Operators Example</vt:lpstr>
      <vt:lpstr>Logical Operators</vt:lpstr>
      <vt:lpstr>The &amp;&amp; Operator</vt:lpstr>
      <vt:lpstr>The || Operator</vt:lpstr>
      <vt:lpstr>The ! Operator</vt:lpstr>
      <vt:lpstr>Operator Precedence</vt:lpstr>
      <vt:lpstr>Operator Precedence Example</vt:lpstr>
      <vt:lpstr>English Conditions as C++ Expressions</vt:lpstr>
      <vt:lpstr>Comparing Characters and Strings</vt:lpstr>
      <vt:lpstr>Example of Comparisons</vt:lpstr>
      <vt:lpstr>Boolean Assignment</vt:lpstr>
      <vt:lpstr>Writing  bool Values</vt:lpstr>
      <vt:lpstr>The if Control Statement</vt:lpstr>
      <vt:lpstr>if Statement with Two Alternatives</vt:lpstr>
      <vt:lpstr>Flowchart of if Statement with Two Alternatives</vt:lpstr>
      <vt:lpstr>if Statement with Dependent Statement</vt:lpstr>
      <vt:lpstr>Flowchart of if Statement with Dependent Statement</vt:lpstr>
      <vt:lpstr>if Statements with Compound Alternatives</vt:lpstr>
      <vt:lpstr>Example: if Statements with Compound Alternatives</vt:lpstr>
      <vt:lpstr>Program Style</vt:lpstr>
      <vt:lpstr>Nested if Statements and Multiple-Alternative Decisions</vt:lpstr>
      <vt:lpstr>A Sequence of if Statements</vt:lpstr>
      <vt:lpstr>Multiple-Alternative Decision Example 1</vt:lpstr>
      <vt:lpstr>Writing a Nested if as a Multiple-Alternative Decision</vt:lpstr>
      <vt:lpstr>Multiple-Alternative Decision Form</vt:lpstr>
      <vt:lpstr>Multiple-Alternative Decision Example 2</vt:lpstr>
      <vt:lpstr>Warning: Order of Conditions Matters</vt:lpstr>
      <vt:lpstr>Short Circuit Evaluation</vt:lpstr>
      <vt:lpstr>Short Circuit Evaluation (continued)</vt:lpstr>
      <vt:lpstr>What will the result from the code?</vt:lpstr>
      <vt:lpstr>What will the result from the code?</vt:lpstr>
      <vt:lpstr>The switch Control Statement</vt:lpstr>
      <vt:lpstr>General Form of the switch Statement</vt:lpstr>
      <vt:lpstr>switch Statement Interpretation</vt:lpstr>
      <vt:lpstr>switch Statement Example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608</cp:revision>
  <dcterms:created xsi:type="dcterms:W3CDTF">2016-08-30T09:20:13Z</dcterms:created>
  <dcterms:modified xsi:type="dcterms:W3CDTF">2025-08-24T11:18:05Z</dcterms:modified>
</cp:coreProperties>
</file>