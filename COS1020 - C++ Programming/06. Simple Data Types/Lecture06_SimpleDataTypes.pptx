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18"/>
  </p:notesMasterIdLst>
  <p:sldIdLst>
    <p:sldId id="286" r:id="rId2"/>
    <p:sldId id="282" r:id="rId3"/>
    <p:sldId id="280" r:id="rId4"/>
    <p:sldId id="295" r:id="rId5"/>
    <p:sldId id="296" r:id="rId6"/>
    <p:sldId id="297" r:id="rId7"/>
    <p:sldId id="298" r:id="rId8"/>
    <p:sldId id="301" r:id="rId9"/>
    <p:sldId id="307" r:id="rId10"/>
    <p:sldId id="302" r:id="rId11"/>
    <p:sldId id="304" r:id="rId12"/>
    <p:sldId id="305" r:id="rId13"/>
    <p:sldId id="306" r:id="rId14"/>
    <p:sldId id="309" r:id="rId15"/>
    <p:sldId id="30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0"/>
            <p14:sldId id="295"/>
            <p14:sldId id="296"/>
            <p14:sldId id="297"/>
            <p14:sldId id="298"/>
            <p14:sldId id="301"/>
            <p14:sldId id="307"/>
            <p14:sldId id="302"/>
            <p14:sldId id="304"/>
            <p14:sldId id="305"/>
            <p14:sldId id="306"/>
            <p14:sldId id="309"/>
            <p14:sldId id="30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762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Data Types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7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7.1 Constants Revisited</a:t>
            </a:r>
          </a:p>
          <a:p>
            <a:pPr marL="0" indent="0">
              <a:buNone/>
            </a:pPr>
            <a:r>
              <a:rPr lang="en-US" sz="3200" dirty="0"/>
              <a:t>7.2 Character Data and Functions</a:t>
            </a:r>
          </a:p>
          <a:p>
            <a:pPr marL="0" indent="0">
              <a:buNone/>
            </a:pPr>
            <a:r>
              <a:rPr lang="en-US" sz="3200" dirty="0"/>
              <a:t>7.3 Enumeration Types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Constants Revisited -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359614" cy="443852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Constants are named identifiers that cannot be changed in the program: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6F008A"/>
                </a:solidFill>
                <a:latin typeface="Consolas" panose="020B0609020204030204" pitchFamily="49" charset="0"/>
              </a:rPr>
              <a:t>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3.14159;</a:t>
            </a:r>
            <a:endParaRPr lang="en-US" sz="3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Another way to define constants is by using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3200" dirty="0"/>
              <a:t>directive: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#define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replacement-text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Any occurrence of </a:t>
            </a:r>
            <a:r>
              <a:rPr lang="en-US" sz="3200" b="1" i="1" dirty="0">
                <a:cs typeface="Courier New" panose="02070309020205020404" pitchFamily="49" charset="0"/>
              </a:rPr>
              <a:t>identifier</a:t>
            </a:r>
            <a:r>
              <a:rPr lang="en-US" sz="3200" dirty="0">
                <a:cs typeface="Courier New" panose="02070309020205020404" pitchFamily="49" charset="0"/>
              </a:rPr>
              <a:t> (not enclosed in quotes and not part of another name) will be replaced by the given </a:t>
            </a:r>
            <a:r>
              <a:rPr lang="en-US" sz="3200" b="1" i="1" dirty="0">
                <a:cs typeface="Courier New" panose="02070309020205020404" pitchFamily="49" charset="0"/>
              </a:rPr>
              <a:t>replacement-text</a:t>
            </a:r>
            <a:endParaRPr lang="en-US" sz="3200" dirty="0">
              <a:cs typeface="Courier New" panose="02070309020205020404" pitchFamily="49" charset="0"/>
            </a:endParaRP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6F008A"/>
                </a:solidFill>
                <a:latin typeface="Consolas" panose="020B0609020204030204" pitchFamily="49" charset="0"/>
              </a:rPr>
              <a:t>PI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3.14159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Character Data and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>
                <a:cs typeface="Courier New" panose="02070309020205020404" pitchFamily="49" charset="0"/>
              </a:rPr>
              <a:t>The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bg-BG" sz="3200" dirty="0"/>
              <a:t> type is used to contain individual characters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Character </a:t>
            </a:r>
            <a:r>
              <a:rPr lang="en-US" altLang="bg-BG" sz="3200" b="1" dirty="0"/>
              <a:t>literals</a:t>
            </a:r>
            <a:r>
              <a:rPr lang="en-US" altLang="bg-BG" sz="3200" dirty="0"/>
              <a:t> consist of a character surrounded by </a:t>
            </a:r>
            <a:r>
              <a:rPr lang="en-US" altLang="bg-BG" sz="3200" i="1" dirty="0"/>
              <a:t>single</a:t>
            </a:r>
            <a:r>
              <a:rPr lang="en-US" altLang="bg-BG" sz="3200" dirty="0"/>
              <a:t> quotes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Examples:</a:t>
            </a:r>
          </a:p>
          <a:p>
            <a:pPr marL="0" indent="0">
              <a:buNone/>
            </a:pPr>
            <a:r>
              <a:rPr lang="en-US" altLang="bg-BG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STAR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'*'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ENDLINE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nextLetter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nextLetter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1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Representation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Each character has a unique 1-byte numeric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Those codes are referred to as ASCII codes and are the adopted standard for representing text in computers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Printable charters from 32 till 126.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We can convert between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bg-BG" sz="3200" dirty="0"/>
              <a:t> and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bg-BG" sz="3200" dirty="0"/>
              <a:t>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65 (90)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fr-FR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800" dirty="0">
                <a:solidFill>
                  <a:srgbClr val="A31515"/>
                </a:solidFill>
                <a:latin typeface="Consolas" panose="020B0609020204030204" pitchFamily="49" charset="0"/>
              </a:rPr>
              <a:t>'0'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r-FR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fr-FR" sz="2800" dirty="0">
                <a:solidFill>
                  <a:srgbClr val="008000"/>
                </a:solidFill>
                <a:latin typeface="Consolas" panose="020B0609020204030204" pitchFamily="49" charset="0"/>
              </a:rPr>
              <a:t>// 48 (57)</a:t>
            </a:r>
            <a:endParaRPr lang="fr-FR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(97)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a (122)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6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Some Useful Character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tolower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isalpha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isdigit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isalnum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islower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isspace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isupper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digitToNumber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105616"/>
            <a:ext cx="10058400" cy="381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58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Enumeration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370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</a:t>
            </a:r>
            <a:r>
              <a:rPr lang="en-US" sz="3200" b="1" dirty="0"/>
              <a:t>enumeration type </a:t>
            </a:r>
            <a:r>
              <a:rPr lang="en-US" sz="3200" dirty="0"/>
              <a:t>is a user-defined data type that has a list of allowed values: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sunday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monday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tuesday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wednesday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thursday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friday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saturday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above definition associates the identifier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sunday</a:t>
            </a:r>
            <a:r>
              <a:rPr lang="en-US" sz="3200" dirty="0"/>
              <a:t> with the integer value 0,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monday</a:t>
            </a:r>
            <a:r>
              <a:rPr lang="en-US" sz="3200" dirty="0"/>
              <a:t> with 1 and so 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Variables declared with an enum type can be assigned values that are part of the enumerator list of that enum declaration: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today =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friday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0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Enumeration Types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3702"/>
          </a:xfrm>
        </p:spPr>
        <p:txBody>
          <a:bodyPr>
            <a:normAutofit/>
          </a:bodyPr>
          <a:lstStyle/>
          <a:p>
            <a:pPr marL="201168" lvl="1" indent="0">
              <a:spcBef>
                <a:spcPts val="1200"/>
              </a:spcBef>
              <a:buNone/>
            </a:pP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month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jan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 = 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feb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mar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apr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may,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june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jul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aug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sep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oct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nov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2F4F4F"/>
                </a:solidFill>
                <a:latin typeface="Consolas" panose="020B0609020204030204" pitchFamily="49" charset="0"/>
              </a:rPr>
              <a:t>dec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201168" lvl="1" indent="0">
              <a:spcBef>
                <a:spcPts val="1200"/>
              </a:spcBef>
              <a:buNone/>
            </a:pP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specialChar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backspace = ’\b’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		 newline = ‘\n’,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		 tab = ‘\t’};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Enumeration Type Declarations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512014" cy="446542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enum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enumeration-type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enumerator-list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classId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freshman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sophomore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junior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senior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classId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newClass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newClass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freshman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	// do something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newClass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sophomore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bg-BG" sz="2800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64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520979" cy="1450757"/>
          </a:xfrm>
        </p:spPr>
        <p:txBody>
          <a:bodyPr/>
          <a:lstStyle/>
          <a:p>
            <a:r>
              <a:rPr lang="en-US" altLang="bg-BG" dirty="0"/>
              <a:t>Comparisons Involving Enumeration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The order relationship among the enumerators of an enum type is determined by the order of enumerators in the list</a:t>
            </a:r>
          </a:p>
          <a:p>
            <a:pPr marL="0" indent="0">
              <a:buNone/>
            </a:pPr>
            <a:r>
              <a:rPr lang="en-US" altLang="bg-BG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sunday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monday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wednesday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tuesday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wednesday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wednesday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thursday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monday</a:t>
            </a:r>
            <a:endParaRPr lang="en-US" alt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Cannot mix enumeration types: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entertainment !=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monday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WRONG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0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Reading and Writing Enumeration Type Values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5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Enum types are defined by the programmer and their values are not known in advance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C++ input/output systems cannot read or write these values directly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implement functions to do that: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red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green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blue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yellow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eyeColor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2F4F4F"/>
                </a:solidFill>
                <a:latin typeface="Consolas" panose="020B0609020204030204" pitchFamily="49" charset="0"/>
              </a:rPr>
              <a:t>blue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eyeColor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function call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1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to display a value of type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56083"/>
            <a:ext cx="10058400" cy="449231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thisColor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IN: color to display as a string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// Display color value as a string.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switch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thisColor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F4F4F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F4F4F"/>
                </a:solidFill>
                <a:latin typeface="Consolas" panose="020B0609020204030204" pitchFamily="49" charset="0"/>
              </a:rPr>
              <a:t>green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"green"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F4F4F"/>
                </a:solidFill>
                <a:latin typeface="Consolas" panose="020B0609020204030204" pitchFamily="49" charset="0"/>
              </a:rPr>
              <a:t>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F4F4F"/>
                </a:solidFill>
                <a:latin typeface="Consolas" panose="020B0609020204030204" pitchFamily="49" charset="0"/>
              </a:rPr>
              <a:t>yellow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"yellow"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default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"*** ERROR: Invalid color value."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07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B09C-9DFA-9F42-A604-80BF90DE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to display a value of type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 </a:t>
            </a:r>
            <a:r>
              <a:rPr lang="en-US" dirty="0"/>
              <a:t>(continued)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CB98-CBAB-0541-9A92-A048C512D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9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sz="19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red;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0);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9);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6B45-1BC5-0C4D-8ADE-10530281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5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to read a value of type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694" y="1783507"/>
            <a:ext cx="5262671" cy="453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97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2004</TotalTime>
  <Words>814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Calibri Light</vt:lpstr>
      <vt:lpstr>Consolas</vt:lpstr>
      <vt:lpstr>Courier New</vt:lpstr>
      <vt:lpstr>Wingdings</vt:lpstr>
      <vt:lpstr>Retrospect</vt:lpstr>
      <vt:lpstr>Simple Data Types</vt:lpstr>
      <vt:lpstr>Lecture Contents</vt:lpstr>
      <vt:lpstr>Constants Revisited - #define</vt:lpstr>
      <vt:lpstr>Character Data and Functions</vt:lpstr>
      <vt:lpstr>Character Representation</vt:lpstr>
      <vt:lpstr>Some Useful Character Functions</vt:lpstr>
      <vt:lpstr>Example: Function digitToNumber</vt:lpstr>
      <vt:lpstr>Enumeration Types</vt:lpstr>
      <vt:lpstr>Enumeration Types (continued)</vt:lpstr>
      <vt:lpstr>Enumeration Type Declarations</vt:lpstr>
      <vt:lpstr>Comparisons Involving Enumeration Types</vt:lpstr>
      <vt:lpstr>Reading and Writing Enumeration Type Values</vt:lpstr>
      <vt:lpstr>Example: Function to display a value of type color</vt:lpstr>
      <vt:lpstr>Example: Function to display a value of type color (continued)</vt:lpstr>
      <vt:lpstr>Example: Function to read a value of type color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390</cp:revision>
  <dcterms:created xsi:type="dcterms:W3CDTF">2016-08-30T09:20:13Z</dcterms:created>
  <dcterms:modified xsi:type="dcterms:W3CDTF">2025-10-11T09:32:11Z</dcterms:modified>
</cp:coreProperties>
</file>