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22"/>
  </p:notesMasterIdLst>
  <p:sldIdLst>
    <p:sldId id="286" r:id="rId2"/>
    <p:sldId id="303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282" r:id="rId12"/>
    <p:sldId id="280" r:id="rId13"/>
    <p:sldId id="288" r:id="rId14"/>
    <p:sldId id="289" r:id="rId15"/>
    <p:sldId id="290" r:id="rId16"/>
    <p:sldId id="291" r:id="rId17"/>
    <p:sldId id="292" r:id="rId18"/>
    <p:sldId id="301" r:id="rId19"/>
    <p:sldId id="302" r:id="rId20"/>
    <p:sldId id="28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282"/>
            <p14:sldId id="280"/>
            <p14:sldId id="288"/>
            <p14:sldId id="289"/>
            <p14:sldId id="290"/>
            <p14:sldId id="291"/>
            <p14:sldId id="292"/>
            <p14:sldId id="301"/>
            <p14:sldId id="302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468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93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84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3 and 9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Correct?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c</a:t>
            </a:r>
            <a:r>
              <a:rPr lang="pt-BR" sz="2400" dirty="0" err="1">
                <a:latin typeface="Courier New"/>
                <a:cs typeface="Courier New"/>
              </a:rPr>
              <a:t>har</a:t>
            </a:r>
            <a:r>
              <a:rPr lang="pt-BR" sz="2400" dirty="0">
                <a:latin typeface="Courier New"/>
                <a:cs typeface="Courier New"/>
              </a:rPr>
              <a:t> </a:t>
            </a:r>
            <a:r>
              <a:rPr lang="pt-BR" sz="2400" dirty="0" err="1">
                <a:latin typeface="Courier New"/>
                <a:cs typeface="Courier New"/>
              </a:rPr>
              <a:t>arr</a:t>
            </a:r>
            <a:r>
              <a:rPr lang="pt-BR" sz="2400" dirty="0">
                <a:latin typeface="Courier New"/>
                <a:cs typeface="Courier New"/>
              </a:rPr>
              <a:t>[5][3];</a:t>
            </a:r>
          </a:p>
          <a:p>
            <a:pPr marL="0" indent="0">
              <a:buNone/>
            </a:pPr>
            <a:r>
              <a:rPr lang="mr-IN" sz="2400" b="1" dirty="0">
                <a:solidFill>
                  <a:srgbClr val="FF0000"/>
                </a:solidFill>
                <a:latin typeface="Courier New"/>
                <a:cs typeface="Courier New"/>
              </a:rPr>
              <a:t>Yes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int test[3][2] = {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       {1, 2},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       {4, 5},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       {5, 6}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};</a:t>
            </a:r>
            <a:endParaRPr lang="pt-BR" sz="2400" dirty="0">
              <a:latin typeface="Courier New"/>
              <a:cs typeface="Courier New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Yes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9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Correct?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int test[3][2] = {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       1, 2,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       4, 5,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       5, 6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};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Yes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int test[][2] = {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       1, 2,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       4, 5,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       5, 6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};</a:t>
            </a:r>
            <a:endParaRPr lang="en-US" sz="24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Yes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134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Correct?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int test[3][] = {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       1, 2,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       4, 5,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       5, 6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};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int test[3][] = {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       {1, 2},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       {4, 5},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        {5, 6}</a:t>
            </a:r>
          </a:p>
          <a:p>
            <a:pPr marL="0" indent="0">
              <a:buNone/>
            </a:pPr>
            <a:r>
              <a:rPr lang="mr-IN" sz="2400" dirty="0">
                <a:latin typeface="Courier New"/>
                <a:cs typeface="Courier New"/>
              </a:rPr>
              <a:t>};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No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88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Correct?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 New"/>
                <a:cs typeface="Courier New"/>
              </a:rPr>
              <a:t> print2D(</a:t>
            </a:r>
            <a:r>
              <a:rPr lang="en-US" sz="2400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 New"/>
                <a:cs typeface="Courier New"/>
              </a:rPr>
              <a:t>arr</a:t>
            </a:r>
            <a:r>
              <a:rPr lang="en-US" sz="2400" dirty="0">
                <a:solidFill>
                  <a:schemeClr val="tx1"/>
                </a:solidFill>
                <a:latin typeface="Courier New"/>
                <a:cs typeface="Courier New"/>
              </a:rPr>
              <a:t>[2][3]);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Yes.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 New"/>
                <a:cs typeface="Courier New"/>
              </a:rPr>
              <a:t> print2D(</a:t>
            </a:r>
            <a:r>
              <a:rPr lang="en-US" sz="2400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 New"/>
                <a:cs typeface="Courier New"/>
              </a:rPr>
              <a:t>arr</a:t>
            </a:r>
            <a:r>
              <a:rPr lang="en-US" sz="2400" dirty="0">
                <a:solidFill>
                  <a:schemeClr val="tx1"/>
                </a:solidFill>
                <a:latin typeface="Courier New"/>
                <a:cs typeface="Courier New"/>
              </a:rPr>
              <a:t>[][3]);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Yes, but we won’t know the first dimension size – pass two parameters for </a:t>
            </a:r>
            <a:r>
              <a:rPr lang="en-US" sz="2400" b="1">
                <a:solidFill>
                  <a:srgbClr val="FF0000"/>
                </a:solidFill>
                <a:latin typeface="Courier New"/>
                <a:cs typeface="Courier New"/>
              </a:rPr>
              <a:t>both sizes.</a:t>
            </a:r>
            <a:endParaRPr lang="en-US" sz="24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 New"/>
                <a:cs typeface="Courier New"/>
              </a:rPr>
              <a:t> print2D(</a:t>
            </a:r>
            <a:r>
              <a:rPr lang="en-US" sz="2400" dirty="0" err="1">
                <a:solidFill>
                  <a:schemeClr val="tx1"/>
                </a:solidFill>
                <a:latin typeface="Courier New"/>
                <a:cs typeface="Courier New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 New"/>
                <a:cs typeface="Courier New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 New"/>
                <a:cs typeface="Courier New"/>
              </a:rPr>
              <a:t>arr</a:t>
            </a:r>
            <a:r>
              <a:rPr lang="en-US" sz="2400" dirty="0">
                <a:solidFill>
                  <a:schemeClr val="tx1"/>
                </a:solidFill>
                <a:latin typeface="Courier New"/>
                <a:cs typeface="Courier New"/>
              </a:rPr>
              <a:t>[2][]);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No, the second dimension cannot be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1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Be Printed?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int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NUM_ROWS = 2;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int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NUM_COLS = 3; </a:t>
            </a:r>
            <a:endParaRPr lang="bg-BG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matrix[NUM_ROWS][NUM_COLS] = 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5.0, 4.5, 3.0 },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-16.0, -5.9, 0.0 }</a:t>
            </a:r>
          </a:p>
          <a:p>
            <a:pPr marL="0" indent="0"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bg-BG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 &lt;&lt; matrix[2][2] &lt;&lt; endl;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Error, no row with index 2.</a:t>
            </a:r>
          </a:p>
          <a:p>
            <a:pPr marL="0" indent="0"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 &lt;&lt; matrix[1][2] &lt;&lt; endl;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64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Is This Correct? </a:t>
            </a:r>
            <a:r>
              <a:rPr lang="en-US" dirty="0"/>
              <a:t>What Will Be Printed?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print2DMatrix(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[2][3])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endParaRPr lang="bg-BG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for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bg-BG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pt-BR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for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 = 0; c &lt; 3;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 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[c][r] &lt;&lt; “ “;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cout &lt;&lt; endl;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No. The indices are swapped!!!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2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Be the Result?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id;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B91A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string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name;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char grades[3];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 test;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test.id = 123;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test.name = “Test”;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test.grades[0] = ‘A’;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test.grades[1] = ‘</a:t>
            </a:r>
            <a:r>
              <a:rPr lang="bg-BG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’;</a:t>
            </a:r>
          </a:p>
          <a:p>
            <a:pPr marL="0" indent="0"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test.grades[2] = ‘</a:t>
            </a:r>
            <a:r>
              <a:rPr lang="bg-BG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’;</a:t>
            </a:r>
          </a:p>
          <a:p>
            <a:pPr marL="0" indent="0">
              <a:buNone/>
            </a:pPr>
            <a:endParaRPr lang="bg-BG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 &lt;&lt; test.grades[2] &lt;&lt; endl;</a:t>
            </a:r>
          </a:p>
          <a:p>
            <a:pPr marL="0" indent="0"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 &lt;&lt; test.id &lt;&lt; </a:t>
            </a:r>
            <a:r>
              <a:rPr lang="bg-BG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79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Correct?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id;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B91A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string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name;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char grades[3];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 test;</a:t>
            </a:r>
          </a:p>
          <a:p>
            <a:pPr marL="0" indent="0">
              <a:buNone/>
            </a:pPr>
            <a:r>
              <a:rPr lang="bg-BG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test.grades = {‘A’, ‘B’, ‘C’}</a:t>
            </a:r>
            <a:r>
              <a:rPr lang="en-US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bg-BG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bg-BG" b="1" dirty="0">
                <a:solidFill>
                  <a:srgbClr val="FF0000"/>
                </a:solidFill>
                <a:latin typeface="Consolas" panose="020B0609020204030204" pitchFamily="49" charset="0"/>
              </a:rPr>
              <a:t>No. The array was declared, so this is invalid!</a:t>
            </a:r>
          </a:p>
          <a:p>
            <a:pPr marL="0" indent="0">
              <a:buNone/>
            </a:pPr>
            <a:r>
              <a:rPr lang="x-none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 st {123, “Test”, {‘A’, ‘B’, ‘C’} }; // The order matters!</a:t>
            </a:r>
            <a:endParaRPr lang="en-US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8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Lecture 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54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9.11 C-style Strings</a:t>
            </a:r>
          </a:p>
          <a:p>
            <a:pPr marL="0" indent="0">
              <a:buNone/>
            </a:pPr>
            <a:r>
              <a:rPr lang="en-US" sz="3200" dirty="0"/>
              <a:t>3.7 Using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3200" dirty="0"/>
              <a:t> Class</a:t>
            </a:r>
          </a:p>
          <a:p>
            <a:pPr marL="0" indent="0">
              <a:buNone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20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C-Style Strings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An array of characters, terminated with the </a:t>
            </a:r>
            <a:r>
              <a:rPr lang="en-US" sz="3200" b="1" dirty="0"/>
              <a:t>null character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'\0'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dirty="0"/>
              <a:t>– and different from a normal character array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Declaring and initializing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name[]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"Jackson"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array size 8</a:t>
            </a:r>
          </a:p>
          <a:p>
            <a:pPr marL="0" indent="0">
              <a:buNone/>
            </a:pPr>
            <a:r>
              <a:rPr lang="en-US" sz="3200" dirty="0"/>
              <a:t>or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name[8]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"Jackson"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7 characters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Last character stored is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'\0'</a:t>
            </a:r>
            <a:r>
              <a:rPr lang="en-US" sz="3200" dirty="0"/>
              <a:t> to denote the end of the string in a character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8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and Writing Character Arrays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956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Display a string stored in a character array: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name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Alternatively use a loop to display all characters: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while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(name[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 !=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'\0'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name[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070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and Writing Character Arrays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3349"/>
          </a:xfrm>
        </p:spPr>
        <p:txBody>
          <a:bodyPr>
            <a:normAutofit fontScale="4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7000" dirty="0"/>
              <a:t>You can read a string into the array variable </a:t>
            </a:r>
            <a:r>
              <a:rPr lang="en-US" sz="7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flower</a:t>
            </a:r>
            <a:r>
              <a:rPr lang="en-US" sz="7000" dirty="0"/>
              <a:t> by: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5000" dirty="0">
                <a:solidFill>
                  <a:srgbClr val="0000FF"/>
                </a:solidFill>
                <a:latin typeface="Consolas" panose="020B0609020204030204" pitchFamily="49" charset="0"/>
              </a:rPr>
              <a:t>	char</a:t>
            </a: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 flower[10];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	cin </a:t>
            </a:r>
            <a:r>
              <a:rPr lang="en-US" sz="50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 flower;</a:t>
            </a:r>
            <a:endParaRPr lang="en-US" sz="5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7000" dirty="0"/>
              <a:t>Or alternatively use a loop: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 j = 0; </a:t>
            </a:r>
            <a:r>
              <a:rPr lang="en-US" sz="50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5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5000" dirty="0" err="1">
                <a:solidFill>
                  <a:srgbClr val="000000"/>
                </a:solidFill>
                <a:latin typeface="Consolas" panose="020B0609020204030204" pitchFamily="49" charset="0"/>
              </a:rPr>
              <a:t>cin.get</a:t>
            </a: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(c);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rgbClr val="0000FF"/>
                </a:solidFill>
                <a:latin typeface="Consolas" panose="020B0609020204030204" pitchFamily="49" charset="0"/>
              </a:rPr>
              <a:t>	while</a:t>
            </a: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 (c != </a:t>
            </a:r>
            <a:r>
              <a:rPr lang="en-US" sz="5000" dirty="0">
                <a:solidFill>
                  <a:srgbClr val="A31515"/>
                </a:solidFill>
                <a:latin typeface="Consolas" panose="020B0609020204030204" pitchFamily="49" charset="0"/>
              </a:rPr>
              <a:t>'\n'</a:t>
            </a: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j &lt; 9)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		flower[j] = c;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50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5000" dirty="0" err="1">
                <a:solidFill>
                  <a:srgbClr val="000000"/>
                </a:solidFill>
                <a:latin typeface="Consolas" panose="020B0609020204030204" pitchFamily="49" charset="0"/>
              </a:rPr>
              <a:t>cin.get</a:t>
            </a: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(c);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5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	flower[j] = </a:t>
            </a:r>
            <a:r>
              <a:rPr lang="en-US" sz="5000" dirty="0">
                <a:solidFill>
                  <a:srgbClr val="A31515"/>
                </a:solidFill>
                <a:latin typeface="Consolas" panose="020B0609020204030204" pitchFamily="49" charset="0"/>
              </a:rPr>
              <a:t>'\0'</a:t>
            </a:r>
            <a:r>
              <a:rPr lang="en-US" sz="50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5000" dirty="0">
                <a:solidFill>
                  <a:srgbClr val="008000"/>
                </a:solidFill>
                <a:latin typeface="Consolas" panose="020B0609020204030204" pitchFamily="49" charset="0"/>
              </a:rPr>
              <a:t>// do not forget to terminate it</a:t>
            </a:r>
            <a:endParaRPr lang="bg-BG" sz="5000" dirty="0">
              <a:solidFill>
                <a:srgbClr val="008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228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Unterminated Character Arrays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5645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Character arrays not containing the null terminator </a:t>
            </a:r>
            <a:r>
              <a:rPr lang="en-US" sz="3200" b="1" dirty="0"/>
              <a:t>'\0'</a:t>
            </a:r>
            <a:r>
              <a:rPr lang="en-US" sz="3200" dirty="0"/>
              <a:t> are very dangerous:</a:t>
            </a:r>
          </a:p>
          <a:p>
            <a:pPr marL="0" indent="0">
              <a:buNone/>
            </a:pPr>
            <a:r>
              <a:rPr lang="it-IT" sz="2400" dirty="0">
                <a:solidFill>
                  <a:srgbClr val="0000FF"/>
                </a:solidFill>
                <a:latin typeface="Consolas" panose="020B0609020204030204" pitchFamily="49" charset="0"/>
              </a:rPr>
              <a:t>	char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 a[] = { </a:t>
            </a:r>
            <a:r>
              <a:rPr lang="it-IT" sz="2400" dirty="0">
                <a:solidFill>
                  <a:srgbClr val="A31515"/>
                </a:solidFill>
                <a:latin typeface="Consolas" panose="020B0609020204030204" pitchFamily="49" charset="0"/>
              </a:rPr>
              <a:t>'h'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it-IT" sz="2400" dirty="0">
                <a:solidFill>
                  <a:srgbClr val="A31515"/>
                </a:solidFill>
                <a:latin typeface="Consolas" panose="020B0609020204030204" pitchFamily="49" charset="0"/>
              </a:rPr>
              <a:t>'e'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it-IT" sz="2400" dirty="0">
                <a:solidFill>
                  <a:srgbClr val="A31515"/>
                </a:solidFill>
                <a:latin typeface="Consolas" panose="020B0609020204030204" pitchFamily="49" charset="0"/>
              </a:rPr>
              <a:t>'l'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it-IT" sz="2400" dirty="0">
                <a:solidFill>
                  <a:srgbClr val="A31515"/>
                </a:solidFill>
                <a:latin typeface="Consolas" panose="020B0609020204030204" pitchFamily="49" charset="0"/>
              </a:rPr>
              <a:t>'l'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it-IT" sz="2400" dirty="0">
                <a:solidFill>
                  <a:srgbClr val="A31515"/>
                </a:solidFill>
                <a:latin typeface="Consolas" panose="020B0609020204030204" pitchFamily="49" charset="0"/>
              </a:rPr>
              <a:t>'o'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hello&amp;*!%#$@&amp;#%^@%&amp;#</a:t>
            </a:r>
            <a:endParaRPr lang="en-US" sz="2400" dirty="0"/>
          </a:p>
          <a:p>
            <a:pPr>
              <a:spcBef>
                <a:spcPts val="2400"/>
              </a:spcBef>
              <a:buFont typeface="Wingdings" panose="05000000000000000000" pitchFamily="2" charset="2"/>
              <a:buChar char="§"/>
            </a:pPr>
            <a:r>
              <a:rPr lang="en-US" sz="3200" dirty="0"/>
              <a:t>A terminated C-style string is handled correctly: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char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b[]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"hello"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it-IT" sz="2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it-IT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 a[] = { </a:t>
            </a:r>
            <a:r>
              <a:rPr lang="it-IT" sz="2400" dirty="0">
                <a:solidFill>
                  <a:srgbClr val="A31515"/>
                </a:solidFill>
                <a:latin typeface="Consolas" panose="020B0609020204030204" pitchFamily="49" charset="0"/>
              </a:rPr>
              <a:t>'h'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it-IT" sz="2400" dirty="0">
                <a:solidFill>
                  <a:srgbClr val="A31515"/>
                </a:solidFill>
                <a:latin typeface="Consolas" panose="020B0609020204030204" pitchFamily="49" charset="0"/>
              </a:rPr>
              <a:t>'e'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it-IT" sz="2400" dirty="0">
                <a:solidFill>
                  <a:srgbClr val="A31515"/>
                </a:solidFill>
                <a:latin typeface="Consolas" panose="020B0609020204030204" pitchFamily="49" charset="0"/>
              </a:rPr>
              <a:t>'l'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it-IT" sz="2400" dirty="0">
                <a:solidFill>
                  <a:srgbClr val="A31515"/>
                </a:solidFill>
                <a:latin typeface="Consolas" panose="020B0609020204030204" pitchFamily="49" charset="0"/>
              </a:rPr>
              <a:t>'l'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it-IT" sz="2400" dirty="0">
                <a:solidFill>
                  <a:srgbClr val="A31515"/>
                </a:solidFill>
                <a:latin typeface="Consolas" panose="020B0609020204030204" pitchFamily="49" charset="0"/>
              </a:rPr>
              <a:t>'o’, ‘\0’</a:t>
            </a:r>
            <a:r>
              <a:rPr lang="it-IT" sz="24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b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hello</a:t>
            </a:r>
            <a:endParaRPr lang="bg-BG" sz="2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bg-BG" sz="2400">
                <a:solidFill>
                  <a:srgbClr val="000000"/>
                </a:solidFill>
                <a:latin typeface="Consolas" panose="020B0609020204030204" pitchFamily="49" charset="0"/>
              </a:rPr>
              <a:t>а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hello</a:t>
            </a: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58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for Character Arrays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4749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Include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cstring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3200" dirty="0"/>
              <a:t> library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Return the length of a character array (aka C-style string):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strlen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(name);</a:t>
            </a:r>
            <a:endParaRPr lang="en-US" sz="2800" dirty="0"/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3200" dirty="0"/>
              <a:t>Copy contents of one char array into another: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strcpy(flower,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"Rose"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OK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8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strcpy(flower,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"Chrysanthemum"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string is too long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56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Strings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C++ string object is an instance of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3200" b="1" dirty="0"/>
              <a:t> </a:t>
            </a:r>
            <a:r>
              <a:rPr lang="en-US" sz="3200" dirty="0"/>
              <a:t>class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Provides safe and easy-to-use string operations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Must include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&lt;string&gt;</a:t>
            </a:r>
            <a:r>
              <a:rPr lang="en-US" sz="3200" dirty="0"/>
              <a:t> library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0" indent="0">
              <a:buNone/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	string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name =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"Jane"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"Hello 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name </a:t>
            </a:r>
            <a:r>
              <a:rPr lang="en-US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name.length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23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C-Style vs C++ Strings</a:t>
            </a:r>
            <a:endParaRPr lang="bg-BG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269368"/>
              </p:ext>
            </p:extLst>
          </p:nvPr>
        </p:nvGraphicFramePr>
        <p:xfrm>
          <a:off x="1096963" y="1846260"/>
          <a:ext cx="10058400" cy="4255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9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6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587">
                <a:tc>
                  <a:txBody>
                    <a:bodyPr/>
                    <a:lstStyle/>
                    <a:p>
                      <a:r>
                        <a:rPr lang="en-US" sz="2400" dirty="0"/>
                        <a:t>Operation</a:t>
                      </a:r>
                      <a:endParaRPr lang="bg-B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C-Style Strings</a:t>
                      </a:r>
                      <a:endParaRPr lang="bg-B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C++ Strings</a:t>
                      </a:r>
                      <a:endParaRPr lang="bg-B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333">
                <a:tc>
                  <a:txBody>
                    <a:bodyPr/>
                    <a:lstStyle/>
                    <a:p>
                      <a:r>
                        <a:rPr lang="en-US" sz="2000" dirty="0"/>
                        <a:t>Library</a:t>
                      </a:r>
                      <a:endParaRPr lang="bg-B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#include &lt;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cstring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  <a:endParaRPr lang="bg-BG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#include &lt;string&gt;</a:t>
                      </a:r>
                      <a:endParaRPr lang="bg-BG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333">
                <a:tc>
                  <a:txBody>
                    <a:bodyPr/>
                    <a:lstStyle/>
                    <a:p>
                      <a:r>
                        <a:rPr lang="en-US" sz="2000" dirty="0"/>
                        <a:t>Declaration</a:t>
                      </a:r>
                      <a:endParaRPr lang="bg-B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 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[10];</a:t>
                      </a:r>
                      <a:endParaRPr lang="bg-BG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 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bg-BG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1078">
                <a:tc>
                  <a:txBody>
                    <a:bodyPr/>
                    <a:lstStyle/>
                    <a:p>
                      <a:r>
                        <a:rPr lang="en-US" sz="2000" dirty="0"/>
                        <a:t>Initialization</a:t>
                      </a:r>
                      <a:endParaRPr lang="bg-B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char str1[4] = "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char str2[] = "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";</a:t>
                      </a:r>
                    </a:p>
                    <a:p>
                      <a:endParaRPr lang="bg-BG" sz="18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char str3[] = {'O','K','\0'};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char str3[] = "OK";</a:t>
                      </a:r>
                      <a:endParaRPr lang="bg-BG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string str1("</a:t>
                      </a:r>
                      <a:r>
                        <a:rPr lang="en-US" sz="18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Callme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!");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string str2 = "Hi!";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string str3(10, 'x');</a:t>
                      </a:r>
                      <a:endParaRPr lang="bg-BG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222">
                <a:tc>
                  <a:txBody>
                    <a:bodyPr/>
                    <a:lstStyle/>
                    <a:p>
                      <a:r>
                        <a:rPr lang="en-US" sz="2000" dirty="0"/>
                        <a:t>Assignment</a:t>
                      </a:r>
                      <a:endParaRPr lang="bg-B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 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[10]; </a:t>
                      </a:r>
                    </a:p>
                    <a:p>
                      <a:r>
                        <a:rPr lang="en-US" sz="1800" b="1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"Hello!"; //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WRONG!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"new 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";</a:t>
                      </a:r>
                      <a:endParaRPr lang="bg-BG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222">
                <a:tc>
                  <a:txBody>
                    <a:bodyPr/>
                    <a:lstStyle/>
                    <a:p>
                      <a:r>
                        <a:rPr lang="en-US" sz="2000" dirty="0"/>
                        <a:t>Concatenation</a:t>
                      </a:r>
                      <a:endParaRPr lang="bg-B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strcat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(str1, str2); 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strcpy(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strcat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(str1, str2));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str1 += str2;</a:t>
                      </a:r>
                    </a:p>
                    <a:p>
                      <a:r>
                        <a:rPr lang="nb-NO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 = str1 + str2;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63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C-Style vs C++ Strings (continued)</a:t>
            </a:r>
            <a:endParaRPr lang="bg-BG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9759082"/>
              </p:ext>
            </p:extLst>
          </p:nvPr>
        </p:nvGraphicFramePr>
        <p:xfrm>
          <a:off x="1096963" y="1846260"/>
          <a:ext cx="10058400" cy="4413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9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2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3986">
                <a:tc>
                  <a:txBody>
                    <a:bodyPr/>
                    <a:lstStyle/>
                    <a:p>
                      <a:r>
                        <a:rPr lang="en-US" sz="2400" dirty="0"/>
                        <a:t>Operation</a:t>
                      </a:r>
                      <a:endParaRPr lang="bg-B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C-Style Strings</a:t>
                      </a:r>
                      <a:endParaRPr lang="bg-BG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C++ Strings</a:t>
                      </a:r>
                      <a:endParaRPr lang="bg-B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7972">
                <a:tc>
                  <a:txBody>
                    <a:bodyPr/>
                    <a:lstStyle/>
                    <a:p>
                      <a:r>
                        <a:rPr lang="en-US" dirty="0"/>
                        <a:t>Copying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 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[20]; </a:t>
                      </a:r>
                    </a:p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strcpy(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"Hello!");</a:t>
                      </a:r>
                    </a:p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strcpy(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otherString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 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"Hello";</a:t>
                      </a:r>
                    </a:p>
                    <a:p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otherString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237">
                <a:tc>
                  <a:txBody>
                    <a:bodyPr/>
                    <a:lstStyle/>
                    <a:p>
                      <a:r>
                        <a:rPr lang="en-US" dirty="0"/>
                        <a:t>Accessing a single 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[index]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[index]</a:t>
                      </a:r>
                    </a:p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str.at(index)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5146">
                <a:tc>
                  <a:txBody>
                    <a:bodyPr/>
                    <a:lstStyle/>
                    <a:p>
                      <a:r>
                        <a:rPr lang="en-US" dirty="0"/>
                        <a:t>Comparison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(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strcmp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(str1, str2) &lt; 0)</a:t>
                      </a:r>
                    </a:p>
                    <a:p>
                      <a:r>
                        <a:rPr lang="en-US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cout &lt;&lt; "str1";</a:t>
                      </a:r>
                    </a:p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(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strcmp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(str1, str2) == 0)</a:t>
                      </a:r>
                    </a:p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cout &lt;&lt; "Equal";</a:t>
                      </a:r>
                    </a:p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(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strcmp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(str1, str2) &gt; 0)         </a:t>
                      </a:r>
                    </a:p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cout &lt;&lt; "str2";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(str1 &lt; str2)</a:t>
                      </a:r>
                    </a:p>
                    <a:p>
                      <a:r>
                        <a:rPr lang="en-US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cout &lt;&lt; "str1";</a:t>
                      </a:r>
                    </a:p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(str1 == str2)</a:t>
                      </a:r>
                    </a:p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cout &lt;&lt; "Equal";</a:t>
                      </a:r>
                    </a:p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 (str1 &gt; str2)</a:t>
                      </a:r>
                    </a:p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cout &lt;&lt; "str2";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237">
                <a:tc>
                  <a:txBody>
                    <a:bodyPr/>
                    <a:lstStyle/>
                    <a:p>
                      <a:r>
                        <a:rPr lang="en-US" dirty="0"/>
                        <a:t>Finding the length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strlen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str.length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01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bg-BG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97280" y="1845734"/>
            <a:ext cx="8952155" cy="4023360"/>
          </a:xfrm>
        </p:spPr>
        <p:txBody>
          <a:bodyPr>
            <a:normAutofit/>
          </a:bodyPr>
          <a:lstStyle/>
          <a:p>
            <a:endParaRPr lang="en-US" sz="9600" dirty="0"/>
          </a:p>
          <a:p>
            <a:pPr algn="ctr"/>
            <a:r>
              <a:rPr lang="en-US" sz="9600" dirty="0"/>
              <a:t>Q </a:t>
            </a:r>
            <a:r>
              <a:rPr lang="en-US" sz="6000" dirty="0"/>
              <a:t>&amp;</a:t>
            </a:r>
            <a:r>
              <a:rPr lang="en-US" sz="9600" dirty="0"/>
              <a:t> A</a:t>
            </a:r>
            <a:endParaRPr lang="bg-BG" sz="9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24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1293</TotalTime>
  <Words>1338</Words>
  <Application>Microsoft Office PowerPoint</Application>
  <PresentationFormat>Widescreen</PresentationFormat>
  <Paragraphs>237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Calibri Light</vt:lpstr>
      <vt:lpstr>Consolas</vt:lpstr>
      <vt:lpstr>Courier New</vt:lpstr>
      <vt:lpstr>Wingdings</vt:lpstr>
      <vt:lpstr>Retrospect</vt:lpstr>
      <vt:lpstr>Strings</vt:lpstr>
      <vt:lpstr>Is This Correct?</vt:lpstr>
      <vt:lpstr>Is This Correct?</vt:lpstr>
      <vt:lpstr>Is This Correct?</vt:lpstr>
      <vt:lpstr>Is This Correct?</vt:lpstr>
      <vt:lpstr>What Will Be Printed?</vt:lpstr>
      <vt:lpstr>Is This Correct? What Will Be Printed?</vt:lpstr>
      <vt:lpstr>What Will Be the Result?</vt:lpstr>
      <vt:lpstr>Is This Correct?</vt:lpstr>
      <vt:lpstr>Back To the Lecture …</vt:lpstr>
      <vt:lpstr>Lecture Contents</vt:lpstr>
      <vt:lpstr>C-Style Strings</vt:lpstr>
      <vt:lpstr>Reading and Writing Character Arrays</vt:lpstr>
      <vt:lpstr>Reading and Writing Character Arrays (continued)</vt:lpstr>
      <vt:lpstr>Unterminated Character Arrays</vt:lpstr>
      <vt:lpstr>Functions for Character Arrays</vt:lpstr>
      <vt:lpstr>C++ Strings</vt:lpstr>
      <vt:lpstr>C-Style vs C++ Strings</vt:lpstr>
      <vt:lpstr>C-Style vs C++ Strings (continued)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405</cp:revision>
  <dcterms:created xsi:type="dcterms:W3CDTF">2016-08-30T09:20:13Z</dcterms:created>
  <dcterms:modified xsi:type="dcterms:W3CDTF">2025-08-24T11:52:07Z</dcterms:modified>
</cp:coreProperties>
</file>