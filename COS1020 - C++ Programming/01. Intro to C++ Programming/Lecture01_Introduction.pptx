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38" r:id="rId1"/>
  </p:sldMasterIdLst>
  <p:notesMasterIdLst>
    <p:notesMasterId r:id="rId33"/>
  </p:notesMasterIdLst>
  <p:sldIdLst>
    <p:sldId id="281" r:id="rId2"/>
    <p:sldId id="282" r:id="rId3"/>
    <p:sldId id="283" r:id="rId4"/>
    <p:sldId id="287" r:id="rId5"/>
    <p:sldId id="288" r:id="rId6"/>
    <p:sldId id="289" r:id="rId7"/>
    <p:sldId id="294" r:id="rId8"/>
    <p:sldId id="298" r:id="rId9"/>
    <p:sldId id="295" r:id="rId10"/>
    <p:sldId id="299" r:id="rId11"/>
    <p:sldId id="308" r:id="rId12"/>
    <p:sldId id="307" r:id="rId13"/>
    <p:sldId id="309" r:id="rId14"/>
    <p:sldId id="310" r:id="rId15"/>
    <p:sldId id="313" r:id="rId16"/>
    <p:sldId id="315" r:id="rId17"/>
    <p:sldId id="314" r:id="rId18"/>
    <p:sldId id="290" r:id="rId19"/>
    <p:sldId id="291" r:id="rId20"/>
    <p:sldId id="292" r:id="rId21"/>
    <p:sldId id="293" r:id="rId22"/>
    <p:sldId id="306" r:id="rId23"/>
    <p:sldId id="300" r:id="rId24"/>
    <p:sldId id="301" r:id="rId25"/>
    <p:sldId id="302" r:id="rId26"/>
    <p:sldId id="303" r:id="rId27"/>
    <p:sldId id="304" r:id="rId28"/>
    <p:sldId id="305" r:id="rId29"/>
    <p:sldId id="319" r:id="rId30"/>
    <p:sldId id="316" r:id="rId31"/>
    <p:sldId id="31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E25B520-4287-487F-B87C-7F7D1A17DC45}">
          <p14:sldIdLst>
            <p14:sldId id="281"/>
            <p14:sldId id="282"/>
            <p14:sldId id="283"/>
            <p14:sldId id="287"/>
            <p14:sldId id="288"/>
            <p14:sldId id="289"/>
            <p14:sldId id="294"/>
            <p14:sldId id="298"/>
            <p14:sldId id="295"/>
            <p14:sldId id="299"/>
            <p14:sldId id="308"/>
            <p14:sldId id="307"/>
            <p14:sldId id="309"/>
            <p14:sldId id="310"/>
            <p14:sldId id="313"/>
            <p14:sldId id="315"/>
            <p14:sldId id="314"/>
            <p14:sldId id="290"/>
            <p14:sldId id="291"/>
            <p14:sldId id="292"/>
            <p14:sldId id="293"/>
            <p14:sldId id="306"/>
            <p14:sldId id="300"/>
            <p14:sldId id="301"/>
            <p14:sldId id="302"/>
            <p14:sldId id="303"/>
            <p14:sldId id="304"/>
            <p14:sldId id="305"/>
            <p14:sldId id="319"/>
            <p14:sldId id="316"/>
            <p14:sldId id="317"/>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0" autoAdjust="0"/>
    <p:restoredTop sz="94674" autoAdjust="0"/>
  </p:normalViewPr>
  <p:slideViewPr>
    <p:cSldViewPr snapToGrid="0">
      <p:cViewPr varScale="1">
        <p:scale>
          <a:sx n="78" d="100"/>
          <a:sy n="78" d="100"/>
        </p:scale>
        <p:origin x="854"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6" d="100"/>
          <a:sy n="86" d="100"/>
        </p:scale>
        <p:origin x="3144"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62BCD8-DC8B-4E4A-9B40-F477CC878439}" type="datetimeFigureOut">
              <a:rPr lang="en-US" smtClean="0"/>
              <a:t>8/24/2025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CAA3A9-E441-4BC6-80B0-357EE149B205}" type="slidenum">
              <a:rPr lang="en-US" smtClean="0"/>
              <a:t>‹#›</a:t>
            </a:fld>
            <a:endParaRPr lang="en-US"/>
          </a:p>
        </p:txBody>
      </p:sp>
    </p:spTree>
    <p:extLst>
      <p:ext uri="{BB962C8B-B14F-4D97-AF65-F5344CB8AC3E}">
        <p14:creationId xmlns:p14="http://schemas.microsoft.com/office/powerpoint/2010/main" val="2902663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EDF588-0E65-402C-A793-16E0D2ECAA48}" type="datetime1">
              <a:rPr lang="en-US" smtClean="0"/>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C20813-E79E-4637-B0DD-0EBBF6872E5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7984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3EE1C6-3CA3-41B1-A6D0-C44E4BC7ACC0}" type="datetime1">
              <a:rPr lang="en-US" smtClean="0"/>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2886793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04C14B-91C6-4886-AADB-CB635E47760F}" type="datetime1">
              <a:rPr lang="en-US" smtClean="0"/>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C20813-E79E-4637-B0DD-0EBBF6872E5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3292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81507AF-1767-4BF4-A25A-D8AE47393577}" type="datetime1">
              <a:rPr lang="en-US" smtClean="0"/>
              <a:t>8/24/2025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399091907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75E320-A9F7-4C71-A5DC-9BB9B8110195}" type="datetime1">
              <a:rPr lang="en-US" smtClean="0"/>
              <a:t>8/24/2025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77663989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66D098-881F-47B3-9FD2-4A7A0B87D037}" type="datetime1">
              <a:rPr lang="en-US" smtClean="0"/>
              <a:t>8/24/2025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705221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A9EB7B2-5A60-4FFD-A166-CE1849FA023E}" type="datetime1">
              <a:rPr lang="en-US" smtClean="0"/>
              <a:t>8/24/2025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1800067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8BCFAB1-EAD0-44BA-92C4-C758F81FD67F}" type="datetime1">
              <a:rPr lang="en-US" smtClean="0"/>
              <a:t>8/24/2025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3C20813-E79E-4637-B0DD-0EBBF6872E51}" type="slidenum">
              <a:rPr lang="en-US" smtClean="0"/>
              <a:t>‹#›</a:t>
            </a:fld>
            <a:endParaRPr lang="en-US"/>
          </a:p>
        </p:txBody>
      </p:sp>
    </p:spTree>
    <p:extLst>
      <p:ext uri="{BB962C8B-B14F-4D97-AF65-F5344CB8AC3E}">
        <p14:creationId xmlns:p14="http://schemas.microsoft.com/office/powerpoint/2010/main" val="156021395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F87054-7BF2-4CC3-8073-237AEDCFE19E}" type="datetime1">
              <a:rPr lang="en-US" smtClean="0"/>
              <a:t>8/24/2025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1537588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A8DACC-C1E5-44C5-9CEA-A1C49DFCD750}" type="datetime1">
              <a:rPr lang="en-US" smtClean="0"/>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3080946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5412D7-194C-44A6-8DE3-810611688ABF}" type="datetime1">
              <a:rPr lang="en-US" smtClean="0"/>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1181152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580B9AF-E85D-4F9C-8FC5-BD16A590FCDC}" type="datetime1">
              <a:rPr lang="en-US" smtClean="0"/>
              <a:t>8/24/2025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3C20813-E79E-4637-B0DD-0EBBF6872E5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4841328"/>
      </p:ext>
    </p:extLst>
  </p:cSld>
  <p:clrMap bg1="lt1" tx1="dk1" bg2="lt2" tx2="dk2" accent1="accent1" accent2="accent2" accent3="accent3" accent4="accent4" accent5="accent5" accent6="accent6" hlink="hlink" folHlink="folHlink"/>
  <p:sldLayoutIdLst>
    <p:sldLayoutId id="2147484139" r:id="rId1"/>
    <p:sldLayoutId id="2147484140" r:id="rId2"/>
    <p:sldLayoutId id="2147484141" r:id="rId3"/>
    <p:sldLayoutId id="2147484142" r:id="rId4"/>
    <p:sldLayoutId id="2147484143" r:id="rId5"/>
    <p:sldLayoutId id="2147484144" r:id="rId6"/>
    <p:sldLayoutId id="2147484145" r:id="rId7"/>
    <p:sldLayoutId id="2147484146" r:id="rId8"/>
    <p:sldLayoutId id="2147484147" r:id="rId9"/>
    <p:sldLayoutId id="2147484148" r:id="rId10"/>
    <p:sldLayoutId id="2147484149"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Introduction to Computers, Problem Solving and Programming</a:t>
            </a:r>
            <a:endParaRPr lang="bg-BG" dirty="0"/>
          </a:p>
        </p:txBody>
      </p:sp>
      <p:sp>
        <p:nvSpPr>
          <p:cNvPr id="3" name="Subtitle 2"/>
          <p:cNvSpPr>
            <a:spLocks noGrp="1"/>
          </p:cNvSpPr>
          <p:nvPr>
            <p:ph type="subTitle" idx="1"/>
          </p:nvPr>
        </p:nvSpPr>
        <p:spPr>
          <a:xfrm>
            <a:off x="1100051" y="4455620"/>
            <a:ext cx="10058400" cy="1792780"/>
          </a:xfrm>
        </p:spPr>
        <p:txBody>
          <a:bodyPr>
            <a:normAutofit/>
          </a:bodyPr>
          <a:lstStyle/>
          <a:p>
            <a:r>
              <a:rPr lang="en-US" dirty="0"/>
              <a:t>COS 1020 C++ Programming</a:t>
            </a:r>
          </a:p>
          <a:p>
            <a:r>
              <a:rPr lang="en-US" dirty="0"/>
              <a:t>AUBG COS Department</a:t>
            </a:r>
          </a:p>
          <a:p>
            <a:r>
              <a:rPr lang="en-US" dirty="0"/>
              <a:t>Based on chapter 1 – problem solving, abstraction and design using C++, Friedman &amp; Koffman</a:t>
            </a:r>
            <a:endParaRPr lang="bg-BG" dirty="0"/>
          </a:p>
        </p:txBody>
      </p:sp>
      <p:sp>
        <p:nvSpPr>
          <p:cNvPr id="4" name="Slide Number Placeholder 3"/>
          <p:cNvSpPr>
            <a:spLocks noGrp="1"/>
          </p:cNvSpPr>
          <p:nvPr>
            <p:ph type="sldNum" sz="quarter" idx="12"/>
          </p:nvPr>
        </p:nvSpPr>
        <p:spPr/>
        <p:txBody>
          <a:bodyPr/>
          <a:lstStyle/>
          <a:p>
            <a:fld id="{43C20813-E79E-4637-B0DD-0EBBF6872E51}" type="slidenum">
              <a:rPr lang="en-US" smtClean="0"/>
              <a:t>1</a:t>
            </a:fld>
            <a:endParaRPr lang="en-US"/>
          </a:p>
        </p:txBody>
      </p:sp>
    </p:spTree>
    <p:extLst>
      <p:ext uri="{BB962C8B-B14F-4D97-AF65-F5344CB8AC3E}">
        <p14:creationId xmlns:p14="http://schemas.microsoft.com/office/powerpoint/2010/main" val="2332912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Contents</a:t>
            </a:r>
            <a:endParaRPr lang="bg-BG" dirty="0"/>
          </a:p>
        </p:txBody>
      </p:sp>
      <p:sp>
        <p:nvSpPr>
          <p:cNvPr id="3" name="Content Placeholder 2"/>
          <p:cNvSpPr>
            <a:spLocks noGrp="1"/>
          </p:cNvSpPr>
          <p:nvPr>
            <p:ph idx="1"/>
          </p:nvPr>
        </p:nvSpPr>
        <p:spPr/>
        <p:txBody>
          <a:bodyPr>
            <a:normAutofit/>
          </a:bodyPr>
          <a:lstStyle/>
          <a:p>
            <a:pPr marL="0" indent="0">
              <a:buNone/>
            </a:pPr>
            <a:r>
              <a:rPr lang="en-US" sz="3200" dirty="0"/>
              <a:t>1.1 Anatomy of Computers</a:t>
            </a:r>
          </a:p>
          <a:p>
            <a:pPr marL="0" indent="0">
              <a:buNone/>
            </a:pPr>
            <a:r>
              <a:rPr lang="en-US" sz="3200" dirty="0"/>
              <a:t>1.2 Processing a High-Level Language Program</a:t>
            </a:r>
          </a:p>
          <a:p>
            <a:pPr marL="0" indent="0">
              <a:buNone/>
            </a:pPr>
            <a:r>
              <a:rPr lang="en-US" sz="3200" dirty="0"/>
              <a:t>1.3 The Software Development Method</a:t>
            </a:r>
          </a:p>
          <a:p>
            <a:pPr marL="0" indent="0">
              <a:buNone/>
            </a:pPr>
            <a:r>
              <a:rPr lang="en-US" sz="3200" dirty="0"/>
              <a:t>1.4 Applying the Software Development Method</a:t>
            </a:r>
            <a:endParaRPr lang="bg-BG" sz="3200" dirty="0"/>
          </a:p>
        </p:txBody>
      </p:sp>
      <p:sp>
        <p:nvSpPr>
          <p:cNvPr id="4" name="Slide Number Placeholder 3"/>
          <p:cNvSpPr>
            <a:spLocks noGrp="1"/>
          </p:cNvSpPr>
          <p:nvPr>
            <p:ph type="sldNum" sz="quarter" idx="12"/>
          </p:nvPr>
        </p:nvSpPr>
        <p:spPr/>
        <p:txBody>
          <a:bodyPr/>
          <a:lstStyle/>
          <a:p>
            <a:fld id="{43C20813-E79E-4637-B0DD-0EBBF6872E51}" type="slidenum">
              <a:rPr lang="en-US" smtClean="0"/>
              <a:t>2</a:t>
            </a:fld>
            <a:endParaRPr lang="en-US"/>
          </a:p>
        </p:txBody>
      </p:sp>
    </p:spTree>
    <p:extLst>
      <p:ext uri="{BB962C8B-B14F-4D97-AF65-F5344CB8AC3E}">
        <p14:creationId xmlns:p14="http://schemas.microsoft.com/office/powerpoint/2010/main" val="2268202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Anatomy of Computers</a:t>
            </a:r>
            <a:endParaRPr lang="bg-BG"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3200" dirty="0"/>
              <a:t>Hardware – the physical components of a computer</a:t>
            </a:r>
            <a:endParaRPr lang="en-US" sz="3000" dirty="0"/>
          </a:p>
          <a:p>
            <a:pPr lvl="1">
              <a:buFont typeface="Wingdings" panose="05000000000000000000" pitchFamily="2" charset="2"/>
              <a:buChar char="§"/>
            </a:pPr>
            <a:r>
              <a:rPr lang="en-US" sz="3000" dirty="0"/>
              <a:t>CPU, Main Memory (RAM), Secondary Memory (Disk, CD)</a:t>
            </a:r>
          </a:p>
          <a:p>
            <a:pPr lvl="1">
              <a:buFont typeface="Wingdings" panose="05000000000000000000" pitchFamily="2" charset="2"/>
              <a:buChar char="§"/>
            </a:pPr>
            <a:r>
              <a:rPr lang="en-US" sz="3000" dirty="0"/>
              <a:t>Input Devices – Keyboard, Mouse</a:t>
            </a:r>
          </a:p>
          <a:p>
            <a:pPr lvl="1">
              <a:buFont typeface="Wingdings" panose="05000000000000000000" pitchFamily="2" charset="2"/>
              <a:buChar char="§"/>
            </a:pPr>
            <a:r>
              <a:rPr lang="en-US" sz="3000" dirty="0"/>
              <a:t>Output Devices – Monitor, Printer</a:t>
            </a:r>
          </a:p>
          <a:p>
            <a:pPr>
              <a:buFont typeface="Wingdings" panose="05000000000000000000" pitchFamily="2" charset="2"/>
              <a:buChar char="§"/>
            </a:pPr>
            <a:r>
              <a:rPr lang="en-US" sz="3200" dirty="0"/>
              <a:t>Software – the set of programs associated with a computer</a:t>
            </a:r>
          </a:p>
          <a:p>
            <a:pPr>
              <a:buFont typeface="Wingdings" panose="05000000000000000000" pitchFamily="2" charset="2"/>
              <a:buChar char="§"/>
            </a:pPr>
            <a:r>
              <a:rPr lang="en-US" sz="3200" dirty="0"/>
              <a:t>Program – the list of instructions that the computer uses to perform operations with the data</a:t>
            </a:r>
            <a:endParaRPr lang="bg-BG" sz="3200" dirty="0"/>
          </a:p>
        </p:txBody>
      </p:sp>
      <p:sp>
        <p:nvSpPr>
          <p:cNvPr id="4" name="Slide Number Placeholder 3"/>
          <p:cNvSpPr>
            <a:spLocks noGrp="1"/>
          </p:cNvSpPr>
          <p:nvPr>
            <p:ph type="sldNum" sz="quarter" idx="12"/>
          </p:nvPr>
        </p:nvSpPr>
        <p:spPr/>
        <p:txBody>
          <a:bodyPr/>
          <a:lstStyle/>
          <a:p>
            <a:fld id="{43C20813-E79E-4637-B0DD-0EBBF6872E51}" type="slidenum">
              <a:rPr lang="en-US" smtClean="0"/>
              <a:t>3</a:t>
            </a:fld>
            <a:endParaRPr lang="en-US"/>
          </a:p>
        </p:txBody>
      </p:sp>
    </p:spTree>
    <p:extLst>
      <p:ext uri="{BB962C8B-B14F-4D97-AF65-F5344CB8AC3E}">
        <p14:creationId xmlns:p14="http://schemas.microsoft.com/office/powerpoint/2010/main" val="2829997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Languages</a:t>
            </a:r>
            <a:endParaRPr lang="bg-BG" dirty="0"/>
          </a:p>
        </p:txBody>
      </p:sp>
      <p:sp>
        <p:nvSpPr>
          <p:cNvPr id="3" name="Content Placeholder 2"/>
          <p:cNvSpPr>
            <a:spLocks noGrp="1"/>
          </p:cNvSpPr>
          <p:nvPr>
            <p:ph idx="1"/>
          </p:nvPr>
        </p:nvSpPr>
        <p:spPr>
          <a:xfrm>
            <a:off x="1097280" y="1845733"/>
            <a:ext cx="10058400" cy="4429561"/>
          </a:xfrm>
        </p:spPr>
        <p:txBody>
          <a:bodyPr>
            <a:normAutofit fontScale="92500"/>
          </a:bodyPr>
          <a:lstStyle/>
          <a:p>
            <a:pPr>
              <a:buFont typeface="Wingdings" panose="05000000000000000000" pitchFamily="2" charset="2"/>
              <a:buChar char="§"/>
            </a:pPr>
            <a:r>
              <a:rPr lang="en-US" sz="3200" dirty="0"/>
              <a:t>Software instructions are written in a programming language</a:t>
            </a:r>
          </a:p>
          <a:p>
            <a:pPr>
              <a:buFont typeface="Wingdings" panose="05000000000000000000" pitchFamily="2" charset="2"/>
              <a:buChar char="§"/>
            </a:pPr>
            <a:r>
              <a:rPr lang="en-US" sz="3200" dirty="0"/>
              <a:t>Low-level languages – Machine language, Assembly language</a:t>
            </a:r>
          </a:p>
          <a:p>
            <a:pPr lvl="1">
              <a:buFont typeface="Wingdings" panose="05000000000000000000" pitchFamily="2" charset="2"/>
              <a:buChar char="§"/>
            </a:pPr>
            <a:r>
              <a:rPr lang="en-US" sz="3000" dirty="0"/>
              <a:t>Contain numbers and mnemonic codes</a:t>
            </a:r>
          </a:p>
          <a:p>
            <a:pPr lvl="1">
              <a:buFont typeface="Wingdings" panose="05000000000000000000" pitchFamily="2" charset="2"/>
              <a:buChar char="§"/>
            </a:pPr>
            <a:r>
              <a:rPr lang="en-US" sz="3000" dirty="0"/>
              <a:t>Directly understood by a computer</a:t>
            </a:r>
          </a:p>
          <a:p>
            <a:pPr lvl="1">
              <a:buFont typeface="Wingdings" panose="05000000000000000000" pitchFamily="2" charset="2"/>
              <a:buChar char="§"/>
            </a:pPr>
            <a:r>
              <a:rPr lang="en-US" sz="3000" dirty="0"/>
              <a:t>Not standardized – every CPU has a different machine language</a:t>
            </a:r>
          </a:p>
          <a:p>
            <a:pPr lvl="1">
              <a:buFont typeface="Wingdings" panose="05000000000000000000" pitchFamily="2" charset="2"/>
              <a:buChar char="§"/>
            </a:pPr>
            <a:r>
              <a:rPr lang="en-US" sz="3000" dirty="0"/>
              <a:t>Hard for humans to understand</a:t>
            </a:r>
          </a:p>
          <a:p>
            <a:pPr>
              <a:buFont typeface="Wingdings" panose="05000000000000000000" pitchFamily="2" charset="2"/>
              <a:buChar char="§"/>
            </a:pPr>
            <a:r>
              <a:rPr lang="en-US" sz="3200" dirty="0"/>
              <a:t>High-level languages – C, C++, C#, Java</a:t>
            </a:r>
          </a:p>
          <a:p>
            <a:pPr lvl="1">
              <a:buFont typeface="Wingdings" panose="05000000000000000000" pitchFamily="2" charset="2"/>
              <a:buChar char="§"/>
            </a:pPr>
            <a:r>
              <a:rPr lang="en-US" sz="3000" dirty="0"/>
              <a:t>Combine algebraic expressions and English words</a:t>
            </a:r>
          </a:p>
          <a:p>
            <a:pPr lvl="1">
              <a:buFont typeface="Wingdings" panose="05000000000000000000" pitchFamily="2" charset="2"/>
              <a:buChar char="§"/>
            </a:pPr>
            <a:r>
              <a:rPr lang="en-US" sz="3000" dirty="0"/>
              <a:t>Easy to understand</a:t>
            </a:r>
          </a:p>
        </p:txBody>
      </p:sp>
      <p:sp>
        <p:nvSpPr>
          <p:cNvPr id="4" name="Slide Number Placeholder 3"/>
          <p:cNvSpPr>
            <a:spLocks noGrp="1"/>
          </p:cNvSpPr>
          <p:nvPr>
            <p:ph type="sldNum" sz="quarter" idx="12"/>
          </p:nvPr>
        </p:nvSpPr>
        <p:spPr/>
        <p:txBody>
          <a:bodyPr/>
          <a:lstStyle/>
          <a:p>
            <a:fld id="{43C20813-E79E-4637-B0DD-0EBBF6872E51}" type="slidenum">
              <a:rPr lang="en-US" smtClean="0"/>
              <a:t>4</a:t>
            </a:fld>
            <a:endParaRPr lang="en-US"/>
          </a:p>
        </p:txBody>
      </p:sp>
    </p:spTree>
    <p:extLst>
      <p:ext uri="{BB962C8B-B14F-4D97-AF65-F5344CB8AC3E}">
        <p14:creationId xmlns:p14="http://schemas.microsoft.com/office/powerpoint/2010/main" val="654206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Program in Machine and Assembly Language</a:t>
            </a:r>
            <a:endParaRPr lang="bg-BG" dirty="0"/>
          </a:p>
        </p:txBody>
      </p:sp>
      <p:sp>
        <p:nvSpPr>
          <p:cNvPr id="4" name="Slide Number Placeholder 3"/>
          <p:cNvSpPr>
            <a:spLocks noGrp="1"/>
          </p:cNvSpPr>
          <p:nvPr>
            <p:ph type="sldNum" sz="quarter" idx="12"/>
          </p:nvPr>
        </p:nvSpPr>
        <p:spPr/>
        <p:txBody>
          <a:bodyPr/>
          <a:lstStyle/>
          <a:p>
            <a:fld id="{43C20813-E79E-4637-B0DD-0EBBF6872E51}" type="slidenum">
              <a:rPr lang="en-US" smtClean="0"/>
              <a:t>5</a:t>
            </a:fld>
            <a:endParaRPr lang="en-US"/>
          </a:p>
        </p:txBody>
      </p:sp>
      <p:pic>
        <p:nvPicPr>
          <p:cNvPr id="5" name="Picture 1027"/>
          <p:cNvPicPr>
            <a:picLocks noGrp="1" noChangeAspect="1" noChangeArrowheads="1"/>
          </p:cNvPicPr>
          <p:nvPr>
            <p:ph idx="1"/>
          </p:nvPr>
        </p:nvPicPr>
        <p:blipFill>
          <a:blip r:embed="rId2">
            <a:grayscl/>
            <a:extLst>
              <a:ext uri="{28A0092B-C50C-407E-A947-70E740481C1C}">
                <a14:useLocalDpi xmlns:a14="http://schemas.microsoft.com/office/drawing/2010/main" val="0"/>
              </a:ext>
            </a:extLst>
          </a:blip>
          <a:srcRect/>
          <a:stretch>
            <a:fillRect/>
          </a:stretch>
        </p:blipFill>
        <p:spPr bwMode="auto">
          <a:xfrm>
            <a:off x="1096963" y="2282719"/>
            <a:ext cx="10058400" cy="31498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8803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High-level Languages</a:t>
            </a:r>
            <a:endParaRPr lang="bg-BG" dirty="0"/>
          </a:p>
        </p:txBody>
      </p:sp>
      <p:sp>
        <p:nvSpPr>
          <p:cNvPr id="3" name="Content Placeholder 2"/>
          <p:cNvSpPr>
            <a:spLocks noGrp="1"/>
          </p:cNvSpPr>
          <p:nvPr>
            <p:ph idx="1"/>
          </p:nvPr>
        </p:nvSpPr>
        <p:spPr>
          <a:xfrm>
            <a:off x="1097280" y="1845734"/>
            <a:ext cx="10058400" cy="4348878"/>
          </a:xfrm>
        </p:spPr>
        <p:txBody>
          <a:bodyPr>
            <a:normAutofit/>
          </a:bodyPr>
          <a:lstStyle/>
          <a:p>
            <a:pPr>
              <a:buFont typeface="Wingdings" panose="05000000000000000000" pitchFamily="2" charset="2"/>
              <a:buChar char="§"/>
            </a:pPr>
            <a:r>
              <a:rPr lang="en-US" sz="3200" dirty="0"/>
              <a:t>The program fragment from the previous slide, written in a high-level language would be:</a:t>
            </a:r>
          </a:p>
          <a:p>
            <a:pPr>
              <a:buFont typeface="Wingdings" panose="05000000000000000000" pitchFamily="2" charset="2"/>
              <a:buChar char="§"/>
            </a:pPr>
            <a:endParaRPr lang="en-US" sz="1200" dirty="0"/>
          </a:p>
          <a:p>
            <a:pPr marL="201168" lvl="1" indent="0">
              <a:buNone/>
            </a:pPr>
            <a:r>
              <a:rPr lang="en-US" sz="2800" dirty="0">
                <a:latin typeface="Courier New" panose="02070309020205020404" pitchFamily="49" charset="0"/>
                <a:cs typeface="Courier New" panose="02070309020205020404" pitchFamily="49" charset="0"/>
              </a:rPr>
              <a:t>	</a:t>
            </a:r>
            <a:r>
              <a:rPr lang="en-US" sz="2800" dirty="0">
                <a:solidFill>
                  <a:srgbClr val="000000"/>
                </a:solidFill>
                <a:latin typeface="Consolas" panose="020B0609020204030204" pitchFamily="49" charset="0"/>
              </a:rPr>
              <a:t>a = a + b;</a:t>
            </a:r>
            <a:endParaRPr lang="en-US" sz="1200" dirty="0">
              <a:latin typeface="Courier New" panose="02070309020205020404" pitchFamily="49" charset="0"/>
              <a:cs typeface="Courier New" panose="02070309020205020404" pitchFamily="49" charset="0"/>
            </a:endParaRPr>
          </a:p>
          <a:p>
            <a:pPr>
              <a:buFont typeface="Wingdings" panose="05000000000000000000" pitchFamily="2" charset="2"/>
              <a:buChar char="§"/>
            </a:pPr>
            <a:r>
              <a:rPr lang="en-US" sz="3200" dirty="0"/>
              <a:t>Much more compact and readable than machine and assembly languages</a:t>
            </a:r>
          </a:p>
          <a:p>
            <a:pPr>
              <a:buFont typeface="Wingdings" panose="05000000000000000000" pitchFamily="2" charset="2"/>
              <a:buChar char="§"/>
            </a:pPr>
            <a:r>
              <a:rPr lang="en-US" sz="3200" dirty="0"/>
              <a:t>Must be translated into machine language in order to be executed</a:t>
            </a:r>
          </a:p>
          <a:p>
            <a:pPr>
              <a:buFont typeface="Wingdings" panose="05000000000000000000" pitchFamily="2" charset="2"/>
              <a:buChar char="§"/>
            </a:pPr>
            <a:endParaRPr lang="en-US" sz="2800" dirty="0"/>
          </a:p>
        </p:txBody>
      </p:sp>
      <p:sp>
        <p:nvSpPr>
          <p:cNvPr id="4" name="Slide Number Placeholder 3"/>
          <p:cNvSpPr>
            <a:spLocks noGrp="1"/>
          </p:cNvSpPr>
          <p:nvPr>
            <p:ph type="sldNum" sz="quarter" idx="12"/>
          </p:nvPr>
        </p:nvSpPr>
        <p:spPr/>
        <p:txBody>
          <a:bodyPr/>
          <a:lstStyle/>
          <a:p>
            <a:fld id="{43C20813-E79E-4637-B0DD-0EBBF6872E51}" type="slidenum">
              <a:rPr lang="en-US" smtClean="0"/>
              <a:t>6</a:t>
            </a:fld>
            <a:endParaRPr lang="en-US"/>
          </a:p>
        </p:txBody>
      </p:sp>
    </p:spTree>
    <p:extLst>
      <p:ext uri="{BB962C8B-B14F-4D97-AF65-F5344CB8AC3E}">
        <p14:creationId xmlns:p14="http://schemas.microsoft.com/office/powerpoint/2010/main" val="2572973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Processing a High-level Language Program (Part 1 of 2)</a:t>
            </a:r>
            <a:endParaRPr lang="bg-BG" dirty="0"/>
          </a:p>
        </p:txBody>
      </p:sp>
      <p:sp>
        <p:nvSpPr>
          <p:cNvPr id="3" name="Content Placeholder 2"/>
          <p:cNvSpPr>
            <a:spLocks noGrp="1"/>
          </p:cNvSpPr>
          <p:nvPr>
            <p:ph idx="1"/>
          </p:nvPr>
        </p:nvSpPr>
        <p:spPr>
          <a:xfrm>
            <a:off x="1097280" y="1845733"/>
            <a:ext cx="10058400" cy="4411631"/>
          </a:xfrm>
        </p:spPr>
        <p:txBody>
          <a:bodyPr>
            <a:normAutofit/>
          </a:bodyPr>
          <a:lstStyle/>
          <a:p>
            <a:pPr>
              <a:buFont typeface="Wingdings" panose="05000000000000000000" pitchFamily="2" charset="2"/>
              <a:buChar char="§"/>
            </a:pPr>
            <a:r>
              <a:rPr lang="en-US" sz="3200" dirty="0"/>
              <a:t>Computers do not understand programs written in high-level languages. To be executed, such programs must be translated into the target computer’s </a:t>
            </a:r>
            <a:r>
              <a:rPr lang="en-US" sz="3200" b="1" dirty="0"/>
              <a:t>machine language</a:t>
            </a:r>
          </a:p>
          <a:p>
            <a:pPr>
              <a:buFont typeface="Wingdings" panose="05000000000000000000" pitchFamily="2" charset="2"/>
              <a:buChar char="§"/>
            </a:pPr>
            <a:endParaRPr lang="en-US" b="1" dirty="0"/>
          </a:p>
          <a:p>
            <a:pPr>
              <a:buFont typeface="Wingdings" panose="05000000000000000000" pitchFamily="2" charset="2"/>
              <a:buChar char="§"/>
            </a:pPr>
            <a:r>
              <a:rPr lang="en-US" sz="3200" b="1" dirty="0"/>
              <a:t>Compiler</a:t>
            </a:r>
          </a:p>
          <a:p>
            <a:pPr lvl="1">
              <a:buFont typeface="Wingdings" panose="05000000000000000000" pitchFamily="2" charset="2"/>
              <a:buChar char="§"/>
            </a:pPr>
            <a:r>
              <a:rPr lang="en-US" sz="2800" dirty="0"/>
              <a:t>Takes a </a:t>
            </a:r>
            <a:r>
              <a:rPr lang="en-US" sz="2800" b="1" dirty="0"/>
              <a:t>source file</a:t>
            </a:r>
            <a:r>
              <a:rPr lang="en-US" sz="2800" dirty="0"/>
              <a:t>, containing the text of the program. Source code is usually entered by the developer through a text editor</a:t>
            </a:r>
          </a:p>
          <a:p>
            <a:pPr lvl="1">
              <a:buFont typeface="Wingdings" panose="05000000000000000000" pitchFamily="2" charset="2"/>
              <a:buChar char="§"/>
            </a:pPr>
            <a:r>
              <a:rPr lang="en-US" sz="2800" dirty="0"/>
              <a:t>Creates an </a:t>
            </a:r>
            <a:r>
              <a:rPr lang="en-US" sz="2800" b="1" dirty="0"/>
              <a:t>object file </a:t>
            </a:r>
            <a:r>
              <a:rPr lang="en-US" sz="2800" dirty="0"/>
              <a:t>with the machine language instructions that carry out the commands in the high-level source program</a:t>
            </a:r>
          </a:p>
          <a:p>
            <a:pPr lvl="1">
              <a:buFont typeface="Wingdings" panose="05000000000000000000" pitchFamily="2" charset="2"/>
              <a:buChar char="§"/>
            </a:pPr>
            <a:endParaRPr lang="bg-BG" sz="2800" dirty="0"/>
          </a:p>
        </p:txBody>
      </p:sp>
      <p:sp>
        <p:nvSpPr>
          <p:cNvPr id="4" name="Slide Number Placeholder 3"/>
          <p:cNvSpPr>
            <a:spLocks noGrp="1"/>
          </p:cNvSpPr>
          <p:nvPr>
            <p:ph type="sldNum" sz="quarter" idx="12"/>
          </p:nvPr>
        </p:nvSpPr>
        <p:spPr/>
        <p:txBody>
          <a:bodyPr/>
          <a:lstStyle/>
          <a:p>
            <a:fld id="{43C20813-E79E-4637-B0DD-0EBBF6872E51}" type="slidenum">
              <a:rPr lang="en-US" smtClean="0"/>
              <a:t>7</a:t>
            </a:fld>
            <a:endParaRPr lang="en-US"/>
          </a:p>
        </p:txBody>
      </p:sp>
    </p:spTree>
    <p:extLst>
      <p:ext uri="{BB962C8B-B14F-4D97-AF65-F5344CB8AC3E}">
        <p14:creationId xmlns:p14="http://schemas.microsoft.com/office/powerpoint/2010/main" val="2836456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Processing a High-level Language Program (Part 2 of 2)</a:t>
            </a:r>
            <a:endParaRPr lang="bg-BG"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3200" b="1" dirty="0"/>
              <a:t>Linker</a:t>
            </a:r>
          </a:p>
          <a:p>
            <a:pPr lvl="1">
              <a:buFont typeface="Wingdings" panose="05000000000000000000" pitchFamily="2" charset="2"/>
              <a:buChar char="§"/>
            </a:pPr>
            <a:r>
              <a:rPr lang="en-US" sz="3000" dirty="0"/>
              <a:t>Combines </a:t>
            </a:r>
            <a:r>
              <a:rPr lang="en-US" sz="3000" b="1" dirty="0"/>
              <a:t>object files </a:t>
            </a:r>
            <a:r>
              <a:rPr lang="en-US" sz="3000" dirty="0"/>
              <a:t>to create a </a:t>
            </a:r>
            <a:r>
              <a:rPr lang="en-US" sz="3000" b="1" dirty="0"/>
              <a:t>executable</a:t>
            </a:r>
            <a:r>
              <a:rPr lang="en-US" sz="3000" dirty="0"/>
              <a:t> program</a:t>
            </a:r>
          </a:p>
          <a:p>
            <a:pPr lvl="1">
              <a:buFont typeface="Wingdings" panose="05000000000000000000" pitchFamily="2" charset="2"/>
              <a:buChar char="§"/>
            </a:pPr>
            <a:r>
              <a:rPr lang="en-US" sz="3000" dirty="0"/>
              <a:t>The target program is saved on the disk and is ready to run</a:t>
            </a:r>
          </a:p>
          <a:p>
            <a:pPr lvl="1">
              <a:buFont typeface="Wingdings" panose="05000000000000000000" pitchFamily="2" charset="2"/>
              <a:buChar char="§"/>
            </a:pPr>
            <a:endParaRPr lang="en-US" sz="3000" dirty="0"/>
          </a:p>
          <a:p>
            <a:pPr>
              <a:buFont typeface="Wingdings" panose="05000000000000000000" pitchFamily="2" charset="2"/>
              <a:buChar char="§"/>
            </a:pPr>
            <a:r>
              <a:rPr lang="en-US" sz="3200" b="1" dirty="0"/>
              <a:t>Loader</a:t>
            </a:r>
          </a:p>
          <a:p>
            <a:pPr lvl="1">
              <a:buFont typeface="Wingdings" panose="05000000000000000000" pitchFamily="2" charset="2"/>
              <a:buChar char="§"/>
            </a:pPr>
            <a:r>
              <a:rPr lang="en-US" sz="3000" dirty="0"/>
              <a:t>Copies an </a:t>
            </a:r>
            <a:r>
              <a:rPr lang="en-US" sz="3000" b="1" dirty="0"/>
              <a:t>executable</a:t>
            </a:r>
            <a:r>
              <a:rPr lang="en-US" sz="3000" dirty="0"/>
              <a:t> machine language program into memory and starts its execution</a:t>
            </a:r>
            <a:endParaRPr lang="bg-BG" sz="3000" dirty="0"/>
          </a:p>
        </p:txBody>
      </p:sp>
      <p:sp>
        <p:nvSpPr>
          <p:cNvPr id="4" name="Slide Number Placeholder 3"/>
          <p:cNvSpPr>
            <a:spLocks noGrp="1"/>
          </p:cNvSpPr>
          <p:nvPr>
            <p:ph type="sldNum" sz="quarter" idx="12"/>
          </p:nvPr>
        </p:nvSpPr>
        <p:spPr/>
        <p:txBody>
          <a:bodyPr/>
          <a:lstStyle/>
          <a:p>
            <a:fld id="{43C20813-E79E-4637-B0DD-0EBBF6872E51}" type="slidenum">
              <a:rPr lang="en-US" smtClean="0"/>
              <a:t>8</a:t>
            </a:fld>
            <a:endParaRPr lang="en-US"/>
          </a:p>
        </p:txBody>
      </p:sp>
    </p:spTree>
    <p:extLst>
      <p:ext uri="{BB962C8B-B14F-4D97-AF65-F5344CB8AC3E}">
        <p14:creationId xmlns:p14="http://schemas.microsoft.com/office/powerpoint/2010/main" val="8435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57200" y="439270"/>
            <a:ext cx="3200400" cy="1951525"/>
          </a:xfrm>
        </p:spPr>
        <p:txBody>
          <a:bodyPr>
            <a:normAutofit fontScale="90000"/>
          </a:bodyPr>
          <a:lstStyle/>
          <a:p>
            <a:r>
              <a:rPr lang="en-US" dirty="0"/>
              <a:t>Preparing a </a:t>
            </a:r>
            <a:br>
              <a:rPr lang="en-US" dirty="0"/>
            </a:br>
            <a:r>
              <a:rPr lang="en-US" dirty="0"/>
              <a:t>High-level Language Program for Execution</a:t>
            </a:r>
            <a:endParaRPr lang="bg-BG" dirty="0"/>
          </a:p>
        </p:txBody>
      </p:sp>
      <p:pic>
        <p:nvPicPr>
          <p:cNvPr id="5" name="Content Placeholder 4" descr="fig01_11"/>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047128" y="32535"/>
            <a:ext cx="5898777" cy="67925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 name="Text Placeholder 8"/>
          <p:cNvSpPr>
            <a:spLocks noGrp="1"/>
          </p:cNvSpPr>
          <p:nvPr>
            <p:ph type="body" sz="half" idx="2"/>
          </p:nvPr>
        </p:nvSpPr>
        <p:spPr/>
        <p:txBody>
          <a:bodyPr>
            <a:normAutofit/>
          </a:bodyPr>
          <a:lstStyle/>
          <a:p>
            <a:pPr marL="342900" indent="-342900">
              <a:buFont typeface="Wingdings" panose="05000000000000000000" pitchFamily="2" charset="2"/>
              <a:buChar char="§"/>
            </a:pPr>
            <a:r>
              <a:rPr lang="en-US" sz="3200" dirty="0"/>
              <a:t>Entering source code</a:t>
            </a:r>
          </a:p>
          <a:p>
            <a:pPr marL="342900" indent="-342900">
              <a:buFont typeface="Wingdings" panose="05000000000000000000" pitchFamily="2" charset="2"/>
              <a:buChar char="§"/>
            </a:pPr>
            <a:r>
              <a:rPr lang="en-US" sz="3200" dirty="0"/>
              <a:t>Compiling</a:t>
            </a:r>
          </a:p>
          <a:p>
            <a:pPr marL="342900" indent="-342900">
              <a:buFont typeface="Wingdings" panose="05000000000000000000" pitchFamily="2" charset="2"/>
              <a:buChar char="§"/>
            </a:pPr>
            <a:r>
              <a:rPr lang="en-US" sz="3200" dirty="0"/>
              <a:t>Linking</a:t>
            </a:r>
          </a:p>
          <a:p>
            <a:pPr marL="342900" indent="-342900">
              <a:buFont typeface="Wingdings" panose="05000000000000000000" pitchFamily="2" charset="2"/>
              <a:buChar char="§"/>
            </a:pPr>
            <a:r>
              <a:rPr lang="en-US" sz="3200" dirty="0"/>
              <a:t>Loading</a:t>
            </a:r>
          </a:p>
        </p:txBody>
      </p:sp>
      <p:sp>
        <p:nvSpPr>
          <p:cNvPr id="4" name="Slide Number Placeholder 3"/>
          <p:cNvSpPr>
            <a:spLocks noGrp="1"/>
          </p:cNvSpPr>
          <p:nvPr>
            <p:ph type="sldNum" sz="quarter" idx="12"/>
          </p:nvPr>
        </p:nvSpPr>
        <p:spPr/>
        <p:txBody>
          <a:bodyPr/>
          <a:lstStyle/>
          <a:p>
            <a:fld id="{43C20813-E79E-4637-B0DD-0EBBF6872E51}" type="slidenum">
              <a:rPr lang="en-US" smtClean="0"/>
              <a:t>9</a:t>
            </a:fld>
            <a:endParaRPr lang="en-US"/>
          </a:p>
        </p:txBody>
      </p:sp>
    </p:spTree>
    <p:extLst>
      <p:ext uri="{BB962C8B-B14F-4D97-AF65-F5344CB8AC3E}">
        <p14:creationId xmlns:p14="http://schemas.microsoft.com/office/powerpoint/2010/main" val="672556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Flow of Information During Program Execution</a:t>
            </a:r>
            <a:endParaRPr lang="bg-BG" dirty="0"/>
          </a:p>
        </p:txBody>
      </p:sp>
      <p:sp>
        <p:nvSpPr>
          <p:cNvPr id="4" name="Slide Number Placeholder 3"/>
          <p:cNvSpPr>
            <a:spLocks noGrp="1"/>
          </p:cNvSpPr>
          <p:nvPr>
            <p:ph type="sldNum" sz="quarter" idx="12"/>
          </p:nvPr>
        </p:nvSpPr>
        <p:spPr/>
        <p:txBody>
          <a:bodyPr/>
          <a:lstStyle/>
          <a:p>
            <a:fld id="{43C20813-E79E-4637-B0DD-0EBBF6872E51}" type="slidenum">
              <a:rPr lang="en-US" smtClean="0"/>
              <a:t>10</a:t>
            </a:fld>
            <a:endParaRPr lang="en-US"/>
          </a:p>
        </p:txBody>
      </p:sp>
      <p:pic>
        <p:nvPicPr>
          <p:cNvPr id="5" name="Content Placeholder 4" descr="fig01_1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61883" y="1846263"/>
            <a:ext cx="7557246" cy="44574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9275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Integrated Development Environments (IDEs)</a:t>
            </a:r>
            <a:endParaRPr lang="bg-BG" dirty="0"/>
          </a:p>
        </p:txBody>
      </p:sp>
      <p:sp>
        <p:nvSpPr>
          <p:cNvPr id="3" name="Content Placeholder 2"/>
          <p:cNvSpPr>
            <a:spLocks noGrp="1"/>
          </p:cNvSpPr>
          <p:nvPr>
            <p:ph sz="half" idx="1"/>
          </p:nvPr>
        </p:nvSpPr>
        <p:spPr>
          <a:xfrm>
            <a:off x="1097279" y="1845734"/>
            <a:ext cx="4156039" cy="4023360"/>
          </a:xfrm>
        </p:spPr>
        <p:txBody>
          <a:bodyPr>
            <a:normAutofit/>
          </a:bodyPr>
          <a:lstStyle/>
          <a:p>
            <a:pPr>
              <a:buFont typeface="Wingdings" panose="05000000000000000000" pitchFamily="2" charset="2"/>
              <a:buChar char="§"/>
            </a:pPr>
            <a:r>
              <a:rPr lang="en-US" sz="3200" dirty="0"/>
              <a:t>Combines a source code </a:t>
            </a:r>
            <a:r>
              <a:rPr lang="en-US" sz="3200" b="1" dirty="0"/>
              <a:t>editor</a:t>
            </a:r>
            <a:r>
              <a:rPr lang="en-US" sz="3200" dirty="0"/>
              <a:t> with a </a:t>
            </a:r>
            <a:r>
              <a:rPr lang="en-US" sz="3200" b="1" dirty="0"/>
              <a:t>compiler</a:t>
            </a:r>
            <a:r>
              <a:rPr lang="en-US" sz="3200" dirty="0"/>
              <a:t>, </a:t>
            </a:r>
            <a:r>
              <a:rPr lang="en-US" sz="3200" b="1" dirty="0"/>
              <a:t>linker</a:t>
            </a:r>
            <a:r>
              <a:rPr lang="en-US" sz="3200" dirty="0"/>
              <a:t> and a </a:t>
            </a:r>
            <a:r>
              <a:rPr lang="en-US" sz="3200" b="1" dirty="0"/>
              <a:t>loader</a:t>
            </a:r>
            <a:r>
              <a:rPr lang="en-US" sz="3200" dirty="0"/>
              <a:t>.</a:t>
            </a:r>
          </a:p>
          <a:p>
            <a:pPr>
              <a:buFont typeface="Wingdings" panose="05000000000000000000" pitchFamily="2" charset="2"/>
              <a:buChar char="§"/>
            </a:pPr>
            <a:r>
              <a:rPr lang="en-US" sz="3200" dirty="0"/>
              <a:t>Popular C++ IDEs:</a:t>
            </a:r>
          </a:p>
          <a:p>
            <a:pPr lvl="1">
              <a:buFont typeface="Wingdings" panose="05000000000000000000" pitchFamily="2" charset="2"/>
              <a:buChar char="§"/>
            </a:pPr>
            <a:r>
              <a:rPr lang="en-US" sz="3000" dirty="0"/>
              <a:t>Visual Studio</a:t>
            </a:r>
          </a:p>
          <a:p>
            <a:pPr lvl="1">
              <a:buFont typeface="Wingdings" panose="05000000000000000000" pitchFamily="2" charset="2"/>
              <a:buChar char="§"/>
            </a:pPr>
            <a:r>
              <a:rPr lang="en-US" sz="3000" dirty="0"/>
              <a:t>Code::Blocks</a:t>
            </a:r>
          </a:p>
          <a:p>
            <a:pPr lvl="1">
              <a:buFont typeface="Wingdings" panose="05000000000000000000" pitchFamily="2" charset="2"/>
              <a:buChar char="§"/>
            </a:pPr>
            <a:r>
              <a:rPr lang="en-US" sz="3000" dirty="0"/>
              <a:t>Eclipse</a:t>
            </a:r>
            <a:endParaRPr lang="bg-BG" sz="3000" dirty="0"/>
          </a:p>
        </p:txBody>
      </p:sp>
      <p:sp>
        <p:nvSpPr>
          <p:cNvPr id="4" name="Slide Number Placeholder 3"/>
          <p:cNvSpPr>
            <a:spLocks noGrp="1"/>
          </p:cNvSpPr>
          <p:nvPr>
            <p:ph type="sldNum" sz="quarter" idx="12"/>
          </p:nvPr>
        </p:nvSpPr>
        <p:spPr/>
        <p:txBody>
          <a:bodyPr/>
          <a:lstStyle/>
          <a:p>
            <a:fld id="{43C20813-E79E-4637-B0DD-0EBBF6872E51}" type="slidenum">
              <a:rPr lang="en-US" smtClean="0"/>
              <a:t>11</a:t>
            </a:fld>
            <a:endParaRPr lang="en-US"/>
          </a:p>
        </p:txBody>
      </p:sp>
      <p:pic>
        <p:nvPicPr>
          <p:cNvPr id="13" name="Content Placeholder 12"/>
          <p:cNvPicPr>
            <a:picLocks noGrp="1" noChangeAspect="1"/>
          </p:cNvPicPr>
          <p:nvPr>
            <p:ph sz="half" idx="2"/>
          </p:nvPr>
        </p:nvPicPr>
        <p:blipFill>
          <a:blip r:embed="rId2"/>
          <a:stretch>
            <a:fillRect/>
          </a:stretch>
        </p:blipFill>
        <p:spPr>
          <a:xfrm>
            <a:off x="5038166" y="1887861"/>
            <a:ext cx="6117198" cy="4297436"/>
          </a:xfrm>
          <a:prstGeom prst="rect">
            <a:avLst/>
          </a:prstGeom>
        </p:spPr>
      </p:pic>
    </p:spTree>
    <p:extLst>
      <p:ext uri="{BB962C8B-B14F-4D97-AF65-F5344CB8AC3E}">
        <p14:creationId xmlns:p14="http://schemas.microsoft.com/office/powerpoint/2010/main" val="955193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Creating a C++ Program</a:t>
            </a:r>
            <a:endParaRPr lang="bg-BG"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3200" b="1" dirty="0"/>
              <a:t>Problem:</a:t>
            </a:r>
            <a:endParaRPr lang="en-US" sz="3200" dirty="0"/>
          </a:p>
          <a:p>
            <a:pPr lvl="1">
              <a:buFont typeface="Wingdings" panose="05000000000000000000" pitchFamily="2" charset="2"/>
              <a:buChar char="§"/>
            </a:pPr>
            <a:r>
              <a:rPr lang="en-US" sz="3000" dirty="0"/>
              <a:t>Create a program that will print your name on the screen using the Visual C++ IDE.</a:t>
            </a:r>
          </a:p>
          <a:p>
            <a:pPr lvl="1">
              <a:buFont typeface="Wingdings" panose="05000000000000000000" pitchFamily="2" charset="2"/>
              <a:buChar char="§"/>
            </a:pPr>
            <a:endParaRPr lang="en-US" sz="3000" dirty="0"/>
          </a:p>
          <a:p>
            <a:pPr lvl="1">
              <a:buFont typeface="Wingdings" panose="05000000000000000000" pitchFamily="2" charset="2"/>
              <a:buChar char="§"/>
            </a:pPr>
            <a:r>
              <a:rPr lang="en-US" sz="3000" dirty="0"/>
              <a:t>The program must print a message like the following:</a:t>
            </a:r>
          </a:p>
          <a:p>
            <a:pPr marL="384048" lvl="2" indent="0">
              <a:buNone/>
            </a:pPr>
            <a:r>
              <a:rPr lang="en-US" sz="2600" b="1" dirty="0">
                <a:latin typeface="Courier New" panose="02070309020205020404" pitchFamily="49" charset="0"/>
                <a:cs typeface="Courier New" panose="02070309020205020404" pitchFamily="49" charset="0"/>
              </a:rPr>
              <a:t>Hello John Smith!</a:t>
            </a:r>
            <a:endParaRPr lang="bg-BG" sz="2600"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12</a:t>
            </a:fld>
            <a:endParaRPr lang="en-US"/>
          </a:p>
        </p:txBody>
      </p:sp>
    </p:spTree>
    <p:extLst>
      <p:ext uri="{BB962C8B-B14F-4D97-AF65-F5344CB8AC3E}">
        <p14:creationId xmlns:p14="http://schemas.microsoft.com/office/powerpoint/2010/main" val="2507783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 Creating the Project (1 of 2)</a:t>
            </a:r>
            <a:endParaRPr lang="bg-BG" dirty="0"/>
          </a:p>
        </p:txBody>
      </p:sp>
      <p:sp>
        <p:nvSpPr>
          <p:cNvPr id="3" name="Content Placeholder 2"/>
          <p:cNvSpPr>
            <a:spLocks noGrp="1"/>
          </p:cNvSpPr>
          <p:nvPr>
            <p:ph sz="half" idx="1"/>
          </p:nvPr>
        </p:nvSpPr>
        <p:spPr>
          <a:xfrm>
            <a:off x="1097279" y="1845734"/>
            <a:ext cx="4272580" cy="4023360"/>
          </a:xfrm>
        </p:spPr>
        <p:txBody>
          <a:bodyPr>
            <a:noAutofit/>
          </a:bodyPr>
          <a:lstStyle/>
          <a:p>
            <a:pPr>
              <a:buFont typeface="Wingdings" panose="05000000000000000000" pitchFamily="2" charset="2"/>
              <a:buChar char="§"/>
            </a:pPr>
            <a:r>
              <a:rPr lang="en-US" sz="2600" dirty="0"/>
              <a:t>Start Microsoft Visual Studio</a:t>
            </a:r>
          </a:p>
          <a:p>
            <a:pPr>
              <a:buFont typeface="Wingdings" panose="05000000000000000000" pitchFamily="2" charset="2"/>
              <a:buChar char="§"/>
            </a:pPr>
            <a:r>
              <a:rPr lang="en-US" sz="2600" dirty="0"/>
              <a:t>Click “Continue without code”</a:t>
            </a:r>
          </a:p>
          <a:p>
            <a:pPr>
              <a:buFont typeface="Wingdings" panose="05000000000000000000" pitchFamily="2" charset="2"/>
              <a:buChar char="§"/>
            </a:pPr>
            <a:endParaRPr lang="en-US" sz="2600" dirty="0"/>
          </a:p>
          <a:p>
            <a:pPr>
              <a:buFont typeface="Wingdings" panose="05000000000000000000" pitchFamily="2" charset="2"/>
              <a:buChar char="§"/>
            </a:pPr>
            <a:r>
              <a:rPr lang="en-US" sz="2600" dirty="0"/>
              <a:t>From the top menu, click: </a:t>
            </a:r>
          </a:p>
          <a:p>
            <a:pPr marL="0" indent="0">
              <a:buNone/>
            </a:pPr>
            <a:r>
              <a:rPr lang="en-US" sz="2600" dirty="0"/>
              <a:t>   File &gt; New &gt; Project</a:t>
            </a:r>
          </a:p>
          <a:p>
            <a:pPr>
              <a:buFont typeface="Wingdings" panose="05000000000000000000" pitchFamily="2" charset="2"/>
              <a:buChar char="§"/>
            </a:pPr>
            <a:r>
              <a:rPr lang="en-US" sz="2600" dirty="0"/>
              <a:t>Select C++ as Language</a:t>
            </a:r>
          </a:p>
          <a:p>
            <a:pPr>
              <a:buFont typeface="Wingdings" panose="05000000000000000000" pitchFamily="2" charset="2"/>
              <a:buChar char="§"/>
            </a:pPr>
            <a:r>
              <a:rPr lang="en-US" sz="2600" dirty="0"/>
              <a:t>Click on Console App</a:t>
            </a:r>
          </a:p>
        </p:txBody>
      </p:sp>
      <p:sp>
        <p:nvSpPr>
          <p:cNvPr id="4" name="Slide Number Placeholder 3"/>
          <p:cNvSpPr>
            <a:spLocks noGrp="1"/>
          </p:cNvSpPr>
          <p:nvPr>
            <p:ph type="sldNum" sz="quarter" idx="12"/>
          </p:nvPr>
        </p:nvSpPr>
        <p:spPr/>
        <p:txBody>
          <a:bodyPr/>
          <a:lstStyle/>
          <a:p>
            <a:fld id="{43C20813-E79E-4637-B0DD-0EBBF6872E51}" type="slidenum">
              <a:rPr lang="en-US" smtClean="0"/>
              <a:t>13</a:t>
            </a:fld>
            <a:endParaRPr lang="en-US"/>
          </a:p>
        </p:txBody>
      </p:sp>
      <p:pic>
        <p:nvPicPr>
          <p:cNvPr id="9" name="Content Placeholder 8"/>
          <p:cNvPicPr>
            <a:picLocks noGrp="1" noChangeAspect="1"/>
          </p:cNvPicPr>
          <p:nvPr>
            <p:ph sz="half" idx="2"/>
          </p:nvPr>
        </p:nvPicPr>
        <p:blipFill>
          <a:blip r:embed="rId2"/>
          <a:stretch>
            <a:fillRect/>
          </a:stretch>
        </p:blipFill>
        <p:spPr>
          <a:xfrm>
            <a:off x="6066861" y="2053122"/>
            <a:ext cx="5785504" cy="4011432"/>
          </a:xfrm>
          <a:prstGeom prst="rect">
            <a:avLst/>
          </a:prstGeom>
          <a:effectLst>
            <a:outerShdw blurRad="50800" dist="50800" dir="5400000" algn="ctr" rotWithShape="0">
              <a:schemeClr val="tx2">
                <a:lumMod val="40000"/>
                <a:lumOff val="60000"/>
              </a:schemeClr>
            </a:outerShdw>
          </a:effectLst>
        </p:spPr>
      </p:pic>
    </p:spTree>
    <p:extLst>
      <p:ext uri="{BB962C8B-B14F-4D97-AF65-F5344CB8AC3E}">
        <p14:creationId xmlns:p14="http://schemas.microsoft.com/office/powerpoint/2010/main" val="1146388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Step 1: Creating the Project (2 of 2)</a:t>
            </a:r>
            <a:endParaRPr lang="bg-BG" dirty="0"/>
          </a:p>
        </p:txBody>
      </p:sp>
      <p:sp>
        <p:nvSpPr>
          <p:cNvPr id="4" name="Slide Number Placeholder 3"/>
          <p:cNvSpPr>
            <a:spLocks noGrp="1"/>
          </p:cNvSpPr>
          <p:nvPr>
            <p:ph type="sldNum" sz="quarter" idx="12"/>
          </p:nvPr>
        </p:nvSpPr>
        <p:spPr/>
        <p:txBody>
          <a:bodyPr/>
          <a:lstStyle/>
          <a:p>
            <a:fld id="{43C20813-E79E-4637-B0DD-0EBBF6872E51}" type="slidenum">
              <a:rPr lang="en-US" smtClean="0"/>
              <a:t>14</a:t>
            </a:fld>
            <a:endParaRPr lang="en-US"/>
          </a:p>
        </p:txBody>
      </p:sp>
      <p:sp>
        <p:nvSpPr>
          <p:cNvPr id="9" name="TextBox 8"/>
          <p:cNvSpPr txBox="1"/>
          <p:nvPr/>
        </p:nvSpPr>
        <p:spPr>
          <a:xfrm>
            <a:off x="1096963" y="5835115"/>
            <a:ext cx="1176541" cy="369332"/>
          </a:xfrm>
          <a:prstGeom prst="rect">
            <a:avLst/>
          </a:prstGeom>
          <a:noFill/>
        </p:spPr>
        <p:txBody>
          <a:bodyPr wrap="none" rtlCol="0">
            <a:spAutoFit/>
          </a:bodyPr>
          <a:lstStyle/>
          <a:p>
            <a:r>
              <a:rPr lang="en-US" dirty="0"/>
              <a:t>Click </a:t>
            </a:r>
            <a:r>
              <a:rPr lang="en-US" b="1" dirty="0"/>
              <a:t>Next</a:t>
            </a:r>
            <a:r>
              <a:rPr lang="en-US" dirty="0"/>
              <a:t>.</a:t>
            </a:r>
            <a:endParaRPr lang="bg-BG" b="1" dirty="0"/>
          </a:p>
        </p:txBody>
      </p:sp>
      <p:sp>
        <p:nvSpPr>
          <p:cNvPr id="11" name="TextBox 10"/>
          <p:cNvSpPr txBox="1"/>
          <p:nvPr/>
        </p:nvSpPr>
        <p:spPr>
          <a:xfrm>
            <a:off x="6217920" y="5869095"/>
            <a:ext cx="3555332" cy="369332"/>
          </a:xfrm>
          <a:prstGeom prst="rect">
            <a:avLst/>
          </a:prstGeom>
          <a:noFill/>
        </p:spPr>
        <p:txBody>
          <a:bodyPr wrap="none" rtlCol="0">
            <a:spAutoFit/>
          </a:bodyPr>
          <a:lstStyle/>
          <a:p>
            <a:r>
              <a:rPr lang="en-US" dirty="0"/>
              <a:t>Check the Location and click </a:t>
            </a:r>
            <a:r>
              <a:rPr lang="en-US" b="1" dirty="0"/>
              <a:t>Create</a:t>
            </a:r>
            <a:r>
              <a:rPr lang="en-US" dirty="0"/>
              <a:t>.</a:t>
            </a:r>
            <a:endParaRPr lang="bg-BG" dirty="0"/>
          </a:p>
        </p:txBody>
      </p:sp>
      <p:pic>
        <p:nvPicPr>
          <p:cNvPr id="6" name="Content Placeholder 5"/>
          <p:cNvPicPr>
            <a:picLocks noGrp="1" noChangeAspect="1"/>
          </p:cNvPicPr>
          <p:nvPr>
            <p:ph sz="half" idx="1"/>
          </p:nvPr>
        </p:nvPicPr>
        <p:blipFill>
          <a:blip r:embed="rId2"/>
          <a:stretch>
            <a:fillRect/>
          </a:stretch>
        </p:blipFill>
        <p:spPr>
          <a:xfrm>
            <a:off x="653143" y="1925968"/>
            <a:ext cx="5371646" cy="3724481"/>
          </a:xfrm>
          <a:prstGeom prst="rect">
            <a:avLst/>
          </a:prstGeom>
          <a:effectLst>
            <a:outerShdw blurRad="50800" dist="50800" dir="5400000" algn="ctr" rotWithShape="0">
              <a:schemeClr val="tx2">
                <a:lumMod val="40000"/>
                <a:lumOff val="60000"/>
              </a:schemeClr>
            </a:outerShdw>
          </a:effectLst>
        </p:spPr>
      </p:pic>
      <p:pic>
        <p:nvPicPr>
          <p:cNvPr id="12" name="Content Placeholder 11"/>
          <p:cNvPicPr>
            <a:picLocks noGrp="1" noChangeAspect="1"/>
          </p:cNvPicPr>
          <p:nvPr>
            <p:ph sz="half" idx="2"/>
          </p:nvPr>
        </p:nvPicPr>
        <p:blipFill>
          <a:blip r:embed="rId3"/>
          <a:stretch>
            <a:fillRect/>
          </a:stretch>
        </p:blipFill>
        <p:spPr>
          <a:xfrm>
            <a:off x="6218555" y="1925968"/>
            <a:ext cx="5371647" cy="3724481"/>
          </a:xfrm>
          <a:prstGeom prst="rect">
            <a:avLst/>
          </a:prstGeom>
          <a:effectLst>
            <a:outerShdw blurRad="50800" dist="50800" dir="5400000" algn="ctr" rotWithShape="0">
              <a:schemeClr val="tx2">
                <a:lumMod val="40000"/>
                <a:lumOff val="60000"/>
              </a:schemeClr>
            </a:outerShdw>
          </a:effectLst>
        </p:spPr>
      </p:pic>
    </p:spTree>
    <p:extLst>
      <p:ext uri="{BB962C8B-B14F-4D97-AF65-F5344CB8AC3E}">
        <p14:creationId xmlns:p14="http://schemas.microsoft.com/office/powerpoint/2010/main" val="373880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 Writing the Code</a:t>
            </a:r>
            <a:endParaRPr lang="bg-BG" dirty="0"/>
          </a:p>
        </p:txBody>
      </p:sp>
      <p:sp>
        <p:nvSpPr>
          <p:cNvPr id="5" name="Slide Number Placeholder 4"/>
          <p:cNvSpPr>
            <a:spLocks noGrp="1"/>
          </p:cNvSpPr>
          <p:nvPr>
            <p:ph type="sldNum" sz="quarter" idx="12"/>
          </p:nvPr>
        </p:nvSpPr>
        <p:spPr/>
        <p:txBody>
          <a:bodyPr/>
          <a:lstStyle/>
          <a:p>
            <a:fld id="{43C20813-E79E-4637-B0DD-0EBBF6872E51}" type="slidenum">
              <a:rPr lang="en-US" smtClean="0"/>
              <a:t>15</a:t>
            </a:fld>
            <a:endParaRPr lang="en-US"/>
          </a:p>
        </p:txBody>
      </p:sp>
      <p:pic>
        <p:nvPicPr>
          <p:cNvPr id="8" name="Content Placeholder 7"/>
          <p:cNvPicPr>
            <a:picLocks noGrp="1" noChangeAspect="1"/>
          </p:cNvPicPr>
          <p:nvPr>
            <p:ph idx="1"/>
          </p:nvPr>
        </p:nvPicPr>
        <p:blipFill>
          <a:blip r:embed="rId2"/>
          <a:stretch>
            <a:fillRect/>
          </a:stretch>
        </p:blipFill>
        <p:spPr>
          <a:xfrm>
            <a:off x="2111830" y="1813605"/>
            <a:ext cx="7388255" cy="4462094"/>
          </a:xfrm>
          <a:prstGeom prst="rect">
            <a:avLst/>
          </a:prstGeom>
        </p:spPr>
      </p:pic>
    </p:spTree>
    <p:extLst>
      <p:ext uri="{BB962C8B-B14F-4D97-AF65-F5344CB8AC3E}">
        <p14:creationId xmlns:p14="http://schemas.microsoft.com/office/powerpoint/2010/main" val="3627058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3: Building the Program</a:t>
            </a:r>
            <a:endParaRPr lang="bg-BG" dirty="0"/>
          </a:p>
        </p:txBody>
      </p:sp>
      <p:sp>
        <p:nvSpPr>
          <p:cNvPr id="5" name="Content Placeholder 4"/>
          <p:cNvSpPr>
            <a:spLocks noGrp="1"/>
          </p:cNvSpPr>
          <p:nvPr>
            <p:ph sz="half" idx="1"/>
          </p:nvPr>
        </p:nvSpPr>
        <p:spPr>
          <a:xfrm>
            <a:off x="1097279" y="1845734"/>
            <a:ext cx="3528509" cy="4023360"/>
          </a:xfrm>
        </p:spPr>
        <p:txBody>
          <a:bodyPr>
            <a:normAutofit/>
          </a:bodyPr>
          <a:lstStyle/>
          <a:p>
            <a:pPr>
              <a:buFont typeface="Wingdings" panose="05000000000000000000" pitchFamily="2" charset="2"/>
              <a:buChar char="§"/>
            </a:pPr>
            <a:r>
              <a:rPr lang="en-US" sz="2800" dirty="0"/>
              <a:t>Build the program by clicking the </a:t>
            </a:r>
            <a:r>
              <a:rPr lang="en-US" sz="2800" b="1" dirty="0"/>
              <a:t>Build</a:t>
            </a:r>
            <a:r>
              <a:rPr lang="en-US" sz="2800" dirty="0"/>
              <a:t> &gt; </a:t>
            </a:r>
            <a:r>
              <a:rPr lang="en-US" sz="2800" b="1" dirty="0"/>
              <a:t>Build Solution</a:t>
            </a:r>
            <a:r>
              <a:rPr lang="en-US" sz="2800" dirty="0"/>
              <a:t> on the top menu.</a:t>
            </a:r>
          </a:p>
          <a:p>
            <a:pPr>
              <a:buFont typeface="Wingdings" panose="05000000000000000000" pitchFamily="2" charset="2"/>
              <a:buChar char="§"/>
            </a:pPr>
            <a:r>
              <a:rPr lang="en-US" sz="2800" dirty="0"/>
              <a:t>If there were errors, they will be shown in the </a:t>
            </a:r>
            <a:r>
              <a:rPr lang="en-US" sz="2800" b="1" dirty="0"/>
              <a:t>Error List </a:t>
            </a:r>
            <a:r>
              <a:rPr lang="en-US" sz="2800" dirty="0"/>
              <a:t>bottom tab.</a:t>
            </a:r>
            <a:endParaRPr lang="bg-BG" sz="2800" dirty="0"/>
          </a:p>
        </p:txBody>
      </p:sp>
      <p:sp>
        <p:nvSpPr>
          <p:cNvPr id="4" name="Slide Number Placeholder 3"/>
          <p:cNvSpPr>
            <a:spLocks noGrp="1"/>
          </p:cNvSpPr>
          <p:nvPr>
            <p:ph type="sldNum" sz="quarter" idx="12"/>
          </p:nvPr>
        </p:nvSpPr>
        <p:spPr/>
        <p:txBody>
          <a:bodyPr/>
          <a:lstStyle/>
          <a:p>
            <a:fld id="{43C20813-E79E-4637-B0DD-0EBBF6872E51}" type="slidenum">
              <a:rPr lang="en-US" smtClean="0"/>
              <a:t>16</a:t>
            </a:fld>
            <a:endParaRPr lang="en-US"/>
          </a:p>
        </p:txBody>
      </p:sp>
      <p:pic>
        <p:nvPicPr>
          <p:cNvPr id="8" name="Content Placeholder 7"/>
          <p:cNvPicPr>
            <a:picLocks noGrp="1" noChangeAspect="1"/>
          </p:cNvPicPr>
          <p:nvPr>
            <p:ph sz="half" idx="2"/>
          </p:nvPr>
        </p:nvPicPr>
        <p:blipFill>
          <a:blip r:embed="rId2"/>
          <a:stretch>
            <a:fillRect/>
          </a:stretch>
        </p:blipFill>
        <p:spPr>
          <a:xfrm>
            <a:off x="4728440" y="1953095"/>
            <a:ext cx="6908389" cy="4172280"/>
          </a:xfrm>
          <a:prstGeom prst="rect">
            <a:avLst/>
          </a:prstGeom>
        </p:spPr>
      </p:pic>
    </p:spTree>
    <p:extLst>
      <p:ext uri="{BB962C8B-B14F-4D97-AF65-F5344CB8AC3E}">
        <p14:creationId xmlns:p14="http://schemas.microsoft.com/office/powerpoint/2010/main" val="1203043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4: Running the Program</a:t>
            </a:r>
            <a:endParaRPr lang="bg-BG" dirty="0"/>
          </a:p>
        </p:txBody>
      </p:sp>
      <p:sp>
        <p:nvSpPr>
          <p:cNvPr id="4" name="Slide Number Placeholder 3"/>
          <p:cNvSpPr>
            <a:spLocks noGrp="1"/>
          </p:cNvSpPr>
          <p:nvPr>
            <p:ph type="sldNum" sz="quarter" idx="12"/>
          </p:nvPr>
        </p:nvSpPr>
        <p:spPr/>
        <p:txBody>
          <a:bodyPr/>
          <a:lstStyle/>
          <a:p>
            <a:fld id="{43C20813-E79E-4637-B0DD-0EBBF6872E51}" type="slidenum">
              <a:rPr lang="en-US" smtClean="0"/>
              <a:t>17</a:t>
            </a:fld>
            <a:endParaRPr lang="en-US"/>
          </a:p>
        </p:txBody>
      </p:sp>
      <p:sp>
        <p:nvSpPr>
          <p:cNvPr id="8" name="Content Placeholder 7"/>
          <p:cNvSpPr>
            <a:spLocks noGrp="1"/>
          </p:cNvSpPr>
          <p:nvPr>
            <p:ph sz="half" idx="1"/>
          </p:nvPr>
        </p:nvSpPr>
        <p:spPr>
          <a:xfrm>
            <a:off x="1097280" y="1845734"/>
            <a:ext cx="2874086" cy="4023360"/>
          </a:xfrm>
        </p:spPr>
        <p:txBody>
          <a:bodyPr>
            <a:normAutofit/>
          </a:bodyPr>
          <a:lstStyle/>
          <a:p>
            <a:pPr>
              <a:buFont typeface="Wingdings" panose="05000000000000000000" pitchFamily="2" charset="2"/>
              <a:buChar char="§"/>
            </a:pPr>
            <a:r>
              <a:rPr lang="en-US" sz="2800" dirty="0"/>
              <a:t>Run the program by clicking </a:t>
            </a:r>
            <a:r>
              <a:rPr lang="en-US" sz="2800" b="1" dirty="0"/>
              <a:t>Ctrl + F5</a:t>
            </a:r>
            <a:endParaRPr lang="en-US" sz="2800" dirty="0"/>
          </a:p>
          <a:p>
            <a:pPr>
              <a:buFont typeface="Wingdings" panose="05000000000000000000" pitchFamily="2" charset="2"/>
              <a:buChar char="§"/>
            </a:pPr>
            <a:r>
              <a:rPr lang="en-US" sz="2800" dirty="0"/>
              <a:t>You should see a window similar to the one on the right – containing the output of your program.</a:t>
            </a:r>
            <a:endParaRPr lang="bg-BG" sz="2800" dirty="0"/>
          </a:p>
        </p:txBody>
      </p:sp>
      <p:pic>
        <p:nvPicPr>
          <p:cNvPr id="5" name="Content Placeholder 4"/>
          <p:cNvPicPr>
            <a:picLocks noGrp="1" noChangeAspect="1"/>
          </p:cNvPicPr>
          <p:nvPr>
            <p:ph sz="half" idx="2"/>
          </p:nvPr>
        </p:nvPicPr>
        <p:blipFill>
          <a:blip r:embed="rId2"/>
          <a:stretch>
            <a:fillRect/>
          </a:stretch>
        </p:blipFill>
        <p:spPr>
          <a:xfrm>
            <a:off x="4324320" y="1979209"/>
            <a:ext cx="6888163" cy="3479691"/>
          </a:xfrm>
          <a:prstGeom prst="rect">
            <a:avLst/>
          </a:prstGeom>
        </p:spPr>
      </p:pic>
    </p:spTree>
    <p:extLst>
      <p:ext uri="{BB962C8B-B14F-4D97-AF65-F5344CB8AC3E}">
        <p14:creationId xmlns:p14="http://schemas.microsoft.com/office/powerpoint/2010/main" val="93642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Object-Oriented Programming</a:t>
            </a:r>
            <a:endParaRPr lang="bg-BG" dirty="0"/>
          </a:p>
        </p:txBody>
      </p:sp>
      <p:sp>
        <p:nvSpPr>
          <p:cNvPr id="3" name="Content Placeholder 2"/>
          <p:cNvSpPr>
            <a:spLocks noGrp="1"/>
          </p:cNvSpPr>
          <p:nvPr>
            <p:ph idx="1"/>
          </p:nvPr>
        </p:nvSpPr>
        <p:spPr>
          <a:xfrm>
            <a:off x="1097279" y="1845733"/>
            <a:ext cx="10115203" cy="4420595"/>
          </a:xfrm>
        </p:spPr>
        <p:txBody>
          <a:bodyPr>
            <a:normAutofit fontScale="92500"/>
          </a:bodyPr>
          <a:lstStyle/>
          <a:p>
            <a:pPr>
              <a:buFont typeface="Wingdings" panose="05000000000000000000" pitchFamily="2" charset="2"/>
              <a:buChar char="§"/>
            </a:pPr>
            <a:r>
              <a:rPr lang="en-US" sz="3200" dirty="0"/>
              <a:t>C++ was developed in 1980s as an extension of the C language</a:t>
            </a:r>
          </a:p>
          <a:p>
            <a:pPr>
              <a:buFont typeface="Wingdings" panose="05000000000000000000" pitchFamily="2" charset="2"/>
              <a:buChar char="§"/>
            </a:pPr>
            <a:r>
              <a:rPr lang="en-US" sz="3200" dirty="0"/>
              <a:t>Popular because makes it easier to reuse and adapt existing code</a:t>
            </a:r>
          </a:p>
          <a:p>
            <a:pPr lvl="1">
              <a:buFont typeface="Wingdings" panose="05000000000000000000" pitchFamily="2" charset="2"/>
              <a:buChar char="§"/>
            </a:pPr>
            <a:r>
              <a:rPr lang="en-US" sz="3000" dirty="0"/>
              <a:t>Classes – define properties of entities (e.g. </a:t>
            </a:r>
            <a:r>
              <a:rPr lang="en-US" sz="3000" b="1" dirty="0">
                <a:latin typeface="Courier New" panose="02070309020205020404" pitchFamily="49" charset="0"/>
                <a:cs typeface="Courier New" panose="02070309020205020404" pitchFamily="49" charset="0"/>
              </a:rPr>
              <a:t>Vehicle</a:t>
            </a:r>
            <a:r>
              <a:rPr lang="en-US" sz="3000" dirty="0"/>
              <a:t>)</a:t>
            </a:r>
          </a:p>
          <a:p>
            <a:pPr lvl="1">
              <a:buFont typeface="Wingdings" panose="05000000000000000000" pitchFamily="2" charset="2"/>
              <a:buChar char="§"/>
            </a:pPr>
            <a:r>
              <a:rPr lang="en-US" sz="3000" dirty="0"/>
              <a:t>Objects – instance of a class (e.g. </a:t>
            </a:r>
            <a:r>
              <a:rPr lang="en-US" sz="3000" b="1" dirty="0" err="1">
                <a:latin typeface="Courier New" panose="02070309020205020404" pitchFamily="49" charset="0"/>
                <a:cs typeface="Courier New" panose="02070309020205020404" pitchFamily="49" charset="0"/>
              </a:rPr>
              <a:t>FordGT</a:t>
            </a:r>
            <a:r>
              <a:rPr lang="en-US" sz="3000" dirty="0"/>
              <a:t>)</a:t>
            </a:r>
          </a:p>
          <a:p>
            <a:pPr lvl="1">
              <a:buFont typeface="Wingdings" panose="05000000000000000000" pitchFamily="2" charset="2"/>
              <a:buChar char="§"/>
            </a:pPr>
            <a:r>
              <a:rPr lang="en-US" sz="3000" dirty="0"/>
              <a:t>Methods – operations to be performed on objects (e.g. </a:t>
            </a:r>
            <a:r>
              <a:rPr lang="en-US" sz="3000" b="1" dirty="0">
                <a:latin typeface="Courier New" panose="02070309020205020404" pitchFamily="49" charset="0"/>
                <a:cs typeface="Courier New" panose="02070309020205020404" pitchFamily="49" charset="0"/>
              </a:rPr>
              <a:t>Move</a:t>
            </a:r>
            <a:r>
              <a:rPr lang="en-US" sz="3000" dirty="0"/>
              <a:t>)</a:t>
            </a:r>
          </a:p>
          <a:p>
            <a:pPr>
              <a:buFont typeface="Wingdings" panose="05000000000000000000" pitchFamily="2" charset="2"/>
              <a:buChar char="§"/>
            </a:pPr>
            <a:r>
              <a:rPr lang="en-US" sz="3200" dirty="0"/>
              <a:t>Organized in a hierarchy</a:t>
            </a:r>
          </a:p>
          <a:p>
            <a:pPr lvl="1">
              <a:buFont typeface="Wingdings" panose="05000000000000000000" pitchFamily="2" charset="2"/>
              <a:buChar char="§"/>
            </a:pPr>
            <a:r>
              <a:rPr lang="en-US" sz="3000" dirty="0"/>
              <a:t>Sub Classes</a:t>
            </a:r>
          </a:p>
          <a:p>
            <a:pPr lvl="1">
              <a:buFont typeface="Wingdings" panose="05000000000000000000" pitchFamily="2" charset="2"/>
              <a:buChar char="§"/>
            </a:pPr>
            <a:r>
              <a:rPr lang="en-US" sz="3000" dirty="0"/>
              <a:t>Super Classes</a:t>
            </a:r>
          </a:p>
          <a:p>
            <a:pPr>
              <a:buFont typeface="Wingdings" panose="05000000000000000000" pitchFamily="2" charset="2"/>
              <a:buChar char="§"/>
            </a:pPr>
            <a:endParaRPr lang="bg-BG" sz="2800" dirty="0"/>
          </a:p>
        </p:txBody>
      </p:sp>
      <p:sp>
        <p:nvSpPr>
          <p:cNvPr id="4" name="Slide Number Placeholder 3"/>
          <p:cNvSpPr>
            <a:spLocks noGrp="1"/>
          </p:cNvSpPr>
          <p:nvPr>
            <p:ph type="sldNum" sz="quarter" idx="12"/>
          </p:nvPr>
        </p:nvSpPr>
        <p:spPr/>
        <p:txBody>
          <a:bodyPr/>
          <a:lstStyle/>
          <a:p>
            <a:fld id="{43C20813-E79E-4637-B0DD-0EBBF6872E51}" type="slidenum">
              <a:rPr lang="en-US" smtClean="0"/>
              <a:t>18</a:t>
            </a:fld>
            <a:endParaRPr lang="en-US"/>
          </a:p>
        </p:txBody>
      </p:sp>
    </p:spTree>
    <p:extLst>
      <p:ext uri="{BB962C8B-B14F-4D97-AF65-F5344CB8AC3E}">
        <p14:creationId xmlns:p14="http://schemas.microsoft.com/office/powerpoint/2010/main" val="1037417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Hierarchy Example</a:t>
            </a:r>
            <a:endParaRPr lang="bg-BG" dirty="0"/>
          </a:p>
        </p:txBody>
      </p:sp>
      <p:sp>
        <p:nvSpPr>
          <p:cNvPr id="4" name="Slide Number Placeholder 3"/>
          <p:cNvSpPr>
            <a:spLocks noGrp="1"/>
          </p:cNvSpPr>
          <p:nvPr>
            <p:ph type="sldNum" sz="quarter" idx="12"/>
          </p:nvPr>
        </p:nvSpPr>
        <p:spPr/>
        <p:txBody>
          <a:bodyPr/>
          <a:lstStyle/>
          <a:p>
            <a:fld id="{43C20813-E79E-4637-B0DD-0EBBF6872E51}" type="slidenum">
              <a:rPr lang="en-US" smtClean="0"/>
              <a:t>19</a:t>
            </a:fld>
            <a:endParaRPr lang="en-US"/>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8481" y="2275142"/>
            <a:ext cx="11295436" cy="3505480"/>
          </a:xfrm>
        </p:spPr>
      </p:pic>
    </p:spTree>
    <p:extLst>
      <p:ext uri="{BB962C8B-B14F-4D97-AF65-F5344CB8AC3E}">
        <p14:creationId xmlns:p14="http://schemas.microsoft.com/office/powerpoint/2010/main" val="5522175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Object-oriented Principles (Part 1 of 2)</a:t>
            </a:r>
            <a:endParaRPr lang="bg-BG" dirty="0"/>
          </a:p>
        </p:txBody>
      </p:sp>
      <p:sp>
        <p:nvSpPr>
          <p:cNvPr id="3" name="Content Placeholder 2"/>
          <p:cNvSpPr>
            <a:spLocks noGrp="1"/>
          </p:cNvSpPr>
          <p:nvPr>
            <p:ph idx="1"/>
          </p:nvPr>
        </p:nvSpPr>
        <p:spPr/>
        <p:txBody>
          <a:bodyPr/>
          <a:lstStyle/>
          <a:p>
            <a:pPr>
              <a:buFont typeface="Wingdings" panose="05000000000000000000" pitchFamily="2" charset="2"/>
              <a:buChar char="§"/>
            </a:pPr>
            <a:r>
              <a:rPr lang="en-US" sz="3200" dirty="0"/>
              <a:t>Encapsulation</a:t>
            </a:r>
          </a:p>
          <a:p>
            <a:pPr lvl="1">
              <a:buFont typeface="Wingdings" panose="05000000000000000000" pitchFamily="2" charset="2"/>
              <a:buChar char="§"/>
            </a:pPr>
            <a:r>
              <a:rPr lang="en-US" sz="3000" dirty="0"/>
              <a:t>Hiding implementation details by restricting access to methods and data.</a:t>
            </a:r>
          </a:p>
          <a:p>
            <a:pPr>
              <a:buFont typeface="Wingdings" panose="05000000000000000000" pitchFamily="2" charset="2"/>
              <a:buChar char="§"/>
            </a:pPr>
            <a:r>
              <a:rPr lang="en-US" sz="3200" dirty="0"/>
              <a:t>Abstraction</a:t>
            </a:r>
            <a:endParaRPr lang="en-US" dirty="0"/>
          </a:p>
          <a:p>
            <a:pPr lvl="1">
              <a:buFont typeface="Wingdings" panose="05000000000000000000" pitchFamily="2" charset="2"/>
              <a:buChar char="§"/>
            </a:pPr>
            <a:r>
              <a:rPr lang="en-US" sz="3000" dirty="0"/>
              <a:t>Extracting the important properties of an object, while ignoring inessential details.</a:t>
            </a:r>
          </a:p>
          <a:p>
            <a:pPr>
              <a:buFont typeface="Wingdings" panose="05000000000000000000" pitchFamily="2" charset="2"/>
              <a:buChar char="§"/>
            </a:pPr>
            <a:r>
              <a:rPr lang="en-US" sz="3200" dirty="0"/>
              <a:t>NOTE: Encapsulation and Abstraction are closely related and they are used for reducing system complexity. </a:t>
            </a:r>
          </a:p>
        </p:txBody>
      </p:sp>
      <p:sp>
        <p:nvSpPr>
          <p:cNvPr id="4" name="Slide Number Placeholder 3"/>
          <p:cNvSpPr>
            <a:spLocks noGrp="1"/>
          </p:cNvSpPr>
          <p:nvPr>
            <p:ph type="sldNum" sz="quarter" idx="12"/>
          </p:nvPr>
        </p:nvSpPr>
        <p:spPr/>
        <p:txBody>
          <a:bodyPr/>
          <a:lstStyle/>
          <a:p>
            <a:fld id="{43C20813-E79E-4637-B0DD-0EBBF6872E51}" type="slidenum">
              <a:rPr lang="en-US" smtClean="0"/>
              <a:t>20</a:t>
            </a:fld>
            <a:endParaRPr lang="en-US"/>
          </a:p>
        </p:txBody>
      </p:sp>
    </p:spTree>
    <p:extLst>
      <p:ext uri="{BB962C8B-B14F-4D97-AF65-F5344CB8AC3E}">
        <p14:creationId xmlns:p14="http://schemas.microsoft.com/office/powerpoint/2010/main" val="1575602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Object-oriented Principles (Part 2 of 2)</a:t>
            </a:r>
            <a:endParaRPr lang="bg-BG" dirty="0"/>
          </a:p>
        </p:txBody>
      </p:sp>
      <p:sp>
        <p:nvSpPr>
          <p:cNvPr id="3" name="Content Placeholder 2"/>
          <p:cNvSpPr>
            <a:spLocks noGrp="1"/>
          </p:cNvSpPr>
          <p:nvPr>
            <p:ph idx="1"/>
          </p:nvPr>
        </p:nvSpPr>
        <p:spPr/>
        <p:txBody>
          <a:bodyPr/>
          <a:lstStyle/>
          <a:p>
            <a:pPr>
              <a:buFont typeface="Wingdings" panose="05000000000000000000" pitchFamily="2" charset="2"/>
              <a:buChar char="§"/>
            </a:pPr>
            <a:r>
              <a:rPr lang="en-US" sz="3200" dirty="0"/>
              <a:t>Inheritance</a:t>
            </a:r>
            <a:endParaRPr lang="en-US" dirty="0"/>
          </a:p>
          <a:p>
            <a:pPr lvl="1">
              <a:buFont typeface="Wingdings" panose="05000000000000000000" pitchFamily="2" charset="2"/>
              <a:buChar char="§"/>
            </a:pPr>
            <a:r>
              <a:rPr lang="en-US" sz="3000" dirty="0"/>
              <a:t>Classes can inherit attributes and behavior from pre-existing classes, called base / super classes.</a:t>
            </a:r>
          </a:p>
          <a:p>
            <a:pPr>
              <a:buFont typeface="Wingdings" panose="05000000000000000000" pitchFamily="2" charset="2"/>
              <a:buChar char="§"/>
            </a:pPr>
            <a:r>
              <a:rPr lang="en-US" sz="3200" dirty="0"/>
              <a:t>Polymorphism</a:t>
            </a:r>
          </a:p>
          <a:p>
            <a:pPr lvl="1">
              <a:buFont typeface="Wingdings" panose="05000000000000000000" pitchFamily="2" charset="2"/>
              <a:buChar char="§"/>
            </a:pPr>
            <a:r>
              <a:rPr lang="en-US" sz="3000" dirty="0"/>
              <a:t>Having some code behave differently in different contexts.</a:t>
            </a:r>
          </a:p>
          <a:p>
            <a:pPr lvl="1">
              <a:buFont typeface="Wingdings" panose="05000000000000000000" pitchFamily="2" charset="2"/>
              <a:buChar char="§"/>
            </a:pPr>
            <a:r>
              <a:rPr lang="en-US" sz="3000" dirty="0"/>
              <a:t>The ability of a function to behave differently based on the object it is applied to, or its argument list.</a:t>
            </a:r>
          </a:p>
        </p:txBody>
      </p:sp>
      <p:sp>
        <p:nvSpPr>
          <p:cNvPr id="4" name="Slide Number Placeholder 3"/>
          <p:cNvSpPr>
            <a:spLocks noGrp="1"/>
          </p:cNvSpPr>
          <p:nvPr>
            <p:ph type="sldNum" sz="quarter" idx="12"/>
          </p:nvPr>
        </p:nvSpPr>
        <p:spPr/>
        <p:txBody>
          <a:bodyPr/>
          <a:lstStyle/>
          <a:p>
            <a:fld id="{43C20813-E79E-4637-B0DD-0EBBF6872E51}" type="slidenum">
              <a:rPr lang="en-US" smtClean="0"/>
              <a:t>21</a:t>
            </a:fld>
            <a:endParaRPr lang="en-US"/>
          </a:p>
        </p:txBody>
      </p:sp>
    </p:spTree>
    <p:extLst>
      <p:ext uri="{BB962C8B-B14F-4D97-AF65-F5344CB8AC3E}">
        <p14:creationId xmlns:p14="http://schemas.microsoft.com/office/powerpoint/2010/main" val="9072520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Software Development Method </a:t>
            </a:r>
            <a:endParaRPr lang="bg-BG" dirty="0"/>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sz="3200" dirty="0"/>
              <a:t>Specifying Problem Requirements</a:t>
            </a:r>
          </a:p>
          <a:p>
            <a:pPr marL="514350" indent="-514350">
              <a:buFont typeface="+mj-lt"/>
              <a:buAutoNum type="arabicPeriod"/>
            </a:pPr>
            <a:r>
              <a:rPr lang="en-US" sz="3200" dirty="0"/>
              <a:t>Analyzing the Problem</a:t>
            </a:r>
          </a:p>
          <a:p>
            <a:pPr marL="514350" indent="-514350">
              <a:buFont typeface="+mj-lt"/>
              <a:buAutoNum type="arabicPeriod"/>
            </a:pPr>
            <a:r>
              <a:rPr lang="en-US" sz="3200" dirty="0"/>
              <a:t>Designing the Algorithm for the Solution</a:t>
            </a:r>
          </a:p>
          <a:p>
            <a:pPr marL="514350" indent="-514350">
              <a:buFont typeface="+mj-lt"/>
              <a:buAutoNum type="arabicPeriod"/>
            </a:pPr>
            <a:r>
              <a:rPr lang="en-US" sz="3200" dirty="0"/>
              <a:t>Implementing the Algorithm</a:t>
            </a:r>
          </a:p>
          <a:p>
            <a:pPr marL="514350" indent="-514350">
              <a:buFont typeface="+mj-lt"/>
              <a:buAutoNum type="arabicPeriod"/>
            </a:pPr>
            <a:r>
              <a:rPr lang="en-US" sz="3200" dirty="0"/>
              <a:t>Testing and Verifying Program Correctness</a:t>
            </a:r>
          </a:p>
          <a:p>
            <a:pPr marL="514350" indent="-514350">
              <a:buFont typeface="+mj-lt"/>
              <a:buAutoNum type="arabicPeriod"/>
            </a:pPr>
            <a:r>
              <a:rPr lang="en-US" sz="3200" dirty="0"/>
              <a:t>Maintaining the Program</a:t>
            </a:r>
          </a:p>
        </p:txBody>
      </p:sp>
      <p:sp>
        <p:nvSpPr>
          <p:cNvPr id="4" name="Slide Number Placeholder 3"/>
          <p:cNvSpPr>
            <a:spLocks noGrp="1"/>
          </p:cNvSpPr>
          <p:nvPr>
            <p:ph type="sldNum" sz="quarter" idx="12"/>
          </p:nvPr>
        </p:nvSpPr>
        <p:spPr/>
        <p:txBody>
          <a:bodyPr/>
          <a:lstStyle/>
          <a:p>
            <a:fld id="{43C20813-E79E-4637-B0DD-0EBBF6872E51}" type="slidenum">
              <a:rPr lang="en-US" smtClean="0"/>
              <a:t>22</a:t>
            </a:fld>
            <a:endParaRPr lang="en-US"/>
          </a:p>
        </p:txBody>
      </p:sp>
    </p:spTree>
    <p:extLst>
      <p:ext uri="{BB962C8B-B14F-4D97-AF65-F5344CB8AC3E}">
        <p14:creationId xmlns:p14="http://schemas.microsoft.com/office/powerpoint/2010/main" val="38921031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Software Development Method Steps</a:t>
            </a:r>
            <a:br>
              <a:rPr lang="en-US" dirty="0"/>
            </a:br>
            <a:r>
              <a:rPr lang="en-US" dirty="0"/>
              <a:t>(Part 1 of 2)</a:t>
            </a:r>
            <a:endParaRPr lang="bg-BG" dirty="0"/>
          </a:p>
        </p:txBody>
      </p:sp>
      <p:sp>
        <p:nvSpPr>
          <p:cNvPr id="3" name="Content Placeholder 2"/>
          <p:cNvSpPr>
            <a:spLocks noGrp="1"/>
          </p:cNvSpPr>
          <p:nvPr>
            <p:ph idx="1"/>
          </p:nvPr>
        </p:nvSpPr>
        <p:spPr>
          <a:xfrm>
            <a:off x="1097280" y="1845733"/>
            <a:ext cx="10058400" cy="4384737"/>
          </a:xfrm>
        </p:spPr>
        <p:txBody>
          <a:bodyPr>
            <a:normAutofit fontScale="92500" lnSpcReduction="20000"/>
          </a:bodyPr>
          <a:lstStyle/>
          <a:p>
            <a:pPr>
              <a:buFont typeface="Wingdings" panose="05000000000000000000" pitchFamily="2" charset="2"/>
              <a:buChar char="§"/>
            </a:pPr>
            <a:r>
              <a:rPr lang="en-US" sz="3200" dirty="0"/>
              <a:t>Specifying Problem Requirements</a:t>
            </a:r>
          </a:p>
          <a:p>
            <a:pPr lvl="1">
              <a:buFont typeface="Wingdings" panose="05000000000000000000" pitchFamily="2" charset="2"/>
              <a:buChar char="§"/>
            </a:pPr>
            <a:r>
              <a:rPr lang="en-US" sz="3000" dirty="0"/>
              <a:t>Stating the problem clearly and unambiguously to gain a precise understanding of what is required for its solution</a:t>
            </a:r>
          </a:p>
          <a:p>
            <a:pPr>
              <a:buFont typeface="Wingdings" panose="05000000000000000000" pitchFamily="2" charset="2"/>
              <a:buChar char="§"/>
            </a:pPr>
            <a:r>
              <a:rPr lang="en-US" sz="3200" dirty="0"/>
              <a:t>Problem Analysis</a:t>
            </a:r>
          </a:p>
          <a:p>
            <a:pPr lvl="1">
              <a:buFont typeface="Wingdings" panose="05000000000000000000" pitchFamily="2" charset="2"/>
              <a:buChar char="§"/>
            </a:pPr>
            <a:r>
              <a:rPr lang="en-US" sz="3000" dirty="0"/>
              <a:t>Identify data objects</a:t>
            </a:r>
          </a:p>
          <a:p>
            <a:pPr lvl="1">
              <a:buFont typeface="Wingdings" panose="05000000000000000000" pitchFamily="2" charset="2"/>
              <a:buChar char="§"/>
            </a:pPr>
            <a:r>
              <a:rPr lang="en-US" sz="3000" dirty="0"/>
              <a:t>Determine Input and Output data</a:t>
            </a:r>
          </a:p>
          <a:p>
            <a:pPr lvl="1">
              <a:buFont typeface="Wingdings" panose="05000000000000000000" pitchFamily="2" charset="2"/>
              <a:buChar char="§"/>
            </a:pPr>
            <a:r>
              <a:rPr lang="en-US" sz="3000" dirty="0"/>
              <a:t>Constraints on the problem</a:t>
            </a:r>
          </a:p>
          <a:p>
            <a:pPr>
              <a:buFont typeface="Wingdings" panose="05000000000000000000" pitchFamily="2" charset="2"/>
              <a:buChar char="§"/>
            </a:pPr>
            <a:r>
              <a:rPr lang="en-US" sz="3200" dirty="0"/>
              <a:t>Design</a:t>
            </a:r>
          </a:p>
          <a:p>
            <a:pPr lvl="1">
              <a:buFont typeface="Wingdings" panose="05000000000000000000" pitchFamily="2" charset="2"/>
              <a:buChar char="§"/>
            </a:pPr>
            <a:r>
              <a:rPr lang="en-US" sz="3000" dirty="0"/>
              <a:t>Develop a list of steps (an algorithm) for solving the problem</a:t>
            </a:r>
          </a:p>
          <a:p>
            <a:pPr lvl="1">
              <a:buFont typeface="Wingdings" panose="05000000000000000000" pitchFamily="2" charset="2"/>
              <a:buChar char="§"/>
            </a:pPr>
            <a:r>
              <a:rPr lang="en-US" sz="3000" dirty="0"/>
              <a:t>Top-down design (divide and conquer)</a:t>
            </a:r>
          </a:p>
          <a:p>
            <a:pPr lvl="1">
              <a:buFont typeface="Wingdings" panose="05000000000000000000" pitchFamily="2" charset="2"/>
              <a:buChar char="§"/>
            </a:pPr>
            <a:r>
              <a:rPr lang="en-US" sz="3000" dirty="0"/>
              <a:t>Desk-checking – manual verification of the algorithm</a:t>
            </a:r>
          </a:p>
        </p:txBody>
      </p:sp>
      <p:sp>
        <p:nvSpPr>
          <p:cNvPr id="4" name="Slide Number Placeholder 3"/>
          <p:cNvSpPr>
            <a:spLocks noGrp="1"/>
          </p:cNvSpPr>
          <p:nvPr>
            <p:ph type="sldNum" sz="quarter" idx="12"/>
          </p:nvPr>
        </p:nvSpPr>
        <p:spPr/>
        <p:txBody>
          <a:bodyPr/>
          <a:lstStyle/>
          <a:p>
            <a:fld id="{43C20813-E79E-4637-B0DD-0EBBF6872E51}" type="slidenum">
              <a:rPr lang="en-US" smtClean="0"/>
              <a:t>23</a:t>
            </a:fld>
            <a:endParaRPr lang="en-US"/>
          </a:p>
        </p:txBody>
      </p:sp>
    </p:spTree>
    <p:extLst>
      <p:ext uri="{BB962C8B-B14F-4D97-AF65-F5344CB8AC3E}">
        <p14:creationId xmlns:p14="http://schemas.microsoft.com/office/powerpoint/2010/main" val="439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7203" y="177470"/>
            <a:ext cx="10058400" cy="1578575"/>
          </a:xfrm>
        </p:spPr>
        <p:txBody>
          <a:bodyPr>
            <a:normAutofit fontScale="90000"/>
          </a:bodyPr>
          <a:lstStyle/>
          <a:p>
            <a:r>
              <a:rPr lang="en-US" dirty="0"/>
              <a:t>Software Development Method Steps</a:t>
            </a:r>
            <a:br>
              <a:rPr lang="en-US" dirty="0"/>
            </a:br>
            <a:r>
              <a:rPr lang="en-US" dirty="0"/>
              <a:t>(Part 2 of 2)</a:t>
            </a:r>
            <a:endParaRPr lang="bg-BG" dirty="0"/>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
            </a:pPr>
            <a:r>
              <a:rPr lang="en-US" sz="3200" dirty="0"/>
              <a:t>Implementation</a:t>
            </a:r>
          </a:p>
          <a:p>
            <a:pPr lvl="1">
              <a:buFont typeface="Wingdings" panose="05000000000000000000" pitchFamily="2" charset="2"/>
              <a:buChar char="§"/>
            </a:pPr>
            <a:r>
              <a:rPr lang="en-US" sz="3000" dirty="0"/>
              <a:t>Converting the algorithm into a program using a programming language</a:t>
            </a:r>
          </a:p>
          <a:p>
            <a:pPr>
              <a:buFont typeface="Wingdings" panose="05000000000000000000" pitchFamily="2" charset="2"/>
              <a:buChar char="§"/>
            </a:pPr>
            <a:r>
              <a:rPr lang="en-US" sz="3200" dirty="0"/>
              <a:t>Testing</a:t>
            </a:r>
          </a:p>
          <a:p>
            <a:pPr lvl="1">
              <a:buFont typeface="Wingdings" panose="05000000000000000000" pitchFamily="2" charset="2"/>
              <a:buChar char="§"/>
            </a:pPr>
            <a:r>
              <a:rPr lang="en-US" sz="3000" dirty="0"/>
              <a:t>Verifying the completed program meets requirements</a:t>
            </a:r>
          </a:p>
          <a:p>
            <a:pPr>
              <a:buFont typeface="Wingdings" panose="05000000000000000000" pitchFamily="2" charset="2"/>
              <a:buChar char="§"/>
            </a:pPr>
            <a:r>
              <a:rPr lang="en-US" sz="3200" dirty="0"/>
              <a:t>Maintenance</a:t>
            </a:r>
          </a:p>
          <a:p>
            <a:pPr lvl="1">
              <a:buFont typeface="Wingdings" panose="05000000000000000000" pitchFamily="2" charset="2"/>
              <a:buChar char="§"/>
            </a:pPr>
            <a:r>
              <a:rPr lang="en-US" sz="3000" dirty="0"/>
              <a:t>Updating the program to add new functionality</a:t>
            </a:r>
          </a:p>
          <a:p>
            <a:pPr lvl="1">
              <a:buFont typeface="Wingdings" panose="05000000000000000000" pitchFamily="2" charset="2"/>
              <a:buChar char="§"/>
            </a:pPr>
            <a:r>
              <a:rPr lang="en-US" sz="3000" dirty="0"/>
              <a:t>Fix recently-found problems</a:t>
            </a:r>
            <a:endParaRPr lang="bg-BG" sz="3000" dirty="0"/>
          </a:p>
        </p:txBody>
      </p:sp>
      <p:sp>
        <p:nvSpPr>
          <p:cNvPr id="4" name="Slide Number Placeholder 3"/>
          <p:cNvSpPr>
            <a:spLocks noGrp="1"/>
          </p:cNvSpPr>
          <p:nvPr>
            <p:ph type="sldNum" sz="quarter" idx="12"/>
          </p:nvPr>
        </p:nvSpPr>
        <p:spPr/>
        <p:txBody>
          <a:bodyPr/>
          <a:lstStyle/>
          <a:p>
            <a:fld id="{43C20813-E79E-4637-B0DD-0EBBF6872E51}" type="slidenum">
              <a:rPr lang="en-US" smtClean="0"/>
              <a:t>24</a:t>
            </a:fld>
            <a:endParaRPr lang="en-US"/>
          </a:p>
        </p:txBody>
      </p:sp>
    </p:spTree>
    <p:extLst>
      <p:ext uri="{BB962C8B-B14F-4D97-AF65-F5344CB8AC3E}">
        <p14:creationId xmlns:p14="http://schemas.microsoft.com/office/powerpoint/2010/main" val="1686799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Applying the Software Development Method</a:t>
            </a:r>
            <a:endParaRPr lang="bg-BG"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3200" b="1" dirty="0"/>
              <a:t>Problem: </a:t>
            </a:r>
            <a:r>
              <a:rPr lang="en-US" sz="3200" dirty="0"/>
              <a:t>Your summer surveying job requires you to study some maps that give distances in kilometers and some that use miles. You and your coworkers prefer to deal in metric measurements. Write a program that performs the necessary conversion.</a:t>
            </a:r>
          </a:p>
          <a:p>
            <a:pPr>
              <a:buFont typeface="Wingdings" panose="05000000000000000000" pitchFamily="2" charset="2"/>
              <a:buChar char="§"/>
            </a:pPr>
            <a:endParaRPr lang="bg-BG" sz="3200" dirty="0"/>
          </a:p>
        </p:txBody>
      </p:sp>
      <p:sp>
        <p:nvSpPr>
          <p:cNvPr id="4" name="Slide Number Placeholder 3"/>
          <p:cNvSpPr>
            <a:spLocks noGrp="1"/>
          </p:cNvSpPr>
          <p:nvPr>
            <p:ph type="sldNum" sz="quarter" idx="12"/>
          </p:nvPr>
        </p:nvSpPr>
        <p:spPr/>
        <p:txBody>
          <a:bodyPr/>
          <a:lstStyle/>
          <a:p>
            <a:fld id="{43C20813-E79E-4637-B0DD-0EBBF6872E51}" type="slidenum">
              <a:rPr lang="en-US" smtClean="0"/>
              <a:t>25</a:t>
            </a:fld>
            <a:endParaRPr lang="en-US"/>
          </a:p>
        </p:txBody>
      </p:sp>
    </p:spTree>
    <p:extLst>
      <p:ext uri="{BB962C8B-B14F-4D97-AF65-F5344CB8AC3E}">
        <p14:creationId xmlns:p14="http://schemas.microsoft.com/office/powerpoint/2010/main" val="10747293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 of the Problem</a:t>
            </a:r>
            <a:endParaRPr lang="bg-BG" dirty="0"/>
          </a:p>
        </p:txBody>
      </p:sp>
      <p:sp>
        <p:nvSpPr>
          <p:cNvPr id="3" name="Content Placeholder 2"/>
          <p:cNvSpPr>
            <a:spLocks noGrp="1"/>
          </p:cNvSpPr>
          <p:nvPr>
            <p:ph idx="1"/>
          </p:nvPr>
        </p:nvSpPr>
        <p:spPr>
          <a:xfrm>
            <a:off x="1097280" y="1845733"/>
            <a:ext cx="10058400" cy="4402667"/>
          </a:xfrm>
        </p:spPr>
        <p:txBody>
          <a:bodyPr>
            <a:normAutofit/>
          </a:bodyPr>
          <a:lstStyle/>
          <a:p>
            <a:pPr>
              <a:buFont typeface="Wingdings" panose="05000000000000000000" pitchFamily="2" charset="2"/>
              <a:buChar char="§"/>
            </a:pPr>
            <a:r>
              <a:rPr lang="en-US" sz="3000" dirty="0"/>
              <a:t>Determine what you are asked to do</a:t>
            </a:r>
          </a:p>
          <a:p>
            <a:pPr lvl="1">
              <a:buFont typeface="Wingdings" panose="05000000000000000000" pitchFamily="2" charset="2"/>
              <a:buChar char="§"/>
            </a:pPr>
            <a:r>
              <a:rPr lang="en-US" sz="2800" dirty="0"/>
              <a:t>Need to convert distance measurements to kilometers</a:t>
            </a:r>
          </a:p>
          <a:p>
            <a:pPr lvl="1">
              <a:buFont typeface="Wingdings" panose="05000000000000000000" pitchFamily="2" charset="2"/>
              <a:buChar char="§"/>
            </a:pPr>
            <a:endParaRPr lang="en-US" sz="2800" dirty="0"/>
          </a:p>
          <a:p>
            <a:pPr lvl="1">
              <a:buFont typeface="Wingdings" panose="05000000000000000000" pitchFamily="2" charset="2"/>
              <a:buChar char="§"/>
            </a:pPr>
            <a:r>
              <a:rPr lang="en-US" sz="2800" dirty="0"/>
              <a:t>Problem Input:</a:t>
            </a:r>
          </a:p>
          <a:p>
            <a:pPr lvl="2">
              <a:buFont typeface="Wingdings" panose="05000000000000000000" pitchFamily="2" charset="2"/>
              <a:buChar char="§"/>
            </a:pPr>
            <a:r>
              <a:rPr lang="en-US" sz="2400" dirty="0"/>
              <a:t>miles – </a:t>
            </a:r>
            <a:r>
              <a:rPr lang="en-US" sz="2400" i="1" dirty="0"/>
              <a:t>distance in miles</a:t>
            </a:r>
          </a:p>
          <a:p>
            <a:pPr lvl="1">
              <a:buFont typeface="Wingdings" panose="05000000000000000000" pitchFamily="2" charset="2"/>
              <a:buChar char="§"/>
            </a:pPr>
            <a:r>
              <a:rPr lang="en-US" sz="2800" dirty="0"/>
              <a:t>Problem Output:</a:t>
            </a:r>
          </a:p>
          <a:p>
            <a:pPr lvl="2">
              <a:buFont typeface="Wingdings" panose="05000000000000000000" pitchFamily="2" charset="2"/>
              <a:buChar char="§"/>
            </a:pPr>
            <a:r>
              <a:rPr lang="en-US" sz="2400" dirty="0"/>
              <a:t>kilometers – </a:t>
            </a:r>
            <a:r>
              <a:rPr lang="en-US" sz="2400" i="1" dirty="0"/>
              <a:t>the distance in kilometers</a:t>
            </a:r>
          </a:p>
          <a:p>
            <a:pPr lvl="1">
              <a:buFont typeface="Wingdings" panose="05000000000000000000" pitchFamily="2" charset="2"/>
              <a:buChar char="§"/>
            </a:pPr>
            <a:r>
              <a:rPr lang="en-US" sz="2800" dirty="0"/>
              <a:t>Relevant Formulas:</a:t>
            </a:r>
          </a:p>
          <a:p>
            <a:pPr lvl="2">
              <a:buFont typeface="Wingdings" panose="05000000000000000000" pitchFamily="2" charset="2"/>
              <a:buChar char="§"/>
            </a:pPr>
            <a:r>
              <a:rPr lang="en-US" sz="2400" dirty="0"/>
              <a:t>1 mile = 1.609 kilometers</a:t>
            </a:r>
          </a:p>
        </p:txBody>
      </p:sp>
      <p:sp>
        <p:nvSpPr>
          <p:cNvPr id="4" name="Slide Number Placeholder 3"/>
          <p:cNvSpPr>
            <a:spLocks noGrp="1"/>
          </p:cNvSpPr>
          <p:nvPr>
            <p:ph type="sldNum" sz="quarter" idx="12"/>
          </p:nvPr>
        </p:nvSpPr>
        <p:spPr/>
        <p:txBody>
          <a:bodyPr/>
          <a:lstStyle/>
          <a:p>
            <a:fld id="{43C20813-E79E-4637-B0DD-0EBBF6872E51}" type="slidenum">
              <a:rPr lang="en-US" smtClean="0"/>
              <a:t>26</a:t>
            </a:fld>
            <a:endParaRPr lang="en-US"/>
          </a:p>
        </p:txBody>
      </p:sp>
    </p:spTree>
    <p:extLst>
      <p:ext uri="{BB962C8B-B14F-4D97-AF65-F5344CB8AC3E}">
        <p14:creationId xmlns:p14="http://schemas.microsoft.com/office/powerpoint/2010/main" val="1733276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 calcmode="lin" valueType="num">
                                      <p:cBhvr additive="base">
                                        <p:cTn id="2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a:t>
            </a:r>
            <a:endParaRPr lang="bg-BG" dirty="0"/>
          </a:p>
        </p:txBody>
      </p:sp>
      <p:sp>
        <p:nvSpPr>
          <p:cNvPr id="3" name="Content Placeholder 2"/>
          <p:cNvSpPr>
            <a:spLocks noGrp="1"/>
          </p:cNvSpPr>
          <p:nvPr>
            <p:ph idx="1"/>
          </p:nvPr>
        </p:nvSpPr>
        <p:spPr>
          <a:xfrm>
            <a:off x="1097280" y="1845733"/>
            <a:ext cx="10058400" cy="4187513"/>
          </a:xfrm>
        </p:spPr>
        <p:txBody>
          <a:bodyPr>
            <a:normAutofit/>
          </a:bodyPr>
          <a:lstStyle/>
          <a:p>
            <a:pPr>
              <a:buFont typeface="Wingdings" panose="05000000000000000000" pitchFamily="2" charset="2"/>
              <a:buChar char="§"/>
            </a:pPr>
            <a:r>
              <a:rPr lang="en-US" sz="3200" dirty="0"/>
              <a:t>Formulate the algorithm that solves the problem</a:t>
            </a:r>
          </a:p>
          <a:p>
            <a:pPr>
              <a:buFont typeface="Wingdings" panose="05000000000000000000" pitchFamily="2" charset="2"/>
              <a:buChar char="§"/>
            </a:pPr>
            <a:r>
              <a:rPr lang="en-US" sz="3200" dirty="0"/>
              <a:t>Algorithm</a:t>
            </a:r>
          </a:p>
          <a:p>
            <a:pPr marL="201168" lvl="1" indent="0">
              <a:buNone/>
            </a:pPr>
            <a:r>
              <a:rPr lang="en-US" sz="3000" dirty="0"/>
              <a:t>	1. Get the distance in miles</a:t>
            </a:r>
          </a:p>
          <a:p>
            <a:pPr marL="201168" lvl="1" indent="0">
              <a:buNone/>
            </a:pPr>
            <a:r>
              <a:rPr lang="en-US" sz="3000" dirty="0"/>
              <a:t>	2. Convert that distance to kilometers</a:t>
            </a:r>
          </a:p>
          <a:p>
            <a:pPr marL="201168" lvl="1" indent="0">
              <a:buNone/>
            </a:pPr>
            <a:r>
              <a:rPr lang="en-US" sz="3000" dirty="0"/>
              <a:t>	3. Display the distance in kilometers</a:t>
            </a:r>
          </a:p>
          <a:p>
            <a:pPr>
              <a:buFont typeface="Wingdings" panose="05000000000000000000" pitchFamily="2" charset="2"/>
              <a:buChar char="§"/>
            </a:pPr>
            <a:r>
              <a:rPr lang="en-US" sz="3200" dirty="0"/>
              <a:t>Algorithm Refinement</a:t>
            </a:r>
          </a:p>
          <a:p>
            <a:pPr marL="201168" lvl="1" indent="0">
              <a:buNone/>
            </a:pPr>
            <a:r>
              <a:rPr lang="en-US" sz="3000" dirty="0"/>
              <a:t>	2.1. The distance in kilometers is 1.609 multiplied by the distance in miles</a:t>
            </a:r>
          </a:p>
        </p:txBody>
      </p:sp>
      <p:sp>
        <p:nvSpPr>
          <p:cNvPr id="4" name="Slide Number Placeholder 3"/>
          <p:cNvSpPr>
            <a:spLocks noGrp="1"/>
          </p:cNvSpPr>
          <p:nvPr>
            <p:ph type="sldNum" sz="quarter" idx="12"/>
          </p:nvPr>
        </p:nvSpPr>
        <p:spPr/>
        <p:txBody>
          <a:bodyPr/>
          <a:lstStyle/>
          <a:p>
            <a:fld id="{43C20813-E79E-4637-B0DD-0EBBF6872E51}" type="slidenum">
              <a:rPr lang="en-US" smtClean="0"/>
              <a:t>27</a:t>
            </a:fld>
            <a:endParaRPr lang="en-US"/>
          </a:p>
        </p:txBody>
      </p:sp>
    </p:spTree>
    <p:extLst>
      <p:ext uri="{BB962C8B-B14F-4D97-AF65-F5344CB8AC3E}">
        <p14:creationId xmlns:p14="http://schemas.microsoft.com/office/powerpoint/2010/main" val="2978775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a:t>
            </a:r>
            <a:endParaRPr lang="bg-BG" dirty="0"/>
          </a:p>
        </p:txBody>
      </p:sp>
      <p:sp>
        <p:nvSpPr>
          <p:cNvPr id="3" name="Content Placeholder 2"/>
          <p:cNvSpPr>
            <a:spLocks noGrp="1"/>
          </p:cNvSpPr>
          <p:nvPr>
            <p:ph idx="1"/>
          </p:nvPr>
        </p:nvSpPr>
        <p:spPr>
          <a:xfrm>
            <a:off x="1097280" y="1845733"/>
            <a:ext cx="10058400" cy="4438526"/>
          </a:xfrm>
        </p:spPr>
        <p:txBody>
          <a:bodyPr>
            <a:noAutofit/>
          </a:bodyPr>
          <a:lstStyle/>
          <a:p>
            <a:pPr marL="0" indent="0">
              <a:lnSpc>
                <a:spcPct val="100000"/>
              </a:lnSpc>
              <a:spcBef>
                <a:spcPts val="0"/>
              </a:spcBef>
              <a:spcAft>
                <a:spcPts val="0"/>
              </a:spcAft>
              <a:buNone/>
            </a:pPr>
            <a:r>
              <a:rPr lang="en-US" sz="2200" dirty="0">
                <a:solidFill>
                  <a:srgbClr val="808080"/>
                </a:solidFill>
                <a:latin typeface="Consolas" panose="020B0609020204030204" pitchFamily="49" charset="0"/>
              </a:rPr>
              <a:t>#include</a:t>
            </a:r>
            <a:r>
              <a:rPr lang="en-US" sz="2200" dirty="0">
                <a:solidFill>
                  <a:srgbClr val="000000"/>
                </a:solidFill>
                <a:latin typeface="Consolas" panose="020B0609020204030204" pitchFamily="49" charset="0"/>
              </a:rPr>
              <a:t> </a:t>
            </a:r>
            <a:r>
              <a:rPr lang="en-US" sz="2200" dirty="0">
                <a:solidFill>
                  <a:srgbClr val="A31515"/>
                </a:solidFill>
                <a:latin typeface="Consolas" panose="020B0609020204030204" pitchFamily="49" charset="0"/>
              </a:rPr>
              <a:t>&lt;</a:t>
            </a:r>
            <a:r>
              <a:rPr lang="en-US" sz="2200" dirty="0" err="1">
                <a:solidFill>
                  <a:srgbClr val="A31515"/>
                </a:solidFill>
                <a:latin typeface="Consolas" panose="020B0609020204030204" pitchFamily="49" charset="0"/>
              </a:rPr>
              <a:t>iostream</a:t>
            </a:r>
            <a:r>
              <a:rPr lang="en-US" sz="2200" dirty="0">
                <a:solidFill>
                  <a:srgbClr val="A31515"/>
                </a:solidFill>
                <a:latin typeface="Consolas" panose="020B0609020204030204" pitchFamily="49" charset="0"/>
              </a:rPr>
              <a:t>&gt;</a:t>
            </a:r>
            <a:endParaRPr lang="en-US" sz="22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2200" dirty="0">
                <a:solidFill>
                  <a:srgbClr val="0000FF"/>
                </a:solidFill>
                <a:latin typeface="Consolas" panose="020B0609020204030204" pitchFamily="49" charset="0"/>
              </a:rPr>
              <a:t>using</a:t>
            </a:r>
            <a:r>
              <a:rPr lang="en-US" sz="2200" dirty="0">
                <a:solidFill>
                  <a:srgbClr val="000000"/>
                </a:solidFill>
                <a:latin typeface="Consolas" panose="020B0609020204030204" pitchFamily="49" charset="0"/>
              </a:rPr>
              <a:t> </a:t>
            </a:r>
            <a:r>
              <a:rPr lang="en-US" sz="2200" dirty="0">
                <a:solidFill>
                  <a:srgbClr val="0000FF"/>
                </a:solidFill>
                <a:latin typeface="Consolas" panose="020B0609020204030204" pitchFamily="49" charset="0"/>
              </a:rPr>
              <a:t>namespace</a:t>
            </a:r>
            <a:r>
              <a:rPr lang="en-US" sz="2200"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std</a:t>
            </a:r>
            <a:r>
              <a:rPr lang="en-US" sz="2200" dirty="0">
                <a:solidFill>
                  <a:srgbClr val="000000"/>
                </a:solidFill>
                <a:latin typeface="Consolas" panose="020B0609020204030204" pitchFamily="49" charset="0"/>
              </a:rPr>
              <a:t>;</a:t>
            </a:r>
          </a:p>
          <a:p>
            <a:pPr marL="0" indent="0">
              <a:lnSpc>
                <a:spcPct val="100000"/>
              </a:lnSpc>
              <a:spcBef>
                <a:spcPts val="0"/>
              </a:spcBef>
              <a:spcAft>
                <a:spcPts val="0"/>
              </a:spcAft>
              <a:buNone/>
            </a:pPr>
            <a:endParaRPr lang="bg-BG" sz="22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2200" dirty="0">
                <a:solidFill>
                  <a:srgbClr val="0000FF"/>
                </a:solidFill>
                <a:latin typeface="Consolas" panose="020B0609020204030204" pitchFamily="49" charset="0"/>
              </a:rPr>
              <a:t>int</a:t>
            </a:r>
            <a:r>
              <a:rPr lang="en-US" sz="2200" dirty="0">
                <a:solidFill>
                  <a:srgbClr val="000000"/>
                </a:solidFill>
                <a:latin typeface="Consolas" panose="020B0609020204030204" pitchFamily="49" charset="0"/>
              </a:rPr>
              <a:t> main()</a:t>
            </a:r>
          </a:p>
          <a:p>
            <a:pPr marL="0" indent="0">
              <a:lnSpc>
                <a:spcPct val="100000"/>
              </a:lnSpc>
              <a:spcBef>
                <a:spcPts val="0"/>
              </a:spcBef>
              <a:spcAft>
                <a:spcPts val="0"/>
              </a:spcAft>
              <a:buNone/>
            </a:pPr>
            <a:r>
              <a:rPr lang="bg-BG" sz="22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2200" dirty="0">
                <a:solidFill>
                  <a:srgbClr val="0000FF"/>
                </a:solidFill>
                <a:latin typeface="Consolas" panose="020B0609020204030204" pitchFamily="49" charset="0"/>
              </a:rPr>
              <a:t>   const</a:t>
            </a:r>
            <a:r>
              <a:rPr lang="en-US" sz="2200" dirty="0">
                <a:solidFill>
                  <a:srgbClr val="000000"/>
                </a:solidFill>
                <a:latin typeface="Consolas" panose="020B0609020204030204" pitchFamily="49" charset="0"/>
              </a:rPr>
              <a:t> </a:t>
            </a:r>
            <a:r>
              <a:rPr lang="en-US" sz="2200" dirty="0">
                <a:solidFill>
                  <a:srgbClr val="0000FF"/>
                </a:solidFill>
                <a:latin typeface="Consolas" panose="020B0609020204030204" pitchFamily="49" charset="0"/>
              </a:rPr>
              <a:t>float</a:t>
            </a:r>
            <a:r>
              <a:rPr lang="en-US" sz="2200" dirty="0">
                <a:solidFill>
                  <a:srgbClr val="000000"/>
                </a:solidFill>
                <a:latin typeface="Consolas" panose="020B0609020204030204" pitchFamily="49" charset="0"/>
              </a:rPr>
              <a:t> KM_PER_MILE = 1.609;</a:t>
            </a:r>
          </a:p>
          <a:p>
            <a:pPr marL="0" indent="0">
              <a:lnSpc>
                <a:spcPct val="100000"/>
              </a:lnSpc>
              <a:spcBef>
                <a:spcPts val="0"/>
              </a:spcBef>
              <a:spcAft>
                <a:spcPts val="0"/>
              </a:spcAft>
              <a:buNone/>
            </a:pPr>
            <a:r>
              <a:rPr lang="en-US" sz="2200" dirty="0">
                <a:solidFill>
                  <a:srgbClr val="0000FF"/>
                </a:solidFill>
                <a:latin typeface="Consolas" panose="020B0609020204030204" pitchFamily="49" charset="0"/>
              </a:rPr>
              <a:t>   float</a:t>
            </a:r>
            <a:r>
              <a:rPr lang="en-US" sz="2200" dirty="0">
                <a:solidFill>
                  <a:srgbClr val="000000"/>
                </a:solidFill>
                <a:latin typeface="Consolas" panose="020B0609020204030204" pitchFamily="49" charset="0"/>
              </a:rPr>
              <a:t> miles, </a:t>
            </a:r>
            <a:r>
              <a:rPr lang="en-US" sz="2200" dirty="0" err="1">
                <a:solidFill>
                  <a:srgbClr val="000000"/>
                </a:solidFill>
                <a:latin typeface="Consolas" panose="020B0609020204030204" pitchFamily="49" charset="0"/>
              </a:rPr>
              <a:t>kms</a:t>
            </a:r>
            <a:r>
              <a:rPr lang="en-US" sz="22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2200" dirty="0">
                <a:solidFill>
                  <a:srgbClr val="000000"/>
                </a:solidFill>
                <a:latin typeface="Consolas" panose="020B0609020204030204" pitchFamily="49" charset="0"/>
              </a:rPr>
              <a:t>   cout </a:t>
            </a:r>
            <a:r>
              <a:rPr lang="en-US" sz="2200" dirty="0">
                <a:solidFill>
                  <a:srgbClr val="008080"/>
                </a:solidFill>
                <a:latin typeface="Consolas" panose="020B0609020204030204" pitchFamily="49" charset="0"/>
              </a:rPr>
              <a:t>&lt;&lt;</a:t>
            </a:r>
            <a:r>
              <a:rPr lang="en-US" sz="2200" dirty="0">
                <a:solidFill>
                  <a:srgbClr val="000000"/>
                </a:solidFill>
                <a:latin typeface="Consolas" panose="020B0609020204030204" pitchFamily="49" charset="0"/>
              </a:rPr>
              <a:t> </a:t>
            </a:r>
            <a:r>
              <a:rPr lang="en-US" sz="2200" dirty="0">
                <a:solidFill>
                  <a:srgbClr val="A31515"/>
                </a:solidFill>
                <a:latin typeface="Consolas" panose="020B0609020204030204" pitchFamily="49" charset="0"/>
              </a:rPr>
              <a:t>"Enter the distance in miles: "</a:t>
            </a:r>
            <a:r>
              <a:rPr lang="en-US" sz="2200" dirty="0">
                <a:solidFill>
                  <a:srgbClr val="000000"/>
                </a:solidFill>
                <a:latin typeface="Consolas" panose="020B0609020204030204" pitchFamily="49" charset="0"/>
              </a:rPr>
              <a:t>;</a:t>
            </a:r>
          </a:p>
          <a:p>
            <a:pPr marL="0" indent="0">
              <a:lnSpc>
                <a:spcPct val="100000"/>
              </a:lnSpc>
              <a:spcBef>
                <a:spcPts val="0"/>
              </a:spcBef>
              <a:spcAft>
                <a:spcPts val="0"/>
              </a:spcAft>
              <a:buNone/>
            </a:pPr>
            <a:r>
              <a:rPr lang="en-US" sz="2200" dirty="0">
                <a:solidFill>
                  <a:srgbClr val="000000"/>
                </a:solidFill>
                <a:latin typeface="Consolas" panose="020B0609020204030204" pitchFamily="49" charset="0"/>
              </a:rPr>
              <a:t>   cin </a:t>
            </a:r>
            <a:r>
              <a:rPr lang="en-US" sz="2200" dirty="0">
                <a:solidFill>
                  <a:srgbClr val="008080"/>
                </a:solidFill>
                <a:latin typeface="Consolas" panose="020B0609020204030204" pitchFamily="49" charset="0"/>
              </a:rPr>
              <a:t>&gt;&gt;</a:t>
            </a:r>
            <a:r>
              <a:rPr lang="en-US" sz="2200" dirty="0">
                <a:solidFill>
                  <a:srgbClr val="000000"/>
                </a:solidFill>
                <a:latin typeface="Consolas" panose="020B0609020204030204" pitchFamily="49" charset="0"/>
              </a:rPr>
              <a:t> miles;</a:t>
            </a:r>
          </a:p>
          <a:p>
            <a:pPr marL="0" indent="0">
              <a:lnSpc>
                <a:spcPct val="100000"/>
              </a:lnSpc>
              <a:spcBef>
                <a:spcPts val="0"/>
              </a:spcBef>
              <a:spcAft>
                <a:spcPts val="0"/>
              </a:spcAft>
              <a:buNone/>
            </a:pPr>
            <a:r>
              <a:rPr lang="en-US" sz="2200"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kms</a:t>
            </a:r>
            <a:r>
              <a:rPr lang="en-US" sz="2200" dirty="0">
                <a:solidFill>
                  <a:srgbClr val="000000"/>
                </a:solidFill>
                <a:latin typeface="Consolas" panose="020B0609020204030204" pitchFamily="49" charset="0"/>
              </a:rPr>
              <a:t> = KM_PER_MILE * miles;</a:t>
            </a:r>
          </a:p>
          <a:p>
            <a:pPr marL="0" indent="0">
              <a:lnSpc>
                <a:spcPct val="100000"/>
              </a:lnSpc>
              <a:spcBef>
                <a:spcPts val="0"/>
              </a:spcBef>
              <a:spcAft>
                <a:spcPts val="0"/>
              </a:spcAft>
              <a:buNone/>
            </a:pPr>
            <a:r>
              <a:rPr lang="en-US" sz="2200" dirty="0">
                <a:solidFill>
                  <a:srgbClr val="000000"/>
                </a:solidFill>
                <a:latin typeface="Consolas" panose="020B0609020204030204" pitchFamily="49" charset="0"/>
              </a:rPr>
              <a:t>   cout </a:t>
            </a:r>
            <a:r>
              <a:rPr lang="en-US" sz="2200" dirty="0">
                <a:solidFill>
                  <a:srgbClr val="008080"/>
                </a:solidFill>
                <a:latin typeface="Consolas" panose="020B0609020204030204" pitchFamily="49" charset="0"/>
              </a:rPr>
              <a:t>&lt;&lt;</a:t>
            </a:r>
            <a:r>
              <a:rPr lang="en-US" sz="2200" dirty="0">
                <a:solidFill>
                  <a:srgbClr val="000000"/>
                </a:solidFill>
                <a:latin typeface="Consolas" panose="020B0609020204030204" pitchFamily="49" charset="0"/>
              </a:rPr>
              <a:t> </a:t>
            </a:r>
            <a:r>
              <a:rPr lang="en-US" sz="2200" dirty="0">
                <a:solidFill>
                  <a:srgbClr val="A31515"/>
                </a:solidFill>
                <a:latin typeface="Consolas" panose="020B0609020204030204" pitchFamily="49" charset="0"/>
              </a:rPr>
              <a:t>"The distance in kilometers is "</a:t>
            </a:r>
            <a:r>
              <a:rPr lang="en-US" sz="2200" dirty="0">
                <a:solidFill>
                  <a:srgbClr val="000000"/>
                </a:solidFill>
                <a:latin typeface="Consolas" panose="020B0609020204030204" pitchFamily="49" charset="0"/>
              </a:rPr>
              <a:t> </a:t>
            </a:r>
            <a:r>
              <a:rPr lang="en-US" sz="2200" dirty="0">
                <a:solidFill>
                  <a:srgbClr val="008080"/>
                </a:solidFill>
                <a:latin typeface="Consolas" panose="020B0609020204030204" pitchFamily="49" charset="0"/>
              </a:rPr>
              <a:t>&lt;&lt;</a:t>
            </a:r>
            <a:r>
              <a:rPr lang="en-US" sz="2200"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kms</a:t>
            </a:r>
            <a:r>
              <a:rPr lang="en-US" sz="2200" dirty="0">
                <a:solidFill>
                  <a:srgbClr val="000000"/>
                </a:solidFill>
                <a:latin typeface="Consolas" panose="020B0609020204030204" pitchFamily="49" charset="0"/>
              </a:rPr>
              <a:t> </a:t>
            </a:r>
            <a:r>
              <a:rPr lang="en-US" sz="2200" dirty="0">
                <a:solidFill>
                  <a:srgbClr val="008080"/>
                </a:solidFill>
                <a:latin typeface="Consolas" panose="020B0609020204030204" pitchFamily="49" charset="0"/>
              </a:rPr>
              <a:t>&lt;&lt;</a:t>
            </a:r>
            <a:r>
              <a:rPr lang="en-US" sz="2200" dirty="0">
                <a:solidFill>
                  <a:srgbClr val="000000"/>
                </a:solidFill>
                <a:latin typeface="Consolas" panose="020B0609020204030204" pitchFamily="49" charset="0"/>
              </a:rPr>
              <a:t> endl;</a:t>
            </a:r>
          </a:p>
          <a:p>
            <a:pPr marL="0" indent="0">
              <a:lnSpc>
                <a:spcPct val="100000"/>
              </a:lnSpc>
              <a:spcBef>
                <a:spcPts val="0"/>
              </a:spcBef>
              <a:spcAft>
                <a:spcPts val="0"/>
              </a:spcAft>
              <a:buNone/>
            </a:pPr>
            <a:r>
              <a:rPr lang="en-US" sz="2200" dirty="0">
                <a:solidFill>
                  <a:srgbClr val="0000FF"/>
                </a:solidFill>
                <a:latin typeface="Consolas" panose="020B0609020204030204" pitchFamily="49" charset="0"/>
              </a:rPr>
              <a:t>   return</a:t>
            </a:r>
            <a:r>
              <a:rPr lang="en-US" sz="2200" dirty="0">
                <a:solidFill>
                  <a:srgbClr val="000000"/>
                </a:solidFill>
                <a:latin typeface="Consolas" panose="020B0609020204030204" pitchFamily="49" charset="0"/>
              </a:rPr>
              <a:t> 0;</a:t>
            </a:r>
          </a:p>
          <a:p>
            <a:pPr marL="0" indent="0">
              <a:lnSpc>
                <a:spcPct val="100000"/>
              </a:lnSpc>
              <a:spcBef>
                <a:spcPts val="0"/>
              </a:spcBef>
              <a:spcAft>
                <a:spcPts val="0"/>
              </a:spcAft>
              <a:buNone/>
            </a:pPr>
            <a:r>
              <a:rPr lang="bg-BG" sz="2200" dirty="0">
                <a:solidFill>
                  <a:srgbClr val="000000"/>
                </a:solidFill>
                <a:latin typeface="Consolas" panose="020B0609020204030204" pitchFamily="49" charset="0"/>
              </a:rPr>
              <a:t>}</a:t>
            </a:r>
            <a:endParaRPr lang="en-US" sz="2200" b="1"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43C20813-E79E-4637-B0DD-0EBBF6872E51}" type="slidenum">
              <a:rPr lang="en-US" smtClean="0"/>
              <a:t>28</a:t>
            </a:fld>
            <a:endParaRPr lang="en-US"/>
          </a:p>
        </p:txBody>
      </p:sp>
    </p:spTree>
    <p:extLst>
      <p:ext uri="{BB962C8B-B14F-4D97-AF65-F5344CB8AC3E}">
        <p14:creationId xmlns:p14="http://schemas.microsoft.com/office/powerpoint/2010/main" val="18344136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 Code Explanation</a:t>
            </a:r>
            <a:endParaRPr lang="bg-BG" dirty="0"/>
          </a:p>
        </p:txBody>
      </p:sp>
      <p:pic>
        <p:nvPicPr>
          <p:cNvPr id="35" name="Content Placeholder 34"/>
          <p:cNvPicPr>
            <a:picLocks noGrp="1" noChangeAspect="1"/>
          </p:cNvPicPr>
          <p:nvPr>
            <p:ph idx="1"/>
          </p:nvPr>
        </p:nvPicPr>
        <p:blipFill>
          <a:blip r:embed="rId2"/>
          <a:stretch>
            <a:fillRect/>
          </a:stretch>
        </p:blipFill>
        <p:spPr>
          <a:xfrm>
            <a:off x="2178424" y="1774543"/>
            <a:ext cx="7060885" cy="4561946"/>
          </a:xfrm>
          <a:prstGeom prst="rect">
            <a:avLst/>
          </a:prstGeom>
        </p:spPr>
      </p:pic>
      <p:sp>
        <p:nvSpPr>
          <p:cNvPr id="4" name="Slide Number Placeholder 3"/>
          <p:cNvSpPr>
            <a:spLocks noGrp="1"/>
          </p:cNvSpPr>
          <p:nvPr>
            <p:ph type="sldNum" sz="quarter" idx="12"/>
          </p:nvPr>
        </p:nvSpPr>
        <p:spPr/>
        <p:txBody>
          <a:bodyPr/>
          <a:lstStyle/>
          <a:p>
            <a:fld id="{43C20813-E79E-4637-B0DD-0EBBF6872E51}" type="slidenum">
              <a:rPr lang="en-US" smtClean="0"/>
              <a:t>29</a:t>
            </a:fld>
            <a:endParaRPr lang="en-US"/>
          </a:p>
        </p:txBody>
      </p:sp>
    </p:spTree>
    <p:extLst>
      <p:ext uri="{BB962C8B-B14F-4D97-AF65-F5344CB8AC3E}">
        <p14:creationId xmlns:p14="http://schemas.microsoft.com/office/powerpoint/2010/main" val="27017429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a:t>
            </a:r>
            <a:endParaRPr lang="bg-BG"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3200" dirty="0"/>
              <a:t>Test the program with input data for which you can easily determine the correct output.</a:t>
            </a:r>
          </a:p>
          <a:p>
            <a:pPr>
              <a:buFont typeface="Wingdings" panose="05000000000000000000" pitchFamily="2" charset="2"/>
              <a:buChar char="§"/>
            </a:pPr>
            <a:r>
              <a:rPr lang="en-US" sz="3200" dirty="0"/>
              <a:t>For example:</a:t>
            </a:r>
          </a:p>
          <a:p>
            <a:pPr lvl="1">
              <a:buFont typeface="Wingdings" panose="05000000000000000000" pitchFamily="2" charset="2"/>
              <a:buChar char="§"/>
            </a:pPr>
            <a:r>
              <a:rPr lang="en-US" sz="3000" dirty="0"/>
              <a:t>10 miles should be converted to 16.09 kilometers</a:t>
            </a:r>
          </a:p>
        </p:txBody>
      </p:sp>
      <p:sp>
        <p:nvSpPr>
          <p:cNvPr id="4" name="Slide Number Placeholder 3"/>
          <p:cNvSpPr>
            <a:spLocks noGrp="1"/>
          </p:cNvSpPr>
          <p:nvPr>
            <p:ph type="sldNum" sz="quarter" idx="12"/>
          </p:nvPr>
        </p:nvSpPr>
        <p:spPr/>
        <p:txBody>
          <a:bodyPr/>
          <a:lstStyle/>
          <a:p>
            <a:fld id="{43C20813-E79E-4637-B0DD-0EBBF6872E51}" type="slidenum">
              <a:rPr lang="en-US" smtClean="0"/>
              <a:t>30</a:t>
            </a:fld>
            <a:endParaRPr lang="en-US"/>
          </a:p>
        </p:txBody>
      </p:sp>
    </p:spTree>
    <p:extLst>
      <p:ext uri="{BB962C8B-B14F-4D97-AF65-F5344CB8AC3E}">
        <p14:creationId xmlns:p14="http://schemas.microsoft.com/office/powerpoint/2010/main" val="9690920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Questions?</a:t>
            </a:r>
            <a:endParaRPr lang="bg-BG" dirty="0"/>
          </a:p>
        </p:txBody>
      </p:sp>
      <p:sp>
        <p:nvSpPr>
          <p:cNvPr id="9" name="Content Placeholder 8"/>
          <p:cNvSpPr>
            <a:spLocks noGrp="1"/>
          </p:cNvSpPr>
          <p:nvPr>
            <p:ph idx="1"/>
          </p:nvPr>
        </p:nvSpPr>
        <p:spPr>
          <a:xfrm>
            <a:off x="1097280" y="1845734"/>
            <a:ext cx="8952155" cy="4023360"/>
          </a:xfrm>
        </p:spPr>
        <p:txBody>
          <a:bodyPr>
            <a:normAutofit/>
          </a:bodyPr>
          <a:lstStyle/>
          <a:p>
            <a:endParaRPr lang="en-US" sz="9600" dirty="0"/>
          </a:p>
          <a:p>
            <a:pPr algn="ctr"/>
            <a:r>
              <a:rPr lang="en-US" sz="9600" dirty="0"/>
              <a:t>Q </a:t>
            </a:r>
            <a:r>
              <a:rPr lang="en-US" sz="6000" dirty="0"/>
              <a:t>&amp;</a:t>
            </a:r>
            <a:r>
              <a:rPr lang="en-US" sz="9600" dirty="0"/>
              <a:t> A</a:t>
            </a:r>
            <a:endParaRPr lang="bg-BG" sz="9600" dirty="0"/>
          </a:p>
        </p:txBody>
      </p:sp>
      <p:sp>
        <p:nvSpPr>
          <p:cNvPr id="4" name="Slide Number Placeholder 3"/>
          <p:cNvSpPr>
            <a:spLocks noGrp="1"/>
          </p:cNvSpPr>
          <p:nvPr>
            <p:ph type="sldNum" sz="quarter" idx="12"/>
          </p:nvPr>
        </p:nvSpPr>
        <p:spPr/>
        <p:txBody>
          <a:bodyPr/>
          <a:lstStyle/>
          <a:p>
            <a:fld id="{43C20813-E79E-4637-B0DD-0EBBF6872E51}" type="slidenum">
              <a:rPr lang="en-US" smtClean="0"/>
              <a:t>31</a:t>
            </a:fld>
            <a:endParaRPr lang="en-US"/>
          </a:p>
        </p:txBody>
      </p:sp>
    </p:spTree>
    <p:extLst>
      <p:ext uri="{BB962C8B-B14F-4D97-AF65-F5344CB8AC3E}">
        <p14:creationId xmlns:p14="http://schemas.microsoft.com/office/powerpoint/2010/main" val="258340406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1987</TotalTime>
  <Words>1208</Words>
  <Application>Microsoft Office PowerPoint</Application>
  <PresentationFormat>Widescreen</PresentationFormat>
  <Paragraphs>203</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Calibri</vt:lpstr>
      <vt:lpstr>Calibri Light</vt:lpstr>
      <vt:lpstr>Consolas</vt:lpstr>
      <vt:lpstr>Courier New</vt:lpstr>
      <vt:lpstr>Wingdings</vt:lpstr>
      <vt:lpstr>Retrospect</vt:lpstr>
      <vt:lpstr>Introduction to Computers, Problem Solving and Programming</vt:lpstr>
      <vt:lpstr>Lecture Contents</vt:lpstr>
      <vt:lpstr>Anatomy of Computers</vt:lpstr>
      <vt:lpstr>Programming Languages</vt:lpstr>
      <vt:lpstr>A Program in Machine and Assembly Language</vt:lpstr>
      <vt:lpstr>High-level Languages</vt:lpstr>
      <vt:lpstr>Processing a High-level Language Program (Part 1 of 2)</vt:lpstr>
      <vt:lpstr>Processing a High-level Language Program (Part 2 of 2)</vt:lpstr>
      <vt:lpstr>Preparing a  High-level Language Program for Execution</vt:lpstr>
      <vt:lpstr>Flow of Information During Program Execution</vt:lpstr>
      <vt:lpstr>Integrated Development Environments (IDEs)</vt:lpstr>
      <vt:lpstr>Exercise: Creating a C++ Program</vt:lpstr>
      <vt:lpstr>Step 1: Creating the Project (1 of 2)</vt:lpstr>
      <vt:lpstr>Step 1: Creating the Project (2 of 2)</vt:lpstr>
      <vt:lpstr>Step 2: Writing the Code</vt:lpstr>
      <vt:lpstr>Step 3: Building the Program</vt:lpstr>
      <vt:lpstr>Step 4: Running the Program</vt:lpstr>
      <vt:lpstr>Object-Oriented Programming</vt:lpstr>
      <vt:lpstr>Class Hierarchy Example</vt:lpstr>
      <vt:lpstr>Object-oriented Principles (Part 1 of 2)</vt:lpstr>
      <vt:lpstr>Object-oriented Principles (Part 2 of 2)</vt:lpstr>
      <vt:lpstr>The Software Development Method </vt:lpstr>
      <vt:lpstr>Software Development Method Steps (Part 1 of 2)</vt:lpstr>
      <vt:lpstr>Software Development Method Steps (Part 2 of 2)</vt:lpstr>
      <vt:lpstr>Example: Applying the Software Development Method</vt:lpstr>
      <vt:lpstr>Analysis of the Problem</vt:lpstr>
      <vt:lpstr>Design</vt:lpstr>
      <vt:lpstr>Implementation</vt:lpstr>
      <vt:lpstr>Source Code Explanation</vt:lpstr>
      <vt:lpstr>Testing</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 110 Visual Basic Programming AUBG Fall Semester 2016</dc:title>
  <dc:creator>mugen</dc:creator>
  <cp:lastModifiedBy>Kalin Dimitrov</cp:lastModifiedBy>
  <cp:revision>511</cp:revision>
  <dcterms:created xsi:type="dcterms:W3CDTF">2016-08-30T09:20:13Z</dcterms:created>
  <dcterms:modified xsi:type="dcterms:W3CDTF">2025-08-24T11:10:07Z</dcterms:modified>
</cp:coreProperties>
</file>