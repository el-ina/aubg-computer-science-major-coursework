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37" r:id="rId1"/>
  </p:sldMasterIdLst>
  <p:notesMasterIdLst>
    <p:notesMasterId r:id="rId27"/>
  </p:notesMasterIdLst>
  <p:sldIdLst>
    <p:sldId id="286" r:id="rId2"/>
    <p:sldId id="282" r:id="rId3"/>
    <p:sldId id="288" r:id="rId4"/>
    <p:sldId id="294" r:id="rId5"/>
    <p:sldId id="333" r:id="rId6"/>
    <p:sldId id="295" r:id="rId7"/>
    <p:sldId id="296" r:id="rId8"/>
    <p:sldId id="299" r:id="rId9"/>
    <p:sldId id="298" r:id="rId10"/>
    <p:sldId id="300" r:id="rId11"/>
    <p:sldId id="301" r:id="rId12"/>
    <p:sldId id="345" r:id="rId13"/>
    <p:sldId id="302" r:id="rId14"/>
    <p:sldId id="303" r:id="rId15"/>
    <p:sldId id="304" r:id="rId16"/>
    <p:sldId id="305" r:id="rId17"/>
    <p:sldId id="306" r:id="rId18"/>
    <p:sldId id="307" r:id="rId19"/>
    <p:sldId id="308" r:id="rId20"/>
    <p:sldId id="309" r:id="rId21"/>
    <p:sldId id="310" r:id="rId22"/>
    <p:sldId id="311" r:id="rId23"/>
    <p:sldId id="312" r:id="rId24"/>
    <p:sldId id="313" r:id="rId25"/>
    <p:sldId id="28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FB5EF83-756C-426D-AECA-1BE000ACBC00}">
          <p14:sldIdLst>
            <p14:sldId id="286"/>
            <p14:sldId id="282"/>
            <p14:sldId id="288"/>
            <p14:sldId id="294"/>
            <p14:sldId id="333"/>
            <p14:sldId id="295"/>
            <p14:sldId id="296"/>
            <p14:sldId id="299"/>
            <p14:sldId id="298"/>
            <p14:sldId id="300"/>
            <p14:sldId id="301"/>
            <p14:sldId id="345"/>
            <p14:sldId id="302"/>
            <p14:sldId id="303"/>
            <p14:sldId id="304"/>
            <p14:sldId id="305"/>
            <p14:sldId id="306"/>
            <p14:sldId id="307"/>
            <p14:sldId id="308"/>
            <p14:sldId id="309"/>
            <p14:sldId id="310"/>
            <p14:sldId id="311"/>
            <p14:sldId id="312"/>
            <p14:sldId id="313"/>
            <p14:sldId id="284"/>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1" autoAdjust="0"/>
    <p:restoredTop sz="94674" autoAdjust="0"/>
  </p:normalViewPr>
  <p:slideViewPr>
    <p:cSldViewPr snapToGrid="0">
      <p:cViewPr varScale="1">
        <p:scale>
          <a:sx n="78" d="100"/>
          <a:sy n="78" d="100"/>
        </p:scale>
        <p:origin x="787" y="6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6" d="100"/>
          <a:sy n="86" d="100"/>
        </p:scale>
        <p:origin x="3144"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62BCD8-DC8B-4E4A-9B40-F477CC878439}" type="datetimeFigureOut">
              <a:rPr lang="en-US" smtClean="0"/>
              <a:t>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CAA3A9-E441-4BC6-80B0-357EE149B205}" type="slidenum">
              <a:rPr lang="en-US" smtClean="0"/>
              <a:t>‹#›</a:t>
            </a:fld>
            <a:endParaRPr lang="en-US"/>
          </a:p>
        </p:txBody>
      </p:sp>
    </p:spTree>
    <p:extLst>
      <p:ext uri="{BB962C8B-B14F-4D97-AF65-F5344CB8AC3E}">
        <p14:creationId xmlns:p14="http://schemas.microsoft.com/office/powerpoint/2010/main" val="2902663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EDF588-0E65-402C-A793-16E0D2ECAA48}" type="datetime1">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C20813-E79E-4637-B0DD-0EBBF6872E5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785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3EE1C6-3CA3-41B1-A6D0-C44E4BC7ACC0}" type="datetime1">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2106980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04C14B-91C6-4886-AADB-CB635E47760F}" type="datetime1">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C20813-E79E-4637-B0DD-0EBBF6872E5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03606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81507AF-1767-4BF4-A25A-D8AE47393577}" type="datetime1">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663083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F75E320-A9F7-4C71-A5DC-9BB9B8110195}" type="datetime1">
              <a:rPr lang="en-US" smtClean="0"/>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417127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66D098-881F-47B3-9FD2-4A7A0B87D037}" type="datetime1">
              <a:rPr lang="en-US" smtClean="0"/>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4276077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A9EB7B2-5A60-4FFD-A166-CE1849FA023E}" type="datetime1">
              <a:rPr lang="en-US" smtClean="0"/>
              <a:t>12/1/2025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3159546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8BCFAB1-EAD0-44BA-92C4-C758F81FD67F}" type="datetime1">
              <a:rPr lang="en-US" smtClean="0"/>
              <a:t>12/1/2025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3C20813-E79E-4637-B0DD-0EBBF6872E51}" type="slidenum">
              <a:rPr lang="en-US" smtClean="0"/>
              <a:t>‹#›</a:t>
            </a:fld>
            <a:endParaRPr lang="en-US"/>
          </a:p>
        </p:txBody>
      </p:sp>
    </p:spTree>
    <p:extLst>
      <p:ext uri="{BB962C8B-B14F-4D97-AF65-F5344CB8AC3E}">
        <p14:creationId xmlns:p14="http://schemas.microsoft.com/office/powerpoint/2010/main" val="344696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F87054-7BF2-4CC3-8073-237AEDCFE19E}" type="datetime1">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1916363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A8DACC-C1E5-44C5-9CEA-A1C49DFCD750}" type="datetime1">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2384408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5412D7-194C-44A6-8DE3-810611688ABF}" type="datetime1">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141008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580B9AF-E85D-4F9C-8FC5-BD16A590FCDC}" type="datetime1">
              <a:rPr lang="en-US" smtClean="0"/>
              <a:t>12/1/2025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3C20813-E79E-4637-B0DD-0EBBF6872E5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2788339"/>
      </p:ext>
    </p:extLst>
  </p:cSld>
  <p:clrMap bg1="lt1" tx1="dk1" bg2="lt2" tx2="dk2" accent1="accent1" accent2="accent2" accent3="accent3" accent4="accent4" accent5="accent5" accent6="accent6" hlink="hlink" folHlink="folHlink"/>
  <p:sldLayoutIdLst>
    <p:sldLayoutId id="2147484038" r:id="rId1"/>
    <p:sldLayoutId id="2147484039" r:id="rId2"/>
    <p:sldLayoutId id="2147484040" r:id="rId3"/>
    <p:sldLayoutId id="2147484041" r:id="rId4"/>
    <p:sldLayoutId id="2147484042" r:id="rId5"/>
    <p:sldLayoutId id="2147484043" r:id="rId6"/>
    <p:sldLayoutId id="2147484044" r:id="rId7"/>
    <p:sldLayoutId id="2147484045" r:id="rId8"/>
    <p:sldLayoutId id="2147484046" r:id="rId9"/>
    <p:sldLayoutId id="2147484047" r:id="rId10"/>
    <p:sldLayoutId id="2147484048"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Operator Overloading</a:t>
            </a:r>
            <a:endParaRPr lang="bg-BG" dirty="0"/>
          </a:p>
        </p:txBody>
      </p:sp>
      <p:sp>
        <p:nvSpPr>
          <p:cNvPr id="3" name="Subtitle 2"/>
          <p:cNvSpPr>
            <a:spLocks noGrp="1"/>
          </p:cNvSpPr>
          <p:nvPr>
            <p:ph type="subTitle" idx="1"/>
          </p:nvPr>
        </p:nvSpPr>
        <p:spPr>
          <a:xfrm>
            <a:off x="1100051" y="4455620"/>
            <a:ext cx="10058400" cy="1792780"/>
          </a:xfrm>
        </p:spPr>
        <p:txBody>
          <a:bodyPr>
            <a:normAutofit/>
          </a:bodyPr>
          <a:lstStyle/>
          <a:p>
            <a:r>
              <a:rPr lang="en-US" dirty="0"/>
              <a:t>COS 1020 C++ Programming</a:t>
            </a:r>
          </a:p>
          <a:p>
            <a:r>
              <a:rPr lang="en-US" dirty="0"/>
              <a:t>AUBG COS Department</a:t>
            </a:r>
          </a:p>
          <a:p>
            <a:r>
              <a:rPr lang="en-US" dirty="0"/>
              <a:t>Based on chapter 11 – problem solving, abstraction and design using C++, Friedman &amp; Koffman</a:t>
            </a:r>
            <a:endParaRPr lang="bg-BG" dirty="0"/>
          </a:p>
        </p:txBody>
      </p:sp>
      <p:sp>
        <p:nvSpPr>
          <p:cNvPr id="4" name="Slide Number Placeholder 3"/>
          <p:cNvSpPr>
            <a:spLocks noGrp="1"/>
          </p:cNvSpPr>
          <p:nvPr>
            <p:ph type="sldNum" sz="quarter" idx="12"/>
          </p:nvPr>
        </p:nvSpPr>
        <p:spPr/>
        <p:txBody>
          <a:bodyPr/>
          <a:lstStyle/>
          <a:p>
            <a:fld id="{43C20813-E79E-4637-B0DD-0EBBF6872E51}" type="slidenum">
              <a:rPr lang="en-US" smtClean="0"/>
              <a:t>1</a:t>
            </a:fld>
            <a:endParaRPr lang="en-US"/>
          </a:p>
        </p:txBody>
      </p:sp>
    </p:spTree>
    <p:extLst>
      <p:ext uri="{BB962C8B-B14F-4D97-AF65-F5344CB8AC3E}">
        <p14:creationId xmlns:p14="http://schemas.microsoft.com/office/powerpoint/2010/main" val="2545323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Lecture Contents</a:t>
            </a:r>
            <a:endParaRPr lang="bg-BG" dirty="0"/>
          </a:p>
        </p:txBody>
      </p:sp>
      <p:sp>
        <p:nvSpPr>
          <p:cNvPr id="3" name="Content Placeholder 2"/>
          <p:cNvSpPr>
            <a:spLocks noGrp="1"/>
          </p:cNvSpPr>
          <p:nvPr>
            <p:ph idx="1"/>
          </p:nvPr>
        </p:nvSpPr>
        <p:spPr>
          <a:xfrm>
            <a:off x="1097280" y="1845734"/>
            <a:ext cx="10058400" cy="4402666"/>
          </a:xfrm>
        </p:spPr>
        <p:txBody>
          <a:bodyPr>
            <a:normAutofit/>
          </a:bodyPr>
          <a:lstStyle/>
          <a:p>
            <a:pPr marL="0" indent="0">
              <a:buNone/>
            </a:pPr>
            <a:r>
              <a:rPr lang="en-US" sz="3200" dirty="0"/>
              <a:t>11.2 Operator Overloading and Friends</a:t>
            </a:r>
          </a:p>
        </p:txBody>
      </p:sp>
      <p:sp>
        <p:nvSpPr>
          <p:cNvPr id="4" name="Slide Number Placeholder 3"/>
          <p:cNvSpPr>
            <a:spLocks noGrp="1"/>
          </p:cNvSpPr>
          <p:nvPr>
            <p:ph type="sldNum" sz="quarter" idx="12"/>
          </p:nvPr>
        </p:nvSpPr>
        <p:spPr/>
        <p:txBody>
          <a:bodyPr/>
          <a:lstStyle/>
          <a:p>
            <a:fld id="{43C20813-E79E-4637-B0DD-0EBBF6872E51}" type="slidenum">
              <a:rPr lang="en-US" smtClean="0"/>
              <a:t>2</a:t>
            </a:fld>
            <a:endParaRPr lang="en-US"/>
          </a:p>
        </p:txBody>
      </p:sp>
    </p:spTree>
    <p:extLst>
      <p:ext uri="{BB962C8B-B14F-4D97-AF65-F5344CB8AC3E}">
        <p14:creationId xmlns:p14="http://schemas.microsoft.com/office/powerpoint/2010/main" val="25770205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Operator Overloading</a:t>
            </a:r>
            <a:endParaRPr lang="bg-BG" dirty="0"/>
          </a:p>
        </p:txBody>
      </p:sp>
      <p:sp>
        <p:nvSpPr>
          <p:cNvPr id="3" name="Content Placeholder 2"/>
          <p:cNvSpPr>
            <a:spLocks noGrp="1"/>
          </p:cNvSpPr>
          <p:nvPr>
            <p:ph idx="1"/>
          </p:nvPr>
        </p:nvSpPr>
        <p:spPr>
          <a:xfrm>
            <a:off x="1097280" y="1845733"/>
            <a:ext cx="10058400" cy="4384737"/>
          </a:xfrm>
        </p:spPr>
        <p:txBody>
          <a:bodyPr>
            <a:normAutofit/>
          </a:bodyPr>
          <a:lstStyle/>
          <a:p>
            <a:pPr>
              <a:buFont typeface="Wingdings" panose="05000000000000000000" pitchFamily="2" charset="2"/>
              <a:buChar char="§"/>
            </a:pPr>
            <a:r>
              <a:rPr lang="en-US" sz="3200" dirty="0"/>
              <a:t>More than one way to provide operator functions for class objects</a:t>
            </a:r>
          </a:p>
          <a:p>
            <a:pPr lvl="1">
              <a:buFont typeface="Wingdings" panose="05000000000000000000" pitchFamily="2" charset="2"/>
              <a:buChar char="§"/>
            </a:pPr>
            <a:r>
              <a:rPr lang="en-US" sz="3000" dirty="0"/>
              <a:t>Pass second object to first object’s </a:t>
            </a:r>
            <a:r>
              <a:rPr lang="en-US" sz="3000" dirty="0" err="1"/>
              <a:t>lessThan</a:t>
            </a:r>
            <a:r>
              <a:rPr lang="en-US" sz="3000" dirty="0"/>
              <a:t> member function</a:t>
            </a:r>
          </a:p>
          <a:p>
            <a:pPr marL="201168" lvl="1" indent="0">
              <a:spcBef>
                <a:spcPts val="600"/>
              </a:spcBef>
              <a:spcAft>
                <a:spcPts val="1200"/>
              </a:spcAft>
              <a:buNone/>
            </a:pPr>
            <a:r>
              <a:rPr lang="en-US" sz="3000" b="1" dirty="0">
                <a:latin typeface="Courier New" panose="02070309020205020404" pitchFamily="49" charset="0"/>
                <a:cs typeface="Courier New" panose="02070309020205020404" pitchFamily="49" charset="0"/>
              </a:rPr>
              <a:t>	e1.lessThan(e2);</a:t>
            </a:r>
            <a:endParaRPr lang="en-US" sz="3000" dirty="0"/>
          </a:p>
          <a:p>
            <a:pPr lvl="1">
              <a:buFont typeface="Wingdings" panose="05000000000000000000" pitchFamily="2" charset="2"/>
              <a:buChar char="§"/>
            </a:pPr>
            <a:r>
              <a:rPr lang="en-US" sz="3000" dirty="0"/>
              <a:t>Overloading existing operators, such as </a:t>
            </a:r>
            <a:r>
              <a:rPr lang="en-US" sz="3000" b="1" dirty="0">
                <a:latin typeface="Courier New" panose="02070309020205020404" pitchFamily="49" charset="0"/>
                <a:cs typeface="Courier New" panose="02070309020205020404" pitchFamily="49" charset="0"/>
              </a:rPr>
              <a:t>&lt;</a:t>
            </a:r>
            <a:r>
              <a:rPr lang="en-US" sz="3000" dirty="0"/>
              <a:t>, </a:t>
            </a:r>
            <a:r>
              <a:rPr lang="en-US" sz="3000" b="1" dirty="0">
                <a:latin typeface="Courier New" panose="02070309020205020404" pitchFamily="49" charset="0"/>
                <a:cs typeface="Courier New" panose="02070309020205020404" pitchFamily="49" charset="0"/>
              </a:rPr>
              <a:t>&gt;</a:t>
            </a:r>
            <a:r>
              <a:rPr lang="en-US" sz="3000" dirty="0"/>
              <a:t>, </a:t>
            </a:r>
            <a:r>
              <a:rPr lang="en-US" sz="3000" b="1" dirty="0">
                <a:latin typeface="Courier New" panose="02070309020205020404" pitchFamily="49" charset="0"/>
                <a:cs typeface="Courier New" panose="02070309020205020404" pitchFamily="49" charset="0"/>
              </a:rPr>
              <a:t>&lt;&lt;</a:t>
            </a:r>
          </a:p>
          <a:p>
            <a:pPr marL="201168" lvl="1" indent="0">
              <a:spcBef>
                <a:spcPts val="600"/>
              </a:spcBef>
              <a:spcAft>
                <a:spcPts val="1200"/>
              </a:spcAft>
              <a:buNone/>
            </a:pPr>
            <a:r>
              <a:rPr lang="en-US" sz="3000" b="1" dirty="0">
                <a:latin typeface="Courier New" panose="02070309020205020404" pitchFamily="49" charset="0"/>
                <a:cs typeface="Courier New" panose="02070309020205020404" pitchFamily="49" charset="0"/>
              </a:rPr>
              <a:t>	e1 &lt; e2</a:t>
            </a:r>
          </a:p>
          <a:p>
            <a:pPr lvl="1">
              <a:buFont typeface="Wingdings" panose="05000000000000000000" pitchFamily="2" charset="2"/>
              <a:buChar char="§"/>
            </a:pPr>
            <a:r>
              <a:rPr lang="en-US" sz="3000" dirty="0"/>
              <a:t>Use </a:t>
            </a:r>
            <a:r>
              <a:rPr lang="en-US" sz="3000" b="1" dirty="0"/>
              <a:t>friend</a:t>
            </a:r>
            <a:r>
              <a:rPr lang="en-US" sz="3000" dirty="0"/>
              <a:t> functions to implement the operation</a:t>
            </a:r>
          </a:p>
          <a:p>
            <a:pPr marL="201168" lvl="1" indent="0">
              <a:spcBef>
                <a:spcPts val="600"/>
              </a:spcBef>
              <a:spcAft>
                <a:spcPts val="1200"/>
              </a:spcAft>
              <a:buNone/>
            </a:pPr>
            <a:r>
              <a:rPr lang="en-US" sz="3000" b="1" dirty="0">
                <a:latin typeface="Courier New" panose="02070309020205020404" pitchFamily="49" charset="0"/>
                <a:cs typeface="Courier New" panose="02070309020205020404" pitchFamily="49" charset="0"/>
              </a:rPr>
              <a:t>	</a:t>
            </a:r>
            <a:r>
              <a:rPr lang="en-US" sz="3000" b="1" dirty="0" err="1">
                <a:latin typeface="Courier New" panose="02070309020205020404" pitchFamily="49" charset="0"/>
                <a:cs typeface="Courier New" panose="02070309020205020404" pitchFamily="49" charset="0"/>
              </a:rPr>
              <a:t>lessThan</a:t>
            </a:r>
            <a:r>
              <a:rPr lang="en-US" sz="3000" b="1" dirty="0">
                <a:latin typeface="Courier New" panose="02070309020205020404" pitchFamily="49" charset="0"/>
                <a:cs typeface="Courier New" panose="02070309020205020404" pitchFamily="49" charset="0"/>
              </a:rPr>
              <a:t>(e1,e2);</a:t>
            </a:r>
          </a:p>
        </p:txBody>
      </p:sp>
      <p:sp>
        <p:nvSpPr>
          <p:cNvPr id="4" name="Slide Number Placeholder 3"/>
          <p:cNvSpPr>
            <a:spLocks noGrp="1"/>
          </p:cNvSpPr>
          <p:nvPr>
            <p:ph type="sldNum" sz="quarter" idx="12"/>
          </p:nvPr>
        </p:nvSpPr>
        <p:spPr/>
        <p:txBody>
          <a:bodyPr/>
          <a:lstStyle/>
          <a:p>
            <a:fld id="{43C20813-E79E-4637-B0DD-0EBBF6872E51}" type="slidenum">
              <a:rPr lang="en-US" smtClean="0"/>
              <a:t>3</a:t>
            </a:fld>
            <a:endParaRPr lang="en-US"/>
          </a:p>
        </p:txBody>
      </p:sp>
    </p:spTree>
    <p:extLst>
      <p:ext uri="{BB962C8B-B14F-4D97-AF65-F5344CB8AC3E}">
        <p14:creationId xmlns:p14="http://schemas.microsoft.com/office/powerpoint/2010/main" val="258929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b="1" dirty="0">
                <a:latin typeface="Courier New" panose="02070309020205020404" pitchFamily="49" charset="0"/>
                <a:cs typeface="Courier New" panose="02070309020205020404" pitchFamily="49" charset="0"/>
              </a:rPr>
              <a:t>this</a:t>
            </a:r>
            <a:r>
              <a:rPr lang="en-US" dirty="0"/>
              <a:t> Keyword</a:t>
            </a:r>
            <a:endParaRPr lang="bg-BG" dirty="0"/>
          </a:p>
        </p:txBody>
      </p:sp>
      <p:sp>
        <p:nvSpPr>
          <p:cNvPr id="3" name="Content Placeholder 2"/>
          <p:cNvSpPr>
            <a:spLocks noGrp="1"/>
          </p:cNvSpPr>
          <p:nvPr>
            <p:ph idx="1"/>
          </p:nvPr>
        </p:nvSpPr>
        <p:spPr>
          <a:xfrm>
            <a:off x="1097280" y="1845734"/>
            <a:ext cx="10058400" cy="4295090"/>
          </a:xfrm>
        </p:spPr>
        <p:txBody>
          <a:bodyPr>
            <a:normAutofit/>
          </a:bodyPr>
          <a:lstStyle/>
          <a:p>
            <a:pPr>
              <a:buFont typeface="Wingdings" panose="05000000000000000000" pitchFamily="2" charset="2"/>
              <a:buChar char="§"/>
            </a:pPr>
            <a:r>
              <a:rPr lang="en-US" sz="3200" dirty="0"/>
              <a:t>The pointer </a:t>
            </a:r>
            <a:r>
              <a:rPr lang="en-US" sz="3200" b="1" dirty="0">
                <a:latin typeface="Courier New" panose="02070309020205020404" pitchFamily="49" charset="0"/>
                <a:cs typeface="Courier New" panose="02070309020205020404" pitchFamily="49" charset="0"/>
              </a:rPr>
              <a:t>this</a:t>
            </a:r>
            <a:r>
              <a:rPr lang="en-US" sz="3200" dirty="0"/>
              <a:t> is a local variable that points at the current object of a class</a:t>
            </a:r>
          </a:p>
          <a:p>
            <a:pPr>
              <a:buFont typeface="Wingdings" panose="05000000000000000000" pitchFamily="2" charset="2"/>
              <a:buChar char="§"/>
            </a:pPr>
            <a:r>
              <a:rPr lang="en-US" sz="3200" dirty="0"/>
              <a:t>Available in non-static member functions of a class</a:t>
            </a:r>
          </a:p>
          <a:p>
            <a:pPr>
              <a:buFont typeface="Wingdings" panose="05000000000000000000" pitchFamily="2" charset="2"/>
              <a:buChar char="§"/>
            </a:pPr>
            <a:r>
              <a:rPr lang="en-US" sz="3200" dirty="0"/>
              <a:t>Does not need to be declared</a:t>
            </a:r>
          </a:p>
          <a:p>
            <a:pPr>
              <a:buFont typeface="Wingdings" panose="05000000000000000000" pitchFamily="2" charset="2"/>
              <a:buChar char="§"/>
            </a:pPr>
            <a:r>
              <a:rPr lang="en-US" sz="3200" dirty="0"/>
              <a:t>Cannot be changed</a:t>
            </a:r>
          </a:p>
          <a:p>
            <a:pPr>
              <a:buFont typeface="Wingdings" panose="05000000000000000000" pitchFamily="2" charset="2"/>
              <a:buChar char="§"/>
            </a:pPr>
            <a:r>
              <a:rPr lang="en-US" sz="3200" b="1" dirty="0">
                <a:latin typeface="Courier New" panose="02070309020205020404" pitchFamily="49" charset="0"/>
                <a:cs typeface="Courier New" panose="02070309020205020404" pitchFamily="49" charset="0"/>
              </a:rPr>
              <a:t>*this </a:t>
            </a:r>
            <a:r>
              <a:rPr lang="en-US" sz="3200" dirty="0"/>
              <a:t>is the current object and can be returned by a member function</a:t>
            </a:r>
            <a:endParaRPr lang="bg-BG" sz="3200" dirty="0"/>
          </a:p>
        </p:txBody>
      </p:sp>
      <p:sp>
        <p:nvSpPr>
          <p:cNvPr id="4" name="Slide Number Placeholder 3"/>
          <p:cNvSpPr>
            <a:spLocks noGrp="1"/>
          </p:cNvSpPr>
          <p:nvPr>
            <p:ph type="sldNum" sz="quarter" idx="12"/>
          </p:nvPr>
        </p:nvSpPr>
        <p:spPr/>
        <p:txBody>
          <a:bodyPr/>
          <a:lstStyle/>
          <a:p>
            <a:fld id="{43C20813-E79E-4637-B0DD-0EBBF6872E51}" type="slidenum">
              <a:rPr lang="en-US" smtClean="0"/>
              <a:t>4</a:t>
            </a:fld>
            <a:endParaRPr lang="en-US"/>
          </a:p>
        </p:txBody>
      </p:sp>
    </p:spTree>
    <p:extLst>
      <p:ext uri="{BB962C8B-B14F-4D97-AF65-F5344CB8AC3E}">
        <p14:creationId xmlns:p14="http://schemas.microsoft.com/office/powerpoint/2010/main" val="2364754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ACB83-099B-2044-BD97-821B6C26D818}"/>
              </a:ext>
            </a:extLst>
          </p:cNvPr>
          <p:cNvSpPr>
            <a:spLocks noGrp="1"/>
          </p:cNvSpPr>
          <p:nvPr>
            <p:ph type="title"/>
          </p:nvPr>
        </p:nvSpPr>
        <p:spPr/>
        <p:txBody>
          <a:bodyPr/>
          <a:lstStyle/>
          <a:p>
            <a:r>
              <a:rPr lang="en-US" dirty="0"/>
              <a:t>The </a:t>
            </a:r>
            <a:r>
              <a:rPr lang="en-US" b="1" dirty="0">
                <a:latin typeface="Courier New" panose="02070309020205020404" pitchFamily="49" charset="0"/>
                <a:cs typeface="Courier New" panose="02070309020205020404" pitchFamily="49" charset="0"/>
              </a:rPr>
              <a:t>this</a:t>
            </a:r>
            <a:r>
              <a:rPr lang="en-US" dirty="0"/>
              <a:t> Keyword (continued)</a:t>
            </a:r>
            <a:endParaRPr lang="en-BG" dirty="0"/>
          </a:p>
        </p:txBody>
      </p:sp>
      <p:sp>
        <p:nvSpPr>
          <p:cNvPr id="3" name="Content Placeholder 2">
            <a:extLst>
              <a:ext uri="{FF2B5EF4-FFF2-40B4-BE49-F238E27FC236}">
                <a16:creationId xmlns:a16="http://schemas.microsoft.com/office/drawing/2014/main" id="{E2CBF6B9-1A3B-0B41-9569-4701C9DC3705}"/>
              </a:ext>
            </a:extLst>
          </p:cNvPr>
          <p:cNvSpPr>
            <a:spLocks noGrp="1"/>
          </p:cNvSpPr>
          <p:nvPr>
            <p:ph idx="1"/>
          </p:nvPr>
        </p:nvSpPr>
        <p:spPr/>
        <p:txBody>
          <a:bodyPr>
            <a:normAutofit fontScale="70000" lnSpcReduction="20000"/>
          </a:bodyPr>
          <a:lstStyle/>
          <a:p>
            <a:r>
              <a:rPr lang="en-BG" dirty="0">
                <a:latin typeface="Courier New" panose="02070309020205020404" pitchFamily="49" charset="0"/>
                <a:cs typeface="Courier New" panose="02070309020205020404" pitchFamily="49" charset="0"/>
              </a:rPr>
              <a:t>class Test {</a:t>
            </a:r>
          </a:p>
          <a:p>
            <a:r>
              <a:rPr lang="en-BG" dirty="0">
                <a:latin typeface="Courier New" panose="02070309020205020404" pitchFamily="49" charset="0"/>
                <a:cs typeface="Courier New" panose="02070309020205020404" pitchFamily="49" charset="0"/>
              </a:rPr>
              <a:t>public:</a:t>
            </a:r>
          </a:p>
          <a:p>
            <a:r>
              <a:rPr lang="en-BG" dirty="0">
                <a:latin typeface="Courier New" panose="02070309020205020404" pitchFamily="49" charset="0"/>
                <a:cs typeface="Courier New" panose="02070309020205020404" pitchFamily="49" charset="0"/>
              </a:rPr>
              <a:t>   void print() {</a:t>
            </a:r>
          </a:p>
          <a:p>
            <a:r>
              <a:rPr lang="en-BG" dirty="0">
                <a:latin typeface="Courier New" panose="02070309020205020404" pitchFamily="49" charset="0"/>
                <a:cs typeface="Courier New" panose="02070309020205020404" pitchFamily="49" charset="0"/>
              </a:rPr>
              <a:t>     cout &lt;&lt; this-&gt;a;</a:t>
            </a:r>
          </a:p>
          <a:p>
            <a:pPr marL="0" indent="0">
              <a:buNone/>
            </a:pPr>
            <a:r>
              <a:rPr lang="en-BG" dirty="0">
                <a:latin typeface="Courier New" panose="02070309020205020404" pitchFamily="49" charset="0"/>
                <a:cs typeface="Courier New" panose="02070309020205020404" pitchFamily="49" charset="0"/>
              </a:rPr>
              <a:t>    }</a:t>
            </a:r>
          </a:p>
          <a:p>
            <a:pPr marL="0" indent="0">
              <a:buNone/>
            </a:pPr>
            <a:r>
              <a:rPr lang="en-BG" dirty="0">
                <a:latin typeface="Courier New" panose="02070309020205020404" pitchFamily="49" charset="0"/>
                <a:cs typeface="Courier New" panose="02070309020205020404" pitchFamily="49" charset="0"/>
              </a:rPr>
              <a:t>    void setA(int a) {</a:t>
            </a:r>
          </a:p>
          <a:p>
            <a:pPr marL="0" indent="0">
              <a:buNone/>
            </a:pPr>
            <a:r>
              <a:rPr lang="en-BG" dirty="0">
                <a:latin typeface="Courier New" panose="02070309020205020404" pitchFamily="49" charset="0"/>
                <a:cs typeface="Courier New" panose="02070309020205020404" pitchFamily="49" charset="0"/>
              </a:rPr>
              <a:t>      this</a:t>
            </a:r>
            <a:r>
              <a:rPr lang="en-BG" b="1" dirty="0">
                <a:solidFill>
                  <a:srgbClr val="FF0000"/>
                </a:solidFill>
                <a:latin typeface="Courier New" panose="02070309020205020404" pitchFamily="49" charset="0"/>
                <a:cs typeface="Courier New" panose="02070309020205020404" pitchFamily="49" charset="0"/>
              </a:rPr>
              <a:t>-&gt;</a:t>
            </a:r>
            <a:r>
              <a:rPr lang="en-BG" dirty="0">
                <a:latin typeface="Courier New" panose="02070309020205020404" pitchFamily="49" charset="0"/>
                <a:cs typeface="Courier New" panose="02070309020205020404" pitchFamily="49" charset="0"/>
              </a:rPr>
              <a:t>a = a;</a:t>
            </a:r>
            <a:endParaRPr lang="bg-BG" dirty="0">
              <a:latin typeface="Courier New" panose="02070309020205020404" pitchFamily="49" charset="0"/>
              <a:cs typeface="Courier New" panose="02070309020205020404" pitchFamily="49" charset="0"/>
            </a:endParaRPr>
          </a:p>
          <a:p>
            <a:pPr marL="0" indent="0">
              <a:buNone/>
            </a:pPr>
            <a:r>
              <a:rPr lang="bg-BG" dirty="0">
                <a:latin typeface="Courier New" panose="02070309020205020404" pitchFamily="49" charset="0"/>
                <a:cs typeface="Courier New" panose="02070309020205020404" pitchFamily="49" charset="0"/>
              </a:rPr>
              <a:t>      </a:t>
            </a:r>
            <a:r>
              <a:rPr lang="en-US" dirty="0">
                <a:solidFill>
                  <a:srgbClr val="00B05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a:t>
            </a:r>
            <a:r>
              <a:rPr lang="bg-BG" b="1" dirty="0">
                <a:solidFill>
                  <a:srgbClr val="FF0000"/>
                </a:solidFill>
                <a:latin typeface="Courier New" panose="02070309020205020404" pitchFamily="49" charset="0"/>
                <a:cs typeface="Courier New" panose="02070309020205020404" pitchFamily="49" charset="0"/>
              </a:rPr>
              <a:t>*</a:t>
            </a:r>
            <a:r>
              <a:rPr lang="en-US" b="1" dirty="0">
                <a:solidFill>
                  <a:srgbClr val="FF0000"/>
                </a:solidFill>
                <a:latin typeface="Courier New" panose="02070309020205020404" pitchFamily="49" charset="0"/>
                <a:cs typeface="Courier New" panose="02070309020205020404" pitchFamily="49" charset="0"/>
              </a:rPr>
              <a:t>this)</a:t>
            </a:r>
            <a:r>
              <a:rPr lang="en-US" dirty="0">
                <a:solidFill>
                  <a:srgbClr val="002060"/>
                </a:solidFill>
                <a:latin typeface="Courier New" panose="02070309020205020404" pitchFamily="49" charset="0"/>
                <a:cs typeface="Courier New" panose="02070309020205020404" pitchFamily="49" charset="0"/>
              </a:rPr>
              <a:t>.</a:t>
            </a:r>
            <a:r>
              <a:rPr lang="en-US" dirty="0">
                <a:solidFill>
                  <a:srgbClr val="00B050"/>
                </a:solidFill>
                <a:latin typeface="Courier New" panose="02070309020205020404" pitchFamily="49" charset="0"/>
                <a:cs typeface="Courier New" panose="02070309020205020404" pitchFamily="49" charset="0"/>
              </a:rPr>
              <a:t>a = a;</a:t>
            </a:r>
            <a:endParaRPr lang="en-BG" dirty="0">
              <a:solidFill>
                <a:srgbClr val="00B050"/>
              </a:solidFill>
              <a:latin typeface="Courier New" panose="02070309020205020404" pitchFamily="49" charset="0"/>
              <a:cs typeface="Courier New" panose="02070309020205020404" pitchFamily="49" charset="0"/>
            </a:endParaRPr>
          </a:p>
          <a:p>
            <a:pPr marL="0" indent="0">
              <a:buNone/>
            </a:pPr>
            <a:r>
              <a:rPr lang="en-BG" dirty="0">
                <a:latin typeface="Courier New" panose="02070309020205020404" pitchFamily="49" charset="0"/>
                <a:cs typeface="Courier New" panose="02070309020205020404" pitchFamily="49" charset="0"/>
              </a:rPr>
              <a:t>    }</a:t>
            </a:r>
          </a:p>
          <a:p>
            <a:pPr marL="0" indent="0">
              <a:buNone/>
            </a:pPr>
            <a:r>
              <a:rPr lang="en-BG" dirty="0">
                <a:latin typeface="Courier New" panose="02070309020205020404" pitchFamily="49" charset="0"/>
                <a:cs typeface="Courier New" panose="02070309020205020404" pitchFamily="49" charset="0"/>
              </a:rPr>
              <a:t> private:</a:t>
            </a:r>
          </a:p>
          <a:p>
            <a:pPr marL="0" indent="0">
              <a:buNone/>
            </a:pPr>
            <a:r>
              <a:rPr lang="en-BG" dirty="0">
                <a:latin typeface="Courier New" panose="02070309020205020404" pitchFamily="49" charset="0"/>
                <a:cs typeface="Courier New" panose="02070309020205020404" pitchFamily="49" charset="0"/>
              </a:rPr>
              <a:t>   int a;</a:t>
            </a:r>
          </a:p>
          <a:p>
            <a:r>
              <a:rPr lang="en-BG" dirty="0">
                <a:latin typeface="Courier New" panose="02070309020205020404" pitchFamily="49" charset="0"/>
                <a:cs typeface="Courier New" panose="02070309020205020404" pitchFamily="49" charset="0"/>
              </a:rPr>
              <a:t>};</a:t>
            </a:r>
          </a:p>
        </p:txBody>
      </p:sp>
      <p:sp>
        <p:nvSpPr>
          <p:cNvPr id="4" name="Slide Number Placeholder 3">
            <a:extLst>
              <a:ext uri="{FF2B5EF4-FFF2-40B4-BE49-F238E27FC236}">
                <a16:creationId xmlns:a16="http://schemas.microsoft.com/office/drawing/2014/main" id="{CA1878DA-7538-3744-AAD6-6999F0F9ADCC}"/>
              </a:ext>
            </a:extLst>
          </p:cNvPr>
          <p:cNvSpPr>
            <a:spLocks noGrp="1"/>
          </p:cNvSpPr>
          <p:nvPr>
            <p:ph type="sldNum" sz="quarter" idx="12"/>
          </p:nvPr>
        </p:nvSpPr>
        <p:spPr/>
        <p:txBody>
          <a:bodyPr/>
          <a:lstStyle/>
          <a:p>
            <a:fld id="{43C20813-E79E-4637-B0DD-0EBBF6872E51}" type="slidenum">
              <a:rPr lang="en-US" smtClean="0"/>
              <a:t>5</a:t>
            </a:fld>
            <a:endParaRPr lang="en-US"/>
          </a:p>
        </p:txBody>
      </p:sp>
    </p:spTree>
    <p:extLst>
      <p:ext uri="{BB962C8B-B14F-4D97-AF65-F5344CB8AC3E}">
        <p14:creationId xmlns:p14="http://schemas.microsoft.com/office/powerpoint/2010/main" val="2693421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Special Functions Defaults</a:t>
            </a:r>
            <a:endParaRPr lang="bg-BG" dirty="0"/>
          </a:p>
        </p:txBody>
      </p:sp>
      <p:sp>
        <p:nvSpPr>
          <p:cNvPr id="3" name="Content Placeholder 2"/>
          <p:cNvSpPr>
            <a:spLocks noGrp="1"/>
          </p:cNvSpPr>
          <p:nvPr>
            <p:ph idx="1"/>
          </p:nvPr>
        </p:nvSpPr>
        <p:spPr>
          <a:xfrm>
            <a:off x="1097280" y="1845734"/>
            <a:ext cx="10058400" cy="4447490"/>
          </a:xfrm>
        </p:spPr>
        <p:txBody>
          <a:bodyPr>
            <a:normAutofit/>
          </a:bodyPr>
          <a:lstStyle/>
          <a:p>
            <a:pPr>
              <a:buFont typeface="Wingdings" panose="05000000000000000000" pitchFamily="2" charset="2"/>
              <a:buChar char="§"/>
            </a:pPr>
            <a:r>
              <a:rPr lang="en-US" sz="3200" dirty="0"/>
              <a:t>If no </a:t>
            </a:r>
            <a:r>
              <a:rPr lang="en-US" sz="3200" b="1" dirty="0"/>
              <a:t>constructor</a:t>
            </a:r>
            <a:r>
              <a:rPr lang="en-US" sz="3200" dirty="0"/>
              <a:t> is defined for a class, one that initializes the data members using language defaults is automatically generated</a:t>
            </a:r>
          </a:p>
          <a:p>
            <a:pPr>
              <a:buFont typeface="Wingdings" panose="05000000000000000000" pitchFamily="2" charset="2"/>
              <a:buChar char="§"/>
            </a:pPr>
            <a:r>
              <a:rPr lang="en-US" sz="3200" dirty="0"/>
              <a:t>In C++, classes come with three other special functions, which have default behavior that can sometimes be accepted (and you will not need to define them explicitly):</a:t>
            </a:r>
          </a:p>
          <a:p>
            <a:pPr lvl="1">
              <a:buFont typeface="Wingdings" panose="05000000000000000000" pitchFamily="2" charset="2"/>
              <a:buChar char="§"/>
            </a:pPr>
            <a:r>
              <a:rPr lang="en-US" sz="3000" b="1" dirty="0"/>
              <a:t>Destructor</a:t>
            </a:r>
          </a:p>
          <a:p>
            <a:pPr lvl="1">
              <a:buFont typeface="Wingdings" panose="05000000000000000000" pitchFamily="2" charset="2"/>
              <a:buChar char="§"/>
            </a:pPr>
            <a:r>
              <a:rPr lang="en-US" sz="3000" b="1" dirty="0"/>
              <a:t>Copy constructor</a:t>
            </a:r>
          </a:p>
          <a:p>
            <a:pPr lvl="1">
              <a:buFont typeface="Wingdings" panose="05000000000000000000" pitchFamily="2" charset="2"/>
              <a:buChar char="§"/>
            </a:pPr>
            <a:r>
              <a:rPr lang="en-US" sz="3000" b="1" dirty="0">
                <a:latin typeface="Courier New" panose="02070309020205020404" pitchFamily="49" charset="0"/>
                <a:cs typeface="Courier New" panose="02070309020205020404" pitchFamily="49" charset="0"/>
              </a:rPr>
              <a:t>operator=	</a:t>
            </a:r>
            <a:r>
              <a:rPr lang="en-US" sz="3000" dirty="0">
                <a:cs typeface="Courier New" panose="02070309020205020404" pitchFamily="49" charset="0"/>
              </a:rPr>
              <a:t>(</a:t>
            </a:r>
            <a:r>
              <a:rPr lang="en-US" sz="3000" i="1" dirty="0">
                <a:cs typeface="Courier New" panose="02070309020205020404" pitchFamily="49" charset="0"/>
              </a:rPr>
              <a:t>copy assignment operator</a:t>
            </a:r>
            <a:r>
              <a:rPr lang="en-US" sz="3000" dirty="0">
                <a:cs typeface="Courier New" panose="02070309020205020404" pitchFamily="49" charset="0"/>
              </a:rPr>
              <a:t>)</a:t>
            </a:r>
            <a:endParaRPr lang="bg-BG" sz="3000" dirty="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6</a:t>
            </a:fld>
            <a:endParaRPr lang="en-US"/>
          </a:p>
        </p:txBody>
      </p:sp>
    </p:spTree>
    <p:extLst>
      <p:ext uri="{BB962C8B-B14F-4D97-AF65-F5344CB8AC3E}">
        <p14:creationId xmlns:p14="http://schemas.microsoft.com/office/powerpoint/2010/main" val="3230484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Destructor</a:t>
            </a:r>
            <a:endParaRPr lang="bg-BG" dirty="0"/>
          </a:p>
        </p:txBody>
      </p:sp>
      <p:sp>
        <p:nvSpPr>
          <p:cNvPr id="3" name="Content Placeholder 2"/>
          <p:cNvSpPr>
            <a:spLocks noGrp="1"/>
          </p:cNvSpPr>
          <p:nvPr>
            <p:ph idx="1"/>
          </p:nvPr>
        </p:nvSpPr>
        <p:spPr>
          <a:xfrm>
            <a:off x="1097280" y="1845734"/>
            <a:ext cx="10058400" cy="4348878"/>
          </a:xfrm>
        </p:spPr>
        <p:txBody>
          <a:bodyPr>
            <a:normAutofit/>
          </a:bodyPr>
          <a:lstStyle/>
          <a:p>
            <a:pPr>
              <a:buFont typeface="Wingdings" panose="05000000000000000000" pitchFamily="2" charset="2"/>
              <a:buChar char="§"/>
            </a:pPr>
            <a:r>
              <a:rPr lang="en-US" sz="3200" dirty="0"/>
              <a:t>A class </a:t>
            </a:r>
            <a:r>
              <a:rPr lang="en-US" sz="3200" b="1" dirty="0"/>
              <a:t>destructor</a:t>
            </a:r>
            <a:r>
              <a:rPr lang="en-US" sz="3200" dirty="0"/>
              <a:t> is a member function, called whenever an object goes out of scope or is subject to a </a:t>
            </a:r>
            <a:r>
              <a:rPr lang="en-US" sz="3200" b="1" dirty="0">
                <a:latin typeface="Courier New" panose="02070309020205020404" pitchFamily="49" charset="0"/>
                <a:cs typeface="Courier New" panose="02070309020205020404" pitchFamily="49" charset="0"/>
              </a:rPr>
              <a:t>delete</a:t>
            </a:r>
          </a:p>
          <a:p>
            <a:pPr>
              <a:buFont typeface="Wingdings" panose="05000000000000000000" pitchFamily="2" charset="2"/>
              <a:buChar char="§"/>
            </a:pPr>
            <a:r>
              <a:rPr lang="en-US" sz="3200" dirty="0"/>
              <a:t>Its role is to free resources that were allocated by the constructor or other methods during the object’s lifetime:</a:t>
            </a:r>
          </a:p>
          <a:p>
            <a:pPr lvl="1">
              <a:buFont typeface="Wingdings" panose="05000000000000000000" pitchFamily="2" charset="2"/>
              <a:buChar char="§"/>
            </a:pPr>
            <a:r>
              <a:rPr lang="en-US" sz="3000" dirty="0"/>
              <a:t>Calling </a:t>
            </a:r>
            <a:r>
              <a:rPr lang="en-US" sz="3000" b="1" dirty="0">
                <a:latin typeface="Courier New" panose="02070309020205020404" pitchFamily="49" charset="0"/>
                <a:cs typeface="Courier New" panose="02070309020205020404" pitchFamily="49" charset="0"/>
              </a:rPr>
              <a:t>delete</a:t>
            </a:r>
            <a:r>
              <a:rPr lang="en-US" sz="3000" dirty="0"/>
              <a:t> for any objects created with </a:t>
            </a:r>
            <a:r>
              <a:rPr lang="en-US" sz="3000" b="1" dirty="0">
                <a:latin typeface="Courier New" panose="02070309020205020404" pitchFamily="49" charset="0"/>
                <a:cs typeface="Courier New" panose="02070309020205020404" pitchFamily="49" charset="0"/>
              </a:rPr>
              <a:t>new</a:t>
            </a:r>
            <a:endParaRPr lang="en-US" sz="3000" dirty="0">
              <a:cs typeface="Courier New" panose="02070309020205020404" pitchFamily="49" charset="0"/>
            </a:endParaRPr>
          </a:p>
          <a:p>
            <a:pPr lvl="1">
              <a:buFont typeface="Wingdings" panose="05000000000000000000" pitchFamily="2" charset="2"/>
              <a:buChar char="§"/>
            </a:pPr>
            <a:r>
              <a:rPr lang="en-US" sz="3000" dirty="0"/>
              <a:t>Closing any open files, etc</a:t>
            </a:r>
          </a:p>
          <a:p>
            <a:pPr>
              <a:buFont typeface="Wingdings" panose="05000000000000000000" pitchFamily="2" charset="2"/>
              <a:buChar char="§"/>
            </a:pPr>
            <a:r>
              <a:rPr lang="en-US" sz="3200" dirty="0"/>
              <a:t>The default destructor (if one is not implemented) simply applies the destructor to each data member</a:t>
            </a:r>
            <a:endParaRPr lang="bg-BG" sz="3200" dirty="0"/>
          </a:p>
        </p:txBody>
      </p:sp>
      <p:sp>
        <p:nvSpPr>
          <p:cNvPr id="4" name="Slide Number Placeholder 3"/>
          <p:cNvSpPr>
            <a:spLocks noGrp="1"/>
          </p:cNvSpPr>
          <p:nvPr>
            <p:ph type="sldNum" sz="quarter" idx="12"/>
          </p:nvPr>
        </p:nvSpPr>
        <p:spPr/>
        <p:txBody>
          <a:bodyPr/>
          <a:lstStyle/>
          <a:p>
            <a:fld id="{43C20813-E79E-4637-B0DD-0EBBF6872E51}" type="slidenum">
              <a:rPr lang="en-US" smtClean="0"/>
              <a:t>7</a:t>
            </a:fld>
            <a:endParaRPr lang="en-US" dirty="0"/>
          </a:p>
        </p:txBody>
      </p:sp>
    </p:spTree>
    <p:extLst>
      <p:ext uri="{BB962C8B-B14F-4D97-AF65-F5344CB8AC3E}">
        <p14:creationId xmlns:p14="http://schemas.microsoft.com/office/powerpoint/2010/main" val="818944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Copy Constructor</a:t>
            </a:r>
            <a:endParaRPr lang="bg-BG" dirty="0"/>
          </a:p>
        </p:txBody>
      </p:sp>
      <p:sp>
        <p:nvSpPr>
          <p:cNvPr id="3" name="Content Placeholder 2"/>
          <p:cNvSpPr>
            <a:spLocks noGrp="1"/>
          </p:cNvSpPr>
          <p:nvPr>
            <p:ph idx="1"/>
          </p:nvPr>
        </p:nvSpPr>
        <p:spPr>
          <a:xfrm>
            <a:off x="1097280" y="1845733"/>
            <a:ext cx="10058400" cy="4492314"/>
          </a:xfrm>
        </p:spPr>
        <p:txBody>
          <a:bodyPr>
            <a:normAutofit fontScale="92500" lnSpcReduction="20000"/>
          </a:bodyPr>
          <a:lstStyle/>
          <a:p>
            <a:pPr>
              <a:buFont typeface="Wingdings" panose="05000000000000000000" pitchFamily="2" charset="2"/>
              <a:buChar char="§"/>
            </a:pPr>
            <a:r>
              <a:rPr lang="en-US" sz="3200" dirty="0"/>
              <a:t>The </a:t>
            </a:r>
            <a:r>
              <a:rPr lang="en-US" sz="3200" b="1" dirty="0"/>
              <a:t>copy constructor</a:t>
            </a:r>
            <a:r>
              <a:rPr lang="en-US" sz="3200" dirty="0"/>
              <a:t> is a </a:t>
            </a:r>
            <a:r>
              <a:rPr lang="en-US" sz="3200" b="1" dirty="0"/>
              <a:t>constructor</a:t>
            </a:r>
            <a:r>
              <a:rPr lang="en-US" sz="3200" dirty="0"/>
              <a:t> which creates an object by initializing it to an object of the same class</a:t>
            </a:r>
          </a:p>
          <a:p>
            <a:pPr>
              <a:buFont typeface="Wingdings" panose="05000000000000000000" pitchFamily="2" charset="2"/>
              <a:buChar char="§"/>
            </a:pPr>
            <a:r>
              <a:rPr lang="en-US" sz="3200" dirty="0"/>
              <a:t>It will be called in cases like:</a:t>
            </a:r>
          </a:p>
          <a:p>
            <a:pPr marL="0" indent="0">
              <a:buNone/>
            </a:pPr>
            <a:r>
              <a:rPr lang="en-US" sz="2800" b="1" dirty="0">
                <a:latin typeface="Courier New" panose="02070309020205020404" pitchFamily="49" charset="0"/>
                <a:cs typeface="Courier New" panose="02070309020205020404" pitchFamily="49" charset="0"/>
              </a:rPr>
              <a:t>	</a:t>
            </a:r>
            <a:r>
              <a:rPr lang="en-US" sz="2800" dirty="0">
                <a:solidFill>
                  <a:srgbClr val="2B91AF"/>
                </a:solidFill>
                <a:latin typeface="Consolas" panose="020B0609020204030204" pitchFamily="49" charset="0"/>
              </a:rPr>
              <a:t>IntCell</a:t>
            </a:r>
            <a:r>
              <a:rPr lang="en-US" sz="2800" dirty="0">
                <a:solidFill>
                  <a:srgbClr val="000000"/>
                </a:solidFill>
                <a:latin typeface="Consolas" panose="020B0609020204030204" pitchFamily="49" charset="0"/>
              </a:rPr>
              <a:t> B = C;</a:t>
            </a:r>
          </a:p>
          <a:p>
            <a:pPr marL="0" indent="0">
              <a:buNone/>
            </a:pPr>
            <a:r>
              <a:rPr lang="en-US" sz="2800" dirty="0">
                <a:solidFill>
                  <a:srgbClr val="2B91AF"/>
                </a:solidFill>
                <a:latin typeface="Consolas" panose="020B0609020204030204" pitchFamily="49" charset="0"/>
              </a:rPr>
              <a:t>	IntCell</a:t>
            </a:r>
            <a:r>
              <a:rPr lang="en-US" sz="2800" dirty="0">
                <a:solidFill>
                  <a:srgbClr val="000000"/>
                </a:solidFill>
                <a:latin typeface="Consolas" panose="020B0609020204030204" pitchFamily="49" charset="0"/>
              </a:rPr>
              <a:t> B(C);</a:t>
            </a:r>
          </a:p>
          <a:p>
            <a:pPr marL="0" indent="0">
              <a:buNone/>
            </a:pPr>
            <a:r>
              <a:rPr lang="en-US" sz="2800" b="1" dirty="0">
                <a:latin typeface="Courier New" panose="02070309020205020404" pitchFamily="49" charset="0"/>
                <a:cs typeface="Courier New" panose="02070309020205020404" pitchFamily="49" charset="0"/>
              </a:rPr>
              <a:t>	</a:t>
            </a:r>
            <a:r>
              <a:rPr lang="en-US" sz="2800" dirty="0" err="1">
                <a:solidFill>
                  <a:srgbClr val="2B91AF"/>
                </a:solidFill>
                <a:latin typeface="Consolas" panose="020B0609020204030204" pitchFamily="49" charset="0"/>
              </a:rPr>
              <a:t>IntCell</a:t>
            </a:r>
            <a:r>
              <a:rPr lang="en-US" sz="2800" dirty="0">
                <a:solidFill>
                  <a:srgbClr val="000000"/>
                </a:solidFill>
                <a:latin typeface="Consolas" panose="020B0609020204030204" pitchFamily="49" charset="0"/>
              </a:rPr>
              <a:t> B = foo();</a:t>
            </a:r>
            <a:endParaRPr lang="en-US" sz="2800" b="1" dirty="0">
              <a:latin typeface="Courier New" panose="02070309020205020404" pitchFamily="49" charset="0"/>
              <a:cs typeface="Courier New" panose="02070309020205020404" pitchFamily="49" charset="0"/>
            </a:endParaRPr>
          </a:p>
          <a:p>
            <a:pPr marL="201168" lvl="1" indent="0">
              <a:spcBef>
                <a:spcPts val="1200"/>
              </a:spcBef>
              <a:buNone/>
            </a:pPr>
            <a:r>
              <a:rPr lang="en-US" sz="3000" dirty="0"/>
              <a:t>	When an object is passed or returned by value (instead of by reference)</a:t>
            </a:r>
          </a:p>
          <a:p>
            <a:pPr>
              <a:buFont typeface="Wingdings" panose="05000000000000000000" pitchFamily="2" charset="2"/>
              <a:buChar char="§"/>
            </a:pPr>
            <a:r>
              <a:rPr lang="en-US" sz="3200" dirty="0"/>
              <a:t>But not in this case (which invokes </a:t>
            </a:r>
            <a:r>
              <a:rPr lang="en-US" sz="3200" b="1" dirty="0">
                <a:latin typeface="Courier New" panose="02070309020205020404" pitchFamily="49" charset="0"/>
                <a:cs typeface="Courier New" panose="02070309020205020404" pitchFamily="49" charset="0"/>
              </a:rPr>
              <a:t>operator=</a:t>
            </a:r>
            <a:r>
              <a:rPr lang="en-US" sz="3200" dirty="0"/>
              <a:t>):</a:t>
            </a:r>
          </a:p>
          <a:p>
            <a:pPr marL="201168" lvl="1" indent="0">
              <a:buNone/>
            </a:pPr>
            <a:r>
              <a:rPr lang="en-US" sz="2800" b="1" dirty="0">
                <a:latin typeface="Courier New" panose="02070309020205020404" pitchFamily="49" charset="0"/>
                <a:cs typeface="Courier New" panose="02070309020205020404" pitchFamily="49" charset="0"/>
              </a:rPr>
              <a:t>	</a:t>
            </a:r>
            <a:r>
              <a:rPr lang="en-US" sz="2800" dirty="0">
                <a:solidFill>
                  <a:srgbClr val="000000"/>
                </a:solidFill>
                <a:latin typeface="Consolas" panose="020B0609020204030204" pitchFamily="49" charset="0"/>
              </a:rPr>
              <a:t>B </a:t>
            </a:r>
            <a:r>
              <a:rPr lang="en-US" sz="2800" dirty="0">
                <a:solidFill>
                  <a:srgbClr val="008080"/>
                </a:solidFill>
                <a:latin typeface="Consolas" panose="020B0609020204030204" pitchFamily="49" charset="0"/>
              </a:rPr>
              <a:t>=</a:t>
            </a:r>
            <a:r>
              <a:rPr lang="en-US" sz="2800" dirty="0">
                <a:solidFill>
                  <a:srgbClr val="000000"/>
                </a:solidFill>
                <a:latin typeface="Consolas" panose="020B0609020204030204" pitchFamily="49" charset="0"/>
              </a:rPr>
              <a:t> C;</a:t>
            </a:r>
            <a:endParaRPr lang="bg-BG" sz="2800" b="1"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8</a:t>
            </a:fld>
            <a:endParaRPr lang="en-US"/>
          </a:p>
        </p:txBody>
      </p:sp>
    </p:spTree>
    <p:extLst>
      <p:ext uri="{BB962C8B-B14F-4D97-AF65-F5344CB8AC3E}">
        <p14:creationId xmlns:p14="http://schemas.microsoft.com/office/powerpoint/2010/main" val="699708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Copy Constructor (continued)</a:t>
            </a:r>
            <a:endParaRPr lang="bg-BG" dirty="0"/>
          </a:p>
        </p:txBody>
      </p:sp>
      <p:sp>
        <p:nvSpPr>
          <p:cNvPr id="3" name="Content Placeholder 2"/>
          <p:cNvSpPr>
            <a:spLocks noGrp="1"/>
          </p:cNvSpPr>
          <p:nvPr>
            <p:ph idx="1"/>
          </p:nvPr>
        </p:nvSpPr>
        <p:spPr>
          <a:xfrm>
            <a:off x="1097280" y="1845733"/>
            <a:ext cx="10058400" cy="4492314"/>
          </a:xfrm>
        </p:spPr>
        <p:txBody>
          <a:bodyPr>
            <a:normAutofit/>
          </a:bodyPr>
          <a:lstStyle/>
          <a:p>
            <a:pPr>
              <a:buFont typeface="Wingdings" panose="05000000000000000000" pitchFamily="2" charset="2"/>
              <a:buChar char="§"/>
            </a:pPr>
            <a:r>
              <a:rPr lang="en-US" sz="3200" dirty="0">
                <a:cs typeface="Courier New" panose="02070309020205020404" pitchFamily="49" charset="0"/>
              </a:rPr>
              <a:t>By default, the copy constructor is a data member-by-member application of copy constructors</a:t>
            </a:r>
          </a:p>
          <a:p>
            <a:pPr lvl="1">
              <a:buFont typeface="Wingdings" panose="05000000000000000000" pitchFamily="2" charset="2"/>
              <a:buChar char="§"/>
            </a:pPr>
            <a:r>
              <a:rPr lang="en-US" sz="3000" dirty="0">
                <a:cs typeface="Courier New" panose="02070309020205020404" pitchFamily="49" charset="0"/>
              </a:rPr>
              <a:t>For data members that are primitive types (</a:t>
            </a:r>
            <a:r>
              <a:rPr lang="en-US" sz="3000" b="1" dirty="0">
                <a:latin typeface="Courier New" panose="02070309020205020404" pitchFamily="49" charset="0"/>
                <a:cs typeface="Courier New" panose="02070309020205020404" pitchFamily="49" charset="0"/>
              </a:rPr>
              <a:t>int</a:t>
            </a:r>
            <a:r>
              <a:rPr lang="en-US" sz="3000" dirty="0">
                <a:cs typeface="Courier New" panose="02070309020205020404" pitchFamily="49" charset="0"/>
              </a:rPr>
              <a:t>, </a:t>
            </a:r>
            <a:r>
              <a:rPr lang="en-US" sz="3000" b="1" dirty="0">
                <a:latin typeface="Courier New" panose="02070309020205020404" pitchFamily="49" charset="0"/>
                <a:cs typeface="Courier New" panose="02070309020205020404" pitchFamily="49" charset="0"/>
              </a:rPr>
              <a:t>double</a:t>
            </a:r>
            <a:r>
              <a:rPr lang="en-US" sz="3000" dirty="0">
                <a:cs typeface="Courier New" panose="02070309020205020404" pitchFamily="49" charset="0"/>
              </a:rPr>
              <a:t>, or  pointers), simple assignment is done</a:t>
            </a:r>
          </a:p>
          <a:p>
            <a:pPr lvl="1">
              <a:buFont typeface="Wingdings" panose="05000000000000000000" pitchFamily="2" charset="2"/>
              <a:buChar char="§"/>
            </a:pPr>
            <a:r>
              <a:rPr lang="en-US" sz="3000" dirty="0">
                <a:cs typeface="Courier New" panose="02070309020205020404" pitchFamily="49" charset="0"/>
              </a:rPr>
              <a:t>For data members that are class objects, the copy constructor for each data member’s class is applied to that data member</a:t>
            </a:r>
            <a:endParaRPr lang="bg-BG" sz="3000" dirty="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9</a:t>
            </a:fld>
            <a:endParaRPr lang="en-US"/>
          </a:p>
        </p:txBody>
      </p:sp>
    </p:spTree>
    <p:extLst>
      <p:ext uri="{BB962C8B-B14F-4D97-AF65-F5344CB8AC3E}">
        <p14:creationId xmlns:p14="http://schemas.microsoft.com/office/powerpoint/2010/main" val="657990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ourier New" panose="02070309020205020404" pitchFamily="49" charset="0"/>
                <a:cs typeface="Courier New" panose="02070309020205020404" pitchFamily="49" charset="0"/>
              </a:rPr>
              <a:t>operator=</a:t>
            </a:r>
            <a:endParaRPr lang="bg-BG" b="1" dirty="0">
              <a:latin typeface="Courier New" panose="02070309020205020404" pitchFamily="49" charset="0"/>
              <a:cs typeface="Courier New" panose="02070309020205020404" pitchFamily="49" charset="0"/>
            </a:endParaRPr>
          </a:p>
        </p:txBody>
      </p:sp>
      <p:sp>
        <p:nvSpPr>
          <p:cNvPr id="3" name="Content Placeholder 2"/>
          <p:cNvSpPr>
            <a:spLocks noGrp="1"/>
          </p:cNvSpPr>
          <p:nvPr>
            <p:ph idx="1"/>
          </p:nvPr>
        </p:nvSpPr>
        <p:spPr>
          <a:xfrm>
            <a:off x="1097280" y="1845733"/>
            <a:ext cx="10058400" cy="4456455"/>
          </a:xfrm>
        </p:spPr>
        <p:txBody>
          <a:bodyPr>
            <a:normAutofit lnSpcReduction="10000"/>
          </a:bodyPr>
          <a:lstStyle/>
          <a:p>
            <a:pPr>
              <a:buFont typeface="Wingdings" panose="05000000000000000000" pitchFamily="2" charset="2"/>
              <a:buChar char="§"/>
            </a:pPr>
            <a:r>
              <a:rPr lang="en-US" sz="3200" dirty="0"/>
              <a:t>The </a:t>
            </a:r>
            <a:r>
              <a:rPr lang="en-US" sz="3200" b="1" dirty="0"/>
              <a:t>copy assignment operator</a:t>
            </a:r>
            <a:r>
              <a:rPr lang="en-US" sz="3200" dirty="0"/>
              <a:t> – </a:t>
            </a:r>
            <a:r>
              <a:rPr lang="en-US" sz="3200" b="1" dirty="0">
                <a:latin typeface="Courier New" panose="02070309020205020404" pitchFamily="49" charset="0"/>
                <a:cs typeface="Courier New" panose="02070309020205020404" pitchFamily="49" charset="0"/>
              </a:rPr>
              <a:t>operator=</a:t>
            </a:r>
            <a:r>
              <a:rPr lang="en-US" sz="3200" dirty="0"/>
              <a:t>, is used to copy existing objects</a:t>
            </a:r>
          </a:p>
          <a:p>
            <a:pPr>
              <a:buFont typeface="Wingdings" panose="05000000000000000000" pitchFamily="2" charset="2"/>
              <a:buChar char="§"/>
            </a:pPr>
            <a:r>
              <a:rPr lang="en-US" sz="3200" dirty="0"/>
              <a:t>It is called when assignment (</a:t>
            </a:r>
            <a:r>
              <a:rPr lang="en-US" sz="3200" b="1" dirty="0">
                <a:latin typeface="Courier New" panose="02070309020205020404" pitchFamily="49" charset="0"/>
                <a:cs typeface="Courier New" panose="02070309020205020404" pitchFamily="49" charset="0"/>
              </a:rPr>
              <a:t>=</a:t>
            </a:r>
            <a:r>
              <a:rPr lang="en-US" sz="3200" dirty="0"/>
              <a:t>) is applied to two already constructed objects:</a:t>
            </a:r>
          </a:p>
          <a:p>
            <a:pPr marL="201168" lvl="1" indent="0">
              <a:spcBef>
                <a:spcPts val="1200"/>
              </a:spcBef>
              <a:buNone/>
            </a:pPr>
            <a:r>
              <a:rPr lang="en-US" sz="2800" b="1" dirty="0">
                <a:latin typeface="Courier New" panose="02070309020205020404" pitchFamily="49" charset="0"/>
                <a:cs typeface="Courier New" panose="02070309020205020404" pitchFamily="49" charset="0"/>
              </a:rPr>
              <a:t>	</a:t>
            </a:r>
            <a:r>
              <a:rPr lang="en-US" sz="2800" dirty="0">
                <a:solidFill>
                  <a:srgbClr val="000000"/>
                </a:solidFill>
                <a:latin typeface="Consolas" panose="020B0609020204030204" pitchFamily="49" charset="0"/>
              </a:rPr>
              <a:t>lhs </a:t>
            </a:r>
            <a:r>
              <a:rPr lang="en-US" sz="2800" dirty="0">
                <a:solidFill>
                  <a:srgbClr val="008080"/>
                </a:solidFill>
                <a:latin typeface="Consolas" panose="020B0609020204030204" pitchFamily="49" charset="0"/>
              </a:rPr>
              <a:t>=</a:t>
            </a:r>
            <a:r>
              <a:rPr lang="en-US" sz="2800" dirty="0">
                <a:solidFill>
                  <a:srgbClr val="000000"/>
                </a:solidFill>
                <a:latin typeface="Consolas" panose="020B0609020204030204" pitchFamily="49" charset="0"/>
              </a:rPr>
              <a:t> </a:t>
            </a:r>
            <a:r>
              <a:rPr lang="en-US" sz="2800" dirty="0" err="1">
                <a:solidFill>
                  <a:srgbClr val="000000"/>
                </a:solidFill>
                <a:latin typeface="Consolas" panose="020B0609020204030204" pitchFamily="49" charset="0"/>
              </a:rPr>
              <a:t>rhs</a:t>
            </a:r>
            <a:r>
              <a:rPr lang="en-US" sz="2800" dirty="0">
                <a:solidFill>
                  <a:srgbClr val="000000"/>
                </a:solidFill>
                <a:latin typeface="Consolas" panose="020B0609020204030204" pitchFamily="49" charset="0"/>
              </a:rPr>
              <a:t>;</a:t>
            </a:r>
          </a:p>
          <a:p>
            <a:pPr>
              <a:buFont typeface="Wingdings" panose="05000000000000000000" pitchFamily="2" charset="2"/>
              <a:buChar char="§"/>
            </a:pPr>
            <a:r>
              <a:rPr lang="en-US" sz="3200" dirty="0"/>
              <a:t>Intended to copy the state of one existing object (</a:t>
            </a:r>
            <a:r>
              <a:rPr lang="en-US" sz="3200" b="1" dirty="0" err="1">
                <a:latin typeface="Courier New" panose="02070309020205020404" pitchFamily="49" charset="0"/>
                <a:cs typeface="Courier New" panose="02070309020205020404" pitchFamily="49" charset="0"/>
              </a:rPr>
              <a:t>rhs</a:t>
            </a:r>
            <a:r>
              <a:rPr lang="en-US" sz="3200" dirty="0"/>
              <a:t>) into another existing object (</a:t>
            </a:r>
            <a:r>
              <a:rPr lang="en-US" sz="3200" b="1" dirty="0">
                <a:latin typeface="Courier New" panose="02070309020205020404" pitchFamily="49" charset="0"/>
                <a:cs typeface="Courier New" panose="02070309020205020404" pitchFamily="49" charset="0"/>
              </a:rPr>
              <a:t>lhs</a:t>
            </a:r>
            <a:r>
              <a:rPr lang="en-US" sz="3200" dirty="0"/>
              <a:t>)</a:t>
            </a:r>
          </a:p>
          <a:p>
            <a:pPr>
              <a:buFont typeface="Wingdings" panose="05000000000000000000" pitchFamily="2" charset="2"/>
              <a:buChar char="§"/>
            </a:pPr>
            <a:r>
              <a:rPr lang="en-US" sz="3200" dirty="0"/>
              <a:t>By default the </a:t>
            </a:r>
            <a:r>
              <a:rPr lang="en-US" sz="3200" b="1" dirty="0">
                <a:latin typeface="Courier New" panose="02070309020205020404" pitchFamily="49" charset="0"/>
                <a:cs typeface="Courier New" panose="02070309020205020404" pitchFamily="49" charset="0"/>
              </a:rPr>
              <a:t>operator=</a:t>
            </a:r>
            <a:r>
              <a:rPr lang="en-US" sz="3200" dirty="0"/>
              <a:t> is implemented by applying </a:t>
            </a:r>
            <a:r>
              <a:rPr lang="en-US" sz="3200" b="1" dirty="0">
                <a:latin typeface="Courier New" panose="02070309020205020404" pitchFamily="49" charset="0"/>
                <a:cs typeface="Courier New" panose="02070309020205020404" pitchFamily="49" charset="0"/>
              </a:rPr>
              <a:t>operator=</a:t>
            </a:r>
            <a:r>
              <a:rPr lang="en-US" sz="3200" dirty="0"/>
              <a:t> to each data member in the class</a:t>
            </a:r>
            <a:endParaRPr lang="bg-BG" sz="3200" dirty="0"/>
          </a:p>
        </p:txBody>
      </p:sp>
      <p:sp>
        <p:nvSpPr>
          <p:cNvPr id="4" name="Slide Number Placeholder 3"/>
          <p:cNvSpPr>
            <a:spLocks noGrp="1"/>
          </p:cNvSpPr>
          <p:nvPr>
            <p:ph type="sldNum" sz="quarter" idx="12"/>
          </p:nvPr>
        </p:nvSpPr>
        <p:spPr/>
        <p:txBody>
          <a:bodyPr/>
          <a:lstStyle/>
          <a:p>
            <a:fld id="{43C20813-E79E-4637-B0DD-0EBBF6872E51}" type="slidenum">
              <a:rPr lang="en-US" smtClean="0"/>
              <a:t>10</a:t>
            </a:fld>
            <a:endParaRPr lang="en-US"/>
          </a:p>
        </p:txBody>
      </p:sp>
    </p:spTree>
    <p:extLst>
      <p:ext uri="{BB962C8B-B14F-4D97-AF65-F5344CB8AC3E}">
        <p14:creationId xmlns:p14="http://schemas.microsoft.com/office/powerpoint/2010/main" val="1635763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Special Functions Example</a:t>
            </a:r>
            <a:endParaRPr lang="bg-BG" dirty="0"/>
          </a:p>
        </p:txBody>
      </p:sp>
      <p:sp>
        <p:nvSpPr>
          <p:cNvPr id="3" name="Content Placeholder 2"/>
          <p:cNvSpPr>
            <a:spLocks noGrp="1"/>
          </p:cNvSpPr>
          <p:nvPr>
            <p:ph idx="1"/>
          </p:nvPr>
        </p:nvSpPr>
        <p:spPr>
          <a:xfrm>
            <a:off x="1097280" y="1845734"/>
            <a:ext cx="10058400" cy="4447490"/>
          </a:xfrm>
        </p:spPr>
        <p:txBody>
          <a:bodyPr>
            <a:noAutofit/>
          </a:bodyPr>
          <a:lstStyle/>
          <a:p>
            <a:pPr marL="0" indent="0">
              <a:buNone/>
            </a:pPr>
            <a:r>
              <a:rPr lang="en-US" dirty="0">
                <a:solidFill>
                  <a:srgbClr val="2B91AF"/>
                </a:solidFill>
                <a:latin typeface="Consolas" panose="020B0609020204030204" pitchFamily="49" charset="0"/>
              </a:rPr>
              <a:t>IntCell</a:t>
            </a:r>
            <a:r>
              <a:rPr lang="en-US" dirty="0">
                <a:solidFill>
                  <a:srgbClr val="000000"/>
                </a:solidFill>
                <a:latin typeface="Consolas" panose="020B0609020204030204" pitchFamily="49" charset="0"/>
              </a:rPr>
              <a:t>::~IntCell() {}</a:t>
            </a:r>
          </a:p>
          <a:p>
            <a:pPr marL="0" indent="0">
              <a:buNone/>
            </a:pPr>
            <a:endParaRPr lang="bg-BG" dirty="0">
              <a:solidFill>
                <a:srgbClr val="000000"/>
              </a:solidFill>
              <a:latin typeface="Consolas" panose="020B0609020204030204" pitchFamily="49" charset="0"/>
            </a:endParaRPr>
          </a:p>
          <a:p>
            <a:pPr marL="0" indent="0">
              <a:buNone/>
            </a:pPr>
            <a:r>
              <a:rPr lang="en-US" dirty="0">
                <a:solidFill>
                  <a:srgbClr val="2B91AF"/>
                </a:solidFill>
                <a:latin typeface="Consolas" panose="020B0609020204030204" pitchFamily="49" charset="0"/>
              </a:rPr>
              <a:t>IntCell</a:t>
            </a:r>
            <a:r>
              <a:rPr lang="en-US" dirty="0">
                <a:solidFill>
                  <a:srgbClr val="000000"/>
                </a:solidFill>
                <a:latin typeface="Consolas" panose="020B0609020204030204" pitchFamily="49" charset="0"/>
              </a:rPr>
              <a:t>::IntCell(</a:t>
            </a:r>
            <a:r>
              <a:rPr lang="en-US" dirty="0">
                <a:solidFill>
                  <a:srgbClr val="0000FF"/>
                </a:solidFill>
                <a:latin typeface="Consolas" panose="020B0609020204030204" pitchFamily="49" charset="0"/>
              </a:rPr>
              <a:t>const</a:t>
            </a:r>
            <a:r>
              <a:rPr lang="en-US" dirty="0">
                <a:solidFill>
                  <a:srgbClr val="000000"/>
                </a:solidFill>
                <a:latin typeface="Consolas" panose="020B0609020204030204" pitchFamily="49" charset="0"/>
              </a:rPr>
              <a:t> </a:t>
            </a:r>
            <a:r>
              <a:rPr lang="en-US" dirty="0">
                <a:solidFill>
                  <a:srgbClr val="2B91AF"/>
                </a:solidFill>
                <a:latin typeface="Consolas" panose="020B0609020204030204" pitchFamily="49" charset="0"/>
              </a:rPr>
              <a:t>IntCell</a:t>
            </a:r>
            <a:r>
              <a:rPr lang="en-US" dirty="0">
                <a:solidFill>
                  <a:srgbClr val="000000"/>
                </a:solidFill>
                <a:latin typeface="Consolas" panose="020B0609020204030204" pitchFamily="49" charset="0"/>
              </a:rPr>
              <a:t> &amp; </a:t>
            </a:r>
            <a:r>
              <a:rPr lang="en-US" dirty="0" err="1">
                <a:solidFill>
                  <a:srgbClr val="808080"/>
                </a:solidFill>
                <a:latin typeface="Consolas" panose="020B0609020204030204" pitchFamily="49" charset="0"/>
              </a:rPr>
              <a:t>rhs</a:t>
            </a:r>
            <a:r>
              <a:rPr lang="en-US" dirty="0">
                <a:solidFill>
                  <a:srgbClr val="000000"/>
                </a:solidFill>
                <a:latin typeface="Consolas" panose="020B0609020204030204" pitchFamily="49" charset="0"/>
              </a:rPr>
              <a:t>)</a:t>
            </a:r>
          </a:p>
          <a:p>
            <a:pPr marL="0" indent="0">
              <a:buNone/>
            </a:pPr>
            <a:r>
              <a:rPr lang="en-US" dirty="0">
                <a:solidFill>
                  <a:srgbClr val="000000"/>
                </a:solidFill>
                <a:latin typeface="Consolas" panose="020B0609020204030204" pitchFamily="49" charset="0"/>
              </a:rPr>
              <a:t>   : </a:t>
            </a:r>
            <a:r>
              <a:rPr lang="en-US" dirty="0" err="1">
                <a:solidFill>
                  <a:srgbClr val="000000"/>
                </a:solidFill>
                <a:latin typeface="Consolas" panose="020B0609020204030204" pitchFamily="49" charset="0"/>
              </a:rPr>
              <a:t>storedValue</a:t>
            </a:r>
            <a:r>
              <a:rPr lang="en-US" dirty="0">
                <a:solidFill>
                  <a:srgbClr val="000000"/>
                </a:solidFill>
                <a:latin typeface="Consolas" panose="020B0609020204030204" pitchFamily="49" charset="0"/>
              </a:rPr>
              <a:t>(</a:t>
            </a:r>
            <a:r>
              <a:rPr lang="en-US" dirty="0" err="1">
                <a:solidFill>
                  <a:srgbClr val="808080"/>
                </a:solidFill>
                <a:latin typeface="Consolas" panose="020B0609020204030204" pitchFamily="49" charset="0"/>
              </a:rPr>
              <a:t>rhs</a:t>
            </a:r>
            <a:r>
              <a:rPr lang="en-US" dirty="0" err="1">
                <a:solidFill>
                  <a:srgbClr val="000000"/>
                </a:solidFill>
                <a:latin typeface="Consolas" panose="020B0609020204030204" pitchFamily="49" charset="0"/>
              </a:rPr>
              <a:t>.storedValue</a:t>
            </a:r>
            <a:r>
              <a:rPr lang="en-US" dirty="0">
                <a:solidFill>
                  <a:srgbClr val="000000"/>
                </a:solidFill>
                <a:latin typeface="Consolas" panose="020B0609020204030204" pitchFamily="49" charset="0"/>
              </a:rPr>
              <a:t>) {}</a:t>
            </a:r>
          </a:p>
          <a:p>
            <a:pPr marL="0" indent="0">
              <a:buNone/>
            </a:pPr>
            <a:endParaRPr lang="en-US" dirty="0">
              <a:solidFill>
                <a:srgbClr val="000000"/>
              </a:solidFill>
              <a:latin typeface="Consolas" panose="020B0609020204030204" pitchFamily="49" charset="0"/>
            </a:endParaRPr>
          </a:p>
          <a:p>
            <a:pPr marL="0" indent="0">
              <a:buNone/>
            </a:pPr>
            <a:r>
              <a:rPr lang="en-US" dirty="0">
                <a:solidFill>
                  <a:srgbClr val="00B050"/>
                </a:solidFill>
                <a:latin typeface="Consolas" panose="020B0609020204030204" pitchFamily="49" charset="0"/>
              </a:rPr>
              <a:t>// same as this:</a:t>
            </a:r>
          </a:p>
          <a:p>
            <a:pPr marL="0" indent="0">
              <a:buNone/>
            </a:pPr>
            <a:r>
              <a:rPr lang="en-US" dirty="0" err="1">
                <a:solidFill>
                  <a:srgbClr val="2B91AF"/>
                </a:solidFill>
                <a:latin typeface="Consolas" panose="020B0609020204030204" pitchFamily="49" charset="0"/>
              </a:rPr>
              <a:t>IntCell</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IntCell</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const</a:t>
            </a:r>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IntCell</a:t>
            </a:r>
            <a:r>
              <a:rPr lang="en-US" dirty="0">
                <a:solidFill>
                  <a:srgbClr val="000000"/>
                </a:solidFill>
                <a:latin typeface="Consolas" panose="020B0609020204030204" pitchFamily="49" charset="0"/>
              </a:rPr>
              <a:t> &amp; </a:t>
            </a:r>
            <a:r>
              <a:rPr lang="en-US" dirty="0" err="1">
                <a:solidFill>
                  <a:srgbClr val="808080"/>
                </a:solidFill>
                <a:latin typeface="Consolas" panose="020B0609020204030204" pitchFamily="49" charset="0"/>
              </a:rPr>
              <a:t>rhs</a:t>
            </a:r>
            <a:r>
              <a:rPr lang="en-US" dirty="0">
                <a:solidFill>
                  <a:srgbClr val="000000"/>
                </a:solidFill>
                <a:latin typeface="Consolas" panose="020B0609020204030204" pitchFamily="49" charset="0"/>
              </a:rPr>
              <a:t>) {</a:t>
            </a:r>
          </a:p>
          <a:p>
            <a:pPr marL="0" indent="0">
              <a:buNone/>
            </a:pP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storedValue</a:t>
            </a:r>
            <a:r>
              <a:rPr lang="en-US" dirty="0">
                <a:solidFill>
                  <a:srgbClr val="000000"/>
                </a:solidFill>
                <a:latin typeface="Consolas" panose="020B0609020204030204" pitchFamily="49" charset="0"/>
              </a:rPr>
              <a:t> = </a:t>
            </a:r>
            <a:r>
              <a:rPr lang="en-US" dirty="0" err="1">
                <a:solidFill>
                  <a:srgbClr val="808080"/>
                </a:solidFill>
                <a:latin typeface="Consolas" panose="020B0609020204030204" pitchFamily="49" charset="0"/>
              </a:rPr>
              <a:t>rhs</a:t>
            </a:r>
            <a:r>
              <a:rPr lang="en-US" dirty="0" err="1">
                <a:solidFill>
                  <a:srgbClr val="000000"/>
                </a:solidFill>
                <a:latin typeface="Consolas" panose="020B0609020204030204" pitchFamily="49" charset="0"/>
              </a:rPr>
              <a:t>.storedValue</a:t>
            </a:r>
            <a:r>
              <a:rPr lang="en-US" dirty="0">
                <a:solidFill>
                  <a:srgbClr val="000000"/>
                </a:solidFill>
                <a:latin typeface="Consolas" panose="020B0609020204030204" pitchFamily="49" charset="0"/>
              </a:rPr>
              <a:t>;</a:t>
            </a:r>
          </a:p>
          <a:p>
            <a:pPr marL="0" indent="0">
              <a:buNone/>
            </a:pPr>
            <a:r>
              <a:rPr lang="en-US" dirty="0">
                <a:solidFill>
                  <a:srgbClr val="000000"/>
                </a:solidFill>
                <a:latin typeface="Consolas" panose="020B0609020204030204" pitchFamily="49" charset="0"/>
              </a:rPr>
              <a:t>}</a:t>
            </a:r>
          </a:p>
          <a:p>
            <a:pPr marL="0" indent="0">
              <a:buNone/>
            </a:pPr>
            <a:endParaRPr lang="bg-BG" dirty="0">
              <a:solidFill>
                <a:srgbClr val="000000"/>
              </a:solidFill>
              <a:latin typeface="Consolas" panose="020B06090202040302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11</a:t>
            </a:fld>
            <a:endParaRPr lang="en-US"/>
          </a:p>
        </p:txBody>
      </p:sp>
    </p:spTree>
    <p:extLst>
      <p:ext uri="{BB962C8B-B14F-4D97-AF65-F5344CB8AC3E}">
        <p14:creationId xmlns:p14="http://schemas.microsoft.com/office/powerpoint/2010/main" val="39784290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Special Functions Example (continued)</a:t>
            </a:r>
            <a:endParaRPr lang="bg-BG" dirty="0"/>
          </a:p>
        </p:txBody>
      </p:sp>
      <p:sp>
        <p:nvSpPr>
          <p:cNvPr id="3" name="Content Placeholder 2"/>
          <p:cNvSpPr>
            <a:spLocks noGrp="1"/>
          </p:cNvSpPr>
          <p:nvPr>
            <p:ph idx="1"/>
          </p:nvPr>
        </p:nvSpPr>
        <p:spPr>
          <a:xfrm>
            <a:off x="1097280" y="1845734"/>
            <a:ext cx="10058400" cy="4447490"/>
          </a:xfrm>
        </p:spPr>
        <p:txBody>
          <a:bodyPr>
            <a:noAutofit/>
          </a:bodyPr>
          <a:lstStyle/>
          <a:p>
            <a:pPr marL="0" indent="0">
              <a:buNone/>
            </a:pPr>
            <a:r>
              <a:rPr lang="en-US" dirty="0">
                <a:solidFill>
                  <a:srgbClr val="0000FF"/>
                </a:solidFill>
                <a:latin typeface="Consolas" panose="020B0609020204030204" pitchFamily="49" charset="0"/>
              </a:rPr>
              <a:t>const</a:t>
            </a:r>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IntCell</a:t>
            </a:r>
            <a:r>
              <a:rPr lang="en-US" dirty="0">
                <a:solidFill>
                  <a:srgbClr val="000000"/>
                </a:solidFill>
                <a:latin typeface="Consolas" panose="020B0609020204030204" pitchFamily="49" charset="0"/>
              </a:rPr>
              <a:t> &amp; </a:t>
            </a:r>
            <a:r>
              <a:rPr lang="en-US" dirty="0" err="1">
                <a:solidFill>
                  <a:srgbClr val="2B91AF"/>
                </a:solidFill>
                <a:latin typeface="Consolas" panose="020B0609020204030204" pitchFamily="49" charset="0"/>
              </a:rPr>
              <a:t>IntCell</a:t>
            </a:r>
            <a:r>
              <a:rPr lang="en-US" dirty="0">
                <a:solidFill>
                  <a:srgbClr val="000000"/>
                </a:solidFill>
                <a:latin typeface="Consolas" panose="020B0609020204030204" pitchFamily="49" charset="0"/>
              </a:rPr>
              <a:t>::</a:t>
            </a:r>
            <a:r>
              <a:rPr lang="en-US" dirty="0">
                <a:solidFill>
                  <a:srgbClr val="008080"/>
                </a:solidFill>
                <a:latin typeface="Consolas" panose="020B0609020204030204" pitchFamily="49" charset="0"/>
              </a:rPr>
              <a:t>operator=</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const</a:t>
            </a:r>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IntCell</a:t>
            </a:r>
            <a:r>
              <a:rPr lang="en-US" dirty="0">
                <a:solidFill>
                  <a:srgbClr val="000000"/>
                </a:solidFill>
                <a:latin typeface="Consolas" panose="020B0609020204030204" pitchFamily="49" charset="0"/>
              </a:rPr>
              <a:t> &amp; </a:t>
            </a:r>
            <a:r>
              <a:rPr lang="en-US" dirty="0" err="1">
                <a:solidFill>
                  <a:srgbClr val="808080"/>
                </a:solidFill>
                <a:latin typeface="Consolas" panose="020B0609020204030204" pitchFamily="49" charset="0"/>
              </a:rPr>
              <a:t>rhs</a:t>
            </a:r>
            <a:r>
              <a:rPr lang="en-US" dirty="0">
                <a:solidFill>
                  <a:srgbClr val="000000"/>
                </a:solidFill>
                <a:latin typeface="Consolas" panose="020B0609020204030204" pitchFamily="49" charset="0"/>
              </a:rPr>
              <a:t>) {</a:t>
            </a:r>
          </a:p>
          <a:p>
            <a:pPr marL="0" indent="0">
              <a:buNone/>
            </a:pPr>
            <a:r>
              <a:rPr lang="en-US" dirty="0">
                <a:solidFill>
                  <a:srgbClr val="0000FF"/>
                </a:solidFill>
                <a:latin typeface="Consolas" panose="020B0609020204030204" pitchFamily="49" charset="0"/>
              </a:rPr>
              <a:t>   if</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this</a:t>
            </a:r>
            <a:r>
              <a:rPr lang="en-US" dirty="0">
                <a:solidFill>
                  <a:srgbClr val="000000"/>
                </a:solidFill>
                <a:latin typeface="Consolas" panose="020B0609020204030204" pitchFamily="49" charset="0"/>
              </a:rPr>
              <a:t> != &amp;</a:t>
            </a:r>
            <a:r>
              <a:rPr lang="en-US" dirty="0" err="1">
                <a:solidFill>
                  <a:srgbClr val="808080"/>
                </a:solidFill>
                <a:latin typeface="Consolas" panose="020B0609020204030204" pitchFamily="49" charset="0"/>
              </a:rPr>
              <a:t>rhs</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alias test: a = a; is meaningless!</a:t>
            </a:r>
            <a:endParaRPr lang="en-US" dirty="0">
              <a:solidFill>
                <a:srgbClr val="000000"/>
              </a:solidFill>
              <a:latin typeface="Consolas" panose="020B0609020204030204" pitchFamily="49" charset="0"/>
            </a:endParaRPr>
          </a:p>
          <a:p>
            <a:pPr marL="0" indent="0">
              <a:buNone/>
            </a:pP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storedValue</a:t>
            </a:r>
            <a:r>
              <a:rPr lang="en-US" dirty="0">
                <a:solidFill>
                  <a:srgbClr val="000000"/>
                </a:solidFill>
                <a:latin typeface="Consolas" panose="020B0609020204030204" pitchFamily="49" charset="0"/>
              </a:rPr>
              <a:t> = </a:t>
            </a:r>
            <a:r>
              <a:rPr lang="en-US" dirty="0" err="1">
                <a:solidFill>
                  <a:srgbClr val="808080"/>
                </a:solidFill>
                <a:latin typeface="Consolas" panose="020B0609020204030204" pitchFamily="49" charset="0"/>
              </a:rPr>
              <a:t>rhs</a:t>
            </a:r>
            <a:r>
              <a:rPr lang="en-US" dirty="0" err="1">
                <a:solidFill>
                  <a:srgbClr val="000000"/>
                </a:solidFill>
                <a:latin typeface="Consolas" panose="020B0609020204030204" pitchFamily="49" charset="0"/>
              </a:rPr>
              <a:t>.storedValue</a:t>
            </a:r>
            <a:r>
              <a:rPr lang="en-US" dirty="0">
                <a:solidFill>
                  <a:srgbClr val="000000"/>
                </a:solidFill>
                <a:latin typeface="Consolas" panose="020B0609020204030204" pitchFamily="49" charset="0"/>
              </a:rPr>
              <a:t>;</a:t>
            </a:r>
          </a:p>
          <a:p>
            <a:pPr marL="0" indent="0">
              <a:buNone/>
            </a:pPr>
            <a:r>
              <a:rPr lang="en-US" dirty="0">
                <a:solidFill>
                  <a:srgbClr val="0000FF"/>
                </a:solidFill>
                <a:latin typeface="Consolas" panose="020B0609020204030204" pitchFamily="49" charset="0"/>
              </a:rPr>
              <a:t>   return</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this</a:t>
            </a:r>
            <a:r>
              <a:rPr lang="en-US" dirty="0">
                <a:solidFill>
                  <a:srgbClr val="000000"/>
                </a:solidFill>
                <a:latin typeface="Consolas" panose="020B0609020204030204" pitchFamily="49" charset="0"/>
              </a:rPr>
              <a:t>;</a:t>
            </a:r>
          </a:p>
          <a:p>
            <a:pPr marL="0" indent="0">
              <a:buNone/>
            </a:pPr>
            <a:r>
              <a:rPr lang="bg-BG" dirty="0">
                <a:solidFill>
                  <a:srgbClr val="000000"/>
                </a:solidFill>
                <a:latin typeface="Consolas" panose="020B0609020204030204" pitchFamily="49" charset="0"/>
              </a:rPr>
              <a:t>}</a:t>
            </a:r>
            <a:endParaRPr lang="bg-BG" b="1" dirty="0">
              <a:latin typeface="Courier New" panose="02070309020205020404" pitchFamily="49" charset="0"/>
              <a:cs typeface="Courier New" panose="02070309020205020404" pitchFamily="49" charset="0"/>
            </a:endParaRPr>
          </a:p>
          <a:p>
            <a:pPr marL="0" indent="0">
              <a:buNone/>
            </a:pPr>
            <a:r>
              <a:rPr lang="en-US" dirty="0">
                <a:solidFill>
                  <a:srgbClr val="000000"/>
                </a:solidFill>
                <a:latin typeface="Consolas" panose="020B0609020204030204" pitchFamily="49" charset="0"/>
              </a:rPr>
              <a:t>   </a:t>
            </a:r>
          </a:p>
          <a:p>
            <a:pPr marL="0" indent="0">
              <a:buNone/>
            </a:pP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Will not work!</a:t>
            </a:r>
            <a:r>
              <a:rPr lang="en-US" dirty="0">
                <a:solidFill>
                  <a:srgbClr val="000000"/>
                </a:solidFill>
                <a:latin typeface="Consolas" panose="020B0609020204030204" pitchFamily="49" charset="0"/>
              </a:rPr>
              <a:t>				</a:t>
            </a:r>
            <a:r>
              <a:rPr lang="en-US" dirty="0">
                <a:solidFill>
                  <a:srgbClr val="00B050"/>
                </a:solidFill>
                <a:latin typeface="Consolas" panose="020B0609020204030204" pitchFamily="49" charset="0"/>
              </a:rPr>
              <a:t>Will work!</a:t>
            </a:r>
          </a:p>
        </p:txBody>
      </p:sp>
      <p:sp>
        <p:nvSpPr>
          <p:cNvPr id="4" name="Slide Number Placeholder 3"/>
          <p:cNvSpPr>
            <a:spLocks noGrp="1"/>
          </p:cNvSpPr>
          <p:nvPr>
            <p:ph type="sldNum" sz="quarter" idx="12"/>
          </p:nvPr>
        </p:nvSpPr>
        <p:spPr/>
        <p:txBody>
          <a:bodyPr/>
          <a:lstStyle/>
          <a:p>
            <a:fld id="{43C20813-E79E-4637-B0DD-0EBBF6872E51}" type="slidenum">
              <a:rPr lang="en-US" smtClean="0"/>
              <a:t>12</a:t>
            </a:fld>
            <a:endParaRPr lang="en-US"/>
          </a:p>
        </p:txBody>
      </p:sp>
      <p:pic>
        <p:nvPicPr>
          <p:cNvPr id="6" name="Picture 5" descr="Will NOT work!">
            <a:extLst>
              <a:ext uri="{FF2B5EF4-FFF2-40B4-BE49-F238E27FC236}">
                <a16:creationId xmlns:a16="http://schemas.microsoft.com/office/drawing/2014/main" id="{4FCFD6BD-ED7E-3F43-AA76-16C5ED0A76A1}"/>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6320" y="4986585"/>
            <a:ext cx="2965374" cy="1004932"/>
          </a:xfrm>
          <a:prstGeom prst="rect">
            <a:avLst/>
          </a:prstGeom>
        </p:spPr>
      </p:pic>
      <p:pic>
        <p:nvPicPr>
          <p:cNvPr id="8" name="Picture 7">
            <a:extLst>
              <a:ext uri="{FF2B5EF4-FFF2-40B4-BE49-F238E27FC236}">
                <a16:creationId xmlns:a16="http://schemas.microsoft.com/office/drawing/2014/main" id="{9DBD37A6-5CBB-7743-BFF8-3AA2EC15F6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6314" y="4996166"/>
            <a:ext cx="3564745" cy="995351"/>
          </a:xfrm>
          <a:prstGeom prst="rect">
            <a:avLst/>
          </a:prstGeom>
        </p:spPr>
      </p:pic>
    </p:spTree>
    <p:extLst>
      <p:ext uri="{BB962C8B-B14F-4D97-AF65-F5344CB8AC3E}">
        <p14:creationId xmlns:p14="http://schemas.microsoft.com/office/powerpoint/2010/main" val="27363561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the Defaults Do Not Work</a:t>
            </a:r>
            <a:endParaRPr lang="bg-BG" dirty="0"/>
          </a:p>
        </p:txBody>
      </p:sp>
      <p:sp>
        <p:nvSpPr>
          <p:cNvPr id="3" name="Content Placeholder 2"/>
          <p:cNvSpPr>
            <a:spLocks noGrp="1"/>
          </p:cNvSpPr>
          <p:nvPr>
            <p:ph idx="1"/>
          </p:nvPr>
        </p:nvSpPr>
        <p:spPr>
          <a:xfrm>
            <a:off x="1097280" y="1845733"/>
            <a:ext cx="10058400" cy="4339913"/>
          </a:xfrm>
        </p:spPr>
        <p:txBody>
          <a:bodyPr>
            <a:normAutofit/>
          </a:bodyPr>
          <a:lstStyle/>
          <a:p>
            <a:pPr>
              <a:buFont typeface="Wingdings" panose="05000000000000000000" pitchFamily="2" charset="2"/>
              <a:buChar char="§"/>
            </a:pPr>
            <a:r>
              <a:rPr lang="en-US" sz="3200" dirty="0"/>
              <a:t>The most common situations where the defaults would not work is when a data member is a </a:t>
            </a:r>
            <a:r>
              <a:rPr lang="en-US" sz="3200" b="1" dirty="0"/>
              <a:t>pointer</a:t>
            </a:r>
          </a:p>
          <a:p>
            <a:pPr>
              <a:buFont typeface="Wingdings" panose="05000000000000000000" pitchFamily="2" charset="2"/>
              <a:buChar char="§"/>
            </a:pPr>
            <a:r>
              <a:rPr lang="en-US" sz="3200" dirty="0"/>
              <a:t>Pointer members might cause problems like:</a:t>
            </a:r>
          </a:p>
          <a:p>
            <a:pPr lvl="1">
              <a:buFont typeface="Wingdings" panose="05000000000000000000" pitchFamily="2" charset="2"/>
              <a:buChar char="§"/>
            </a:pPr>
            <a:r>
              <a:rPr lang="en-US" sz="3000" dirty="0"/>
              <a:t>Shallow copies – instead of allocating new memory and assigning the correct value to it, the defaults will perform pointer assignment only, which cause the two pointer members to point to the same memory location</a:t>
            </a:r>
          </a:p>
          <a:p>
            <a:pPr lvl="1">
              <a:buFont typeface="Wingdings" panose="05000000000000000000" pitchFamily="2" charset="2"/>
              <a:buChar char="§"/>
            </a:pPr>
            <a:r>
              <a:rPr lang="en-US" sz="3000" dirty="0"/>
              <a:t>Memory leak – any memory allocated with </a:t>
            </a:r>
            <a:r>
              <a:rPr lang="en-US" sz="3000" b="1" dirty="0">
                <a:latin typeface="Courier New" panose="02070309020205020404" pitchFamily="49" charset="0"/>
                <a:cs typeface="Courier New" panose="02070309020205020404" pitchFamily="49" charset="0"/>
              </a:rPr>
              <a:t>new</a:t>
            </a:r>
            <a:r>
              <a:rPr lang="en-US" sz="3000" dirty="0"/>
              <a:t> needs to be reclaimed with </a:t>
            </a:r>
            <a:r>
              <a:rPr lang="en-US" sz="3000" b="1" dirty="0">
                <a:latin typeface="Courier New" panose="02070309020205020404" pitchFamily="49" charset="0"/>
                <a:cs typeface="Courier New" panose="02070309020205020404" pitchFamily="49" charset="0"/>
              </a:rPr>
              <a:t>delete</a:t>
            </a:r>
            <a:endParaRPr lang="bg-BG" sz="3000" b="1"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13</a:t>
            </a:fld>
            <a:endParaRPr lang="en-US"/>
          </a:p>
        </p:txBody>
      </p:sp>
    </p:spTree>
    <p:extLst>
      <p:ext uri="{BB962C8B-B14F-4D97-AF65-F5344CB8AC3E}">
        <p14:creationId xmlns:p14="http://schemas.microsoft.com/office/powerpoint/2010/main" val="17566580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Rational</a:t>
            </a:r>
            <a:r>
              <a:rPr lang="en-US" dirty="0"/>
              <a:t> ADT Design</a:t>
            </a:r>
            <a:endParaRPr lang="bg-BG" dirty="0"/>
          </a:p>
        </p:txBody>
      </p:sp>
      <p:sp>
        <p:nvSpPr>
          <p:cNvPr id="3" name="Content Placeholder 2"/>
          <p:cNvSpPr>
            <a:spLocks noGrp="1"/>
          </p:cNvSpPr>
          <p:nvPr>
            <p:ph idx="1"/>
          </p:nvPr>
        </p:nvSpPr>
        <p:spPr>
          <a:xfrm>
            <a:off x="1097279" y="1845732"/>
            <a:ext cx="10323756" cy="4537139"/>
          </a:xfrm>
        </p:spPr>
        <p:txBody>
          <a:bodyPr>
            <a:normAutofit fontScale="85000" lnSpcReduction="20000"/>
          </a:bodyPr>
          <a:lstStyle/>
          <a:p>
            <a:pPr>
              <a:buFont typeface="Wingdings" panose="05000000000000000000" pitchFamily="2" charset="2"/>
              <a:buChar char="§"/>
            </a:pPr>
            <a:r>
              <a:rPr lang="en-US" sz="3200" dirty="0"/>
              <a:t>Data slots:</a:t>
            </a:r>
          </a:p>
          <a:p>
            <a:pPr marL="201168" lvl="1" indent="0">
              <a:buNone/>
            </a:pPr>
            <a:r>
              <a:rPr lang="en-US" sz="2800" dirty="0"/>
              <a:t>	int </a:t>
            </a:r>
            <a:r>
              <a:rPr lang="en-US" sz="2800" dirty="0" err="1"/>
              <a:t>numer</a:t>
            </a:r>
            <a:r>
              <a:rPr lang="en-US" sz="2800" dirty="0"/>
              <a:t> (numerator)	</a:t>
            </a:r>
          </a:p>
          <a:p>
            <a:pPr marL="201168" lvl="1" indent="0">
              <a:buNone/>
            </a:pPr>
            <a:r>
              <a:rPr lang="en-US" sz="2800" dirty="0"/>
              <a:t>	int </a:t>
            </a:r>
            <a:r>
              <a:rPr lang="en-US" sz="2800" dirty="0" err="1"/>
              <a:t>denom</a:t>
            </a:r>
            <a:r>
              <a:rPr lang="en-US" sz="2800" dirty="0"/>
              <a:t> (denominator)	</a:t>
            </a:r>
            <a:r>
              <a:rPr lang="en-US" sz="2800" dirty="0" err="1"/>
              <a:t>denom</a:t>
            </a:r>
            <a:r>
              <a:rPr lang="en-US" sz="2800" dirty="0"/>
              <a:t> != 0</a:t>
            </a:r>
          </a:p>
          <a:p>
            <a:pPr>
              <a:buFont typeface="Wingdings" panose="05000000000000000000" pitchFamily="2" charset="2"/>
              <a:buChar char="§"/>
            </a:pPr>
            <a:r>
              <a:rPr lang="en-US" sz="3200" dirty="0"/>
              <a:t>Operations:</a:t>
            </a:r>
          </a:p>
          <a:p>
            <a:pPr marL="0" indent="0">
              <a:spcBef>
                <a:spcPts val="200"/>
              </a:spcBef>
              <a:spcAft>
                <a:spcPts val="400"/>
              </a:spcAft>
              <a:buNone/>
            </a:pPr>
            <a:r>
              <a:rPr lang="en-US" sz="2800" dirty="0"/>
              <a:t>	</a:t>
            </a:r>
            <a:r>
              <a:rPr lang="en-US" sz="2800" b="1" dirty="0"/>
              <a:t>Constructors:</a:t>
            </a:r>
            <a:r>
              <a:rPr lang="en-US" sz="2800" dirty="0"/>
              <a:t> Rational(), Rational(int), Rational(int, int), Rational(Rational&amp;)</a:t>
            </a:r>
          </a:p>
          <a:p>
            <a:pPr marL="0" indent="0">
              <a:spcBef>
                <a:spcPts val="200"/>
              </a:spcBef>
              <a:spcAft>
                <a:spcPts val="400"/>
              </a:spcAft>
              <a:buNone/>
            </a:pPr>
            <a:r>
              <a:rPr lang="en-US" sz="2800" dirty="0"/>
              <a:t>	</a:t>
            </a:r>
            <a:r>
              <a:rPr lang="en-US" sz="2800" b="1" dirty="0"/>
              <a:t>Accessors:</a:t>
            </a:r>
            <a:r>
              <a:rPr lang="en-US" sz="2800" dirty="0"/>
              <a:t> double </a:t>
            </a:r>
            <a:r>
              <a:rPr lang="en-US" sz="2800" dirty="0" err="1"/>
              <a:t>toDouble</a:t>
            </a:r>
            <a:r>
              <a:rPr lang="en-US" sz="2800" dirty="0"/>
              <a:t>(), &lt;&lt;</a:t>
            </a:r>
          </a:p>
          <a:p>
            <a:pPr marL="0" indent="0">
              <a:spcBef>
                <a:spcPts val="200"/>
              </a:spcBef>
              <a:spcAft>
                <a:spcPts val="400"/>
              </a:spcAft>
              <a:buNone/>
            </a:pPr>
            <a:r>
              <a:rPr lang="en-US" sz="2800" dirty="0"/>
              <a:t>	</a:t>
            </a:r>
            <a:r>
              <a:rPr lang="en-US" sz="2800" b="1" dirty="0"/>
              <a:t>Mutators:</a:t>
            </a:r>
            <a:r>
              <a:rPr lang="en-US" sz="2800" dirty="0"/>
              <a:t> =, +=, -=, *=, /=, &gt;&gt;</a:t>
            </a:r>
          </a:p>
          <a:p>
            <a:pPr marL="0" indent="0">
              <a:spcBef>
                <a:spcPts val="200"/>
              </a:spcBef>
              <a:spcAft>
                <a:spcPts val="400"/>
              </a:spcAft>
              <a:buNone/>
            </a:pPr>
            <a:r>
              <a:rPr lang="en-US" sz="2800" dirty="0"/>
              <a:t>	</a:t>
            </a:r>
            <a:r>
              <a:rPr lang="en-US" sz="2800" b="1" dirty="0"/>
              <a:t>Operators:</a:t>
            </a:r>
            <a:r>
              <a:rPr lang="en-US" sz="2800" dirty="0"/>
              <a:t> +, -, *, /, unary -, ++, --, &lt;, &lt;=, &gt;, &gt;=, ==, !=</a:t>
            </a:r>
          </a:p>
          <a:p>
            <a:pPr>
              <a:buFont typeface="Wingdings" panose="05000000000000000000" pitchFamily="2" charset="2"/>
              <a:buChar char="§"/>
            </a:pPr>
            <a:r>
              <a:rPr lang="en-US" sz="3200" dirty="0"/>
              <a:t>Axioms:</a:t>
            </a:r>
          </a:p>
          <a:p>
            <a:pPr marL="201168" lvl="1" indent="0">
              <a:buNone/>
            </a:pPr>
            <a:r>
              <a:rPr lang="en-US" sz="2800" dirty="0"/>
              <a:t>	The GCD of </a:t>
            </a:r>
            <a:r>
              <a:rPr lang="en-US" sz="2800" dirty="0" err="1"/>
              <a:t>numer</a:t>
            </a:r>
            <a:r>
              <a:rPr lang="en-US" sz="2800" dirty="0"/>
              <a:t> and </a:t>
            </a:r>
            <a:r>
              <a:rPr lang="en-US" sz="2800" dirty="0" err="1"/>
              <a:t>denom</a:t>
            </a:r>
            <a:r>
              <a:rPr lang="en-US" sz="2800" dirty="0"/>
              <a:t> should be 1</a:t>
            </a:r>
          </a:p>
          <a:p>
            <a:pPr marL="201168" lvl="1" indent="0">
              <a:buNone/>
            </a:pPr>
            <a:r>
              <a:rPr lang="en-US" sz="2800" dirty="0"/>
              <a:t>	If negative, the </a:t>
            </a:r>
            <a:r>
              <a:rPr lang="en-US" sz="2800" dirty="0" err="1"/>
              <a:t>numer</a:t>
            </a:r>
            <a:r>
              <a:rPr lang="en-US" sz="2800" dirty="0"/>
              <a:t> holds the minus sign</a:t>
            </a:r>
          </a:p>
          <a:p>
            <a:pPr marL="201168" lvl="1" indent="0">
              <a:buNone/>
            </a:pPr>
            <a:r>
              <a:rPr lang="en-US" sz="2800" dirty="0"/>
              <a:t>	Enforced by the private function </a:t>
            </a:r>
            <a:r>
              <a:rPr lang="en-US" sz="2800" i="1" dirty="0"/>
              <a:t>normalize()</a:t>
            </a:r>
            <a:endParaRPr lang="en-US" sz="2800" dirty="0"/>
          </a:p>
        </p:txBody>
      </p:sp>
      <p:sp>
        <p:nvSpPr>
          <p:cNvPr id="4" name="Slide Number Placeholder 3"/>
          <p:cNvSpPr>
            <a:spLocks noGrp="1"/>
          </p:cNvSpPr>
          <p:nvPr>
            <p:ph type="sldNum" sz="quarter" idx="12"/>
          </p:nvPr>
        </p:nvSpPr>
        <p:spPr/>
        <p:txBody>
          <a:bodyPr/>
          <a:lstStyle/>
          <a:p>
            <a:fld id="{43C20813-E79E-4637-B0DD-0EBBF6872E51}" type="slidenum">
              <a:rPr lang="en-US" smtClean="0"/>
              <a:t>14</a:t>
            </a:fld>
            <a:endParaRPr lang="en-US"/>
          </a:p>
        </p:txBody>
      </p:sp>
    </p:spTree>
    <p:extLst>
      <p:ext uri="{BB962C8B-B14F-4D97-AF65-F5344CB8AC3E}">
        <p14:creationId xmlns:p14="http://schemas.microsoft.com/office/powerpoint/2010/main" val="2493701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Rational</a:t>
            </a:r>
            <a:r>
              <a:rPr lang="en-US" dirty="0"/>
              <a:t> Class Interface (Part 1 of 3)</a:t>
            </a:r>
            <a:endParaRPr lang="bg-BG" dirty="0"/>
          </a:p>
        </p:txBody>
      </p:sp>
      <p:sp>
        <p:nvSpPr>
          <p:cNvPr id="3" name="Content Placeholder 2"/>
          <p:cNvSpPr>
            <a:spLocks noGrp="1"/>
          </p:cNvSpPr>
          <p:nvPr>
            <p:ph idx="1"/>
          </p:nvPr>
        </p:nvSpPr>
        <p:spPr>
          <a:xfrm>
            <a:off x="1097279" y="1845734"/>
            <a:ext cx="10646485" cy="4447490"/>
          </a:xfrm>
        </p:spPr>
        <p:txBody>
          <a:bodyPr>
            <a:noAutofit/>
          </a:bodyPr>
          <a:lstStyle/>
          <a:p>
            <a:pPr marL="0" indent="0">
              <a:lnSpc>
                <a:spcPct val="100000"/>
              </a:lnSpc>
              <a:spcBef>
                <a:spcPts val="0"/>
              </a:spcBef>
              <a:spcAft>
                <a:spcPts val="0"/>
              </a:spcAft>
              <a:buNone/>
            </a:pPr>
            <a:r>
              <a:rPr lang="en-US" sz="1700" dirty="0">
                <a:solidFill>
                  <a:srgbClr val="0000FF"/>
                </a:solidFill>
                <a:latin typeface="Consolas" panose="020B0609020204030204" pitchFamily="49" charset="0"/>
              </a:rPr>
              <a:t>class</a:t>
            </a:r>
            <a:r>
              <a:rPr lang="en-US" sz="1700" dirty="0">
                <a:solidFill>
                  <a:srgbClr val="000000"/>
                </a:solidFill>
                <a:latin typeface="Consolas" panose="020B0609020204030204" pitchFamily="49" charset="0"/>
              </a:rPr>
              <a:t> </a:t>
            </a:r>
            <a:r>
              <a:rPr lang="en-US" sz="1700" dirty="0">
                <a:solidFill>
                  <a:srgbClr val="2B91AF"/>
                </a:solidFill>
                <a:latin typeface="Consolas" panose="020B0609020204030204" pitchFamily="49" charset="0"/>
              </a:rPr>
              <a:t>Rational</a:t>
            </a:r>
            <a:r>
              <a:rPr lang="en-US" sz="1700" dirty="0">
                <a:solidFill>
                  <a:srgbClr val="000000"/>
                </a:solidFill>
                <a:latin typeface="Consolas" panose="020B0609020204030204" pitchFamily="49" charset="0"/>
              </a:rPr>
              <a:t> </a:t>
            </a:r>
            <a:r>
              <a:rPr lang="bg-BG" sz="1700" dirty="0">
                <a:solidFill>
                  <a:srgbClr val="000000"/>
                </a:solidFill>
                <a:latin typeface="Consolas" panose="020B0609020204030204" pitchFamily="49" charset="0"/>
              </a:rPr>
              <a:t>{</a:t>
            </a:r>
          </a:p>
          <a:p>
            <a:pPr marL="0" indent="0">
              <a:lnSpc>
                <a:spcPct val="100000"/>
              </a:lnSpc>
              <a:spcBef>
                <a:spcPts val="0"/>
              </a:spcBef>
              <a:spcAft>
                <a:spcPts val="0"/>
              </a:spcAft>
              <a:buNone/>
            </a:pPr>
            <a:r>
              <a:rPr lang="en-US" sz="1700" dirty="0">
                <a:solidFill>
                  <a:srgbClr val="0000FF"/>
                </a:solidFill>
                <a:latin typeface="Consolas" panose="020B0609020204030204" pitchFamily="49" charset="0"/>
              </a:rPr>
              <a:t>public</a:t>
            </a:r>
            <a:r>
              <a:rPr lang="en-US" sz="1700" dirty="0">
                <a:solidFill>
                  <a:srgbClr val="000000"/>
                </a:solidFill>
                <a:latin typeface="Consolas" panose="020B0609020204030204" pitchFamily="49" charset="0"/>
              </a:rPr>
              <a:t>:</a:t>
            </a:r>
          </a:p>
          <a:p>
            <a:pPr marL="0" indent="0">
              <a:lnSpc>
                <a:spcPct val="100000"/>
              </a:lnSpc>
              <a:spcBef>
                <a:spcPts val="0"/>
              </a:spcBef>
              <a:spcAft>
                <a:spcPts val="0"/>
              </a:spcAft>
              <a:buNone/>
            </a:pPr>
            <a:r>
              <a:rPr lang="en-US" sz="1700" dirty="0">
                <a:solidFill>
                  <a:srgbClr val="000000"/>
                </a:solidFill>
                <a:latin typeface="Consolas" panose="020B0609020204030204" pitchFamily="49" charset="0"/>
              </a:rPr>
              <a:t>   Rational(</a:t>
            </a:r>
            <a:r>
              <a:rPr lang="en-US" sz="1700" dirty="0">
                <a:solidFill>
                  <a:srgbClr val="0000FF"/>
                </a:solidFill>
                <a:latin typeface="Consolas" panose="020B0609020204030204" pitchFamily="49" charset="0"/>
              </a:rPr>
              <a:t>int</a:t>
            </a:r>
            <a:r>
              <a:rPr lang="en-US" sz="1700" dirty="0">
                <a:solidFill>
                  <a:srgbClr val="000000"/>
                </a:solidFill>
                <a:latin typeface="Consolas" panose="020B0609020204030204" pitchFamily="49" charset="0"/>
              </a:rPr>
              <a:t> </a:t>
            </a:r>
            <a:r>
              <a:rPr lang="en-US" sz="1700" dirty="0">
                <a:solidFill>
                  <a:srgbClr val="808080"/>
                </a:solidFill>
                <a:latin typeface="Consolas" panose="020B0609020204030204" pitchFamily="49" charset="0"/>
              </a:rPr>
              <a:t>numerator</a:t>
            </a:r>
            <a:r>
              <a:rPr lang="en-US" sz="1700" dirty="0">
                <a:solidFill>
                  <a:srgbClr val="000000"/>
                </a:solidFill>
                <a:latin typeface="Consolas" panose="020B0609020204030204" pitchFamily="49" charset="0"/>
              </a:rPr>
              <a:t> = 0); </a:t>
            </a:r>
            <a:r>
              <a:rPr lang="en-US" sz="1700" dirty="0">
                <a:solidFill>
                  <a:srgbClr val="008000"/>
                </a:solidFill>
                <a:latin typeface="Consolas" panose="020B0609020204030204" pitchFamily="49" charset="0"/>
              </a:rPr>
              <a:t>// R</a:t>
            </a:r>
            <a:r>
              <a:rPr lang="bg-BG" sz="1700" dirty="0">
                <a:solidFill>
                  <a:srgbClr val="008000"/>
                </a:solidFill>
                <a:latin typeface="Consolas" panose="020B0609020204030204" pitchFamily="49" charset="0"/>
              </a:rPr>
              <a:t>а</a:t>
            </a:r>
            <a:r>
              <a:rPr lang="en-US" sz="1700" dirty="0" err="1">
                <a:solidFill>
                  <a:srgbClr val="008000"/>
                </a:solidFill>
                <a:latin typeface="Consolas" panose="020B0609020204030204" pitchFamily="49" charset="0"/>
              </a:rPr>
              <a:t>tional</a:t>
            </a:r>
            <a:r>
              <a:rPr lang="en-US" sz="1700" dirty="0">
                <a:solidFill>
                  <a:srgbClr val="008000"/>
                </a:solidFill>
                <a:latin typeface="Consolas" panose="020B0609020204030204" pitchFamily="49" charset="0"/>
              </a:rPr>
              <a:t> r; R</a:t>
            </a:r>
            <a:r>
              <a:rPr lang="bg-BG" sz="1700" dirty="0">
                <a:solidFill>
                  <a:srgbClr val="008000"/>
                </a:solidFill>
                <a:latin typeface="Consolas" panose="020B0609020204030204" pitchFamily="49" charset="0"/>
              </a:rPr>
              <a:t>а</a:t>
            </a:r>
            <a:r>
              <a:rPr lang="en-US" sz="1700" dirty="0" err="1">
                <a:solidFill>
                  <a:srgbClr val="008000"/>
                </a:solidFill>
                <a:latin typeface="Consolas" panose="020B0609020204030204" pitchFamily="49" charset="0"/>
              </a:rPr>
              <a:t>tional</a:t>
            </a:r>
            <a:r>
              <a:rPr lang="en-US" sz="1700" dirty="0">
                <a:solidFill>
                  <a:srgbClr val="008000"/>
                </a:solidFill>
                <a:latin typeface="Consolas" panose="020B0609020204030204" pitchFamily="49" charset="0"/>
              </a:rPr>
              <a:t> r1(2);</a:t>
            </a:r>
            <a:r>
              <a:rPr lang="en-US" sz="1700" dirty="0">
                <a:solidFill>
                  <a:srgbClr val="000000"/>
                </a:solidFill>
                <a:latin typeface="Consolas" panose="020B0609020204030204" pitchFamily="49" charset="0"/>
              </a:rPr>
              <a:t> </a:t>
            </a:r>
          </a:p>
          <a:p>
            <a:pPr marL="0" indent="0">
              <a:lnSpc>
                <a:spcPct val="100000"/>
              </a:lnSpc>
              <a:spcBef>
                <a:spcPts val="0"/>
              </a:spcBef>
              <a:spcAft>
                <a:spcPts val="0"/>
              </a:spcAft>
              <a:buNone/>
            </a:pPr>
            <a:r>
              <a:rPr lang="en-US" sz="1700" dirty="0">
                <a:solidFill>
                  <a:srgbClr val="000000"/>
                </a:solidFill>
                <a:latin typeface="Consolas" panose="020B0609020204030204" pitchFamily="49" charset="0"/>
              </a:rPr>
              <a:t>   Rational(</a:t>
            </a:r>
            <a:r>
              <a:rPr lang="en-US" sz="1700" dirty="0" err="1">
                <a:solidFill>
                  <a:srgbClr val="0000FF"/>
                </a:solidFill>
                <a:latin typeface="Consolas" panose="020B0609020204030204" pitchFamily="49" charset="0"/>
              </a:rPr>
              <a:t>int</a:t>
            </a:r>
            <a:r>
              <a:rPr lang="en-US" sz="1700" dirty="0">
                <a:solidFill>
                  <a:srgbClr val="000000"/>
                </a:solidFill>
                <a:latin typeface="Consolas" panose="020B0609020204030204" pitchFamily="49" charset="0"/>
              </a:rPr>
              <a:t> </a:t>
            </a:r>
            <a:r>
              <a:rPr lang="en-US" sz="1700" dirty="0">
                <a:solidFill>
                  <a:srgbClr val="808080"/>
                </a:solidFill>
                <a:latin typeface="Consolas" panose="020B0609020204030204" pitchFamily="49" charset="0"/>
              </a:rPr>
              <a:t>numerator</a:t>
            </a:r>
            <a:r>
              <a:rPr lang="en-US" sz="1700" dirty="0">
                <a:solidFill>
                  <a:srgbClr val="000000"/>
                </a:solidFill>
                <a:latin typeface="Consolas" panose="020B0609020204030204" pitchFamily="49" charset="0"/>
              </a:rPr>
              <a:t>, </a:t>
            </a:r>
            <a:r>
              <a:rPr lang="en-US" sz="1700" dirty="0" err="1">
                <a:solidFill>
                  <a:srgbClr val="0000FF"/>
                </a:solidFill>
                <a:latin typeface="Consolas" panose="020B0609020204030204" pitchFamily="49" charset="0"/>
              </a:rPr>
              <a:t>int</a:t>
            </a:r>
            <a:r>
              <a:rPr lang="en-US" sz="1700" dirty="0">
                <a:solidFill>
                  <a:srgbClr val="000000"/>
                </a:solidFill>
                <a:latin typeface="Consolas" panose="020B0609020204030204" pitchFamily="49" charset="0"/>
              </a:rPr>
              <a:t> </a:t>
            </a:r>
            <a:r>
              <a:rPr lang="en-US" sz="1700" dirty="0">
                <a:solidFill>
                  <a:srgbClr val="808080"/>
                </a:solidFill>
                <a:latin typeface="Consolas" panose="020B0609020204030204" pitchFamily="49" charset="0"/>
              </a:rPr>
              <a:t>denominator</a:t>
            </a:r>
            <a:r>
              <a:rPr lang="en-US" sz="1700" dirty="0">
                <a:solidFill>
                  <a:srgbClr val="000000"/>
                </a:solidFill>
                <a:latin typeface="Consolas" panose="020B0609020204030204" pitchFamily="49" charset="0"/>
              </a:rPr>
              <a:t>); </a:t>
            </a:r>
          </a:p>
          <a:p>
            <a:pPr marL="0" indent="0">
              <a:lnSpc>
                <a:spcPct val="100000"/>
              </a:lnSpc>
              <a:spcBef>
                <a:spcPts val="0"/>
              </a:spcBef>
              <a:spcAft>
                <a:spcPts val="0"/>
              </a:spcAft>
              <a:buNone/>
            </a:pPr>
            <a:r>
              <a:rPr lang="en-US" sz="1700" dirty="0">
                <a:solidFill>
                  <a:srgbClr val="000000"/>
                </a:solidFill>
                <a:latin typeface="Consolas" panose="020B0609020204030204" pitchFamily="49" charset="0"/>
              </a:rPr>
              <a:t>   Rational(</a:t>
            </a:r>
            <a:r>
              <a:rPr lang="en-US" sz="1700" dirty="0">
                <a:solidFill>
                  <a:srgbClr val="0000FF"/>
                </a:solidFill>
                <a:latin typeface="Consolas" panose="020B0609020204030204" pitchFamily="49" charset="0"/>
              </a:rPr>
              <a:t>const</a:t>
            </a:r>
            <a:r>
              <a:rPr lang="en-US" sz="1700" dirty="0">
                <a:solidFill>
                  <a:srgbClr val="000000"/>
                </a:solidFill>
                <a:latin typeface="Consolas" panose="020B0609020204030204" pitchFamily="49" charset="0"/>
              </a:rPr>
              <a:t> </a:t>
            </a:r>
            <a:r>
              <a:rPr lang="en-US" sz="1700" dirty="0">
                <a:solidFill>
                  <a:srgbClr val="2B91AF"/>
                </a:solidFill>
                <a:latin typeface="Consolas" panose="020B0609020204030204" pitchFamily="49" charset="0"/>
              </a:rPr>
              <a:t>Rational</a:t>
            </a:r>
            <a:r>
              <a:rPr lang="en-US" sz="1700" dirty="0">
                <a:solidFill>
                  <a:srgbClr val="000000"/>
                </a:solidFill>
                <a:latin typeface="Consolas" panose="020B0609020204030204" pitchFamily="49" charset="0"/>
              </a:rPr>
              <a:t> &amp;</a:t>
            </a:r>
            <a:r>
              <a:rPr lang="en-US" sz="1700" dirty="0" err="1">
                <a:solidFill>
                  <a:srgbClr val="808080"/>
                </a:solidFill>
                <a:latin typeface="Consolas" panose="020B0609020204030204" pitchFamily="49" charset="0"/>
              </a:rPr>
              <a:t>rhs</a:t>
            </a:r>
            <a:r>
              <a:rPr lang="en-US" sz="1700" dirty="0">
                <a:solidFill>
                  <a:srgbClr val="000000"/>
                </a:solidFill>
                <a:latin typeface="Consolas" panose="020B0609020204030204" pitchFamily="49" charset="0"/>
              </a:rPr>
              <a:t>);</a:t>
            </a:r>
          </a:p>
          <a:p>
            <a:pPr marL="0" indent="0">
              <a:lnSpc>
                <a:spcPct val="100000"/>
              </a:lnSpc>
              <a:spcBef>
                <a:spcPts val="0"/>
              </a:spcBef>
              <a:spcAft>
                <a:spcPts val="0"/>
              </a:spcAft>
              <a:buNone/>
            </a:pPr>
            <a:r>
              <a:rPr lang="en-US" sz="1700" dirty="0">
                <a:solidFill>
                  <a:srgbClr val="000000"/>
                </a:solidFill>
                <a:latin typeface="Consolas" panose="020B0609020204030204" pitchFamily="49" charset="0"/>
              </a:rPr>
              <a:t>   ~Rational();</a:t>
            </a:r>
          </a:p>
          <a:p>
            <a:pPr marL="0" indent="0">
              <a:lnSpc>
                <a:spcPct val="100000"/>
              </a:lnSpc>
              <a:spcBef>
                <a:spcPts val="0"/>
              </a:spcBef>
              <a:spcAft>
                <a:spcPts val="0"/>
              </a:spcAft>
              <a:buNone/>
            </a:pPr>
            <a:r>
              <a:rPr lang="bg-BG" sz="1700" dirty="0">
                <a:solidFill>
                  <a:srgbClr val="000000"/>
                </a:solidFill>
                <a:latin typeface="Consolas" panose="020B0609020204030204" pitchFamily="49" charset="0"/>
              </a:rPr>
              <a:t>   </a:t>
            </a:r>
            <a:r>
              <a:rPr lang="en-US" sz="1700" dirty="0">
                <a:solidFill>
                  <a:srgbClr val="008000"/>
                </a:solidFill>
                <a:latin typeface="Consolas" panose="020B0609020204030204" pitchFamily="49" charset="0"/>
              </a:rPr>
              <a:t>// assignment operators</a:t>
            </a:r>
            <a:endParaRPr lang="bg-BG" sz="17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700" dirty="0">
                <a:solidFill>
                  <a:srgbClr val="0000FF"/>
                </a:solidFill>
                <a:latin typeface="Consolas" panose="020B0609020204030204" pitchFamily="49" charset="0"/>
              </a:rPr>
              <a:t>   const</a:t>
            </a:r>
            <a:r>
              <a:rPr lang="en-US" sz="1700" dirty="0">
                <a:solidFill>
                  <a:srgbClr val="000000"/>
                </a:solidFill>
                <a:latin typeface="Consolas" panose="020B0609020204030204" pitchFamily="49" charset="0"/>
              </a:rPr>
              <a:t> </a:t>
            </a:r>
            <a:r>
              <a:rPr lang="en-US" sz="1700" dirty="0">
                <a:solidFill>
                  <a:srgbClr val="2B91AF"/>
                </a:solidFill>
                <a:latin typeface="Consolas" panose="020B0609020204030204" pitchFamily="49" charset="0"/>
              </a:rPr>
              <a:t>Rational</a:t>
            </a:r>
            <a:r>
              <a:rPr lang="en-US" sz="1700" dirty="0">
                <a:solidFill>
                  <a:srgbClr val="000000"/>
                </a:solidFill>
                <a:latin typeface="Consolas" panose="020B0609020204030204" pitchFamily="49" charset="0"/>
              </a:rPr>
              <a:t>&amp; </a:t>
            </a:r>
            <a:r>
              <a:rPr lang="en-US" sz="1700" dirty="0">
                <a:solidFill>
                  <a:srgbClr val="008080"/>
                </a:solidFill>
                <a:latin typeface="Consolas" panose="020B0609020204030204" pitchFamily="49" charset="0"/>
              </a:rPr>
              <a:t>operator=</a:t>
            </a:r>
            <a:r>
              <a:rPr lang="en-US" sz="1700" dirty="0">
                <a:solidFill>
                  <a:srgbClr val="000000"/>
                </a:solidFill>
                <a:latin typeface="Consolas" panose="020B0609020204030204" pitchFamily="49" charset="0"/>
              </a:rPr>
              <a:t>(</a:t>
            </a:r>
            <a:r>
              <a:rPr lang="en-US" sz="1700" dirty="0">
                <a:solidFill>
                  <a:srgbClr val="0000FF"/>
                </a:solidFill>
                <a:latin typeface="Consolas" panose="020B0609020204030204" pitchFamily="49" charset="0"/>
              </a:rPr>
              <a:t>const</a:t>
            </a:r>
            <a:r>
              <a:rPr lang="en-US" sz="1700" dirty="0">
                <a:solidFill>
                  <a:srgbClr val="000000"/>
                </a:solidFill>
                <a:latin typeface="Consolas" panose="020B0609020204030204" pitchFamily="49" charset="0"/>
              </a:rPr>
              <a:t> </a:t>
            </a:r>
            <a:r>
              <a:rPr lang="en-US" sz="1700" dirty="0">
                <a:solidFill>
                  <a:srgbClr val="2B91AF"/>
                </a:solidFill>
                <a:latin typeface="Consolas" panose="020B0609020204030204" pitchFamily="49" charset="0"/>
              </a:rPr>
              <a:t>Rational</a:t>
            </a:r>
            <a:r>
              <a:rPr lang="en-US" sz="1700" dirty="0">
                <a:solidFill>
                  <a:srgbClr val="000000"/>
                </a:solidFill>
                <a:latin typeface="Consolas" panose="020B0609020204030204" pitchFamily="49" charset="0"/>
              </a:rPr>
              <a:t> &amp; </a:t>
            </a:r>
            <a:r>
              <a:rPr lang="en-US" sz="1700" dirty="0" err="1">
                <a:solidFill>
                  <a:srgbClr val="808080"/>
                </a:solidFill>
                <a:latin typeface="Consolas" panose="020B0609020204030204" pitchFamily="49" charset="0"/>
              </a:rPr>
              <a:t>rhs</a:t>
            </a:r>
            <a:r>
              <a:rPr lang="en-US" sz="1700" dirty="0">
                <a:solidFill>
                  <a:srgbClr val="000000"/>
                </a:solidFill>
                <a:latin typeface="Consolas" panose="020B0609020204030204" pitchFamily="49" charset="0"/>
              </a:rPr>
              <a:t>); </a:t>
            </a:r>
            <a:r>
              <a:rPr lang="en-US" sz="1700" dirty="0">
                <a:solidFill>
                  <a:srgbClr val="008000"/>
                </a:solidFill>
                <a:latin typeface="Consolas" panose="020B0609020204030204" pitchFamily="49" charset="0"/>
              </a:rPr>
              <a:t>//  lhs = </a:t>
            </a:r>
            <a:r>
              <a:rPr lang="en-US" sz="1700" dirty="0" err="1">
                <a:solidFill>
                  <a:srgbClr val="008000"/>
                </a:solidFill>
                <a:latin typeface="Consolas" panose="020B0609020204030204" pitchFamily="49" charset="0"/>
              </a:rPr>
              <a:t>rhs</a:t>
            </a:r>
            <a:r>
              <a:rPr lang="en-US" sz="1700" dirty="0">
                <a:solidFill>
                  <a:srgbClr val="000000"/>
                </a:solidFill>
                <a:latin typeface="Consolas" panose="020B0609020204030204" pitchFamily="49" charset="0"/>
              </a:rPr>
              <a:t> </a:t>
            </a:r>
          </a:p>
          <a:p>
            <a:pPr marL="0" indent="0">
              <a:lnSpc>
                <a:spcPct val="100000"/>
              </a:lnSpc>
              <a:spcBef>
                <a:spcPts val="0"/>
              </a:spcBef>
              <a:spcAft>
                <a:spcPts val="0"/>
              </a:spcAft>
              <a:buNone/>
            </a:pPr>
            <a:r>
              <a:rPr lang="en-US" sz="1700" dirty="0">
                <a:solidFill>
                  <a:srgbClr val="000000"/>
                </a:solidFill>
                <a:latin typeface="Consolas" panose="020B0609020204030204" pitchFamily="49" charset="0"/>
              </a:rPr>
              <a:t>   </a:t>
            </a:r>
            <a:r>
              <a:rPr lang="en-US" sz="1700" dirty="0" err="1">
                <a:solidFill>
                  <a:srgbClr val="0000FF"/>
                </a:solidFill>
                <a:latin typeface="Consolas" panose="020B0609020204030204" pitchFamily="49" charset="0"/>
              </a:rPr>
              <a:t>const</a:t>
            </a:r>
            <a:r>
              <a:rPr lang="en-US" sz="1700" dirty="0">
                <a:solidFill>
                  <a:srgbClr val="000000"/>
                </a:solidFill>
                <a:latin typeface="Consolas" panose="020B0609020204030204" pitchFamily="49" charset="0"/>
              </a:rPr>
              <a:t> </a:t>
            </a:r>
            <a:r>
              <a:rPr lang="en-US" sz="1700" dirty="0">
                <a:solidFill>
                  <a:srgbClr val="2B91AF"/>
                </a:solidFill>
                <a:latin typeface="Consolas" panose="020B0609020204030204" pitchFamily="49" charset="0"/>
              </a:rPr>
              <a:t>Rational</a:t>
            </a:r>
            <a:r>
              <a:rPr lang="en-US" sz="1700" dirty="0">
                <a:solidFill>
                  <a:srgbClr val="000000"/>
                </a:solidFill>
                <a:latin typeface="Consolas" panose="020B0609020204030204" pitchFamily="49" charset="0"/>
              </a:rPr>
              <a:t>&amp; </a:t>
            </a:r>
            <a:r>
              <a:rPr lang="en-US" sz="1700" dirty="0">
                <a:solidFill>
                  <a:srgbClr val="008080"/>
                </a:solidFill>
                <a:latin typeface="Consolas" panose="020B0609020204030204" pitchFamily="49" charset="0"/>
              </a:rPr>
              <a:t>operator+=</a:t>
            </a:r>
            <a:r>
              <a:rPr lang="en-US" sz="1700" dirty="0">
                <a:solidFill>
                  <a:srgbClr val="000000"/>
                </a:solidFill>
                <a:latin typeface="Consolas" panose="020B0609020204030204" pitchFamily="49" charset="0"/>
              </a:rPr>
              <a:t>(</a:t>
            </a:r>
            <a:r>
              <a:rPr lang="en-US" sz="1700" dirty="0">
                <a:solidFill>
                  <a:srgbClr val="0000FF"/>
                </a:solidFill>
                <a:latin typeface="Consolas" panose="020B0609020204030204" pitchFamily="49" charset="0"/>
              </a:rPr>
              <a:t>const</a:t>
            </a:r>
            <a:r>
              <a:rPr lang="en-US" sz="1700" dirty="0">
                <a:solidFill>
                  <a:srgbClr val="000000"/>
                </a:solidFill>
                <a:latin typeface="Consolas" panose="020B0609020204030204" pitchFamily="49" charset="0"/>
              </a:rPr>
              <a:t> </a:t>
            </a:r>
            <a:r>
              <a:rPr lang="en-US" sz="1700" dirty="0">
                <a:solidFill>
                  <a:srgbClr val="2B91AF"/>
                </a:solidFill>
                <a:latin typeface="Consolas" panose="020B0609020204030204" pitchFamily="49" charset="0"/>
              </a:rPr>
              <a:t>Rational</a:t>
            </a:r>
            <a:r>
              <a:rPr lang="en-US" sz="1700" dirty="0">
                <a:solidFill>
                  <a:srgbClr val="000000"/>
                </a:solidFill>
                <a:latin typeface="Consolas" panose="020B0609020204030204" pitchFamily="49" charset="0"/>
              </a:rPr>
              <a:t> &amp; </a:t>
            </a:r>
            <a:r>
              <a:rPr lang="en-US" sz="1700" dirty="0" err="1">
                <a:solidFill>
                  <a:srgbClr val="808080"/>
                </a:solidFill>
                <a:latin typeface="Consolas" panose="020B0609020204030204" pitchFamily="49" charset="0"/>
              </a:rPr>
              <a:t>rhs</a:t>
            </a:r>
            <a:r>
              <a:rPr lang="en-US" sz="1700" dirty="0">
                <a:solidFill>
                  <a:srgbClr val="000000"/>
                </a:solidFill>
                <a:latin typeface="Consolas" panose="020B0609020204030204" pitchFamily="49" charset="0"/>
              </a:rPr>
              <a:t>);</a:t>
            </a:r>
            <a:r>
              <a:rPr lang="en-US" sz="1700" dirty="0">
                <a:solidFill>
                  <a:srgbClr val="008000"/>
                </a:solidFill>
                <a:latin typeface="Consolas" panose="020B0609020204030204" pitchFamily="49" charset="0"/>
              </a:rPr>
              <a:t> // lhs += </a:t>
            </a:r>
            <a:r>
              <a:rPr lang="en-US" sz="1700" dirty="0" err="1">
                <a:solidFill>
                  <a:srgbClr val="008000"/>
                </a:solidFill>
                <a:latin typeface="Consolas" panose="020B0609020204030204" pitchFamily="49" charset="0"/>
              </a:rPr>
              <a:t>rhs</a:t>
            </a:r>
            <a:r>
              <a:rPr lang="en-US" sz="1700" dirty="0">
                <a:solidFill>
                  <a:srgbClr val="000000"/>
                </a:solidFill>
                <a:latin typeface="Consolas" panose="020B0609020204030204" pitchFamily="49" charset="0"/>
              </a:rPr>
              <a:t> </a:t>
            </a:r>
          </a:p>
          <a:p>
            <a:pPr marL="0" indent="0">
              <a:lnSpc>
                <a:spcPct val="100000"/>
              </a:lnSpc>
              <a:spcBef>
                <a:spcPts val="0"/>
              </a:spcBef>
              <a:spcAft>
                <a:spcPts val="0"/>
              </a:spcAft>
              <a:buNone/>
            </a:pPr>
            <a:r>
              <a:rPr lang="en-US" sz="1700" dirty="0">
                <a:solidFill>
                  <a:srgbClr val="0000FF"/>
                </a:solidFill>
                <a:latin typeface="Consolas" panose="020B0609020204030204" pitchFamily="49" charset="0"/>
              </a:rPr>
              <a:t>   const</a:t>
            </a:r>
            <a:r>
              <a:rPr lang="en-US" sz="1700" dirty="0">
                <a:solidFill>
                  <a:srgbClr val="000000"/>
                </a:solidFill>
                <a:latin typeface="Consolas" panose="020B0609020204030204" pitchFamily="49" charset="0"/>
              </a:rPr>
              <a:t> </a:t>
            </a:r>
            <a:r>
              <a:rPr lang="en-US" sz="1700" dirty="0">
                <a:solidFill>
                  <a:srgbClr val="2B91AF"/>
                </a:solidFill>
                <a:latin typeface="Consolas" panose="020B0609020204030204" pitchFamily="49" charset="0"/>
              </a:rPr>
              <a:t>Rational</a:t>
            </a:r>
            <a:r>
              <a:rPr lang="en-US" sz="1700" dirty="0">
                <a:solidFill>
                  <a:srgbClr val="000000"/>
                </a:solidFill>
                <a:latin typeface="Consolas" panose="020B0609020204030204" pitchFamily="49" charset="0"/>
              </a:rPr>
              <a:t>&amp; </a:t>
            </a:r>
            <a:r>
              <a:rPr lang="en-US" sz="1700" dirty="0">
                <a:solidFill>
                  <a:srgbClr val="008080"/>
                </a:solidFill>
                <a:latin typeface="Consolas" panose="020B0609020204030204" pitchFamily="49" charset="0"/>
              </a:rPr>
              <a:t>operator-=</a:t>
            </a:r>
            <a:r>
              <a:rPr lang="en-US" sz="1700" dirty="0">
                <a:solidFill>
                  <a:srgbClr val="000000"/>
                </a:solidFill>
                <a:latin typeface="Consolas" panose="020B0609020204030204" pitchFamily="49" charset="0"/>
              </a:rPr>
              <a:t>(</a:t>
            </a:r>
            <a:r>
              <a:rPr lang="en-US" sz="1700" dirty="0">
                <a:solidFill>
                  <a:srgbClr val="0000FF"/>
                </a:solidFill>
                <a:latin typeface="Consolas" panose="020B0609020204030204" pitchFamily="49" charset="0"/>
              </a:rPr>
              <a:t>const</a:t>
            </a:r>
            <a:r>
              <a:rPr lang="en-US" sz="1700" dirty="0">
                <a:solidFill>
                  <a:srgbClr val="000000"/>
                </a:solidFill>
                <a:latin typeface="Consolas" panose="020B0609020204030204" pitchFamily="49" charset="0"/>
              </a:rPr>
              <a:t> </a:t>
            </a:r>
            <a:r>
              <a:rPr lang="en-US" sz="1700" dirty="0">
                <a:solidFill>
                  <a:srgbClr val="2B91AF"/>
                </a:solidFill>
                <a:latin typeface="Consolas" panose="020B0609020204030204" pitchFamily="49" charset="0"/>
              </a:rPr>
              <a:t>Rational</a:t>
            </a:r>
            <a:r>
              <a:rPr lang="en-US" sz="1700" dirty="0">
                <a:solidFill>
                  <a:srgbClr val="000000"/>
                </a:solidFill>
                <a:latin typeface="Consolas" panose="020B0609020204030204" pitchFamily="49" charset="0"/>
              </a:rPr>
              <a:t> &amp; </a:t>
            </a:r>
            <a:r>
              <a:rPr lang="en-US" sz="1700" dirty="0" err="1">
                <a:solidFill>
                  <a:srgbClr val="808080"/>
                </a:solidFill>
                <a:latin typeface="Consolas" panose="020B0609020204030204" pitchFamily="49" charset="0"/>
              </a:rPr>
              <a:t>rhs</a:t>
            </a:r>
            <a:r>
              <a:rPr lang="en-US" sz="1700" dirty="0">
                <a:solidFill>
                  <a:srgbClr val="000000"/>
                </a:solidFill>
                <a:latin typeface="Consolas" panose="020B0609020204030204" pitchFamily="49" charset="0"/>
              </a:rPr>
              <a:t>); </a:t>
            </a:r>
            <a:r>
              <a:rPr lang="en-US" sz="1700" dirty="0">
                <a:solidFill>
                  <a:srgbClr val="008000"/>
                </a:solidFill>
                <a:latin typeface="Consolas" panose="020B0609020204030204" pitchFamily="49" charset="0"/>
              </a:rPr>
              <a:t>// lhs -= </a:t>
            </a:r>
            <a:r>
              <a:rPr lang="en-US" sz="1700" dirty="0" err="1">
                <a:solidFill>
                  <a:srgbClr val="008000"/>
                </a:solidFill>
                <a:latin typeface="Consolas" panose="020B0609020204030204" pitchFamily="49" charset="0"/>
              </a:rPr>
              <a:t>rhs</a:t>
            </a:r>
            <a:endParaRPr lang="en-US" sz="17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700" dirty="0">
                <a:solidFill>
                  <a:srgbClr val="0000FF"/>
                </a:solidFill>
                <a:latin typeface="Consolas" panose="020B0609020204030204" pitchFamily="49" charset="0"/>
              </a:rPr>
              <a:t>   const</a:t>
            </a:r>
            <a:r>
              <a:rPr lang="en-US" sz="1700" dirty="0">
                <a:solidFill>
                  <a:srgbClr val="000000"/>
                </a:solidFill>
                <a:latin typeface="Consolas" panose="020B0609020204030204" pitchFamily="49" charset="0"/>
              </a:rPr>
              <a:t> </a:t>
            </a:r>
            <a:r>
              <a:rPr lang="en-US" sz="1700" dirty="0">
                <a:solidFill>
                  <a:srgbClr val="2B91AF"/>
                </a:solidFill>
                <a:latin typeface="Consolas" panose="020B0609020204030204" pitchFamily="49" charset="0"/>
              </a:rPr>
              <a:t>Rational</a:t>
            </a:r>
            <a:r>
              <a:rPr lang="en-US" sz="1700" dirty="0">
                <a:solidFill>
                  <a:srgbClr val="000000"/>
                </a:solidFill>
                <a:latin typeface="Consolas" panose="020B0609020204030204" pitchFamily="49" charset="0"/>
              </a:rPr>
              <a:t>&amp; </a:t>
            </a:r>
            <a:r>
              <a:rPr lang="en-US" sz="1700" dirty="0">
                <a:solidFill>
                  <a:srgbClr val="008080"/>
                </a:solidFill>
                <a:latin typeface="Consolas" panose="020B0609020204030204" pitchFamily="49" charset="0"/>
              </a:rPr>
              <a:t>operator*=</a:t>
            </a:r>
            <a:r>
              <a:rPr lang="en-US" sz="1700" dirty="0">
                <a:solidFill>
                  <a:srgbClr val="000000"/>
                </a:solidFill>
                <a:latin typeface="Consolas" panose="020B0609020204030204" pitchFamily="49" charset="0"/>
              </a:rPr>
              <a:t>(</a:t>
            </a:r>
            <a:r>
              <a:rPr lang="en-US" sz="1700" dirty="0">
                <a:solidFill>
                  <a:srgbClr val="0000FF"/>
                </a:solidFill>
                <a:latin typeface="Consolas" panose="020B0609020204030204" pitchFamily="49" charset="0"/>
              </a:rPr>
              <a:t>const</a:t>
            </a:r>
            <a:r>
              <a:rPr lang="en-US" sz="1700" dirty="0">
                <a:solidFill>
                  <a:srgbClr val="000000"/>
                </a:solidFill>
                <a:latin typeface="Consolas" panose="020B0609020204030204" pitchFamily="49" charset="0"/>
              </a:rPr>
              <a:t> </a:t>
            </a:r>
            <a:r>
              <a:rPr lang="en-US" sz="1700" dirty="0">
                <a:solidFill>
                  <a:srgbClr val="2B91AF"/>
                </a:solidFill>
                <a:latin typeface="Consolas" panose="020B0609020204030204" pitchFamily="49" charset="0"/>
              </a:rPr>
              <a:t>Rational</a:t>
            </a:r>
            <a:r>
              <a:rPr lang="en-US" sz="1700" dirty="0">
                <a:solidFill>
                  <a:srgbClr val="000000"/>
                </a:solidFill>
                <a:latin typeface="Consolas" panose="020B0609020204030204" pitchFamily="49" charset="0"/>
              </a:rPr>
              <a:t> &amp; </a:t>
            </a:r>
            <a:r>
              <a:rPr lang="en-US" sz="1700" dirty="0" err="1">
                <a:solidFill>
                  <a:srgbClr val="808080"/>
                </a:solidFill>
                <a:latin typeface="Consolas" panose="020B0609020204030204" pitchFamily="49" charset="0"/>
              </a:rPr>
              <a:t>rhs</a:t>
            </a:r>
            <a:r>
              <a:rPr lang="en-US" sz="1700" dirty="0">
                <a:solidFill>
                  <a:srgbClr val="000000"/>
                </a:solidFill>
                <a:latin typeface="Consolas" panose="020B0609020204030204" pitchFamily="49" charset="0"/>
              </a:rPr>
              <a:t>); </a:t>
            </a:r>
            <a:r>
              <a:rPr lang="en-US" sz="1700" dirty="0">
                <a:solidFill>
                  <a:srgbClr val="008000"/>
                </a:solidFill>
                <a:latin typeface="Consolas" panose="020B0609020204030204" pitchFamily="49" charset="0"/>
              </a:rPr>
              <a:t>// lhs *= </a:t>
            </a:r>
            <a:r>
              <a:rPr lang="en-US" sz="1700" dirty="0" err="1">
                <a:solidFill>
                  <a:srgbClr val="008000"/>
                </a:solidFill>
                <a:latin typeface="Consolas" panose="020B0609020204030204" pitchFamily="49" charset="0"/>
              </a:rPr>
              <a:t>rhs</a:t>
            </a:r>
            <a:endParaRPr lang="en-US" sz="17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700" dirty="0">
                <a:solidFill>
                  <a:srgbClr val="0000FF"/>
                </a:solidFill>
                <a:latin typeface="Consolas" panose="020B0609020204030204" pitchFamily="49" charset="0"/>
              </a:rPr>
              <a:t>   const</a:t>
            </a:r>
            <a:r>
              <a:rPr lang="en-US" sz="1700" dirty="0">
                <a:solidFill>
                  <a:srgbClr val="000000"/>
                </a:solidFill>
                <a:latin typeface="Consolas" panose="020B0609020204030204" pitchFamily="49" charset="0"/>
              </a:rPr>
              <a:t> </a:t>
            </a:r>
            <a:r>
              <a:rPr lang="en-US" sz="1700" dirty="0">
                <a:solidFill>
                  <a:srgbClr val="2B91AF"/>
                </a:solidFill>
                <a:latin typeface="Consolas" panose="020B0609020204030204" pitchFamily="49" charset="0"/>
              </a:rPr>
              <a:t>Rational</a:t>
            </a:r>
            <a:r>
              <a:rPr lang="en-US" sz="1700" dirty="0">
                <a:solidFill>
                  <a:srgbClr val="000000"/>
                </a:solidFill>
                <a:latin typeface="Consolas" panose="020B0609020204030204" pitchFamily="49" charset="0"/>
              </a:rPr>
              <a:t>&amp; </a:t>
            </a:r>
            <a:r>
              <a:rPr lang="en-US" sz="1700" dirty="0">
                <a:solidFill>
                  <a:srgbClr val="008080"/>
                </a:solidFill>
                <a:latin typeface="Consolas" panose="020B0609020204030204" pitchFamily="49" charset="0"/>
              </a:rPr>
              <a:t>operator/=</a:t>
            </a:r>
            <a:r>
              <a:rPr lang="en-US" sz="1700" dirty="0">
                <a:solidFill>
                  <a:srgbClr val="000000"/>
                </a:solidFill>
                <a:latin typeface="Consolas" panose="020B0609020204030204" pitchFamily="49" charset="0"/>
              </a:rPr>
              <a:t>(</a:t>
            </a:r>
            <a:r>
              <a:rPr lang="en-US" sz="1700" dirty="0">
                <a:solidFill>
                  <a:srgbClr val="0000FF"/>
                </a:solidFill>
                <a:latin typeface="Consolas" panose="020B0609020204030204" pitchFamily="49" charset="0"/>
              </a:rPr>
              <a:t>const</a:t>
            </a:r>
            <a:r>
              <a:rPr lang="en-US" sz="1700" dirty="0">
                <a:solidFill>
                  <a:srgbClr val="000000"/>
                </a:solidFill>
                <a:latin typeface="Consolas" panose="020B0609020204030204" pitchFamily="49" charset="0"/>
              </a:rPr>
              <a:t> </a:t>
            </a:r>
            <a:r>
              <a:rPr lang="en-US" sz="1700" dirty="0">
                <a:solidFill>
                  <a:srgbClr val="2B91AF"/>
                </a:solidFill>
                <a:latin typeface="Consolas" panose="020B0609020204030204" pitchFamily="49" charset="0"/>
              </a:rPr>
              <a:t>Rational</a:t>
            </a:r>
            <a:r>
              <a:rPr lang="en-US" sz="1700" dirty="0">
                <a:solidFill>
                  <a:srgbClr val="000000"/>
                </a:solidFill>
                <a:latin typeface="Consolas" panose="020B0609020204030204" pitchFamily="49" charset="0"/>
              </a:rPr>
              <a:t> &amp; </a:t>
            </a:r>
            <a:r>
              <a:rPr lang="en-US" sz="1700" dirty="0" err="1">
                <a:solidFill>
                  <a:srgbClr val="808080"/>
                </a:solidFill>
                <a:latin typeface="Consolas" panose="020B0609020204030204" pitchFamily="49" charset="0"/>
              </a:rPr>
              <a:t>rhs</a:t>
            </a:r>
            <a:r>
              <a:rPr lang="en-US" sz="1700" dirty="0">
                <a:solidFill>
                  <a:srgbClr val="000000"/>
                </a:solidFill>
                <a:latin typeface="Consolas" panose="020B0609020204030204" pitchFamily="49" charset="0"/>
              </a:rPr>
              <a:t>); </a:t>
            </a:r>
            <a:r>
              <a:rPr lang="en-US" sz="1700" dirty="0">
                <a:solidFill>
                  <a:srgbClr val="008000"/>
                </a:solidFill>
                <a:latin typeface="Consolas" panose="020B0609020204030204" pitchFamily="49" charset="0"/>
              </a:rPr>
              <a:t>// lhs /= </a:t>
            </a:r>
            <a:r>
              <a:rPr lang="en-US" sz="1700" dirty="0" err="1">
                <a:solidFill>
                  <a:srgbClr val="008000"/>
                </a:solidFill>
                <a:latin typeface="Consolas" panose="020B0609020204030204" pitchFamily="49" charset="0"/>
              </a:rPr>
              <a:t>rhs</a:t>
            </a:r>
            <a:endParaRPr lang="en-US" sz="17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700" dirty="0">
                <a:solidFill>
                  <a:srgbClr val="008000"/>
                </a:solidFill>
                <a:latin typeface="Consolas" panose="020B0609020204030204" pitchFamily="49" charset="0"/>
              </a:rPr>
              <a:t>   // binary arithmetic operators</a:t>
            </a:r>
            <a:endParaRPr lang="bg-BG" sz="17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700" dirty="0">
                <a:solidFill>
                  <a:srgbClr val="2B91AF"/>
                </a:solidFill>
                <a:latin typeface="Consolas" panose="020B0609020204030204" pitchFamily="49" charset="0"/>
              </a:rPr>
              <a:t>   Rational</a:t>
            </a:r>
            <a:r>
              <a:rPr lang="en-US" sz="1700" dirty="0">
                <a:solidFill>
                  <a:srgbClr val="000000"/>
                </a:solidFill>
                <a:latin typeface="Consolas" panose="020B0609020204030204" pitchFamily="49" charset="0"/>
              </a:rPr>
              <a:t> </a:t>
            </a:r>
            <a:r>
              <a:rPr lang="en-US" sz="1700" dirty="0">
                <a:solidFill>
                  <a:srgbClr val="008080"/>
                </a:solidFill>
                <a:latin typeface="Consolas" panose="020B0609020204030204" pitchFamily="49" charset="0"/>
              </a:rPr>
              <a:t>operator+</a:t>
            </a:r>
            <a:r>
              <a:rPr lang="en-US" sz="1700" dirty="0">
                <a:solidFill>
                  <a:srgbClr val="000000"/>
                </a:solidFill>
                <a:latin typeface="Consolas" panose="020B0609020204030204" pitchFamily="49" charset="0"/>
              </a:rPr>
              <a:t>(</a:t>
            </a:r>
            <a:r>
              <a:rPr lang="en-US" sz="1700" dirty="0">
                <a:solidFill>
                  <a:srgbClr val="0000FF"/>
                </a:solidFill>
                <a:latin typeface="Consolas" panose="020B0609020204030204" pitchFamily="49" charset="0"/>
              </a:rPr>
              <a:t>const</a:t>
            </a:r>
            <a:r>
              <a:rPr lang="en-US" sz="1700" dirty="0">
                <a:solidFill>
                  <a:srgbClr val="000000"/>
                </a:solidFill>
                <a:latin typeface="Consolas" panose="020B0609020204030204" pitchFamily="49" charset="0"/>
              </a:rPr>
              <a:t> </a:t>
            </a:r>
            <a:r>
              <a:rPr lang="en-US" sz="1700" dirty="0">
                <a:solidFill>
                  <a:srgbClr val="2B91AF"/>
                </a:solidFill>
                <a:latin typeface="Consolas" panose="020B0609020204030204" pitchFamily="49" charset="0"/>
              </a:rPr>
              <a:t>Rational</a:t>
            </a:r>
            <a:r>
              <a:rPr lang="en-US" sz="1700" dirty="0">
                <a:solidFill>
                  <a:srgbClr val="000000"/>
                </a:solidFill>
                <a:latin typeface="Consolas" panose="020B0609020204030204" pitchFamily="49" charset="0"/>
              </a:rPr>
              <a:t> &amp; </a:t>
            </a:r>
            <a:r>
              <a:rPr lang="en-US" sz="1700" dirty="0" err="1">
                <a:solidFill>
                  <a:srgbClr val="808080"/>
                </a:solidFill>
                <a:latin typeface="Consolas" panose="020B0609020204030204" pitchFamily="49" charset="0"/>
              </a:rPr>
              <a:t>rhs</a:t>
            </a:r>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const</a:t>
            </a:r>
            <a:r>
              <a:rPr lang="en-US" sz="1700" dirty="0">
                <a:solidFill>
                  <a:srgbClr val="000000"/>
                </a:solidFill>
                <a:latin typeface="Consolas" panose="020B0609020204030204" pitchFamily="49" charset="0"/>
              </a:rPr>
              <a:t>;  </a:t>
            </a:r>
            <a:r>
              <a:rPr lang="en-US" sz="1700" dirty="0">
                <a:solidFill>
                  <a:srgbClr val="008000"/>
                </a:solidFill>
                <a:latin typeface="Consolas" panose="020B0609020204030204" pitchFamily="49" charset="0"/>
              </a:rPr>
              <a:t>// R</a:t>
            </a:r>
            <a:r>
              <a:rPr lang="bg-BG" sz="1700" dirty="0">
                <a:solidFill>
                  <a:srgbClr val="008000"/>
                </a:solidFill>
                <a:latin typeface="Consolas" panose="020B0609020204030204" pitchFamily="49" charset="0"/>
              </a:rPr>
              <a:t>а</a:t>
            </a:r>
            <a:r>
              <a:rPr lang="en-US" sz="1700" dirty="0" err="1">
                <a:solidFill>
                  <a:srgbClr val="008000"/>
                </a:solidFill>
                <a:latin typeface="Consolas" panose="020B0609020204030204" pitchFamily="49" charset="0"/>
              </a:rPr>
              <a:t>tional</a:t>
            </a:r>
            <a:r>
              <a:rPr lang="en-US" sz="1700" dirty="0">
                <a:solidFill>
                  <a:srgbClr val="008000"/>
                </a:solidFill>
                <a:latin typeface="Consolas" panose="020B0609020204030204" pitchFamily="49" charset="0"/>
              </a:rPr>
              <a:t> a = lhs + </a:t>
            </a:r>
            <a:r>
              <a:rPr lang="en-US" sz="1700" dirty="0" err="1">
                <a:solidFill>
                  <a:srgbClr val="008000"/>
                </a:solidFill>
                <a:latin typeface="Consolas" panose="020B0609020204030204" pitchFamily="49" charset="0"/>
              </a:rPr>
              <a:t>rhs</a:t>
            </a:r>
            <a:r>
              <a:rPr lang="en-US" sz="1700" dirty="0">
                <a:solidFill>
                  <a:srgbClr val="000000"/>
                </a:solidFill>
                <a:latin typeface="Consolas" panose="020B0609020204030204" pitchFamily="49" charset="0"/>
              </a:rPr>
              <a:t> </a:t>
            </a:r>
          </a:p>
          <a:p>
            <a:pPr marL="0" indent="0">
              <a:lnSpc>
                <a:spcPct val="100000"/>
              </a:lnSpc>
              <a:spcBef>
                <a:spcPts val="0"/>
              </a:spcBef>
              <a:spcAft>
                <a:spcPts val="0"/>
              </a:spcAft>
              <a:buNone/>
            </a:pPr>
            <a:r>
              <a:rPr lang="en-US" sz="1700" dirty="0">
                <a:solidFill>
                  <a:srgbClr val="2B91AF"/>
                </a:solidFill>
                <a:latin typeface="Consolas" panose="020B0609020204030204" pitchFamily="49" charset="0"/>
              </a:rPr>
              <a:t>   Rational</a:t>
            </a:r>
            <a:r>
              <a:rPr lang="en-US" sz="1700" dirty="0">
                <a:solidFill>
                  <a:srgbClr val="000000"/>
                </a:solidFill>
                <a:latin typeface="Consolas" panose="020B0609020204030204" pitchFamily="49" charset="0"/>
              </a:rPr>
              <a:t> </a:t>
            </a:r>
            <a:r>
              <a:rPr lang="en-US" sz="1700" dirty="0">
                <a:solidFill>
                  <a:srgbClr val="008080"/>
                </a:solidFill>
                <a:latin typeface="Consolas" panose="020B0609020204030204" pitchFamily="49" charset="0"/>
              </a:rPr>
              <a:t>operator-</a:t>
            </a:r>
            <a:r>
              <a:rPr lang="en-US" sz="1700" dirty="0">
                <a:solidFill>
                  <a:srgbClr val="000000"/>
                </a:solidFill>
                <a:latin typeface="Consolas" panose="020B0609020204030204" pitchFamily="49" charset="0"/>
              </a:rPr>
              <a:t>(</a:t>
            </a:r>
            <a:r>
              <a:rPr lang="en-US" sz="1700" dirty="0">
                <a:solidFill>
                  <a:srgbClr val="0000FF"/>
                </a:solidFill>
                <a:latin typeface="Consolas" panose="020B0609020204030204" pitchFamily="49" charset="0"/>
              </a:rPr>
              <a:t>const</a:t>
            </a:r>
            <a:r>
              <a:rPr lang="en-US" sz="1700" dirty="0">
                <a:solidFill>
                  <a:srgbClr val="000000"/>
                </a:solidFill>
                <a:latin typeface="Consolas" panose="020B0609020204030204" pitchFamily="49" charset="0"/>
              </a:rPr>
              <a:t> </a:t>
            </a:r>
            <a:r>
              <a:rPr lang="en-US" sz="1700" dirty="0">
                <a:solidFill>
                  <a:srgbClr val="2B91AF"/>
                </a:solidFill>
                <a:latin typeface="Consolas" panose="020B0609020204030204" pitchFamily="49" charset="0"/>
              </a:rPr>
              <a:t>Rational</a:t>
            </a:r>
            <a:r>
              <a:rPr lang="en-US" sz="1700" dirty="0">
                <a:solidFill>
                  <a:srgbClr val="000000"/>
                </a:solidFill>
                <a:latin typeface="Consolas" panose="020B0609020204030204" pitchFamily="49" charset="0"/>
              </a:rPr>
              <a:t> &amp; </a:t>
            </a:r>
            <a:r>
              <a:rPr lang="en-US" sz="1700" dirty="0" err="1">
                <a:solidFill>
                  <a:srgbClr val="808080"/>
                </a:solidFill>
                <a:latin typeface="Consolas" panose="020B0609020204030204" pitchFamily="49" charset="0"/>
              </a:rPr>
              <a:t>rhs</a:t>
            </a:r>
            <a:r>
              <a:rPr lang="en-US" sz="1700" dirty="0">
                <a:solidFill>
                  <a:srgbClr val="000000"/>
                </a:solidFill>
                <a:latin typeface="Consolas" panose="020B0609020204030204" pitchFamily="49" charset="0"/>
              </a:rPr>
              <a:t>) </a:t>
            </a:r>
            <a:r>
              <a:rPr lang="en-US" sz="1700" dirty="0" err="1">
                <a:solidFill>
                  <a:srgbClr val="0000FF"/>
                </a:solidFill>
                <a:latin typeface="Consolas" panose="020B0609020204030204" pitchFamily="49" charset="0"/>
              </a:rPr>
              <a:t>const</a:t>
            </a:r>
            <a:r>
              <a:rPr lang="en-US" sz="1700" dirty="0">
                <a:solidFill>
                  <a:srgbClr val="000000"/>
                </a:solidFill>
                <a:latin typeface="Consolas" panose="020B0609020204030204" pitchFamily="49" charset="0"/>
              </a:rPr>
              <a:t>;  </a:t>
            </a:r>
            <a:r>
              <a:rPr lang="en-US" sz="1700" dirty="0">
                <a:solidFill>
                  <a:srgbClr val="008000"/>
                </a:solidFill>
                <a:latin typeface="Consolas" panose="020B0609020204030204" pitchFamily="49" charset="0"/>
              </a:rPr>
              <a:t>// R</a:t>
            </a:r>
            <a:r>
              <a:rPr lang="bg-BG" sz="1700" dirty="0">
                <a:solidFill>
                  <a:srgbClr val="008000"/>
                </a:solidFill>
                <a:latin typeface="Consolas" panose="020B0609020204030204" pitchFamily="49" charset="0"/>
              </a:rPr>
              <a:t>а</a:t>
            </a:r>
            <a:r>
              <a:rPr lang="en-US" sz="1700" dirty="0" err="1">
                <a:solidFill>
                  <a:srgbClr val="008000"/>
                </a:solidFill>
                <a:latin typeface="Consolas" panose="020B0609020204030204" pitchFamily="49" charset="0"/>
              </a:rPr>
              <a:t>tional</a:t>
            </a:r>
            <a:r>
              <a:rPr lang="en-US" sz="1700" dirty="0">
                <a:solidFill>
                  <a:srgbClr val="008000"/>
                </a:solidFill>
                <a:latin typeface="Consolas" panose="020B0609020204030204" pitchFamily="49" charset="0"/>
              </a:rPr>
              <a:t> a = lhs - </a:t>
            </a:r>
            <a:r>
              <a:rPr lang="en-US" sz="1700" dirty="0" err="1">
                <a:solidFill>
                  <a:srgbClr val="008000"/>
                </a:solidFill>
                <a:latin typeface="Consolas" panose="020B0609020204030204" pitchFamily="49" charset="0"/>
              </a:rPr>
              <a:t>rhs</a:t>
            </a:r>
            <a:endParaRPr lang="en-US" sz="17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700" dirty="0">
                <a:solidFill>
                  <a:srgbClr val="2B91AF"/>
                </a:solidFill>
                <a:latin typeface="Consolas" panose="020B0609020204030204" pitchFamily="49" charset="0"/>
              </a:rPr>
              <a:t>   Rational</a:t>
            </a:r>
            <a:r>
              <a:rPr lang="en-US" sz="1700" dirty="0">
                <a:solidFill>
                  <a:srgbClr val="000000"/>
                </a:solidFill>
                <a:latin typeface="Consolas" panose="020B0609020204030204" pitchFamily="49" charset="0"/>
              </a:rPr>
              <a:t> </a:t>
            </a:r>
            <a:r>
              <a:rPr lang="en-US" sz="1700" dirty="0">
                <a:solidFill>
                  <a:srgbClr val="008080"/>
                </a:solidFill>
                <a:latin typeface="Consolas" panose="020B0609020204030204" pitchFamily="49" charset="0"/>
              </a:rPr>
              <a:t>operator*</a:t>
            </a:r>
            <a:r>
              <a:rPr lang="en-US" sz="1700" dirty="0">
                <a:solidFill>
                  <a:srgbClr val="000000"/>
                </a:solidFill>
                <a:latin typeface="Consolas" panose="020B0609020204030204" pitchFamily="49" charset="0"/>
              </a:rPr>
              <a:t>(</a:t>
            </a:r>
            <a:r>
              <a:rPr lang="en-US" sz="1700" dirty="0">
                <a:solidFill>
                  <a:srgbClr val="0000FF"/>
                </a:solidFill>
                <a:latin typeface="Consolas" panose="020B0609020204030204" pitchFamily="49" charset="0"/>
              </a:rPr>
              <a:t>const</a:t>
            </a:r>
            <a:r>
              <a:rPr lang="en-US" sz="1700" dirty="0">
                <a:solidFill>
                  <a:srgbClr val="000000"/>
                </a:solidFill>
                <a:latin typeface="Consolas" panose="020B0609020204030204" pitchFamily="49" charset="0"/>
              </a:rPr>
              <a:t> </a:t>
            </a:r>
            <a:r>
              <a:rPr lang="en-US" sz="1700" dirty="0">
                <a:solidFill>
                  <a:srgbClr val="2B91AF"/>
                </a:solidFill>
                <a:latin typeface="Consolas" panose="020B0609020204030204" pitchFamily="49" charset="0"/>
              </a:rPr>
              <a:t>Rational</a:t>
            </a:r>
            <a:r>
              <a:rPr lang="en-US" sz="1700" dirty="0">
                <a:solidFill>
                  <a:srgbClr val="000000"/>
                </a:solidFill>
                <a:latin typeface="Consolas" panose="020B0609020204030204" pitchFamily="49" charset="0"/>
              </a:rPr>
              <a:t> &amp; </a:t>
            </a:r>
            <a:r>
              <a:rPr lang="en-US" sz="1700" dirty="0" err="1">
                <a:solidFill>
                  <a:srgbClr val="808080"/>
                </a:solidFill>
                <a:latin typeface="Consolas" panose="020B0609020204030204" pitchFamily="49" charset="0"/>
              </a:rPr>
              <a:t>rhs</a:t>
            </a:r>
            <a:r>
              <a:rPr lang="en-US" sz="1700" dirty="0">
                <a:solidFill>
                  <a:srgbClr val="000000"/>
                </a:solidFill>
                <a:latin typeface="Consolas" panose="020B0609020204030204" pitchFamily="49" charset="0"/>
              </a:rPr>
              <a:t>) </a:t>
            </a:r>
            <a:r>
              <a:rPr lang="en-US" sz="1700" dirty="0" err="1">
                <a:solidFill>
                  <a:srgbClr val="0000FF"/>
                </a:solidFill>
                <a:latin typeface="Consolas" panose="020B0609020204030204" pitchFamily="49" charset="0"/>
              </a:rPr>
              <a:t>const</a:t>
            </a:r>
            <a:r>
              <a:rPr lang="en-US" sz="1700" dirty="0">
                <a:solidFill>
                  <a:srgbClr val="000000"/>
                </a:solidFill>
                <a:latin typeface="Consolas" panose="020B0609020204030204" pitchFamily="49" charset="0"/>
              </a:rPr>
              <a:t>;  </a:t>
            </a:r>
            <a:r>
              <a:rPr lang="en-US" sz="1700" dirty="0">
                <a:solidFill>
                  <a:srgbClr val="008000"/>
                </a:solidFill>
                <a:latin typeface="Consolas" panose="020B0609020204030204" pitchFamily="49" charset="0"/>
              </a:rPr>
              <a:t>// R</a:t>
            </a:r>
            <a:r>
              <a:rPr lang="bg-BG" sz="1700" dirty="0">
                <a:solidFill>
                  <a:srgbClr val="008000"/>
                </a:solidFill>
                <a:latin typeface="Consolas" panose="020B0609020204030204" pitchFamily="49" charset="0"/>
              </a:rPr>
              <a:t>а</a:t>
            </a:r>
            <a:r>
              <a:rPr lang="en-US" sz="1700" dirty="0" err="1">
                <a:solidFill>
                  <a:srgbClr val="008000"/>
                </a:solidFill>
                <a:latin typeface="Consolas" panose="020B0609020204030204" pitchFamily="49" charset="0"/>
              </a:rPr>
              <a:t>tional</a:t>
            </a:r>
            <a:r>
              <a:rPr lang="en-US" sz="1700" dirty="0">
                <a:solidFill>
                  <a:srgbClr val="008000"/>
                </a:solidFill>
                <a:latin typeface="Consolas" panose="020B0609020204030204" pitchFamily="49" charset="0"/>
              </a:rPr>
              <a:t> a = lhs * </a:t>
            </a:r>
            <a:r>
              <a:rPr lang="en-US" sz="1700" dirty="0" err="1">
                <a:solidFill>
                  <a:srgbClr val="008000"/>
                </a:solidFill>
                <a:latin typeface="Consolas" panose="020B0609020204030204" pitchFamily="49" charset="0"/>
              </a:rPr>
              <a:t>rhs</a:t>
            </a:r>
            <a:endParaRPr lang="en-US" sz="17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700" dirty="0">
                <a:solidFill>
                  <a:srgbClr val="2B91AF"/>
                </a:solidFill>
                <a:latin typeface="Consolas" panose="020B0609020204030204" pitchFamily="49" charset="0"/>
              </a:rPr>
              <a:t>   Rational</a:t>
            </a:r>
            <a:r>
              <a:rPr lang="en-US" sz="1700" dirty="0">
                <a:solidFill>
                  <a:srgbClr val="000000"/>
                </a:solidFill>
                <a:latin typeface="Consolas" panose="020B0609020204030204" pitchFamily="49" charset="0"/>
              </a:rPr>
              <a:t> </a:t>
            </a:r>
            <a:r>
              <a:rPr lang="en-US" sz="1700" dirty="0">
                <a:solidFill>
                  <a:srgbClr val="008080"/>
                </a:solidFill>
                <a:latin typeface="Consolas" panose="020B0609020204030204" pitchFamily="49" charset="0"/>
              </a:rPr>
              <a:t>operator/</a:t>
            </a:r>
            <a:r>
              <a:rPr lang="en-US" sz="1700" dirty="0">
                <a:solidFill>
                  <a:srgbClr val="000000"/>
                </a:solidFill>
                <a:latin typeface="Consolas" panose="020B0609020204030204" pitchFamily="49" charset="0"/>
              </a:rPr>
              <a:t>(</a:t>
            </a:r>
            <a:r>
              <a:rPr lang="en-US" sz="1700" dirty="0">
                <a:solidFill>
                  <a:srgbClr val="0000FF"/>
                </a:solidFill>
                <a:latin typeface="Consolas" panose="020B0609020204030204" pitchFamily="49" charset="0"/>
              </a:rPr>
              <a:t>const</a:t>
            </a:r>
            <a:r>
              <a:rPr lang="en-US" sz="1700" dirty="0">
                <a:solidFill>
                  <a:srgbClr val="000000"/>
                </a:solidFill>
                <a:latin typeface="Consolas" panose="020B0609020204030204" pitchFamily="49" charset="0"/>
              </a:rPr>
              <a:t> </a:t>
            </a:r>
            <a:r>
              <a:rPr lang="en-US" sz="1700" dirty="0">
                <a:solidFill>
                  <a:srgbClr val="2B91AF"/>
                </a:solidFill>
                <a:latin typeface="Consolas" panose="020B0609020204030204" pitchFamily="49" charset="0"/>
              </a:rPr>
              <a:t>Rational</a:t>
            </a:r>
            <a:r>
              <a:rPr lang="en-US" sz="1700" dirty="0">
                <a:solidFill>
                  <a:srgbClr val="000000"/>
                </a:solidFill>
                <a:latin typeface="Consolas" panose="020B0609020204030204" pitchFamily="49" charset="0"/>
              </a:rPr>
              <a:t> &amp; </a:t>
            </a:r>
            <a:r>
              <a:rPr lang="en-US" sz="1700" dirty="0" err="1">
                <a:solidFill>
                  <a:srgbClr val="808080"/>
                </a:solidFill>
                <a:latin typeface="Consolas" panose="020B0609020204030204" pitchFamily="49" charset="0"/>
              </a:rPr>
              <a:t>rhs</a:t>
            </a:r>
            <a:r>
              <a:rPr lang="en-US" sz="1700" dirty="0">
                <a:solidFill>
                  <a:srgbClr val="000000"/>
                </a:solidFill>
                <a:latin typeface="Consolas" panose="020B0609020204030204" pitchFamily="49" charset="0"/>
              </a:rPr>
              <a:t>) </a:t>
            </a:r>
            <a:r>
              <a:rPr lang="en-US" sz="1700" dirty="0" err="1">
                <a:solidFill>
                  <a:srgbClr val="0000FF"/>
                </a:solidFill>
                <a:latin typeface="Consolas" panose="020B0609020204030204" pitchFamily="49" charset="0"/>
              </a:rPr>
              <a:t>const</a:t>
            </a:r>
            <a:r>
              <a:rPr lang="en-US" sz="1700" dirty="0">
                <a:solidFill>
                  <a:srgbClr val="000000"/>
                </a:solidFill>
                <a:latin typeface="Consolas" panose="020B0609020204030204" pitchFamily="49" charset="0"/>
              </a:rPr>
              <a:t>;  </a:t>
            </a:r>
            <a:r>
              <a:rPr lang="en-US" sz="1700" dirty="0">
                <a:solidFill>
                  <a:srgbClr val="008000"/>
                </a:solidFill>
                <a:latin typeface="Consolas" panose="020B0609020204030204" pitchFamily="49" charset="0"/>
              </a:rPr>
              <a:t>// R</a:t>
            </a:r>
            <a:r>
              <a:rPr lang="bg-BG" sz="1700" dirty="0">
                <a:solidFill>
                  <a:srgbClr val="008000"/>
                </a:solidFill>
                <a:latin typeface="Consolas" panose="020B0609020204030204" pitchFamily="49" charset="0"/>
              </a:rPr>
              <a:t>а</a:t>
            </a:r>
            <a:r>
              <a:rPr lang="en-US" sz="1700" dirty="0" err="1">
                <a:solidFill>
                  <a:srgbClr val="008000"/>
                </a:solidFill>
                <a:latin typeface="Consolas" panose="020B0609020204030204" pitchFamily="49" charset="0"/>
              </a:rPr>
              <a:t>tional</a:t>
            </a:r>
            <a:r>
              <a:rPr lang="en-US" sz="1700" dirty="0">
                <a:solidFill>
                  <a:srgbClr val="008000"/>
                </a:solidFill>
                <a:latin typeface="Consolas" panose="020B0609020204030204" pitchFamily="49" charset="0"/>
              </a:rPr>
              <a:t> a = lhs / </a:t>
            </a:r>
            <a:r>
              <a:rPr lang="en-US" sz="1700" dirty="0" err="1">
                <a:solidFill>
                  <a:srgbClr val="008000"/>
                </a:solidFill>
                <a:latin typeface="Consolas" panose="020B0609020204030204" pitchFamily="49" charset="0"/>
              </a:rPr>
              <a:t>rhs</a:t>
            </a:r>
            <a:endParaRPr lang="bg-BG" sz="1700" b="1"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15</a:t>
            </a:fld>
            <a:endParaRPr lang="en-US"/>
          </a:p>
        </p:txBody>
      </p:sp>
    </p:spTree>
    <p:extLst>
      <p:ext uri="{BB962C8B-B14F-4D97-AF65-F5344CB8AC3E}">
        <p14:creationId xmlns:p14="http://schemas.microsoft.com/office/powerpoint/2010/main" val="814639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Rational</a:t>
            </a:r>
            <a:r>
              <a:rPr lang="en-US" dirty="0"/>
              <a:t> Class Interface (Part 2 of 3)</a:t>
            </a:r>
            <a:endParaRPr lang="bg-BG" dirty="0"/>
          </a:p>
        </p:txBody>
      </p:sp>
      <p:sp>
        <p:nvSpPr>
          <p:cNvPr id="3" name="Content Placeholder 2"/>
          <p:cNvSpPr>
            <a:spLocks noGrp="1"/>
          </p:cNvSpPr>
          <p:nvPr>
            <p:ph idx="1"/>
          </p:nvPr>
        </p:nvSpPr>
        <p:spPr>
          <a:xfrm>
            <a:off x="1097279" y="1845734"/>
            <a:ext cx="10548046" cy="4483348"/>
          </a:xfrm>
        </p:spPr>
        <p:txBody>
          <a:bodyPr>
            <a:noAutofit/>
          </a:bodyPr>
          <a:lstStyle/>
          <a:p>
            <a:pPr marL="0" indent="0">
              <a:lnSpc>
                <a:spcPct val="100000"/>
              </a:lnSpc>
              <a:spcBef>
                <a:spcPts val="0"/>
              </a:spcBef>
              <a:spcAft>
                <a:spcPts val="0"/>
              </a:spcAft>
              <a:buNone/>
            </a:pPr>
            <a:r>
              <a:rPr lang="en-US" sz="1800" dirty="0">
                <a:solidFill>
                  <a:srgbClr val="008000"/>
                </a:solidFill>
                <a:latin typeface="Consolas" panose="020B0609020204030204" pitchFamily="49" charset="0"/>
              </a:rPr>
              <a:t>   </a:t>
            </a:r>
          </a:p>
          <a:p>
            <a:pPr marL="0" indent="0">
              <a:lnSpc>
                <a:spcPct val="100000"/>
              </a:lnSpc>
              <a:spcBef>
                <a:spcPts val="0"/>
              </a:spcBef>
              <a:spcAft>
                <a:spcPts val="0"/>
              </a:spcAft>
              <a:buNone/>
            </a:pPr>
            <a:r>
              <a:rPr lang="en-US" sz="1800" dirty="0">
                <a:solidFill>
                  <a:srgbClr val="008000"/>
                </a:solidFill>
                <a:latin typeface="Consolas" panose="020B0609020204030204" pitchFamily="49" charset="0"/>
              </a:rPr>
              <a:t>   // relational and equality operators</a:t>
            </a:r>
            <a:endParaRPr lang="en-US" sz="18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800" dirty="0">
                <a:solidFill>
                  <a:srgbClr val="0000FF"/>
                </a:solidFill>
                <a:latin typeface="Consolas" panose="020B0609020204030204" pitchFamily="49" charset="0"/>
              </a:rPr>
              <a:t>   bool</a:t>
            </a:r>
            <a:r>
              <a:rPr lang="en-US" sz="1800" dirty="0">
                <a:solidFill>
                  <a:srgbClr val="000000"/>
                </a:solidFill>
                <a:latin typeface="Consolas" panose="020B0609020204030204" pitchFamily="49" charset="0"/>
              </a:rPr>
              <a:t> </a:t>
            </a:r>
            <a:r>
              <a:rPr lang="en-US" sz="1800" dirty="0">
                <a:solidFill>
                  <a:srgbClr val="008080"/>
                </a:solidFill>
                <a:latin typeface="Consolas" panose="020B0609020204030204" pitchFamily="49" charset="0"/>
              </a:rPr>
              <a:t>operator&lt;</a:t>
            </a:r>
            <a:r>
              <a:rPr lang="en-US" sz="1800" dirty="0">
                <a:solidFill>
                  <a:srgbClr val="000000"/>
                </a:solidFill>
                <a:latin typeface="Consolas" panose="020B0609020204030204" pitchFamily="49" charset="0"/>
              </a:rPr>
              <a:t>(</a:t>
            </a:r>
            <a:r>
              <a:rPr lang="en-US" sz="1800" dirty="0">
                <a:solidFill>
                  <a:srgbClr val="0000FF"/>
                </a:solidFill>
                <a:latin typeface="Consolas" panose="020B0609020204030204" pitchFamily="49" charset="0"/>
              </a:rPr>
              <a:t>const</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 &amp; </a:t>
            </a:r>
            <a:r>
              <a:rPr lang="en-US" sz="1800" dirty="0" err="1">
                <a:solidFill>
                  <a:srgbClr val="808080"/>
                </a:solidFill>
                <a:latin typeface="Consolas" panose="020B0609020204030204" pitchFamily="49" charset="0"/>
              </a:rPr>
              <a:t>rhs</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const</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 if (lhs &lt; </a:t>
            </a:r>
            <a:r>
              <a:rPr lang="en-US" sz="1800" dirty="0" err="1">
                <a:solidFill>
                  <a:srgbClr val="008000"/>
                </a:solidFill>
                <a:latin typeface="Consolas" panose="020B0609020204030204" pitchFamily="49" charset="0"/>
              </a:rPr>
              <a:t>rhs</a:t>
            </a:r>
            <a:r>
              <a:rPr lang="en-US" sz="1800" dirty="0">
                <a:solidFill>
                  <a:srgbClr val="008000"/>
                </a:solidFill>
                <a:latin typeface="Consolas" panose="020B0609020204030204" pitchFamily="49" charset="0"/>
              </a:rPr>
              <a:t>) -&gt; true or false</a:t>
            </a:r>
            <a:endParaRPr lang="en-US" sz="18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800" dirty="0">
                <a:solidFill>
                  <a:srgbClr val="0000FF"/>
                </a:solidFill>
                <a:latin typeface="Consolas" panose="020B0609020204030204" pitchFamily="49" charset="0"/>
              </a:rPr>
              <a:t>   bool</a:t>
            </a:r>
            <a:r>
              <a:rPr lang="en-US" sz="1800" dirty="0">
                <a:solidFill>
                  <a:srgbClr val="000000"/>
                </a:solidFill>
                <a:latin typeface="Consolas" panose="020B0609020204030204" pitchFamily="49" charset="0"/>
              </a:rPr>
              <a:t> </a:t>
            </a:r>
            <a:r>
              <a:rPr lang="en-US" sz="1800" dirty="0">
                <a:solidFill>
                  <a:srgbClr val="008080"/>
                </a:solidFill>
                <a:latin typeface="Consolas" panose="020B0609020204030204" pitchFamily="49" charset="0"/>
              </a:rPr>
              <a:t>operator&lt;=</a:t>
            </a:r>
            <a:r>
              <a:rPr lang="en-US" sz="1800" dirty="0">
                <a:solidFill>
                  <a:srgbClr val="000000"/>
                </a:solidFill>
                <a:latin typeface="Consolas" panose="020B0609020204030204" pitchFamily="49" charset="0"/>
              </a:rPr>
              <a:t>(</a:t>
            </a:r>
            <a:r>
              <a:rPr lang="en-US" sz="1800" dirty="0">
                <a:solidFill>
                  <a:srgbClr val="0000FF"/>
                </a:solidFill>
                <a:latin typeface="Consolas" panose="020B0609020204030204" pitchFamily="49" charset="0"/>
              </a:rPr>
              <a:t>const</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 &amp; </a:t>
            </a:r>
            <a:r>
              <a:rPr lang="en-US" sz="1800" dirty="0" err="1">
                <a:solidFill>
                  <a:srgbClr val="808080"/>
                </a:solidFill>
                <a:latin typeface="Consolas" panose="020B0609020204030204" pitchFamily="49" charset="0"/>
              </a:rPr>
              <a:t>rhs</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const</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 if (lhs &lt;= </a:t>
            </a:r>
            <a:r>
              <a:rPr lang="en-US" sz="1800" dirty="0" err="1">
                <a:solidFill>
                  <a:srgbClr val="008000"/>
                </a:solidFill>
                <a:latin typeface="Consolas" panose="020B0609020204030204" pitchFamily="49" charset="0"/>
              </a:rPr>
              <a:t>rhs</a:t>
            </a:r>
            <a:r>
              <a:rPr lang="en-US" sz="1800" dirty="0">
                <a:solidFill>
                  <a:srgbClr val="00800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800" dirty="0">
                <a:solidFill>
                  <a:srgbClr val="0000FF"/>
                </a:solidFill>
                <a:latin typeface="Consolas" panose="020B0609020204030204" pitchFamily="49" charset="0"/>
              </a:rPr>
              <a:t>   bool</a:t>
            </a:r>
            <a:r>
              <a:rPr lang="en-US" sz="1800" dirty="0">
                <a:solidFill>
                  <a:srgbClr val="000000"/>
                </a:solidFill>
                <a:latin typeface="Consolas" panose="020B0609020204030204" pitchFamily="49" charset="0"/>
              </a:rPr>
              <a:t> </a:t>
            </a:r>
            <a:r>
              <a:rPr lang="en-US" sz="1800" dirty="0">
                <a:solidFill>
                  <a:srgbClr val="008080"/>
                </a:solidFill>
                <a:latin typeface="Consolas" panose="020B0609020204030204" pitchFamily="49" charset="0"/>
              </a:rPr>
              <a:t>operator&gt;</a:t>
            </a:r>
            <a:r>
              <a:rPr lang="en-US" sz="1800" dirty="0">
                <a:solidFill>
                  <a:srgbClr val="000000"/>
                </a:solidFill>
                <a:latin typeface="Consolas" panose="020B0609020204030204" pitchFamily="49" charset="0"/>
              </a:rPr>
              <a:t>(</a:t>
            </a:r>
            <a:r>
              <a:rPr lang="en-US" sz="1800" dirty="0">
                <a:solidFill>
                  <a:srgbClr val="0000FF"/>
                </a:solidFill>
                <a:latin typeface="Consolas" panose="020B0609020204030204" pitchFamily="49" charset="0"/>
              </a:rPr>
              <a:t>const</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 &amp; </a:t>
            </a:r>
            <a:r>
              <a:rPr lang="en-US" sz="1800" dirty="0" err="1">
                <a:solidFill>
                  <a:srgbClr val="808080"/>
                </a:solidFill>
                <a:latin typeface="Consolas" panose="020B0609020204030204" pitchFamily="49" charset="0"/>
              </a:rPr>
              <a:t>rhs</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const</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 if (lhs &gt; </a:t>
            </a:r>
            <a:r>
              <a:rPr lang="en-US" sz="1800" dirty="0" err="1">
                <a:solidFill>
                  <a:srgbClr val="008000"/>
                </a:solidFill>
                <a:latin typeface="Consolas" panose="020B0609020204030204" pitchFamily="49" charset="0"/>
              </a:rPr>
              <a:t>rhs</a:t>
            </a:r>
            <a:r>
              <a:rPr lang="en-US" sz="1800" dirty="0">
                <a:solidFill>
                  <a:srgbClr val="00800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800" dirty="0">
                <a:solidFill>
                  <a:srgbClr val="0000FF"/>
                </a:solidFill>
                <a:latin typeface="Consolas" panose="020B0609020204030204" pitchFamily="49" charset="0"/>
              </a:rPr>
              <a:t>   bool</a:t>
            </a:r>
            <a:r>
              <a:rPr lang="en-US" sz="1800" dirty="0">
                <a:solidFill>
                  <a:srgbClr val="000000"/>
                </a:solidFill>
                <a:latin typeface="Consolas" panose="020B0609020204030204" pitchFamily="49" charset="0"/>
              </a:rPr>
              <a:t> </a:t>
            </a:r>
            <a:r>
              <a:rPr lang="en-US" sz="1800" dirty="0">
                <a:solidFill>
                  <a:srgbClr val="008080"/>
                </a:solidFill>
                <a:latin typeface="Consolas" panose="020B0609020204030204" pitchFamily="49" charset="0"/>
              </a:rPr>
              <a:t>operator&gt;=</a:t>
            </a:r>
            <a:r>
              <a:rPr lang="en-US" sz="1800" dirty="0">
                <a:solidFill>
                  <a:srgbClr val="000000"/>
                </a:solidFill>
                <a:latin typeface="Consolas" panose="020B0609020204030204" pitchFamily="49" charset="0"/>
              </a:rPr>
              <a:t>(</a:t>
            </a:r>
            <a:r>
              <a:rPr lang="en-US" sz="1800" dirty="0">
                <a:solidFill>
                  <a:srgbClr val="0000FF"/>
                </a:solidFill>
                <a:latin typeface="Consolas" panose="020B0609020204030204" pitchFamily="49" charset="0"/>
              </a:rPr>
              <a:t>const</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 &amp; </a:t>
            </a:r>
            <a:r>
              <a:rPr lang="en-US" sz="1800" dirty="0" err="1">
                <a:solidFill>
                  <a:srgbClr val="808080"/>
                </a:solidFill>
                <a:latin typeface="Consolas" panose="020B0609020204030204" pitchFamily="49" charset="0"/>
              </a:rPr>
              <a:t>rhs</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const</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 if (lhs &gt;= </a:t>
            </a:r>
            <a:r>
              <a:rPr lang="en-US" sz="1800" dirty="0" err="1">
                <a:solidFill>
                  <a:srgbClr val="008000"/>
                </a:solidFill>
                <a:latin typeface="Consolas" panose="020B0609020204030204" pitchFamily="49" charset="0"/>
              </a:rPr>
              <a:t>rhs</a:t>
            </a:r>
            <a:r>
              <a:rPr lang="en-US" sz="1800" dirty="0">
                <a:solidFill>
                  <a:srgbClr val="00800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800" dirty="0">
                <a:solidFill>
                  <a:srgbClr val="0000FF"/>
                </a:solidFill>
                <a:latin typeface="Consolas" panose="020B0609020204030204" pitchFamily="49" charset="0"/>
              </a:rPr>
              <a:t>   bool</a:t>
            </a:r>
            <a:r>
              <a:rPr lang="en-US" sz="1800" dirty="0">
                <a:solidFill>
                  <a:srgbClr val="000000"/>
                </a:solidFill>
                <a:latin typeface="Consolas" panose="020B0609020204030204" pitchFamily="49" charset="0"/>
              </a:rPr>
              <a:t> </a:t>
            </a:r>
            <a:r>
              <a:rPr lang="en-US" sz="1800" dirty="0">
                <a:solidFill>
                  <a:srgbClr val="008080"/>
                </a:solidFill>
                <a:latin typeface="Consolas" panose="020B0609020204030204" pitchFamily="49" charset="0"/>
              </a:rPr>
              <a:t>operator==</a:t>
            </a:r>
            <a:r>
              <a:rPr lang="en-US" sz="1800" dirty="0">
                <a:solidFill>
                  <a:srgbClr val="000000"/>
                </a:solidFill>
                <a:latin typeface="Consolas" panose="020B0609020204030204" pitchFamily="49" charset="0"/>
              </a:rPr>
              <a:t>(</a:t>
            </a:r>
            <a:r>
              <a:rPr lang="en-US" sz="1800" dirty="0">
                <a:solidFill>
                  <a:srgbClr val="0000FF"/>
                </a:solidFill>
                <a:latin typeface="Consolas" panose="020B0609020204030204" pitchFamily="49" charset="0"/>
              </a:rPr>
              <a:t>const</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 &amp; </a:t>
            </a:r>
            <a:r>
              <a:rPr lang="en-US" sz="1800" dirty="0" err="1">
                <a:solidFill>
                  <a:srgbClr val="808080"/>
                </a:solidFill>
                <a:latin typeface="Consolas" panose="020B0609020204030204" pitchFamily="49" charset="0"/>
              </a:rPr>
              <a:t>rhs</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const</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 if (lhs == </a:t>
            </a:r>
            <a:r>
              <a:rPr lang="en-US" sz="1800" dirty="0" err="1">
                <a:solidFill>
                  <a:srgbClr val="008000"/>
                </a:solidFill>
                <a:latin typeface="Consolas" panose="020B0609020204030204" pitchFamily="49" charset="0"/>
              </a:rPr>
              <a:t>rhs</a:t>
            </a:r>
            <a:r>
              <a:rPr lang="en-US" sz="1800" dirty="0">
                <a:solidFill>
                  <a:srgbClr val="00800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800" dirty="0">
                <a:solidFill>
                  <a:srgbClr val="0000FF"/>
                </a:solidFill>
                <a:latin typeface="Consolas" panose="020B0609020204030204" pitchFamily="49" charset="0"/>
              </a:rPr>
              <a:t>   bool</a:t>
            </a:r>
            <a:r>
              <a:rPr lang="en-US" sz="1800" dirty="0">
                <a:solidFill>
                  <a:srgbClr val="000000"/>
                </a:solidFill>
                <a:latin typeface="Consolas" panose="020B0609020204030204" pitchFamily="49" charset="0"/>
              </a:rPr>
              <a:t> </a:t>
            </a:r>
            <a:r>
              <a:rPr lang="en-US" sz="1800" dirty="0">
                <a:solidFill>
                  <a:srgbClr val="008080"/>
                </a:solidFill>
                <a:latin typeface="Consolas" panose="020B0609020204030204" pitchFamily="49" charset="0"/>
              </a:rPr>
              <a:t>operator!=</a:t>
            </a:r>
            <a:r>
              <a:rPr lang="en-US" sz="1800" dirty="0">
                <a:solidFill>
                  <a:srgbClr val="000000"/>
                </a:solidFill>
                <a:latin typeface="Consolas" panose="020B0609020204030204" pitchFamily="49" charset="0"/>
              </a:rPr>
              <a:t>(</a:t>
            </a:r>
            <a:r>
              <a:rPr lang="en-US" sz="1800" dirty="0">
                <a:solidFill>
                  <a:srgbClr val="0000FF"/>
                </a:solidFill>
                <a:latin typeface="Consolas" panose="020B0609020204030204" pitchFamily="49" charset="0"/>
              </a:rPr>
              <a:t>const</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 &amp; </a:t>
            </a:r>
            <a:r>
              <a:rPr lang="en-US" sz="1800" dirty="0" err="1">
                <a:solidFill>
                  <a:srgbClr val="808080"/>
                </a:solidFill>
                <a:latin typeface="Consolas" panose="020B0609020204030204" pitchFamily="49" charset="0"/>
              </a:rPr>
              <a:t>rhs</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const</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 if (lhs != </a:t>
            </a:r>
            <a:r>
              <a:rPr lang="en-US" sz="1800" dirty="0" err="1">
                <a:solidFill>
                  <a:srgbClr val="008000"/>
                </a:solidFill>
                <a:latin typeface="Consolas" panose="020B0609020204030204" pitchFamily="49" charset="0"/>
              </a:rPr>
              <a:t>rhs</a:t>
            </a:r>
            <a:r>
              <a:rPr lang="en-US" sz="1800" dirty="0">
                <a:solidFill>
                  <a:srgbClr val="00800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lnSpc>
                <a:spcPct val="100000"/>
              </a:lnSpc>
              <a:spcBef>
                <a:spcPts val="0"/>
              </a:spcBef>
              <a:spcAft>
                <a:spcPts val="0"/>
              </a:spcAft>
              <a:buNone/>
            </a:pPr>
            <a:endParaRPr lang="bg-BG" sz="18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800" dirty="0">
                <a:solidFill>
                  <a:srgbClr val="008000"/>
                </a:solidFill>
                <a:latin typeface="Consolas" panose="020B0609020204030204" pitchFamily="49" charset="0"/>
              </a:rPr>
              <a:t>   // unary operators</a:t>
            </a:r>
            <a:endParaRPr lang="en-US" sz="18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800" dirty="0">
                <a:solidFill>
                  <a:srgbClr val="2B91AF"/>
                </a:solidFill>
                <a:latin typeface="Consolas" panose="020B0609020204030204" pitchFamily="49" charset="0"/>
              </a:rPr>
              <a:t>   Rational</a:t>
            </a:r>
            <a:r>
              <a:rPr lang="en-US" sz="1800" dirty="0">
                <a:solidFill>
                  <a:srgbClr val="000000"/>
                </a:solidFill>
                <a:latin typeface="Consolas" panose="020B0609020204030204" pitchFamily="49" charset="0"/>
              </a:rPr>
              <a:t> </a:t>
            </a:r>
            <a:r>
              <a:rPr lang="en-US" sz="1800" dirty="0">
                <a:solidFill>
                  <a:srgbClr val="008080"/>
                </a:solidFill>
                <a:latin typeface="Consolas" panose="020B0609020204030204" pitchFamily="49" charset="0"/>
              </a:rPr>
              <a:t>operator-</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const</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 -lhs</a:t>
            </a:r>
            <a:endParaRPr lang="en-US" sz="18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800" dirty="0">
                <a:solidFill>
                  <a:srgbClr val="0000FF"/>
                </a:solidFill>
                <a:latin typeface="Consolas" panose="020B0609020204030204" pitchFamily="49" charset="0"/>
              </a:rPr>
              <a:t>   const</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&amp; </a:t>
            </a:r>
            <a:r>
              <a:rPr lang="en-US" sz="1800" dirty="0">
                <a:solidFill>
                  <a:srgbClr val="008080"/>
                </a:solidFill>
                <a:latin typeface="Consolas" panose="020B0609020204030204" pitchFamily="49" charset="0"/>
              </a:rPr>
              <a:t>operator++</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 ++lhs</a:t>
            </a:r>
            <a:endParaRPr lang="en-US" sz="18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800" dirty="0">
                <a:solidFill>
                  <a:srgbClr val="2B91AF"/>
                </a:solidFill>
                <a:latin typeface="Consolas" panose="020B0609020204030204" pitchFamily="49" charset="0"/>
              </a:rPr>
              <a:t>   Rational</a:t>
            </a:r>
            <a:r>
              <a:rPr lang="en-US" sz="1800" dirty="0">
                <a:solidFill>
                  <a:srgbClr val="000000"/>
                </a:solidFill>
                <a:latin typeface="Consolas" panose="020B0609020204030204" pitchFamily="49" charset="0"/>
              </a:rPr>
              <a:t> </a:t>
            </a:r>
            <a:r>
              <a:rPr lang="en-US" sz="1800" dirty="0">
                <a:solidFill>
                  <a:srgbClr val="008080"/>
                </a:solidFill>
                <a:latin typeface="Consolas" panose="020B0609020204030204" pitchFamily="49" charset="0"/>
              </a:rPr>
              <a:t>operator++</a:t>
            </a:r>
            <a:r>
              <a:rPr lang="en-US" sz="1800" dirty="0">
                <a:solidFill>
                  <a:srgbClr val="000000"/>
                </a:solidFill>
                <a:latin typeface="Consolas" panose="020B0609020204030204" pitchFamily="49" charset="0"/>
              </a:rPr>
              <a:t>(</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 lhs++</a:t>
            </a:r>
            <a:endParaRPr lang="en-US" sz="18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800" dirty="0">
                <a:solidFill>
                  <a:srgbClr val="0000FF"/>
                </a:solidFill>
                <a:latin typeface="Consolas" panose="020B0609020204030204" pitchFamily="49" charset="0"/>
              </a:rPr>
              <a:t>   const</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&amp; </a:t>
            </a:r>
            <a:r>
              <a:rPr lang="en-US" sz="1800" dirty="0">
                <a:solidFill>
                  <a:srgbClr val="008080"/>
                </a:solidFill>
                <a:latin typeface="Consolas" panose="020B0609020204030204" pitchFamily="49" charset="0"/>
              </a:rPr>
              <a:t>operator--</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 --lhs</a:t>
            </a:r>
            <a:endParaRPr lang="en-US" sz="18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800" dirty="0">
                <a:solidFill>
                  <a:srgbClr val="2B91AF"/>
                </a:solidFill>
                <a:latin typeface="Consolas" panose="020B0609020204030204" pitchFamily="49" charset="0"/>
              </a:rPr>
              <a:t>   Rational</a:t>
            </a:r>
            <a:r>
              <a:rPr lang="en-US" sz="1800" dirty="0">
                <a:solidFill>
                  <a:srgbClr val="000000"/>
                </a:solidFill>
                <a:latin typeface="Consolas" panose="020B0609020204030204" pitchFamily="49" charset="0"/>
              </a:rPr>
              <a:t> </a:t>
            </a:r>
            <a:r>
              <a:rPr lang="en-US" sz="1800" dirty="0">
                <a:solidFill>
                  <a:srgbClr val="008080"/>
                </a:solidFill>
                <a:latin typeface="Consolas" panose="020B0609020204030204" pitchFamily="49" charset="0"/>
              </a:rPr>
              <a:t>operator--</a:t>
            </a:r>
            <a:r>
              <a:rPr lang="en-US" sz="1800" dirty="0">
                <a:solidFill>
                  <a:srgbClr val="000000"/>
                </a:solidFill>
                <a:latin typeface="Consolas" panose="020B0609020204030204" pitchFamily="49" charset="0"/>
              </a:rPr>
              <a:t>(</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a:t>
            </a:r>
            <a:r>
              <a:rPr lang="en-US" sz="1800" dirty="0">
                <a:solidFill>
                  <a:srgbClr val="008000"/>
                </a:solidFill>
                <a:latin typeface="Consolas" panose="020B0609020204030204" pitchFamily="49" charset="0"/>
              </a:rPr>
              <a:t>      // lhs--</a:t>
            </a:r>
            <a:endParaRPr lang="bg-BG" sz="1800" b="1"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16</a:t>
            </a:fld>
            <a:endParaRPr lang="en-US"/>
          </a:p>
        </p:txBody>
      </p:sp>
    </p:spTree>
    <p:extLst>
      <p:ext uri="{BB962C8B-B14F-4D97-AF65-F5344CB8AC3E}">
        <p14:creationId xmlns:p14="http://schemas.microsoft.com/office/powerpoint/2010/main" val="32446090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Rational</a:t>
            </a:r>
            <a:r>
              <a:rPr lang="en-US" dirty="0"/>
              <a:t> Class Interface (Part 3 of 3)</a:t>
            </a:r>
            <a:endParaRPr lang="bg-BG" dirty="0"/>
          </a:p>
        </p:txBody>
      </p:sp>
      <p:sp>
        <p:nvSpPr>
          <p:cNvPr id="3" name="Content Placeholder 2"/>
          <p:cNvSpPr>
            <a:spLocks noGrp="1"/>
          </p:cNvSpPr>
          <p:nvPr>
            <p:ph idx="1"/>
          </p:nvPr>
        </p:nvSpPr>
        <p:spPr>
          <a:xfrm>
            <a:off x="1097280" y="1845734"/>
            <a:ext cx="10058400" cy="4429560"/>
          </a:xfrm>
        </p:spPr>
        <p:txBody>
          <a:bodyPr>
            <a:noAutofit/>
          </a:bodyPr>
          <a:lstStyle/>
          <a:p>
            <a:pPr marL="0" indent="0">
              <a:lnSpc>
                <a:spcPct val="120000"/>
              </a:lnSpc>
              <a:spcBef>
                <a:spcPts val="0"/>
              </a:spcBef>
              <a:spcAft>
                <a:spcPts val="0"/>
              </a:spcAft>
              <a:buNone/>
            </a:pPr>
            <a:r>
              <a:rPr lang="en-US" sz="1800" dirty="0">
                <a:solidFill>
                  <a:srgbClr val="008000"/>
                </a:solidFill>
                <a:latin typeface="Consolas" panose="020B0609020204030204" pitchFamily="49" charset="0"/>
              </a:rPr>
              <a:t>   // IO friends</a:t>
            </a:r>
          </a:p>
          <a:p>
            <a:pPr marL="0" indent="0">
              <a:lnSpc>
                <a:spcPct val="120000"/>
              </a:lnSpc>
              <a:spcBef>
                <a:spcPts val="0"/>
              </a:spcBef>
              <a:spcAft>
                <a:spcPts val="0"/>
              </a:spcAft>
              <a:buNone/>
            </a:pPr>
            <a:r>
              <a:rPr lang="bg-BG"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 </a:t>
            </a:r>
            <a:r>
              <a:rPr lang="en-US" sz="1800" dirty="0" err="1">
                <a:solidFill>
                  <a:srgbClr val="008000"/>
                </a:solidFill>
                <a:latin typeface="Consolas" panose="020B0609020204030204" pitchFamily="49" charset="0"/>
              </a:rPr>
              <a:t>cout</a:t>
            </a:r>
            <a:r>
              <a:rPr lang="en-US" sz="1800" dirty="0">
                <a:solidFill>
                  <a:srgbClr val="008000"/>
                </a:solidFill>
                <a:latin typeface="Consolas" panose="020B0609020204030204" pitchFamily="49" charset="0"/>
              </a:rPr>
              <a:t> &lt;&lt; lhs &lt;&lt; </a:t>
            </a:r>
            <a:r>
              <a:rPr lang="en-US" sz="1800" dirty="0" err="1">
                <a:solidFill>
                  <a:srgbClr val="008000"/>
                </a:solidFill>
                <a:latin typeface="Consolas" panose="020B0609020204030204" pitchFamily="49" charset="0"/>
              </a:rPr>
              <a:t>rhs</a:t>
            </a:r>
            <a:r>
              <a:rPr lang="en-US" sz="1800" dirty="0">
                <a:solidFill>
                  <a:srgbClr val="008000"/>
                </a:solidFill>
                <a:latin typeface="Consolas" panose="020B0609020204030204" pitchFamily="49" charset="0"/>
              </a:rPr>
              <a:t> &lt;&lt; </a:t>
            </a:r>
            <a:r>
              <a:rPr lang="en-US" sz="1800" dirty="0" err="1">
                <a:solidFill>
                  <a:srgbClr val="008000"/>
                </a:solidFill>
                <a:latin typeface="Consolas" panose="020B0609020204030204" pitchFamily="49" charset="0"/>
              </a:rPr>
              <a:t>endl</a:t>
            </a:r>
            <a:r>
              <a:rPr lang="en-US" sz="1800" dirty="0">
                <a:solidFill>
                  <a:srgbClr val="008000"/>
                </a:solidFill>
                <a:latin typeface="Consolas" panose="020B0609020204030204" pitchFamily="49" charset="0"/>
              </a:rPr>
              <a:t>;</a:t>
            </a:r>
          </a:p>
          <a:p>
            <a:pPr marL="0" indent="0">
              <a:lnSpc>
                <a:spcPct val="120000"/>
              </a:lnSpc>
              <a:spcBef>
                <a:spcPts val="0"/>
              </a:spcBef>
              <a:spcAft>
                <a:spcPts val="0"/>
              </a:spcAft>
              <a:buNone/>
            </a:pPr>
            <a:r>
              <a:rPr lang="en-US" sz="1800" b="1" dirty="0">
                <a:solidFill>
                  <a:srgbClr val="008000"/>
                </a:solidFill>
                <a:latin typeface="Consolas" panose="020B0609020204030204" pitchFamily="49" charset="0"/>
              </a:rPr>
              <a:t>   // </a:t>
            </a:r>
            <a:r>
              <a:rPr lang="en-US" sz="1800" dirty="0" err="1">
                <a:solidFill>
                  <a:srgbClr val="008000"/>
                </a:solidFill>
                <a:latin typeface="Consolas" panose="020B0609020204030204" pitchFamily="49" charset="0"/>
              </a:rPr>
              <a:t>cin</a:t>
            </a:r>
            <a:r>
              <a:rPr lang="en-US" sz="1800" dirty="0">
                <a:solidFill>
                  <a:srgbClr val="008000"/>
                </a:solidFill>
                <a:latin typeface="Consolas" panose="020B0609020204030204" pitchFamily="49" charset="0"/>
              </a:rPr>
              <a:t> &gt;&gt; </a:t>
            </a:r>
            <a:r>
              <a:rPr lang="en-US" sz="1800" dirty="0" err="1">
                <a:solidFill>
                  <a:srgbClr val="008000"/>
                </a:solidFill>
                <a:latin typeface="Consolas" panose="020B0609020204030204" pitchFamily="49" charset="0"/>
              </a:rPr>
              <a:t>lhs</a:t>
            </a:r>
            <a:r>
              <a:rPr lang="en-US" sz="1800" dirty="0">
                <a:solidFill>
                  <a:srgbClr val="008000"/>
                </a:solidFill>
                <a:latin typeface="Consolas" panose="020B0609020204030204" pitchFamily="49" charset="0"/>
              </a:rPr>
              <a:t> &gt;&gt; </a:t>
            </a:r>
            <a:r>
              <a:rPr lang="en-US" sz="1800" dirty="0" err="1">
                <a:solidFill>
                  <a:srgbClr val="008000"/>
                </a:solidFill>
                <a:latin typeface="Consolas" panose="020B0609020204030204" pitchFamily="49" charset="0"/>
              </a:rPr>
              <a:t>rhs</a:t>
            </a:r>
            <a:r>
              <a:rPr lang="en-US" sz="1800" dirty="0">
                <a:solidFill>
                  <a:srgbClr val="00800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lnSpc>
                <a:spcPct val="120000"/>
              </a:lnSpc>
              <a:spcBef>
                <a:spcPts val="0"/>
              </a:spcBef>
              <a:spcAft>
                <a:spcPts val="0"/>
              </a:spcAft>
              <a:buNone/>
            </a:pPr>
            <a:r>
              <a:rPr lang="en-US" sz="1800" dirty="0">
                <a:solidFill>
                  <a:srgbClr val="0000FF"/>
                </a:solidFill>
                <a:latin typeface="Consolas" panose="020B0609020204030204" pitchFamily="49" charset="0"/>
              </a:rPr>
              <a:t>   friend</a:t>
            </a:r>
            <a:r>
              <a:rPr lang="en-US" sz="1800" dirty="0">
                <a:solidFill>
                  <a:srgbClr val="000000"/>
                </a:solidFill>
                <a:latin typeface="Consolas" panose="020B0609020204030204" pitchFamily="49" charset="0"/>
              </a:rPr>
              <a:t> </a:t>
            </a:r>
            <a:r>
              <a:rPr lang="en-US" sz="1800" dirty="0" err="1">
                <a:solidFill>
                  <a:srgbClr val="2B91AF"/>
                </a:solidFill>
                <a:latin typeface="Consolas" panose="020B0609020204030204" pitchFamily="49" charset="0"/>
              </a:rPr>
              <a:t>ostream</a:t>
            </a:r>
            <a:r>
              <a:rPr lang="en-US" sz="1800" dirty="0">
                <a:solidFill>
                  <a:srgbClr val="000000"/>
                </a:solidFill>
                <a:latin typeface="Consolas" panose="020B0609020204030204" pitchFamily="49" charset="0"/>
              </a:rPr>
              <a:t>&amp; </a:t>
            </a:r>
            <a:r>
              <a:rPr lang="en-US" sz="1800" dirty="0">
                <a:solidFill>
                  <a:srgbClr val="008080"/>
                </a:solidFill>
                <a:latin typeface="Consolas" panose="020B0609020204030204" pitchFamily="49" charset="0"/>
              </a:rPr>
              <a:t>operator&lt;&lt;</a:t>
            </a:r>
            <a:r>
              <a:rPr lang="en-US" sz="1800" dirty="0">
                <a:solidFill>
                  <a:srgbClr val="000000"/>
                </a:solidFill>
                <a:latin typeface="Consolas" panose="020B0609020204030204" pitchFamily="49" charset="0"/>
              </a:rPr>
              <a:t>(</a:t>
            </a:r>
            <a:r>
              <a:rPr lang="en-US" sz="1800" dirty="0" err="1">
                <a:solidFill>
                  <a:srgbClr val="2B91AF"/>
                </a:solidFill>
                <a:latin typeface="Consolas" panose="020B0609020204030204" pitchFamily="49" charset="0"/>
              </a:rPr>
              <a:t>ostream</a:t>
            </a:r>
            <a:r>
              <a:rPr lang="en-US" sz="1800" dirty="0">
                <a:solidFill>
                  <a:srgbClr val="000000"/>
                </a:solidFill>
                <a:latin typeface="Consolas" panose="020B0609020204030204" pitchFamily="49" charset="0"/>
              </a:rPr>
              <a:t> &amp; </a:t>
            </a:r>
            <a:r>
              <a:rPr lang="en-US" sz="1800" dirty="0">
                <a:solidFill>
                  <a:srgbClr val="808080"/>
                </a:solidFill>
                <a:latin typeface="Consolas" panose="020B0609020204030204" pitchFamily="49" charset="0"/>
              </a:rPr>
              <a:t>out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const</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 &amp; </a:t>
            </a:r>
            <a:r>
              <a:rPr lang="en-US" sz="1800" dirty="0">
                <a:solidFill>
                  <a:srgbClr val="808080"/>
                </a:solidFill>
                <a:latin typeface="Consolas" panose="020B0609020204030204" pitchFamily="49" charset="0"/>
              </a:rPr>
              <a:t>value</a:t>
            </a:r>
            <a:r>
              <a:rPr lang="en-US" sz="1800" dirty="0">
                <a:solidFill>
                  <a:srgbClr val="000000"/>
                </a:solidFill>
                <a:latin typeface="Consolas" panose="020B0609020204030204" pitchFamily="49" charset="0"/>
              </a:rPr>
              <a:t>);</a:t>
            </a:r>
          </a:p>
          <a:p>
            <a:pPr marL="0" indent="0">
              <a:lnSpc>
                <a:spcPct val="120000"/>
              </a:lnSpc>
              <a:spcBef>
                <a:spcPts val="0"/>
              </a:spcBef>
              <a:spcAft>
                <a:spcPts val="0"/>
              </a:spcAft>
              <a:buNone/>
            </a:pPr>
            <a:r>
              <a:rPr lang="en-US" sz="1800" dirty="0">
                <a:solidFill>
                  <a:srgbClr val="0000FF"/>
                </a:solidFill>
                <a:latin typeface="Consolas" panose="020B0609020204030204" pitchFamily="49" charset="0"/>
              </a:rPr>
              <a:t>   friend</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istream</a:t>
            </a:r>
            <a:r>
              <a:rPr lang="en-US" sz="1800" dirty="0">
                <a:solidFill>
                  <a:srgbClr val="000000"/>
                </a:solidFill>
                <a:latin typeface="Consolas" panose="020B0609020204030204" pitchFamily="49" charset="0"/>
              </a:rPr>
              <a:t>&amp; </a:t>
            </a:r>
            <a:r>
              <a:rPr lang="en-US" sz="1800" dirty="0">
                <a:solidFill>
                  <a:srgbClr val="008080"/>
                </a:solidFill>
                <a:latin typeface="Consolas" panose="020B0609020204030204" pitchFamily="49" charset="0"/>
              </a:rPr>
              <a:t>operator&gt;&gt;</a:t>
            </a:r>
            <a:r>
              <a:rPr lang="en-US" sz="1800" dirty="0">
                <a:solidFill>
                  <a:srgbClr val="000000"/>
                </a:solidFill>
                <a:latin typeface="Consolas" panose="020B0609020204030204" pitchFamily="49" charset="0"/>
              </a:rPr>
              <a:t>(</a:t>
            </a:r>
            <a:r>
              <a:rPr lang="en-US" sz="1800" dirty="0">
                <a:solidFill>
                  <a:srgbClr val="2B91AF"/>
                </a:solidFill>
                <a:latin typeface="Consolas" panose="020B0609020204030204" pitchFamily="49" charset="0"/>
              </a:rPr>
              <a:t>istream</a:t>
            </a:r>
            <a:r>
              <a:rPr lang="en-US" sz="1800" dirty="0">
                <a:solidFill>
                  <a:srgbClr val="000000"/>
                </a:solidFill>
                <a:latin typeface="Consolas" panose="020B0609020204030204" pitchFamily="49" charset="0"/>
              </a:rPr>
              <a:t> &amp; </a:t>
            </a:r>
            <a:r>
              <a:rPr lang="en-US" sz="1800" dirty="0">
                <a:solidFill>
                  <a:srgbClr val="808080"/>
                </a:solidFill>
                <a:latin typeface="Consolas" panose="020B0609020204030204" pitchFamily="49" charset="0"/>
              </a:rPr>
              <a:t>in</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 &amp; </a:t>
            </a:r>
            <a:r>
              <a:rPr lang="en-US" sz="1800" dirty="0">
                <a:solidFill>
                  <a:srgbClr val="808080"/>
                </a:solidFill>
                <a:latin typeface="Consolas" panose="020B0609020204030204" pitchFamily="49" charset="0"/>
              </a:rPr>
              <a:t>value</a:t>
            </a:r>
            <a:r>
              <a:rPr lang="en-US" sz="1800" dirty="0">
                <a:solidFill>
                  <a:srgbClr val="000000"/>
                </a:solidFill>
                <a:latin typeface="Consolas" panose="020B0609020204030204" pitchFamily="49" charset="0"/>
              </a:rPr>
              <a:t>);</a:t>
            </a:r>
          </a:p>
          <a:p>
            <a:pPr marL="0" indent="0">
              <a:lnSpc>
                <a:spcPct val="120000"/>
              </a:lnSpc>
              <a:spcBef>
                <a:spcPts val="0"/>
              </a:spcBef>
              <a:spcAft>
                <a:spcPts val="0"/>
              </a:spcAft>
              <a:buNone/>
            </a:pPr>
            <a:r>
              <a:rPr lang="en-US" sz="1800" dirty="0">
                <a:solidFill>
                  <a:srgbClr val="008000"/>
                </a:solidFill>
                <a:latin typeface="Consolas" panose="020B0609020204030204" pitchFamily="49" charset="0"/>
              </a:rPr>
              <a:t>   // member functions</a:t>
            </a:r>
            <a:endParaRPr lang="en-US" sz="1800" dirty="0">
              <a:solidFill>
                <a:srgbClr val="000000"/>
              </a:solidFill>
              <a:latin typeface="Consolas" panose="020B0609020204030204" pitchFamily="49" charset="0"/>
            </a:endParaRPr>
          </a:p>
          <a:p>
            <a:pPr marL="0" indent="0">
              <a:lnSpc>
                <a:spcPct val="120000"/>
              </a:lnSpc>
              <a:spcBef>
                <a:spcPts val="0"/>
              </a:spcBef>
              <a:spcAft>
                <a:spcPts val="0"/>
              </a:spcAft>
              <a:buNone/>
            </a:pPr>
            <a:r>
              <a:rPr lang="en-US" sz="1800" dirty="0">
                <a:solidFill>
                  <a:srgbClr val="0000FF"/>
                </a:solidFill>
                <a:latin typeface="Consolas" panose="020B0609020204030204" pitchFamily="49" charset="0"/>
              </a:rPr>
              <a:t>   double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toDouble</a:t>
            </a:r>
            <a:r>
              <a:rPr lang="en-US" sz="1800" dirty="0">
                <a:solidFill>
                  <a:srgbClr val="000000"/>
                </a:solidFill>
                <a:latin typeface="Consolas" panose="020B0609020204030204" pitchFamily="49" charset="0"/>
              </a:rPr>
              <a:t>();</a:t>
            </a:r>
          </a:p>
          <a:p>
            <a:pPr marL="0" indent="0">
              <a:lnSpc>
                <a:spcPct val="120000"/>
              </a:lnSpc>
              <a:spcBef>
                <a:spcPts val="0"/>
              </a:spcBef>
              <a:spcAft>
                <a:spcPts val="0"/>
              </a:spcAft>
              <a:buNone/>
            </a:pPr>
            <a:endParaRPr lang="bg-BG" sz="1800" dirty="0">
              <a:solidFill>
                <a:srgbClr val="000000"/>
              </a:solidFill>
              <a:latin typeface="Consolas" panose="020B0609020204030204" pitchFamily="49" charset="0"/>
            </a:endParaRPr>
          </a:p>
          <a:p>
            <a:pPr marL="0" indent="0">
              <a:lnSpc>
                <a:spcPct val="120000"/>
              </a:lnSpc>
              <a:spcBef>
                <a:spcPts val="0"/>
              </a:spcBef>
              <a:spcAft>
                <a:spcPts val="0"/>
              </a:spcAft>
              <a:buNone/>
            </a:pPr>
            <a:r>
              <a:rPr lang="en-US" sz="1800" dirty="0">
                <a:solidFill>
                  <a:srgbClr val="0000FF"/>
                </a:solidFill>
                <a:latin typeface="Consolas" panose="020B0609020204030204" pitchFamily="49" charset="0"/>
              </a:rPr>
              <a:t>private</a:t>
            </a:r>
            <a:r>
              <a:rPr lang="en-US" sz="1800" dirty="0">
                <a:solidFill>
                  <a:srgbClr val="000000"/>
                </a:solidFill>
                <a:latin typeface="Consolas" panose="020B0609020204030204" pitchFamily="49" charset="0"/>
              </a:rPr>
              <a:t>:</a:t>
            </a:r>
          </a:p>
          <a:p>
            <a:pPr marL="0" indent="0">
              <a:lnSpc>
                <a:spcPct val="120000"/>
              </a:lnSpc>
              <a:spcBef>
                <a:spcPts val="0"/>
              </a:spcBef>
              <a:spcAft>
                <a:spcPts val="0"/>
              </a:spcAft>
              <a:buNone/>
            </a:pPr>
            <a:r>
              <a:rPr lang="en-US" sz="1800" dirty="0">
                <a:solidFill>
                  <a:srgbClr val="0000FF"/>
                </a:solidFill>
                <a:latin typeface="Consolas" panose="020B0609020204030204" pitchFamily="49" charset="0"/>
              </a:rPr>
              <a:t>   int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numer</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denom</a:t>
            </a:r>
            <a:r>
              <a:rPr lang="en-US" sz="1800" dirty="0">
                <a:solidFill>
                  <a:srgbClr val="000000"/>
                </a:solidFill>
                <a:latin typeface="Consolas" panose="020B0609020204030204" pitchFamily="49" charset="0"/>
              </a:rPr>
              <a:t>;</a:t>
            </a:r>
          </a:p>
          <a:p>
            <a:pPr marL="0" indent="0">
              <a:lnSpc>
                <a:spcPct val="120000"/>
              </a:lnSpc>
              <a:spcBef>
                <a:spcPts val="0"/>
              </a:spcBef>
              <a:spcAft>
                <a:spcPts val="0"/>
              </a:spcAft>
              <a:buNone/>
            </a:pPr>
            <a:endParaRPr lang="bg-BG" sz="1800" dirty="0">
              <a:solidFill>
                <a:srgbClr val="000000"/>
              </a:solidFill>
              <a:latin typeface="Consolas" panose="020B0609020204030204" pitchFamily="49" charset="0"/>
            </a:endParaRPr>
          </a:p>
          <a:p>
            <a:pPr marL="0" indent="0">
              <a:lnSpc>
                <a:spcPct val="120000"/>
              </a:lnSpc>
              <a:spcBef>
                <a:spcPts val="0"/>
              </a:spcBef>
              <a:spcAft>
                <a:spcPts val="0"/>
              </a:spcAft>
              <a:buNone/>
            </a:pPr>
            <a:r>
              <a:rPr lang="en-US" sz="1800" dirty="0">
                <a:solidFill>
                  <a:srgbClr val="008000"/>
                </a:solidFill>
                <a:latin typeface="Consolas" panose="020B0609020204030204" pitchFamily="49" charset="0"/>
              </a:rPr>
              <a:t>   // ensures lowest form</a:t>
            </a:r>
            <a:endParaRPr lang="en-US" sz="1800" dirty="0">
              <a:solidFill>
                <a:srgbClr val="000000"/>
              </a:solidFill>
              <a:latin typeface="Consolas" panose="020B0609020204030204" pitchFamily="49" charset="0"/>
            </a:endParaRPr>
          </a:p>
          <a:p>
            <a:pPr marL="0" indent="0">
              <a:lnSpc>
                <a:spcPct val="120000"/>
              </a:lnSpc>
              <a:spcBef>
                <a:spcPts val="0"/>
              </a:spcBef>
              <a:spcAft>
                <a:spcPts val="0"/>
              </a:spcAft>
              <a:buNone/>
            </a:pPr>
            <a:r>
              <a:rPr lang="en-US" sz="1800" dirty="0">
                <a:solidFill>
                  <a:srgbClr val="0000FF"/>
                </a:solidFill>
                <a:latin typeface="Consolas" panose="020B0609020204030204" pitchFamily="49" charset="0"/>
              </a:rPr>
              <a:t>   void</a:t>
            </a:r>
            <a:r>
              <a:rPr lang="en-US" sz="1800" dirty="0">
                <a:solidFill>
                  <a:srgbClr val="000000"/>
                </a:solidFill>
                <a:latin typeface="Consolas" panose="020B0609020204030204" pitchFamily="49" charset="0"/>
              </a:rPr>
              <a:t> normalize();</a:t>
            </a:r>
          </a:p>
          <a:p>
            <a:pPr marL="0" indent="0">
              <a:lnSpc>
                <a:spcPct val="120000"/>
              </a:lnSpc>
              <a:spcBef>
                <a:spcPts val="0"/>
              </a:spcBef>
              <a:spcAft>
                <a:spcPts val="0"/>
              </a:spcAft>
              <a:buNone/>
            </a:pPr>
            <a:r>
              <a:rPr lang="bg-BG" sz="1800" dirty="0">
                <a:solidFill>
                  <a:srgbClr val="000000"/>
                </a:solidFill>
                <a:latin typeface="Consolas" panose="020B0609020204030204" pitchFamily="49" charset="0"/>
              </a:rPr>
              <a:t>};</a:t>
            </a:r>
            <a:endParaRPr lang="bg-BG" sz="1800" b="1"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17</a:t>
            </a:fld>
            <a:endParaRPr lang="en-US"/>
          </a:p>
        </p:txBody>
      </p:sp>
    </p:spTree>
    <p:extLst>
      <p:ext uri="{BB962C8B-B14F-4D97-AF65-F5344CB8AC3E}">
        <p14:creationId xmlns:p14="http://schemas.microsoft.com/office/powerpoint/2010/main" val="18020039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Rational</a:t>
            </a:r>
            <a:r>
              <a:rPr lang="en-US" dirty="0"/>
              <a:t> Class Implementation – Constructors and Destructor</a:t>
            </a:r>
            <a:endParaRPr lang="bg-BG" dirty="0"/>
          </a:p>
        </p:txBody>
      </p:sp>
      <p:sp>
        <p:nvSpPr>
          <p:cNvPr id="3" name="Content Placeholder 2"/>
          <p:cNvSpPr>
            <a:spLocks noGrp="1"/>
          </p:cNvSpPr>
          <p:nvPr>
            <p:ph idx="1"/>
          </p:nvPr>
        </p:nvSpPr>
        <p:spPr>
          <a:xfrm>
            <a:off x="1097280" y="1845734"/>
            <a:ext cx="10058400" cy="4402666"/>
          </a:xfrm>
        </p:spPr>
        <p:txBody>
          <a:bodyPr>
            <a:noAutofit/>
          </a:bodyPr>
          <a:lstStyle/>
          <a:p>
            <a:pPr marL="0" indent="0">
              <a:lnSpc>
                <a:spcPct val="120000"/>
              </a:lnSpc>
              <a:spcBef>
                <a:spcPts val="0"/>
              </a:spcBef>
              <a:spcAft>
                <a:spcPts val="0"/>
              </a:spcAft>
              <a:buNone/>
            </a:pP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::Rational(</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numerator</a:t>
            </a:r>
            <a:r>
              <a:rPr lang="en-US" sz="1800" dirty="0">
                <a:solidFill>
                  <a:srgbClr val="000000"/>
                </a:solidFill>
                <a:latin typeface="Consolas" panose="020B0609020204030204" pitchFamily="49" charset="0"/>
              </a:rPr>
              <a:t>)</a:t>
            </a:r>
          </a:p>
          <a:p>
            <a:pPr marL="0" indent="0">
              <a:lnSpc>
                <a:spcPct val="120000"/>
              </a:lnSpc>
              <a:spcBef>
                <a:spcPts val="0"/>
              </a:spcBef>
              <a:spcAft>
                <a:spcPts val="0"/>
              </a:spcAft>
              <a:buNone/>
            </a:pPr>
            <a:r>
              <a:rPr lang="en-US" sz="1800" dirty="0">
                <a:solidFill>
                  <a:srgbClr val="000000"/>
                </a:solidFill>
                <a:latin typeface="Consolas" panose="020B0609020204030204" pitchFamily="49" charset="0"/>
              </a:rPr>
              <a:t> : </a:t>
            </a:r>
            <a:r>
              <a:rPr lang="en-US" sz="1800" dirty="0" err="1">
                <a:solidFill>
                  <a:srgbClr val="000000"/>
                </a:solidFill>
                <a:latin typeface="Consolas" panose="020B0609020204030204" pitchFamily="49" charset="0"/>
              </a:rPr>
              <a:t>numer</a:t>
            </a:r>
            <a:r>
              <a:rPr lang="en-US" sz="1800" dirty="0">
                <a:solidFill>
                  <a:srgbClr val="000000"/>
                </a:solidFill>
                <a:latin typeface="Consolas" panose="020B0609020204030204" pitchFamily="49" charset="0"/>
              </a:rPr>
              <a:t>(</a:t>
            </a:r>
            <a:r>
              <a:rPr lang="en-US" sz="1800" dirty="0">
                <a:solidFill>
                  <a:srgbClr val="808080"/>
                </a:solidFill>
                <a:latin typeface="Consolas" panose="020B0609020204030204" pitchFamily="49" charset="0"/>
              </a:rPr>
              <a:t>numerator</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denom</a:t>
            </a:r>
            <a:r>
              <a:rPr lang="en-US" sz="1800" dirty="0">
                <a:solidFill>
                  <a:srgbClr val="000000"/>
                </a:solidFill>
                <a:latin typeface="Consolas" panose="020B0609020204030204" pitchFamily="49" charset="0"/>
              </a:rPr>
              <a:t>(1) {}</a:t>
            </a:r>
          </a:p>
          <a:p>
            <a:pPr marL="0" indent="0">
              <a:lnSpc>
                <a:spcPct val="120000"/>
              </a:lnSpc>
              <a:spcBef>
                <a:spcPts val="0"/>
              </a:spcBef>
              <a:spcAft>
                <a:spcPts val="0"/>
              </a:spcAft>
              <a:buNone/>
            </a:pPr>
            <a:endParaRPr lang="bg-BG" sz="1800" dirty="0">
              <a:solidFill>
                <a:srgbClr val="000000"/>
              </a:solidFill>
              <a:latin typeface="Consolas" panose="020B0609020204030204" pitchFamily="49" charset="0"/>
            </a:endParaRPr>
          </a:p>
          <a:p>
            <a:pPr marL="0" indent="0">
              <a:lnSpc>
                <a:spcPct val="120000"/>
              </a:lnSpc>
              <a:spcBef>
                <a:spcPts val="0"/>
              </a:spcBef>
              <a:spcAft>
                <a:spcPts val="0"/>
              </a:spcAft>
              <a:buNone/>
            </a:pP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::Rational(</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t>
            </a:r>
            <a:r>
              <a:rPr lang="en-US" sz="1800" dirty="0" err="1">
                <a:solidFill>
                  <a:srgbClr val="808080"/>
                </a:solidFill>
                <a:latin typeface="Consolas" panose="020B0609020204030204" pitchFamily="49" charset="0"/>
              </a:rPr>
              <a:t>numer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t>
            </a:r>
            <a:r>
              <a:rPr lang="en-US" sz="1800" dirty="0" err="1">
                <a:solidFill>
                  <a:srgbClr val="808080"/>
                </a:solidFill>
                <a:latin typeface="Consolas" panose="020B0609020204030204" pitchFamily="49" charset="0"/>
              </a:rPr>
              <a:t>denom</a:t>
            </a:r>
            <a:r>
              <a:rPr lang="en-US" sz="1800" dirty="0">
                <a:solidFill>
                  <a:srgbClr val="000000"/>
                </a:solidFill>
                <a:latin typeface="Consolas" panose="020B0609020204030204" pitchFamily="49" charset="0"/>
              </a:rPr>
              <a:t>)</a:t>
            </a:r>
          </a:p>
          <a:p>
            <a:pPr marL="0" indent="0">
              <a:lnSpc>
                <a:spcPct val="120000"/>
              </a:lnSpc>
              <a:spcBef>
                <a:spcPts val="0"/>
              </a:spcBef>
              <a:spcAft>
                <a:spcPts val="0"/>
              </a:spcAft>
              <a:buNone/>
            </a:pPr>
            <a:r>
              <a:rPr lang="en-US" sz="1800" dirty="0">
                <a:solidFill>
                  <a:srgbClr val="000000"/>
                </a:solidFill>
                <a:latin typeface="Consolas" panose="020B0609020204030204" pitchFamily="49" charset="0"/>
              </a:rPr>
              <a:t> : </a:t>
            </a:r>
            <a:r>
              <a:rPr lang="en-US" sz="1800" dirty="0" err="1">
                <a:solidFill>
                  <a:srgbClr val="000000"/>
                </a:solidFill>
                <a:latin typeface="Consolas" panose="020B0609020204030204" pitchFamily="49" charset="0"/>
              </a:rPr>
              <a:t>numer</a:t>
            </a:r>
            <a:r>
              <a:rPr lang="en-US" sz="1800" dirty="0">
                <a:solidFill>
                  <a:srgbClr val="000000"/>
                </a:solidFill>
                <a:latin typeface="Consolas" panose="020B0609020204030204" pitchFamily="49" charset="0"/>
              </a:rPr>
              <a:t>(</a:t>
            </a:r>
            <a:r>
              <a:rPr lang="en-US" sz="1800" dirty="0" err="1">
                <a:solidFill>
                  <a:srgbClr val="808080"/>
                </a:solidFill>
                <a:latin typeface="Consolas" panose="020B0609020204030204" pitchFamily="49" charset="0"/>
              </a:rPr>
              <a:t>numer</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denom</a:t>
            </a:r>
            <a:r>
              <a:rPr lang="en-US" sz="1800" dirty="0">
                <a:solidFill>
                  <a:srgbClr val="000000"/>
                </a:solidFill>
                <a:latin typeface="Consolas" panose="020B0609020204030204" pitchFamily="49" charset="0"/>
              </a:rPr>
              <a:t>(</a:t>
            </a:r>
            <a:r>
              <a:rPr lang="en-US" sz="1800">
                <a:solidFill>
                  <a:srgbClr val="808080"/>
                </a:solidFill>
                <a:latin typeface="Consolas" panose="020B0609020204030204" pitchFamily="49" charset="0"/>
              </a:rPr>
              <a:t>denom</a:t>
            </a:r>
            <a:r>
              <a:rPr lang="en-US" sz="1800">
                <a:solidFill>
                  <a:srgbClr val="000000"/>
                </a:solidFill>
                <a:latin typeface="Consolas" panose="020B0609020204030204" pitchFamily="49" charset="0"/>
              </a:rPr>
              <a:t>) </a:t>
            </a:r>
            <a:r>
              <a:rPr lang="bg-BG" sz="1800" dirty="0">
                <a:solidFill>
                  <a:srgbClr val="000000"/>
                </a:solidFill>
                <a:latin typeface="Consolas" panose="020B0609020204030204" pitchFamily="49" charset="0"/>
              </a:rPr>
              <a:t>{</a:t>
            </a:r>
          </a:p>
          <a:p>
            <a:pPr marL="0" indent="0">
              <a:lnSpc>
                <a:spcPct val="120000"/>
              </a:lnSpc>
              <a:spcBef>
                <a:spcPts val="0"/>
              </a:spcBef>
              <a:spcAft>
                <a:spcPts val="0"/>
              </a:spcAft>
              <a:buNone/>
            </a:pPr>
            <a:r>
              <a:rPr lang="en-US" sz="1800" dirty="0">
                <a:solidFill>
                  <a:srgbClr val="000000"/>
                </a:solidFill>
                <a:latin typeface="Consolas" panose="020B0609020204030204" pitchFamily="49" charset="0"/>
              </a:rPr>
              <a:t>   normalize();</a:t>
            </a:r>
          </a:p>
          <a:p>
            <a:pPr marL="0" indent="0">
              <a:lnSpc>
                <a:spcPct val="120000"/>
              </a:lnSpc>
              <a:spcBef>
                <a:spcPts val="0"/>
              </a:spcBef>
              <a:spcAft>
                <a:spcPts val="0"/>
              </a:spcAft>
              <a:buNone/>
            </a:pPr>
            <a:r>
              <a:rPr lang="bg-BG" sz="1800" dirty="0">
                <a:solidFill>
                  <a:srgbClr val="000000"/>
                </a:solidFill>
                <a:latin typeface="Consolas" panose="020B0609020204030204" pitchFamily="49" charset="0"/>
              </a:rPr>
              <a:t>}</a:t>
            </a:r>
          </a:p>
          <a:p>
            <a:pPr marL="0" indent="0">
              <a:lnSpc>
                <a:spcPct val="120000"/>
              </a:lnSpc>
              <a:spcBef>
                <a:spcPts val="0"/>
              </a:spcBef>
              <a:spcAft>
                <a:spcPts val="0"/>
              </a:spcAft>
              <a:buNone/>
            </a:pPr>
            <a:endParaRPr lang="bg-BG" sz="1800" dirty="0">
              <a:solidFill>
                <a:srgbClr val="000000"/>
              </a:solidFill>
              <a:latin typeface="Consolas" panose="020B0609020204030204" pitchFamily="49" charset="0"/>
            </a:endParaRPr>
          </a:p>
          <a:p>
            <a:pPr marL="0" indent="0">
              <a:lnSpc>
                <a:spcPct val="120000"/>
              </a:lnSpc>
              <a:spcBef>
                <a:spcPts val="0"/>
              </a:spcBef>
              <a:spcAft>
                <a:spcPts val="0"/>
              </a:spcAft>
              <a:buNone/>
            </a:pP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::Rational(</a:t>
            </a:r>
            <a:r>
              <a:rPr lang="en-US" sz="1800" dirty="0">
                <a:solidFill>
                  <a:srgbClr val="0000FF"/>
                </a:solidFill>
                <a:latin typeface="Consolas" panose="020B0609020204030204" pitchFamily="49" charset="0"/>
              </a:rPr>
              <a:t>const</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 &amp; </a:t>
            </a:r>
            <a:r>
              <a:rPr lang="en-US" sz="1800" dirty="0" err="1">
                <a:solidFill>
                  <a:srgbClr val="808080"/>
                </a:solidFill>
                <a:latin typeface="Consolas" panose="020B0609020204030204" pitchFamily="49" charset="0"/>
              </a:rPr>
              <a:t>rhs</a:t>
            </a:r>
            <a:r>
              <a:rPr lang="en-US" sz="1800" dirty="0">
                <a:solidFill>
                  <a:srgbClr val="000000"/>
                </a:solidFill>
                <a:latin typeface="Consolas" panose="020B0609020204030204" pitchFamily="49" charset="0"/>
              </a:rPr>
              <a:t>)</a:t>
            </a:r>
          </a:p>
          <a:p>
            <a:pPr marL="0" indent="0">
              <a:lnSpc>
                <a:spcPct val="120000"/>
              </a:lnSpc>
              <a:spcBef>
                <a:spcPts val="0"/>
              </a:spcBef>
              <a:spcAft>
                <a:spcPts val="0"/>
              </a:spcAft>
              <a:buNone/>
            </a:pPr>
            <a:r>
              <a:rPr lang="en-US" sz="1800" dirty="0">
                <a:solidFill>
                  <a:srgbClr val="000000"/>
                </a:solidFill>
                <a:latin typeface="Consolas" panose="020B0609020204030204" pitchFamily="49" charset="0"/>
              </a:rPr>
              <a:t> : </a:t>
            </a:r>
            <a:r>
              <a:rPr lang="en-US" sz="1800" dirty="0" err="1">
                <a:solidFill>
                  <a:srgbClr val="000000"/>
                </a:solidFill>
                <a:latin typeface="Consolas" panose="020B0609020204030204" pitchFamily="49" charset="0"/>
              </a:rPr>
              <a:t>numer</a:t>
            </a:r>
            <a:r>
              <a:rPr lang="en-US" sz="1800" dirty="0">
                <a:solidFill>
                  <a:srgbClr val="000000"/>
                </a:solidFill>
                <a:latin typeface="Consolas" panose="020B0609020204030204" pitchFamily="49" charset="0"/>
              </a:rPr>
              <a:t>(</a:t>
            </a:r>
            <a:r>
              <a:rPr lang="en-US" sz="1800" dirty="0" err="1">
                <a:solidFill>
                  <a:srgbClr val="808080"/>
                </a:solidFill>
                <a:latin typeface="Consolas" panose="020B0609020204030204" pitchFamily="49" charset="0"/>
              </a:rPr>
              <a:t>rhs</a:t>
            </a:r>
            <a:r>
              <a:rPr lang="en-US" sz="1800" dirty="0" err="1">
                <a:solidFill>
                  <a:srgbClr val="000000"/>
                </a:solidFill>
                <a:latin typeface="Consolas" panose="020B0609020204030204" pitchFamily="49" charset="0"/>
              </a:rPr>
              <a:t>.numer</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denom</a:t>
            </a:r>
            <a:r>
              <a:rPr lang="en-US" sz="1800" dirty="0">
                <a:solidFill>
                  <a:srgbClr val="000000"/>
                </a:solidFill>
                <a:latin typeface="Consolas" panose="020B0609020204030204" pitchFamily="49" charset="0"/>
              </a:rPr>
              <a:t>(</a:t>
            </a:r>
            <a:r>
              <a:rPr lang="en-US" sz="1800" dirty="0" err="1">
                <a:solidFill>
                  <a:srgbClr val="808080"/>
                </a:solidFill>
                <a:latin typeface="Consolas" panose="020B0609020204030204" pitchFamily="49" charset="0"/>
              </a:rPr>
              <a:t>rhs</a:t>
            </a:r>
            <a:r>
              <a:rPr lang="en-US" sz="1800" dirty="0" err="1">
                <a:solidFill>
                  <a:srgbClr val="000000"/>
                </a:solidFill>
                <a:latin typeface="Consolas" panose="020B0609020204030204" pitchFamily="49" charset="0"/>
              </a:rPr>
              <a:t>.denom</a:t>
            </a:r>
            <a:r>
              <a:rPr lang="en-US" sz="1800" dirty="0">
                <a:solidFill>
                  <a:srgbClr val="000000"/>
                </a:solidFill>
                <a:latin typeface="Consolas" panose="020B0609020204030204" pitchFamily="49" charset="0"/>
              </a:rPr>
              <a:t>) {}</a:t>
            </a:r>
          </a:p>
          <a:p>
            <a:pPr marL="0" indent="0">
              <a:lnSpc>
                <a:spcPct val="120000"/>
              </a:lnSpc>
              <a:spcBef>
                <a:spcPts val="0"/>
              </a:spcBef>
              <a:spcAft>
                <a:spcPts val="0"/>
              </a:spcAft>
              <a:buNone/>
            </a:pPr>
            <a:endParaRPr lang="bg-BG" sz="1800" dirty="0">
              <a:solidFill>
                <a:srgbClr val="000000"/>
              </a:solidFill>
              <a:latin typeface="Consolas" panose="020B0609020204030204" pitchFamily="49" charset="0"/>
            </a:endParaRPr>
          </a:p>
          <a:p>
            <a:pPr marL="0" indent="0">
              <a:lnSpc>
                <a:spcPct val="120000"/>
              </a:lnSpc>
              <a:spcBef>
                <a:spcPts val="0"/>
              </a:spcBef>
              <a:spcAft>
                <a:spcPts val="0"/>
              </a:spcAft>
              <a:buNone/>
            </a:pP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::~Rational() </a:t>
            </a:r>
            <a:r>
              <a:rPr lang="bg-BG" sz="1800" dirty="0">
                <a:solidFill>
                  <a:srgbClr val="000000"/>
                </a:solidFill>
                <a:latin typeface="Consolas" panose="020B0609020204030204" pitchFamily="49" charset="0"/>
              </a:rPr>
              <a:t>{}</a:t>
            </a:r>
            <a:endParaRPr lang="bg-BG" sz="1800" b="1"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18</a:t>
            </a:fld>
            <a:endParaRPr lang="en-US"/>
          </a:p>
        </p:txBody>
      </p:sp>
    </p:spTree>
    <p:extLst>
      <p:ext uri="{BB962C8B-B14F-4D97-AF65-F5344CB8AC3E}">
        <p14:creationId xmlns:p14="http://schemas.microsoft.com/office/powerpoint/2010/main" val="2875755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Rational</a:t>
            </a:r>
            <a:r>
              <a:rPr lang="en-US" dirty="0"/>
              <a:t> Class Implementation – </a:t>
            </a:r>
            <a:br>
              <a:rPr lang="en-US" dirty="0"/>
            </a:br>
            <a:r>
              <a:rPr lang="en-US" dirty="0"/>
              <a:t>Private Members</a:t>
            </a:r>
            <a:endParaRPr lang="bg-BG" dirty="0"/>
          </a:p>
        </p:txBody>
      </p:sp>
      <p:sp>
        <p:nvSpPr>
          <p:cNvPr id="3" name="Content Placeholder 2"/>
          <p:cNvSpPr>
            <a:spLocks noGrp="1"/>
          </p:cNvSpPr>
          <p:nvPr>
            <p:ph idx="1"/>
          </p:nvPr>
        </p:nvSpPr>
        <p:spPr>
          <a:xfrm>
            <a:off x="1097280" y="1845733"/>
            <a:ext cx="10058400" cy="4438526"/>
          </a:xfrm>
        </p:spPr>
        <p:txBody>
          <a:bodyPr>
            <a:noAutofit/>
          </a:bodyPr>
          <a:lstStyle/>
          <a:p>
            <a:pPr marL="0" indent="0">
              <a:lnSpc>
                <a:spcPct val="100000"/>
              </a:lnSpc>
              <a:spcBef>
                <a:spcPts val="0"/>
              </a:spcBef>
              <a:spcAft>
                <a:spcPts val="0"/>
              </a:spcAft>
              <a:buNone/>
            </a:pPr>
            <a:r>
              <a:rPr lang="en-US" sz="1700" dirty="0">
                <a:solidFill>
                  <a:srgbClr val="0000FF"/>
                </a:solidFill>
                <a:latin typeface="Consolas" panose="020B0609020204030204" pitchFamily="49" charset="0"/>
              </a:rPr>
              <a:t>double</a:t>
            </a:r>
            <a:r>
              <a:rPr lang="en-US" sz="1700" dirty="0">
                <a:solidFill>
                  <a:srgbClr val="000000"/>
                </a:solidFill>
                <a:latin typeface="Consolas" panose="020B0609020204030204" pitchFamily="49" charset="0"/>
              </a:rPr>
              <a:t> </a:t>
            </a:r>
            <a:r>
              <a:rPr lang="en-US" sz="1700" dirty="0">
                <a:solidFill>
                  <a:srgbClr val="2B91AF"/>
                </a:solidFill>
                <a:latin typeface="Consolas" panose="020B0609020204030204" pitchFamily="49" charset="0"/>
              </a:rPr>
              <a:t>Rational</a:t>
            </a:r>
            <a:r>
              <a:rPr lang="en-US" sz="1700" dirty="0">
                <a:solidFill>
                  <a:srgbClr val="000000"/>
                </a:solidFill>
                <a:latin typeface="Consolas" panose="020B0609020204030204" pitchFamily="49" charset="0"/>
              </a:rPr>
              <a:t>::</a:t>
            </a:r>
            <a:r>
              <a:rPr lang="en-US" sz="1700" dirty="0" err="1">
                <a:solidFill>
                  <a:srgbClr val="000000"/>
                </a:solidFill>
                <a:latin typeface="Consolas" panose="020B0609020204030204" pitchFamily="49" charset="0"/>
              </a:rPr>
              <a:t>toDouble</a:t>
            </a:r>
            <a:r>
              <a:rPr lang="en-US" sz="1700" dirty="0">
                <a:solidFill>
                  <a:srgbClr val="000000"/>
                </a:solidFill>
                <a:latin typeface="Consolas" panose="020B0609020204030204" pitchFamily="49" charset="0"/>
              </a:rPr>
              <a:t>() </a:t>
            </a:r>
            <a:r>
              <a:rPr lang="bg-BG" sz="1700" dirty="0">
                <a:solidFill>
                  <a:srgbClr val="000000"/>
                </a:solidFill>
                <a:latin typeface="Consolas" panose="020B0609020204030204" pitchFamily="49" charset="0"/>
              </a:rPr>
              <a:t>{</a:t>
            </a:r>
          </a:p>
          <a:p>
            <a:pPr marL="0" indent="0">
              <a:lnSpc>
                <a:spcPct val="100000"/>
              </a:lnSpc>
              <a:spcBef>
                <a:spcPts val="0"/>
              </a:spcBef>
              <a:spcAft>
                <a:spcPts val="0"/>
              </a:spcAft>
              <a:buNone/>
            </a:pPr>
            <a:r>
              <a:rPr lang="en-US" sz="1700" dirty="0">
                <a:solidFill>
                  <a:srgbClr val="0000FF"/>
                </a:solidFill>
                <a:latin typeface="Consolas" panose="020B0609020204030204" pitchFamily="49" charset="0"/>
              </a:rPr>
              <a:t>   return</a:t>
            </a:r>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double</a:t>
            </a:r>
            <a:r>
              <a:rPr lang="en-US" sz="1700" dirty="0">
                <a:solidFill>
                  <a:srgbClr val="000000"/>
                </a:solidFill>
                <a:latin typeface="Consolas" panose="020B0609020204030204" pitchFamily="49" charset="0"/>
              </a:rPr>
              <a:t>) </a:t>
            </a:r>
            <a:r>
              <a:rPr lang="en-US" sz="1700" dirty="0" err="1">
                <a:solidFill>
                  <a:srgbClr val="000000"/>
                </a:solidFill>
                <a:latin typeface="Consolas" panose="020B0609020204030204" pitchFamily="49" charset="0"/>
              </a:rPr>
              <a:t>numer</a:t>
            </a:r>
            <a:r>
              <a:rPr lang="en-US" sz="1700" dirty="0">
                <a:solidFill>
                  <a:srgbClr val="000000"/>
                </a:solidFill>
                <a:latin typeface="Consolas" panose="020B0609020204030204" pitchFamily="49" charset="0"/>
              </a:rPr>
              <a:t> / </a:t>
            </a:r>
            <a:r>
              <a:rPr lang="en-US" sz="1700" dirty="0" err="1">
                <a:solidFill>
                  <a:srgbClr val="000000"/>
                </a:solidFill>
                <a:latin typeface="Consolas" panose="020B0609020204030204" pitchFamily="49" charset="0"/>
              </a:rPr>
              <a:t>denom</a:t>
            </a:r>
            <a:r>
              <a:rPr lang="en-US" sz="1700" dirty="0">
                <a:solidFill>
                  <a:srgbClr val="000000"/>
                </a:solidFill>
                <a:latin typeface="Consolas" panose="020B0609020204030204" pitchFamily="49" charset="0"/>
              </a:rPr>
              <a:t>;</a:t>
            </a:r>
          </a:p>
          <a:p>
            <a:pPr marL="0" indent="0">
              <a:lnSpc>
                <a:spcPct val="100000"/>
              </a:lnSpc>
              <a:spcBef>
                <a:spcPts val="0"/>
              </a:spcBef>
              <a:spcAft>
                <a:spcPts val="0"/>
              </a:spcAft>
              <a:buNone/>
            </a:pPr>
            <a:r>
              <a:rPr lang="bg-BG" sz="1700" dirty="0">
                <a:solidFill>
                  <a:srgbClr val="000000"/>
                </a:solidFill>
                <a:latin typeface="Consolas" panose="020B0609020204030204" pitchFamily="49" charset="0"/>
              </a:rPr>
              <a:t>}</a:t>
            </a:r>
          </a:p>
          <a:p>
            <a:pPr marL="0" indent="0">
              <a:lnSpc>
                <a:spcPct val="100000"/>
              </a:lnSpc>
              <a:spcBef>
                <a:spcPts val="0"/>
              </a:spcBef>
              <a:spcAft>
                <a:spcPts val="0"/>
              </a:spcAft>
              <a:buNone/>
            </a:pPr>
            <a:endParaRPr lang="bg-BG" sz="17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700" dirty="0">
                <a:solidFill>
                  <a:srgbClr val="0000FF"/>
                </a:solidFill>
                <a:latin typeface="Consolas" panose="020B0609020204030204" pitchFamily="49" charset="0"/>
              </a:rPr>
              <a:t>void</a:t>
            </a:r>
            <a:r>
              <a:rPr lang="en-US" sz="1700" dirty="0">
                <a:solidFill>
                  <a:srgbClr val="000000"/>
                </a:solidFill>
                <a:latin typeface="Consolas" panose="020B0609020204030204" pitchFamily="49" charset="0"/>
              </a:rPr>
              <a:t> </a:t>
            </a:r>
            <a:r>
              <a:rPr lang="en-US" sz="1700" dirty="0">
                <a:solidFill>
                  <a:srgbClr val="2B91AF"/>
                </a:solidFill>
                <a:latin typeface="Consolas" panose="020B0609020204030204" pitchFamily="49" charset="0"/>
              </a:rPr>
              <a:t>Rational</a:t>
            </a:r>
            <a:r>
              <a:rPr lang="en-US" sz="1700" dirty="0">
                <a:solidFill>
                  <a:srgbClr val="000000"/>
                </a:solidFill>
                <a:latin typeface="Consolas" panose="020B0609020204030204" pitchFamily="49" charset="0"/>
              </a:rPr>
              <a:t>::normalize() </a:t>
            </a:r>
            <a:r>
              <a:rPr lang="bg-BG" sz="1700" dirty="0">
                <a:solidFill>
                  <a:srgbClr val="000000"/>
                </a:solidFill>
                <a:latin typeface="Consolas" panose="020B0609020204030204" pitchFamily="49" charset="0"/>
              </a:rPr>
              <a:t>{</a:t>
            </a:r>
          </a:p>
          <a:p>
            <a:pPr marL="0" indent="0">
              <a:lnSpc>
                <a:spcPct val="100000"/>
              </a:lnSpc>
              <a:spcBef>
                <a:spcPts val="0"/>
              </a:spcBef>
              <a:spcAft>
                <a:spcPts val="0"/>
              </a:spcAft>
              <a:buNone/>
            </a:pPr>
            <a:r>
              <a:rPr lang="en-US" sz="1700" dirty="0">
                <a:solidFill>
                  <a:srgbClr val="000000"/>
                </a:solidFill>
                <a:latin typeface="Consolas" panose="020B0609020204030204" pitchFamily="49" charset="0"/>
              </a:rPr>
              <a:t>   assert(</a:t>
            </a:r>
            <a:r>
              <a:rPr lang="en-US" sz="1700" dirty="0" err="1">
                <a:solidFill>
                  <a:srgbClr val="000000"/>
                </a:solidFill>
                <a:latin typeface="Consolas" panose="020B0609020204030204" pitchFamily="49" charset="0"/>
              </a:rPr>
              <a:t>denom</a:t>
            </a:r>
            <a:r>
              <a:rPr lang="en-US" sz="1700" dirty="0">
                <a:solidFill>
                  <a:srgbClr val="000000"/>
                </a:solidFill>
                <a:latin typeface="Consolas" panose="020B0609020204030204" pitchFamily="49" charset="0"/>
              </a:rPr>
              <a:t> != 0);</a:t>
            </a:r>
          </a:p>
          <a:p>
            <a:pPr marL="0" indent="0">
              <a:lnSpc>
                <a:spcPct val="100000"/>
              </a:lnSpc>
              <a:spcBef>
                <a:spcPts val="0"/>
              </a:spcBef>
              <a:spcAft>
                <a:spcPts val="0"/>
              </a:spcAft>
              <a:buNone/>
            </a:pPr>
            <a:endParaRPr lang="bg-BG" sz="17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700" dirty="0">
                <a:solidFill>
                  <a:srgbClr val="0000FF"/>
                </a:solidFill>
                <a:latin typeface="Consolas" panose="020B0609020204030204" pitchFamily="49" charset="0"/>
              </a:rPr>
              <a:t>   if</a:t>
            </a:r>
            <a:r>
              <a:rPr lang="en-US" sz="1700" dirty="0">
                <a:solidFill>
                  <a:srgbClr val="000000"/>
                </a:solidFill>
                <a:latin typeface="Consolas" panose="020B0609020204030204" pitchFamily="49" charset="0"/>
              </a:rPr>
              <a:t> (</a:t>
            </a:r>
            <a:r>
              <a:rPr lang="en-US" sz="1700" dirty="0" err="1">
                <a:solidFill>
                  <a:srgbClr val="000000"/>
                </a:solidFill>
                <a:latin typeface="Consolas" panose="020B0609020204030204" pitchFamily="49" charset="0"/>
              </a:rPr>
              <a:t>denom</a:t>
            </a:r>
            <a:r>
              <a:rPr lang="en-US" sz="1700" dirty="0">
                <a:solidFill>
                  <a:srgbClr val="000000"/>
                </a:solidFill>
                <a:latin typeface="Consolas" panose="020B0609020204030204" pitchFamily="49" charset="0"/>
              </a:rPr>
              <a:t> &lt; 0) {   </a:t>
            </a:r>
            <a:r>
              <a:rPr lang="en-US" sz="1700" dirty="0">
                <a:solidFill>
                  <a:srgbClr val="008000"/>
                </a:solidFill>
                <a:latin typeface="Consolas" panose="020B0609020204030204" pitchFamily="49" charset="0"/>
              </a:rPr>
              <a:t>// fix signs</a:t>
            </a:r>
            <a:endParaRPr lang="en-US" sz="17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700" dirty="0">
                <a:solidFill>
                  <a:srgbClr val="000000"/>
                </a:solidFill>
                <a:latin typeface="Consolas" panose="020B0609020204030204" pitchFamily="49" charset="0"/>
              </a:rPr>
              <a:t>      </a:t>
            </a:r>
            <a:r>
              <a:rPr lang="en-US" sz="1700" dirty="0" err="1">
                <a:solidFill>
                  <a:srgbClr val="000000"/>
                </a:solidFill>
                <a:latin typeface="Consolas" panose="020B0609020204030204" pitchFamily="49" charset="0"/>
              </a:rPr>
              <a:t>denom</a:t>
            </a:r>
            <a:r>
              <a:rPr lang="en-US" sz="1700" dirty="0">
                <a:solidFill>
                  <a:srgbClr val="000000"/>
                </a:solidFill>
                <a:latin typeface="Consolas" panose="020B0609020204030204" pitchFamily="49" charset="0"/>
              </a:rPr>
              <a:t> = -</a:t>
            </a:r>
            <a:r>
              <a:rPr lang="en-US" sz="1700" dirty="0" err="1">
                <a:solidFill>
                  <a:srgbClr val="000000"/>
                </a:solidFill>
                <a:latin typeface="Consolas" panose="020B0609020204030204" pitchFamily="49" charset="0"/>
              </a:rPr>
              <a:t>denom</a:t>
            </a:r>
            <a:r>
              <a:rPr lang="en-US" sz="1700" dirty="0">
                <a:solidFill>
                  <a:srgbClr val="000000"/>
                </a:solidFill>
                <a:latin typeface="Consolas" panose="020B0609020204030204" pitchFamily="49" charset="0"/>
              </a:rPr>
              <a:t>;</a:t>
            </a:r>
          </a:p>
          <a:p>
            <a:pPr marL="0" indent="0">
              <a:lnSpc>
                <a:spcPct val="100000"/>
              </a:lnSpc>
              <a:spcBef>
                <a:spcPts val="0"/>
              </a:spcBef>
              <a:spcAft>
                <a:spcPts val="0"/>
              </a:spcAft>
              <a:buNone/>
            </a:pPr>
            <a:r>
              <a:rPr lang="en-US" sz="1700" dirty="0">
                <a:solidFill>
                  <a:srgbClr val="000000"/>
                </a:solidFill>
                <a:latin typeface="Consolas" panose="020B0609020204030204" pitchFamily="49" charset="0"/>
              </a:rPr>
              <a:t>      </a:t>
            </a:r>
            <a:r>
              <a:rPr lang="en-US" sz="1700" dirty="0" err="1">
                <a:solidFill>
                  <a:srgbClr val="000000"/>
                </a:solidFill>
                <a:latin typeface="Consolas" panose="020B0609020204030204" pitchFamily="49" charset="0"/>
              </a:rPr>
              <a:t>numer</a:t>
            </a:r>
            <a:r>
              <a:rPr lang="en-US" sz="1700" dirty="0">
                <a:solidFill>
                  <a:srgbClr val="000000"/>
                </a:solidFill>
                <a:latin typeface="Consolas" panose="020B0609020204030204" pitchFamily="49" charset="0"/>
              </a:rPr>
              <a:t> = -</a:t>
            </a:r>
            <a:r>
              <a:rPr lang="en-US" sz="1700" dirty="0" err="1">
                <a:solidFill>
                  <a:srgbClr val="000000"/>
                </a:solidFill>
                <a:latin typeface="Consolas" panose="020B0609020204030204" pitchFamily="49" charset="0"/>
              </a:rPr>
              <a:t>numer</a:t>
            </a:r>
            <a:r>
              <a:rPr lang="en-US" sz="1700" dirty="0">
                <a:solidFill>
                  <a:srgbClr val="000000"/>
                </a:solidFill>
                <a:latin typeface="Consolas" panose="020B0609020204030204" pitchFamily="49" charset="0"/>
              </a:rPr>
              <a:t>;</a:t>
            </a:r>
          </a:p>
          <a:p>
            <a:pPr marL="0" indent="0">
              <a:lnSpc>
                <a:spcPct val="100000"/>
              </a:lnSpc>
              <a:spcBef>
                <a:spcPts val="0"/>
              </a:spcBef>
              <a:spcAft>
                <a:spcPts val="0"/>
              </a:spcAft>
              <a:buNone/>
            </a:pPr>
            <a:r>
              <a:rPr lang="en-US" sz="1700" dirty="0">
                <a:solidFill>
                  <a:srgbClr val="000000"/>
                </a:solidFill>
                <a:latin typeface="Consolas" panose="020B0609020204030204" pitchFamily="49" charset="0"/>
              </a:rPr>
              <a:t>   </a:t>
            </a:r>
            <a:r>
              <a:rPr lang="bg-BG" sz="1700" dirty="0">
                <a:solidFill>
                  <a:srgbClr val="000000"/>
                </a:solidFill>
                <a:latin typeface="Consolas" panose="020B0609020204030204" pitchFamily="49" charset="0"/>
              </a:rPr>
              <a:t>}</a:t>
            </a:r>
          </a:p>
          <a:p>
            <a:pPr marL="0" indent="0">
              <a:lnSpc>
                <a:spcPct val="100000"/>
              </a:lnSpc>
              <a:spcBef>
                <a:spcPts val="0"/>
              </a:spcBef>
              <a:spcAft>
                <a:spcPts val="0"/>
              </a:spcAft>
              <a:buNone/>
            </a:pPr>
            <a:endParaRPr lang="bg-BG" sz="17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700" dirty="0">
                <a:solidFill>
                  <a:srgbClr val="0000FF"/>
                </a:solidFill>
                <a:latin typeface="Consolas" panose="020B0609020204030204" pitchFamily="49" charset="0"/>
              </a:rPr>
              <a:t>   int</a:t>
            </a:r>
            <a:r>
              <a:rPr lang="en-US" sz="1700" dirty="0">
                <a:solidFill>
                  <a:srgbClr val="000000"/>
                </a:solidFill>
                <a:latin typeface="Consolas" panose="020B0609020204030204" pitchFamily="49" charset="0"/>
              </a:rPr>
              <a:t> d = </a:t>
            </a:r>
            <a:r>
              <a:rPr lang="en-US" sz="1700" dirty="0" err="1">
                <a:solidFill>
                  <a:srgbClr val="000000"/>
                </a:solidFill>
                <a:latin typeface="Consolas" panose="020B0609020204030204" pitchFamily="49" charset="0"/>
              </a:rPr>
              <a:t>gcd</a:t>
            </a:r>
            <a:r>
              <a:rPr lang="en-US" sz="1700" dirty="0">
                <a:solidFill>
                  <a:srgbClr val="000000"/>
                </a:solidFill>
                <a:latin typeface="Consolas" panose="020B0609020204030204" pitchFamily="49" charset="0"/>
              </a:rPr>
              <a:t>(</a:t>
            </a:r>
            <a:r>
              <a:rPr lang="en-US" sz="1700" dirty="0" err="1">
                <a:solidFill>
                  <a:srgbClr val="000000"/>
                </a:solidFill>
                <a:latin typeface="Consolas" panose="020B0609020204030204" pitchFamily="49" charset="0"/>
              </a:rPr>
              <a:t>numer</a:t>
            </a:r>
            <a:r>
              <a:rPr lang="en-US" sz="1700" dirty="0">
                <a:solidFill>
                  <a:srgbClr val="000000"/>
                </a:solidFill>
                <a:latin typeface="Consolas" panose="020B0609020204030204" pitchFamily="49" charset="0"/>
              </a:rPr>
              <a:t>, </a:t>
            </a:r>
            <a:r>
              <a:rPr lang="en-US" sz="1700" dirty="0" err="1">
                <a:solidFill>
                  <a:srgbClr val="000000"/>
                </a:solidFill>
                <a:latin typeface="Consolas" panose="020B0609020204030204" pitchFamily="49" charset="0"/>
              </a:rPr>
              <a:t>denom</a:t>
            </a:r>
            <a:r>
              <a:rPr lang="en-US" sz="1700" dirty="0">
                <a:solidFill>
                  <a:srgbClr val="000000"/>
                </a:solidFill>
                <a:latin typeface="Consolas" panose="020B0609020204030204" pitchFamily="49" charset="0"/>
              </a:rPr>
              <a:t>);</a:t>
            </a:r>
          </a:p>
          <a:p>
            <a:pPr marL="0" indent="0">
              <a:lnSpc>
                <a:spcPct val="100000"/>
              </a:lnSpc>
              <a:spcBef>
                <a:spcPts val="0"/>
              </a:spcBef>
              <a:spcAft>
                <a:spcPts val="0"/>
              </a:spcAft>
              <a:buNone/>
            </a:pPr>
            <a:endParaRPr lang="bg-BG" sz="17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700" dirty="0">
                <a:solidFill>
                  <a:srgbClr val="000000"/>
                </a:solidFill>
                <a:latin typeface="Consolas" panose="020B0609020204030204" pitchFamily="49" charset="0"/>
              </a:rPr>
              <a:t>   </a:t>
            </a:r>
            <a:r>
              <a:rPr lang="en-US" sz="1700" dirty="0" err="1">
                <a:solidFill>
                  <a:srgbClr val="000000"/>
                </a:solidFill>
                <a:latin typeface="Consolas" panose="020B0609020204030204" pitchFamily="49" charset="0"/>
              </a:rPr>
              <a:t>numer</a:t>
            </a:r>
            <a:r>
              <a:rPr lang="en-US" sz="1700" dirty="0">
                <a:solidFill>
                  <a:srgbClr val="000000"/>
                </a:solidFill>
                <a:latin typeface="Consolas" panose="020B0609020204030204" pitchFamily="49" charset="0"/>
              </a:rPr>
              <a:t> /= d;</a:t>
            </a:r>
          </a:p>
          <a:p>
            <a:pPr marL="0" indent="0">
              <a:lnSpc>
                <a:spcPct val="100000"/>
              </a:lnSpc>
              <a:spcBef>
                <a:spcPts val="0"/>
              </a:spcBef>
              <a:spcAft>
                <a:spcPts val="0"/>
              </a:spcAft>
              <a:buNone/>
            </a:pPr>
            <a:r>
              <a:rPr lang="en-US" sz="1700" dirty="0">
                <a:solidFill>
                  <a:srgbClr val="000000"/>
                </a:solidFill>
                <a:latin typeface="Consolas" panose="020B0609020204030204" pitchFamily="49" charset="0"/>
              </a:rPr>
              <a:t>   </a:t>
            </a:r>
            <a:r>
              <a:rPr lang="en-US" sz="1700" dirty="0" err="1">
                <a:solidFill>
                  <a:srgbClr val="000000"/>
                </a:solidFill>
                <a:latin typeface="Consolas" panose="020B0609020204030204" pitchFamily="49" charset="0"/>
              </a:rPr>
              <a:t>denom</a:t>
            </a:r>
            <a:r>
              <a:rPr lang="en-US" sz="1700" dirty="0">
                <a:solidFill>
                  <a:srgbClr val="000000"/>
                </a:solidFill>
                <a:latin typeface="Consolas" panose="020B0609020204030204" pitchFamily="49" charset="0"/>
              </a:rPr>
              <a:t> /= d;</a:t>
            </a:r>
          </a:p>
          <a:p>
            <a:pPr marL="0" indent="0">
              <a:lnSpc>
                <a:spcPct val="100000"/>
              </a:lnSpc>
              <a:spcBef>
                <a:spcPts val="0"/>
              </a:spcBef>
              <a:spcAft>
                <a:spcPts val="0"/>
              </a:spcAft>
              <a:buNone/>
            </a:pPr>
            <a:r>
              <a:rPr lang="bg-BG" sz="1700" dirty="0">
                <a:solidFill>
                  <a:srgbClr val="000000"/>
                </a:solidFill>
                <a:latin typeface="Consolas" panose="020B0609020204030204" pitchFamily="49" charset="0"/>
              </a:rPr>
              <a:t>}</a:t>
            </a:r>
            <a:endParaRPr lang="bg-BG" sz="1700" b="1"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19</a:t>
            </a:fld>
            <a:endParaRPr lang="en-US"/>
          </a:p>
        </p:txBody>
      </p:sp>
      <p:pic>
        <p:nvPicPr>
          <p:cNvPr id="8" name="Picture 7">
            <a:extLst>
              <a:ext uri="{FF2B5EF4-FFF2-40B4-BE49-F238E27FC236}">
                <a16:creationId xmlns:a16="http://schemas.microsoft.com/office/drawing/2014/main" id="{F604E704-F669-774D-B446-BFE1D0C97D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3267181"/>
            <a:ext cx="3016938" cy="1374383"/>
          </a:xfrm>
          <a:prstGeom prst="rect">
            <a:avLst/>
          </a:prstGeom>
        </p:spPr>
      </p:pic>
      <p:pic>
        <p:nvPicPr>
          <p:cNvPr id="10" name="Picture 9">
            <a:extLst>
              <a:ext uri="{FF2B5EF4-FFF2-40B4-BE49-F238E27FC236}">
                <a16:creationId xmlns:a16="http://schemas.microsoft.com/office/drawing/2014/main" id="{33813734-10A5-2D48-AC31-2E9EFE7C92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6480" y="4797138"/>
            <a:ext cx="2873339" cy="1331547"/>
          </a:xfrm>
          <a:prstGeom prst="rect">
            <a:avLst/>
          </a:prstGeom>
        </p:spPr>
      </p:pic>
    </p:spTree>
    <p:extLst>
      <p:ext uri="{BB962C8B-B14F-4D97-AF65-F5344CB8AC3E}">
        <p14:creationId xmlns:p14="http://schemas.microsoft.com/office/powerpoint/2010/main" val="15000891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Rational</a:t>
            </a:r>
            <a:r>
              <a:rPr lang="en-US" dirty="0"/>
              <a:t> Class Implementation – Assignment Operators (partial)</a:t>
            </a:r>
            <a:endParaRPr lang="bg-BG" dirty="0"/>
          </a:p>
        </p:txBody>
      </p:sp>
      <p:sp>
        <p:nvSpPr>
          <p:cNvPr id="3" name="Content Placeholder 2"/>
          <p:cNvSpPr>
            <a:spLocks noGrp="1"/>
          </p:cNvSpPr>
          <p:nvPr>
            <p:ph idx="1"/>
          </p:nvPr>
        </p:nvSpPr>
        <p:spPr>
          <a:xfrm>
            <a:off x="1097280" y="1800909"/>
            <a:ext cx="10058400" cy="4438526"/>
          </a:xfrm>
        </p:spPr>
        <p:txBody>
          <a:bodyPr>
            <a:noAutofit/>
          </a:bodyPr>
          <a:lstStyle/>
          <a:p>
            <a:pPr marL="0" indent="0">
              <a:lnSpc>
                <a:spcPct val="120000"/>
              </a:lnSpc>
              <a:spcBef>
                <a:spcPts val="0"/>
              </a:spcBef>
              <a:spcAft>
                <a:spcPts val="0"/>
              </a:spcAft>
              <a:buNone/>
            </a:pPr>
            <a:r>
              <a:rPr lang="en-US" sz="1800" dirty="0">
                <a:solidFill>
                  <a:srgbClr val="0000FF"/>
                </a:solidFill>
                <a:latin typeface="Consolas" panose="020B0609020204030204" pitchFamily="49" charset="0"/>
              </a:rPr>
              <a:t>const</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 &amp;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a:t>
            </a:r>
            <a:r>
              <a:rPr lang="en-US" sz="1800" dirty="0">
                <a:solidFill>
                  <a:srgbClr val="008080"/>
                </a:solidFill>
                <a:latin typeface="Consolas" panose="020B0609020204030204" pitchFamily="49" charset="0"/>
              </a:rPr>
              <a:t>operator=</a:t>
            </a:r>
            <a:r>
              <a:rPr lang="en-US" sz="1800" dirty="0">
                <a:solidFill>
                  <a:srgbClr val="000000"/>
                </a:solidFill>
                <a:latin typeface="Consolas" panose="020B0609020204030204" pitchFamily="49" charset="0"/>
              </a:rPr>
              <a:t>(</a:t>
            </a:r>
            <a:r>
              <a:rPr lang="en-US" sz="1800" dirty="0">
                <a:solidFill>
                  <a:srgbClr val="0000FF"/>
                </a:solidFill>
                <a:latin typeface="Consolas" panose="020B0609020204030204" pitchFamily="49" charset="0"/>
              </a:rPr>
              <a:t>const</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 &amp; </a:t>
            </a:r>
            <a:r>
              <a:rPr lang="en-US" sz="1800" dirty="0" err="1">
                <a:solidFill>
                  <a:srgbClr val="808080"/>
                </a:solidFill>
                <a:latin typeface="Consolas" panose="020B0609020204030204" pitchFamily="49" charset="0"/>
              </a:rPr>
              <a:t>rhs</a:t>
            </a:r>
            <a:r>
              <a:rPr lang="en-US" sz="1800" dirty="0">
                <a:solidFill>
                  <a:srgbClr val="000000"/>
                </a:solidFill>
                <a:latin typeface="Consolas" panose="020B0609020204030204" pitchFamily="49" charset="0"/>
              </a:rPr>
              <a:t>) </a:t>
            </a:r>
            <a:r>
              <a:rPr lang="bg-BG" sz="1800" dirty="0">
                <a:solidFill>
                  <a:srgbClr val="000000"/>
                </a:solidFill>
                <a:latin typeface="Consolas" panose="020B0609020204030204" pitchFamily="49" charset="0"/>
              </a:rPr>
              <a:t>{</a:t>
            </a:r>
          </a:p>
          <a:p>
            <a:pPr marL="0" indent="0">
              <a:lnSpc>
                <a:spcPct val="120000"/>
              </a:lnSpc>
              <a:spcBef>
                <a:spcPts val="0"/>
              </a:spcBef>
              <a:spcAft>
                <a:spcPts val="0"/>
              </a:spcAft>
              <a:buNone/>
            </a:pPr>
            <a:r>
              <a:rPr lang="en-US" sz="1800" dirty="0">
                <a:solidFill>
                  <a:srgbClr val="0000FF"/>
                </a:solidFill>
                <a:latin typeface="Consolas" panose="020B0609020204030204" pitchFamily="49" charset="0"/>
              </a:rPr>
              <a:t>   if</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this</a:t>
            </a:r>
            <a:r>
              <a:rPr lang="en-US" sz="1800" dirty="0">
                <a:solidFill>
                  <a:srgbClr val="000000"/>
                </a:solidFill>
                <a:latin typeface="Consolas" panose="020B0609020204030204" pitchFamily="49" charset="0"/>
              </a:rPr>
              <a:t> != &amp;</a:t>
            </a:r>
            <a:r>
              <a:rPr lang="en-US" sz="1800" dirty="0" err="1">
                <a:solidFill>
                  <a:srgbClr val="808080"/>
                </a:solidFill>
                <a:latin typeface="Consolas" panose="020B0609020204030204" pitchFamily="49" charset="0"/>
              </a:rPr>
              <a:t>rhs</a:t>
            </a:r>
            <a:r>
              <a:rPr lang="en-US" sz="1800" dirty="0">
                <a:solidFill>
                  <a:srgbClr val="000000"/>
                </a:solidFill>
                <a:latin typeface="Consolas" panose="020B0609020204030204" pitchFamily="49" charset="0"/>
              </a:rPr>
              <a:t>) {</a:t>
            </a:r>
          </a:p>
          <a:p>
            <a:pPr marL="0" indent="0">
              <a:lnSpc>
                <a:spcPct val="120000"/>
              </a:lnSpc>
              <a:spcBef>
                <a:spcPts val="0"/>
              </a:spcBef>
              <a:spcAft>
                <a:spcPts val="0"/>
              </a:spcAft>
              <a:buNone/>
            </a:pP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numer</a:t>
            </a:r>
            <a:r>
              <a:rPr lang="en-US" sz="1800" dirty="0">
                <a:solidFill>
                  <a:srgbClr val="000000"/>
                </a:solidFill>
                <a:latin typeface="Consolas" panose="020B0609020204030204" pitchFamily="49" charset="0"/>
              </a:rPr>
              <a:t> = </a:t>
            </a:r>
            <a:r>
              <a:rPr lang="en-US" sz="1800" dirty="0" err="1">
                <a:solidFill>
                  <a:srgbClr val="808080"/>
                </a:solidFill>
                <a:latin typeface="Consolas" panose="020B0609020204030204" pitchFamily="49" charset="0"/>
              </a:rPr>
              <a:t>rhs</a:t>
            </a:r>
            <a:r>
              <a:rPr lang="en-US" sz="1800" dirty="0" err="1">
                <a:solidFill>
                  <a:srgbClr val="000000"/>
                </a:solidFill>
                <a:latin typeface="Consolas" panose="020B0609020204030204" pitchFamily="49" charset="0"/>
              </a:rPr>
              <a:t>.numer</a:t>
            </a:r>
            <a:r>
              <a:rPr lang="en-US" sz="1800" dirty="0">
                <a:solidFill>
                  <a:srgbClr val="000000"/>
                </a:solidFill>
                <a:latin typeface="Consolas" panose="020B0609020204030204" pitchFamily="49" charset="0"/>
              </a:rPr>
              <a:t>;</a:t>
            </a:r>
          </a:p>
          <a:p>
            <a:pPr marL="0" indent="0">
              <a:lnSpc>
                <a:spcPct val="120000"/>
              </a:lnSpc>
              <a:spcBef>
                <a:spcPts val="0"/>
              </a:spcBef>
              <a:spcAft>
                <a:spcPts val="0"/>
              </a:spcAft>
              <a:buNone/>
            </a:pP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denom</a:t>
            </a:r>
            <a:r>
              <a:rPr lang="en-US" sz="1800" dirty="0">
                <a:solidFill>
                  <a:srgbClr val="000000"/>
                </a:solidFill>
                <a:latin typeface="Consolas" panose="020B0609020204030204" pitchFamily="49" charset="0"/>
              </a:rPr>
              <a:t> = </a:t>
            </a:r>
            <a:r>
              <a:rPr lang="en-US" sz="1800" dirty="0" err="1">
                <a:solidFill>
                  <a:srgbClr val="808080"/>
                </a:solidFill>
                <a:latin typeface="Consolas" panose="020B0609020204030204" pitchFamily="49" charset="0"/>
              </a:rPr>
              <a:t>rhs</a:t>
            </a:r>
            <a:r>
              <a:rPr lang="en-US" sz="1800" dirty="0" err="1">
                <a:solidFill>
                  <a:srgbClr val="000000"/>
                </a:solidFill>
                <a:latin typeface="Consolas" panose="020B0609020204030204" pitchFamily="49" charset="0"/>
              </a:rPr>
              <a:t>.denom</a:t>
            </a:r>
            <a:r>
              <a:rPr lang="en-US" sz="1800" dirty="0">
                <a:solidFill>
                  <a:srgbClr val="000000"/>
                </a:solidFill>
                <a:latin typeface="Consolas" panose="020B0609020204030204" pitchFamily="49" charset="0"/>
              </a:rPr>
              <a:t>;</a:t>
            </a:r>
          </a:p>
          <a:p>
            <a:pPr marL="0" indent="0">
              <a:lnSpc>
                <a:spcPct val="120000"/>
              </a:lnSpc>
              <a:spcBef>
                <a:spcPts val="0"/>
              </a:spcBef>
              <a:spcAft>
                <a:spcPts val="0"/>
              </a:spcAft>
              <a:buNone/>
            </a:pPr>
            <a:r>
              <a:rPr lang="en-US" sz="1800" dirty="0">
                <a:solidFill>
                  <a:srgbClr val="000000"/>
                </a:solidFill>
                <a:latin typeface="Consolas" panose="020B0609020204030204" pitchFamily="49" charset="0"/>
              </a:rPr>
              <a:t>   </a:t>
            </a:r>
            <a:r>
              <a:rPr lang="bg-BG" sz="1800" dirty="0">
                <a:solidFill>
                  <a:srgbClr val="000000"/>
                </a:solidFill>
                <a:latin typeface="Consolas" panose="020B0609020204030204" pitchFamily="49" charset="0"/>
              </a:rPr>
              <a:t>}</a:t>
            </a:r>
          </a:p>
          <a:p>
            <a:pPr marL="0" indent="0">
              <a:lnSpc>
                <a:spcPct val="120000"/>
              </a:lnSpc>
              <a:spcBef>
                <a:spcPts val="0"/>
              </a:spcBef>
              <a:spcAft>
                <a:spcPts val="0"/>
              </a:spcAft>
              <a:buNone/>
            </a:pPr>
            <a:r>
              <a:rPr lang="en-US" sz="1800" dirty="0">
                <a:solidFill>
                  <a:srgbClr val="0000FF"/>
                </a:solidFill>
                <a:latin typeface="Consolas" panose="020B0609020204030204" pitchFamily="49" charset="0"/>
              </a:rPr>
              <a:t>   return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this</a:t>
            </a:r>
            <a:r>
              <a:rPr lang="en-US" sz="1800" dirty="0">
                <a:solidFill>
                  <a:srgbClr val="000000"/>
                </a:solidFill>
                <a:latin typeface="Consolas" panose="020B0609020204030204" pitchFamily="49" charset="0"/>
              </a:rPr>
              <a:t>;</a:t>
            </a:r>
          </a:p>
          <a:p>
            <a:pPr marL="0" indent="0">
              <a:lnSpc>
                <a:spcPct val="120000"/>
              </a:lnSpc>
              <a:spcBef>
                <a:spcPts val="0"/>
              </a:spcBef>
              <a:spcAft>
                <a:spcPts val="0"/>
              </a:spcAft>
              <a:buNone/>
            </a:pPr>
            <a:r>
              <a:rPr lang="bg-BG" sz="1800" dirty="0">
                <a:solidFill>
                  <a:srgbClr val="000000"/>
                </a:solidFill>
                <a:latin typeface="Consolas" panose="020B0609020204030204" pitchFamily="49" charset="0"/>
              </a:rPr>
              <a:t>}</a:t>
            </a:r>
          </a:p>
          <a:p>
            <a:pPr marL="0" indent="0">
              <a:lnSpc>
                <a:spcPct val="120000"/>
              </a:lnSpc>
              <a:spcBef>
                <a:spcPts val="0"/>
              </a:spcBef>
              <a:spcAft>
                <a:spcPts val="0"/>
              </a:spcAft>
              <a:buNone/>
            </a:pPr>
            <a:endParaRPr lang="bg-BG" sz="1000" dirty="0">
              <a:solidFill>
                <a:srgbClr val="000000"/>
              </a:solidFill>
              <a:latin typeface="Consolas" panose="020B0609020204030204" pitchFamily="49" charset="0"/>
            </a:endParaRPr>
          </a:p>
          <a:p>
            <a:pPr marL="0" indent="0">
              <a:lnSpc>
                <a:spcPct val="120000"/>
              </a:lnSpc>
              <a:spcBef>
                <a:spcPts val="0"/>
              </a:spcBef>
              <a:spcAft>
                <a:spcPts val="0"/>
              </a:spcAft>
              <a:buNone/>
            </a:pPr>
            <a:r>
              <a:rPr lang="en-US" sz="1800" dirty="0">
                <a:solidFill>
                  <a:srgbClr val="0000FF"/>
                </a:solidFill>
                <a:latin typeface="Consolas" panose="020B0609020204030204" pitchFamily="49" charset="0"/>
              </a:rPr>
              <a:t>const</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 &amp;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a:t>
            </a:r>
            <a:r>
              <a:rPr lang="en-US" sz="1800" dirty="0">
                <a:solidFill>
                  <a:srgbClr val="008080"/>
                </a:solidFill>
                <a:latin typeface="Consolas" panose="020B0609020204030204" pitchFamily="49" charset="0"/>
              </a:rPr>
              <a:t>operator+=</a:t>
            </a:r>
            <a:r>
              <a:rPr lang="en-US" sz="1800" dirty="0">
                <a:solidFill>
                  <a:srgbClr val="000000"/>
                </a:solidFill>
                <a:latin typeface="Consolas" panose="020B0609020204030204" pitchFamily="49" charset="0"/>
              </a:rPr>
              <a:t>(</a:t>
            </a:r>
            <a:r>
              <a:rPr lang="en-US" sz="1800" dirty="0">
                <a:solidFill>
                  <a:srgbClr val="0000FF"/>
                </a:solidFill>
                <a:latin typeface="Consolas" panose="020B0609020204030204" pitchFamily="49" charset="0"/>
              </a:rPr>
              <a:t>const</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 &amp; </a:t>
            </a:r>
            <a:r>
              <a:rPr lang="en-US" sz="1800" dirty="0" err="1">
                <a:solidFill>
                  <a:srgbClr val="808080"/>
                </a:solidFill>
                <a:latin typeface="Consolas" panose="020B0609020204030204" pitchFamily="49" charset="0"/>
              </a:rPr>
              <a:t>rhs</a:t>
            </a:r>
            <a:r>
              <a:rPr lang="en-US" sz="1800" dirty="0">
                <a:solidFill>
                  <a:srgbClr val="000000"/>
                </a:solidFill>
                <a:latin typeface="Consolas" panose="020B0609020204030204" pitchFamily="49" charset="0"/>
              </a:rPr>
              <a:t>) </a:t>
            </a:r>
            <a:r>
              <a:rPr lang="bg-BG" sz="1800" dirty="0">
                <a:solidFill>
                  <a:srgbClr val="000000"/>
                </a:solidFill>
                <a:latin typeface="Consolas" panose="020B0609020204030204" pitchFamily="49" charset="0"/>
              </a:rPr>
              <a:t>{</a:t>
            </a:r>
          </a:p>
          <a:p>
            <a:pPr marL="0" indent="0">
              <a:lnSpc>
                <a:spcPct val="120000"/>
              </a:lnSpc>
              <a:spcBef>
                <a:spcPts val="0"/>
              </a:spcBef>
              <a:spcAft>
                <a:spcPts val="0"/>
              </a:spcAft>
              <a:buNone/>
            </a:pPr>
            <a:r>
              <a:rPr lang="sv-SE" sz="1800" dirty="0">
                <a:solidFill>
                  <a:srgbClr val="000000"/>
                </a:solidFill>
                <a:latin typeface="Consolas" panose="020B0609020204030204" pitchFamily="49" charset="0"/>
              </a:rPr>
              <a:t>   numer = numer * </a:t>
            </a:r>
            <a:r>
              <a:rPr lang="sv-SE" sz="1800" dirty="0">
                <a:solidFill>
                  <a:srgbClr val="808080"/>
                </a:solidFill>
                <a:latin typeface="Consolas" panose="020B0609020204030204" pitchFamily="49" charset="0"/>
              </a:rPr>
              <a:t>rhs</a:t>
            </a:r>
            <a:r>
              <a:rPr lang="sv-SE" sz="1800" dirty="0">
                <a:solidFill>
                  <a:srgbClr val="000000"/>
                </a:solidFill>
                <a:latin typeface="Consolas" panose="020B0609020204030204" pitchFamily="49" charset="0"/>
              </a:rPr>
              <a:t>.denom + </a:t>
            </a:r>
            <a:r>
              <a:rPr lang="sv-SE" sz="1800" dirty="0">
                <a:solidFill>
                  <a:srgbClr val="808080"/>
                </a:solidFill>
                <a:latin typeface="Consolas" panose="020B0609020204030204" pitchFamily="49" charset="0"/>
              </a:rPr>
              <a:t>rhs</a:t>
            </a:r>
            <a:r>
              <a:rPr lang="sv-SE" sz="1800" dirty="0">
                <a:solidFill>
                  <a:srgbClr val="000000"/>
                </a:solidFill>
                <a:latin typeface="Consolas" panose="020B0609020204030204" pitchFamily="49" charset="0"/>
              </a:rPr>
              <a:t>.numer * denom;</a:t>
            </a:r>
          </a:p>
          <a:p>
            <a:pPr marL="0" indent="0">
              <a:lnSpc>
                <a:spcPct val="120000"/>
              </a:lnSpc>
              <a:spcBef>
                <a:spcPts val="0"/>
              </a:spcBef>
              <a:spcAft>
                <a:spcPts val="0"/>
              </a:spcAft>
              <a:buNone/>
            </a:pP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denom</a:t>
            </a:r>
            <a:r>
              <a:rPr lang="en-US" sz="1800" dirty="0">
                <a:solidFill>
                  <a:srgbClr val="000000"/>
                </a:solidFill>
                <a:latin typeface="Consolas" panose="020B0609020204030204" pitchFamily="49" charset="0"/>
              </a:rPr>
              <a:t> = </a:t>
            </a:r>
            <a:r>
              <a:rPr lang="en-US" sz="1800" dirty="0" err="1">
                <a:solidFill>
                  <a:srgbClr val="000000"/>
                </a:solidFill>
                <a:latin typeface="Consolas" panose="020B0609020204030204" pitchFamily="49" charset="0"/>
              </a:rPr>
              <a:t>denom</a:t>
            </a:r>
            <a:r>
              <a:rPr lang="en-US" sz="1800" dirty="0">
                <a:solidFill>
                  <a:srgbClr val="000000"/>
                </a:solidFill>
                <a:latin typeface="Consolas" panose="020B0609020204030204" pitchFamily="49" charset="0"/>
              </a:rPr>
              <a:t> * </a:t>
            </a:r>
            <a:r>
              <a:rPr lang="en-US" sz="1800" dirty="0" err="1">
                <a:solidFill>
                  <a:srgbClr val="808080"/>
                </a:solidFill>
                <a:latin typeface="Consolas" panose="020B0609020204030204" pitchFamily="49" charset="0"/>
              </a:rPr>
              <a:t>rhs</a:t>
            </a:r>
            <a:r>
              <a:rPr lang="en-US" sz="1800" dirty="0" err="1">
                <a:solidFill>
                  <a:srgbClr val="000000"/>
                </a:solidFill>
                <a:latin typeface="Consolas" panose="020B0609020204030204" pitchFamily="49" charset="0"/>
              </a:rPr>
              <a:t>.denom</a:t>
            </a:r>
            <a:r>
              <a:rPr lang="en-US" sz="1800" dirty="0">
                <a:solidFill>
                  <a:srgbClr val="000000"/>
                </a:solidFill>
                <a:latin typeface="Consolas" panose="020B0609020204030204" pitchFamily="49" charset="0"/>
              </a:rPr>
              <a:t>;</a:t>
            </a:r>
          </a:p>
          <a:p>
            <a:pPr marL="0" indent="0">
              <a:lnSpc>
                <a:spcPct val="120000"/>
              </a:lnSpc>
              <a:spcBef>
                <a:spcPts val="0"/>
              </a:spcBef>
              <a:spcAft>
                <a:spcPts val="0"/>
              </a:spcAft>
              <a:buNone/>
            </a:pPr>
            <a:r>
              <a:rPr lang="en-US" sz="1800" dirty="0">
                <a:solidFill>
                  <a:srgbClr val="000000"/>
                </a:solidFill>
                <a:latin typeface="Consolas" panose="020B0609020204030204" pitchFamily="49" charset="0"/>
              </a:rPr>
              <a:t>   normalize();</a:t>
            </a:r>
          </a:p>
          <a:p>
            <a:pPr marL="0" indent="0">
              <a:lnSpc>
                <a:spcPct val="120000"/>
              </a:lnSpc>
              <a:spcBef>
                <a:spcPts val="0"/>
              </a:spcBef>
              <a:spcAft>
                <a:spcPts val="0"/>
              </a:spcAft>
              <a:buNone/>
            </a:pPr>
            <a:r>
              <a:rPr lang="en-US" sz="1800" dirty="0">
                <a:solidFill>
                  <a:srgbClr val="0000FF"/>
                </a:solidFill>
                <a:latin typeface="Consolas" panose="020B0609020204030204" pitchFamily="49" charset="0"/>
              </a:rPr>
              <a:t>   return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this</a:t>
            </a:r>
            <a:r>
              <a:rPr lang="en-US" sz="1800" dirty="0">
                <a:solidFill>
                  <a:srgbClr val="000000"/>
                </a:solidFill>
                <a:latin typeface="Consolas" panose="020B0609020204030204" pitchFamily="49" charset="0"/>
              </a:rPr>
              <a:t>;</a:t>
            </a:r>
          </a:p>
          <a:p>
            <a:pPr marL="0" indent="0">
              <a:lnSpc>
                <a:spcPct val="120000"/>
              </a:lnSpc>
              <a:spcBef>
                <a:spcPts val="0"/>
              </a:spcBef>
              <a:spcAft>
                <a:spcPts val="0"/>
              </a:spcAft>
              <a:buNone/>
            </a:pPr>
            <a:r>
              <a:rPr lang="bg-BG" sz="1800" dirty="0">
                <a:solidFill>
                  <a:srgbClr val="000000"/>
                </a:solidFill>
                <a:latin typeface="Consolas" panose="020B0609020204030204" pitchFamily="49" charset="0"/>
              </a:rPr>
              <a:t>}</a:t>
            </a:r>
            <a:endParaRPr lang="bg-BG" sz="1800" b="1"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20</a:t>
            </a:fld>
            <a:endParaRPr lang="en-US"/>
          </a:p>
        </p:txBody>
      </p:sp>
      <p:sp>
        <p:nvSpPr>
          <p:cNvPr id="5" name="TextBox 4">
            <a:extLst>
              <a:ext uri="{FF2B5EF4-FFF2-40B4-BE49-F238E27FC236}">
                <a16:creationId xmlns:a16="http://schemas.microsoft.com/office/drawing/2014/main" id="{7114D20B-021D-584B-AB4C-8DEAC71C6773}"/>
              </a:ext>
            </a:extLst>
          </p:cNvPr>
          <p:cNvSpPr txBox="1"/>
          <p:nvPr/>
        </p:nvSpPr>
        <p:spPr>
          <a:xfrm>
            <a:off x="9400854" y="4150760"/>
            <a:ext cx="390418" cy="431514"/>
          </a:xfrm>
          <a:prstGeom prst="rect">
            <a:avLst/>
          </a:prstGeom>
          <a:noFill/>
        </p:spPr>
        <p:txBody>
          <a:bodyPr wrap="square" rtlCol="0">
            <a:spAutoFit/>
          </a:bodyPr>
          <a:lstStyle/>
          <a:p>
            <a:endParaRPr lang="en-BG" dirty="0"/>
          </a:p>
        </p:txBody>
      </p:sp>
      <p:pic>
        <p:nvPicPr>
          <p:cNvPr id="9" name="Picture 8">
            <a:extLst>
              <a:ext uri="{FF2B5EF4-FFF2-40B4-BE49-F238E27FC236}">
                <a16:creationId xmlns:a16="http://schemas.microsoft.com/office/drawing/2014/main" id="{D64AE1FB-7163-6444-AD9A-EF82E1DCC1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1622" y="5120641"/>
            <a:ext cx="6455220" cy="1016856"/>
          </a:xfrm>
          <a:prstGeom prst="rect">
            <a:avLst/>
          </a:prstGeom>
        </p:spPr>
      </p:pic>
    </p:spTree>
    <p:extLst>
      <p:ext uri="{BB962C8B-B14F-4D97-AF65-F5344CB8AC3E}">
        <p14:creationId xmlns:p14="http://schemas.microsoft.com/office/powerpoint/2010/main" val="28499464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3"/>
            <a:ext cx="10058401" cy="1450757"/>
          </a:xfrm>
        </p:spPr>
        <p:txBody>
          <a:bodyPr>
            <a:normAutofit fontScale="90000"/>
          </a:bodyPr>
          <a:lstStyle/>
          <a:p>
            <a:r>
              <a:rPr lang="en-US" b="1" dirty="0"/>
              <a:t>Rational</a:t>
            </a:r>
            <a:r>
              <a:rPr lang="en-US" dirty="0"/>
              <a:t> Class Implementation – </a:t>
            </a:r>
            <a:br>
              <a:rPr lang="en-US" dirty="0"/>
            </a:br>
            <a:r>
              <a:rPr lang="en-US" dirty="0"/>
              <a:t>Arithmetic and Relational Operators (partial)</a:t>
            </a:r>
            <a:endParaRPr lang="bg-BG" dirty="0"/>
          </a:p>
        </p:txBody>
      </p:sp>
      <p:sp>
        <p:nvSpPr>
          <p:cNvPr id="3" name="Content Placeholder 2"/>
          <p:cNvSpPr>
            <a:spLocks noGrp="1"/>
          </p:cNvSpPr>
          <p:nvPr>
            <p:ph idx="1"/>
          </p:nvPr>
        </p:nvSpPr>
        <p:spPr>
          <a:xfrm>
            <a:off x="1097280" y="1845733"/>
            <a:ext cx="10058400" cy="4474385"/>
          </a:xfrm>
        </p:spPr>
        <p:txBody>
          <a:bodyPr>
            <a:noAutofit/>
          </a:bodyPr>
          <a:lstStyle/>
          <a:p>
            <a:pPr marL="0" indent="0">
              <a:lnSpc>
                <a:spcPct val="100000"/>
              </a:lnSpc>
              <a:spcBef>
                <a:spcPts val="0"/>
              </a:spcBef>
              <a:spcAft>
                <a:spcPts val="0"/>
              </a:spcAft>
              <a:buNone/>
            </a:pP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a:t>
            </a:r>
            <a:r>
              <a:rPr lang="en-US" sz="1800" dirty="0">
                <a:solidFill>
                  <a:srgbClr val="008080"/>
                </a:solidFill>
                <a:latin typeface="Consolas" panose="020B0609020204030204" pitchFamily="49" charset="0"/>
              </a:rPr>
              <a:t>operator+</a:t>
            </a:r>
            <a:r>
              <a:rPr lang="en-US" sz="1800" dirty="0">
                <a:solidFill>
                  <a:srgbClr val="000000"/>
                </a:solidFill>
                <a:latin typeface="Consolas" panose="020B0609020204030204" pitchFamily="49" charset="0"/>
              </a:rPr>
              <a:t>(</a:t>
            </a:r>
            <a:r>
              <a:rPr lang="en-US" sz="1800" dirty="0">
                <a:solidFill>
                  <a:srgbClr val="0000FF"/>
                </a:solidFill>
                <a:latin typeface="Consolas" panose="020B0609020204030204" pitchFamily="49" charset="0"/>
              </a:rPr>
              <a:t>const</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 &amp; </a:t>
            </a:r>
            <a:r>
              <a:rPr lang="en-US" sz="1800" dirty="0" err="1">
                <a:solidFill>
                  <a:srgbClr val="808080"/>
                </a:solidFill>
                <a:latin typeface="Consolas" panose="020B0609020204030204" pitchFamily="49" charset="0"/>
              </a:rPr>
              <a:t>rhs</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const</a:t>
            </a:r>
            <a:endParaRPr lang="en-US" sz="1800" dirty="0">
              <a:solidFill>
                <a:srgbClr val="000000"/>
              </a:solidFill>
              <a:latin typeface="Consolas" panose="020B0609020204030204" pitchFamily="49" charset="0"/>
            </a:endParaRPr>
          </a:p>
          <a:p>
            <a:pPr marL="0" indent="0">
              <a:lnSpc>
                <a:spcPct val="100000"/>
              </a:lnSpc>
              <a:spcBef>
                <a:spcPts val="0"/>
              </a:spcBef>
              <a:spcAft>
                <a:spcPts val="0"/>
              </a:spcAft>
              <a:buNone/>
            </a:pPr>
            <a:r>
              <a:rPr lang="bg-BG" sz="1800" dirty="0">
                <a:solidFill>
                  <a:srgbClr val="000000"/>
                </a:solidFill>
                <a:latin typeface="Consolas" panose="020B0609020204030204" pitchFamily="49" charset="0"/>
              </a:rPr>
              <a:t>{</a:t>
            </a:r>
          </a:p>
          <a:p>
            <a:pPr marL="0" indent="0">
              <a:lnSpc>
                <a:spcPct val="100000"/>
              </a:lnSpc>
              <a:spcBef>
                <a:spcPts val="0"/>
              </a:spcBef>
              <a:spcAft>
                <a:spcPts val="0"/>
              </a:spcAft>
              <a:buNone/>
            </a:pPr>
            <a:r>
              <a:rPr lang="en-US" sz="1800" dirty="0">
                <a:solidFill>
                  <a:srgbClr val="2B91AF"/>
                </a:solidFill>
                <a:latin typeface="Consolas" panose="020B0609020204030204" pitchFamily="49" charset="0"/>
              </a:rPr>
              <a:t>   Rational</a:t>
            </a:r>
            <a:r>
              <a:rPr lang="en-US" sz="1800" dirty="0">
                <a:solidFill>
                  <a:srgbClr val="000000"/>
                </a:solidFill>
                <a:latin typeface="Consolas" panose="020B0609020204030204" pitchFamily="49" charset="0"/>
              </a:rPr>
              <a:t> answer(*</a:t>
            </a:r>
            <a:r>
              <a:rPr lang="en-US" sz="1800" dirty="0">
                <a:solidFill>
                  <a:srgbClr val="0000FF"/>
                </a:solidFill>
                <a:latin typeface="Consolas" panose="020B0609020204030204" pitchFamily="49" charset="0"/>
              </a:rPr>
              <a:t>this</a:t>
            </a:r>
            <a:r>
              <a:rPr lang="en-US" sz="1800" dirty="0">
                <a:solidFill>
                  <a:srgbClr val="000000"/>
                </a:solidFill>
                <a:latin typeface="Consolas" panose="020B0609020204030204" pitchFamily="49" charset="0"/>
              </a:rPr>
              <a:t>);</a:t>
            </a:r>
          </a:p>
          <a:p>
            <a:pPr marL="0" indent="0">
              <a:lnSpc>
                <a:spcPct val="100000"/>
              </a:lnSpc>
              <a:spcBef>
                <a:spcPts val="0"/>
              </a:spcBef>
              <a:spcAft>
                <a:spcPts val="0"/>
              </a:spcAft>
              <a:buNone/>
            </a:pPr>
            <a:r>
              <a:rPr lang="en-US" sz="1800" dirty="0">
                <a:solidFill>
                  <a:srgbClr val="000000"/>
                </a:solidFill>
                <a:latin typeface="Consolas" panose="020B0609020204030204" pitchFamily="49" charset="0"/>
              </a:rPr>
              <a:t>   answer </a:t>
            </a:r>
            <a:r>
              <a:rPr lang="en-US" sz="1800" dirty="0">
                <a:solidFill>
                  <a:srgbClr val="0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808080"/>
                </a:solidFill>
                <a:latin typeface="Consolas" panose="020B0609020204030204" pitchFamily="49" charset="0"/>
              </a:rPr>
              <a:t>rhs</a:t>
            </a:r>
            <a:r>
              <a:rPr lang="en-US" sz="1800" dirty="0">
                <a:solidFill>
                  <a:srgbClr val="000000"/>
                </a:solidFill>
                <a:latin typeface="Consolas" panose="020B0609020204030204" pitchFamily="49" charset="0"/>
              </a:rPr>
              <a:t>; </a:t>
            </a:r>
            <a:r>
              <a:rPr lang="en-US" sz="1700" dirty="0">
                <a:solidFill>
                  <a:srgbClr val="008000"/>
                </a:solidFill>
                <a:latin typeface="Consolas" panose="020B0609020204030204" pitchFamily="49" charset="0"/>
              </a:rPr>
              <a:t>// we already implemented operator+= so we could use it</a:t>
            </a:r>
          </a:p>
          <a:p>
            <a:pPr marL="0" indent="0">
              <a:lnSpc>
                <a:spcPct val="100000"/>
              </a:lnSpc>
              <a:spcBef>
                <a:spcPts val="0"/>
              </a:spcBef>
              <a:spcAft>
                <a:spcPts val="0"/>
              </a:spcAft>
              <a:buNone/>
            </a:pPr>
            <a:r>
              <a:rPr lang="en-US" sz="1800" dirty="0">
                <a:solidFill>
                  <a:srgbClr val="0000FF"/>
                </a:solidFill>
                <a:latin typeface="Consolas" panose="020B0609020204030204" pitchFamily="49" charset="0"/>
              </a:rPr>
              <a:t>   return</a:t>
            </a:r>
            <a:r>
              <a:rPr lang="en-US" sz="1800" dirty="0">
                <a:solidFill>
                  <a:srgbClr val="000000"/>
                </a:solidFill>
                <a:latin typeface="Consolas" panose="020B0609020204030204" pitchFamily="49" charset="0"/>
              </a:rPr>
              <a:t> answer;</a:t>
            </a:r>
          </a:p>
          <a:p>
            <a:pPr marL="0" indent="0">
              <a:lnSpc>
                <a:spcPct val="100000"/>
              </a:lnSpc>
              <a:spcBef>
                <a:spcPts val="0"/>
              </a:spcBef>
              <a:spcAft>
                <a:spcPts val="0"/>
              </a:spcAft>
              <a:buNone/>
            </a:pPr>
            <a:r>
              <a:rPr lang="bg-BG" sz="1800" dirty="0">
                <a:solidFill>
                  <a:srgbClr val="000000"/>
                </a:solidFill>
                <a:latin typeface="Consolas" panose="020B0609020204030204" pitchFamily="49" charset="0"/>
              </a:rPr>
              <a:t>}</a:t>
            </a:r>
          </a:p>
          <a:p>
            <a:pPr marL="0" indent="0">
              <a:lnSpc>
                <a:spcPct val="100000"/>
              </a:lnSpc>
              <a:spcBef>
                <a:spcPts val="0"/>
              </a:spcBef>
              <a:spcAft>
                <a:spcPts val="0"/>
              </a:spcAft>
              <a:buNone/>
            </a:pPr>
            <a:endParaRPr lang="bg-BG" sz="18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800" dirty="0">
                <a:solidFill>
                  <a:srgbClr val="0000FF"/>
                </a:solidFill>
                <a:latin typeface="Consolas" panose="020B0609020204030204" pitchFamily="49" charset="0"/>
              </a:rPr>
              <a:t>bool</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a:t>
            </a:r>
            <a:r>
              <a:rPr lang="en-US" sz="1800" dirty="0">
                <a:solidFill>
                  <a:srgbClr val="008080"/>
                </a:solidFill>
                <a:latin typeface="Consolas" panose="020B0609020204030204" pitchFamily="49" charset="0"/>
              </a:rPr>
              <a:t>operator==</a:t>
            </a:r>
            <a:r>
              <a:rPr lang="en-US" sz="1800" dirty="0">
                <a:solidFill>
                  <a:srgbClr val="000000"/>
                </a:solidFill>
                <a:latin typeface="Consolas" panose="020B0609020204030204" pitchFamily="49" charset="0"/>
              </a:rPr>
              <a:t>(</a:t>
            </a:r>
            <a:r>
              <a:rPr lang="en-US" sz="1800" dirty="0">
                <a:solidFill>
                  <a:srgbClr val="0000FF"/>
                </a:solidFill>
                <a:latin typeface="Consolas" panose="020B0609020204030204" pitchFamily="49" charset="0"/>
              </a:rPr>
              <a:t>const</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 &amp; </a:t>
            </a:r>
            <a:r>
              <a:rPr lang="en-US" sz="1800" dirty="0" err="1">
                <a:solidFill>
                  <a:srgbClr val="808080"/>
                </a:solidFill>
                <a:latin typeface="Consolas" panose="020B0609020204030204" pitchFamily="49" charset="0"/>
              </a:rPr>
              <a:t>rhs</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const</a:t>
            </a:r>
            <a:endParaRPr lang="en-US" sz="1800" dirty="0">
              <a:solidFill>
                <a:srgbClr val="000000"/>
              </a:solidFill>
              <a:latin typeface="Consolas" panose="020B0609020204030204" pitchFamily="49" charset="0"/>
            </a:endParaRPr>
          </a:p>
          <a:p>
            <a:pPr marL="0" indent="0">
              <a:lnSpc>
                <a:spcPct val="100000"/>
              </a:lnSpc>
              <a:spcBef>
                <a:spcPts val="0"/>
              </a:spcBef>
              <a:spcAft>
                <a:spcPts val="0"/>
              </a:spcAft>
              <a:buNone/>
            </a:pPr>
            <a:r>
              <a:rPr lang="bg-BG" sz="1800" dirty="0">
                <a:solidFill>
                  <a:srgbClr val="000000"/>
                </a:solidFill>
                <a:latin typeface="Consolas" panose="020B0609020204030204" pitchFamily="49" charset="0"/>
              </a:rPr>
              <a:t>{</a:t>
            </a:r>
          </a:p>
          <a:p>
            <a:pPr marL="0" indent="0">
              <a:lnSpc>
                <a:spcPct val="100000"/>
              </a:lnSpc>
              <a:spcBef>
                <a:spcPts val="0"/>
              </a:spcBef>
              <a:spcAft>
                <a:spcPts val="0"/>
              </a:spcAft>
              <a:buNone/>
            </a:pPr>
            <a:r>
              <a:rPr lang="en-US" sz="1800" dirty="0">
                <a:solidFill>
                  <a:srgbClr val="0000FF"/>
                </a:solidFill>
                <a:latin typeface="Consolas" panose="020B0609020204030204" pitchFamily="49" charset="0"/>
              </a:rPr>
              <a:t>   return</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numer</a:t>
            </a:r>
            <a:r>
              <a:rPr lang="en-US" sz="1800" dirty="0">
                <a:solidFill>
                  <a:srgbClr val="000000"/>
                </a:solidFill>
                <a:latin typeface="Consolas" panose="020B0609020204030204" pitchFamily="49" charset="0"/>
              </a:rPr>
              <a:t> * </a:t>
            </a:r>
            <a:r>
              <a:rPr lang="en-US" sz="1800" dirty="0" err="1">
                <a:solidFill>
                  <a:srgbClr val="808080"/>
                </a:solidFill>
                <a:latin typeface="Consolas" panose="020B0609020204030204" pitchFamily="49" charset="0"/>
              </a:rPr>
              <a:t>rhs</a:t>
            </a:r>
            <a:r>
              <a:rPr lang="en-US" sz="1800" dirty="0" err="1">
                <a:solidFill>
                  <a:srgbClr val="000000"/>
                </a:solidFill>
                <a:latin typeface="Consolas" panose="020B0609020204030204" pitchFamily="49" charset="0"/>
              </a:rPr>
              <a:t>.denom</a:t>
            </a:r>
            <a:r>
              <a:rPr lang="en-US" sz="1800" dirty="0">
                <a:solidFill>
                  <a:srgbClr val="000000"/>
                </a:solidFill>
                <a:latin typeface="Consolas" panose="020B0609020204030204" pitchFamily="49" charset="0"/>
              </a:rPr>
              <a:t> == </a:t>
            </a:r>
            <a:r>
              <a:rPr lang="en-US" sz="1800" dirty="0" err="1">
                <a:solidFill>
                  <a:srgbClr val="000000"/>
                </a:solidFill>
                <a:latin typeface="Consolas" panose="020B0609020204030204" pitchFamily="49" charset="0"/>
              </a:rPr>
              <a:t>denom</a:t>
            </a:r>
            <a:r>
              <a:rPr lang="en-US" sz="1800" dirty="0">
                <a:solidFill>
                  <a:srgbClr val="000000"/>
                </a:solidFill>
                <a:latin typeface="Consolas" panose="020B0609020204030204" pitchFamily="49" charset="0"/>
              </a:rPr>
              <a:t> * </a:t>
            </a:r>
            <a:r>
              <a:rPr lang="en-US" sz="1800" dirty="0" err="1">
                <a:solidFill>
                  <a:srgbClr val="808080"/>
                </a:solidFill>
                <a:latin typeface="Consolas" panose="020B0609020204030204" pitchFamily="49" charset="0"/>
              </a:rPr>
              <a:t>rhs</a:t>
            </a:r>
            <a:r>
              <a:rPr lang="en-US" sz="1800" dirty="0" err="1">
                <a:solidFill>
                  <a:srgbClr val="000000"/>
                </a:solidFill>
                <a:latin typeface="Consolas" panose="020B0609020204030204" pitchFamily="49" charset="0"/>
              </a:rPr>
              <a:t>.numer</a:t>
            </a:r>
            <a:r>
              <a:rPr lang="en-US" sz="1800" dirty="0">
                <a:solidFill>
                  <a:srgbClr val="000000"/>
                </a:solidFill>
                <a:latin typeface="Consolas" panose="020B0609020204030204" pitchFamily="49" charset="0"/>
              </a:rPr>
              <a:t>;</a:t>
            </a:r>
          </a:p>
          <a:p>
            <a:pPr marL="0" indent="0">
              <a:lnSpc>
                <a:spcPct val="100000"/>
              </a:lnSpc>
              <a:spcBef>
                <a:spcPts val="0"/>
              </a:spcBef>
              <a:spcAft>
                <a:spcPts val="0"/>
              </a:spcAft>
              <a:buNone/>
            </a:pPr>
            <a:r>
              <a:rPr lang="bg-BG" sz="1800" dirty="0">
                <a:solidFill>
                  <a:srgbClr val="000000"/>
                </a:solidFill>
                <a:latin typeface="Consolas" panose="020B0609020204030204" pitchFamily="49" charset="0"/>
              </a:rPr>
              <a:t>}</a:t>
            </a:r>
            <a:endParaRPr lang="bg-BG" sz="1800" b="1"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21</a:t>
            </a:fld>
            <a:endParaRPr lang="en-US"/>
          </a:p>
        </p:txBody>
      </p:sp>
    </p:spTree>
    <p:extLst>
      <p:ext uri="{BB962C8B-B14F-4D97-AF65-F5344CB8AC3E}">
        <p14:creationId xmlns:p14="http://schemas.microsoft.com/office/powerpoint/2010/main" val="33708264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3"/>
            <a:ext cx="10243073" cy="1450757"/>
          </a:xfrm>
        </p:spPr>
        <p:txBody>
          <a:bodyPr>
            <a:normAutofit/>
          </a:bodyPr>
          <a:lstStyle/>
          <a:p>
            <a:r>
              <a:rPr lang="en-US" b="1" dirty="0"/>
              <a:t>Rational</a:t>
            </a:r>
            <a:r>
              <a:rPr lang="en-US" dirty="0"/>
              <a:t> Class Implementation – </a:t>
            </a:r>
            <a:br>
              <a:rPr lang="en-US" dirty="0"/>
            </a:br>
            <a:r>
              <a:rPr lang="en-US" dirty="0"/>
              <a:t>Unary Operators (partial)</a:t>
            </a:r>
            <a:endParaRPr lang="bg-BG" dirty="0"/>
          </a:p>
        </p:txBody>
      </p:sp>
      <p:sp>
        <p:nvSpPr>
          <p:cNvPr id="3" name="Content Placeholder 2"/>
          <p:cNvSpPr>
            <a:spLocks noGrp="1"/>
          </p:cNvSpPr>
          <p:nvPr>
            <p:ph idx="1"/>
          </p:nvPr>
        </p:nvSpPr>
        <p:spPr>
          <a:xfrm>
            <a:off x="1097280" y="1800908"/>
            <a:ext cx="10058400" cy="4411631"/>
          </a:xfrm>
        </p:spPr>
        <p:txBody>
          <a:bodyPr>
            <a:noAutofit/>
          </a:bodyPr>
          <a:lstStyle/>
          <a:p>
            <a:pPr marL="0" indent="0">
              <a:lnSpc>
                <a:spcPct val="100000"/>
              </a:lnSpc>
              <a:spcBef>
                <a:spcPts val="0"/>
              </a:spcBef>
              <a:spcAft>
                <a:spcPts val="0"/>
              </a:spcAft>
              <a:buNone/>
            </a:pP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a:t>
            </a:r>
            <a:r>
              <a:rPr lang="en-US" sz="1800" dirty="0">
                <a:solidFill>
                  <a:srgbClr val="008080"/>
                </a:solidFill>
                <a:latin typeface="Consolas" panose="020B0609020204030204" pitchFamily="49" charset="0"/>
              </a:rPr>
              <a:t>operator-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const</a:t>
            </a:r>
            <a:endParaRPr lang="en-US" sz="1800" dirty="0">
              <a:solidFill>
                <a:srgbClr val="000000"/>
              </a:solidFill>
              <a:latin typeface="Consolas" panose="020B0609020204030204" pitchFamily="49" charset="0"/>
            </a:endParaRPr>
          </a:p>
          <a:p>
            <a:pPr marL="0" indent="0">
              <a:lnSpc>
                <a:spcPct val="100000"/>
              </a:lnSpc>
              <a:spcBef>
                <a:spcPts val="0"/>
              </a:spcBef>
              <a:spcAft>
                <a:spcPts val="0"/>
              </a:spcAft>
              <a:buNone/>
            </a:pPr>
            <a:r>
              <a:rPr lang="bg-BG" sz="1800" dirty="0">
                <a:solidFill>
                  <a:srgbClr val="000000"/>
                </a:solidFill>
                <a:latin typeface="Consolas" panose="020B0609020204030204" pitchFamily="49" charset="0"/>
              </a:rPr>
              <a:t>{</a:t>
            </a:r>
          </a:p>
          <a:p>
            <a:pPr marL="0" indent="0">
              <a:lnSpc>
                <a:spcPct val="100000"/>
              </a:lnSpc>
              <a:spcBef>
                <a:spcPts val="0"/>
              </a:spcBef>
              <a:spcAft>
                <a:spcPts val="0"/>
              </a:spcAft>
              <a:buNone/>
            </a:pPr>
            <a:r>
              <a:rPr lang="en-US" sz="1800" dirty="0">
                <a:solidFill>
                  <a:srgbClr val="0000FF"/>
                </a:solidFill>
                <a:latin typeface="Consolas" panose="020B0609020204030204" pitchFamily="49" charset="0"/>
              </a:rPr>
              <a:t>   return</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a:t>
            </a:r>
            <a:r>
              <a:rPr lang="en-US" sz="1800" dirty="0" err="1">
                <a:solidFill>
                  <a:srgbClr val="000000"/>
                </a:solidFill>
                <a:latin typeface="Consolas" panose="020B0609020204030204" pitchFamily="49" charset="0"/>
              </a:rPr>
              <a:t>numer</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denom</a:t>
            </a:r>
            <a:r>
              <a:rPr lang="en-US" sz="1800" dirty="0">
                <a:solidFill>
                  <a:srgbClr val="000000"/>
                </a:solidFill>
                <a:latin typeface="Consolas" panose="020B0609020204030204" pitchFamily="49" charset="0"/>
              </a:rPr>
              <a:t>);</a:t>
            </a:r>
          </a:p>
          <a:p>
            <a:pPr marL="0" indent="0">
              <a:lnSpc>
                <a:spcPct val="100000"/>
              </a:lnSpc>
              <a:spcBef>
                <a:spcPts val="0"/>
              </a:spcBef>
              <a:spcAft>
                <a:spcPts val="0"/>
              </a:spcAft>
              <a:buNone/>
            </a:pPr>
            <a:r>
              <a:rPr lang="bg-BG" sz="1800" dirty="0">
                <a:solidFill>
                  <a:srgbClr val="000000"/>
                </a:solidFill>
                <a:latin typeface="Consolas" panose="020B0609020204030204" pitchFamily="49" charset="0"/>
              </a:rPr>
              <a:t>}</a:t>
            </a:r>
          </a:p>
          <a:p>
            <a:pPr marL="0" indent="0">
              <a:lnSpc>
                <a:spcPct val="100000"/>
              </a:lnSpc>
              <a:spcBef>
                <a:spcPts val="0"/>
              </a:spcBef>
              <a:spcAft>
                <a:spcPts val="0"/>
              </a:spcAft>
              <a:buNone/>
            </a:pPr>
            <a:endParaRPr lang="bg-BG" sz="12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800" dirty="0">
                <a:solidFill>
                  <a:srgbClr val="0000FF"/>
                </a:solidFill>
                <a:latin typeface="Consolas" panose="020B0609020204030204" pitchFamily="49" charset="0"/>
              </a:rPr>
              <a:t>const</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 &amp;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a:t>
            </a:r>
            <a:r>
              <a:rPr lang="en-US" sz="1800" dirty="0">
                <a:solidFill>
                  <a:srgbClr val="008080"/>
                </a:solidFill>
                <a:latin typeface="Consolas" panose="020B0609020204030204" pitchFamily="49" charset="0"/>
              </a:rPr>
              <a:t>operator++</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 prefix form (++r)</a:t>
            </a:r>
            <a:endParaRPr lang="en-US" sz="1800" dirty="0">
              <a:solidFill>
                <a:srgbClr val="000000"/>
              </a:solidFill>
              <a:latin typeface="Consolas" panose="020B0609020204030204" pitchFamily="49" charset="0"/>
            </a:endParaRPr>
          </a:p>
          <a:p>
            <a:pPr marL="0" indent="0">
              <a:lnSpc>
                <a:spcPct val="100000"/>
              </a:lnSpc>
              <a:spcBef>
                <a:spcPts val="0"/>
              </a:spcBef>
              <a:spcAft>
                <a:spcPts val="0"/>
              </a:spcAft>
              <a:buNone/>
            </a:pPr>
            <a:r>
              <a:rPr lang="bg-BG" sz="1800" dirty="0">
                <a:solidFill>
                  <a:srgbClr val="000000"/>
                </a:solidFill>
                <a:latin typeface="Consolas" panose="020B0609020204030204" pitchFamily="49" charset="0"/>
              </a:rPr>
              <a:t>{</a:t>
            </a:r>
          </a:p>
          <a:p>
            <a:pPr marL="0" indent="0">
              <a:lnSpc>
                <a:spcPct val="100000"/>
              </a:lnSpc>
              <a:spcBef>
                <a:spcPts val="0"/>
              </a:spcBef>
              <a:spcAft>
                <a:spcPts val="0"/>
              </a:spcAft>
              <a:buNone/>
            </a:pP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numer</a:t>
            </a:r>
            <a:r>
              <a:rPr lang="en-US" sz="1800" dirty="0">
                <a:solidFill>
                  <a:srgbClr val="000000"/>
                </a:solidFill>
                <a:latin typeface="Consolas" panose="020B0609020204030204" pitchFamily="49" charset="0"/>
              </a:rPr>
              <a:t> += </a:t>
            </a:r>
            <a:r>
              <a:rPr lang="en-US" sz="1800" dirty="0" err="1">
                <a:solidFill>
                  <a:srgbClr val="000000"/>
                </a:solidFill>
                <a:latin typeface="Consolas" panose="020B0609020204030204" pitchFamily="49" charset="0"/>
              </a:rPr>
              <a:t>denom</a:t>
            </a:r>
            <a:r>
              <a:rPr lang="en-US" sz="1800" dirty="0">
                <a:solidFill>
                  <a:srgbClr val="000000"/>
                </a:solidFill>
                <a:latin typeface="Consolas" panose="020B0609020204030204" pitchFamily="49" charset="0"/>
              </a:rPr>
              <a:t>;</a:t>
            </a:r>
          </a:p>
          <a:p>
            <a:pPr marL="0" indent="0">
              <a:lnSpc>
                <a:spcPct val="100000"/>
              </a:lnSpc>
              <a:spcBef>
                <a:spcPts val="0"/>
              </a:spcBef>
              <a:spcAft>
                <a:spcPts val="0"/>
              </a:spcAft>
              <a:buNone/>
            </a:pPr>
            <a:r>
              <a:rPr lang="en-US" sz="1800" dirty="0">
                <a:solidFill>
                  <a:srgbClr val="0000FF"/>
                </a:solidFill>
                <a:latin typeface="Consolas" panose="020B0609020204030204" pitchFamily="49" charset="0"/>
              </a:rPr>
              <a:t>   return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this</a:t>
            </a:r>
            <a:r>
              <a:rPr lang="en-US" sz="1800" dirty="0">
                <a:solidFill>
                  <a:srgbClr val="000000"/>
                </a:solidFill>
                <a:latin typeface="Consolas" panose="020B0609020204030204" pitchFamily="49" charset="0"/>
              </a:rPr>
              <a:t>;</a:t>
            </a:r>
          </a:p>
          <a:p>
            <a:pPr marL="0" indent="0">
              <a:lnSpc>
                <a:spcPct val="100000"/>
              </a:lnSpc>
              <a:spcBef>
                <a:spcPts val="0"/>
              </a:spcBef>
              <a:spcAft>
                <a:spcPts val="0"/>
              </a:spcAft>
              <a:buNone/>
            </a:pPr>
            <a:r>
              <a:rPr lang="bg-BG" sz="1800" dirty="0">
                <a:solidFill>
                  <a:srgbClr val="000000"/>
                </a:solidFill>
                <a:latin typeface="Consolas" panose="020B0609020204030204" pitchFamily="49" charset="0"/>
              </a:rPr>
              <a:t>}</a:t>
            </a:r>
          </a:p>
          <a:p>
            <a:pPr marL="0" indent="0">
              <a:lnSpc>
                <a:spcPct val="100000"/>
              </a:lnSpc>
              <a:spcBef>
                <a:spcPts val="0"/>
              </a:spcBef>
              <a:spcAft>
                <a:spcPts val="0"/>
              </a:spcAft>
              <a:buNone/>
            </a:pPr>
            <a:endParaRPr lang="bg-BG" sz="12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a:t>
            </a:r>
            <a:r>
              <a:rPr lang="en-US" sz="1800" dirty="0">
                <a:solidFill>
                  <a:srgbClr val="008080"/>
                </a:solidFill>
                <a:latin typeface="Consolas" panose="020B0609020204030204" pitchFamily="49" charset="0"/>
              </a:rPr>
              <a:t>operator++</a:t>
            </a:r>
            <a:r>
              <a:rPr lang="en-US" sz="1800" dirty="0">
                <a:solidFill>
                  <a:srgbClr val="000000"/>
                </a:solidFill>
                <a:latin typeface="Consolas" panose="020B0609020204030204" pitchFamily="49" charset="0"/>
              </a:rPr>
              <a:t>(</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 postfix form (r++),</a:t>
            </a:r>
            <a:endParaRPr lang="en-US" sz="1800" dirty="0">
              <a:solidFill>
                <a:srgbClr val="000000"/>
              </a:solidFill>
              <a:latin typeface="Consolas" panose="020B0609020204030204" pitchFamily="49" charset="0"/>
            </a:endParaRPr>
          </a:p>
          <a:p>
            <a:pPr marL="0" indent="0">
              <a:lnSpc>
                <a:spcPct val="100000"/>
              </a:lnSpc>
              <a:spcBef>
                <a:spcPts val="0"/>
              </a:spcBef>
              <a:spcAft>
                <a:spcPts val="0"/>
              </a:spcAft>
              <a:buNone/>
            </a:pPr>
            <a:r>
              <a:rPr lang="bg-BG" sz="1800" dirty="0">
                <a:solidFill>
                  <a:srgbClr val="00000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 int is not formal parameter, so no name</a:t>
            </a:r>
            <a:endParaRPr lang="bg-BG" sz="18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800" dirty="0">
                <a:solidFill>
                  <a:srgbClr val="2B91AF"/>
                </a:solidFill>
                <a:latin typeface="Consolas" panose="020B0609020204030204" pitchFamily="49" charset="0"/>
              </a:rPr>
              <a:t>   Rational</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tmp</a:t>
            </a:r>
            <a:r>
              <a:rPr lang="en-US" sz="1800" dirty="0">
                <a:solidFill>
                  <a:srgbClr val="000000"/>
                </a:solidFill>
                <a:latin typeface="Consolas" panose="020B0609020204030204" pitchFamily="49" charset="0"/>
              </a:rPr>
              <a:t> = *</a:t>
            </a:r>
            <a:r>
              <a:rPr lang="en-US" sz="1800" dirty="0">
                <a:solidFill>
                  <a:srgbClr val="0000FF"/>
                </a:solidFill>
                <a:latin typeface="Consolas" panose="020B0609020204030204" pitchFamily="49" charset="0"/>
              </a:rPr>
              <a:t>this</a:t>
            </a:r>
            <a:r>
              <a:rPr lang="en-US" sz="1800" dirty="0">
                <a:solidFill>
                  <a:srgbClr val="000000"/>
                </a:solidFill>
                <a:latin typeface="Consolas" panose="020B0609020204030204" pitchFamily="49" charset="0"/>
              </a:rPr>
              <a:t>;</a:t>
            </a:r>
          </a:p>
          <a:p>
            <a:pPr marL="0" indent="0">
              <a:lnSpc>
                <a:spcPct val="100000"/>
              </a:lnSpc>
              <a:spcBef>
                <a:spcPts val="0"/>
              </a:spcBef>
              <a:spcAft>
                <a:spcPts val="0"/>
              </a:spcAft>
              <a:buNone/>
            </a:pP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numer</a:t>
            </a:r>
            <a:r>
              <a:rPr lang="en-US" sz="1800" dirty="0">
                <a:solidFill>
                  <a:srgbClr val="000000"/>
                </a:solidFill>
                <a:latin typeface="Consolas" panose="020B0609020204030204" pitchFamily="49" charset="0"/>
              </a:rPr>
              <a:t> += </a:t>
            </a:r>
            <a:r>
              <a:rPr lang="en-US" sz="1800" dirty="0" err="1">
                <a:solidFill>
                  <a:srgbClr val="000000"/>
                </a:solidFill>
                <a:latin typeface="Consolas" panose="020B0609020204030204" pitchFamily="49" charset="0"/>
              </a:rPr>
              <a:t>denom</a:t>
            </a:r>
            <a:r>
              <a:rPr lang="en-US" sz="1800" dirty="0">
                <a:solidFill>
                  <a:srgbClr val="000000"/>
                </a:solidFill>
                <a:latin typeface="Consolas" panose="020B0609020204030204" pitchFamily="49" charset="0"/>
              </a:rPr>
              <a:t>;</a:t>
            </a:r>
          </a:p>
          <a:p>
            <a:pPr marL="0" indent="0">
              <a:lnSpc>
                <a:spcPct val="100000"/>
              </a:lnSpc>
              <a:spcBef>
                <a:spcPts val="0"/>
              </a:spcBef>
              <a:spcAft>
                <a:spcPts val="0"/>
              </a:spcAft>
              <a:buNone/>
            </a:pPr>
            <a:r>
              <a:rPr lang="en-US" sz="1800" dirty="0">
                <a:solidFill>
                  <a:srgbClr val="0000FF"/>
                </a:solidFill>
                <a:latin typeface="Consolas" panose="020B0609020204030204" pitchFamily="49" charset="0"/>
              </a:rPr>
              <a:t>   return</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tmp</a:t>
            </a:r>
            <a:r>
              <a:rPr lang="en-US" sz="1800" dirty="0">
                <a:solidFill>
                  <a:srgbClr val="000000"/>
                </a:solidFill>
                <a:latin typeface="Consolas" panose="020B0609020204030204" pitchFamily="49" charset="0"/>
              </a:rPr>
              <a:t>;</a:t>
            </a:r>
          </a:p>
          <a:p>
            <a:pPr marL="0" indent="0">
              <a:lnSpc>
                <a:spcPct val="100000"/>
              </a:lnSpc>
              <a:spcBef>
                <a:spcPts val="0"/>
              </a:spcBef>
              <a:spcAft>
                <a:spcPts val="0"/>
              </a:spcAft>
              <a:buNone/>
            </a:pPr>
            <a:r>
              <a:rPr lang="bg-BG" sz="1800" dirty="0">
                <a:solidFill>
                  <a:srgbClr val="000000"/>
                </a:solidFill>
                <a:latin typeface="Consolas" panose="020B0609020204030204" pitchFamily="49" charset="0"/>
              </a:rPr>
              <a:t>}</a:t>
            </a:r>
            <a:endParaRPr lang="bg-BG" sz="1800" b="1"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22</a:t>
            </a:fld>
            <a:endParaRPr lang="en-US"/>
          </a:p>
        </p:txBody>
      </p:sp>
      <p:pic>
        <p:nvPicPr>
          <p:cNvPr id="6" name="Picture 5">
            <a:extLst>
              <a:ext uri="{FF2B5EF4-FFF2-40B4-BE49-F238E27FC236}">
                <a16:creationId xmlns:a16="http://schemas.microsoft.com/office/drawing/2014/main" id="{47B61C30-5BD2-EE4D-A12E-06F67C0EC4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1138" y="1737360"/>
            <a:ext cx="2108057" cy="1129919"/>
          </a:xfrm>
          <a:prstGeom prst="rect">
            <a:avLst/>
          </a:prstGeom>
        </p:spPr>
      </p:pic>
      <p:pic>
        <p:nvPicPr>
          <p:cNvPr id="8" name="Picture 7">
            <a:extLst>
              <a:ext uri="{FF2B5EF4-FFF2-40B4-BE49-F238E27FC236}">
                <a16:creationId xmlns:a16="http://schemas.microsoft.com/office/drawing/2014/main" id="{DA6BA0E3-E8AB-C447-8958-4E04E98A8A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9534" y="3525305"/>
            <a:ext cx="3993437" cy="1146534"/>
          </a:xfrm>
          <a:prstGeom prst="rect">
            <a:avLst/>
          </a:prstGeom>
        </p:spPr>
      </p:pic>
    </p:spTree>
    <p:extLst>
      <p:ext uri="{BB962C8B-B14F-4D97-AF65-F5344CB8AC3E}">
        <p14:creationId xmlns:p14="http://schemas.microsoft.com/office/powerpoint/2010/main" val="7290899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3"/>
            <a:ext cx="10243073" cy="1450757"/>
          </a:xfrm>
        </p:spPr>
        <p:txBody>
          <a:bodyPr>
            <a:normAutofit/>
          </a:bodyPr>
          <a:lstStyle/>
          <a:p>
            <a:r>
              <a:rPr lang="en-US" b="1" dirty="0"/>
              <a:t>Rational</a:t>
            </a:r>
            <a:r>
              <a:rPr lang="en-US" dirty="0"/>
              <a:t> Class Implementation – </a:t>
            </a:r>
            <a:br>
              <a:rPr lang="en-US" dirty="0"/>
            </a:br>
            <a:r>
              <a:rPr lang="en-US" dirty="0"/>
              <a:t>Input Output and Friends (Part 1 of 2)</a:t>
            </a:r>
            <a:endParaRPr lang="bg-BG" dirty="0"/>
          </a:p>
        </p:txBody>
      </p:sp>
      <p:sp>
        <p:nvSpPr>
          <p:cNvPr id="3" name="Content Placeholder 2"/>
          <p:cNvSpPr>
            <a:spLocks noGrp="1"/>
          </p:cNvSpPr>
          <p:nvPr>
            <p:ph idx="1"/>
          </p:nvPr>
        </p:nvSpPr>
        <p:spPr>
          <a:xfrm>
            <a:off x="1097280" y="1845733"/>
            <a:ext cx="10058400" cy="4447491"/>
          </a:xfrm>
        </p:spPr>
        <p:txBody>
          <a:bodyPr>
            <a:noAutofit/>
          </a:bodyPr>
          <a:lstStyle/>
          <a:p>
            <a:pPr marL="0" indent="0">
              <a:lnSpc>
                <a:spcPct val="100000"/>
              </a:lnSpc>
              <a:spcBef>
                <a:spcPts val="0"/>
              </a:spcBef>
              <a:spcAft>
                <a:spcPts val="0"/>
              </a:spcAft>
              <a:buNone/>
            </a:pPr>
            <a:r>
              <a:rPr lang="en-US" sz="1600" dirty="0">
                <a:solidFill>
                  <a:srgbClr val="2B91AF"/>
                </a:solidFill>
                <a:latin typeface="Consolas" panose="020B0609020204030204" pitchFamily="49" charset="0"/>
              </a:rPr>
              <a:t>istream</a:t>
            </a:r>
            <a:r>
              <a:rPr lang="en-US" sz="1600" dirty="0">
                <a:solidFill>
                  <a:srgbClr val="000000"/>
                </a:solidFill>
                <a:latin typeface="Consolas" panose="020B0609020204030204" pitchFamily="49" charset="0"/>
              </a:rPr>
              <a:t> &amp; </a:t>
            </a:r>
            <a:r>
              <a:rPr lang="en-US" sz="1600" dirty="0">
                <a:solidFill>
                  <a:srgbClr val="008080"/>
                </a:solidFill>
                <a:latin typeface="Consolas" panose="020B0609020204030204" pitchFamily="49" charset="0"/>
              </a:rPr>
              <a:t>operator&gt;&gt;</a:t>
            </a:r>
            <a:r>
              <a:rPr lang="en-US" sz="1600" dirty="0">
                <a:solidFill>
                  <a:srgbClr val="000000"/>
                </a:solidFill>
                <a:latin typeface="Consolas" panose="020B0609020204030204" pitchFamily="49" charset="0"/>
              </a:rPr>
              <a:t>(</a:t>
            </a:r>
            <a:r>
              <a:rPr lang="en-US" sz="1600" dirty="0">
                <a:solidFill>
                  <a:srgbClr val="2B91AF"/>
                </a:solidFill>
                <a:latin typeface="Consolas" panose="020B0609020204030204" pitchFamily="49" charset="0"/>
              </a:rPr>
              <a:t>istream</a:t>
            </a:r>
            <a:r>
              <a:rPr lang="en-US" sz="1600" dirty="0">
                <a:solidFill>
                  <a:srgbClr val="000000"/>
                </a:solidFill>
                <a:latin typeface="Consolas" panose="020B0609020204030204" pitchFamily="49" charset="0"/>
              </a:rPr>
              <a:t> &amp; </a:t>
            </a:r>
            <a:r>
              <a:rPr lang="en-US" sz="1600" dirty="0">
                <a:solidFill>
                  <a:srgbClr val="808080"/>
                </a:solidFill>
                <a:latin typeface="Consolas" panose="020B0609020204030204" pitchFamily="49" charset="0"/>
              </a:rPr>
              <a:t>in</a:t>
            </a:r>
            <a:r>
              <a:rPr lang="en-US" sz="1600" dirty="0">
                <a:solidFill>
                  <a:srgbClr val="000000"/>
                </a:solidFill>
                <a:latin typeface="Consolas" panose="020B0609020204030204" pitchFamily="49" charset="0"/>
              </a:rPr>
              <a:t>, </a:t>
            </a:r>
            <a:r>
              <a:rPr lang="en-US" sz="1600" dirty="0">
                <a:solidFill>
                  <a:srgbClr val="2B91AF"/>
                </a:solidFill>
                <a:latin typeface="Consolas" panose="020B0609020204030204" pitchFamily="49" charset="0"/>
              </a:rPr>
              <a:t>Rational</a:t>
            </a:r>
            <a:r>
              <a:rPr lang="en-US" sz="1600" dirty="0">
                <a:solidFill>
                  <a:srgbClr val="000000"/>
                </a:solidFill>
                <a:latin typeface="Consolas" panose="020B0609020204030204" pitchFamily="49" charset="0"/>
              </a:rPr>
              <a:t> &amp; </a:t>
            </a:r>
            <a:r>
              <a:rPr lang="en-US" sz="1600" dirty="0">
                <a:solidFill>
                  <a:srgbClr val="808080"/>
                </a:solidFill>
                <a:latin typeface="Consolas" panose="020B0609020204030204" pitchFamily="49" charset="0"/>
              </a:rPr>
              <a:t>value</a:t>
            </a:r>
            <a:r>
              <a:rPr lang="en-US" sz="1600" dirty="0">
                <a:solidFill>
                  <a:srgbClr val="000000"/>
                </a:solidFill>
                <a:latin typeface="Consolas" panose="020B0609020204030204" pitchFamily="49" charset="0"/>
              </a:rPr>
              <a:t>) </a:t>
            </a:r>
            <a:r>
              <a:rPr lang="bg-BG" sz="1600" dirty="0">
                <a:solidFill>
                  <a:srgbClr val="00000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00B050"/>
                </a:solidFill>
                <a:latin typeface="Consolas" panose="020B0609020204030204" pitchFamily="49" charset="0"/>
              </a:rPr>
              <a:t>// </a:t>
            </a:r>
            <a:r>
              <a:rPr lang="en-US" sz="1600" dirty="0" err="1">
                <a:solidFill>
                  <a:srgbClr val="00B050"/>
                </a:solidFill>
                <a:latin typeface="Consolas" panose="020B0609020204030204" pitchFamily="49" charset="0"/>
              </a:rPr>
              <a:t>cin</a:t>
            </a:r>
            <a:r>
              <a:rPr lang="en-US" sz="1600" dirty="0">
                <a:solidFill>
                  <a:srgbClr val="00B050"/>
                </a:solidFill>
                <a:latin typeface="Consolas" panose="020B0609020204030204" pitchFamily="49" charset="0"/>
              </a:rPr>
              <a:t> &gt;&gt; obj1 &gt;&gt; obj2;</a:t>
            </a:r>
            <a:endParaRPr lang="bg-BG" sz="1600" dirty="0">
              <a:solidFill>
                <a:srgbClr val="00B050"/>
              </a:solidFill>
              <a:latin typeface="Consolas" panose="020B0609020204030204" pitchFamily="49" charset="0"/>
            </a:endParaRPr>
          </a:p>
          <a:p>
            <a:pPr marL="0" indent="0">
              <a:lnSpc>
                <a:spcPct val="100000"/>
              </a:lnSpc>
              <a:spcBef>
                <a:spcPts val="0"/>
              </a:spcBef>
              <a:spcAft>
                <a:spcPts val="0"/>
              </a:spcAft>
              <a:buNone/>
            </a:pPr>
            <a:r>
              <a:rPr lang="en-US" sz="1600" dirty="0">
                <a:solidFill>
                  <a:srgbClr val="808080"/>
                </a:solidFill>
                <a:latin typeface="Consolas" panose="020B0609020204030204" pitchFamily="49" charset="0"/>
              </a:rPr>
              <a:t>   in</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&gt;&gt;</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value</a:t>
            </a:r>
            <a:r>
              <a:rPr lang="en-US" sz="1600" dirty="0" err="1">
                <a:solidFill>
                  <a:srgbClr val="000000"/>
                </a:solidFill>
                <a:latin typeface="Consolas" panose="020B0609020204030204" pitchFamily="49" charset="0"/>
              </a:rPr>
              <a:t>.numer</a:t>
            </a:r>
            <a:r>
              <a:rPr lang="en-US" sz="1600" dirty="0">
                <a:solidFill>
                  <a:srgbClr val="000000"/>
                </a:solidFill>
                <a:latin typeface="Consolas" panose="020B0609020204030204" pitchFamily="49" charset="0"/>
              </a:rPr>
              <a:t>;</a:t>
            </a:r>
          </a:p>
          <a:p>
            <a:pPr marL="0" indent="0">
              <a:lnSpc>
                <a:spcPct val="100000"/>
              </a:lnSpc>
              <a:spcBef>
                <a:spcPts val="0"/>
              </a:spcBef>
              <a:spcAft>
                <a:spcPts val="0"/>
              </a:spcAft>
              <a:buNone/>
            </a:pPr>
            <a:r>
              <a:rPr lang="en-US" sz="1600" dirty="0">
                <a:solidFill>
                  <a:srgbClr val="808080"/>
                </a:solidFill>
                <a:latin typeface="Consolas" panose="020B0609020204030204" pitchFamily="49" charset="0"/>
              </a:rPr>
              <a:t>   </a:t>
            </a:r>
            <a:r>
              <a:rPr lang="en-US" sz="1600" dirty="0" err="1">
                <a:solidFill>
                  <a:srgbClr val="808080"/>
                </a:solidFill>
                <a:latin typeface="Consolas" panose="020B0609020204030204" pitchFamily="49" charset="0"/>
              </a:rPr>
              <a:t>value</a:t>
            </a:r>
            <a:r>
              <a:rPr lang="en-US" sz="1600" dirty="0" err="1">
                <a:solidFill>
                  <a:srgbClr val="000000"/>
                </a:solidFill>
                <a:latin typeface="Consolas" panose="020B0609020204030204" pitchFamily="49" charset="0"/>
              </a:rPr>
              <a:t>.denom</a:t>
            </a:r>
            <a:r>
              <a:rPr lang="en-US" sz="1600" dirty="0">
                <a:solidFill>
                  <a:srgbClr val="000000"/>
                </a:solidFill>
                <a:latin typeface="Consolas" panose="020B0609020204030204" pitchFamily="49" charset="0"/>
              </a:rPr>
              <a:t> = 1;</a:t>
            </a:r>
          </a:p>
          <a:p>
            <a:pPr marL="0" indent="0">
              <a:lnSpc>
                <a:spcPct val="100000"/>
              </a:lnSpc>
              <a:spcBef>
                <a:spcPts val="0"/>
              </a:spcBef>
              <a:spcAft>
                <a:spcPts val="0"/>
              </a:spcAft>
              <a:buNone/>
            </a:pPr>
            <a:endParaRPr lang="bg-BG" sz="16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600" dirty="0">
                <a:solidFill>
                  <a:srgbClr val="0000FF"/>
                </a:solidFill>
                <a:latin typeface="Consolas" panose="020B0609020204030204" pitchFamily="49" charset="0"/>
              </a:rPr>
              <a:t>   char</a:t>
            </a:r>
            <a:r>
              <a:rPr lang="en-US" sz="1600" dirty="0">
                <a:solidFill>
                  <a:srgbClr val="000000"/>
                </a:solidFill>
                <a:latin typeface="Consolas" panose="020B0609020204030204" pitchFamily="49" charset="0"/>
              </a:rPr>
              <a:t> c;</a:t>
            </a:r>
          </a:p>
          <a:p>
            <a:pPr marL="0" indent="0">
              <a:lnSpc>
                <a:spcPct val="100000"/>
              </a:lnSpc>
              <a:spcBef>
                <a:spcPts val="0"/>
              </a:spcBef>
              <a:spcAft>
                <a:spcPts val="0"/>
              </a:spcAft>
              <a:buNone/>
            </a:pPr>
            <a:r>
              <a:rPr lang="en-US" sz="1600" dirty="0">
                <a:solidFill>
                  <a:srgbClr val="808080"/>
                </a:solidFill>
                <a:latin typeface="Consolas" panose="020B0609020204030204" pitchFamily="49" charset="0"/>
              </a:rPr>
              <a:t>   in</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&gt;&gt;</a:t>
            </a:r>
            <a:r>
              <a:rPr lang="en-US" sz="1600" dirty="0">
                <a:solidFill>
                  <a:srgbClr val="000000"/>
                </a:solidFill>
                <a:latin typeface="Consolas" panose="020B0609020204030204" pitchFamily="49" charset="0"/>
              </a:rPr>
              <a:t> c;</a:t>
            </a:r>
          </a:p>
          <a:p>
            <a:pPr marL="0" indent="0">
              <a:lnSpc>
                <a:spcPct val="100000"/>
              </a:lnSpc>
              <a:spcBef>
                <a:spcPts val="0"/>
              </a:spcBef>
              <a:spcAft>
                <a:spcPts val="0"/>
              </a:spcAft>
              <a:buNone/>
            </a:pPr>
            <a:endParaRPr lang="bg-BG" sz="16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600" dirty="0">
                <a:solidFill>
                  <a:srgbClr val="0000FF"/>
                </a:solidFill>
                <a:latin typeface="Consolas" panose="020B0609020204030204" pitchFamily="49" charset="0"/>
              </a:rPr>
              <a:t>   if</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in</a:t>
            </a:r>
            <a:r>
              <a:rPr lang="en-US" sz="1600" dirty="0" err="1">
                <a:solidFill>
                  <a:srgbClr val="000000"/>
                </a:solidFill>
                <a:latin typeface="Consolas" panose="020B0609020204030204" pitchFamily="49" charset="0"/>
              </a:rPr>
              <a:t>.eof</a:t>
            </a:r>
            <a:r>
              <a:rPr lang="en-US" sz="1600" dirty="0">
                <a:solidFill>
                  <a:srgbClr val="000000"/>
                </a:solidFill>
                <a:latin typeface="Consolas" panose="020B0609020204030204" pitchFamily="49" charset="0"/>
              </a:rPr>
              <a:t>()) {</a:t>
            </a:r>
          </a:p>
          <a:p>
            <a:pPr marL="0" indent="0">
              <a:lnSpc>
                <a:spcPct val="100000"/>
              </a:lnSpc>
              <a:spcBef>
                <a:spcPts val="0"/>
              </a:spcBef>
              <a:spcAft>
                <a:spcPts val="0"/>
              </a:spcAft>
              <a:buNone/>
            </a:pPr>
            <a:r>
              <a:rPr lang="en-US" sz="1600" dirty="0">
                <a:solidFill>
                  <a:srgbClr val="0000FF"/>
                </a:solidFill>
                <a:latin typeface="Consolas" panose="020B0609020204030204" pitchFamily="49" charset="0"/>
              </a:rPr>
              <a:t>      if</a:t>
            </a:r>
            <a:r>
              <a:rPr lang="en-US" sz="1600" dirty="0">
                <a:solidFill>
                  <a:srgbClr val="000000"/>
                </a:solidFill>
                <a:latin typeface="Consolas" panose="020B0609020204030204" pitchFamily="49" charset="0"/>
              </a:rPr>
              <a:t> (c == </a:t>
            </a:r>
            <a:r>
              <a:rPr lang="en-US" sz="1600" dirty="0">
                <a:solidFill>
                  <a:srgbClr val="A31515"/>
                </a:solidFill>
                <a:latin typeface="Consolas" panose="020B0609020204030204" pitchFamily="49" charset="0"/>
              </a:rPr>
              <a:t>'/'</a:t>
            </a:r>
            <a:r>
              <a:rPr lang="en-US" sz="1600" dirty="0">
                <a:solidFill>
                  <a:srgbClr val="000000"/>
                </a:solidFill>
                <a:latin typeface="Consolas" panose="020B0609020204030204" pitchFamily="49" charset="0"/>
              </a:rPr>
              <a:t>) {</a:t>
            </a:r>
          </a:p>
          <a:p>
            <a:pPr marL="0" indent="0">
              <a:lnSpc>
                <a:spcPct val="100000"/>
              </a:lnSpc>
              <a:spcBef>
                <a:spcPts val="0"/>
              </a:spcBef>
              <a:spcAft>
                <a:spcPts val="0"/>
              </a:spcAft>
              <a:buNone/>
            </a:pPr>
            <a:r>
              <a:rPr lang="en-US" sz="1600" dirty="0">
                <a:solidFill>
                  <a:srgbClr val="808080"/>
                </a:solidFill>
                <a:latin typeface="Consolas" panose="020B0609020204030204" pitchFamily="49" charset="0"/>
              </a:rPr>
              <a:t>         in</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&gt;&gt;</a:t>
            </a:r>
            <a:r>
              <a:rPr lang="en-US" sz="1600" dirty="0">
                <a:solidFill>
                  <a:srgbClr val="000000"/>
                </a:solidFill>
                <a:latin typeface="Consolas" panose="020B0609020204030204" pitchFamily="49" charset="0"/>
              </a:rPr>
              <a:t> </a:t>
            </a:r>
            <a:r>
              <a:rPr lang="en-US" sz="1600" dirty="0" err="1">
                <a:solidFill>
                  <a:srgbClr val="808080"/>
                </a:solidFill>
                <a:latin typeface="Consolas" panose="020B0609020204030204" pitchFamily="49" charset="0"/>
              </a:rPr>
              <a:t>value</a:t>
            </a:r>
            <a:r>
              <a:rPr lang="en-US" sz="1600" dirty="0" err="1">
                <a:solidFill>
                  <a:srgbClr val="000000"/>
                </a:solidFill>
                <a:latin typeface="Consolas" panose="020B0609020204030204" pitchFamily="49" charset="0"/>
              </a:rPr>
              <a:t>.denom</a:t>
            </a:r>
            <a:r>
              <a:rPr lang="en-US" sz="1600" dirty="0">
                <a:solidFill>
                  <a:srgbClr val="000000"/>
                </a:solidFill>
                <a:latin typeface="Consolas" panose="020B0609020204030204" pitchFamily="49" charset="0"/>
              </a:rPr>
              <a:t>;</a:t>
            </a:r>
          </a:p>
          <a:p>
            <a:pPr marL="0" indent="0">
              <a:lnSpc>
                <a:spcPct val="100000"/>
              </a:lnSpc>
              <a:spcBef>
                <a:spcPts val="0"/>
              </a:spcBef>
              <a:spcAft>
                <a:spcPts val="0"/>
              </a:spcAft>
              <a:buNone/>
            </a:pPr>
            <a:r>
              <a:rPr lang="en-US" sz="1600" dirty="0">
                <a:solidFill>
                  <a:srgbClr val="808080"/>
                </a:solidFill>
                <a:latin typeface="Consolas" panose="020B0609020204030204" pitchFamily="49" charset="0"/>
              </a:rPr>
              <a:t>         </a:t>
            </a:r>
            <a:r>
              <a:rPr lang="en-US" sz="1600" dirty="0" err="1">
                <a:solidFill>
                  <a:srgbClr val="808080"/>
                </a:solidFill>
                <a:latin typeface="Consolas" panose="020B0609020204030204" pitchFamily="49" charset="0"/>
              </a:rPr>
              <a:t>value</a:t>
            </a:r>
            <a:r>
              <a:rPr lang="en-US" sz="1600" dirty="0" err="1">
                <a:solidFill>
                  <a:srgbClr val="000000"/>
                </a:solidFill>
                <a:latin typeface="Consolas" panose="020B0609020204030204" pitchFamily="49" charset="0"/>
              </a:rPr>
              <a:t>.normalize</a:t>
            </a:r>
            <a:r>
              <a:rPr lang="en-US" sz="1600" dirty="0">
                <a:solidFill>
                  <a:srgbClr val="000000"/>
                </a:solidFill>
                <a:latin typeface="Consolas" panose="020B0609020204030204" pitchFamily="49" charset="0"/>
              </a:rPr>
              <a:t>();</a:t>
            </a:r>
          </a:p>
          <a:p>
            <a:pPr marL="0" indent="0">
              <a:lnSpc>
                <a:spcPct val="100000"/>
              </a:lnSpc>
              <a:spcBef>
                <a:spcPts val="0"/>
              </a:spcBef>
              <a:spcAft>
                <a:spcPts val="0"/>
              </a:spcAft>
              <a:buNone/>
            </a:pPr>
            <a:r>
              <a:rPr lang="en-US" sz="1600" dirty="0">
                <a:solidFill>
                  <a:srgbClr val="000000"/>
                </a:solidFill>
                <a:latin typeface="Consolas" panose="020B0609020204030204" pitchFamily="49" charset="0"/>
              </a:rPr>
              <a:t>      </a:t>
            </a:r>
            <a:r>
              <a:rPr lang="bg-BG" sz="1600" dirty="0">
                <a:solidFill>
                  <a:srgbClr val="000000"/>
                </a:solidFill>
                <a:latin typeface="Consolas" panose="020B0609020204030204" pitchFamily="49" charset="0"/>
              </a:rPr>
              <a:t>}</a:t>
            </a:r>
          </a:p>
          <a:p>
            <a:pPr marL="0" indent="0">
              <a:lnSpc>
                <a:spcPct val="100000"/>
              </a:lnSpc>
              <a:spcBef>
                <a:spcPts val="0"/>
              </a:spcBef>
              <a:spcAft>
                <a:spcPts val="0"/>
              </a:spcAft>
              <a:buNone/>
            </a:pPr>
            <a:r>
              <a:rPr lang="en-US" sz="1600" dirty="0">
                <a:solidFill>
                  <a:srgbClr val="0000FF"/>
                </a:solidFill>
                <a:latin typeface="Consolas" panose="020B0609020204030204" pitchFamily="49" charset="0"/>
              </a:rPr>
              <a:t>      else</a:t>
            </a:r>
            <a:endParaRPr lang="en-US" sz="16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600" dirty="0">
                <a:solidFill>
                  <a:srgbClr val="808080"/>
                </a:solidFill>
                <a:latin typeface="Consolas" panose="020B0609020204030204" pitchFamily="49" charset="0"/>
              </a:rPr>
              <a:t>         </a:t>
            </a:r>
            <a:r>
              <a:rPr lang="en-US" sz="1600" dirty="0" err="1">
                <a:solidFill>
                  <a:srgbClr val="808080"/>
                </a:solidFill>
                <a:latin typeface="Consolas" panose="020B0609020204030204" pitchFamily="49" charset="0"/>
              </a:rPr>
              <a:t>in</a:t>
            </a:r>
            <a:r>
              <a:rPr lang="en-US" sz="1600" dirty="0" err="1">
                <a:solidFill>
                  <a:srgbClr val="000000"/>
                </a:solidFill>
                <a:latin typeface="Consolas" panose="020B0609020204030204" pitchFamily="49" charset="0"/>
              </a:rPr>
              <a:t>.putback</a:t>
            </a:r>
            <a:r>
              <a:rPr lang="en-US" sz="1600" dirty="0">
                <a:solidFill>
                  <a:srgbClr val="000000"/>
                </a:solidFill>
                <a:latin typeface="Consolas" panose="020B0609020204030204" pitchFamily="49" charset="0"/>
              </a:rPr>
              <a:t>(c);</a:t>
            </a:r>
          </a:p>
          <a:p>
            <a:pPr marL="0" indent="0">
              <a:lnSpc>
                <a:spcPct val="100000"/>
              </a:lnSpc>
              <a:spcBef>
                <a:spcPts val="0"/>
              </a:spcBef>
              <a:spcAft>
                <a:spcPts val="0"/>
              </a:spcAft>
              <a:buNone/>
            </a:pPr>
            <a:r>
              <a:rPr lang="en-US" sz="1600" dirty="0">
                <a:solidFill>
                  <a:srgbClr val="000000"/>
                </a:solidFill>
                <a:latin typeface="Consolas" panose="020B0609020204030204" pitchFamily="49" charset="0"/>
              </a:rPr>
              <a:t>   </a:t>
            </a:r>
            <a:r>
              <a:rPr lang="bg-BG" sz="1600" dirty="0">
                <a:solidFill>
                  <a:srgbClr val="000000"/>
                </a:solidFill>
                <a:latin typeface="Consolas" panose="020B0609020204030204" pitchFamily="49" charset="0"/>
              </a:rPr>
              <a:t>}</a:t>
            </a:r>
          </a:p>
          <a:p>
            <a:pPr marL="0" indent="0">
              <a:lnSpc>
                <a:spcPct val="100000"/>
              </a:lnSpc>
              <a:spcBef>
                <a:spcPts val="0"/>
              </a:spcBef>
              <a:spcAft>
                <a:spcPts val="0"/>
              </a:spcAft>
              <a:buNone/>
            </a:pPr>
            <a:endParaRPr lang="bg-BG" sz="16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600" dirty="0">
                <a:solidFill>
                  <a:srgbClr val="0000FF"/>
                </a:solidFill>
                <a:latin typeface="Consolas" panose="020B0609020204030204" pitchFamily="49" charset="0"/>
              </a:rPr>
              <a:t>   return</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in</a:t>
            </a:r>
            <a:r>
              <a:rPr lang="en-US" sz="1600" dirty="0">
                <a:solidFill>
                  <a:srgbClr val="000000"/>
                </a:solidFill>
                <a:latin typeface="Consolas" panose="020B0609020204030204" pitchFamily="49" charset="0"/>
              </a:rPr>
              <a:t>;</a:t>
            </a:r>
          </a:p>
          <a:p>
            <a:pPr marL="0" indent="0">
              <a:lnSpc>
                <a:spcPct val="100000"/>
              </a:lnSpc>
              <a:spcBef>
                <a:spcPts val="0"/>
              </a:spcBef>
              <a:spcAft>
                <a:spcPts val="0"/>
              </a:spcAft>
              <a:buNone/>
            </a:pPr>
            <a:r>
              <a:rPr lang="bg-BG" sz="1600" dirty="0">
                <a:solidFill>
                  <a:srgbClr val="000000"/>
                </a:solidFill>
                <a:latin typeface="Consolas" panose="020B0609020204030204" pitchFamily="49" charset="0"/>
              </a:rPr>
              <a:t>}</a:t>
            </a:r>
            <a:endParaRPr lang="bg-BG" sz="1600" b="1"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23</a:t>
            </a:fld>
            <a:endParaRPr lang="en-US"/>
          </a:p>
        </p:txBody>
      </p:sp>
    </p:spTree>
    <p:extLst>
      <p:ext uri="{BB962C8B-B14F-4D97-AF65-F5344CB8AC3E}">
        <p14:creationId xmlns:p14="http://schemas.microsoft.com/office/powerpoint/2010/main" val="4462688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3"/>
            <a:ext cx="10243073" cy="1450757"/>
          </a:xfrm>
        </p:spPr>
        <p:txBody>
          <a:bodyPr>
            <a:normAutofit/>
          </a:bodyPr>
          <a:lstStyle/>
          <a:p>
            <a:r>
              <a:rPr lang="en-US" b="1" dirty="0"/>
              <a:t>Rational</a:t>
            </a:r>
            <a:r>
              <a:rPr lang="en-US" dirty="0"/>
              <a:t> Class Implementation – </a:t>
            </a:r>
            <a:br>
              <a:rPr lang="en-US" dirty="0"/>
            </a:br>
            <a:r>
              <a:rPr lang="en-US" dirty="0"/>
              <a:t>Input Output and Friends (Part 2 of 2)</a:t>
            </a:r>
            <a:endParaRPr lang="bg-BG" dirty="0"/>
          </a:p>
        </p:txBody>
      </p:sp>
      <p:sp>
        <p:nvSpPr>
          <p:cNvPr id="3" name="Content Placeholder 2"/>
          <p:cNvSpPr>
            <a:spLocks noGrp="1"/>
          </p:cNvSpPr>
          <p:nvPr>
            <p:ph idx="1"/>
          </p:nvPr>
        </p:nvSpPr>
        <p:spPr>
          <a:xfrm>
            <a:off x="1097280" y="1845733"/>
            <a:ext cx="10058400" cy="4447491"/>
          </a:xfrm>
        </p:spPr>
        <p:txBody>
          <a:bodyPr>
            <a:normAutofit/>
          </a:bodyPr>
          <a:lstStyle/>
          <a:p>
            <a:pPr marL="0" indent="0">
              <a:buNone/>
            </a:pPr>
            <a:r>
              <a:rPr lang="en-US" sz="1800" dirty="0" err="1">
                <a:solidFill>
                  <a:srgbClr val="2B91AF"/>
                </a:solidFill>
                <a:latin typeface="Consolas" panose="020B0609020204030204" pitchFamily="49" charset="0"/>
              </a:rPr>
              <a:t>ostream</a:t>
            </a:r>
            <a:r>
              <a:rPr lang="en-US" sz="1800" dirty="0">
                <a:solidFill>
                  <a:srgbClr val="000000"/>
                </a:solidFill>
                <a:latin typeface="Consolas" panose="020B0609020204030204" pitchFamily="49" charset="0"/>
              </a:rPr>
              <a:t> &amp; </a:t>
            </a:r>
            <a:r>
              <a:rPr lang="en-US" sz="1800" dirty="0">
                <a:solidFill>
                  <a:srgbClr val="008080"/>
                </a:solidFill>
                <a:latin typeface="Consolas" panose="020B0609020204030204" pitchFamily="49" charset="0"/>
              </a:rPr>
              <a:t>operator&lt;&lt;</a:t>
            </a:r>
            <a:r>
              <a:rPr lang="en-US" sz="1800" dirty="0">
                <a:solidFill>
                  <a:srgbClr val="000000"/>
                </a:solidFill>
                <a:latin typeface="Consolas" panose="020B0609020204030204" pitchFamily="49" charset="0"/>
              </a:rPr>
              <a:t>(</a:t>
            </a:r>
            <a:r>
              <a:rPr lang="en-US" sz="1800" dirty="0" err="1">
                <a:solidFill>
                  <a:srgbClr val="2B91AF"/>
                </a:solidFill>
                <a:latin typeface="Consolas" panose="020B0609020204030204" pitchFamily="49" charset="0"/>
              </a:rPr>
              <a:t>ostream</a:t>
            </a:r>
            <a:r>
              <a:rPr lang="en-US" sz="1800" dirty="0">
                <a:solidFill>
                  <a:srgbClr val="000000"/>
                </a:solidFill>
                <a:latin typeface="Consolas" panose="020B0609020204030204" pitchFamily="49" charset="0"/>
              </a:rPr>
              <a:t> &amp; </a:t>
            </a:r>
            <a:r>
              <a:rPr lang="en-US" sz="1800" dirty="0">
                <a:solidFill>
                  <a:srgbClr val="808080"/>
                </a:solidFill>
                <a:latin typeface="Consolas" panose="020B0609020204030204" pitchFamily="49" charset="0"/>
              </a:rPr>
              <a:t>out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const</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 &amp; </a:t>
            </a:r>
            <a:r>
              <a:rPr lang="en-US" sz="1800" dirty="0">
                <a:solidFill>
                  <a:srgbClr val="808080"/>
                </a:solidFill>
                <a:latin typeface="Consolas" panose="020B0609020204030204" pitchFamily="49" charset="0"/>
              </a:rPr>
              <a:t>value</a:t>
            </a:r>
            <a:r>
              <a:rPr lang="en-US" sz="1800" dirty="0">
                <a:solidFill>
                  <a:srgbClr val="000000"/>
                </a:solidFill>
                <a:latin typeface="Consolas" panose="020B0609020204030204" pitchFamily="49" charset="0"/>
              </a:rPr>
              <a:t>) </a:t>
            </a:r>
            <a:r>
              <a:rPr lang="bg-BG" sz="1800" dirty="0">
                <a:solidFill>
                  <a:srgbClr val="000000"/>
                </a:solidFill>
                <a:latin typeface="Consolas" panose="020B0609020204030204" pitchFamily="49" charset="0"/>
              </a:rPr>
              <a:t>{</a:t>
            </a:r>
          </a:p>
          <a:p>
            <a:pPr marL="0" indent="0">
              <a:buNone/>
            </a:pPr>
            <a:r>
              <a:rPr lang="en-US" sz="1800" dirty="0">
                <a:solidFill>
                  <a:srgbClr val="808080"/>
                </a:solidFill>
                <a:latin typeface="Consolas" panose="020B0609020204030204" pitchFamily="49" charset="0"/>
              </a:rPr>
              <a:t>   out</a:t>
            </a:r>
            <a:r>
              <a:rPr lang="en-US" sz="1800" dirty="0">
                <a:solidFill>
                  <a:srgbClr val="000000"/>
                </a:solidFill>
                <a:latin typeface="Consolas" panose="020B0609020204030204" pitchFamily="49" charset="0"/>
              </a:rPr>
              <a:t> </a:t>
            </a:r>
            <a:r>
              <a:rPr lang="en-US" sz="1800" dirty="0">
                <a:solidFill>
                  <a:srgbClr val="008080"/>
                </a:solidFill>
                <a:latin typeface="Consolas" panose="020B0609020204030204" pitchFamily="49" charset="0"/>
              </a:rPr>
              <a:t>&lt;&lt;</a:t>
            </a:r>
            <a:r>
              <a:rPr lang="en-US" sz="1800" dirty="0">
                <a:solidFill>
                  <a:srgbClr val="000000"/>
                </a:solidFill>
                <a:latin typeface="Consolas" panose="020B0609020204030204" pitchFamily="49" charset="0"/>
              </a:rPr>
              <a:t> </a:t>
            </a:r>
            <a:r>
              <a:rPr lang="en-US" sz="1800" dirty="0" err="1">
                <a:solidFill>
                  <a:srgbClr val="808080"/>
                </a:solidFill>
                <a:latin typeface="Consolas" panose="020B0609020204030204" pitchFamily="49" charset="0"/>
              </a:rPr>
              <a:t>value</a:t>
            </a:r>
            <a:r>
              <a:rPr lang="en-US" sz="1800" dirty="0" err="1">
                <a:solidFill>
                  <a:srgbClr val="000000"/>
                </a:solidFill>
                <a:latin typeface="Consolas" panose="020B0609020204030204" pitchFamily="49" charset="0"/>
              </a:rPr>
              <a:t>.numer</a:t>
            </a:r>
            <a:r>
              <a:rPr lang="en-US" sz="1800" dirty="0">
                <a:solidFill>
                  <a:srgbClr val="000000"/>
                </a:solidFill>
                <a:latin typeface="Consolas" panose="020B0609020204030204" pitchFamily="49" charset="0"/>
              </a:rPr>
              <a:t> </a:t>
            </a:r>
            <a:r>
              <a:rPr lang="en-US" sz="1800" dirty="0">
                <a:solidFill>
                  <a:srgbClr val="008080"/>
                </a:solidFill>
                <a:latin typeface="Consolas" panose="020B0609020204030204" pitchFamily="49" charset="0"/>
              </a:rPr>
              <a:t>&lt;&lt;</a:t>
            </a:r>
            <a:r>
              <a:rPr lang="en-US" sz="1800" dirty="0">
                <a:solidFill>
                  <a:srgbClr val="000000"/>
                </a:solidFill>
                <a:latin typeface="Consolas" panose="020B0609020204030204" pitchFamily="49" charset="0"/>
              </a:rPr>
              <a:t> </a:t>
            </a:r>
            <a:r>
              <a:rPr lang="en-US" sz="1800" dirty="0">
                <a:solidFill>
                  <a:srgbClr val="A31515"/>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8080"/>
                </a:solidFill>
                <a:latin typeface="Consolas" panose="020B0609020204030204" pitchFamily="49" charset="0"/>
              </a:rPr>
              <a:t>&lt;&lt;</a:t>
            </a:r>
            <a:r>
              <a:rPr lang="en-US" sz="1800" dirty="0">
                <a:solidFill>
                  <a:srgbClr val="000000"/>
                </a:solidFill>
                <a:latin typeface="Consolas" panose="020B0609020204030204" pitchFamily="49" charset="0"/>
              </a:rPr>
              <a:t> </a:t>
            </a:r>
            <a:r>
              <a:rPr lang="en-US" sz="1800" dirty="0" err="1">
                <a:solidFill>
                  <a:srgbClr val="808080"/>
                </a:solidFill>
                <a:latin typeface="Consolas" panose="020B0609020204030204" pitchFamily="49" charset="0"/>
              </a:rPr>
              <a:t>value</a:t>
            </a:r>
            <a:r>
              <a:rPr lang="en-US" sz="1800" dirty="0" err="1">
                <a:solidFill>
                  <a:srgbClr val="000000"/>
                </a:solidFill>
                <a:latin typeface="Consolas" panose="020B0609020204030204" pitchFamily="49" charset="0"/>
              </a:rPr>
              <a:t>.denom</a:t>
            </a:r>
            <a:r>
              <a:rPr lang="en-US" sz="1800" dirty="0">
                <a:solidFill>
                  <a:srgbClr val="000000"/>
                </a:solidFill>
                <a:latin typeface="Consolas" panose="020B0609020204030204" pitchFamily="49" charset="0"/>
              </a:rPr>
              <a:t>;</a:t>
            </a:r>
          </a:p>
          <a:p>
            <a:pPr marL="0" indent="0">
              <a:buNone/>
            </a:pPr>
            <a:r>
              <a:rPr lang="en-US" sz="1800" dirty="0">
                <a:solidFill>
                  <a:srgbClr val="0000FF"/>
                </a:solidFill>
                <a:latin typeface="Consolas" panose="020B0609020204030204" pitchFamily="49" charset="0"/>
              </a:rPr>
              <a:t>   return</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out</a:t>
            </a:r>
            <a:r>
              <a:rPr lang="en-US" sz="1800" dirty="0">
                <a:solidFill>
                  <a:srgbClr val="000000"/>
                </a:solidFill>
                <a:latin typeface="Consolas" panose="020B0609020204030204" pitchFamily="49" charset="0"/>
              </a:rPr>
              <a:t>;</a:t>
            </a:r>
          </a:p>
          <a:p>
            <a:pPr marL="0" indent="0">
              <a:buNone/>
            </a:pPr>
            <a:r>
              <a:rPr lang="bg-BG" sz="1800" dirty="0">
                <a:solidFill>
                  <a:srgbClr val="000000"/>
                </a:solidFill>
                <a:latin typeface="Consolas" panose="020B0609020204030204" pitchFamily="49" charset="0"/>
              </a:rPr>
              <a:t>}</a:t>
            </a:r>
            <a:endParaRPr lang="en-US" sz="1800" dirty="0">
              <a:solidFill>
                <a:srgbClr val="000000"/>
              </a:solidFill>
              <a:latin typeface="Consolas" panose="020B0609020204030204" pitchFamily="49" charset="0"/>
            </a:endParaRPr>
          </a:p>
          <a:p>
            <a:pPr>
              <a:buFont typeface="Wingdings" panose="05000000000000000000" pitchFamily="2" charset="2"/>
              <a:buChar char="§"/>
            </a:pPr>
            <a:r>
              <a:rPr lang="en-US" sz="2800" dirty="0">
                <a:cs typeface="Courier New" panose="02070309020205020404" pitchFamily="49" charset="0"/>
              </a:rPr>
              <a:t>When the I/O operator functions are called, </a:t>
            </a:r>
            <a:r>
              <a:rPr lang="en-US" sz="2800" b="1" dirty="0">
                <a:latin typeface="Courier New" panose="02070309020205020404" pitchFamily="49" charset="0"/>
                <a:cs typeface="Courier New" panose="02070309020205020404" pitchFamily="49" charset="0"/>
              </a:rPr>
              <a:t>Rational</a:t>
            </a:r>
            <a:r>
              <a:rPr lang="en-US" sz="2800" dirty="0">
                <a:cs typeface="Courier New" panose="02070309020205020404" pitchFamily="49" charset="0"/>
              </a:rPr>
              <a:t> is not the controlling object</a:t>
            </a:r>
          </a:p>
          <a:p>
            <a:pPr>
              <a:buFont typeface="Wingdings" panose="05000000000000000000" pitchFamily="2" charset="2"/>
              <a:buChar char="§"/>
            </a:pPr>
            <a:r>
              <a:rPr lang="en-US" sz="2800" dirty="0">
                <a:cs typeface="Courier New" panose="02070309020205020404" pitchFamily="49" charset="0"/>
              </a:rPr>
              <a:t>To allow access to its private members to a non-member function, the </a:t>
            </a:r>
            <a:r>
              <a:rPr lang="en-US" sz="2800" b="1" dirty="0">
                <a:latin typeface="Courier New" panose="02070309020205020404" pitchFamily="49" charset="0"/>
                <a:cs typeface="Courier New" panose="02070309020205020404" pitchFamily="49" charset="0"/>
              </a:rPr>
              <a:t>Rational</a:t>
            </a:r>
            <a:r>
              <a:rPr lang="en-US" sz="2800" dirty="0">
                <a:cs typeface="Courier New" panose="02070309020205020404" pitchFamily="49" charset="0"/>
              </a:rPr>
              <a:t> class declares these two as </a:t>
            </a:r>
            <a:r>
              <a:rPr lang="en-US" sz="2800" b="1" dirty="0">
                <a:cs typeface="Courier New" panose="02070309020205020404" pitchFamily="49" charset="0"/>
              </a:rPr>
              <a:t>friends</a:t>
            </a:r>
            <a:r>
              <a:rPr lang="en-US" sz="2800" dirty="0">
                <a:cs typeface="Courier New" panose="02070309020205020404" pitchFamily="49" charset="0"/>
              </a:rPr>
              <a:t>:</a:t>
            </a:r>
            <a:endParaRPr lang="en-US" sz="1400" dirty="0">
              <a:latin typeface="Courier New" panose="02070309020205020404" pitchFamily="49" charset="0"/>
              <a:cs typeface="Courier New" panose="02070309020205020404" pitchFamily="49" charset="0"/>
            </a:endParaRPr>
          </a:p>
          <a:p>
            <a:pPr marL="0" indent="0">
              <a:buNone/>
            </a:pPr>
            <a:r>
              <a:rPr lang="en-US" sz="1800" dirty="0">
                <a:solidFill>
                  <a:srgbClr val="0000FF"/>
                </a:solidFill>
                <a:latin typeface="Consolas" panose="020B0609020204030204" pitchFamily="49" charset="0"/>
              </a:rPr>
              <a:t>   friend</a:t>
            </a:r>
            <a:r>
              <a:rPr lang="en-US" sz="1800" dirty="0">
                <a:solidFill>
                  <a:srgbClr val="000000"/>
                </a:solidFill>
                <a:latin typeface="Consolas" panose="020B0609020204030204" pitchFamily="49" charset="0"/>
              </a:rPr>
              <a:t> </a:t>
            </a:r>
            <a:r>
              <a:rPr lang="en-US" sz="1800" dirty="0" err="1">
                <a:solidFill>
                  <a:srgbClr val="2B91AF"/>
                </a:solidFill>
                <a:latin typeface="Consolas" panose="020B0609020204030204" pitchFamily="49" charset="0"/>
              </a:rPr>
              <a:t>ostream</a:t>
            </a:r>
            <a:r>
              <a:rPr lang="en-US" sz="1800" dirty="0">
                <a:solidFill>
                  <a:srgbClr val="000000"/>
                </a:solidFill>
                <a:latin typeface="Consolas" panose="020B0609020204030204" pitchFamily="49" charset="0"/>
              </a:rPr>
              <a:t>&amp; </a:t>
            </a:r>
            <a:r>
              <a:rPr lang="en-US" sz="1800" dirty="0">
                <a:solidFill>
                  <a:srgbClr val="008080"/>
                </a:solidFill>
                <a:latin typeface="Consolas" panose="020B0609020204030204" pitchFamily="49" charset="0"/>
              </a:rPr>
              <a:t>operator&lt;&lt;</a:t>
            </a:r>
            <a:r>
              <a:rPr lang="en-US" sz="1800" dirty="0">
                <a:solidFill>
                  <a:srgbClr val="000000"/>
                </a:solidFill>
                <a:latin typeface="Consolas" panose="020B0609020204030204" pitchFamily="49" charset="0"/>
              </a:rPr>
              <a:t>(</a:t>
            </a:r>
            <a:r>
              <a:rPr lang="en-US" sz="1800" dirty="0" err="1">
                <a:solidFill>
                  <a:srgbClr val="2B91AF"/>
                </a:solidFill>
                <a:latin typeface="Consolas" panose="020B0609020204030204" pitchFamily="49" charset="0"/>
              </a:rPr>
              <a:t>ostream</a:t>
            </a:r>
            <a:r>
              <a:rPr lang="en-US" sz="1800" dirty="0">
                <a:solidFill>
                  <a:srgbClr val="000000"/>
                </a:solidFill>
                <a:latin typeface="Consolas" panose="020B0609020204030204" pitchFamily="49" charset="0"/>
              </a:rPr>
              <a:t> &amp; </a:t>
            </a:r>
            <a:r>
              <a:rPr lang="en-US" sz="1800" dirty="0">
                <a:solidFill>
                  <a:srgbClr val="808080"/>
                </a:solidFill>
                <a:latin typeface="Consolas" panose="020B0609020204030204" pitchFamily="49" charset="0"/>
              </a:rPr>
              <a:t>out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const</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 &amp; </a:t>
            </a:r>
            <a:r>
              <a:rPr lang="en-US" sz="1800" dirty="0">
                <a:solidFill>
                  <a:srgbClr val="808080"/>
                </a:solidFill>
                <a:latin typeface="Consolas" panose="020B0609020204030204" pitchFamily="49" charset="0"/>
              </a:rPr>
              <a:t>value</a:t>
            </a:r>
            <a:r>
              <a:rPr lang="en-US" sz="1800" dirty="0">
                <a:solidFill>
                  <a:srgbClr val="000000"/>
                </a:solidFill>
                <a:latin typeface="Consolas" panose="020B0609020204030204" pitchFamily="49" charset="0"/>
              </a:rPr>
              <a:t>);</a:t>
            </a:r>
          </a:p>
          <a:p>
            <a:pPr marL="0" indent="0">
              <a:buNone/>
            </a:pPr>
            <a:r>
              <a:rPr lang="en-US" sz="1800" dirty="0">
                <a:solidFill>
                  <a:srgbClr val="0000FF"/>
                </a:solidFill>
                <a:latin typeface="Consolas" panose="020B0609020204030204" pitchFamily="49" charset="0"/>
              </a:rPr>
              <a:t>   friend</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istream</a:t>
            </a:r>
            <a:r>
              <a:rPr lang="en-US" sz="1800" dirty="0">
                <a:solidFill>
                  <a:srgbClr val="000000"/>
                </a:solidFill>
                <a:latin typeface="Consolas" panose="020B0609020204030204" pitchFamily="49" charset="0"/>
              </a:rPr>
              <a:t>&amp; </a:t>
            </a:r>
            <a:r>
              <a:rPr lang="en-US" sz="1800" dirty="0">
                <a:solidFill>
                  <a:srgbClr val="008080"/>
                </a:solidFill>
                <a:latin typeface="Consolas" panose="020B0609020204030204" pitchFamily="49" charset="0"/>
              </a:rPr>
              <a:t>operator&gt;&gt;</a:t>
            </a:r>
            <a:r>
              <a:rPr lang="en-US" sz="1800" dirty="0">
                <a:solidFill>
                  <a:srgbClr val="000000"/>
                </a:solidFill>
                <a:latin typeface="Consolas" panose="020B0609020204030204" pitchFamily="49" charset="0"/>
              </a:rPr>
              <a:t>(</a:t>
            </a:r>
            <a:r>
              <a:rPr lang="en-US" sz="1800" dirty="0">
                <a:solidFill>
                  <a:srgbClr val="2B91AF"/>
                </a:solidFill>
                <a:latin typeface="Consolas" panose="020B0609020204030204" pitchFamily="49" charset="0"/>
              </a:rPr>
              <a:t>istream</a:t>
            </a:r>
            <a:r>
              <a:rPr lang="en-US" sz="1800" dirty="0">
                <a:solidFill>
                  <a:srgbClr val="000000"/>
                </a:solidFill>
                <a:latin typeface="Consolas" panose="020B0609020204030204" pitchFamily="49" charset="0"/>
              </a:rPr>
              <a:t> &amp; </a:t>
            </a:r>
            <a:r>
              <a:rPr lang="en-US" sz="1800" dirty="0">
                <a:solidFill>
                  <a:srgbClr val="808080"/>
                </a:solidFill>
                <a:latin typeface="Consolas" panose="020B0609020204030204" pitchFamily="49" charset="0"/>
              </a:rPr>
              <a:t>in</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Rational</a:t>
            </a:r>
            <a:r>
              <a:rPr lang="en-US" sz="1800" dirty="0">
                <a:solidFill>
                  <a:srgbClr val="000000"/>
                </a:solidFill>
                <a:latin typeface="Consolas" panose="020B0609020204030204" pitchFamily="49" charset="0"/>
              </a:rPr>
              <a:t> &amp; </a:t>
            </a:r>
            <a:r>
              <a:rPr lang="en-US" sz="1800" dirty="0">
                <a:solidFill>
                  <a:srgbClr val="808080"/>
                </a:solidFill>
                <a:latin typeface="Consolas" panose="020B0609020204030204" pitchFamily="49" charset="0"/>
              </a:rPr>
              <a:t>value</a:t>
            </a:r>
            <a:r>
              <a:rPr lang="en-US" sz="1800" dirty="0">
                <a:solidFill>
                  <a:srgbClr val="000000"/>
                </a:solidFill>
                <a:latin typeface="Consolas" panose="020B0609020204030204" pitchFamily="49" charset="0"/>
              </a:rPr>
              <a:t>);</a:t>
            </a:r>
            <a:endParaRPr lang="en-US" sz="1800" b="1"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24</a:t>
            </a:fld>
            <a:endParaRPr lang="en-US"/>
          </a:p>
        </p:txBody>
      </p:sp>
    </p:spTree>
    <p:extLst>
      <p:ext uri="{BB962C8B-B14F-4D97-AF65-F5344CB8AC3E}">
        <p14:creationId xmlns:p14="http://schemas.microsoft.com/office/powerpoint/2010/main" val="9042742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Questions?</a:t>
            </a:r>
            <a:endParaRPr lang="bg-BG" dirty="0"/>
          </a:p>
        </p:txBody>
      </p:sp>
      <p:sp>
        <p:nvSpPr>
          <p:cNvPr id="9" name="Content Placeholder 8"/>
          <p:cNvSpPr>
            <a:spLocks noGrp="1"/>
          </p:cNvSpPr>
          <p:nvPr>
            <p:ph idx="1"/>
          </p:nvPr>
        </p:nvSpPr>
        <p:spPr>
          <a:xfrm>
            <a:off x="1097280" y="1845734"/>
            <a:ext cx="8952155" cy="4023360"/>
          </a:xfrm>
        </p:spPr>
        <p:txBody>
          <a:bodyPr>
            <a:normAutofit/>
          </a:bodyPr>
          <a:lstStyle/>
          <a:p>
            <a:endParaRPr lang="en-US" sz="9600" dirty="0"/>
          </a:p>
          <a:p>
            <a:pPr algn="ctr"/>
            <a:r>
              <a:rPr lang="en-US" sz="9600" dirty="0"/>
              <a:t>Q </a:t>
            </a:r>
            <a:r>
              <a:rPr lang="en-US" sz="6000" dirty="0"/>
              <a:t>&amp;</a:t>
            </a:r>
            <a:r>
              <a:rPr lang="en-US" sz="9600" dirty="0"/>
              <a:t> A</a:t>
            </a:r>
            <a:endParaRPr lang="bg-BG" sz="9600" dirty="0"/>
          </a:p>
        </p:txBody>
      </p:sp>
      <p:sp>
        <p:nvSpPr>
          <p:cNvPr id="4" name="Slide Number Placeholder 3"/>
          <p:cNvSpPr>
            <a:spLocks noGrp="1"/>
          </p:cNvSpPr>
          <p:nvPr>
            <p:ph type="sldNum" sz="quarter" idx="12"/>
          </p:nvPr>
        </p:nvSpPr>
        <p:spPr/>
        <p:txBody>
          <a:bodyPr/>
          <a:lstStyle/>
          <a:p>
            <a:fld id="{43C20813-E79E-4637-B0DD-0EBBF6872E51}" type="slidenum">
              <a:rPr lang="en-US" smtClean="0"/>
              <a:t>25</a:t>
            </a:fld>
            <a:endParaRPr lang="en-US"/>
          </a:p>
        </p:txBody>
      </p:sp>
    </p:spTree>
    <p:extLst>
      <p:ext uri="{BB962C8B-B14F-4D97-AF65-F5344CB8AC3E}">
        <p14:creationId xmlns:p14="http://schemas.microsoft.com/office/powerpoint/2010/main" val="346002444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TM02900769[[fn=Retrospect]]</Template>
  <TotalTime>1287</TotalTime>
  <Words>2017</Words>
  <Application>Microsoft Office PowerPoint</Application>
  <PresentationFormat>Widescreen</PresentationFormat>
  <Paragraphs>281</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Calibri</vt:lpstr>
      <vt:lpstr>Calibri Light</vt:lpstr>
      <vt:lpstr>Consolas</vt:lpstr>
      <vt:lpstr>Courier New</vt:lpstr>
      <vt:lpstr>Wingdings</vt:lpstr>
      <vt:lpstr>Retrospect</vt:lpstr>
      <vt:lpstr>Operator Overloading</vt:lpstr>
      <vt:lpstr>Lecture Contents</vt:lpstr>
      <vt:lpstr>Operator Overloading</vt:lpstr>
      <vt:lpstr>The this Keyword</vt:lpstr>
      <vt:lpstr>The this Keyword (continued)</vt:lpstr>
      <vt:lpstr>Special Functions Defaults</vt:lpstr>
      <vt:lpstr>Class Destructor</vt:lpstr>
      <vt:lpstr>Copy Constructor</vt:lpstr>
      <vt:lpstr>Copy Constructor (continued)</vt:lpstr>
      <vt:lpstr>operator=</vt:lpstr>
      <vt:lpstr>Special Functions Example</vt:lpstr>
      <vt:lpstr>Special Functions Example (continued)</vt:lpstr>
      <vt:lpstr>When the Defaults Do Not Work</vt:lpstr>
      <vt:lpstr>Rational ADT Design</vt:lpstr>
      <vt:lpstr>Rational Class Interface (Part 1 of 3)</vt:lpstr>
      <vt:lpstr>Rational Class Interface (Part 2 of 3)</vt:lpstr>
      <vt:lpstr>Rational Class Interface (Part 3 of 3)</vt:lpstr>
      <vt:lpstr>Rational Class Implementation – Constructors and Destructor</vt:lpstr>
      <vt:lpstr>Rational Class Implementation –  Private Members</vt:lpstr>
      <vt:lpstr>Rational Class Implementation – Assignment Operators (partial)</vt:lpstr>
      <vt:lpstr>Rational Class Implementation –  Arithmetic and Relational Operators (partial)</vt:lpstr>
      <vt:lpstr>Rational Class Implementation –  Unary Operators (partial)</vt:lpstr>
      <vt:lpstr>Rational Class Implementation –  Input Output and Friends (Part 1 of 2)</vt:lpstr>
      <vt:lpstr>Rational Class Implementation –  Input Output and Friends (Part 2 of 2)</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 110 Visual Basic Programming AUBG Fall Semester 2016</dc:title>
  <dc:creator>mugen</dc:creator>
  <cp:lastModifiedBy>Kalin Dimitrov</cp:lastModifiedBy>
  <cp:revision>455</cp:revision>
  <dcterms:created xsi:type="dcterms:W3CDTF">2016-08-30T09:20:13Z</dcterms:created>
  <dcterms:modified xsi:type="dcterms:W3CDTF">2025-12-01T05:50:56Z</dcterms:modified>
</cp:coreProperties>
</file>