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6"/>
  </p:notesMasterIdLst>
  <p:sldIdLst>
    <p:sldId id="286" r:id="rId2"/>
    <p:sldId id="282" r:id="rId3"/>
    <p:sldId id="280" r:id="rId4"/>
    <p:sldId id="288" r:id="rId5"/>
    <p:sldId id="289" r:id="rId6"/>
    <p:sldId id="290" r:id="rId7"/>
    <p:sldId id="294" r:id="rId8"/>
    <p:sldId id="295" r:id="rId9"/>
    <p:sldId id="291" r:id="rId10"/>
    <p:sldId id="292" r:id="rId11"/>
    <p:sldId id="293" r:id="rId12"/>
    <p:sldId id="297" r:id="rId13"/>
    <p:sldId id="298" r:id="rId14"/>
    <p:sldId id="302" r:id="rId15"/>
    <p:sldId id="303" r:id="rId16"/>
    <p:sldId id="357" r:id="rId17"/>
    <p:sldId id="299" r:id="rId18"/>
    <p:sldId id="304" r:id="rId19"/>
    <p:sldId id="300" r:id="rId20"/>
    <p:sldId id="301" r:id="rId21"/>
    <p:sldId id="305" r:id="rId22"/>
    <p:sldId id="306" r:id="rId23"/>
    <p:sldId id="308" r:id="rId24"/>
    <p:sldId id="307" r:id="rId25"/>
    <p:sldId id="348" r:id="rId26"/>
    <p:sldId id="349" r:id="rId27"/>
    <p:sldId id="351" r:id="rId28"/>
    <p:sldId id="350" r:id="rId29"/>
    <p:sldId id="354" r:id="rId30"/>
    <p:sldId id="355" r:id="rId31"/>
    <p:sldId id="352" r:id="rId32"/>
    <p:sldId id="353" r:id="rId33"/>
    <p:sldId id="338" r:id="rId34"/>
    <p:sldId id="309" r:id="rId35"/>
    <p:sldId id="311" r:id="rId36"/>
    <p:sldId id="321" r:id="rId37"/>
    <p:sldId id="322" r:id="rId38"/>
    <p:sldId id="327" r:id="rId39"/>
    <p:sldId id="328" r:id="rId40"/>
    <p:sldId id="329" r:id="rId41"/>
    <p:sldId id="330" r:id="rId42"/>
    <p:sldId id="331" r:id="rId43"/>
    <p:sldId id="332" r:id="rId44"/>
    <p:sldId id="313" r:id="rId45"/>
    <p:sldId id="316" r:id="rId46"/>
    <p:sldId id="323" r:id="rId47"/>
    <p:sldId id="310" r:id="rId48"/>
    <p:sldId id="317" r:id="rId49"/>
    <p:sldId id="325" r:id="rId50"/>
    <p:sldId id="326" r:id="rId51"/>
    <p:sldId id="356" r:id="rId52"/>
    <p:sldId id="333" r:id="rId53"/>
    <p:sldId id="334" r:id="rId54"/>
    <p:sldId id="28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0"/>
            <p14:sldId id="288"/>
            <p14:sldId id="289"/>
            <p14:sldId id="290"/>
            <p14:sldId id="294"/>
            <p14:sldId id="295"/>
            <p14:sldId id="291"/>
            <p14:sldId id="292"/>
            <p14:sldId id="293"/>
            <p14:sldId id="297"/>
            <p14:sldId id="298"/>
            <p14:sldId id="302"/>
            <p14:sldId id="303"/>
            <p14:sldId id="357"/>
            <p14:sldId id="299"/>
            <p14:sldId id="304"/>
            <p14:sldId id="300"/>
            <p14:sldId id="301"/>
            <p14:sldId id="305"/>
            <p14:sldId id="306"/>
            <p14:sldId id="308"/>
            <p14:sldId id="307"/>
            <p14:sldId id="348"/>
            <p14:sldId id="349"/>
            <p14:sldId id="351"/>
            <p14:sldId id="350"/>
            <p14:sldId id="354"/>
            <p14:sldId id="355"/>
            <p14:sldId id="352"/>
            <p14:sldId id="353"/>
            <p14:sldId id="338"/>
            <p14:sldId id="309"/>
            <p14:sldId id="311"/>
            <p14:sldId id="321"/>
            <p14:sldId id="322"/>
            <p14:sldId id="327"/>
            <p14:sldId id="328"/>
            <p14:sldId id="329"/>
            <p14:sldId id="330"/>
            <p14:sldId id="331"/>
            <p14:sldId id="332"/>
            <p14:sldId id="313"/>
            <p14:sldId id="316"/>
            <p14:sldId id="323"/>
            <p14:sldId id="310"/>
            <p14:sldId id="317"/>
            <p14:sldId id="325"/>
            <p14:sldId id="326"/>
            <p14:sldId id="356"/>
            <p14:sldId id="333"/>
            <p14:sldId id="334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and Structs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9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50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9.1 The Array Data Type</a:t>
            </a:r>
          </a:p>
          <a:p>
            <a:pPr marL="0" indent="0">
              <a:buNone/>
            </a:pPr>
            <a:r>
              <a:rPr lang="en-US" sz="3200" dirty="0"/>
              <a:t>9.2 Sequential Access to Array Elements</a:t>
            </a:r>
          </a:p>
          <a:p>
            <a:pPr marL="0" indent="0">
              <a:buNone/>
            </a:pPr>
            <a:r>
              <a:rPr lang="en-US" sz="3200" dirty="0"/>
              <a:t>9.3 Array Arguments</a:t>
            </a:r>
          </a:p>
          <a:p>
            <a:pPr marL="0" indent="0">
              <a:buNone/>
            </a:pPr>
            <a:r>
              <a:rPr lang="en-US" altLang="bg-BG" sz="3200" dirty="0"/>
              <a:t>9.5 Searching Arrays</a:t>
            </a:r>
          </a:p>
          <a:p>
            <a:pPr marL="0" indent="0">
              <a:buNone/>
            </a:pPr>
            <a:r>
              <a:rPr lang="en-US" altLang="bg-BG" sz="3200" dirty="0"/>
              <a:t>9.7 Multidimensional Arrays</a:t>
            </a:r>
          </a:p>
          <a:p>
            <a:pPr marL="0" indent="0">
              <a:buNone/>
            </a:pPr>
            <a:r>
              <a:rPr lang="en-US" altLang="bg-BG" sz="3200" dirty="0"/>
              <a:t>9.8 The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bg-BG" sz="3200" dirty="0"/>
              <a:t> Data Type</a:t>
            </a:r>
          </a:p>
          <a:p>
            <a:pPr marL="0" indent="0">
              <a:buNone/>
            </a:pPr>
            <a:r>
              <a:rPr lang="en-US" altLang="bg-BG" sz="3200" dirty="0"/>
              <a:t>9.9 </a:t>
            </a:r>
            <a:r>
              <a:rPr lang="en-US" altLang="bg-BG" sz="3200" dirty="0">
                <a:cs typeface="Courier New" panose="02070309020205020404" pitchFamily="49" charset="0"/>
              </a:rPr>
              <a:t>Structs</a:t>
            </a:r>
            <a:r>
              <a:rPr lang="en-US" altLang="bg-BG" sz="3200" dirty="0"/>
              <a:t> as Operands and Arguments</a:t>
            </a:r>
          </a:p>
          <a:p>
            <a:pPr marL="0" indent="0">
              <a:buNone/>
            </a:pPr>
            <a:r>
              <a:rPr lang="en-US" sz="3200" dirty="0"/>
              <a:t>9.10 Array of Structs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Array Data Type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</a:t>
            </a:r>
            <a:r>
              <a:rPr lang="en-US" sz="3200" b="1" dirty="0"/>
              <a:t>array</a:t>
            </a:r>
            <a:r>
              <a:rPr lang="en-US" sz="3200" dirty="0"/>
              <a:t> is a collection of data items, associated with a particular name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Array elements </a:t>
            </a:r>
            <a:r>
              <a:rPr lang="en-US" sz="3200" dirty="0"/>
              <a:t>have the same type – the base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reference individual elements by using the array name and the element’s position, starting with 0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scores[0] = scores[9] + 20;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Array elements are stored in consecutive memory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Additional Array Details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Subscripts are denoted as expressions within brackets: 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grades[1]  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2nd element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Base type can be any built-in, library-defined, or user-defined data type: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Vehicle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index type is integer and the index range must be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3200" b="1" dirty="0">
                <a:cs typeface="Courier New" panose="02070309020205020404" pitchFamily="49" charset="0"/>
              </a:rPr>
              <a:t> </a:t>
            </a:r>
            <a:r>
              <a:rPr lang="en-US" sz="3200" dirty="0">
                <a:cs typeface="Courier New" panose="02070309020205020404" pitchFamily="49" charset="0"/>
              </a:rPr>
              <a:t>to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n-1</a:t>
            </a:r>
            <a:r>
              <a:rPr lang="en-US" sz="3200" dirty="0"/>
              <a:t>, for array of size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4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Declaration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element-type array-name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alt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array-size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float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x[5];</a:t>
            </a: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338449" y="3196437"/>
            <a:ext cx="1676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7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7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7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7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7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Times New Roman" pitchFamily="18" charset="0"/>
              </a:rPr>
              <a:t>Type of all the values in the array</a:t>
            </a: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V="1">
            <a:off x="3024249" y="2434437"/>
            <a:ext cx="386443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700649" y="3272637"/>
            <a:ext cx="1981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7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7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7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7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7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Times New Roman" pitchFamily="18" charset="0"/>
              </a:rPr>
              <a:t>Name of the entire collection of values</a:t>
            </a: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V="1">
            <a:off x="5538849" y="2434437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7291449" y="3348837"/>
            <a:ext cx="19812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7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7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7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7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7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71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Times New Roman" pitchFamily="18" charset="0"/>
              </a:rPr>
              <a:t>Integer expression indicating number of elements in the array</a:t>
            </a: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 flipH="1" flipV="1">
            <a:off x="7901049" y="2434437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4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148654" cy="1450757"/>
          </a:xfrm>
        </p:spPr>
        <p:txBody>
          <a:bodyPr/>
          <a:lstStyle/>
          <a:p>
            <a:r>
              <a:rPr lang="en-US" dirty="0"/>
              <a:t>Example: Array Declaration and Initialization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520979" cy="44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element-type array-name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array-size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initialization-list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x[8] = { 16.0, 12.0, 6.0, 8.0, 2.5, 12.0, 14.0, -54.5 };</a:t>
            </a:r>
            <a:endParaRPr lang="en-US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582" y="4809506"/>
            <a:ext cx="9259877" cy="1335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84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Initialization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362408" cy="44244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You can specify the initial contents of an array as part of its declaration by providing the initial values enclosed in braces (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3200" dirty="0"/>
              <a:t>) following an assignment operator (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32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Values from the initialization list will be assigned in the same order to the corresponding array elements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length of initialization list cannot exceed the array size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size of the array can be automatically set to the size of the initializer list by using empty brackets (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3200" dirty="0"/>
              <a:t>):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 = { 1, 2, 3 };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Subscripts / Indexes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access an individual element of an array, we provide its subscript / index (zero-based position) in brackets: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[1] - 5;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The array </a:t>
            </a:r>
            <a:r>
              <a:rPr lang="en-US" altLang="en-US" sz="3200" b="1" dirty="0"/>
              <a:t>subscript</a:t>
            </a:r>
            <a:r>
              <a:rPr lang="en-US" altLang="en-US" sz="3200" dirty="0"/>
              <a:t> is different than array </a:t>
            </a:r>
            <a:r>
              <a:rPr lang="en-US" altLang="en-US" sz="3200" b="1" dirty="0"/>
              <a:t>element</a:t>
            </a:r>
            <a:r>
              <a:rPr lang="en-US" altLang="en-US" sz="3200" dirty="0"/>
              <a:t>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Subscript can be an expression of any </a:t>
            </a:r>
            <a:r>
              <a:rPr lang="en-US" altLang="en-US" sz="3200" b="1" dirty="0"/>
              <a:t>integral</a:t>
            </a:r>
            <a:r>
              <a:rPr lang="en-US" altLang="en-US" sz="3200" dirty="0"/>
              <a:t>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To be valid, the index must be a value between </a:t>
            </a:r>
            <a:r>
              <a:rPr lang="en-US" altLang="en-US" sz="3200" b="1" dirty="0"/>
              <a:t>0</a:t>
            </a:r>
            <a:r>
              <a:rPr lang="en-US" altLang="en-US" sz="3200" dirty="0"/>
              <a:t> and </a:t>
            </a:r>
            <a:r>
              <a:rPr lang="en-US" altLang="en-US" sz="3200" b="1" dirty="0"/>
              <a:t>array size - 1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Array Declaration and Initialization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x[0];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x[2]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 25.0;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sum = x[0] + x[1];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sum += x[2];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x[3] += 1.0;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x[2] = x[0] + x[1];</a:t>
            </a:r>
            <a:endParaRPr lang="bg-BG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795" y="5023555"/>
            <a:ext cx="89154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1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Parallel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NUM_EMP = 10;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onVacation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[NUM_EMP];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vacationDays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[NUM_EMP];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F4F4F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sunday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monday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tuesday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wednesday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F4F4F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thursday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friday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2F4F4F"/>
                </a:solidFill>
                <a:latin typeface="Consolas" panose="020B0609020204030204" pitchFamily="49" charset="0"/>
              </a:rPr>
              <a:t>saturday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dayOff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[NUM_EMP];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plantHours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[7];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4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onVacation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vacationDays</a:t>
            </a:r>
            <a:r>
              <a:rPr lang="en-US" dirty="0"/>
              <a:t> and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dayOff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070" y="1798762"/>
            <a:ext cx="7001135" cy="450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1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Sequential Access to Array Elements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 long as you know the size of an array, you can use a loop to iterate through all elements:</a:t>
            </a:r>
          </a:p>
          <a:p>
            <a:pPr marL="0" indent="0">
              <a:buNone/>
            </a:pPr>
            <a:r>
              <a:rPr lang="nn-NO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cube[10];</a:t>
            </a:r>
          </a:p>
          <a:p>
            <a:pPr marL="0" indent="0">
              <a:buNone/>
            </a:pP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cube[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70" y="4979900"/>
            <a:ext cx="8915400" cy="12049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60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Strings and Arrays of Characters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>
                <a:cs typeface="Courier New" panose="02070309020205020404" pitchFamily="49" charset="0"/>
              </a:rPr>
              <a:t>A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bg-BG" sz="3200" dirty="0"/>
              <a:t> object uses an array of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reference an individual character of a string object in different ways: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name.at(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3200" dirty="0"/>
              <a:t>Other member functions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 class: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0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Call-by-Value Function Parameters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852673" cy="44923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default parameter passing mechanism where the </a:t>
            </a:r>
            <a:r>
              <a:rPr lang="en-US" sz="3200" b="1" dirty="0"/>
              <a:t>value</a:t>
            </a:r>
            <a:r>
              <a:rPr lang="en-US" sz="3200" dirty="0"/>
              <a:t> of the argument is copied as the value of the function parameter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		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foo(x);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x;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5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BF2161-590E-7325-18F7-75F7A1FCE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827130"/>
              </p:ext>
            </p:extLst>
          </p:nvPr>
        </p:nvGraphicFramePr>
        <p:xfrm>
          <a:off x="7254667" y="2892081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 =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810D18-0398-493E-0D5B-43767ACBC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46874"/>
              </p:ext>
            </p:extLst>
          </p:nvPr>
        </p:nvGraphicFramePr>
        <p:xfrm>
          <a:off x="7254667" y="4405043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x =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0167B-A270-A2C5-AF30-2ADD1334B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994029"/>
              </p:ext>
            </p:extLst>
          </p:nvPr>
        </p:nvGraphicFramePr>
        <p:xfrm>
          <a:off x="7254667" y="3562883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 = </a:t>
                      </a:r>
                      <a:r>
                        <a:rPr lang="bg-BG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88229F-3C85-8CDA-C25E-B096B8DBC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706212"/>
              </p:ext>
            </p:extLst>
          </p:nvPr>
        </p:nvGraphicFramePr>
        <p:xfrm>
          <a:off x="7154351" y="5452525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 = </a:t>
                      </a:r>
                      <a:r>
                        <a:rPr lang="bg-BG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07811F-2F6D-1AF7-3C23-D2503598B1D4}"/>
              </a:ext>
            </a:extLst>
          </p:cNvPr>
          <p:cNvCxnSpPr/>
          <p:nvPr/>
        </p:nvCxnSpPr>
        <p:spPr>
          <a:xfrm>
            <a:off x="7254667" y="5290565"/>
            <a:ext cx="945222" cy="63886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DB7DDC-BADF-D54E-A984-45A18C64BCAB}"/>
              </a:ext>
            </a:extLst>
          </p:cNvPr>
          <p:cNvCxnSpPr>
            <a:cxnSpLocks/>
          </p:cNvCxnSpPr>
          <p:nvPr/>
        </p:nvCxnSpPr>
        <p:spPr>
          <a:xfrm flipH="1">
            <a:off x="7254667" y="5290565"/>
            <a:ext cx="763851" cy="74244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50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Call-by-Reference Function Parameters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call-by-reference the </a:t>
            </a:r>
            <a:r>
              <a:rPr lang="en-US" sz="3200" b="1" dirty="0"/>
              <a:t>address</a:t>
            </a:r>
            <a:r>
              <a:rPr lang="en-US" sz="3200" dirty="0"/>
              <a:t> of the actual argument is passed and through that address the called function can update the actual argument value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		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foo(x);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x;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10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8E0CD7-657F-91B7-71A7-6D458DD75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314616"/>
              </p:ext>
            </p:extLst>
          </p:nvPr>
        </p:nvGraphicFramePr>
        <p:xfrm>
          <a:off x="7192883" y="3246120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x = a =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67DD9-A6F1-B38A-650E-74BE3A772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194343"/>
              </p:ext>
            </p:extLst>
          </p:nvPr>
        </p:nvGraphicFramePr>
        <p:xfrm>
          <a:off x="7192883" y="4759082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x =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8E8876-2430-ADB0-BDB4-E783117D2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95609"/>
              </p:ext>
            </p:extLst>
          </p:nvPr>
        </p:nvGraphicFramePr>
        <p:xfrm>
          <a:off x="7192883" y="3916922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x = a = </a:t>
                      </a:r>
                      <a:r>
                        <a:rPr lang="bg-BG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7BE3CC-1855-6B66-3E48-2D35B8D59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42322"/>
              </p:ext>
            </p:extLst>
          </p:nvPr>
        </p:nvGraphicFramePr>
        <p:xfrm>
          <a:off x="7192883" y="5601242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x </a:t>
                      </a:r>
                      <a:r>
                        <a:rPr lang="en-US">
                          <a:solidFill>
                            <a:srgbClr val="000000"/>
                          </a:solidFill>
                        </a:rPr>
                        <a:t>= 1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18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3890-ED9B-A049-87E9-AF05D4E3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Call-by-Reference Function Parameters</a:t>
            </a:r>
            <a:r>
              <a:rPr lang="bg-BG" dirty="0"/>
              <a:t> (</a:t>
            </a:r>
            <a:r>
              <a:rPr lang="en-US" dirty="0"/>
              <a:t>continued)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BE2A-9D18-BE44-9210-C97D29DE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+ 5;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 x = 5;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foo(x);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OK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foo(5); // WRONG!</a:t>
            </a:r>
            <a:endParaRPr lang="bg-BG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EDD55-C4D6-8C47-AA6B-6983F54E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42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628555" cy="442443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pass array elements to functions:</a:t>
            </a:r>
          </a:p>
          <a:p>
            <a:pPr marL="201168" lvl="1" indent="0">
              <a:spcBef>
                <a:spcPts val="6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exchange(s[3], s[5]);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also pass an entire array to a function by writing its name with no subscript in the argument list of the function call: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 int size) {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for(int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 size;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de-DE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nums[] = { 1, 2, 3 };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, 3);</a:t>
            </a:r>
            <a:endParaRPr 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06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Array Argument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Arrays are always passed </a:t>
            </a:r>
            <a:r>
              <a:rPr lang="en-US" sz="3200" b="1" dirty="0"/>
              <a:t>by reference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Pass an entire array to a function by writing just its name (no subscripts or brackets) in the argument list of the function call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a function definition and prototype, use empty brackets (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3200" dirty="0"/>
              <a:t>) to identify an array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 the keyword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3200" dirty="0"/>
              <a:t> to indicate that the array argument cannot be changed by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0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Adding Two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MAX_SIZE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x[MAX_SIZE] = { 1.8, 2.2, 3.4, 5.1, 6.7 };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y[MAX_SIZE] = { 2.0, 4.5, 1.3, 4.0, 5.5 };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z[MAX_SIZE];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addArray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(MAX_SIZE, x, y, z);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06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Adding Two Arrays (continued)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79" y="1845733"/>
            <a:ext cx="10834745" cy="44205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Stores the sum of a[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] and b[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] in c[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Sums array elements with subscripts ranging from 0 to size–1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addArray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IN: the size of the arrays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IN: the first array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IN: the second array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[])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OUT: result array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// Add corresponding elements of a and b and store in c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</a:t>
            </a:r>
            <a:r>
              <a:rPr lang="nn-NO" sz="24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06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Finding the Smallest Value in an Array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bg-BG" sz="3200" dirty="0"/>
              <a:t>1. Assume the first element is smallest so far and save its subscript</a:t>
            </a:r>
          </a:p>
          <a:p>
            <a:pPr>
              <a:buFontTx/>
              <a:buNone/>
            </a:pPr>
            <a:r>
              <a:rPr lang="en-US" altLang="bg-BG" sz="3200" dirty="0"/>
              <a:t>2. For each array element after the first one</a:t>
            </a:r>
          </a:p>
          <a:p>
            <a:pPr>
              <a:buFontTx/>
              <a:buNone/>
            </a:pPr>
            <a:r>
              <a:rPr lang="en-US" altLang="bg-BG" sz="3200" dirty="0"/>
              <a:t>	   2.1 If the current element &lt; the smallest so far</a:t>
            </a:r>
          </a:p>
          <a:p>
            <a:pPr>
              <a:buFontTx/>
              <a:buNone/>
            </a:pPr>
            <a:r>
              <a:rPr lang="en-US" altLang="bg-BG" sz="3200" dirty="0"/>
              <a:t>	       2.1.1 Save the subscript of current element</a:t>
            </a:r>
          </a:p>
          <a:p>
            <a:pPr>
              <a:buFontTx/>
              <a:buNone/>
            </a:pPr>
            <a:endParaRPr lang="en-US" alt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4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findMin</a:t>
            </a:r>
            <a:r>
              <a:rPr lang="en-US" dirty="0"/>
              <a:t> 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56083"/>
            <a:ext cx="10058400" cy="44244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findMin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min =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[0];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 </a:t>
            </a:r>
            <a:r>
              <a:rPr lang="nn-NO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&lt; min)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min =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items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min;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60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Finding Any Element in an Array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bg-BG" sz="3200" dirty="0"/>
              <a:t>1. For each array element</a:t>
            </a:r>
          </a:p>
          <a:p>
            <a:pPr>
              <a:buFontTx/>
              <a:buNone/>
            </a:pPr>
            <a:r>
              <a:rPr lang="en-US" altLang="bg-BG" sz="3200" dirty="0"/>
              <a:t>	   1.1  If the current element contains the target</a:t>
            </a:r>
          </a:p>
          <a:p>
            <a:pPr>
              <a:buFontTx/>
              <a:buNone/>
            </a:pPr>
            <a:r>
              <a:rPr lang="en-US" altLang="bg-BG" sz="3200" dirty="0"/>
              <a:t>    1.2  Return the subscript of the current element</a:t>
            </a:r>
          </a:p>
          <a:p>
            <a:pPr>
              <a:buFontTx/>
              <a:buNone/>
            </a:pPr>
            <a:r>
              <a:rPr lang="en-US" altLang="bg-BG" sz="3200" dirty="0"/>
              <a:t>2. Return 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14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linSearch</a:t>
            </a:r>
            <a:r>
              <a:rPr lang="en-US" dirty="0"/>
              <a:t> Function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67" y="1846263"/>
            <a:ext cx="6216991" cy="4424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998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float x[3] = { 16.0, 12.0, 6.0, 8.0 };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No, too many elements for the array.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float x[3] = { 16.0, 12.0 };</a:t>
            </a: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Yes, fewer elements is allowed.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float x[3] = { 16.0, 12.0, 42.5 };</a:t>
            </a:r>
          </a:p>
          <a:p>
            <a:r>
              <a:rPr lang="en-US" sz="2800" dirty="0">
                <a:solidFill>
                  <a:srgbClr val="FF0000"/>
                </a:solidFill>
              </a:rPr>
              <a:t>Yes, there are exactly three elements.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9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We Get?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r>
              <a:rPr lang="en-US" sz="2800"/>
              <a:t>Let’s </a:t>
            </a:r>
            <a:r>
              <a:rPr lang="en-US" sz="2800" dirty="0"/>
              <a:t>have:</a:t>
            </a:r>
          </a:p>
          <a:p>
            <a:r>
              <a:rPr lang="en-US" sz="2800" dirty="0" err="1">
                <a:latin typeface="Courier New"/>
                <a:cs typeface="Courier New"/>
              </a:rPr>
              <a:t>int</a:t>
            </a: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dirty="0" err="1">
                <a:latin typeface="Courier New"/>
                <a:cs typeface="Courier New"/>
              </a:rPr>
              <a:t>arr</a:t>
            </a:r>
            <a:r>
              <a:rPr lang="en-US" sz="2800" dirty="0">
                <a:latin typeface="Courier New"/>
                <a:cs typeface="Courier New"/>
              </a:rPr>
              <a:t>[5] = {1, 2, 3, 4, 5};</a:t>
            </a:r>
          </a:p>
          <a:p>
            <a:pPr>
              <a:buFont typeface="Wingdings" charset="2"/>
              <a:buChar char="§"/>
            </a:pPr>
            <a:r>
              <a:rPr lang="en-US" sz="2800" dirty="0"/>
              <a:t>The first element in the array: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Courier New"/>
                <a:cs typeface="Courier New"/>
              </a:rPr>
              <a:t>arr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[0]</a:t>
            </a:r>
          </a:p>
          <a:p>
            <a:pPr>
              <a:buFont typeface="Wingdings" charset="2"/>
              <a:buChar char="§"/>
            </a:pPr>
            <a:r>
              <a:rPr lang="en-US" sz="2800" dirty="0"/>
              <a:t>The last element in the array: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Courier New"/>
                <a:cs typeface="Courier New"/>
              </a:rPr>
              <a:t>arr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[4]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8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a){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a++;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 = 5;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5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9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a){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a++;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 = 5;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6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803047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a){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 = 10;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b[3] = {1, 3, 4};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test(b[1]);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b[0] &lt;&lt; “ “ &lt;&lt; b[1] &lt;&lt; “ ” &lt;&lt; b[2];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1 3 4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&amp; a){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 = 10;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b[3] = {1, 3, 4};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test(b[1]);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b[0] &lt;&lt; “ “ &lt;&lt; b[1] &lt;&lt; “ ” &lt;&lt; b[2];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1 10 4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0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a[]){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a[1] = 10;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b[3] = {1, 3, 4};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b[0] &lt;&lt; “ “ &lt;&lt; b[1] &lt;&lt; “ ” &lt;&lt; b[2];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1 10 4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0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52" y="179237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void test(</a:t>
            </a:r>
            <a:r>
              <a:rPr lang="en-US" sz="2800" dirty="0" err="1">
                <a:solidFill>
                  <a:srgbClr val="FF0000"/>
                </a:solidFill>
                <a:latin typeface="Courier New"/>
                <a:cs typeface="Courier New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a[]){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	a[1] = 10;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b[3] = {1, 3, 4};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test(b);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urier New"/>
                <a:cs typeface="Courier New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urier New"/>
                <a:cs typeface="Courier New"/>
              </a:rPr>
              <a:t> &lt;&lt; b[0] &lt;&lt; “ “ &lt;&lt; b[1] &lt;&lt; “ ” &lt;&lt; b[2];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Syntax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6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00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Allows for complex arrangement of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have many dimensions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Syntax: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element-type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[size1][size2]…[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double table[NROWS][NCOLS];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63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Declaring Two-Dimensional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Most common multidimensional array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Represents a table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char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ticTacToe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[3][3];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3200" dirty="0"/>
              <a:t>Access to elements: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ticTacToe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[1][2]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548705" y="2756647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sz="2000" b="1" dirty="0">
                <a:latin typeface="Times New Roman" panose="02020603050405020304" pitchFamily="18" charset="0"/>
              </a:rPr>
              <a:t>Row</a:t>
            </a:r>
            <a:endParaRPr lang="en-US" altLang="bg-BG" dirty="0"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822142" y="4890247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sz="2000" b="1" dirty="0">
                <a:latin typeface="Times New Roman" panose="02020603050405020304" pitchFamily="18" charset="0"/>
              </a:rPr>
              <a:t>Column</a:t>
            </a:r>
            <a:endParaRPr lang="en-US" altLang="bg-BG" dirty="0">
              <a:latin typeface="Times New Roman" panose="02020603050405020304" pitchFamily="18" charset="0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H="1">
            <a:off x="5558105" y="3061447"/>
            <a:ext cx="1066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 flipH="1" flipV="1">
            <a:off x="6212542" y="4128247"/>
            <a:ext cx="6858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49948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>
                <a:solidFill>
                  <a:schemeClr val="tx1"/>
                </a:solidFill>
              </a:rPr>
              <a:t>A tic-tac-toe Board Stored as an Array </a:t>
            </a:r>
            <a:r>
              <a:rPr lang="en-US" altLang="bg-BG" b="1" dirty="0" err="1">
                <a:solidFill>
                  <a:schemeClr val="tx1"/>
                </a:solidFill>
                <a:latin typeface="Courier" pitchFamily="71" charset="0"/>
              </a:rPr>
              <a:t>ticTacToe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302688"/>
            <a:ext cx="10058400" cy="35115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056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Classroom Seating Plan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NUM_ROWS = 11;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SEATS_IN_ROW = 9;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seatPlan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[NUM_ROWS][SEATS_IN_ROW];</a:t>
            </a: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. . .</a:t>
            </a: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seatPlan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[0][8]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"Gerry"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446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>
                <a:solidFill>
                  <a:schemeClr val="tx1"/>
                </a:solidFill>
              </a:rPr>
              <a:t>A Classroom Seating Plan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125826"/>
            <a:ext cx="10058400" cy="386523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196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Initialization of Multi-Dimensional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Each inner pair of braces contains initial values for one row of the array matrix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NUM_ROWS = 2;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NUM_COLS = 3;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matrix[NUM_ROWS][NUM_COLS] =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 5.0, 4.5, 3.0 },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 -16.0, -5.9, 0.0 }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Loops for Two-D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Row order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 row subscript as outer loop control variable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Column order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 column subscript as inner loop control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10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Two-Dimensional Arrays as Function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Row dimension can be anonymous, but column dimension must be specified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C++ must know the number of elements in each row in order to access a particular array element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96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sumMatrix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sumMatrix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[][NUM_COLS],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rows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sum = 0.0;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   // Add each array element value to sum. 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sz="3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nsolas" panose="020B0609020204030204" pitchFamily="49" charset="0"/>
              </a:rPr>
              <a:t> r = 0; r &lt; </a:t>
            </a:r>
            <a:r>
              <a:rPr lang="pt-BR" sz="3200" dirty="0">
                <a:solidFill>
                  <a:srgbClr val="808080"/>
                </a:solidFill>
                <a:latin typeface="Consolas" panose="020B0609020204030204" pitchFamily="49" charset="0"/>
              </a:rPr>
              <a:t>rows</a:t>
            </a:r>
            <a:r>
              <a:rPr lang="pt-BR" sz="3200" dirty="0">
                <a:solidFill>
                  <a:srgbClr val="000000"/>
                </a:solidFill>
                <a:latin typeface="Consolas" panose="020B0609020204030204" pitchFamily="49" charset="0"/>
              </a:rPr>
              <a:t>; r++)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   for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c = 0; c &lt; NUM_COLS;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   sum +=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[r][c];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9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Arrays with Several Dimensions</a:t>
            </a:r>
            <a:endParaRPr lang="bg-B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PEOPLE = 10;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YEARS = 5;</a:t>
            </a:r>
          </a:p>
          <a:p>
            <a:pPr marL="0" indent="0">
              <a:buNone/>
            </a:pPr>
            <a:endParaRPr lang="bg-BG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sales[PEOPLE][YEARS][12];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38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The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bg-BG" dirty="0"/>
              <a:t> Data Type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2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3200" dirty="0"/>
              <a:t> used to store related data items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Individual components of the struct are called its members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Each member can contain different types of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Three parts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Declaration of structure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 of structure to define a new variable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Access of members of the structured variable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Typically declare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3200" dirty="0"/>
              <a:t> as global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419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 dirty="0"/>
              <a:t>struct</a:t>
            </a:r>
            <a:r>
              <a:rPr lang="en-US" altLang="bg-BG" dirty="0"/>
              <a:t> Type Declaration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struct-type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type1 id-list1;</a:t>
            </a:r>
          </a:p>
          <a:p>
            <a:pPr marL="0" indent="0">
              <a:buNone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type2 id-list2;</a:t>
            </a:r>
          </a:p>
          <a:p>
            <a:pPr marL="0" indent="0">
              <a:buNone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. . .</a:t>
            </a:r>
          </a:p>
          <a:p>
            <a:pPr marL="0" indent="0">
              <a:buNone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</a:t>
            </a: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id-</a:t>
            </a:r>
            <a:r>
              <a:rPr 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listn</a:t>
            </a: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2955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id;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   string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gender;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numDepend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rate;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totWages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organist, janitor;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17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Accessing Members of a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organist.id = 1234;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organist.name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"Noel Goddard"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organist.gender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'F'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organist.numDepend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organist.rate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12.00;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organist.totWages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480.0;</a:t>
            </a: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organist.totWages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+=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organist.rate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40.0);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65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>
                <a:cs typeface="Courier New" panose="02070309020205020404" pitchFamily="49" charset="0"/>
              </a:rPr>
              <a:t>Structs</a:t>
            </a:r>
            <a:r>
              <a:rPr lang="en-US" altLang="bg-BG" dirty="0"/>
              <a:t> as Operands and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3200" dirty="0"/>
              <a:t> copy or assignment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copy janitor to organist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organist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janitor;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Copies each member from janitor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3200" dirty="0"/>
              <a:t> to organist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85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Passing a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bg-BG" dirty="0"/>
              <a:t> as an Argument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Actual and formal parameters must be same type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Using </a:t>
            </a:r>
            <a:r>
              <a:rPr lang="en-US" sz="3200" dirty="0" err="1"/>
              <a:t>structs</a:t>
            </a:r>
            <a:r>
              <a:rPr lang="en-US" sz="3200" dirty="0"/>
              <a:t> as arguments can shorten argument list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Passing </a:t>
            </a:r>
            <a:r>
              <a:rPr lang="en-US" sz="3200" dirty="0" err="1"/>
              <a:t>structs</a:t>
            </a:r>
            <a:r>
              <a:rPr lang="en-US" sz="3200" dirty="0"/>
              <a:t> by value can be inefficient, since it duplicates values of all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04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Passing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bg-BG" dirty="0"/>
              <a:t> by Reference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Same as other reference 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 </a:t>
            </a:r>
            <a:r>
              <a:rPr lang="en-US" sz="3000" b="1" dirty="0"/>
              <a:t>&amp;</a:t>
            </a:r>
            <a:r>
              <a:rPr lang="en-US" sz="3000" dirty="0"/>
              <a:t> to identify in parameter list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also use constant reference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Precede parameter with the reserved word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printStats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examStats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stuExams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49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printStats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387" y="1846263"/>
            <a:ext cx="7125551" cy="4424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348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Structs</a:t>
            </a:r>
            <a:r>
              <a:rPr lang="en-US" dirty="0"/>
              <a:t> with Arrays as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ourier"/>
                <a:cs typeface="Courier"/>
              </a:rPr>
              <a:t>struct </a:t>
            </a:r>
            <a:r>
              <a:rPr lang="en-US" dirty="0" err="1">
                <a:latin typeface="Courier"/>
                <a:cs typeface="Courier"/>
              </a:rPr>
              <a:t>examStats</a:t>
            </a:r>
            <a:r>
              <a:rPr lang="en-US" dirty="0">
                <a:latin typeface="Courier"/>
                <a:cs typeface="Courier"/>
              </a:rPr>
              <a:t> {</a:t>
            </a:r>
            <a:endParaRPr lang="bg-BG" dirty="0">
              <a:latin typeface="Courier"/>
              <a:cs typeface="Courier"/>
            </a:endParaRPr>
          </a:p>
          <a:p>
            <a:r>
              <a:rPr lang="bg-BG" dirty="0">
                <a:latin typeface="Courier"/>
                <a:cs typeface="Courier"/>
              </a:rPr>
              <a:t>   </a:t>
            </a:r>
            <a:r>
              <a:rPr lang="en-US" dirty="0">
                <a:latin typeface="Courier"/>
                <a:cs typeface="Courier"/>
              </a:rPr>
              <a:t>string </a:t>
            </a:r>
            <a:r>
              <a:rPr lang="en-US" dirty="0" err="1">
                <a:latin typeface="Courier"/>
                <a:cs typeface="Courier"/>
              </a:rPr>
              <a:t>stuName</a:t>
            </a:r>
            <a:r>
              <a:rPr lang="en-US" dirty="0">
                <a:latin typeface="Courier"/>
                <a:cs typeface="Courier"/>
              </a:rPr>
              <a:t>;</a:t>
            </a:r>
          </a:p>
          <a:p>
            <a:r>
              <a:rPr lang="en-US" dirty="0">
                <a:latin typeface="Courier"/>
                <a:cs typeface="Courier"/>
              </a:rPr>
              <a:t>   float scores[3];</a:t>
            </a:r>
          </a:p>
          <a:p>
            <a:r>
              <a:rPr lang="en-US" dirty="0">
                <a:latin typeface="Courier"/>
                <a:cs typeface="Courier"/>
              </a:rPr>
              <a:t>   float average;</a:t>
            </a:r>
          </a:p>
          <a:p>
            <a:r>
              <a:rPr lang="en-US" dirty="0">
                <a:latin typeface="Courier"/>
                <a:cs typeface="Courier"/>
              </a:rPr>
              <a:t>   char grade;</a:t>
            </a:r>
          </a:p>
          <a:p>
            <a:r>
              <a:rPr lang="en-US" dirty="0">
                <a:latin typeface="Courier"/>
                <a:cs typeface="Courier"/>
              </a:rPr>
              <a:t>}</a:t>
            </a:r>
            <a:r>
              <a:rPr lang="bg-BG" dirty="0">
                <a:latin typeface="Courier"/>
                <a:cs typeface="Courier"/>
              </a:rPr>
              <a:t>;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 err="1">
                <a:latin typeface="Courier"/>
                <a:cs typeface="Courier"/>
              </a:rPr>
              <a:t>examStats</a:t>
            </a:r>
            <a:r>
              <a:rPr lang="en-US" dirty="0">
                <a:latin typeface="Courier"/>
                <a:cs typeface="Courier"/>
              </a:rPr>
              <a:t> stats;</a:t>
            </a:r>
          </a:p>
          <a:p>
            <a:r>
              <a:rPr lang="en-US" dirty="0" err="1">
                <a:latin typeface="Courier"/>
                <a:cs typeface="Courier"/>
              </a:rPr>
              <a:t>stats.scores</a:t>
            </a:r>
            <a:r>
              <a:rPr lang="en-US" dirty="0">
                <a:latin typeface="Courier"/>
                <a:cs typeface="Courier"/>
              </a:rPr>
              <a:t>[0] = 93.5;</a:t>
            </a:r>
          </a:p>
          <a:p>
            <a:r>
              <a:rPr lang="en-US" dirty="0" err="1">
                <a:latin typeface="Courier"/>
                <a:cs typeface="Courier"/>
              </a:rPr>
              <a:t>stats.scores</a:t>
            </a:r>
            <a:r>
              <a:rPr lang="en-US" dirty="0">
                <a:latin typeface="Courier"/>
                <a:cs typeface="Courier"/>
              </a:rPr>
              <a:t>[1] = 95.5;</a:t>
            </a:r>
          </a:p>
          <a:p>
            <a:r>
              <a:rPr lang="en-US" dirty="0" err="1">
                <a:latin typeface="Courier"/>
                <a:cs typeface="Courier"/>
              </a:rPr>
              <a:t>stats.scores</a:t>
            </a:r>
            <a:r>
              <a:rPr lang="en-US" dirty="0">
                <a:latin typeface="Courier"/>
                <a:cs typeface="Courier"/>
              </a:rPr>
              <a:t>[2] = 99.0;</a:t>
            </a:r>
          </a:p>
          <a:p>
            <a:pPr marL="0" indent="0">
              <a:buNone/>
            </a:pP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stats.average</a:t>
            </a:r>
            <a:r>
              <a:rPr lang="en-US" dirty="0"/>
              <a:t> = 96.0;</a:t>
            </a:r>
          </a:p>
          <a:p>
            <a:r>
              <a:rPr lang="en-US" dirty="0" err="1"/>
              <a:t>stats.grade</a:t>
            </a:r>
            <a:r>
              <a:rPr lang="en-US" dirty="0"/>
              <a:t> = ‘A’;</a:t>
            </a:r>
          </a:p>
          <a:p>
            <a:r>
              <a:rPr lang="en-US" dirty="0" err="1"/>
              <a:t>stats.stuName</a:t>
            </a:r>
            <a:r>
              <a:rPr lang="en-US" dirty="0"/>
              <a:t> = “</a:t>
            </a:r>
            <a:r>
              <a:rPr lang="en-US" dirty="0" err="1"/>
              <a:t>NoName</a:t>
            </a:r>
            <a:r>
              <a:rPr lang="en-US" dirty="0"/>
              <a:t>”;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r>
              <a:rPr lang="en-US" dirty="0" err="1">
                <a:latin typeface="Courier"/>
                <a:cs typeface="Courier"/>
              </a:rPr>
              <a:t>examStats</a:t>
            </a:r>
            <a:r>
              <a:rPr lang="en-US" dirty="0">
                <a:latin typeface="Courier"/>
                <a:cs typeface="Courier"/>
              </a:rPr>
              <a:t> stats </a:t>
            </a:r>
            <a:r>
              <a:rPr lang="en-US" dirty="0">
                <a:solidFill>
                  <a:srgbClr val="008000"/>
                </a:solidFill>
                <a:latin typeface="Courier"/>
                <a:cs typeface="Courier"/>
              </a:rPr>
              <a:t>{“</a:t>
            </a:r>
            <a:r>
              <a:rPr lang="en-US" dirty="0" err="1">
                <a:solidFill>
                  <a:srgbClr val="008000"/>
                </a:solidFill>
                <a:latin typeface="Courier"/>
                <a:cs typeface="Courier"/>
              </a:rPr>
              <a:t>NoName</a:t>
            </a:r>
            <a:r>
              <a:rPr lang="en-US" dirty="0">
                <a:solidFill>
                  <a:srgbClr val="008000"/>
                </a:solidFill>
                <a:latin typeface="Courier"/>
                <a:cs typeface="Courier"/>
              </a:rPr>
              <a:t>”, {93.5, 95.5, 99.0}, 96.0, ‘A’}</a:t>
            </a:r>
            <a:r>
              <a:rPr lang="en-US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err="1">
                <a:latin typeface="Courier"/>
                <a:cs typeface="Courier"/>
              </a:rPr>
              <a:t>examStats</a:t>
            </a:r>
            <a:r>
              <a:rPr lang="en-US" dirty="0">
                <a:latin typeface="Courier"/>
                <a:cs typeface="Courier"/>
              </a:rPr>
              <a:t> stats;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trike="sngStrike" dirty="0" err="1"/>
              <a:t>stats.scores</a:t>
            </a:r>
            <a:r>
              <a:rPr lang="en-US" strike="sngStrike" dirty="0"/>
              <a:t> = </a:t>
            </a:r>
            <a:r>
              <a:rPr lang="en-US" strike="sngStrike" dirty="0">
                <a:solidFill>
                  <a:srgbClr val="FF0000"/>
                </a:solidFill>
                <a:latin typeface="Courier"/>
                <a:cs typeface="Courier"/>
              </a:rPr>
              <a:t>{93.5, 95.5, </a:t>
            </a:r>
            <a:r>
              <a:rPr lang="en-US" strike="sngStrike">
                <a:solidFill>
                  <a:srgbClr val="FF0000"/>
                </a:solidFill>
                <a:latin typeface="Courier"/>
                <a:cs typeface="Courier"/>
              </a:rPr>
              <a:t>99.0};</a:t>
            </a:r>
            <a:endParaRPr lang="en-US" strike="sngStrik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8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readEmployee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392" y="1846263"/>
            <a:ext cx="6371542" cy="4424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7741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Array of Structs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Declaration of an array of </a:t>
            </a:r>
            <a:r>
              <a:rPr lang="en-US" sz="3200" dirty="0" err="1"/>
              <a:t>structs</a:t>
            </a:r>
            <a:endParaRPr lang="en-US" sz="3200" dirty="0"/>
          </a:p>
          <a:p>
            <a:pPr marL="0" indent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employee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company[10];</a:t>
            </a:r>
          </a:p>
          <a:p>
            <a:pPr>
              <a:spcBef>
                <a:spcPts val="18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Reserves storage for 10 employee </a:t>
            </a:r>
            <a:r>
              <a:rPr lang="en-US" sz="3200" dirty="0" err="1"/>
              <a:t>structs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pass an element to a function:</a:t>
            </a:r>
          </a:p>
          <a:p>
            <a:pPr marL="0" indent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readEmployee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(company[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14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2506</TotalTime>
  <Words>2686</Words>
  <Application>Microsoft Office PowerPoint</Application>
  <PresentationFormat>Widescreen</PresentationFormat>
  <Paragraphs>454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Calibri</vt:lpstr>
      <vt:lpstr>Calibri Light</vt:lpstr>
      <vt:lpstr>Consolas</vt:lpstr>
      <vt:lpstr>Courier</vt:lpstr>
      <vt:lpstr>Courier New</vt:lpstr>
      <vt:lpstr>Times New Roman</vt:lpstr>
      <vt:lpstr>Wingdings</vt:lpstr>
      <vt:lpstr>Retrospect</vt:lpstr>
      <vt:lpstr>Arrays and Structs</vt:lpstr>
      <vt:lpstr>Lecture Contents</vt:lpstr>
      <vt:lpstr>The Array Data Type</vt:lpstr>
      <vt:lpstr>Additional Array Details</vt:lpstr>
      <vt:lpstr>Array Declaration</vt:lpstr>
      <vt:lpstr>Example: Array Declaration and Initialization</vt:lpstr>
      <vt:lpstr>Array Initialization</vt:lpstr>
      <vt:lpstr>Array Subscripts / Indexes</vt:lpstr>
      <vt:lpstr>Example: Array Declaration and Initialization (continued)</vt:lpstr>
      <vt:lpstr>Example: Parallel Arrays</vt:lpstr>
      <vt:lpstr>Arrays onVacation, vacationDays and dayOff</vt:lpstr>
      <vt:lpstr>Sequential Access to Array Elements</vt:lpstr>
      <vt:lpstr>Strings and Arrays of Characters</vt:lpstr>
      <vt:lpstr>Call-by-Value Function Parameters</vt:lpstr>
      <vt:lpstr>Call-by-Reference Function Parameters</vt:lpstr>
      <vt:lpstr>Call-by-Reference Function Parameters (continued)</vt:lpstr>
      <vt:lpstr>Array Arguments</vt:lpstr>
      <vt:lpstr>Passing an Array Argument</vt:lpstr>
      <vt:lpstr>Example: Adding Two Arrays</vt:lpstr>
      <vt:lpstr>Example: Adding Two Arrays (continued)</vt:lpstr>
      <vt:lpstr>Finding the Smallest Value in an Array</vt:lpstr>
      <vt:lpstr>Example: findMin Function</vt:lpstr>
      <vt:lpstr>Finding Any Element in an Array</vt:lpstr>
      <vt:lpstr>Example: linSearch Function</vt:lpstr>
      <vt:lpstr>Is This Correct?</vt:lpstr>
      <vt:lpstr>How Could We Get?</vt:lpstr>
      <vt:lpstr>What Will Be the Result?</vt:lpstr>
      <vt:lpstr>What Is the Result?</vt:lpstr>
      <vt:lpstr>What Is the Result?</vt:lpstr>
      <vt:lpstr>What Is the Result?</vt:lpstr>
      <vt:lpstr>What Is the Result?</vt:lpstr>
      <vt:lpstr>What Is the Result?</vt:lpstr>
      <vt:lpstr>Questions?</vt:lpstr>
      <vt:lpstr>Multidimensional Arrays</vt:lpstr>
      <vt:lpstr>Declaring Two-Dimensional Arrays</vt:lpstr>
      <vt:lpstr>A tic-tac-toe Board Stored as an Array ticTacToe</vt:lpstr>
      <vt:lpstr>Example: Classroom Seating Plan</vt:lpstr>
      <vt:lpstr>A Classroom Seating Plan</vt:lpstr>
      <vt:lpstr>Initialization of Multi-Dimensional Arrays</vt:lpstr>
      <vt:lpstr>Nested Loops for Two-D Arrays</vt:lpstr>
      <vt:lpstr>Two-Dimensional Arrays as Function Arguments</vt:lpstr>
      <vt:lpstr>Example: sumMatrix</vt:lpstr>
      <vt:lpstr>Arrays with Several Dimensions</vt:lpstr>
      <vt:lpstr>The struct Data Type</vt:lpstr>
      <vt:lpstr>struct Type Declaration</vt:lpstr>
      <vt:lpstr>Accessing Members of a struct</vt:lpstr>
      <vt:lpstr>Structs as Operands and Arguments</vt:lpstr>
      <vt:lpstr>Passing a struct as an Argument</vt:lpstr>
      <vt:lpstr>Passing struct by Reference</vt:lpstr>
      <vt:lpstr>Example: Function printStats</vt:lpstr>
      <vt:lpstr>Structs with Arrays as Elements</vt:lpstr>
      <vt:lpstr>Example: Function readEmployee</vt:lpstr>
      <vt:lpstr>Array of Structs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731</cp:revision>
  <dcterms:created xsi:type="dcterms:W3CDTF">2016-08-30T09:20:13Z</dcterms:created>
  <dcterms:modified xsi:type="dcterms:W3CDTF">2025-10-11T09:28:15Z</dcterms:modified>
</cp:coreProperties>
</file>