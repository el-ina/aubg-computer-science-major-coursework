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17"/>
  </p:notesMasterIdLst>
  <p:sldIdLst>
    <p:sldId id="286" r:id="rId2"/>
    <p:sldId id="290" r:id="rId3"/>
    <p:sldId id="297" r:id="rId4"/>
    <p:sldId id="298" r:id="rId5"/>
    <p:sldId id="299" r:id="rId6"/>
    <p:sldId id="300" r:id="rId7"/>
    <p:sldId id="307" r:id="rId8"/>
    <p:sldId id="301" r:id="rId9"/>
    <p:sldId id="302" r:id="rId10"/>
    <p:sldId id="303" r:id="rId11"/>
    <p:sldId id="304" r:id="rId12"/>
    <p:sldId id="306" r:id="rId13"/>
    <p:sldId id="295" r:id="rId14"/>
    <p:sldId id="308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90"/>
            <p14:sldId id="297"/>
            <p14:sldId id="298"/>
            <p14:sldId id="299"/>
            <p14:sldId id="300"/>
            <p14:sldId id="307"/>
            <p14:sldId id="301"/>
            <p14:sldId id="302"/>
            <p14:sldId id="303"/>
            <p14:sldId id="304"/>
            <p14:sldId id="306"/>
            <p14:sldId id="295"/>
            <p14:sldId id="308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13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Pointers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026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sv-SE" sz="2200" dirty="0">
                <a:solidFill>
                  <a:srgbClr val="000000"/>
                </a:solidFill>
                <a:latin typeface="Consolas" panose="020B0609020204030204" pitchFamily="49" charset="0"/>
              </a:rPr>
              <a:t> alpha = 5, beta = 7;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&amp;alpha;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int* ptr2 = &amp;beta;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*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*ptr2;</a:t>
            </a: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19653487"/>
              </p:ext>
            </p:extLst>
          </p:nvPr>
        </p:nvGraphicFramePr>
        <p:xfrm>
          <a:off x="8194060" y="2106241"/>
          <a:ext cx="170639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Memory</a:t>
                      </a:r>
                      <a:endParaRPr lang="bg-BG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20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0020FAB1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  <a:endParaRPr lang="bg-BG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653612" y="2863257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alpha</a:t>
            </a:r>
            <a:endParaRPr lang="bg-BG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53612" y="3590355"/>
            <a:ext cx="61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beta</a:t>
            </a:r>
            <a:endParaRPr lang="bg-BG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3612" y="4670613"/>
            <a:ext cx="46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ptr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Arrow Connector 12"/>
          <p:cNvCxnSpPr>
            <a:stCxn id="9" idx="3"/>
          </p:cNvCxnSpPr>
          <p:nvPr/>
        </p:nvCxnSpPr>
        <p:spPr>
          <a:xfrm>
            <a:off x="7368872" y="3047923"/>
            <a:ext cx="825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  <a:endCxn id="7" idx="1"/>
          </p:cNvCxnSpPr>
          <p:nvPr/>
        </p:nvCxnSpPr>
        <p:spPr>
          <a:xfrm>
            <a:off x="7267242" y="3775021"/>
            <a:ext cx="926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3"/>
          </p:cNvCxnSpPr>
          <p:nvPr/>
        </p:nvCxnSpPr>
        <p:spPr>
          <a:xfrm>
            <a:off x="7122715" y="4855279"/>
            <a:ext cx="1071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53612" y="5566205"/>
            <a:ext cx="46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ptr</a:t>
            </a:r>
            <a:endParaRPr lang="bg-BG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00140067-2661-B49A-B432-FD1DD37612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15534" y="3009973"/>
            <a:ext cx="3536632" cy="26332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5705E9-D83E-8F9F-F02C-6306FF8AAB86}"/>
              </a:ext>
            </a:extLst>
          </p:cNvPr>
          <p:cNvSpPr txBox="1"/>
          <p:nvPr/>
        </p:nvSpPr>
        <p:spPr>
          <a:xfrm>
            <a:off x="6674850" y="5879068"/>
            <a:ext cx="58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ptr2</a:t>
            </a:r>
            <a:endParaRPr lang="bg-BG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91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Pointers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852674" cy="4465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balance = 1000;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ptrBal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&amp;balance;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error – different type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accPointer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accPointer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300;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error –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unitialized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pointer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accPointer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allocate memory and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accPointer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300;      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and return pointer to it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3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 Operators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3200" dirty="0"/>
              <a:t> operator dynamically allocates memory, creates an object of a given type and returns a pointer to it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(20);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Memory allocated with new should be freed by calling delete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delete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can’t use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ptr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until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				 // reallocated with new again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4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Structures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18838"/>
            <a:ext cx="10058400" cy="444749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   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age;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 student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(*student).name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"Harry Potter"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set the name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student-&gt;age = 20;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set the age (alternative notation)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student;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3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Pointers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368579" cy="444749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500" dirty="0"/>
              <a:t>The array name without brackets is a pointer to the first element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500" dirty="0"/>
              <a:t>That pointer can be captured in a variable</a:t>
            </a:r>
            <a:endParaRPr lang="en-US" sz="35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2600">
                <a:solidFill>
                  <a:srgbClr val="000000"/>
                </a:solidFill>
                <a:latin typeface="Consolas" panose="020B0609020204030204" pitchFamily="49" charset="0"/>
              </a:rPr>
              <a:t>10] = {1, 2, 3};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* p = a;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p points to the first element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*p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prints the first element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*a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</a:rPr>
              <a:t>// can use the array name as a </a:t>
            </a:r>
            <a:r>
              <a:rPr lang="en-US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ptr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a[0]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p[0]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1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269967" cy="44116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Can use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3200" dirty="0"/>
              <a:t> to allocate memory for an array of a given size: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pa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[10];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array of 10 integers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10; i++)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pa[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delete[]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pa;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use delete[] to free memory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// for the whole array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0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You can add an integer offset to an array pointer, and thus point to another element of the array:</a:t>
            </a:r>
            <a:endParaRPr lang="en-US" sz="3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a[] = {0, 1, 2, 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6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int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*p = a;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points to a[0]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*p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print a[0]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*(p + 3)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print a[0+3] -&gt; a[3]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*p + 3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print a[0]</a:t>
            </a:r>
            <a:r>
              <a:rPr lang="bg-BG" sz="2400" dirty="0">
                <a:solidFill>
                  <a:srgbClr val="008000"/>
                </a:solidFill>
                <a:latin typeface="Consolas" panose="020B0609020204030204" pitchFamily="49" charset="0"/>
              </a:rPr>
              <a:t> + 3</a:t>
            </a: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p++;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advance p by one to point it to a[1]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*(p + 1)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prints a[1+1] -&gt; a[2]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0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Operations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Assigning a pointer to another pointer variable is possible, as long as the type is the same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Pointer equality checks whether two pointer variables point to the same memory location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a = 5;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* p = &amp;a;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* q = p;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*q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  // prints 5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(p == q)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  // true</a:t>
            </a:r>
            <a:r>
              <a:rPr lang="bg-BG" sz="2200" dirty="0">
                <a:solidFill>
                  <a:srgbClr val="008000"/>
                </a:solidFill>
                <a:latin typeface="Consolas" panose="020B0609020204030204" pitchFamily="49" charset="0"/>
              </a:rPr>
              <a:t>, checking the addresses!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p == 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q)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  // true</a:t>
            </a:r>
            <a:endParaRPr lang="bg-BG" sz="2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8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What is the Contents of the Array After the Statements?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a[] = { 2, 3, 5 };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p = a;</a:t>
            </a:r>
          </a:p>
          <a:p>
            <a:pPr marL="0" indent="0"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p++;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*p = 0;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	2 0 5</a:t>
            </a:r>
            <a:endParaRPr lang="bg-BG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850096"/>
              </p:ext>
            </p:extLst>
          </p:nvPr>
        </p:nvGraphicFramePr>
        <p:xfrm>
          <a:off x="6950931" y="32015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021288"/>
              </p:ext>
            </p:extLst>
          </p:nvPr>
        </p:nvGraphicFramePr>
        <p:xfrm>
          <a:off x="6977303" y="43234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7299931" y="2569175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657156" y="3771355"/>
            <a:ext cx="253658" cy="48632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51628"/>
              </p:ext>
            </p:extLst>
          </p:nvPr>
        </p:nvGraphicFramePr>
        <p:xfrm>
          <a:off x="6999404" y="5283775"/>
          <a:ext cx="4091700" cy="37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3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1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What is the Contents of the Array After the Statements?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a[] = { 2, 3, 5 };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p = a + 1;</a:t>
            </a:r>
          </a:p>
          <a:p>
            <a:pPr marL="0" indent="0"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*(p + 1) = 0;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	2 3 0</a:t>
            </a:r>
            <a:endParaRPr lang="bg-BG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1842"/>
              </p:ext>
            </p:extLst>
          </p:nvPr>
        </p:nvGraphicFramePr>
        <p:xfrm>
          <a:off x="6950931" y="32015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887719"/>
              </p:ext>
            </p:extLst>
          </p:nvPr>
        </p:nvGraphicFramePr>
        <p:xfrm>
          <a:off x="6977303" y="43234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8443877" y="2501310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062853" y="3781050"/>
            <a:ext cx="253658" cy="48632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068710"/>
              </p:ext>
            </p:extLst>
          </p:nvPr>
        </p:nvGraphicFramePr>
        <p:xfrm>
          <a:off x="6999404" y="5283775"/>
          <a:ext cx="4091700" cy="37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3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81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3: What is the Contents of the Array After the Statements?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a[] = { 2, 3, 5 };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p = a;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q = a + 2;</a:t>
            </a:r>
          </a:p>
          <a:p>
            <a:pPr marL="0" indent="0"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p++;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q--;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*p = *q;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	2 3 5</a:t>
            </a:r>
            <a:endParaRPr lang="bg-BG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1842"/>
              </p:ext>
            </p:extLst>
          </p:nvPr>
        </p:nvGraphicFramePr>
        <p:xfrm>
          <a:off x="6950931" y="32015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887719"/>
              </p:ext>
            </p:extLst>
          </p:nvPr>
        </p:nvGraphicFramePr>
        <p:xfrm>
          <a:off x="6977303" y="4323486"/>
          <a:ext cx="399048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7241765" y="2569175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657156" y="3771355"/>
            <a:ext cx="253658" cy="48632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4669"/>
              </p:ext>
            </p:extLst>
          </p:nvPr>
        </p:nvGraphicFramePr>
        <p:xfrm>
          <a:off x="6999404" y="5283775"/>
          <a:ext cx="4091700" cy="37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3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9846865" y="2576150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932874" y="3746525"/>
            <a:ext cx="305950" cy="54836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76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296861" cy="1450757"/>
          </a:xfrm>
        </p:spPr>
        <p:txBody>
          <a:bodyPr/>
          <a:lstStyle/>
          <a:p>
            <a:r>
              <a:rPr lang="en-US" dirty="0"/>
              <a:t>Question 4: What Will be the Output of the Following Code?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91943"/>
            <a:ext cx="10058400" cy="442059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fr-FR" sz="3200" dirty="0">
                <a:solidFill>
                  <a:srgbClr val="000000"/>
                </a:solidFill>
                <a:latin typeface="Consolas" panose="020B0609020204030204" pitchFamily="49" charset="0"/>
              </a:rPr>
              <a:t> primes[] = { 2, 3, 5, 7, 11, 13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primes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*primes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primes + 4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*(primes + 4)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primes[4]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&amp;primes[0]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22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296861" cy="1450757"/>
          </a:xfrm>
        </p:spPr>
        <p:txBody>
          <a:bodyPr/>
          <a:lstStyle/>
          <a:p>
            <a:r>
              <a:rPr lang="en-US" dirty="0"/>
              <a:t>Question 5: What Will be the Output of the Following Code?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91943"/>
            <a:ext cx="10058400" cy="442059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a = 5, b =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p = &amp;a;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* q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*q =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*p =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*q = 5;</a:t>
            </a: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US" sz="3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	10 10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822925"/>
              </p:ext>
            </p:extLst>
          </p:nvPr>
        </p:nvGraphicFramePr>
        <p:xfrm>
          <a:off x="6567613" y="2440380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 =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6718264" y="1822660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522100"/>
              </p:ext>
            </p:extLst>
          </p:nvPr>
        </p:nvGraphicFramePr>
        <p:xfrm>
          <a:off x="8397156" y="2447355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b = 10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10215255" y="1810245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68297"/>
              </p:ext>
            </p:extLst>
          </p:nvPr>
        </p:nvGraphicFramePr>
        <p:xfrm>
          <a:off x="6882108" y="3792240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/>
          <p:nvPr/>
        </p:nvCxnSpPr>
        <p:spPr>
          <a:xfrm>
            <a:off x="6993981" y="3184215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441427"/>
              </p:ext>
            </p:extLst>
          </p:nvPr>
        </p:nvGraphicFramePr>
        <p:xfrm>
          <a:off x="9043974" y="5469475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543294"/>
              </p:ext>
            </p:extLst>
          </p:nvPr>
        </p:nvGraphicFramePr>
        <p:xfrm>
          <a:off x="9888679" y="2437660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179567"/>
              </p:ext>
            </p:extLst>
          </p:nvPr>
        </p:nvGraphicFramePr>
        <p:xfrm>
          <a:off x="8915234" y="3741045"/>
          <a:ext cx="11496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0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a=10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Connector 19"/>
          <p:cNvCxnSpPr/>
          <p:nvPr/>
        </p:nvCxnSpPr>
        <p:spPr>
          <a:xfrm>
            <a:off x="9061613" y="3119070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085274" y="4800560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84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1171</TotalTime>
  <Words>1067</Words>
  <Application>Microsoft Office PowerPoint</Application>
  <PresentationFormat>Widescreen</PresentationFormat>
  <Paragraphs>195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Consolas</vt:lpstr>
      <vt:lpstr>Courier New</vt:lpstr>
      <vt:lpstr>Wingdings</vt:lpstr>
      <vt:lpstr>Retrospect</vt:lpstr>
      <vt:lpstr>Pointers</vt:lpstr>
      <vt:lpstr>C++ Pointers</vt:lpstr>
      <vt:lpstr>Initializing Pointers</vt:lpstr>
      <vt:lpstr>The new and delete Operators</vt:lpstr>
      <vt:lpstr>Pointers to Structures</vt:lpstr>
      <vt:lpstr>Arrays and Pointers</vt:lpstr>
      <vt:lpstr>Dynamic Allocation of Arrays</vt:lpstr>
      <vt:lpstr>Pointer Arithmetic</vt:lpstr>
      <vt:lpstr>Pointer Operations</vt:lpstr>
      <vt:lpstr>Question 1: What is the Contents of the Array After the Statements?</vt:lpstr>
      <vt:lpstr>Question 2: What is the Contents of the Array After the Statements?</vt:lpstr>
      <vt:lpstr>Question 3: What is the Contents of the Array After the Statements?</vt:lpstr>
      <vt:lpstr>Question 4: What Will be the Output of the Following Code?</vt:lpstr>
      <vt:lpstr>Question 5: What Will be the Output of the Following Code?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443</cp:revision>
  <dcterms:created xsi:type="dcterms:W3CDTF">2016-08-30T09:20:13Z</dcterms:created>
  <dcterms:modified xsi:type="dcterms:W3CDTF">2025-08-24T11:57:00Z</dcterms:modified>
</cp:coreProperties>
</file>